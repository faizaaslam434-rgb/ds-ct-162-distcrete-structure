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1"/>
  </p:notesMasterIdLst>
  <p:sldIdLst>
    <p:sldId id="258" r:id="rId2"/>
    <p:sldId id="340" r:id="rId3"/>
    <p:sldId id="341" r:id="rId4"/>
    <p:sldId id="342" r:id="rId5"/>
    <p:sldId id="343" r:id="rId6"/>
    <p:sldId id="344" r:id="rId7"/>
    <p:sldId id="345" r:id="rId8"/>
    <p:sldId id="282" r:id="rId9"/>
    <p:sldId id="347" r:id="rId10"/>
    <p:sldId id="346" r:id="rId11"/>
    <p:sldId id="348" r:id="rId12"/>
    <p:sldId id="349" r:id="rId13"/>
    <p:sldId id="283" r:id="rId14"/>
    <p:sldId id="350" r:id="rId15"/>
    <p:sldId id="351" r:id="rId16"/>
    <p:sldId id="352" r:id="rId17"/>
    <p:sldId id="333" r:id="rId18"/>
    <p:sldId id="353" r:id="rId19"/>
    <p:sldId id="284" r:id="rId20"/>
    <p:sldId id="354" r:id="rId21"/>
    <p:sldId id="260" r:id="rId22"/>
    <p:sldId id="355" r:id="rId23"/>
    <p:sldId id="285" r:id="rId24"/>
    <p:sldId id="356" r:id="rId25"/>
    <p:sldId id="261" r:id="rId26"/>
    <p:sldId id="357" r:id="rId27"/>
    <p:sldId id="286" r:id="rId28"/>
    <p:sldId id="358" r:id="rId29"/>
    <p:sldId id="359" r:id="rId30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nstantia" panose="02030602050306030303" pitchFamily="18" charset="0"/>
      <p:regular r:id="rId33"/>
      <p:bold r:id="rId34"/>
      <p:italic r:id="rId35"/>
      <p:boldItalic r:id="rId36"/>
    </p:embeddedFont>
    <p:embeddedFont>
      <p:font typeface="Wingdings 2" panose="05020102010507070707" pitchFamily="18" charset="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23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CACA-79E6-047B-F339-EEEF8FB8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DD7DA-C476-3D46-F898-84E013557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2F246-FD21-E5B0-D303-0C4414D62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69C5-F6E4-DA06-3E4D-569D24E50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66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both probabilities, but subtract the overlap so you don’t count it twice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60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23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E6D9-767A-6279-E0C2-BB4934303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8A290-6785-27F8-1217-1D4A0C370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9B4D1-C012-8291-E900-7440625DE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1F872-4DDC-4EA3-39F1-C9E19D76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1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C68A-A9D2-7E11-323C-7C3B0E56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C9E43-3EE5-DA0D-66EE-825706715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6CF52-F0B5-0330-CB46-CBEA0664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8FAF7-9422-33A1-E616-F1E3C1A27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9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Introduction to Discrete Probability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7.1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E2D4-7A75-AE0F-4840-AD05F6F0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7F44-D6FC-5B0D-0CE6-75539A3A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0347-0D43-0455-3578-C5ABAF1CB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is basically about answering:</a:t>
            </a:r>
          </a:p>
          <a:p>
            <a:pPr algn="ctr"/>
            <a:r>
              <a:rPr lang="en-US" dirty="0"/>
              <a:t>“</a:t>
            </a:r>
            <a:r>
              <a:rPr lang="en-US" dirty="0">
                <a:solidFill>
                  <a:srgbClr val="7030A0"/>
                </a:solidFill>
              </a:rPr>
              <a:t>How likely is something to happen?”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What is the chance of getting heads when flipping a coin? </a:t>
            </a:r>
          </a:p>
          <a:p>
            <a:pPr lvl="1"/>
            <a:r>
              <a:rPr lang="en-US" dirty="0"/>
              <a:t>What is the chance of rolling a 6 on a die? </a:t>
            </a:r>
          </a:p>
          <a:p>
            <a:pPr lvl="1"/>
            <a:r>
              <a:rPr lang="en-US" dirty="0"/>
              <a:t>What is the chance it rains tomorrow?</a:t>
            </a:r>
          </a:p>
        </p:txBody>
      </p:sp>
    </p:spTree>
    <p:extLst>
      <p:ext uri="{BB962C8B-B14F-4D97-AF65-F5344CB8AC3E}">
        <p14:creationId xmlns:p14="http://schemas.microsoft.com/office/powerpoint/2010/main" val="89395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5124-8DF0-8B71-5EF2-A25F7A58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54FC7-88DF-1639-9A05-051E3BC7C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Sample Space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sample space</a:t>
                </a:r>
                <a:r>
                  <a:rPr lang="en-US" dirty="0"/>
                  <a:t> is the list of </a:t>
                </a:r>
                <a:r>
                  <a:rPr lang="en-US" i="1" dirty="0"/>
                  <a:t>all possible outcomes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Usually written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1"/>
                <a:r>
                  <a:rPr lang="en-US" dirty="0"/>
                  <a:t>Example 1: coin flip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Heads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Tail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Example 2: rolling a die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sample space contains everything that could happen.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854FC7-88DF-1639-9A05-051E3BC7C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  <a:blipFill>
                <a:blip r:embed="rId2"/>
                <a:stretch>
                  <a:fillRect l="-133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1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6CD7-DB45-C3B0-912B-AF845ABA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5B703-D079-1A7C-36EE-64A1F88746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500" b="1" dirty="0"/>
                  <a:t>Event</a:t>
                </a:r>
              </a:p>
              <a:p>
                <a:r>
                  <a:rPr lang="en-US" dirty="0"/>
                  <a:t>An </a:t>
                </a:r>
                <a:r>
                  <a:rPr lang="en-US" b="1" dirty="0"/>
                  <a:t>event</a:t>
                </a:r>
                <a:r>
                  <a:rPr lang="en-US" dirty="0"/>
                  <a:t> is just a group of outcomes we care about.</a:t>
                </a:r>
              </a:p>
              <a:p>
                <a:r>
                  <a:rPr lang="en-US" b="1" dirty="0"/>
                  <a:t>Example:</a:t>
                </a:r>
                <a:r>
                  <a:rPr lang="en-US" dirty="0"/>
                  <a:t> Roll a die and ask:</a:t>
                </a:r>
              </a:p>
              <a:p>
                <a:pPr lvl="1"/>
                <a:r>
                  <a:rPr lang="en-US" dirty="0"/>
                  <a:t>“What is the chance of rolling an even number?”</a:t>
                </a:r>
              </a:p>
              <a:p>
                <a:r>
                  <a:rPr lang="en-US" dirty="0"/>
                  <a:t>Even numbers 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This set is the event.</a:t>
                </a:r>
              </a:p>
              <a:p>
                <a:endParaRPr lang="en-US" dirty="0"/>
              </a:p>
              <a:p>
                <a:r>
                  <a:rPr lang="en-US" b="1" dirty="0"/>
                  <a:t>Another example:</a:t>
                </a:r>
              </a:p>
              <a:p>
                <a:pPr lvl="1"/>
                <a:r>
                  <a:rPr lang="en-US" dirty="0"/>
                  <a:t>“What is the chance of rolling a number greater than 4?”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5B703-D079-1A7C-36EE-64A1F88746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  <a:blipFill>
                <a:blip r:embed="rId2"/>
                <a:stretch>
                  <a:fillRect l="-1852" t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49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3BF5-D20C-A0E6-FCCC-1DD30C5A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61C2A-9F8D-41D0-446B-723895564B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600" dirty="0">
                    <a:solidFill>
                      <a:srgbClr val="C00000"/>
                    </a:solidFill>
                  </a:rPr>
                  <a:t>Probability measures how likely the event is.</a:t>
                </a:r>
              </a:p>
              <a:p>
                <a:pPr marL="0" indent="0">
                  <a:buNone/>
                </a:pPr>
                <a:r>
                  <a:rPr lang="en-US" sz="3600" dirty="0"/>
                  <a:t>Laplace’s idea was:</a:t>
                </a:r>
              </a:p>
              <a:p>
                <a:r>
                  <a:rPr lang="en-US" sz="3600" dirty="0"/>
                  <a:t>If all outcomes are likely to occur,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sz="3600" dirty="0"/>
              </a:p>
              <a:p>
                <a:r>
                  <a:rPr lang="en-US" sz="3600" dirty="0"/>
                  <a:t>This means: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b="0"/>
                        <m:t>Probability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1"/>
                            <m:t>Number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of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favorable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outcomes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1"/>
                            <m:t>Total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outcomes</m:t>
                          </m:r>
                        </m:den>
                      </m:f>
                    </m:oMath>
                  </m:oMathPara>
                </a14:m>
                <a:endParaRPr lang="ar-AE" sz="36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C61C2A-9F8D-41D0-446B-723895564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229600" cy="4389120"/>
              </a:xfrm>
              <a:blipFill>
                <a:blip r:embed="rId2"/>
                <a:stretch>
                  <a:fillRect l="-2000" t="-3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54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C5D7-2F8B-59FB-AC84-4D6E9144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1A8CE-3C3B-65F0-0590-8D02F34EE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533400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Example</a:t>
                </a:r>
              </a:p>
              <a:p>
                <a:pPr marL="0" indent="0">
                  <a:buNone/>
                </a:pPr>
                <a:r>
                  <a:rPr lang="en-US" sz="2800" dirty="0"/>
                  <a:t>Flip a coin.</a:t>
                </a:r>
              </a:p>
              <a:p>
                <a:r>
                  <a:rPr lang="en-US" sz="2800" dirty="0"/>
                  <a:t>Sample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Heads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Tail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ar-AE" sz="2800" dirty="0"/>
              </a:p>
              <a:p>
                <a:r>
                  <a:rPr lang="en-US" sz="2800" dirty="0"/>
                  <a:t>Event: Getting heads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𝐻𝑒𝑎𝑑𝑠</m:t>
                          </m:r>
                        </m:e>
                      </m:d>
                    </m:oMath>
                  </m:oMathPara>
                </a14:m>
                <a:endParaRPr lang="ar-AE" sz="2800" dirty="0"/>
              </a:p>
              <a:p>
                <a:pPr marL="0" indent="0">
                  <a:buNone/>
                </a:pPr>
                <a:r>
                  <a:rPr lang="en-US" sz="2800" dirty="0"/>
                  <a:t>Now count:</a:t>
                </a:r>
              </a:p>
              <a:p>
                <a:pPr lvl="1"/>
                <a:r>
                  <a:rPr lang="en-US" sz="2800" dirty="0"/>
                  <a:t>Favorable outcomes = 1 </a:t>
                </a:r>
              </a:p>
              <a:p>
                <a:pPr lvl="1"/>
                <a:r>
                  <a:rPr lang="en-US" sz="2800" dirty="0"/>
                  <a:t>Total outcomes = 2 </a:t>
                </a:r>
              </a:p>
              <a:p>
                <a:r>
                  <a:rPr lang="en-US" sz="2800" dirty="0"/>
                  <a:t>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1A8CE-3C3B-65F0-0590-8D02F34EE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533400"/>
                <a:ext cx="8229600" cy="4389120"/>
              </a:xfrm>
              <a:blipFill>
                <a:blip r:embed="rId2"/>
                <a:stretch>
                  <a:fillRect l="-1556" t="-1389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043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3BD8-362F-7425-5ADC-0196AA02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89239-37AD-899A-51EC-92D0F80DF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533400"/>
                <a:ext cx="83820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Why Probability Is Always Between 0 and 1</a:t>
                </a:r>
              </a:p>
              <a:p>
                <a:r>
                  <a:rPr lang="en-US" sz="2800" dirty="0"/>
                  <a:t>Probability can never be:</a:t>
                </a:r>
              </a:p>
              <a:p>
                <a:pPr lvl="1"/>
                <a:r>
                  <a:rPr lang="en-US" sz="2600" dirty="0"/>
                  <a:t>less than 0 </a:t>
                </a:r>
              </a:p>
              <a:p>
                <a:pPr lvl="1"/>
                <a:r>
                  <a:rPr lang="en-US" sz="2600" dirty="0"/>
                  <a:t>greater than 1 </a:t>
                </a:r>
              </a:p>
              <a:p>
                <a:r>
                  <a:rPr lang="en-US" sz="2800" dirty="0"/>
                  <a:t>Because:</a:t>
                </a:r>
              </a:p>
              <a:p>
                <a:pPr lvl="1"/>
                <a:r>
                  <a:rPr lang="en-US" sz="2600" dirty="0"/>
                  <a:t>0 means impossible </a:t>
                </a:r>
              </a:p>
              <a:p>
                <a:pPr lvl="1"/>
                <a:r>
                  <a:rPr lang="en-US" sz="2600" dirty="0"/>
                  <a:t>1 means guaranteed 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Examples:</a:t>
                </a: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Probability the sun rises tomorrow ≈ very close to 1 </a:t>
                </a: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Probability of rolling a 7 on a normal die = 0 </a:t>
                </a:r>
              </a:p>
              <a:p>
                <a:r>
                  <a:rPr lang="en-US" sz="2800" dirty="0"/>
                  <a:t>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89239-37AD-899A-51EC-92D0F80DF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533400"/>
                <a:ext cx="8382000" cy="4389120"/>
              </a:xfrm>
              <a:blipFill>
                <a:blip r:embed="rId2"/>
                <a:stretch>
                  <a:fillRect l="-1527" t="-1389" b="-34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26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Applying Laplace’s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  <a:r>
              <a:rPr lang="en-US" b="1" dirty="0"/>
              <a:t>Example</a:t>
            </a:r>
            <a:r>
              <a:rPr lang="en-US" dirty="0"/>
              <a:t>: An container contains four blue balls and five red balls. What is the probability that a ball chosen from the container is blue?</a:t>
            </a:r>
          </a:p>
          <a:p>
            <a:pPr>
              <a:buNone/>
            </a:pPr>
            <a:r>
              <a:rPr lang="en-US" dirty="0"/>
              <a:t>   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C4BC-B334-1543-763F-5EB811EA7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3B5AE-ABF8-CE8E-D09F-C49696BAD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533400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Step 1: Count total balls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So there are 9 possible balls you could pick.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Step 2: Count favorable outcomes</a:t>
                </a:r>
              </a:p>
              <a:p>
                <a:r>
                  <a:rPr lang="en-US" sz="2400" dirty="0"/>
                  <a:t>We want a </a:t>
                </a:r>
                <a:r>
                  <a:rPr lang="en-US" sz="2400" b="1" dirty="0"/>
                  <a:t>blue</a:t>
                </a:r>
                <a:r>
                  <a:rPr lang="en-US" sz="2400" dirty="0"/>
                  <a:t> ball.</a:t>
                </a:r>
              </a:p>
              <a:p>
                <a:r>
                  <a:rPr lang="en-US" sz="2400" dirty="0"/>
                  <a:t>There are 4 blue balls.</a:t>
                </a:r>
              </a:p>
              <a:p>
                <a:r>
                  <a:rPr lang="en-US" sz="2400" dirty="0"/>
                  <a:t>So:</a:t>
                </a:r>
              </a:p>
              <a:p>
                <a:pPr lvl="1"/>
                <a:r>
                  <a:rPr lang="en-US" dirty="0"/>
                  <a:t>Favorable outcomes = 4 </a:t>
                </a:r>
              </a:p>
              <a:p>
                <a:pPr lvl="1"/>
                <a:r>
                  <a:rPr lang="en-US" dirty="0"/>
                  <a:t>Total outcomes = 9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Step 3: Use probability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i="1"/>
                            <m:t>blue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ar-AE" sz="2400" b="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3B5AE-ABF8-CE8E-D09F-C49696BAD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533400"/>
                <a:ext cx="8229600" cy="4389120"/>
              </a:xfrm>
              <a:blipFill>
                <a:blip r:embed="rId2"/>
                <a:stretch>
                  <a:fillRect l="-1185" t="-1111" b="-2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90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3EF31-F5F0-CEF1-282F-AF72BACC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395B-68E0-FA73-89C5-C88C940A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Applying Laplace’s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601C-F291-3F6C-5D69-49125F549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What is the probability that when two dice are rolled, the sum of the numbers on the two dice is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b="1" dirty="0"/>
              <a:t>    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C371-6A4A-07F5-2C06-783C69D8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B2DFF-82CC-2F16-77A5-D61CB985D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457200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Step 1: Understand the outcomes</a:t>
                </a:r>
              </a:p>
              <a:p>
                <a:r>
                  <a:rPr lang="en-US" sz="2400" dirty="0"/>
                  <a:t>Each die has 6 possible numbers: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When rolling </a:t>
                </a:r>
                <a:r>
                  <a:rPr lang="en-US" sz="2400" b="1" dirty="0"/>
                  <a:t>two dice</a:t>
                </a:r>
                <a:r>
                  <a:rPr lang="en-US" sz="2400" dirty="0"/>
                  <a:t>, we combine the results.</a:t>
                </a:r>
              </a:p>
              <a:p>
                <a:r>
                  <a:rPr lang="en-US" sz="2400" dirty="0"/>
                  <a:t>Examples:</a:t>
                </a:r>
              </a:p>
              <a:p>
                <a:pPr lvl="1"/>
                <a:r>
                  <a:rPr lang="en-US" b="1" dirty="0"/>
                  <a:t>Find outcomes that give sum = 7</a:t>
                </a:r>
              </a:p>
              <a:p>
                <a:pPr lvl="1"/>
                <a:r>
                  <a:rPr lang="en-US" dirty="0"/>
                  <a:t>These are: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sz="2400" dirty="0"/>
              </a:p>
              <a:p>
                <a:pPr lvl="1"/>
                <a:r>
                  <a:rPr lang="en-US" dirty="0"/>
                  <a:t>There are 6 favorable outcomes.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B2DFF-82CC-2F16-77A5-D61CB985D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457200"/>
                <a:ext cx="8229600" cy="4389120"/>
              </a:xfrm>
              <a:blipFill>
                <a:blip r:embed="rId2"/>
                <a:stretch>
                  <a:fillRect l="-1185" t="-1111" b="-41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22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104A6-C8B0-7118-F7DB-9A860EE6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8CF8B-4965-CD5F-8CA8-1DD44D9112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457200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Step 2: Count total outcomes</a:t>
                </a:r>
              </a:p>
              <a:p>
                <a:pPr lvl="1"/>
                <a:r>
                  <a:rPr lang="en-US" sz="2600" dirty="0"/>
                  <a:t>First die: 6 possibilities </a:t>
                </a:r>
              </a:p>
              <a:p>
                <a:pPr lvl="1"/>
                <a:r>
                  <a:rPr lang="en-US" sz="2600" dirty="0"/>
                  <a:t>Second die: 6 possibilities </a:t>
                </a:r>
              </a:p>
              <a:p>
                <a:r>
                  <a:rPr lang="en-US" sz="2800" dirty="0"/>
                  <a:t>Multiply them: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So there are 36 total possible outcomes.</a:t>
                </a:r>
              </a:p>
              <a:p>
                <a:pPr marL="0" indent="0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r>
                  <a:rPr lang="en-US" sz="2800" b="1" dirty="0"/>
                  <a:t>Step 3: Use probability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800" i="1"/>
                            <m:t>sum</m:t>
                          </m:r>
                          <m:r>
                            <m:rPr>
                              <m:nor/>
                            </m:rPr>
                            <a:rPr lang="en-US" sz="2800" i="1"/>
                            <m:t> = </m:t>
                          </m:r>
                          <m:r>
                            <m:rPr>
                              <m:nor/>
                            </m:rPr>
                            <a:rPr lang="en-US" sz="2800" i="1"/>
                            <m:t>7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ar-AE" sz="2800" b="0" dirty="0"/>
              </a:p>
              <a:p>
                <a:r>
                  <a:rPr lang="en-US" sz="2800" dirty="0"/>
                  <a:t>Simplify: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ar-AE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8CF8B-4965-CD5F-8CA8-1DD44D911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457200"/>
                <a:ext cx="8229600" cy="4389120"/>
              </a:xfrm>
              <a:blipFill>
                <a:blip r:embed="rId2"/>
                <a:stretch>
                  <a:fillRect l="-1556" t="-1250" b="-37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92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Example 3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en-US" sz="2800" dirty="0"/>
              <a:t>In a lottery, a machine randomly picks a 4-digit number.</a:t>
            </a:r>
            <a:br>
              <a:rPr lang="en-US" sz="2800" dirty="0"/>
            </a:br>
            <a:r>
              <a:rPr lang="en-US" sz="2800" dirty="0"/>
              <a:t>A player also chooses a 4-digit number.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The player wins the prize if:</a:t>
            </a:r>
          </a:p>
          <a:p>
            <a:pPr lvl="1"/>
            <a:r>
              <a:rPr lang="en-US" sz="2800" dirty="0"/>
              <a:t>all four digits match exactly </a:t>
            </a:r>
          </a:p>
          <a:p>
            <a:pPr lvl="1"/>
            <a:r>
              <a:rPr lang="en-US" sz="2800" dirty="0"/>
              <a:t>and the digits are in the correct order </a:t>
            </a:r>
          </a:p>
          <a:p>
            <a:pPr lvl="1"/>
            <a:r>
              <a:rPr lang="en-US" sz="2800" dirty="0"/>
              <a:t>What is the probability that the player wins the prize?</a:t>
            </a:r>
          </a:p>
          <a:p>
            <a:pPr>
              <a:buNone/>
            </a:pPr>
            <a:r>
              <a:rPr lang="en-US" sz="2800" b="1" dirty="0"/>
              <a:t>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B348-75CE-A49F-2669-6B0AD5F6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1ECE9-6450-1790-7AAD-6715A91783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457200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b="1" dirty="0">
                    <a:latin typeface="+mj-lt"/>
                  </a:rPr>
                  <a:t>Lottery Example Simplified</a:t>
                </a:r>
              </a:p>
              <a:p>
                <a:pPr marL="0" indent="0">
                  <a:buNone/>
                </a:pPr>
                <a:r>
                  <a:rPr lang="en-US" sz="2800" dirty="0">
                    <a:latin typeface="+mj-lt"/>
                  </a:rPr>
                  <a:t>A player must guess a </a:t>
                </a:r>
                <a:r>
                  <a:rPr lang="en-US" sz="2800" b="1" dirty="0">
                    <a:latin typeface="+mj-lt"/>
                  </a:rPr>
                  <a:t>4-digit number</a:t>
                </a:r>
                <a:r>
                  <a:rPr lang="en-US" sz="2800" dirty="0">
                    <a:latin typeface="+mj-lt"/>
                  </a:rPr>
                  <a:t> correctly.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7030A0"/>
                    </a:solidFill>
                    <a:latin typeface="+mj-lt"/>
                  </a:rPr>
                  <a:t>Example winning number: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5271</m:t>
                    </m:r>
                  </m:oMath>
                </a14:m>
                <a:endParaRPr lang="en-US" sz="2800" dirty="0">
                  <a:solidFill>
                    <a:srgbClr val="7030A0"/>
                  </a:solidFill>
                  <a:latin typeface="+mj-lt"/>
                </a:endParaRPr>
              </a:p>
              <a:p>
                <a:r>
                  <a:rPr lang="en-US" sz="2800" dirty="0">
                    <a:latin typeface="+mj-lt"/>
                  </a:rPr>
                  <a:t>To win:</a:t>
                </a:r>
              </a:p>
              <a:p>
                <a:pPr lvl="1"/>
                <a:r>
                  <a:rPr lang="en-US" sz="2800" dirty="0">
                    <a:latin typeface="+mj-lt"/>
                  </a:rPr>
                  <a:t>all 4 digits must match </a:t>
                </a:r>
              </a:p>
              <a:p>
                <a:pPr lvl="1"/>
                <a:r>
                  <a:rPr lang="en-US" sz="2800" dirty="0">
                    <a:latin typeface="+mj-lt"/>
                  </a:rPr>
                  <a:t>and they must be in the correct order </a:t>
                </a:r>
              </a:p>
              <a:p>
                <a:r>
                  <a:rPr lang="en-US" sz="2800" dirty="0">
                    <a:latin typeface="+mj-lt"/>
                  </a:rPr>
                  <a:t>So:</a:t>
                </a:r>
              </a:p>
              <a:p>
                <a:pPr lvl="1"/>
                <a:r>
                  <a:rPr lang="en-US" sz="2800" dirty="0">
                    <a:latin typeface="+mj-lt"/>
                  </a:rPr>
                  <a:t>5271 = win </a:t>
                </a:r>
              </a:p>
              <a:p>
                <a:pPr lvl="1"/>
                <a:r>
                  <a:rPr lang="en-US" sz="2800" dirty="0">
                    <a:latin typeface="+mj-lt"/>
                  </a:rPr>
                  <a:t>5712 = lose (wrong order)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01ECE9-6450-1790-7AAD-6715A9178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457200"/>
                <a:ext cx="8229600" cy="4389120"/>
              </a:xfrm>
              <a:blipFill>
                <a:blip r:embed="rId2"/>
                <a:stretch>
                  <a:fillRect l="-1481" t="-1250" b="-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01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BC019-3C14-8FA5-4060-E721F2F6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7048BC-8653-35B0-48BB-156A52ADE3C6}"/>
                  </a:ext>
                </a:extLst>
              </p:cNvPr>
              <p:cNvSpPr txBox="1"/>
              <p:nvPr/>
            </p:nvSpPr>
            <p:spPr>
              <a:xfrm>
                <a:off x="304800" y="609600"/>
                <a:ext cx="8458200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Step 1: Count all possible 4-digit numbers</a:t>
                </a:r>
              </a:p>
              <a:p>
                <a:pPr>
                  <a:buNone/>
                </a:pPr>
                <a:r>
                  <a:rPr lang="en-US" sz="2800" dirty="0"/>
                  <a:t>Each digit can be: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800" dirty="0"/>
              </a:p>
              <a:p>
                <a:pPr>
                  <a:buNone/>
                </a:pPr>
                <a:r>
                  <a:rPr lang="en-US" sz="2800" dirty="0"/>
                  <a:t>That means: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10 choices for the first digit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10 choices for the second digit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10 choices for the third digit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10 choices for the fourth digit </a:t>
                </a:r>
              </a:p>
              <a:p>
                <a:pPr>
                  <a:buNone/>
                </a:pPr>
                <a:r>
                  <a:rPr lang="en-US" sz="2800" dirty="0"/>
                  <a:t>Multiply them: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0">
                          <a:latin typeface="Cambria Math" panose="02040503050406030204" pitchFamily="18" charset="0"/>
                        </a:rPr>
                        <m:t>10000</m:t>
                      </m:r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7048BC-8653-35B0-48BB-156A52ADE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09600"/>
                <a:ext cx="8458200" cy="5262979"/>
              </a:xfrm>
              <a:prstGeom prst="rect">
                <a:avLst/>
              </a:prstGeom>
              <a:blipFill>
                <a:blip r:embed="rId2"/>
                <a:stretch>
                  <a:fillRect l="-1441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795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D964-C93F-B879-E337-066E2F05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05EAF8-6950-1DEB-8A93-8EEAA6E06DC6}"/>
                  </a:ext>
                </a:extLst>
              </p:cNvPr>
              <p:cNvSpPr txBox="1"/>
              <p:nvPr/>
            </p:nvSpPr>
            <p:spPr>
              <a:xfrm>
                <a:off x="304800" y="609600"/>
                <a:ext cx="8458200" cy="5780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Step 2: Count winning outcomes</a:t>
                </a:r>
              </a:p>
              <a:p>
                <a:r>
                  <a:rPr lang="en-US" sz="2800" dirty="0"/>
                  <a:t>Only </a:t>
                </a:r>
                <a:r>
                  <a:rPr lang="en-US" sz="2800" b="1" dirty="0"/>
                  <a:t>one</a:t>
                </a:r>
                <a:r>
                  <a:rPr lang="en-US" sz="2800" dirty="0"/>
                  <a:t> number matches exactly.</a:t>
                </a:r>
              </a:p>
              <a:p>
                <a:r>
                  <a:rPr lang="en-US" sz="2800" dirty="0"/>
                  <a:t>So:</a:t>
                </a:r>
              </a:p>
              <a:p>
                <a:pPr lvl="1"/>
                <a:r>
                  <a:rPr lang="en-US" sz="2800" dirty="0"/>
                  <a:t>favorable outcomes = 1 </a:t>
                </a:r>
              </a:p>
              <a:p>
                <a:pPr lvl="1"/>
                <a:r>
                  <a:rPr lang="en-US" sz="2800" dirty="0"/>
                  <a:t>total outcomes = 10000</a:t>
                </a:r>
              </a:p>
              <a:p>
                <a:pPr lvl="1"/>
                <a:endParaRPr lang="en-US" sz="2800" dirty="0"/>
              </a:p>
              <a:p>
                <a:r>
                  <a:rPr lang="en-US" sz="2800" b="1" dirty="0"/>
                  <a:t>Step 3: Use probability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</m:oMath>
                  </m:oMathPara>
                </a14:m>
                <a:endParaRPr lang="ar-AE" sz="2800" dirty="0"/>
              </a:p>
              <a:p>
                <a:r>
                  <a:rPr lang="en-US" sz="2800" dirty="0"/>
                  <a:t>So the probability of winning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800" dirty="0"/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05EAF8-6950-1DEB-8A93-8EEAA6E06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09600"/>
                <a:ext cx="8458200" cy="5780172"/>
              </a:xfrm>
              <a:prstGeom prst="rect">
                <a:avLst/>
              </a:prstGeom>
              <a:blipFill>
                <a:blip r:embed="rId2"/>
                <a:stretch>
                  <a:fillRect l="-1441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16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2965"/>
            <a:ext cx="8534400" cy="4389120"/>
          </a:xfrm>
        </p:spPr>
        <p:txBody>
          <a:bodyPr>
            <a:normAutofit/>
          </a:bodyPr>
          <a:lstStyle/>
          <a:p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In a lottery, a machine randomly picks a 4-digit number.</a:t>
            </a:r>
            <a:br>
              <a:rPr lang="en-US" dirty="0"/>
            </a:br>
            <a:r>
              <a:rPr lang="en-US" dirty="0"/>
              <a:t>A player also chooses a 4-digit number.</a:t>
            </a:r>
          </a:p>
          <a:p>
            <a:r>
              <a:rPr lang="en-US" dirty="0"/>
              <a:t>The player wins a </a:t>
            </a:r>
            <a:r>
              <a:rPr lang="en-US" b="1" dirty="0"/>
              <a:t>small prize</a:t>
            </a:r>
            <a:r>
              <a:rPr lang="en-US" dirty="0"/>
              <a:t> if exactly </a:t>
            </a:r>
            <a:r>
              <a:rPr lang="en-US" b="1" dirty="0"/>
              <a:t>three digits match</a:t>
            </a:r>
            <a:r>
              <a:rPr lang="en-US" dirty="0"/>
              <a:t> the winning number in the correct positions.</a:t>
            </a:r>
          </a:p>
          <a:p>
            <a:r>
              <a:rPr lang="en-US" dirty="0">
                <a:solidFill>
                  <a:srgbClr val="7030A0"/>
                </a:solidFill>
              </a:rPr>
              <a:t>What is the probability that the player wins the small prize?</a:t>
            </a:r>
          </a:p>
        </p:txBody>
      </p:sp>
    </p:spTree>
    <p:extLst>
      <p:ext uri="{BB962C8B-B14F-4D97-AF65-F5344CB8AC3E}">
        <p14:creationId xmlns:p14="http://schemas.microsoft.com/office/powerpoint/2010/main" val="1205983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AD79-0ED2-AAD0-7B5C-0F273636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754782-7FFF-D02D-A541-F4223E3ADE5C}"/>
              </a:ext>
            </a:extLst>
          </p:cNvPr>
          <p:cNvSpPr txBox="1"/>
          <p:nvPr/>
        </p:nvSpPr>
        <p:spPr>
          <a:xfrm>
            <a:off x="304800" y="1893838"/>
            <a:ext cx="45811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Step 2: What does “exactly 3 digits match” mean?</a:t>
            </a:r>
          </a:p>
          <a:p>
            <a:pPr>
              <a:buNone/>
            </a:pPr>
            <a:r>
              <a:rPr lang="en-US" sz="2000" dirty="0"/>
              <a:t>It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Out of 4 positions, </a:t>
            </a:r>
            <a:r>
              <a:rPr lang="en-US" sz="2000" b="1" dirty="0"/>
              <a:t>3 digits are correct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1 digit is wrong </a:t>
            </a:r>
          </a:p>
          <a:p>
            <a:pPr>
              <a:buNone/>
            </a:pPr>
            <a:r>
              <a:rPr lang="en-US" sz="2000" dirty="0"/>
              <a:t>So we choose: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which 3 positions are correct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and the 1 wrong 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3B5A84-1DFA-95A6-6A97-5D20B167BD67}"/>
                  </a:ext>
                </a:extLst>
              </p:cNvPr>
              <p:cNvSpPr txBox="1"/>
              <p:nvPr/>
            </p:nvSpPr>
            <p:spPr>
              <a:xfrm>
                <a:off x="304800" y="228600"/>
                <a:ext cx="548640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Step 1: Total possible outcomes</a:t>
                </a:r>
              </a:p>
              <a:p>
                <a:pPr>
                  <a:buNone/>
                </a:pPr>
                <a:r>
                  <a:rPr lang="en-US" sz="2000" dirty="0"/>
                  <a:t>A 4-digit number has: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10 choices for each digit (0–9) </a:t>
                </a:r>
              </a:p>
              <a:p>
                <a:pPr>
                  <a:buNone/>
                </a:pPr>
                <a:r>
                  <a:rPr lang="en-US" sz="2000" dirty="0"/>
                  <a:t>So total numbers: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10000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3B5A84-1DFA-95A6-6A97-5D20B167B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8600"/>
                <a:ext cx="5486400" cy="1631216"/>
              </a:xfrm>
              <a:prstGeom prst="rect">
                <a:avLst/>
              </a:prstGeom>
              <a:blipFill>
                <a:blip r:embed="rId2"/>
                <a:stretch>
                  <a:fillRect l="-1111" t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88FE8-5582-4CE3-5DB6-AD5B8FEB1F64}"/>
                  </a:ext>
                </a:extLst>
              </p:cNvPr>
              <p:cNvSpPr txBox="1"/>
              <p:nvPr/>
            </p:nvSpPr>
            <p:spPr>
              <a:xfrm>
                <a:off x="304800" y="4468400"/>
                <a:ext cx="458114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Step 3: Choose the wrong position</a:t>
                </a:r>
              </a:p>
              <a:p>
                <a:pPr>
                  <a:buNone/>
                </a:pPr>
                <a:r>
                  <a:rPr lang="en-US" sz="2000" dirty="0"/>
                  <a:t>There are 4 positions, 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choices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88FE8-5582-4CE3-5DB6-AD5B8FEB1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468400"/>
                <a:ext cx="4581144" cy="1015663"/>
              </a:xfrm>
              <a:prstGeom prst="rect">
                <a:avLst/>
              </a:prstGeom>
              <a:blipFill>
                <a:blip r:embed="rId3"/>
                <a:stretch>
                  <a:fillRect l="-1330" t="-2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6660089-BE4D-0BA4-1414-CE8740387502}"/>
              </a:ext>
            </a:extLst>
          </p:cNvPr>
          <p:cNvSpPr txBox="1"/>
          <p:nvPr/>
        </p:nvSpPr>
        <p:spPr>
          <a:xfrm>
            <a:off x="304800" y="5504081"/>
            <a:ext cx="45811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Step 4: Wrong digit choices</a:t>
            </a:r>
          </a:p>
          <a:p>
            <a:pPr>
              <a:buNone/>
            </a:pPr>
            <a:r>
              <a:rPr lang="en-US" sz="2000" dirty="0"/>
              <a:t>For the wrong position: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any digit except the correct 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 9 choices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576D10-7045-E9B4-91C3-805575C5E199}"/>
                  </a:ext>
                </a:extLst>
              </p:cNvPr>
              <p:cNvSpPr txBox="1"/>
              <p:nvPr/>
            </p:nvSpPr>
            <p:spPr>
              <a:xfrm>
                <a:off x="5038344" y="1981200"/>
                <a:ext cx="4142232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Step 5: Total favorable outcomes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US" sz="2000" dirty="0"/>
              </a:p>
              <a:p>
                <a:pPr>
                  <a:buNone/>
                </a:pPr>
                <a:r>
                  <a:rPr lang="en-US" sz="2000" dirty="0"/>
                  <a:t>So there are </a:t>
                </a:r>
                <a:r>
                  <a:rPr lang="en-US" sz="2000" b="1" dirty="0"/>
                  <a:t>36 ways</a:t>
                </a:r>
                <a:r>
                  <a:rPr lang="en-US" sz="2000" dirty="0"/>
                  <a:t> to match exactly 3 digits.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576D10-7045-E9B4-91C3-805575C5E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344" y="1981200"/>
                <a:ext cx="4142232" cy="1323439"/>
              </a:xfrm>
              <a:prstGeom prst="rect">
                <a:avLst/>
              </a:prstGeom>
              <a:blipFill>
                <a:blip r:embed="rId4"/>
                <a:stretch>
                  <a:fillRect l="-1620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D50A3C-0975-B95D-66E8-882928DF9BD7}"/>
                  </a:ext>
                </a:extLst>
              </p:cNvPr>
              <p:cNvSpPr txBox="1"/>
              <p:nvPr/>
            </p:nvSpPr>
            <p:spPr>
              <a:xfrm>
                <a:off x="5062728" y="3426023"/>
                <a:ext cx="4581144" cy="1208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Step 6: Probability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favorable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>
                            <a:latin typeface="Cambria Math" panose="02040503050406030204" pitchFamily="18" charset="0"/>
                          </a:rPr>
                          <m:t>total</m:t>
                        </m:r>
                      </m:den>
                    </m:f>
                    <m:r>
                      <a:rPr lang="ar-AE" sz="2000" b="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10000</m:t>
                        </m:r>
                      </m:den>
                    </m:f>
                  </m:oMath>
                </a14:m>
                <a:r>
                  <a:rPr lang="en-US" sz="2000" b="0" dirty="0"/>
                  <a:t>=</a:t>
                </a:r>
                <a:r>
                  <a:rPr lang="ar-AE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en-US" sz="2000" b="0" dirty="0"/>
              </a:p>
              <a:p>
                <a:pPr>
                  <a:buNone/>
                </a:pPr>
                <a:endParaRPr lang="ar-AE" sz="20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D50A3C-0975-B95D-66E8-882928DF9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728" y="3426023"/>
                <a:ext cx="4581144" cy="1208601"/>
              </a:xfrm>
              <a:prstGeom prst="rect">
                <a:avLst/>
              </a:prstGeom>
              <a:blipFill>
                <a:blip r:embed="rId5"/>
                <a:stretch>
                  <a:fillRect l="-1465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91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Laplace’s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  Example</a:t>
            </a:r>
            <a:r>
              <a:rPr lang="en-US" dirty="0"/>
              <a:t>: In a lottery, a player chooses </a:t>
            </a:r>
            <a:r>
              <a:rPr lang="en-US" b="1" dirty="0"/>
              <a:t>6 numbers</a:t>
            </a:r>
            <a:r>
              <a:rPr lang="en-US" dirty="0"/>
              <a:t> from the numbers </a:t>
            </a:r>
            <a:r>
              <a:rPr lang="en-US" b="1" dirty="0"/>
              <a:t>1 to 40</a:t>
            </a:r>
            <a:r>
              <a:rPr lang="en-US" dirty="0"/>
              <a:t>.</a:t>
            </a:r>
          </a:p>
          <a:p>
            <a:r>
              <a:rPr lang="en-US" dirty="0"/>
              <a:t>A machine also randomly selects </a:t>
            </a:r>
            <a:r>
              <a:rPr lang="en-US" b="1" dirty="0"/>
              <a:t>6 winning numbers</a:t>
            </a:r>
            <a:r>
              <a:rPr lang="en-US" dirty="0"/>
              <a:t> from 1 to 40.</a:t>
            </a:r>
          </a:p>
          <a:p>
            <a:r>
              <a:rPr lang="en-US" dirty="0"/>
              <a:t>The order does not matter.</a:t>
            </a:r>
          </a:p>
          <a:p>
            <a:r>
              <a:rPr lang="en-US" dirty="0"/>
              <a:t>What is the probability that the player picks all 6 correct numbers?</a:t>
            </a:r>
          </a:p>
          <a:p>
            <a:pPr>
              <a:buNone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    </a:t>
            </a:r>
            <a:endParaRPr lang="en-US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4A6E-E7BC-0FA5-5F4A-8AFFF082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E854E-046D-A459-A36D-79CB9960361B}"/>
                  </a:ext>
                </a:extLst>
              </p:cNvPr>
              <p:cNvSpPr txBox="1"/>
              <p:nvPr/>
            </p:nvSpPr>
            <p:spPr>
              <a:xfrm>
                <a:off x="609600" y="539266"/>
                <a:ext cx="8229600" cy="54716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Step 1: Total possible ways to choose 6 numbers from 40</a:t>
                </a:r>
              </a:p>
              <a:p>
                <a:pPr>
                  <a:buNone/>
                </a:pPr>
                <a:r>
                  <a:rPr lang="en-US" sz="2000" dirty="0"/>
                  <a:t>We are just selecting 6 numbers, not caring about order.</a:t>
                </a:r>
              </a:p>
              <a:p>
                <a:pPr>
                  <a:buNone/>
                </a:pPr>
                <a:r>
                  <a:rPr lang="en-US" sz="2000" dirty="0"/>
                  <a:t>So this is a combination problem: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/>
                        <m:t>Total</m:t>
                      </m:r>
                      <m:r>
                        <m:rPr>
                          <m:nor/>
                        </m:rPr>
                        <a:rPr lang="en-US" sz="2000" b="0" i="1"/>
                        <m:t> </m:t>
                      </m:r>
                      <m:r>
                        <m:rPr>
                          <m:nor/>
                        </m:rPr>
                        <a:rPr lang="en-US" sz="2000" b="0" i="1"/>
                        <m:t>ways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num>
                            <m:den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num>
                            <m:den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838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380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b="1" dirty="0"/>
                  <a:t>Step 2: Favorable outcomes</a:t>
                </a:r>
              </a:p>
              <a:p>
                <a:r>
                  <a:rPr lang="en-US" sz="2000" dirty="0"/>
                  <a:t>Only </a:t>
                </a:r>
                <a:r>
                  <a:rPr lang="en-US" sz="2000" b="1" dirty="0"/>
                  <a:t>1</a:t>
                </a:r>
                <a:r>
                  <a:rPr lang="en-US" sz="2000" dirty="0"/>
                  <a:t> set of numbers is the winning set.</a:t>
                </a:r>
              </a:p>
              <a:p>
                <a:r>
                  <a:rPr lang="en-US" sz="2000" dirty="0"/>
                  <a:t>So:</a:t>
                </a:r>
              </a:p>
              <a:p>
                <a:r>
                  <a:rPr lang="en-US" sz="2000" dirty="0"/>
                  <a:t>favorable outcomes = 1</a:t>
                </a:r>
              </a:p>
              <a:p>
                <a:pPr>
                  <a:buNone/>
                </a:pPr>
                <a:endParaRPr lang="en-US" sz="2000" dirty="0"/>
              </a:p>
              <a:p>
                <a:r>
                  <a:rPr lang="en-US" sz="2000" b="1" dirty="0"/>
                  <a:t>Step 3: Probability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838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380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US" sz="2000" dirty="0"/>
                  <a:t>There is </a:t>
                </a:r>
                <a:r>
                  <a:rPr lang="en-US" sz="2000" b="1" dirty="0"/>
                  <a:t>only one correct combination</a:t>
                </a:r>
                <a:r>
                  <a:rPr lang="en-US" sz="2000" dirty="0"/>
                  <a:t> out of </a:t>
                </a:r>
                <a:r>
                  <a:rPr lang="en-US" sz="2000" b="1" dirty="0"/>
                  <a:t>3.8 million possible combinations</a:t>
                </a:r>
                <a:r>
                  <a:rPr lang="en-US" sz="2000" dirty="0"/>
                  <a:t>, so the chance of winning is extremely small.</a:t>
                </a:r>
                <a:endParaRPr lang="ar-AE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9E854E-046D-A459-A36D-79CB99603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39266"/>
                <a:ext cx="8229600" cy="5471691"/>
              </a:xfrm>
              <a:prstGeom prst="rect">
                <a:avLst/>
              </a:prstGeom>
              <a:blipFill>
                <a:blip r:embed="rId3"/>
                <a:stretch>
                  <a:fillRect l="-741" t="-557" b="-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78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 Theorem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Let </a:t>
            </a:r>
            <a:r>
              <a:rPr lang="en-US" i="1" dirty="0"/>
              <a:t>E</a:t>
            </a:r>
            <a:r>
              <a:rPr lang="en-US" dirty="0"/>
              <a:t> be an event in sample space </a:t>
            </a:r>
            <a:r>
              <a:rPr lang="en-US" i="1" dirty="0"/>
              <a:t>S</a:t>
            </a:r>
            <a:r>
              <a:rPr lang="en-US" dirty="0"/>
              <a:t>. The probability of the event </a:t>
            </a:r>
            <a:r>
              <a:rPr lang="en-US" i="1" dirty="0">
                <a:ea typeface="Cambria Math"/>
              </a:rPr>
              <a:t>    = S </a:t>
            </a:r>
            <a:r>
              <a:rPr lang="en-US" i="1" dirty="0">
                <a:latin typeface="Cambria Math"/>
                <a:ea typeface="Cambria Math"/>
              </a:rPr>
              <a:t>−</a:t>
            </a:r>
            <a:r>
              <a:rPr lang="en-US" i="1" dirty="0">
                <a:ea typeface="Cambria Math"/>
              </a:rPr>
              <a:t> E</a:t>
            </a:r>
            <a:r>
              <a:rPr lang="en-US" dirty="0"/>
              <a:t>, the complementary event of </a:t>
            </a:r>
            <a:r>
              <a:rPr lang="en-US" i="1" dirty="0"/>
              <a:t>E</a:t>
            </a:r>
            <a:r>
              <a:rPr lang="en-US" dirty="0"/>
              <a:t>, is given by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   Proof</a:t>
            </a:r>
            <a:r>
              <a:rPr lang="en-US" dirty="0"/>
              <a:t>: Using the fact that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667000" y="3581400"/>
            <a:ext cx="2826068" cy="41719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1828800" y="4953001"/>
            <a:ext cx="6129338" cy="580073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191000" y="2438400"/>
            <a:ext cx="252413" cy="2690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6167-92D9-0C8E-CC7D-700C517C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D5F0-5405-E218-4A28-5A8F0F2D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06C76-89B2-0517-83CA-8F9F44F84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    = what you want</a:t>
                </a:r>
                <a:r>
                  <a:rPr lang="en-US" dirty="0"/>
                  <a:t> </a:t>
                </a:r>
              </a:p>
              <a:p>
                <a:r>
                  <a:rPr lang="en-US" b="1" dirty="0"/>
                  <a:t>    = what you don’t want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Together they make the whole sample space.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Suppose:</a:t>
                </a:r>
              </a:p>
              <a:p>
                <a:r>
                  <a:rPr lang="en-US" dirty="0"/>
                  <a:t>Probability of rain today = 0.3 </a:t>
                </a:r>
              </a:p>
              <a:p>
                <a:r>
                  <a:rPr lang="en-US" dirty="0"/>
                  <a:t>Then:</a:t>
                </a:r>
              </a:p>
              <a:p>
                <a:r>
                  <a:rPr lang="en-US" dirty="0"/>
                  <a:t>Probability of NOT rain =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F06C76-89B2-0517-83CA-8F9F44F84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741"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ddin_tmp.png">
            <a:extLst>
              <a:ext uri="{FF2B5EF4-FFF2-40B4-BE49-F238E27FC236}">
                <a16:creationId xmlns:a16="http://schemas.microsoft.com/office/drawing/2014/main" id="{E9A7181D-172F-164D-B2F2-1DB2E60049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62000" y="2356434"/>
            <a:ext cx="252413" cy="269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EAEB4-E110-1CA7-1EB3-1CE332EC90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1" b="14309"/>
          <a:stretch>
            <a:fillRect/>
          </a:stretch>
        </p:blipFill>
        <p:spPr>
          <a:xfrm>
            <a:off x="761999" y="1727304"/>
            <a:ext cx="252413" cy="540737"/>
          </a:xfrm>
          <a:prstGeom prst="rect">
            <a:avLst/>
          </a:prstGeom>
        </p:spPr>
      </p:pic>
      <p:pic>
        <p:nvPicPr>
          <p:cNvPr id="11" name="Picture 10" descr="addin_tmp.png">
            <a:extLst>
              <a:ext uri="{FF2B5EF4-FFF2-40B4-BE49-F238E27FC236}">
                <a16:creationId xmlns:a16="http://schemas.microsoft.com/office/drawing/2014/main" id="{937B1475-5829-D2D7-6725-E9C6557532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667000" y="3581400"/>
            <a:ext cx="2826068" cy="41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66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  Example</a:t>
            </a:r>
            <a:r>
              <a:rPr lang="en-US" dirty="0"/>
              <a:t>: A fair coin is flipped once.</a:t>
            </a:r>
            <a:br>
              <a:rPr lang="en-US" dirty="0"/>
            </a:br>
            <a:r>
              <a:rPr lang="en-US" dirty="0"/>
              <a:t>What is the probability that the result is </a:t>
            </a:r>
            <a:r>
              <a:rPr lang="en-US" b="1" dirty="0"/>
              <a:t>not heads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AACE-C3BC-C712-2EC2-30D8C399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502D-BD22-52CF-AE79-1827DAEE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7912-E200-3295-DC5E-5CBC2031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  Example</a:t>
            </a:r>
            <a:r>
              <a:rPr lang="en-US" dirty="0"/>
              <a:t>: A fair coin is flipped once.</a:t>
            </a:r>
            <a:br>
              <a:rPr lang="en-US" dirty="0"/>
            </a:br>
            <a:r>
              <a:rPr lang="en-US" dirty="0"/>
              <a:t>What is the probability that the result is </a:t>
            </a:r>
            <a:r>
              <a:rPr lang="en-US" b="1" dirty="0"/>
              <a:t>not heads</a:t>
            </a:r>
            <a:r>
              <a:rPr lang="en-US" dirty="0"/>
              <a:t>?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0FDE-D26A-2673-5826-39F953735805}"/>
                  </a:ext>
                </a:extLst>
              </p:cNvPr>
              <p:cNvSpPr txBox="1"/>
              <p:nvPr/>
            </p:nvSpPr>
            <p:spPr>
              <a:xfrm>
                <a:off x="533400" y="2887682"/>
                <a:ext cx="4581236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Step 1: Possible outcomes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Heads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Step 2: Event we want</a:t>
                </a:r>
              </a:p>
              <a:p>
                <a:r>
                  <a:rPr lang="en-US" dirty="0"/>
                  <a:t>We want:</a:t>
                </a:r>
              </a:p>
              <a:p>
                <a:r>
                  <a:rPr lang="en-US" dirty="0"/>
                  <a:t>“not heads” </a:t>
                </a:r>
              </a:p>
              <a:p>
                <a:r>
                  <a:rPr lang="en-US" dirty="0"/>
                  <a:t>That means: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𝑇𝑎𝑖𝑙𝑠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Step 3: Count probabilities</a:t>
                </a:r>
              </a:p>
              <a:p>
                <a:r>
                  <a:rPr lang="en-US" dirty="0"/>
                  <a:t>There are 2 equally likely outcomes:</a:t>
                </a:r>
              </a:p>
              <a:p>
                <a:r>
                  <a:rPr lang="en-US" dirty="0"/>
                  <a:t>Heads </a:t>
                </a:r>
              </a:p>
              <a:p>
                <a:r>
                  <a:rPr lang="en-US" dirty="0"/>
                  <a:t>Tails </a:t>
                </a:r>
              </a:p>
              <a:p>
                <a:r>
                  <a:rPr lang="en-US" dirty="0"/>
                  <a:t>So:</a:t>
                </a:r>
              </a:p>
              <a:p>
                <a:r>
                  <a:rPr lang="en-US" dirty="0"/>
                  <a:t>Probability of Heads = 1/2</a:t>
                </a:r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000FDE-D26A-2673-5826-39F953735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887682"/>
                <a:ext cx="4581236" cy="3970318"/>
              </a:xfrm>
              <a:prstGeom prst="rect">
                <a:avLst/>
              </a:prstGeom>
              <a:blipFill>
                <a:blip r:embed="rId2"/>
                <a:stretch>
                  <a:fillRect l="-1198"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D82F1-40FB-99A7-88FF-873E538D45D4}"/>
                  </a:ext>
                </a:extLst>
              </p:cNvPr>
              <p:cNvSpPr txBox="1"/>
              <p:nvPr/>
            </p:nvSpPr>
            <p:spPr>
              <a:xfrm>
                <a:off x="4267200" y="3204978"/>
                <a:ext cx="4581236" cy="2237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Step 4: Use complement idea</a:t>
                </a:r>
              </a:p>
              <a:p>
                <a:pPr>
                  <a:buNone/>
                </a:pPr>
                <a:r>
                  <a:rPr lang="en-US" dirty="0"/>
                  <a:t>Instead of directly thinking “not heads”, we 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Heads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Heads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D82F1-40FB-99A7-88FF-873E538D4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204978"/>
                <a:ext cx="4581236" cy="2237536"/>
              </a:xfrm>
              <a:prstGeom prst="rect">
                <a:avLst/>
              </a:prstGeom>
              <a:blipFill>
                <a:blip r:embed="rId3"/>
                <a:stretch>
                  <a:fillRect l="-1064" t="-1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007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1688"/>
            <a:ext cx="8229600" cy="4389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Theorem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Let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sz="2400" baseline="-25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and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sz="2400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be events in the  sample space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 Then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Why do we subtract something?</a:t>
            </a:r>
          </a:p>
          <a:p>
            <a:pPr marL="0" indent="0">
              <a:buNone/>
            </a:pPr>
            <a:r>
              <a:rPr lang="en-US" sz="2400" dirty="0"/>
              <a:t>Because:</a:t>
            </a:r>
          </a:p>
          <a:p>
            <a:r>
              <a:rPr lang="en-US" sz="2400" dirty="0"/>
              <a:t>If both events happen together, we </a:t>
            </a:r>
            <a:r>
              <a:rPr lang="en-US" sz="2400" b="1" dirty="0"/>
              <a:t>count them twice</a:t>
            </a:r>
            <a:r>
              <a:rPr lang="en-US" sz="2400" dirty="0"/>
              <a:t> </a:t>
            </a:r>
          </a:p>
          <a:p>
            <a:r>
              <a:rPr lang="en-US" sz="2400" dirty="0"/>
              <a:t>So we subtract the overlap once</a:t>
            </a:r>
          </a:p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 marL="0" indent="0">
              <a:buNone/>
            </a:pPr>
            <a:r>
              <a:rPr lang="en-US" sz="1800" dirty="0"/>
              <a:t>Suppose:</a:t>
            </a:r>
          </a:p>
          <a:p>
            <a:pPr lvl="1"/>
            <a:r>
              <a:rPr lang="en-US" sz="1800" dirty="0"/>
              <a:t>10 students like Math </a:t>
            </a:r>
          </a:p>
          <a:p>
            <a:pPr lvl="1"/>
            <a:r>
              <a:rPr lang="en-US" sz="1800" dirty="0"/>
              <a:t>8 students like Physics </a:t>
            </a:r>
          </a:p>
          <a:p>
            <a:pPr lvl="1"/>
            <a:r>
              <a:rPr lang="en-US" sz="1800" dirty="0"/>
              <a:t>3 students like both </a:t>
            </a:r>
          </a:p>
          <a:p>
            <a:r>
              <a:rPr lang="en-US" sz="1800" dirty="0"/>
              <a:t>Total students = 20</a:t>
            </a:r>
          </a:p>
          <a:p>
            <a:pPr marL="0" indent="0">
              <a:buNone/>
            </a:pPr>
            <a:endParaRPr lang="en-US" sz="18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057400" y="2438400"/>
            <a:ext cx="5755481" cy="319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CC117-613B-1FC3-DD11-CEFF701D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3E6F-B9BF-EEE3-A152-657525C1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FA46-56FB-199D-5774-D0CF112B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688"/>
            <a:ext cx="8229600" cy="438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 marL="0" indent="0">
              <a:buNone/>
            </a:pPr>
            <a:r>
              <a:rPr lang="en-US" sz="1800" dirty="0"/>
              <a:t>Suppose:</a:t>
            </a:r>
          </a:p>
          <a:p>
            <a:pPr lvl="1"/>
            <a:r>
              <a:rPr lang="en-US" sz="1800" dirty="0"/>
              <a:t>10 students like Math </a:t>
            </a:r>
          </a:p>
          <a:p>
            <a:pPr lvl="1"/>
            <a:r>
              <a:rPr lang="en-US" sz="1800" dirty="0"/>
              <a:t>8 students like Physics </a:t>
            </a:r>
          </a:p>
          <a:p>
            <a:pPr lvl="1"/>
            <a:r>
              <a:rPr lang="en-US" sz="1800" dirty="0"/>
              <a:t>3 students like both </a:t>
            </a:r>
          </a:p>
          <a:p>
            <a:r>
              <a:rPr lang="en-US" sz="1800" dirty="0"/>
              <a:t>Total students = 20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E857F7-0CCA-DAA3-70D4-C4FF3162FFB7}"/>
                  </a:ext>
                </a:extLst>
              </p:cNvPr>
              <p:cNvSpPr txBox="1"/>
              <p:nvPr/>
            </p:nvSpPr>
            <p:spPr>
              <a:xfrm>
                <a:off x="457200" y="4016248"/>
                <a:ext cx="458123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1: Add both groups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But this includes the 3 students twice.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E857F7-0CCA-DAA3-70D4-C4FF3162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16248"/>
                <a:ext cx="4581236" cy="923330"/>
              </a:xfrm>
              <a:prstGeom prst="rect">
                <a:avLst/>
              </a:prstGeom>
              <a:blipFill>
                <a:blip r:embed="rId2"/>
                <a:stretch>
                  <a:fillRect l="-106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15F23-091B-B984-D90B-76D23DCBB82F}"/>
                  </a:ext>
                </a:extLst>
              </p:cNvPr>
              <p:cNvSpPr txBox="1"/>
              <p:nvPr/>
            </p:nvSpPr>
            <p:spPr>
              <a:xfrm>
                <a:off x="533400" y="5181600"/>
                <a:ext cx="458123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2: Fix double counting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So: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15 students like Math OR Physics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15F23-091B-B984-D90B-76D23DCBB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81600"/>
                <a:ext cx="4581236" cy="1200329"/>
              </a:xfrm>
              <a:prstGeom prst="rect">
                <a:avLst/>
              </a:prstGeom>
              <a:blipFill>
                <a:blip r:embed="rId3"/>
                <a:stretch>
                  <a:fillRect l="-1198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96C9F-795E-D85E-8709-EC207F8F44B6}"/>
                  </a:ext>
                </a:extLst>
              </p:cNvPr>
              <p:cNvSpPr txBox="1"/>
              <p:nvPr/>
            </p:nvSpPr>
            <p:spPr>
              <a:xfrm>
                <a:off x="4648200" y="2297363"/>
                <a:ext cx="4581236" cy="1726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3: Probability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Note: </a:t>
                </a:r>
                <a:r>
                  <a:rPr lang="en-US" dirty="0"/>
                  <a:t>“Add both probabilities, but subtract the overlap so you don’t count it twice”</a:t>
                </a: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C96C9F-795E-D85E-8709-EC207F8F4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297363"/>
                <a:ext cx="4581236" cy="1726306"/>
              </a:xfrm>
              <a:prstGeom prst="rect">
                <a:avLst/>
              </a:prstGeom>
              <a:blipFill>
                <a:blip r:embed="rId4"/>
                <a:stretch>
                  <a:fillRect l="-1198" t="-2120" b="-3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793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A number is randomly chosen from </a:t>
            </a:r>
            <a:r>
              <a:rPr lang="en-US" b="1" dirty="0"/>
              <a:t>1 to 100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What is the probability that the number is: divisible by </a:t>
            </a:r>
            <a:r>
              <a:rPr lang="en-US" b="1" dirty="0"/>
              <a:t>2 OR 5?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5371-572C-C7B6-E537-C7527C8A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3F96-C626-A483-8098-BAB68B3A4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A number is randomly chosen from </a:t>
            </a:r>
            <a:r>
              <a:rPr lang="en-US" b="1" dirty="0"/>
              <a:t>1 to 100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What is the probability that the number is: divisible by </a:t>
            </a:r>
            <a:r>
              <a:rPr lang="en-US" b="1" dirty="0"/>
              <a:t>2 OR 5?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FBF5C5-28F6-AB88-AFFA-2C45207E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Probability of Complements and Unions of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C201D-EB50-B0D4-FAB3-08FBBB86CF8F}"/>
                  </a:ext>
                </a:extLst>
              </p:cNvPr>
              <p:cNvSpPr txBox="1"/>
              <p:nvPr/>
            </p:nvSpPr>
            <p:spPr>
              <a:xfrm>
                <a:off x="457200" y="3429000"/>
                <a:ext cx="458123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1: Total outcomes</a:t>
                </a:r>
              </a:p>
              <a:p>
                <a:pPr>
                  <a:buNone/>
                </a:pPr>
                <a:r>
                  <a:rPr lang="en-US" dirty="0"/>
                  <a:t>All numbers from 1 to 100: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C201D-EB50-B0D4-FAB3-08FBBB86C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4581236" cy="923330"/>
              </a:xfrm>
              <a:prstGeom prst="rect">
                <a:avLst/>
              </a:prstGeom>
              <a:blipFill>
                <a:blip r:embed="rId3"/>
                <a:stretch>
                  <a:fillRect l="-1064"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3336D7-7185-1520-DEE8-BE4DD261CC46}"/>
                  </a:ext>
                </a:extLst>
              </p:cNvPr>
              <p:cNvSpPr txBox="1"/>
              <p:nvPr/>
            </p:nvSpPr>
            <p:spPr>
              <a:xfrm>
                <a:off x="457200" y="4572000"/>
                <a:ext cx="4581236" cy="1995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2: Count multiples of 2</a:t>
                </a:r>
              </a:p>
              <a:p>
                <a:pPr>
                  <a:buNone/>
                </a:pPr>
                <a:r>
                  <a:rPr lang="en-US" dirty="0"/>
                  <a:t>Numbers divisible by 2: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,...,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So: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divisible by 2 = 50 numbers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3336D7-7185-1520-DEE8-BE4DD261C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72000"/>
                <a:ext cx="4581236" cy="1995931"/>
              </a:xfrm>
              <a:prstGeom prst="rect">
                <a:avLst/>
              </a:prstGeom>
              <a:blipFill>
                <a:blip r:embed="rId4"/>
                <a:stretch>
                  <a:fillRect l="-1064" t="-1529" b="-3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524CAB-F3D3-8E58-5F4B-1A91CD74D3E4}"/>
                  </a:ext>
                </a:extLst>
              </p:cNvPr>
              <p:cNvSpPr txBox="1"/>
              <p:nvPr/>
            </p:nvSpPr>
            <p:spPr>
              <a:xfrm>
                <a:off x="4724400" y="3594959"/>
                <a:ext cx="4581236" cy="1997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tx2">
                        <a:lumMod val="75000"/>
                      </a:schemeClr>
                    </a:solidFill>
                  </a:rPr>
                  <a:t>Step 3: Count multiples of 5</a:t>
                </a:r>
              </a:p>
              <a:p>
                <a:pPr>
                  <a:buNone/>
                </a:pPr>
                <a:r>
                  <a:rPr lang="en-US" dirty="0"/>
                  <a:t>Numbers divisible by 5: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,...,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So: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divisible by 5 = 20 numbers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524CAB-F3D3-8E58-5F4B-1A91CD74D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94959"/>
                <a:ext cx="4581236" cy="1997791"/>
              </a:xfrm>
              <a:prstGeom prst="rect">
                <a:avLst/>
              </a:prstGeom>
              <a:blipFill>
                <a:blip r:embed="rId5"/>
                <a:stretch>
                  <a:fillRect l="-1064" t="-1835" b="-4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060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68FA-8132-B0C9-A0D5-C082238C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505493-6C99-3CB6-6E9B-093E3AD640B3}"/>
                  </a:ext>
                </a:extLst>
              </p:cNvPr>
              <p:cNvSpPr txBox="1"/>
              <p:nvPr/>
            </p:nvSpPr>
            <p:spPr>
              <a:xfrm>
                <a:off x="533400" y="609600"/>
                <a:ext cx="8077200" cy="6401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200" b="1" dirty="0"/>
                  <a:t>Step 4: Fix double counting </a:t>
                </a:r>
              </a:p>
              <a:p>
                <a:pPr>
                  <a:buNone/>
                </a:pPr>
                <a:r>
                  <a:rPr lang="en-US" sz="2200" dirty="0"/>
                  <a:t>Some numbers are counted twice (divisible by both 2 and 5).</a:t>
                </a:r>
              </a:p>
              <a:p>
                <a:pPr>
                  <a:buNone/>
                </a:pPr>
                <a:r>
                  <a:rPr lang="en-US" sz="2200" dirty="0"/>
                  <a:t>That means divisible by 10: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,...,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ar-AE" sz="22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ar-AE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200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sz="2200" dirty="0"/>
              </a:p>
              <a:p>
                <a:pPr>
                  <a:buNone/>
                </a:pPr>
                <a:r>
                  <a:rPr lang="en-US" sz="2200" dirty="0"/>
                  <a:t>So: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overlap = 10 numbers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r>
                  <a:rPr lang="en-US" sz="2200" b="1" dirty="0"/>
                  <a:t>Step 5: Use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0"/>
                        <m:t>(</m:t>
                      </m:r>
                      <m:r>
                        <m:rPr>
                          <m:nor/>
                        </m:rPr>
                        <a:rPr lang="en-US" sz="2200" b="0"/>
                        <m:t>2</m:t>
                      </m:r>
                      <m:r>
                        <m:rPr>
                          <m:nor/>
                        </m:rPr>
                        <a:rPr lang="en-US" sz="2200" b="0" i="1"/>
                        <m:t> </m:t>
                      </m:r>
                      <m:r>
                        <m:rPr>
                          <m:nor/>
                        </m:rPr>
                        <a:rPr lang="en-US" sz="2200" b="0" i="1"/>
                        <m:t>or</m:t>
                      </m:r>
                      <m:r>
                        <m:rPr>
                          <m:nor/>
                        </m:rPr>
                        <a:rPr lang="en-US" sz="2200" b="0" i="1"/>
                        <m:t> </m:t>
                      </m:r>
                      <m:r>
                        <m:rPr>
                          <m:nor/>
                        </m:rPr>
                        <a:rPr lang="en-US" sz="2200" b="0" i="1"/>
                        <m:t>5</m:t>
                      </m:r>
                      <m:r>
                        <m:rPr>
                          <m:nor/>
                        </m:rPr>
                        <a:rPr lang="en-US" sz="2200" b="0" i="1"/>
                        <m:t>)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b="1" dirty="0"/>
                  <a:t>Step 6: Probability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endParaRPr lang="ar-AE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ar-AE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505493-6C99-3CB6-6E9B-093E3AD6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09600"/>
                <a:ext cx="8077200" cy="6401624"/>
              </a:xfrm>
              <a:prstGeom prst="rect">
                <a:avLst/>
              </a:prstGeom>
              <a:blipFill>
                <a:blip r:embed="rId3"/>
                <a:stretch>
                  <a:fillRect l="-981" t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224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\overline{ E}) = 1 - p(E).$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\overline{ E}) =\frac{|S| - |E|}{|S|} = 1 - \frac{|E|}{|S|} = 1 - p(E).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 E}$&#10;&#10;&#10;\end{document}"/>
  <p:tag name="IGUANATEXSIZE" val="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overline{ E}$&#10;&#10;&#10;\end{document}"/>
  <p:tag name="IGUANATEXSIZE" val="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\overline{ E}) = 1 - p(E).$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E_1 \cup E_2) = p(E_1) + p(E_2) - p(E_1 \cap E_2)$&#10;&#10;\end{document}"/>
  <p:tag name="IGUANATEXSIZE" val="2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15959</TotalTime>
  <Words>1632</Words>
  <Application>Microsoft Office PowerPoint</Application>
  <PresentationFormat>On-screen Show (4:3)</PresentationFormat>
  <Paragraphs>300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Wingdings 2</vt:lpstr>
      <vt:lpstr>Constantia</vt:lpstr>
      <vt:lpstr>Calibri</vt:lpstr>
      <vt:lpstr>Cambria Math</vt:lpstr>
      <vt:lpstr>Flow</vt:lpstr>
      <vt:lpstr>An Introduction to Discrete Probability</vt:lpstr>
      <vt:lpstr>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Applying Laplace’s Definition</vt:lpstr>
      <vt:lpstr>PowerPoint Presentation</vt:lpstr>
      <vt:lpstr>Applying Laplace’s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Applying Laplace’s Definition</vt:lpstr>
      <vt:lpstr>PowerPoint Presentation</vt:lpstr>
      <vt:lpstr>The Probability of Complements and Unions of Events</vt:lpstr>
      <vt:lpstr>The Probability of Complements and Unions of Events</vt:lpstr>
      <vt:lpstr>The Probability of Complements and Unions of Events</vt:lpstr>
      <vt:lpstr>The Probability of Complements and Unions of Events</vt:lpstr>
      <vt:lpstr>The Probability of Complements and Unions of Events</vt:lpstr>
      <vt:lpstr>The Probability of Complements and Unions of Events</vt:lpstr>
      <vt:lpstr>The Probability of Complements and Unions of Events</vt:lpstr>
      <vt:lpstr>The Probability of Complements and Unions of Events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Dua Agha</cp:lastModifiedBy>
  <cp:revision>706</cp:revision>
  <dcterms:created xsi:type="dcterms:W3CDTF">2011-09-30T22:16:33Z</dcterms:created>
  <dcterms:modified xsi:type="dcterms:W3CDTF">2026-05-14T06:03:13Z</dcterms:modified>
</cp:coreProperties>
</file>