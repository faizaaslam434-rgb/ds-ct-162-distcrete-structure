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7" r:id="rId1"/>
  </p:sldMasterIdLst>
  <p:notesMasterIdLst>
    <p:notesMasterId r:id="rId70"/>
  </p:notesMasterIdLst>
  <p:sldIdLst>
    <p:sldId id="257" r:id="rId2"/>
    <p:sldId id="258" r:id="rId3"/>
    <p:sldId id="266" r:id="rId4"/>
    <p:sldId id="267" r:id="rId5"/>
    <p:sldId id="272" r:id="rId6"/>
    <p:sldId id="273" r:id="rId7"/>
    <p:sldId id="304" r:id="rId8"/>
    <p:sldId id="275" r:id="rId9"/>
    <p:sldId id="276" r:id="rId10"/>
    <p:sldId id="278" r:id="rId11"/>
    <p:sldId id="306" r:id="rId12"/>
    <p:sldId id="260" r:id="rId13"/>
    <p:sldId id="287" r:id="rId14"/>
    <p:sldId id="313" r:id="rId15"/>
    <p:sldId id="310" r:id="rId16"/>
    <p:sldId id="311" r:id="rId17"/>
    <p:sldId id="312" r:id="rId18"/>
    <p:sldId id="314" r:id="rId19"/>
    <p:sldId id="316" r:id="rId20"/>
    <p:sldId id="317" r:id="rId21"/>
    <p:sldId id="318" r:id="rId22"/>
    <p:sldId id="319" r:id="rId23"/>
    <p:sldId id="370" r:id="rId24"/>
    <p:sldId id="291" r:id="rId25"/>
    <p:sldId id="292" r:id="rId26"/>
    <p:sldId id="294" r:id="rId27"/>
    <p:sldId id="295" r:id="rId28"/>
    <p:sldId id="299" r:id="rId29"/>
    <p:sldId id="300" r:id="rId30"/>
    <p:sldId id="372" r:id="rId31"/>
    <p:sldId id="308" r:id="rId32"/>
    <p:sldId id="381" r:id="rId33"/>
    <p:sldId id="309" r:id="rId34"/>
    <p:sldId id="373" r:id="rId35"/>
    <p:sldId id="374" r:id="rId36"/>
    <p:sldId id="375" r:id="rId37"/>
    <p:sldId id="320" r:id="rId38"/>
    <p:sldId id="348" r:id="rId39"/>
    <p:sldId id="366" r:id="rId40"/>
    <p:sldId id="347" r:id="rId41"/>
    <p:sldId id="349" r:id="rId42"/>
    <p:sldId id="350" r:id="rId43"/>
    <p:sldId id="376" r:id="rId44"/>
    <p:sldId id="382" r:id="rId45"/>
    <p:sldId id="377" r:id="rId46"/>
    <p:sldId id="378" r:id="rId47"/>
    <p:sldId id="352" r:id="rId48"/>
    <p:sldId id="379" r:id="rId49"/>
    <p:sldId id="380" r:id="rId50"/>
    <p:sldId id="322" r:id="rId51"/>
    <p:sldId id="383" r:id="rId52"/>
    <p:sldId id="384" r:id="rId53"/>
    <p:sldId id="385" r:id="rId54"/>
    <p:sldId id="358" r:id="rId55"/>
    <p:sldId id="360" r:id="rId56"/>
    <p:sldId id="386" r:id="rId57"/>
    <p:sldId id="387" r:id="rId58"/>
    <p:sldId id="388" r:id="rId59"/>
    <p:sldId id="389" r:id="rId60"/>
    <p:sldId id="390" r:id="rId61"/>
    <p:sldId id="391" r:id="rId62"/>
    <p:sldId id="392" r:id="rId63"/>
    <p:sldId id="394" r:id="rId64"/>
    <p:sldId id="395" r:id="rId65"/>
    <p:sldId id="393" r:id="rId66"/>
    <p:sldId id="396" r:id="rId67"/>
    <p:sldId id="397" r:id="rId68"/>
    <p:sldId id="398" r:id="rId69"/>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99"/>
    <a:srgbClr val="CC0066"/>
    <a:srgbClr val="D60093"/>
    <a:srgbClr val="FF00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71" autoAdjust="0"/>
  </p:normalViewPr>
  <p:slideViewPr>
    <p:cSldViewPr>
      <p:cViewPr varScale="1">
        <p:scale>
          <a:sx n="68" d="100"/>
          <a:sy n="68" d="100"/>
        </p:scale>
        <p:origin x="1240"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651E9B8B-033A-48F6-AAF4-AF02260CA4D1}" type="datetimeFigureOut">
              <a:rPr lang="en-US" smtClean="0"/>
              <a:t>4/16/2026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D763FEE-9E0D-4194-AC06-376AC85BF477}" type="slidenum">
              <a:rPr lang="en-US" smtClean="0"/>
              <a:t>‹#›</a:t>
            </a:fld>
            <a:endParaRPr lang="en-US"/>
          </a:p>
        </p:txBody>
      </p:sp>
    </p:spTree>
    <p:extLst>
      <p:ext uri="{BB962C8B-B14F-4D97-AF65-F5344CB8AC3E}">
        <p14:creationId xmlns:p14="http://schemas.microsoft.com/office/powerpoint/2010/main" val="1771359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23</a:t>
            </a:fld>
            <a:endParaRPr lang="en-US"/>
          </a:p>
        </p:txBody>
      </p:sp>
    </p:spTree>
    <p:extLst>
      <p:ext uri="{BB962C8B-B14F-4D97-AF65-F5344CB8AC3E}">
        <p14:creationId xmlns:p14="http://schemas.microsoft.com/office/powerpoint/2010/main" val="1716958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 ÷ 4 = 0 remainder 2 </a:t>
            </a:r>
            <a:endParaRPr lang="en-US" dirty="0"/>
          </a:p>
          <a:p>
            <a:r>
              <a:rPr lang="en-US" b="1" dirty="0"/>
              <a:t>6 ÷ 4 = 1 remainder 2 </a:t>
            </a:r>
            <a:r>
              <a:rPr lang="en-US" dirty="0"/>
              <a:t> </a:t>
            </a:r>
          </a:p>
          <a:p>
            <a:r>
              <a:rPr lang="en-US" b="1" dirty="0"/>
              <a:t>10 ÷ 4 = 2 remainder 2 </a:t>
            </a:r>
            <a:r>
              <a:rPr lang="en-US" dirty="0"/>
              <a:t> </a:t>
            </a:r>
          </a:p>
          <a:p>
            <a:r>
              <a:rPr lang="en-US" dirty="0"/>
              <a:t>Now negatives:</a:t>
            </a:r>
          </a:p>
          <a:p>
            <a:r>
              <a:rPr lang="en-US" b="1" dirty="0"/>
              <a:t>−2 ÷ 4 = −1 remainder 2 </a:t>
            </a:r>
            <a:r>
              <a:rPr lang="en-US" dirty="0"/>
              <a:t> </a:t>
            </a:r>
          </a:p>
          <a:p>
            <a:r>
              <a:rPr lang="en-US" b="1" dirty="0"/>
              <a:t>−6 ÷ 4 = −2 remainder 2 </a:t>
            </a:r>
            <a:endParaRPr lang="en-US" dirty="0"/>
          </a:p>
          <a:p>
            <a:endParaRPr lang="en-US" dirty="0"/>
          </a:p>
        </p:txBody>
      </p:sp>
      <p:sp>
        <p:nvSpPr>
          <p:cNvPr id="4" name="Slide Number Placeholder 3"/>
          <p:cNvSpPr>
            <a:spLocks noGrp="1"/>
          </p:cNvSpPr>
          <p:nvPr>
            <p:ph type="sldNum" sz="quarter" idx="5"/>
          </p:nvPr>
        </p:nvSpPr>
        <p:spPr/>
        <p:txBody>
          <a:bodyPr/>
          <a:lstStyle/>
          <a:p>
            <a:fld id="{CD763FEE-9E0D-4194-AC06-376AC85BF477}" type="slidenum">
              <a:rPr lang="en-US" smtClean="0"/>
              <a:t>43</a:t>
            </a:fld>
            <a:endParaRPr lang="en-US"/>
          </a:p>
        </p:txBody>
      </p:sp>
    </p:spTree>
    <p:extLst>
      <p:ext uri="{BB962C8B-B14F-4D97-AF65-F5344CB8AC3E}">
        <p14:creationId xmlns:p14="http://schemas.microsoft.com/office/powerpoint/2010/main" val="4260341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4EEA7-EDC5-47B0-57A5-A1C8826F1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D3D00-C8D5-D43F-37AF-A73A41CCA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69FF43-0D71-ED0D-26A1-8079B51EF6B6}"/>
              </a:ext>
            </a:extLst>
          </p:cNvPr>
          <p:cNvSpPr>
            <a:spLocks noGrp="1"/>
          </p:cNvSpPr>
          <p:nvPr>
            <p:ph type="body" idx="1"/>
          </p:nvPr>
        </p:nvSpPr>
        <p:spPr/>
        <p:txBody>
          <a:bodyPr/>
          <a:lstStyle/>
          <a:p>
            <a:r>
              <a:rPr lang="en-US" b="1" dirty="0"/>
              <a:t>2 ÷ 4 = 0 remainder 2 </a:t>
            </a:r>
            <a:endParaRPr lang="en-US" dirty="0"/>
          </a:p>
          <a:p>
            <a:r>
              <a:rPr lang="en-US" b="1" dirty="0"/>
              <a:t>6 ÷ 4 = 1 remainder 2 </a:t>
            </a:r>
            <a:r>
              <a:rPr lang="en-US" dirty="0"/>
              <a:t> </a:t>
            </a:r>
          </a:p>
          <a:p>
            <a:r>
              <a:rPr lang="en-US" b="1" dirty="0"/>
              <a:t>10 ÷ 4 = 2 remainder 2 </a:t>
            </a:r>
            <a:r>
              <a:rPr lang="en-US" dirty="0"/>
              <a:t> </a:t>
            </a:r>
          </a:p>
          <a:p>
            <a:r>
              <a:rPr lang="en-US" dirty="0"/>
              <a:t>Now negatives:</a:t>
            </a:r>
          </a:p>
          <a:p>
            <a:r>
              <a:rPr lang="en-US" b="1" dirty="0"/>
              <a:t>−2 ÷ 4 = −1 remainder 2 </a:t>
            </a:r>
            <a:r>
              <a:rPr lang="en-US" dirty="0"/>
              <a:t> </a:t>
            </a:r>
          </a:p>
          <a:p>
            <a:r>
              <a:rPr lang="en-US" b="1" dirty="0"/>
              <a:t>−6 ÷ 4 = −2 remainder 2 </a:t>
            </a:r>
            <a:endParaRPr lang="en-US" dirty="0"/>
          </a:p>
          <a:p>
            <a:endParaRPr lang="en-US" dirty="0"/>
          </a:p>
        </p:txBody>
      </p:sp>
      <p:sp>
        <p:nvSpPr>
          <p:cNvPr id="4" name="Slide Number Placeholder 3">
            <a:extLst>
              <a:ext uri="{FF2B5EF4-FFF2-40B4-BE49-F238E27FC236}">
                <a16:creationId xmlns:a16="http://schemas.microsoft.com/office/drawing/2014/main" id="{789D08DA-1B67-92F5-526A-3B62F31BF4BE}"/>
              </a:ext>
            </a:extLst>
          </p:cNvPr>
          <p:cNvSpPr>
            <a:spLocks noGrp="1"/>
          </p:cNvSpPr>
          <p:nvPr>
            <p:ph type="sldNum" sz="quarter" idx="5"/>
          </p:nvPr>
        </p:nvSpPr>
        <p:spPr/>
        <p:txBody>
          <a:bodyPr/>
          <a:lstStyle/>
          <a:p>
            <a:fld id="{CD763FEE-9E0D-4194-AC06-376AC85BF477}" type="slidenum">
              <a:rPr lang="en-US" smtClean="0"/>
              <a:t>44</a:t>
            </a:fld>
            <a:endParaRPr lang="en-US"/>
          </a:p>
        </p:txBody>
      </p:sp>
    </p:spTree>
    <p:extLst>
      <p:ext uri="{BB962C8B-B14F-4D97-AF65-F5344CB8AC3E}">
        <p14:creationId xmlns:p14="http://schemas.microsoft.com/office/powerpoint/2010/main" val="494288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l"/>
                <a:r>
                  <a:rPr lang="en-US" dirty="0"/>
                  <a:t>Let:</a:t>
                </a:r>
                <a:r>
                  <a:rPr lang="en-US" baseline="0" dirty="0"/>
                  <a:t>  </a:t>
                </a:r>
                <a14:m>
                  <m:oMath xmlns:m="http://schemas.openxmlformats.org/officeDocument/2006/math">
                    <m:r>
                      <a:rPr lang="en-US" sz="1200" i="1" kern="1200">
                        <a:solidFill>
                          <a:schemeClr val="tx1"/>
                        </a:solidFill>
                        <a:latin typeface="Cambria Math" panose="02040503050406030204" pitchFamily="18" charset="0"/>
                        <a:ea typeface="+mn-ea"/>
                        <a:cs typeface="+mn-cs"/>
                      </a:rPr>
                      <m:t>𝐼</m:t>
                    </m:r>
                    <m:r>
                      <a:rPr lang="en-US" sz="1200" i="0" kern="1200">
                        <a:solidFill>
                          <a:schemeClr val="tx1"/>
                        </a:solidFill>
                        <a:latin typeface="Cambria Math" panose="02040503050406030204" pitchFamily="18" charset="0"/>
                        <a:ea typeface="+mn-ea"/>
                        <a:cs typeface="+mn-cs"/>
                      </a:rPr>
                      <m:t>=</m:t>
                    </m:r>
                    <m:d>
                      <m:dPr>
                        <m:begChr m:val="{"/>
                        <m:endChr m:val="}"/>
                        <m:sep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e>
                      <m:e>
                        <m:r>
                          <a:rPr lang="ar-AE" sz="1200" i="0" kern="1200">
                            <a:solidFill>
                              <a:schemeClr val="tx1"/>
                            </a:solidFill>
                            <a:latin typeface="Cambria Math" panose="02040503050406030204" pitchFamily="18" charset="0"/>
                            <a:ea typeface="+mn-ea"/>
                            <a:cs typeface="+mn-cs"/>
                          </a:rPr>
                          <m:t>2</m:t>
                        </m:r>
                      </m:e>
                      <m:e>
                        <m:r>
                          <a:rPr lang="ar-AE" sz="1200" i="0" kern="1200">
                            <a:solidFill>
                              <a:schemeClr val="tx1"/>
                            </a:solidFill>
                            <a:latin typeface="Cambria Math" panose="02040503050406030204" pitchFamily="18" charset="0"/>
                            <a:ea typeface="+mn-ea"/>
                            <a:cs typeface="+mn-cs"/>
                          </a:rPr>
                          <m:t>3</m:t>
                        </m:r>
                      </m:e>
                    </m:d>
                    <m:r>
                      <a:rPr lang="en-US" sz="1200" b="0" i="0" kern="1200" smtClean="0">
                        <a:solidFill>
                          <a:schemeClr val="tx1"/>
                        </a:solidFill>
                        <a:latin typeface="Cambria Math" panose="02040503050406030204" pitchFamily="18" charset="0"/>
                        <a:ea typeface="+mn-ea"/>
                        <a:cs typeface="+mn-cs"/>
                      </a:rPr>
                      <m:t>, </m:t>
                    </m:r>
                    <m:sSub>
                      <m:sSubPr>
                        <m:ctrlPr>
                          <a:rPr lang="ar-AE" sz="1200" i="1" kern="1200" smtClean="0">
                            <a:solidFill>
                              <a:schemeClr val="tx1"/>
                            </a:solidFill>
                            <a:latin typeface="Cambria Math" panose="02040503050406030204" pitchFamily="18" charset="0"/>
                            <a:ea typeface="+mn-ea"/>
                            <a:cs typeface="+mn-cs"/>
                          </a:rPr>
                        </m:ctrlPr>
                      </m:sSubPr>
                      <m:e>
                        <m:r>
                          <a:rPr lang="en-US" sz="1200" b="0" i="0" kern="1200" smtClean="0">
                            <a:solidFill>
                              <a:schemeClr val="tx1"/>
                            </a:solidFill>
                            <a:latin typeface="Cambria Math" panose="02040503050406030204" pitchFamily="18" charset="0"/>
                            <a:ea typeface="+mn-ea"/>
                            <a:cs typeface="+mn-cs"/>
                          </a:rPr>
                          <m:t> </m:t>
                        </m:r>
                        <m:r>
                          <a:rPr lang="ar-AE" sz="1200" i="1" kern="1200">
                            <a:solidFill>
                              <a:schemeClr val="tx1"/>
                            </a:solidFill>
                            <a:latin typeface="Cambria Math" panose="02040503050406030204" pitchFamily="18" charset="0"/>
                            <a:ea typeface="+mn-ea"/>
                            <a:cs typeface="+mn-cs"/>
                          </a:rPr>
                          <m:t>𝐴</m:t>
                        </m:r>
                      </m:e>
                      <m:sub>
                        <m:r>
                          <a:rPr lang="ar-AE" sz="1200" i="0" kern="1200">
                            <a:solidFill>
                              <a:schemeClr val="tx1"/>
                            </a:solidFill>
                            <a:latin typeface="Cambria Math" panose="02040503050406030204" pitchFamily="18" charset="0"/>
                            <a:ea typeface="+mn-ea"/>
                            <a:cs typeface="+mn-cs"/>
                          </a:rPr>
                          <m:t>1</m:t>
                        </m:r>
                      </m:sub>
                    </m:sSub>
                    <m:r>
                      <a:rPr lang="ar-AE" sz="1200" i="0" kern="1200">
                        <a:solidFill>
                          <a:schemeClr val="tx1"/>
                        </a:solidFill>
                        <a:latin typeface="Cambria Math" panose="02040503050406030204" pitchFamily="18" charset="0"/>
                        <a:ea typeface="+mn-ea"/>
                        <a:cs typeface="+mn-cs"/>
                      </a:rPr>
                      <m:t>=</m:t>
                    </m:r>
                    <m:d>
                      <m:dPr>
                        <m:begChr m:val="{"/>
                        <m:endChr m:val="}"/>
                        <m:sep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e>
                      <m:e>
                        <m:r>
                          <a:rPr lang="ar-AE" sz="1200" i="0" kern="1200">
                            <a:solidFill>
                              <a:schemeClr val="tx1"/>
                            </a:solidFill>
                            <a:latin typeface="Cambria Math" panose="02040503050406030204" pitchFamily="18" charset="0"/>
                            <a:ea typeface="+mn-ea"/>
                            <a:cs typeface="+mn-cs"/>
                          </a:rPr>
                          <m:t>2</m:t>
                        </m:r>
                      </m:e>
                    </m:d>
                    <m:r>
                      <a:rPr lang="en-US" sz="1200" b="0" i="0" kern="1200" smtClean="0">
                        <a:solidFill>
                          <a:schemeClr val="tx1"/>
                        </a:solidFill>
                        <a:latin typeface="Cambria Math" panose="02040503050406030204" pitchFamily="18" charset="0"/>
                        <a:ea typeface="+mn-ea"/>
                        <a:cs typeface="+mn-cs"/>
                      </a:rPr>
                      <m:t>,  </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𝐴</m:t>
                        </m:r>
                      </m:e>
                      <m:sub>
                        <m:r>
                          <a:rPr lang="ar-AE" sz="1200" i="0" kern="1200">
                            <a:solidFill>
                              <a:schemeClr val="tx1"/>
                            </a:solidFill>
                            <a:latin typeface="Cambria Math" panose="02040503050406030204" pitchFamily="18" charset="0"/>
                            <a:ea typeface="+mn-ea"/>
                            <a:cs typeface="+mn-cs"/>
                          </a:rPr>
                          <m:t>2</m:t>
                        </m:r>
                      </m:sub>
                    </m:sSub>
                    <m:r>
                      <a:rPr lang="ar-AE" sz="1200" i="0" kern="1200">
                        <a:solidFill>
                          <a:schemeClr val="tx1"/>
                        </a:solidFill>
                        <a:latin typeface="Cambria Math" panose="02040503050406030204" pitchFamily="18" charset="0"/>
                        <a:ea typeface="+mn-ea"/>
                        <a:cs typeface="+mn-cs"/>
                      </a:rPr>
                      <m:t>=</m:t>
                    </m:r>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3</m:t>
                        </m:r>
                      </m:e>
                    </m:d>
                    <m:r>
                      <a:rPr lang="en-US" sz="1200" b="0" i="0" kern="1200" smtClean="0">
                        <a:solidFill>
                          <a:schemeClr val="tx1"/>
                        </a:solidFill>
                        <a:latin typeface="Cambria Math" panose="02040503050406030204" pitchFamily="18" charset="0"/>
                        <a:ea typeface="+mn-ea"/>
                        <a:cs typeface="+mn-cs"/>
                      </a:rPr>
                      <m:t>,  </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𝐴</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d>
                      <m:dPr>
                        <m:begChr m:val="{"/>
                        <m:endChr m:val="}"/>
                        <m:sep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4</m:t>
                        </m:r>
                      </m:e>
                      <m:e>
                        <m:r>
                          <a:rPr lang="ar-AE" sz="1200" i="0" kern="1200">
                            <a:solidFill>
                              <a:schemeClr val="tx1"/>
                            </a:solidFill>
                            <a:latin typeface="Cambria Math" panose="02040503050406030204" pitchFamily="18" charset="0"/>
                            <a:ea typeface="+mn-ea"/>
                            <a:cs typeface="+mn-cs"/>
                          </a:rPr>
                          <m:t>5</m:t>
                        </m:r>
                      </m:e>
                    </m:d>
                  </m:oMath>
                </a14:m>
                <a:endParaRPr lang="ar-AE" dirty="0"/>
              </a:p>
              <a:p>
                <a:pPr lvl="0" algn="l"/>
                <a:r>
                  <a:rPr lang="en-US" dirty="0"/>
                  <a:t>Then:</a:t>
                </a:r>
              </a:p>
              <a:p>
                <a:pPr algn="l"/>
                <a14:m>
                  <m:oMathPara xmlns:m="http://schemas.openxmlformats.org/officeDocument/2006/math">
                    <m:oMathParaPr>
                      <m:jc m:val="centerGroup"/>
                    </m:oMathParaPr>
                    <m:oMath xmlns:m="http://schemas.openxmlformats.org/officeDocument/2006/math">
                      <m:nary>
                        <m:naryPr>
                          <m:chr m:val="⋃"/>
                          <m:grow m:val="on"/>
                          <m:supHide m:val="on"/>
                          <m:ctrlPr>
                            <a:rPr lang="ar-AE" sz="1200" i="1" kern="1200">
                              <a:solidFill>
                                <a:schemeClr val="tx1"/>
                              </a:solidFill>
                              <a:latin typeface="Cambria Math" panose="02040503050406030204" pitchFamily="18" charset="0"/>
                              <a:ea typeface="+mn-ea"/>
                              <a:cs typeface="+mn-cs"/>
                            </a:rPr>
                          </m:ctrlPr>
                        </m:naryPr>
                        <m:sub>
                          <m:r>
                            <a:rPr lang="ar-AE" sz="1200" i="1" kern="1200">
                              <a:solidFill>
                                <a:schemeClr val="tx1"/>
                              </a:solidFill>
                              <a:latin typeface="Cambria Math" panose="02040503050406030204" pitchFamily="18" charset="0"/>
                              <a:ea typeface="+mn-ea"/>
                              <a:cs typeface="+mn-cs"/>
                            </a:rPr>
                            <m:t>𝑖</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𝐼</m:t>
                          </m:r>
                        </m:sub>
                        <m:sup/>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𝐴</m:t>
                              </m:r>
                            </m:e>
                            <m:sub>
                              <m:r>
                                <a:rPr lang="ar-AE" sz="1200" i="1" kern="1200">
                                  <a:solidFill>
                                    <a:schemeClr val="tx1"/>
                                  </a:solidFill>
                                  <a:latin typeface="Cambria Math" panose="02040503050406030204" pitchFamily="18" charset="0"/>
                                  <a:ea typeface="+mn-ea"/>
                                  <a:cs typeface="+mn-cs"/>
                                </a:rPr>
                                <m:t>𝑖</m:t>
                              </m:r>
                            </m:sub>
                          </m:sSub>
                        </m:e>
                      </m:nary>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𝐴</m:t>
                          </m:r>
                        </m:e>
                        <m:sub>
                          <m:r>
                            <a:rPr lang="ar-AE" sz="1200" i="0" kern="1200">
                              <a:solidFill>
                                <a:schemeClr val="tx1"/>
                              </a:solidFill>
                              <a:latin typeface="Cambria Math" panose="02040503050406030204" pitchFamily="18" charset="0"/>
                              <a:ea typeface="+mn-ea"/>
                              <a:cs typeface="+mn-cs"/>
                            </a:rPr>
                            <m:t>1</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𝐴</m:t>
                          </m:r>
                        </m:e>
                        <m:sub>
                          <m:r>
                            <a:rPr lang="ar-AE" sz="1200" i="0" kern="1200">
                              <a:solidFill>
                                <a:schemeClr val="tx1"/>
                              </a:solidFill>
                              <a:latin typeface="Cambria Math" panose="02040503050406030204" pitchFamily="18" charset="0"/>
                              <a:ea typeface="+mn-ea"/>
                              <a:cs typeface="+mn-cs"/>
                            </a:rPr>
                            <m:t>2</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𝐴</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d>
                        <m:dPr>
                          <m:begChr m:val="{"/>
                          <m:endChr m:val="}"/>
                          <m:sep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e>
                        <m:e>
                          <m:r>
                            <a:rPr lang="ar-AE" sz="1200" i="0" kern="1200">
                              <a:solidFill>
                                <a:schemeClr val="tx1"/>
                              </a:solidFill>
                              <a:latin typeface="Cambria Math" panose="02040503050406030204" pitchFamily="18" charset="0"/>
                              <a:ea typeface="+mn-ea"/>
                              <a:cs typeface="+mn-cs"/>
                            </a:rPr>
                            <m:t>2</m:t>
                          </m:r>
                        </m:e>
                        <m:e>
                          <m:r>
                            <a:rPr lang="ar-AE" sz="1200" i="0" kern="1200">
                              <a:solidFill>
                                <a:schemeClr val="tx1"/>
                              </a:solidFill>
                              <a:latin typeface="Cambria Math" panose="02040503050406030204" pitchFamily="18" charset="0"/>
                              <a:ea typeface="+mn-ea"/>
                              <a:cs typeface="+mn-cs"/>
                            </a:rPr>
                            <m:t>3</m:t>
                          </m:r>
                        </m:e>
                        <m:e>
                          <m:r>
                            <a:rPr lang="ar-AE" sz="1200" i="0" kern="1200">
                              <a:solidFill>
                                <a:schemeClr val="tx1"/>
                              </a:solidFill>
                              <a:latin typeface="Cambria Math" panose="02040503050406030204" pitchFamily="18" charset="0"/>
                              <a:ea typeface="+mn-ea"/>
                              <a:cs typeface="+mn-cs"/>
                            </a:rPr>
                            <m:t>4</m:t>
                          </m:r>
                        </m:e>
                        <m:e>
                          <m:r>
                            <a:rPr lang="ar-AE" sz="1200" i="0" kern="1200">
                              <a:solidFill>
                                <a:schemeClr val="tx1"/>
                              </a:solidFill>
                              <a:latin typeface="Cambria Math" panose="02040503050406030204" pitchFamily="18" charset="0"/>
                              <a:ea typeface="+mn-ea"/>
                              <a:cs typeface="+mn-cs"/>
                            </a:rPr>
                            <m:t>5</m:t>
                          </m:r>
                        </m:e>
                      </m:d>
                    </m:oMath>
                  </m:oMathPara>
                </a14:m>
                <a:endParaRPr lang="ar-AE" dirty="0"/>
              </a:p>
              <a:p>
                <a:pPr algn="l"/>
                <a:endParaRPr lang="en-US" dirty="0"/>
              </a:p>
            </p:txBody>
          </p:sp>
        </mc:Choice>
        <mc:Fallback xmlns="">
          <p:sp>
            <p:nvSpPr>
              <p:cNvPr id="3" name="Notes Placeholder 2"/>
              <p:cNvSpPr>
                <a:spLocks noGrp="1"/>
              </p:cNvSpPr>
              <p:nvPr>
                <p:ph type="body" idx="1"/>
              </p:nvPr>
            </p:nvSpPr>
            <p:spPr/>
            <p:txBody>
              <a:bodyPr/>
              <a:lstStyle/>
              <a:p>
                <a:pPr algn="l"/>
                <a:r>
                  <a:rPr lang="en-US" dirty="0"/>
                  <a:t>Let:</a:t>
                </a:r>
                <a:r>
                  <a:rPr lang="en-US" baseline="0" dirty="0"/>
                  <a:t>  </a:t>
                </a:r>
                <a:r>
                  <a:rPr lang="en-US" sz="1200" i="0" kern="1200">
                    <a:solidFill>
                      <a:schemeClr val="tx1"/>
                    </a:solidFill>
                    <a:latin typeface="+mn-lt"/>
                    <a:ea typeface="+mn-ea"/>
                    <a:cs typeface="+mn-cs"/>
                  </a:rPr>
                  <a:t>𝐼=</a:t>
                </a:r>
                <a:r>
                  <a:rPr lang="ar-AE" sz="1200" i="0" kern="1200">
                    <a:solidFill>
                      <a:schemeClr val="tx1"/>
                    </a:solidFill>
                    <a:latin typeface="+mn-lt"/>
                    <a:ea typeface="+mn-ea"/>
                    <a:cs typeface="+mn-cs"/>
                  </a:rPr>
                  <a:t>{1ⓜ,2ⓜ,3}</a:t>
                </a:r>
                <a:r>
                  <a:rPr lang="en-US" sz="1200" b="0" i="0" kern="1200">
                    <a:solidFill>
                      <a:schemeClr val="tx1"/>
                    </a:solidFill>
                    <a:latin typeface="Cambria Math" panose="02040503050406030204" pitchFamily="18" charset="0"/>
                    <a:ea typeface="+mn-ea"/>
                    <a:cs typeface="+mn-cs"/>
                  </a:rPr>
                  <a:t>, </a:t>
                </a:r>
                <a:r>
                  <a:rPr lang="ar-AE" sz="1200" i="0" kern="1200">
                    <a:solidFill>
                      <a:schemeClr val="tx1"/>
                    </a:solidFill>
                    <a:latin typeface="+mn-lt"/>
                    <a:ea typeface="+mn-ea"/>
                    <a:cs typeface="+mn-cs"/>
                  </a:rPr>
                  <a:t>〖</a:t>
                </a:r>
                <a:r>
                  <a:rPr lang="en-US" sz="1200" b="0" i="0" kern="1200">
                    <a:solidFill>
                      <a:schemeClr val="tx1"/>
                    </a:solidFill>
                    <a:latin typeface="Cambria Math" panose="02040503050406030204" pitchFamily="18" charset="0"/>
                    <a:ea typeface="+mn-ea"/>
                    <a:cs typeface="+mn-cs"/>
                  </a:rPr>
                  <a:t> </a:t>
                </a:r>
                <a:r>
                  <a:rPr lang="ar-AE" sz="1200" i="0" kern="1200">
                    <a:solidFill>
                      <a:schemeClr val="tx1"/>
                    </a:solidFill>
                    <a:latin typeface="+mn-lt"/>
                    <a:ea typeface="+mn-ea"/>
                    <a:cs typeface="+mn-cs"/>
                  </a:rPr>
                  <a:t>𝐴〗_1={1ⓜ,2}</a:t>
                </a:r>
                <a:r>
                  <a:rPr lang="en-US" sz="1200" b="0" i="0" kern="1200">
                    <a:solidFill>
                      <a:schemeClr val="tx1"/>
                    </a:solidFill>
                    <a:latin typeface="Cambria Math" panose="02040503050406030204" pitchFamily="18" charset="0"/>
                    <a:ea typeface="+mn-ea"/>
                    <a:cs typeface="+mn-cs"/>
                  </a:rPr>
                  <a:t>,  </a:t>
                </a:r>
                <a:r>
                  <a:rPr lang="ar-AE" sz="1200" i="0" kern="1200">
                    <a:solidFill>
                      <a:schemeClr val="tx1"/>
                    </a:solidFill>
                    <a:latin typeface="+mn-lt"/>
                    <a:ea typeface="+mn-ea"/>
                    <a:cs typeface="+mn-cs"/>
                  </a:rPr>
                  <a:t>𝐴_2={3}</a:t>
                </a:r>
                <a:r>
                  <a:rPr lang="en-US" sz="1200" b="0" i="0" kern="1200">
                    <a:solidFill>
                      <a:schemeClr val="tx1"/>
                    </a:solidFill>
                    <a:latin typeface="Cambria Math" panose="02040503050406030204" pitchFamily="18" charset="0"/>
                    <a:ea typeface="+mn-ea"/>
                    <a:cs typeface="+mn-cs"/>
                  </a:rPr>
                  <a:t>,  </a:t>
                </a:r>
                <a:r>
                  <a:rPr lang="ar-AE" sz="1200" i="0" kern="1200">
                    <a:solidFill>
                      <a:schemeClr val="tx1"/>
                    </a:solidFill>
                    <a:latin typeface="+mn-lt"/>
                    <a:ea typeface="+mn-ea"/>
                    <a:cs typeface="+mn-cs"/>
                  </a:rPr>
                  <a:t>𝐴_3={4ⓜ,5}</a:t>
                </a:r>
                <a:endParaRPr lang="ar-AE" dirty="0"/>
              </a:p>
              <a:p>
                <a:pPr lvl="0" algn="l"/>
                <a:r>
                  <a:rPr lang="en-US" dirty="0"/>
                  <a:t>Then:</a:t>
                </a:r>
              </a:p>
              <a:p>
                <a:pPr algn="l"/>
                <a:r>
                  <a:rPr lang="ar-AE" sz="1200" i="0" kern="1200">
                    <a:solidFill>
                      <a:schemeClr val="tx1"/>
                    </a:solidFill>
                    <a:latin typeface="+mn-lt"/>
                    <a:ea typeface="+mn-ea"/>
                    <a:cs typeface="+mn-cs"/>
                  </a:rPr>
                  <a:t>⋃128_(𝑖∈𝐼)▒𝐴_𝑖 =𝐴_1∪𝐴_2∪𝐴_3={1ⓜ,2ⓜ,3ⓜ,4ⓜ,5}</a:t>
                </a:r>
                <a:endParaRPr lang="ar-AE" dirty="0"/>
              </a:p>
              <a:p>
                <a:pPr algn="l"/>
                <a:endParaRPr lang="en-US" dirty="0"/>
              </a:p>
            </p:txBody>
          </p:sp>
        </mc:Fallback>
      </mc:AlternateContent>
      <p:sp>
        <p:nvSpPr>
          <p:cNvPr id="4" name="Slide Number Placeholder 3"/>
          <p:cNvSpPr>
            <a:spLocks noGrp="1"/>
          </p:cNvSpPr>
          <p:nvPr>
            <p:ph type="sldNum" sz="quarter" idx="5"/>
          </p:nvPr>
        </p:nvSpPr>
        <p:spPr/>
        <p:txBody>
          <a:bodyPr/>
          <a:lstStyle/>
          <a:p>
            <a:fld id="{CD763FEE-9E0D-4194-AC06-376AC85BF477}" type="slidenum">
              <a:rPr lang="en-US" smtClean="0"/>
              <a:t>45</a:t>
            </a:fld>
            <a:endParaRPr lang="en-US"/>
          </a:p>
        </p:txBody>
      </p:sp>
    </p:spTree>
    <p:extLst>
      <p:ext uri="{BB962C8B-B14F-4D97-AF65-F5344CB8AC3E}">
        <p14:creationId xmlns:p14="http://schemas.microsoft.com/office/powerpoint/2010/main" val="706162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763FEE-9E0D-4194-AC06-376AC85BF477}" type="slidenum">
              <a:rPr lang="en-US" smtClean="0"/>
              <a:t>54</a:t>
            </a:fld>
            <a:endParaRPr lang="en-US"/>
          </a:p>
        </p:txBody>
      </p:sp>
    </p:spTree>
    <p:extLst>
      <p:ext uri="{BB962C8B-B14F-4D97-AF65-F5344CB8AC3E}">
        <p14:creationId xmlns:p14="http://schemas.microsoft.com/office/powerpoint/2010/main" val="287433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16361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89580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5381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63358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59830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13285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43185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88667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53889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69543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72000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649990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95235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22361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022153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4572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4/16/2026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19179719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3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61.png"/></Relationships>
</file>

<file path=ppt/slides/_rels/slide4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65.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126778" y="-4572"/>
            <a:ext cx="4022725" cy="6868159"/>
            <a:chOff x="5126778" y="-4572"/>
            <a:chExt cx="4022725" cy="6868159"/>
          </a:xfrm>
        </p:grpSpPr>
        <p:sp>
          <p:nvSpPr>
            <p:cNvPr id="3" name="object 3"/>
            <p:cNvSpPr/>
            <p:nvPr/>
          </p:nvSpPr>
          <p:spPr>
            <a:xfrm>
              <a:off x="5131731" y="4182408"/>
              <a:ext cx="4012565" cy="2675890"/>
            </a:xfrm>
            <a:custGeom>
              <a:avLst/>
              <a:gdLst/>
              <a:ahLst/>
              <a:cxnLst/>
              <a:rect l="l" t="t" r="r" b="b"/>
              <a:pathLst>
                <a:path w="4012565" h="2675890">
                  <a:moveTo>
                    <a:pt x="0" y="2675591"/>
                  </a:moveTo>
                  <a:lnTo>
                    <a:pt x="4012268" y="0"/>
                  </a:lnTo>
                </a:path>
              </a:pathLst>
            </a:custGeom>
            <a:ln w="9906">
              <a:solidFill>
                <a:srgbClr val="D9D9D9"/>
              </a:solidFill>
            </a:ln>
          </p:spPr>
          <p:txBody>
            <a:bodyPr wrap="square" lIns="0" tIns="0" rIns="0" bIns="0" rtlCol="0"/>
            <a:lstStyle/>
            <a:p>
              <a:endParaRPr/>
            </a:p>
          </p:txBody>
        </p:sp>
        <p:sp>
          <p:nvSpPr>
            <p:cNvPr id="4" name="object 4"/>
            <p:cNvSpPr/>
            <p:nvPr/>
          </p:nvSpPr>
          <p:spPr>
            <a:xfrm>
              <a:off x="7042785" y="380"/>
              <a:ext cx="1219200" cy="6858000"/>
            </a:xfrm>
            <a:custGeom>
              <a:avLst/>
              <a:gdLst/>
              <a:ahLst/>
              <a:cxnLst/>
              <a:rect l="l" t="t" r="r" b="b"/>
              <a:pathLst>
                <a:path w="1219200" h="6858000">
                  <a:moveTo>
                    <a:pt x="0" y="0"/>
                  </a:moveTo>
                  <a:lnTo>
                    <a:pt x="1219200" y="6857999"/>
                  </a:lnTo>
                </a:path>
              </a:pathLst>
            </a:custGeom>
            <a:ln w="9906">
              <a:solidFill>
                <a:srgbClr val="BEBEBE"/>
              </a:solidFill>
            </a:ln>
          </p:spPr>
          <p:txBody>
            <a:bodyPr wrap="square" lIns="0" tIns="0" rIns="0" bIns="0" rtlCol="0"/>
            <a:lstStyle/>
            <a:p>
              <a:endParaRPr/>
            </a:p>
          </p:txBody>
        </p:sp>
        <p:sp>
          <p:nvSpPr>
            <p:cNvPr id="5" name="object 5"/>
            <p:cNvSpPr/>
            <p:nvPr/>
          </p:nvSpPr>
          <p:spPr>
            <a:xfrm>
              <a:off x="6891528" y="0"/>
              <a:ext cx="2252980" cy="6858000"/>
            </a:xfrm>
            <a:custGeom>
              <a:avLst/>
              <a:gdLst/>
              <a:ahLst/>
              <a:cxnLst/>
              <a:rect l="l" t="t" r="r" b="b"/>
              <a:pathLst>
                <a:path w="2252979" h="6858000">
                  <a:moveTo>
                    <a:pt x="2023999" y="0"/>
                  </a:moveTo>
                  <a:lnTo>
                    <a:pt x="0" y="6858000"/>
                  </a:lnTo>
                  <a:lnTo>
                    <a:pt x="2252472" y="6858000"/>
                  </a:lnTo>
                  <a:lnTo>
                    <a:pt x="2252472" y="8199"/>
                  </a:lnTo>
                  <a:lnTo>
                    <a:pt x="2023999" y="0"/>
                  </a:lnTo>
                  <a:close/>
                </a:path>
              </a:pathLst>
            </a:custGeom>
            <a:solidFill>
              <a:srgbClr val="90C225">
                <a:alpha val="30195"/>
              </a:srgbClr>
            </a:solidFill>
          </p:spPr>
          <p:txBody>
            <a:bodyPr wrap="square" lIns="0" tIns="0" rIns="0" bIns="0" rtlCol="0"/>
            <a:lstStyle/>
            <a:p>
              <a:endParaRPr/>
            </a:p>
          </p:txBody>
        </p:sp>
        <p:sp>
          <p:nvSpPr>
            <p:cNvPr id="6" name="object 6"/>
            <p:cNvSpPr/>
            <p:nvPr/>
          </p:nvSpPr>
          <p:spPr>
            <a:xfrm>
              <a:off x="7206939" y="0"/>
              <a:ext cx="1937385" cy="6858000"/>
            </a:xfrm>
            <a:custGeom>
              <a:avLst/>
              <a:gdLst/>
              <a:ahLst/>
              <a:cxnLst/>
              <a:rect l="l" t="t" r="r" b="b"/>
              <a:pathLst>
                <a:path w="1937384" h="6858000">
                  <a:moveTo>
                    <a:pt x="1937060" y="0"/>
                  </a:moveTo>
                  <a:lnTo>
                    <a:pt x="0" y="0"/>
                  </a:lnTo>
                  <a:lnTo>
                    <a:pt x="1200460" y="6858000"/>
                  </a:lnTo>
                  <a:lnTo>
                    <a:pt x="1937060" y="6858000"/>
                  </a:lnTo>
                  <a:lnTo>
                    <a:pt x="1937060" y="0"/>
                  </a:lnTo>
                  <a:close/>
                </a:path>
              </a:pathLst>
            </a:custGeom>
            <a:solidFill>
              <a:srgbClr val="90C225">
                <a:alpha val="19999"/>
              </a:srgbClr>
            </a:solidFill>
          </p:spPr>
          <p:txBody>
            <a:bodyPr wrap="square" lIns="0" tIns="0" rIns="0" bIns="0" rtlCol="0"/>
            <a:lstStyle/>
            <a:p>
              <a:endParaRPr/>
            </a:p>
          </p:txBody>
        </p:sp>
        <p:sp>
          <p:nvSpPr>
            <p:cNvPr id="7" name="object 7"/>
            <p:cNvSpPr/>
            <p:nvPr/>
          </p:nvSpPr>
          <p:spPr>
            <a:xfrm>
              <a:off x="6637782" y="3921067"/>
              <a:ext cx="2506345" cy="2937510"/>
            </a:xfrm>
            <a:custGeom>
              <a:avLst/>
              <a:gdLst/>
              <a:ahLst/>
              <a:cxnLst/>
              <a:rect l="l" t="t" r="r" b="b"/>
              <a:pathLst>
                <a:path w="2506345" h="2937509">
                  <a:moveTo>
                    <a:pt x="2506218" y="0"/>
                  </a:moveTo>
                  <a:lnTo>
                    <a:pt x="0" y="2936932"/>
                  </a:lnTo>
                  <a:lnTo>
                    <a:pt x="2506218" y="2936932"/>
                  </a:lnTo>
                  <a:lnTo>
                    <a:pt x="2506218" y="0"/>
                  </a:lnTo>
                  <a:close/>
                </a:path>
              </a:pathLst>
            </a:custGeom>
            <a:solidFill>
              <a:srgbClr val="539F20">
                <a:alpha val="72155"/>
              </a:srgbClr>
            </a:solidFill>
          </p:spPr>
          <p:txBody>
            <a:bodyPr wrap="square" lIns="0" tIns="0" rIns="0" bIns="0" rtlCol="0"/>
            <a:lstStyle/>
            <a:p>
              <a:endParaRPr/>
            </a:p>
          </p:txBody>
        </p:sp>
        <p:sp>
          <p:nvSpPr>
            <p:cNvPr id="8" name="object 8"/>
            <p:cNvSpPr/>
            <p:nvPr/>
          </p:nvSpPr>
          <p:spPr>
            <a:xfrm>
              <a:off x="7012666" y="0"/>
              <a:ext cx="2131695" cy="6858000"/>
            </a:xfrm>
            <a:custGeom>
              <a:avLst/>
              <a:gdLst/>
              <a:ahLst/>
              <a:cxnLst/>
              <a:rect l="l" t="t" r="r" b="b"/>
              <a:pathLst>
                <a:path w="2131695" h="6858000">
                  <a:moveTo>
                    <a:pt x="2131333" y="0"/>
                  </a:moveTo>
                  <a:lnTo>
                    <a:pt x="0" y="0"/>
                  </a:lnTo>
                  <a:lnTo>
                    <a:pt x="1854346" y="6858000"/>
                  </a:lnTo>
                  <a:lnTo>
                    <a:pt x="2131333" y="6849803"/>
                  </a:lnTo>
                  <a:lnTo>
                    <a:pt x="2131333" y="0"/>
                  </a:lnTo>
                  <a:close/>
                </a:path>
              </a:pathLst>
            </a:custGeom>
            <a:solidFill>
              <a:srgbClr val="3E7818">
                <a:alpha val="70195"/>
              </a:srgbClr>
            </a:solidFill>
          </p:spPr>
          <p:txBody>
            <a:bodyPr wrap="square" lIns="0" tIns="0" rIns="0" bIns="0" rtlCol="0"/>
            <a:lstStyle/>
            <a:p>
              <a:endParaRPr/>
            </a:p>
          </p:txBody>
        </p:sp>
        <p:sp>
          <p:nvSpPr>
            <p:cNvPr id="9" name="object 9"/>
            <p:cNvSpPr/>
            <p:nvPr/>
          </p:nvSpPr>
          <p:spPr>
            <a:xfrm>
              <a:off x="8295894" y="0"/>
              <a:ext cx="848360" cy="6858000"/>
            </a:xfrm>
            <a:custGeom>
              <a:avLst/>
              <a:gdLst/>
              <a:ahLst/>
              <a:cxnLst/>
              <a:rect l="l" t="t" r="r" b="b"/>
              <a:pathLst>
                <a:path w="848359" h="6858000">
                  <a:moveTo>
                    <a:pt x="848105" y="0"/>
                  </a:moveTo>
                  <a:lnTo>
                    <a:pt x="675956" y="0"/>
                  </a:lnTo>
                  <a:lnTo>
                    <a:pt x="0" y="6858000"/>
                  </a:lnTo>
                  <a:lnTo>
                    <a:pt x="848105" y="6858000"/>
                  </a:lnTo>
                  <a:lnTo>
                    <a:pt x="848105" y="0"/>
                  </a:lnTo>
                  <a:close/>
                </a:path>
              </a:pathLst>
            </a:custGeom>
            <a:solidFill>
              <a:srgbClr val="C0E374">
                <a:alpha val="70195"/>
              </a:srgbClr>
            </a:solidFill>
          </p:spPr>
          <p:txBody>
            <a:bodyPr wrap="square" lIns="0" tIns="0" rIns="0" bIns="0" rtlCol="0"/>
            <a:lstStyle/>
            <a:p>
              <a:endParaRPr/>
            </a:p>
          </p:txBody>
        </p:sp>
        <p:sp>
          <p:nvSpPr>
            <p:cNvPr id="10" name="object 10"/>
            <p:cNvSpPr/>
            <p:nvPr/>
          </p:nvSpPr>
          <p:spPr>
            <a:xfrm>
              <a:off x="8078346" y="0"/>
              <a:ext cx="1066165" cy="6858000"/>
            </a:xfrm>
            <a:custGeom>
              <a:avLst/>
              <a:gdLst/>
              <a:ahLst/>
              <a:cxnLst/>
              <a:rect l="l" t="t" r="r" b="b"/>
              <a:pathLst>
                <a:path w="1066165" h="6858000">
                  <a:moveTo>
                    <a:pt x="1051168" y="0"/>
                  </a:moveTo>
                  <a:lnTo>
                    <a:pt x="0" y="0"/>
                  </a:lnTo>
                  <a:lnTo>
                    <a:pt x="937511" y="6858000"/>
                  </a:lnTo>
                  <a:lnTo>
                    <a:pt x="1065400" y="6858000"/>
                  </a:lnTo>
                  <a:lnTo>
                    <a:pt x="1065654" y="6196203"/>
                  </a:lnTo>
                  <a:lnTo>
                    <a:pt x="1050984" y="398926"/>
                  </a:lnTo>
                  <a:lnTo>
                    <a:pt x="1051168" y="0"/>
                  </a:lnTo>
                  <a:close/>
                </a:path>
              </a:pathLst>
            </a:custGeom>
            <a:solidFill>
              <a:srgbClr val="90C225">
                <a:alpha val="65097"/>
              </a:srgbClr>
            </a:solidFill>
          </p:spPr>
          <p:txBody>
            <a:bodyPr wrap="square" lIns="0" tIns="0" rIns="0" bIns="0" rtlCol="0"/>
            <a:lstStyle/>
            <a:p>
              <a:endParaRPr/>
            </a:p>
          </p:txBody>
        </p:sp>
        <p:sp>
          <p:nvSpPr>
            <p:cNvPr id="11" name="object 11"/>
            <p:cNvSpPr/>
            <p:nvPr/>
          </p:nvSpPr>
          <p:spPr>
            <a:xfrm>
              <a:off x="8060436" y="4903642"/>
              <a:ext cx="1083945" cy="1954530"/>
            </a:xfrm>
            <a:custGeom>
              <a:avLst/>
              <a:gdLst/>
              <a:ahLst/>
              <a:cxnLst/>
              <a:rect l="l" t="t" r="r" b="b"/>
              <a:pathLst>
                <a:path w="1083945" h="1954529">
                  <a:moveTo>
                    <a:pt x="1083564" y="0"/>
                  </a:moveTo>
                  <a:lnTo>
                    <a:pt x="0" y="1954357"/>
                  </a:lnTo>
                  <a:lnTo>
                    <a:pt x="1083564" y="1949317"/>
                  </a:lnTo>
                  <a:lnTo>
                    <a:pt x="1083564" y="0"/>
                  </a:lnTo>
                  <a:close/>
                </a:path>
              </a:pathLst>
            </a:custGeom>
            <a:solidFill>
              <a:srgbClr val="90C225">
                <a:alpha val="79998"/>
              </a:srgbClr>
            </a:solidFill>
          </p:spPr>
          <p:txBody>
            <a:bodyPr wrap="square" lIns="0" tIns="0" rIns="0" bIns="0" rtlCol="0"/>
            <a:lstStyle/>
            <a:p>
              <a:endParaRPr/>
            </a:p>
          </p:txBody>
        </p:sp>
      </p:grpSp>
      <p:sp>
        <p:nvSpPr>
          <p:cNvPr id="12" name="object 12"/>
          <p:cNvSpPr/>
          <p:nvPr/>
        </p:nvSpPr>
        <p:spPr>
          <a:xfrm>
            <a:off x="0" y="44"/>
            <a:ext cx="855344" cy="5634990"/>
          </a:xfrm>
          <a:custGeom>
            <a:avLst/>
            <a:gdLst/>
            <a:ahLst/>
            <a:cxnLst/>
            <a:rect l="l" t="t" r="r" b="b"/>
            <a:pathLst>
              <a:path w="855344" h="5634990">
                <a:moveTo>
                  <a:pt x="854963" y="0"/>
                </a:moveTo>
                <a:lnTo>
                  <a:pt x="0" y="0"/>
                </a:lnTo>
                <a:lnTo>
                  <a:pt x="0" y="5634650"/>
                </a:lnTo>
                <a:lnTo>
                  <a:pt x="854963" y="8464"/>
                </a:lnTo>
                <a:lnTo>
                  <a:pt x="854963" y="0"/>
                </a:lnTo>
                <a:close/>
              </a:path>
            </a:pathLst>
          </a:custGeom>
          <a:solidFill>
            <a:srgbClr val="90C225">
              <a:alpha val="85096"/>
            </a:srgbClr>
          </a:solidFill>
        </p:spPr>
        <p:txBody>
          <a:bodyPr wrap="square" lIns="0" tIns="0" rIns="0" bIns="0" rtlCol="0"/>
          <a:lstStyle/>
          <a:p>
            <a:endParaRPr/>
          </a:p>
        </p:txBody>
      </p:sp>
      <p:sp>
        <p:nvSpPr>
          <p:cNvPr id="13" name="object 13"/>
          <p:cNvSpPr txBox="1"/>
          <p:nvPr/>
        </p:nvSpPr>
        <p:spPr>
          <a:xfrm>
            <a:off x="1284224" y="2157730"/>
            <a:ext cx="5875655" cy="1479892"/>
          </a:xfrm>
          <a:prstGeom prst="rect">
            <a:avLst/>
          </a:prstGeom>
        </p:spPr>
        <p:txBody>
          <a:bodyPr vert="horz" wrap="square" lIns="0" tIns="12700" rIns="0" bIns="0" rtlCol="0">
            <a:spAutoFit/>
          </a:bodyPr>
          <a:lstStyle/>
          <a:p>
            <a:pPr algn="ctr">
              <a:lnSpc>
                <a:spcPct val="100000"/>
              </a:lnSpc>
              <a:spcBef>
                <a:spcPts val="100"/>
              </a:spcBef>
              <a:tabLst>
                <a:tab pos="2571115" algn="l"/>
              </a:tabLst>
            </a:pPr>
            <a:r>
              <a:rPr sz="4300" b="1" spc="-10" dirty="0">
                <a:solidFill>
                  <a:srgbClr val="2C3B43"/>
                </a:solidFill>
                <a:latin typeface="Trebuchet MS"/>
                <a:cs typeface="Trebuchet MS"/>
              </a:rPr>
              <a:t>DISCRETE</a:t>
            </a:r>
            <a:r>
              <a:rPr sz="4300" b="1" dirty="0">
                <a:solidFill>
                  <a:srgbClr val="2C3B43"/>
                </a:solidFill>
                <a:latin typeface="Trebuchet MS"/>
                <a:cs typeface="Trebuchet MS"/>
              </a:rPr>
              <a:t>	</a:t>
            </a:r>
            <a:r>
              <a:rPr sz="4300" b="1" spc="-10" dirty="0">
                <a:solidFill>
                  <a:srgbClr val="2C3B43"/>
                </a:solidFill>
                <a:latin typeface="Trebuchet MS"/>
                <a:cs typeface="Trebuchet MS"/>
              </a:rPr>
              <a:t>STRUCTURES</a:t>
            </a:r>
            <a:endParaRPr sz="4300" dirty="0">
              <a:latin typeface="Trebuchet MS"/>
              <a:cs typeface="Trebuchet MS"/>
            </a:endParaRPr>
          </a:p>
          <a:p>
            <a:pPr marL="89535" algn="ctr">
              <a:lnSpc>
                <a:spcPct val="100000"/>
              </a:lnSpc>
              <a:spcBef>
                <a:spcPts val="1025"/>
              </a:spcBef>
            </a:pPr>
            <a:r>
              <a:rPr sz="4400" b="1" spc="-10" dirty="0">
                <a:solidFill>
                  <a:srgbClr val="90C225"/>
                </a:solidFill>
                <a:latin typeface="Trebuchet MS"/>
                <a:cs typeface="Trebuchet MS"/>
              </a:rPr>
              <a:t>RELATIONS</a:t>
            </a:r>
            <a:endParaRPr sz="44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628649"/>
            <a:ext cx="5560060" cy="574675"/>
          </a:xfrm>
          <a:prstGeom prst="rect">
            <a:avLst/>
          </a:prstGeom>
        </p:spPr>
        <p:txBody>
          <a:bodyPr vert="horz" wrap="square" lIns="0" tIns="12700" rIns="0" bIns="0" rtlCol="0">
            <a:spAutoFit/>
          </a:bodyPr>
          <a:lstStyle/>
          <a:p>
            <a:pPr marL="12700">
              <a:lnSpc>
                <a:spcPct val="100000"/>
              </a:lnSpc>
              <a:spcBef>
                <a:spcPts val="100"/>
              </a:spcBef>
            </a:pPr>
            <a:r>
              <a:rPr dirty="0"/>
              <a:t>WHY</a:t>
            </a:r>
            <a:r>
              <a:rPr spc="-155" dirty="0"/>
              <a:t> </a:t>
            </a:r>
            <a:r>
              <a:rPr dirty="0"/>
              <a:t>STUDY</a:t>
            </a:r>
            <a:r>
              <a:rPr spc="-160" dirty="0"/>
              <a:t> </a:t>
            </a:r>
            <a:r>
              <a:rPr spc="-25" dirty="0"/>
              <a:t>RELATIONS</a:t>
            </a:r>
            <a:r>
              <a:rPr spc="-114" dirty="0"/>
              <a:t> </a:t>
            </a:r>
            <a:r>
              <a:rPr spc="-50" dirty="0"/>
              <a:t>?</a:t>
            </a:r>
          </a:p>
        </p:txBody>
      </p:sp>
      <p:sp>
        <p:nvSpPr>
          <p:cNvPr id="3" name="object 3"/>
          <p:cNvSpPr txBox="1"/>
          <p:nvPr/>
        </p:nvSpPr>
        <p:spPr>
          <a:xfrm>
            <a:off x="688340" y="1473453"/>
            <a:ext cx="7236460" cy="5011628"/>
          </a:xfrm>
          <a:prstGeom prst="rect">
            <a:avLst/>
          </a:prstGeom>
        </p:spPr>
        <p:txBody>
          <a:bodyPr vert="horz" wrap="square" lIns="0" tIns="12700" rIns="0" bIns="0" rtlCol="0">
            <a:spAutoFit/>
          </a:bodyPr>
          <a:lstStyle/>
          <a:p>
            <a:pPr marL="355600" marR="805180" indent="-342900" algn="just">
              <a:lnSpc>
                <a:spcPct val="100000"/>
              </a:lnSpc>
              <a:spcBef>
                <a:spcPts val="100"/>
              </a:spcBef>
            </a:pPr>
            <a:r>
              <a:rPr lang="en-US" dirty="0">
                <a:latin typeface="Times New Roman" panose="02020603050405020304" pitchFamily="18" charset="0"/>
                <a:cs typeface="Times New Roman" panose="02020603050405020304" pitchFamily="18" charset="0"/>
              </a:rPr>
              <a:t>We study relations because they help us understand and model </a:t>
            </a:r>
            <a:r>
              <a:rPr lang="en-US" b="1" dirty="0">
                <a:latin typeface="Times New Roman" panose="02020603050405020304" pitchFamily="18" charset="0"/>
                <a:cs typeface="Times New Roman" panose="02020603050405020304" pitchFamily="18" charset="0"/>
              </a:rPr>
              <a:t>connections between things</a:t>
            </a:r>
            <a:r>
              <a:rPr lang="en-US" dirty="0">
                <a:latin typeface="Times New Roman" panose="02020603050405020304" pitchFamily="18" charset="0"/>
                <a:cs typeface="Times New Roman" panose="02020603050405020304" pitchFamily="18" charset="0"/>
              </a:rPr>
              <a:t> in mathematics, computer science, and real life.</a:t>
            </a:r>
          </a:p>
          <a:p>
            <a:pPr lvl="2"/>
            <a:r>
              <a:rPr lang="en-US" dirty="0">
                <a:solidFill>
                  <a:srgbClr val="00B050"/>
                </a:solidFill>
                <a:latin typeface="Times New Roman" panose="02020603050405020304" pitchFamily="18" charset="0"/>
                <a:cs typeface="Times New Roman" panose="02020603050405020304" pitchFamily="18" charset="0"/>
              </a:rPr>
              <a:t>▶ </a:t>
            </a:r>
            <a:r>
              <a:rPr lang="en-US" b="1" dirty="0">
                <a:solidFill>
                  <a:srgbClr val="00B050"/>
                </a:solidFill>
                <a:latin typeface="Times New Roman" panose="02020603050405020304" pitchFamily="18" charset="0"/>
                <a:cs typeface="Times New Roman" panose="02020603050405020304" pitchFamily="18" charset="0"/>
              </a:rPr>
              <a:t>In Mathematics: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Relations help us study connections between numbers.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 example: One number </a:t>
            </a:r>
            <a:r>
              <a:rPr lang="en-US" b="1" dirty="0">
                <a:latin typeface="Times New Roman" panose="02020603050405020304" pitchFamily="18" charset="0"/>
                <a:cs typeface="Times New Roman" panose="02020603050405020304" pitchFamily="18" charset="0"/>
              </a:rPr>
              <a:t>divides</a:t>
            </a:r>
            <a:r>
              <a:rPr lang="en-US" dirty="0">
                <a:latin typeface="Times New Roman" panose="02020603050405020304" pitchFamily="18" charset="0"/>
                <a:cs typeface="Times New Roman" panose="02020603050405020304" pitchFamily="18" charset="0"/>
              </a:rPr>
              <a:t> another (like 2 divides 6).</a:t>
            </a:r>
          </a:p>
          <a:p>
            <a:endParaRPr lang="en-US" dirty="0">
              <a:latin typeface="Times New Roman" panose="02020603050405020304" pitchFamily="18" charset="0"/>
              <a:cs typeface="Times New Roman" panose="02020603050405020304" pitchFamily="18" charset="0"/>
            </a:endParaRPr>
          </a:p>
          <a:p>
            <a:r>
              <a:rPr lang="en-US" dirty="0">
                <a:solidFill>
                  <a:srgbClr val="00B050"/>
                </a:solidFill>
                <a:latin typeface="Times New Roman" panose="02020603050405020304" pitchFamily="18" charset="0"/>
                <a:cs typeface="Times New Roman" panose="02020603050405020304" pitchFamily="18" charset="0"/>
              </a:rPr>
              <a:t>▶ </a:t>
            </a:r>
            <a:r>
              <a:rPr lang="en-US" b="1" dirty="0">
                <a:solidFill>
                  <a:srgbClr val="00B050"/>
                </a:solidFill>
                <a:latin typeface="Times New Roman" panose="02020603050405020304" pitchFamily="18" charset="0"/>
                <a:cs typeface="Times New Roman" panose="02020603050405020304" pitchFamily="18" charset="0"/>
              </a:rPr>
              <a:t>In Computers: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Relations describe connections such as: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program</a:t>
            </a:r>
            <a:r>
              <a:rPr lang="en-US" dirty="0">
                <a:latin typeface="Times New Roman" panose="02020603050405020304" pitchFamily="18" charset="0"/>
                <a:cs typeface="Times New Roman" panose="02020603050405020304" pitchFamily="18" charset="0"/>
              </a:rPr>
              <a:t> and the </a:t>
            </a:r>
            <a:r>
              <a:rPr lang="en-US" b="1" dirty="0">
                <a:latin typeface="Times New Roman" panose="02020603050405020304" pitchFamily="18" charset="0"/>
                <a:cs typeface="Times New Roman" panose="02020603050405020304" pitchFamily="18" charset="0"/>
              </a:rPr>
              <a:t>variables</a:t>
            </a:r>
            <a:r>
              <a:rPr lang="en-US" dirty="0">
                <a:latin typeface="Times New Roman" panose="02020603050405020304" pitchFamily="18" charset="0"/>
                <a:cs typeface="Times New Roman" panose="02020603050405020304" pitchFamily="18" charset="0"/>
              </a:rPr>
              <a:t> it uses.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programming language</a:t>
            </a:r>
            <a:r>
              <a:rPr lang="en-US" dirty="0">
                <a:latin typeface="Times New Roman" panose="02020603050405020304" pitchFamily="18" charset="0"/>
                <a:cs typeface="Times New Roman" panose="02020603050405020304" pitchFamily="18" charset="0"/>
              </a:rPr>
              <a:t> and its </a:t>
            </a:r>
            <a:r>
              <a:rPr lang="en-US" b="1" dirty="0">
                <a:latin typeface="Times New Roman" panose="02020603050405020304" pitchFamily="18" charset="0"/>
                <a:cs typeface="Times New Roman" panose="02020603050405020304" pitchFamily="18" charset="0"/>
              </a:rPr>
              <a:t>valid statements</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storing related information.</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solidFill>
                  <a:srgbClr val="00B050"/>
                </a:solidFill>
                <a:latin typeface="Times New Roman" panose="02020603050405020304" pitchFamily="18" charset="0"/>
                <a:cs typeface="Times New Roman" panose="02020603050405020304" pitchFamily="18" charset="0"/>
              </a:rPr>
              <a:t>▶ </a:t>
            </a:r>
            <a:r>
              <a:rPr lang="en-US" b="1" dirty="0">
                <a:solidFill>
                  <a:srgbClr val="00B050"/>
                </a:solidFill>
                <a:latin typeface="Times New Roman" panose="02020603050405020304" pitchFamily="18" charset="0"/>
                <a:cs typeface="Times New Roman" panose="02020603050405020304" pitchFamily="18" charset="0"/>
              </a:rPr>
              <a:t>In Real-World Problems: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Relations help us solve practical problems, such as: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Finding which </a:t>
            </a:r>
            <a:r>
              <a:rPr lang="en-US" b="1" dirty="0">
                <a:latin typeface="Times New Roman" panose="02020603050405020304" pitchFamily="18" charset="0"/>
                <a:cs typeface="Times New Roman" panose="02020603050405020304" pitchFamily="18" charset="0"/>
              </a:rPr>
              <a:t>cities are connected by flights</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Deciding the correct </a:t>
            </a:r>
            <a:r>
              <a:rPr lang="en-US" b="1" dirty="0">
                <a:latin typeface="Times New Roman" panose="02020603050405020304" pitchFamily="18" charset="0"/>
                <a:cs typeface="Times New Roman" panose="02020603050405020304" pitchFamily="18" charset="0"/>
              </a:rPr>
              <a:t>order of tasks in a project</a:t>
            </a:r>
            <a:r>
              <a:rPr lang="en-US" dirty="0">
                <a:latin typeface="Times New Roman" panose="02020603050405020304" pitchFamily="18" charset="0"/>
                <a:cs typeface="Times New Roman" panose="02020603050405020304" pitchFamily="18" charset="0"/>
              </a:rPr>
              <a:t>.</a:t>
            </a:r>
          </a:p>
          <a:p>
            <a:pPr marL="355600" marR="805180" indent="-342900" algn="just">
              <a:lnSpc>
                <a:spcPct val="100000"/>
              </a:lnSpc>
              <a:spcBef>
                <a:spcPts val="100"/>
              </a:spcBef>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1308" y="175260"/>
            <a:ext cx="4467860" cy="1123315"/>
          </a:xfrm>
          <a:prstGeom prst="rect">
            <a:avLst/>
          </a:prstGeom>
        </p:spPr>
        <p:txBody>
          <a:bodyPr vert="horz" wrap="square" lIns="0" tIns="12700" rIns="0" bIns="0" rtlCol="0">
            <a:spAutoFit/>
          </a:bodyPr>
          <a:lstStyle/>
          <a:p>
            <a:pPr marL="1080770" marR="5080" indent="-1068705">
              <a:lnSpc>
                <a:spcPct val="100000"/>
              </a:lnSpc>
              <a:spcBef>
                <a:spcPts val="100"/>
              </a:spcBef>
            </a:pPr>
            <a:r>
              <a:rPr dirty="0"/>
              <a:t>DOMAIN</a:t>
            </a:r>
            <a:r>
              <a:rPr spc="-15" dirty="0"/>
              <a:t> </a:t>
            </a:r>
            <a:r>
              <a:rPr dirty="0"/>
              <a:t>&amp;</a:t>
            </a:r>
            <a:r>
              <a:rPr spc="-15" dirty="0"/>
              <a:t> </a:t>
            </a:r>
            <a:r>
              <a:rPr dirty="0"/>
              <a:t>RANGE</a:t>
            </a:r>
            <a:r>
              <a:rPr spc="-20" dirty="0"/>
              <a:t> </a:t>
            </a:r>
            <a:r>
              <a:rPr spc="-25" dirty="0"/>
              <a:t>OF </a:t>
            </a:r>
            <a:r>
              <a:rPr spc="-10" dirty="0"/>
              <a:t>RELATIONS</a:t>
            </a:r>
          </a:p>
        </p:txBody>
      </p:sp>
      <p:sp>
        <p:nvSpPr>
          <p:cNvPr id="3" name="object 3"/>
          <p:cNvSpPr txBox="1"/>
          <p:nvPr/>
        </p:nvSpPr>
        <p:spPr>
          <a:xfrm>
            <a:off x="688340" y="1575561"/>
            <a:ext cx="5453380" cy="827405"/>
          </a:xfrm>
          <a:prstGeom prst="rect">
            <a:avLst/>
          </a:prstGeom>
        </p:spPr>
        <p:txBody>
          <a:bodyPr vert="horz" wrap="square" lIns="0" tIns="139065" rIns="0" bIns="0" rtlCol="0">
            <a:spAutoFit/>
          </a:bodyPr>
          <a:lstStyle/>
          <a:p>
            <a:pPr marL="12700">
              <a:lnSpc>
                <a:spcPct val="100000"/>
              </a:lnSpc>
              <a:spcBef>
                <a:spcPts val="1095"/>
              </a:spcBef>
            </a:pPr>
            <a:r>
              <a:rPr sz="1800" b="1" u="sng" dirty="0">
                <a:solidFill>
                  <a:srgbClr val="6F2F9F"/>
                </a:solidFill>
                <a:uFill>
                  <a:solidFill>
                    <a:srgbClr val="6F2F9F"/>
                  </a:solidFill>
                </a:uFill>
                <a:latin typeface="Times New Roman"/>
                <a:cs typeface="Times New Roman"/>
              </a:rPr>
              <a:t>DOMAIN</a:t>
            </a:r>
            <a:r>
              <a:rPr sz="1800" b="1" u="sng" spc="385" dirty="0">
                <a:solidFill>
                  <a:srgbClr val="6F2F9F"/>
                </a:solidFill>
                <a:uFill>
                  <a:solidFill>
                    <a:srgbClr val="6F2F9F"/>
                  </a:solidFill>
                </a:uFill>
                <a:latin typeface="Times New Roman"/>
                <a:cs typeface="Times New Roman"/>
              </a:rPr>
              <a:t> </a:t>
            </a:r>
            <a:r>
              <a:rPr sz="1800" b="1" u="sng" spc="-10" dirty="0">
                <a:solidFill>
                  <a:srgbClr val="6F2F9F"/>
                </a:solidFill>
                <a:uFill>
                  <a:solidFill>
                    <a:srgbClr val="6F2F9F"/>
                  </a:solidFill>
                </a:uFill>
                <a:latin typeface="Times New Roman"/>
                <a:cs typeface="Times New Roman"/>
              </a:rPr>
              <a:t>OF</a:t>
            </a:r>
            <a:r>
              <a:rPr sz="1800" b="1" u="sng" spc="-170" dirty="0">
                <a:solidFill>
                  <a:srgbClr val="6F2F9F"/>
                </a:solidFill>
                <a:uFill>
                  <a:solidFill>
                    <a:srgbClr val="6F2F9F"/>
                  </a:solidFill>
                </a:uFill>
                <a:latin typeface="Times New Roman"/>
                <a:cs typeface="Times New Roman"/>
              </a:rPr>
              <a:t> </a:t>
            </a:r>
            <a:r>
              <a:rPr sz="1800" b="1" u="sng" dirty="0">
                <a:solidFill>
                  <a:srgbClr val="6F2F9F"/>
                </a:solidFill>
                <a:uFill>
                  <a:solidFill>
                    <a:srgbClr val="6F2F9F"/>
                  </a:solidFill>
                </a:uFill>
                <a:latin typeface="Times New Roman"/>
                <a:cs typeface="Times New Roman"/>
              </a:rPr>
              <a:t>A</a:t>
            </a:r>
            <a:r>
              <a:rPr sz="1800" b="1" u="sng" spc="-110" dirty="0">
                <a:solidFill>
                  <a:srgbClr val="6F2F9F"/>
                </a:solidFill>
                <a:uFill>
                  <a:solidFill>
                    <a:srgbClr val="6F2F9F"/>
                  </a:solidFill>
                </a:uFill>
                <a:latin typeface="Times New Roman"/>
                <a:cs typeface="Times New Roman"/>
              </a:rPr>
              <a:t> </a:t>
            </a:r>
            <a:r>
              <a:rPr sz="1800" b="1" u="sng" spc="-10" dirty="0">
                <a:solidFill>
                  <a:srgbClr val="6F2F9F"/>
                </a:solidFill>
                <a:uFill>
                  <a:solidFill>
                    <a:srgbClr val="6F2F9F"/>
                  </a:solidFill>
                </a:uFill>
                <a:latin typeface="Times New Roman"/>
                <a:cs typeface="Times New Roman"/>
              </a:rPr>
              <a:t>RELATION:</a:t>
            </a:r>
            <a:endParaRPr sz="1800" dirty="0">
              <a:latin typeface="Times New Roman"/>
              <a:cs typeface="Times New Roman"/>
            </a:endParaRPr>
          </a:p>
          <a:p>
            <a:pPr marL="12700">
              <a:lnSpc>
                <a:spcPct val="100000"/>
              </a:lnSpc>
              <a:spcBef>
                <a:spcPts val="994"/>
              </a:spcBef>
            </a:pPr>
            <a:r>
              <a:rPr sz="1800" dirty="0">
                <a:solidFill>
                  <a:srgbClr val="404040"/>
                </a:solidFill>
                <a:latin typeface="Times New Roman"/>
                <a:cs typeface="Times New Roman"/>
              </a:rPr>
              <a:t>The</a:t>
            </a:r>
            <a:r>
              <a:rPr sz="1800" spc="-40" dirty="0">
                <a:solidFill>
                  <a:srgbClr val="404040"/>
                </a:solidFill>
                <a:latin typeface="Times New Roman"/>
                <a:cs typeface="Times New Roman"/>
              </a:rPr>
              <a:t> </a:t>
            </a:r>
            <a:r>
              <a:rPr sz="1800" dirty="0">
                <a:solidFill>
                  <a:srgbClr val="404040"/>
                </a:solidFill>
                <a:latin typeface="Times New Roman"/>
                <a:cs typeface="Times New Roman"/>
              </a:rPr>
              <a:t>domain</a:t>
            </a:r>
            <a:r>
              <a:rPr sz="1800" spc="-15" dirty="0">
                <a:solidFill>
                  <a:srgbClr val="404040"/>
                </a:solidFill>
                <a:latin typeface="Times New Roman"/>
                <a:cs typeface="Times New Roman"/>
              </a:rPr>
              <a:t> </a:t>
            </a:r>
            <a:r>
              <a:rPr sz="1800" dirty="0">
                <a:solidFill>
                  <a:srgbClr val="404040"/>
                </a:solidFill>
                <a:latin typeface="Times New Roman"/>
                <a:cs typeface="Times New Roman"/>
              </a:rPr>
              <a:t>of</a:t>
            </a:r>
            <a:r>
              <a:rPr sz="1800" spc="-15" dirty="0">
                <a:solidFill>
                  <a:srgbClr val="404040"/>
                </a:solidFill>
                <a:latin typeface="Times New Roman"/>
                <a:cs typeface="Times New Roman"/>
              </a:rPr>
              <a:t> </a:t>
            </a:r>
            <a:r>
              <a:rPr sz="1800" dirty="0">
                <a:solidFill>
                  <a:srgbClr val="404040"/>
                </a:solidFill>
                <a:latin typeface="Times New Roman"/>
                <a:cs typeface="Times New Roman"/>
              </a:rPr>
              <a:t>a</a:t>
            </a:r>
            <a:r>
              <a:rPr sz="1800" spc="-20" dirty="0">
                <a:solidFill>
                  <a:srgbClr val="404040"/>
                </a:solidFill>
                <a:latin typeface="Times New Roman"/>
                <a:cs typeface="Times New Roman"/>
              </a:rPr>
              <a:t> </a:t>
            </a:r>
            <a:r>
              <a:rPr sz="1800" dirty="0">
                <a:solidFill>
                  <a:srgbClr val="404040"/>
                </a:solidFill>
                <a:latin typeface="Times New Roman"/>
                <a:cs typeface="Times New Roman"/>
              </a:rPr>
              <a:t>relation</a:t>
            </a:r>
            <a:r>
              <a:rPr sz="1800" spc="-5" dirty="0">
                <a:solidFill>
                  <a:srgbClr val="404040"/>
                </a:solidFill>
                <a:latin typeface="Times New Roman"/>
                <a:cs typeface="Times New Roman"/>
              </a:rPr>
              <a:t> </a:t>
            </a:r>
            <a:r>
              <a:rPr sz="1800" dirty="0">
                <a:solidFill>
                  <a:srgbClr val="404040"/>
                </a:solidFill>
                <a:latin typeface="Times New Roman"/>
                <a:cs typeface="Times New Roman"/>
              </a:rPr>
              <a:t>R</a:t>
            </a:r>
            <a:r>
              <a:rPr sz="1800" spc="-15" dirty="0">
                <a:solidFill>
                  <a:srgbClr val="404040"/>
                </a:solidFill>
                <a:latin typeface="Times New Roman"/>
                <a:cs typeface="Times New Roman"/>
              </a:rPr>
              <a:t> </a:t>
            </a:r>
            <a:r>
              <a:rPr sz="1800" spc="-10" dirty="0">
                <a:solidFill>
                  <a:srgbClr val="404040"/>
                </a:solidFill>
                <a:latin typeface="Times New Roman"/>
                <a:cs typeface="Times New Roman"/>
              </a:rPr>
              <a:t>from</a:t>
            </a:r>
            <a:r>
              <a:rPr sz="1800" spc="-105" dirty="0">
                <a:solidFill>
                  <a:srgbClr val="404040"/>
                </a:solidFill>
                <a:latin typeface="Times New Roman"/>
                <a:cs typeface="Times New Roman"/>
              </a:rPr>
              <a:t> </a:t>
            </a:r>
            <a:r>
              <a:rPr sz="1800" dirty="0">
                <a:solidFill>
                  <a:srgbClr val="404040"/>
                </a:solidFill>
                <a:latin typeface="Times New Roman"/>
                <a:cs typeface="Times New Roman"/>
              </a:rPr>
              <a:t>A</a:t>
            </a:r>
            <a:r>
              <a:rPr sz="1800" spc="-110" dirty="0">
                <a:solidFill>
                  <a:srgbClr val="404040"/>
                </a:solidFill>
                <a:latin typeface="Times New Roman"/>
                <a:cs typeface="Times New Roman"/>
              </a:rPr>
              <a:t> </a:t>
            </a:r>
            <a:r>
              <a:rPr sz="1800" dirty="0">
                <a:solidFill>
                  <a:srgbClr val="404040"/>
                </a:solidFill>
                <a:latin typeface="Times New Roman"/>
                <a:cs typeface="Times New Roman"/>
              </a:rPr>
              <a:t>to</a:t>
            </a:r>
            <a:r>
              <a:rPr sz="1800" spc="-20" dirty="0">
                <a:solidFill>
                  <a:srgbClr val="404040"/>
                </a:solidFill>
                <a:latin typeface="Times New Roman"/>
                <a:cs typeface="Times New Roman"/>
              </a:rPr>
              <a:t> </a:t>
            </a:r>
            <a:r>
              <a:rPr sz="1800" dirty="0">
                <a:solidFill>
                  <a:srgbClr val="404040"/>
                </a:solidFill>
                <a:latin typeface="Times New Roman"/>
                <a:cs typeface="Times New Roman"/>
              </a:rPr>
              <a:t>B</a:t>
            </a:r>
            <a:r>
              <a:rPr sz="1800" spc="-15" dirty="0">
                <a:solidFill>
                  <a:srgbClr val="404040"/>
                </a:solidFill>
                <a:latin typeface="Times New Roman"/>
                <a:cs typeface="Times New Roman"/>
              </a:rPr>
              <a:t> </a:t>
            </a:r>
            <a:r>
              <a:rPr sz="1800" dirty="0">
                <a:solidFill>
                  <a:srgbClr val="404040"/>
                </a:solidFill>
                <a:latin typeface="Times New Roman"/>
                <a:cs typeface="Times New Roman"/>
              </a:rPr>
              <a:t>is</a:t>
            </a:r>
            <a:r>
              <a:rPr sz="1800" spc="-15" dirty="0">
                <a:solidFill>
                  <a:srgbClr val="404040"/>
                </a:solidFill>
                <a:latin typeface="Times New Roman"/>
                <a:cs typeface="Times New Roman"/>
              </a:rPr>
              <a:t> </a:t>
            </a:r>
            <a:r>
              <a:rPr sz="1800" dirty="0">
                <a:solidFill>
                  <a:srgbClr val="404040"/>
                </a:solidFill>
                <a:latin typeface="Times New Roman"/>
                <a:cs typeface="Times New Roman"/>
              </a:rPr>
              <a:t>the</a:t>
            </a:r>
            <a:r>
              <a:rPr sz="1800" spc="-15" dirty="0">
                <a:solidFill>
                  <a:srgbClr val="404040"/>
                </a:solidFill>
                <a:latin typeface="Times New Roman"/>
                <a:cs typeface="Times New Roman"/>
              </a:rPr>
              <a:t> </a:t>
            </a:r>
            <a:r>
              <a:rPr sz="1800" dirty="0">
                <a:solidFill>
                  <a:srgbClr val="404040"/>
                </a:solidFill>
                <a:latin typeface="Times New Roman"/>
                <a:cs typeface="Times New Roman"/>
              </a:rPr>
              <a:t>set</a:t>
            </a:r>
            <a:r>
              <a:rPr sz="1800" spc="-15" dirty="0">
                <a:solidFill>
                  <a:srgbClr val="404040"/>
                </a:solidFill>
                <a:latin typeface="Times New Roman"/>
                <a:cs typeface="Times New Roman"/>
              </a:rPr>
              <a:t> </a:t>
            </a:r>
            <a:r>
              <a:rPr sz="1800" dirty="0">
                <a:solidFill>
                  <a:srgbClr val="404040"/>
                </a:solidFill>
                <a:latin typeface="Times New Roman"/>
                <a:cs typeface="Times New Roman"/>
              </a:rPr>
              <a:t>of</a:t>
            </a:r>
            <a:r>
              <a:rPr sz="1800" spc="-15" dirty="0">
                <a:solidFill>
                  <a:srgbClr val="404040"/>
                </a:solidFill>
                <a:latin typeface="Times New Roman"/>
                <a:cs typeface="Times New Roman"/>
              </a:rPr>
              <a:t> </a:t>
            </a:r>
            <a:r>
              <a:rPr sz="1800" b="1" dirty="0">
                <a:solidFill>
                  <a:srgbClr val="404040"/>
                </a:solidFill>
                <a:latin typeface="Times New Roman"/>
                <a:cs typeface="Times New Roman"/>
              </a:rPr>
              <a:t>all</a:t>
            </a:r>
            <a:r>
              <a:rPr sz="1800" b="1" spc="-15" dirty="0">
                <a:solidFill>
                  <a:srgbClr val="404040"/>
                </a:solidFill>
                <a:latin typeface="Times New Roman"/>
                <a:cs typeface="Times New Roman"/>
              </a:rPr>
              <a:t> </a:t>
            </a:r>
            <a:r>
              <a:rPr sz="1800" b="1" spc="-10" dirty="0">
                <a:solidFill>
                  <a:srgbClr val="404040"/>
                </a:solidFill>
                <a:latin typeface="Times New Roman"/>
                <a:cs typeface="Times New Roman"/>
              </a:rPr>
              <a:t>first</a:t>
            </a:r>
            <a:endParaRPr sz="1800" b="1" dirty="0">
              <a:latin typeface="Times New Roman"/>
              <a:cs typeface="Times New Roman"/>
            </a:endParaRPr>
          </a:p>
        </p:txBody>
      </p:sp>
      <p:sp>
        <p:nvSpPr>
          <p:cNvPr id="4" name="object 4"/>
          <p:cNvSpPr txBox="1"/>
          <p:nvPr/>
        </p:nvSpPr>
        <p:spPr>
          <a:xfrm>
            <a:off x="2060194" y="2377185"/>
            <a:ext cx="4615561"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404040"/>
                </a:solidFill>
                <a:latin typeface="Times New Roman"/>
                <a:cs typeface="Times New Roman"/>
              </a:rPr>
              <a:t>the</a:t>
            </a:r>
            <a:r>
              <a:rPr sz="1800" b="1" spc="-40" dirty="0">
                <a:solidFill>
                  <a:srgbClr val="404040"/>
                </a:solidFill>
                <a:latin typeface="Times New Roman"/>
                <a:cs typeface="Times New Roman"/>
              </a:rPr>
              <a:t> </a:t>
            </a:r>
            <a:r>
              <a:rPr sz="1800" b="1" dirty="0">
                <a:solidFill>
                  <a:srgbClr val="404040"/>
                </a:solidFill>
                <a:latin typeface="Times New Roman"/>
                <a:cs typeface="Times New Roman"/>
              </a:rPr>
              <a:t>ordered</a:t>
            </a:r>
            <a:r>
              <a:rPr sz="1800" b="1" spc="-30" dirty="0">
                <a:solidFill>
                  <a:srgbClr val="404040"/>
                </a:solidFill>
                <a:latin typeface="Times New Roman"/>
                <a:cs typeface="Times New Roman"/>
              </a:rPr>
              <a:t> </a:t>
            </a:r>
            <a:r>
              <a:rPr sz="1800" b="1" dirty="0">
                <a:solidFill>
                  <a:srgbClr val="404040"/>
                </a:solidFill>
                <a:latin typeface="Times New Roman"/>
                <a:cs typeface="Times New Roman"/>
              </a:rPr>
              <a:t>pairs</a:t>
            </a:r>
            <a:r>
              <a:rPr sz="1800" b="1" spc="-30" dirty="0">
                <a:solidFill>
                  <a:srgbClr val="404040"/>
                </a:solidFill>
                <a:latin typeface="Times New Roman"/>
                <a:cs typeface="Times New Roman"/>
              </a:rPr>
              <a:t> </a:t>
            </a:r>
            <a:r>
              <a:rPr sz="1800" dirty="0">
                <a:solidFill>
                  <a:srgbClr val="404040"/>
                </a:solidFill>
                <a:latin typeface="Times New Roman"/>
                <a:cs typeface="Times New Roman"/>
              </a:rPr>
              <a:t>which</a:t>
            </a:r>
            <a:r>
              <a:rPr sz="1800" spc="-30" dirty="0">
                <a:solidFill>
                  <a:srgbClr val="404040"/>
                </a:solidFill>
                <a:latin typeface="Times New Roman"/>
                <a:cs typeface="Times New Roman"/>
              </a:rPr>
              <a:t> </a:t>
            </a:r>
            <a:r>
              <a:rPr sz="1800" dirty="0">
                <a:solidFill>
                  <a:srgbClr val="404040"/>
                </a:solidFill>
                <a:latin typeface="Times New Roman"/>
                <a:cs typeface="Times New Roman"/>
              </a:rPr>
              <a:t>belong</a:t>
            </a:r>
            <a:r>
              <a:rPr sz="1800" spc="-30" dirty="0">
                <a:solidFill>
                  <a:srgbClr val="404040"/>
                </a:solidFill>
                <a:latin typeface="Times New Roman"/>
                <a:cs typeface="Times New Roman"/>
              </a:rPr>
              <a:t> </a:t>
            </a:r>
            <a:r>
              <a:rPr sz="1800" dirty="0">
                <a:solidFill>
                  <a:srgbClr val="404040"/>
                </a:solidFill>
                <a:latin typeface="Times New Roman"/>
                <a:cs typeface="Times New Roman"/>
              </a:rPr>
              <a:t>to</a:t>
            </a:r>
            <a:r>
              <a:rPr sz="1800" spc="-30" dirty="0">
                <a:solidFill>
                  <a:srgbClr val="404040"/>
                </a:solidFill>
                <a:latin typeface="Times New Roman"/>
                <a:cs typeface="Times New Roman"/>
              </a:rPr>
              <a:t> </a:t>
            </a:r>
            <a:r>
              <a:rPr sz="1800" dirty="0">
                <a:solidFill>
                  <a:srgbClr val="404040"/>
                </a:solidFill>
                <a:latin typeface="Times New Roman"/>
                <a:cs typeface="Times New Roman"/>
              </a:rPr>
              <a:t>R</a:t>
            </a:r>
            <a:r>
              <a:rPr sz="1800" spc="-25" dirty="0">
                <a:solidFill>
                  <a:srgbClr val="404040"/>
                </a:solidFill>
                <a:latin typeface="Times New Roman"/>
                <a:cs typeface="Times New Roman"/>
              </a:rPr>
              <a:t> </a:t>
            </a:r>
            <a:r>
              <a:rPr sz="1800" spc="-10" dirty="0">
                <a:solidFill>
                  <a:srgbClr val="404040"/>
                </a:solidFill>
                <a:latin typeface="Times New Roman"/>
                <a:cs typeface="Times New Roman"/>
              </a:rPr>
              <a:t>denoted</a:t>
            </a:r>
            <a:endParaRPr sz="1800" dirty="0">
              <a:latin typeface="Times New Roman"/>
              <a:cs typeface="Times New Roman"/>
            </a:endParaRPr>
          </a:p>
        </p:txBody>
      </p:sp>
      <p:sp>
        <p:nvSpPr>
          <p:cNvPr id="5" name="object 5"/>
          <p:cNvSpPr txBox="1"/>
          <p:nvPr/>
        </p:nvSpPr>
        <p:spPr>
          <a:xfrm>
            <a:off x="688340" y="2377185"/>
            <a:ext cx="1521460" cy="975994"/>
          </a:xfrm>
          <a:prstGeom prst="rect">
            <a:avLst/>
          </a:prstGeom>
        </p:spPr>
        <p:txBody>
          <a:bodyPr vert="horz" wrap="square" lIns="0" tIns="12700" rIns="0" bIns="0" rtlCol="0">
            <a:spAutoFit/>
          </a:bodyPr>
          <a:lstStyle/>
          <a:p>
            <a:pPr marL="12700" marR="276860">
              <a:lnSpc>
                <a:spcPct val="100000"/>
              </a:lnSpc>
              <a:spcBef>
                <a:spcPts val="100"/>
              </a:spcBef>
            </a:pPr>
            <a:r>
              <a:rPr sz="1800" b="1" dirty="0">
                <a:solidFill>
                  <a:srgbClr val="404040"/>
                </a:solidFill>
                <a:latin typeface="Times New Roman"/>
                <a:cs typeface="Times New Roman"/>
              </a:rPr>
              <a:t>elements</a:t>
            </a:r>
            <a:r>
              <a:rPr sz="1800" b="1" spc="-70" dirty="0">
                <a:solidFill>
                  <a:srgbClr val="404040"/>
                </a:solidFill>
                <a:latin typeface="Times New Roman"/>
                <a:cs typeface="Times New Roman"/>
              </a:rPr>
              <a:t> </a:t>
            </a:r>
            <a:r>
              <a:rPr sz="1800" b="1" spc="-25" dirty="0">
                <a:solidFill>
                  <a:srgbClr val="404040"/>
                </a:solidFill>
                <a:latin typeface="Times New Roman"/>
                <a:cs typeface="Times New Roman"/>
              </a:rPr>
              <a:t>of </a:t>
            </a:r>
            <a:r>
              <a:rPr sz="1800" spc="-10" dirty="0">
                <a:solidFill>
                  <a:srgbClr val="404040"/>
                </a:solidFill>
                <a:latin typeface="Times New Roman"/>
                <a:cs typeface="Times New Roman"/>
              </a:rPr>
              <a:t>Dom(R).</a:t>
            </a:r>
            <a:endParaRPr sz="1800" dirty="0">
              <a:latin typeface="Times New Roman"/>
              <a:cs typeface="Times New Roman"/>
            </a:endParaRPr>
          </a:p>
          <a:p>
            <a:pPr marL="12700">
              <a:lnSpc>
                <a:spcPct val="100000"/>
              </a:lnSpc>
              <a:spcBef>
                <a:spcPts val="1000"/>
              </a:spcBef>
            </a:pPr>
            <a:r>
              <a:rPr sz="1800" b="1" spc="-10" dirty="0">
                <a:solidFill>
                  <a:srgbClr val="001F5F"/>
                </a:solidFill>
                <a:latin typeface="Times New Roman"/>
                <a:cs typeface="Times New Roman"/>
              </a:rPr>
              <a:t>Symbolically:</a:t>
            </a:r>
            <a:endParaRPr sz="1800" dirty="0">
              <a:latin typeface="Times New Roman"/>
              <a:cs typeface="Times New Roman"/>
            </a:endParaRPr>
          </a:p>
        </p:txBody>
      </p:sp>
      <p:sp>
        <p:nvSpPr>
          <p:cNvPr id="6" name="object 6"/>
          <p:cNvSpPr txBox="1"/>
          <p:nvPr/>
        </p:nvSpPr>
        <p:spPr>
          <a:xfrm>
            <a:off x="688340" y="3330079"/>
            <a:ext cx="6474460" cy="2314095"/>
          </a:xfrm>
          <a:prstGeom prst="rect">
            <a:avLst/>
          </a:prstGeom>
        </p:spPr>
        <p:txBody>
          <a:bodyPr vert="horz" wrap="square" lIns="0" tIns="137795" rIns="0" bIns="0" rtlCol="0">
            <a:spAutoFit/>
          </a:bodyPr>
          <a:lstStyle/>
          <a:p>
            <a:pPr marL="927100">
              <a:lnSpc>
                <a:spcPct val="100000"/>
              </a:lnSpc>
              <a:spcBef>
                <a:spcPts val="1085"/>
              </a:spcBef>
            </a:pPr>
            <a:r>
              <a:rPr sz="1800" b="1" dirty="0">
                <a:solidFill>
                  <a:srgbClr val="00AFEF"/>
                </a:solidFill>
                <a:latin typeface="Times New Roman"/>
                <a:cs typeface="Times New Roman"/>
              </a:rPr>
              <a:t>Dom</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(R)</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20" dirty="0">
                <a:solidFill>
                  <a:srgbClr val="00AFEF"/>
                </a:solidFill>
                <a:latin typeface="Times New Roman"/>
                <a:cs typeface="Times New Roman"/>
              </a:rPr>
              <a:t> </a:t>
            </a:r>
            <a:r>
              <a:rPr sz="1800" dirty="0">
                <a:solidFill>
                  <a:srgbClr val="00AFEF"/>
                </a:solidFill>
                <a:latin typeface="Symbol"/>
                <a:cs typeface="Symbol"/>
              </a:rPr>
              <a:t></a:t>
            </a:r>
            <a:r>
              <a:rPr sz="1800" b="1" dirty="0">
                <a:solidFill>
                  <a:srgbClr val="00AFEF"/>
                </a:solidFill>
                <a:latin typeface="Times New Roman"/>
                <a:cs typeface="Times New Roman"/>
              </a:rPr>
              <a:t>A|</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(a,b)</a:t>
            </a:r>
            <a:r>
              <a:rPr sz="1800" b="1" spc="-15" dirty="0">
                <a:solidFill>
                  <a:srgbClr val="00AFEF"/>
                </a:solidFill>
                <a:latin typeface="Times New Roman"/>
                <a:cs typeface="Times New Roman"/>
              </a:rPr>
              <a:t> </a:t>
            </a:r>
            <a:r>
              <a:rPr sz="1800" spc="-25" dirty="0">
                <a:solidFill>
                  <a:srgbClr val="00AFEF"/>
                </a:solidFill>
                <a:latin typeface="Symbol"/>
                <a:cs typeface="Symbol"/>
              </a:rPr>
              <a:t></a:t>
            </a:r>
            <a:r>
              <a:rPr sz="1800" b="1" spc="-25" dirty="0">
                <a:solidFill>
                  <a:srgbClr val="00AFEF"/>
                </a:solidFill>
                <a:latin typeface="Times New Roman"/>
                <a:cs typeface="Times New Roman"/>
              </a:rPr>
              <a:t>R}</a:t>
            </a:r>
            <a:endParaRPr sz="1800" dirty="0">
              <a:latin typeface="Times New Roman"/>
              <a:cs typeface="Times New Roman"/>
            </a:endParaRPr>
          </a:p>
          <a:p>
            <a:pPr marL="12700">
              <a:lnSpc>
                <a:spcPct val="100000"/>
              </a:lnSpc>
              <a:spcBef>
                <a:spcPts val="990"/>
              </a:spcBef>
            </a:pPr>
            <a:r>
              <a:rPr sz="1800" b="1" u="sng" dirty="0">
                <a:solidFill>
                  <a:srgbClr val="6F2F9F"/>
                </a:solidFill>
                <a:uFill>
                  <a:solidFill>
                    <a:srgbClr val="6F2F9F"/>
                  </a:solidFill>
                </a:uFill>
                <a:latin typeface="Times New Roman"/>
                <a:cs typeface="Times New Roman"/>
              </a:rPr>
              <a:t>RANGE</a:t>
            </a:r>
            <a:r>
              <a:rPr sz="1800" b="1" u="sng" spc="-10" dirty="0">
                <a:solidFill>
                  <a:srgbClr val="6F2F9F"/>
                </a:solidFill>
                <a:uFill>
                  <a:solidFill>
                    <a:srgbClr val="6F2F9F"/>
                  </a:solidFill>
                </a:uFill>
                <a:latin typeface="Times New Roman"/>
                <a:cs typeface="Times New Roman"/>
              </a:rPr>
              <a:t> </a:t>
            </a:r>
            <a:r>
              <a:rPr sz="1800" b="1" u="sng" dirty="0">
                <a:solidFill>
                  <a:srgbClr val="6F2F9F"/>
                </a:solidFill>
                <a:uFill>
                  <a:solidFill>
                    <a:srgbClr val="6F2F9F"/>
                  </a:solidFill>
                </a:uFill>
                <a:latin typeface="Times New Roman"/>
                <a:cs typeface="Times New Roman"/>
              </a:rPr>
              <a:t>OF</a:t>
            </a:r>
            <a:r>
              <a:rPr sz="1800" b="1" u="sng" spc="-170" dirty="0">
                <a:solidFill>
                  <a:srgbClr val="6F2F9F"/>
                </a:solidFill>
                <a:uFill>
                  <a:solidFill>
                    <a:srgbClr val="6F2F9F"/>
                  </a:solidFill>
                </a:uFill>
                <a:latin typeface="Times New Roman"/>
                <a:cs typeface="Times New Roman"/>
              </a:rPr>
              <a:t> </a:t>
            </a:r>
            <a:r>
              <a:rPr sz="1800" b="1" u="sng" dirty="0">
                <a:solidFill>
                  <a:srgbClr val="6F2F9F"/>
                </a:solidFill>
                <a:uFill>
                  <a:solidFill>
                    <a:srgbClr val="6F2F9F"/>
                  </a:solidFill>
                </a:uFill>
                <a:latin typeface="Times New Roman"/>
                <a:cs typeface="Times New Roman"/>
              </a:rPr>
              <a:t>A</a:t>
            </a:r>
            <a:r>
              <a:rPr sz="1800" b="1" u="sng" spc="-105" dirty="0">
                <a:solidFill>
                  <a:srgbClr val="6F2F9F"/>
                </a:solidFill>
                <a:uFill>
                  <a:solidFill>
                    <a:srgbClr val="6F2F9F"/>
                  </a:solidFill>
                </a:uFill>
                <a:latin typeface="Times New Roman"/>
                <a:cs typeface="Times New Roman"/>
              </a:rPr>
              <a:t> </a:t>
            </a:r>
            <a:r>
              <a:rPr sz="1800" b="1" u="sng" spc="-10" dirty="0">
                <a:solidFill>
                  <a:srgbClr val="6F2F9F"/>
                </a:solidFill>
                <a:uFill>
                  <a:solidFill>
                    <a:srgbClr val="6F2F9F"/>
                  </a:solidFill>
                </a:uFill>
                <a:latin typeface="Times New Roman"/>
                <a:cs typeface="Times New Roman"/>
              </a:rPr>
              <a:t>RELATION:</a:t>
            </a:r>
            <a:endParaRPr sz="1800" dirty="0">
              <a:latin typeface="Times New Roman"/>
              <a:cs typeface="Times New Roman"/>
            </a:endParaRPr>
          </a:p>
          <a:p>
            <a:pPr marL="12700" marR="5080">
              <a:lnSpc>
                <a:spcPct val="100000"/>
              </a:lnSpc>
              <a:spcBef>
                <a:spcPts val="1005"/>
              </a:spcBef>
            </a:pPr>
            <a:r>
              <a:rPr sz="1800" dirty="0">
                <a:solidFill>
                  <a:srgbClr val="404040"/>
                </a:solidFill>
                <a:latin typeface="Times New Roman"/>
                <a:cs typeface="Times New Roman"/>
              </a:rPr>
              <a:t>The</a:t>
            </a:r>
            <a:r>
              <a:rPr sz="1800" spc="-25" dirty="0">
                <a:solidFill>
                  <a:srgbClr val="404040"/>
                </a:solidFill>
                <a:latin typeface="Times New Roman"/>
                <a:cs typeface="Times New Roman"/>
              </a:rPr>
              <a:t> </a:t>
            </a:r>
            <a:r>
              <a:rPr sz="1800" dirty="0">
                <a:solidFill>
                  <a:srgbClr val="404040"/>
                </a:solidFill>
                <a:latin typeface="Times New Roman"/>
                <a:cs typeface="Times New Roman"/>
              </a:rPr>
              <a:t>range</a:t>
            </a:r>
            <a:r>
              <a:rPr sz="1800" spc="-15" dirty="0">
                <a:solidFill>
                  <a:srgbClr val="404040"/>
                </a:solidFill>
                <a:latin typeface="Times New Roman"/>
                <a:cs typeface="Times New Roman"/>
              </a:rPr>
              <a:t> </a:t>
            </a:r>
            <a:r>
              <a:rPr sz="1800" dirty="0">
                <a:solidFill>
                  <a:srgbClr val="404040"/>
                </a:solidFill>
                <a:latin typeface="Times New Roman"/>
                <a:cs typeface="Times New Roman"/>
              </a:rPr>
              <a:t>of</a:t>
            </a:r>
            <a:r>
              <a:rPr sz="1800" spc="-105" dirty="0">
                <a:solidFill>
                  <a:srgbClr val="404040"/>
                </a:solidFill>
                <a:latin typeface="Times New Roman"/>
                <a:cs typeface="Times New Roman"/>
              </a:rPr>
              <a:t> </a:t>
            </a:r>
            <a:r>
              <a:rPr sz="1800" dirty="0">
                <a:solidFill>
                  <a:srgbClr val="404040"/>
                </a:solidFill>
                <a:latin typeface="Times New Roman"/>
                <a:cs typeface="Times New Roman"/>
              </a:rPr>
              <a:t>A</a:t>
            </a:r>
            <a:r>
              <a:rPr sz="1800" spc="-110" dirty="0">
                <a:solidFill>
                  <a:srgbClr val="404040"/>
                </a:solidFill>
                <a:latin typeface="Times New Roman"/>
                <a:cs typeface="Times New Roman"/>
              </a:rPr>
              <a:t> </a:t>
            </a:r>
            <a:r>
              <a:rPr sz="1800" dirty="0">
                <a:solidFill>
                  <a:srgbClr val="404040"/>
                </a:solidFill>
                <a:latin typeface="Times New Roman"/>
                <a:cs typeface="Times New Roman"/>
              </a:rPr>
              <a:t>relation</a:t>
            </a:r>
            <a:r>
              <a:rPr sz="1800" spc="-10" dirty="0">
                <a:solidFill>
                  <a:srgbClr val="404040"/>
                </a:solidFill>
                <a:latin typeface="Times New Roman"/>
                <a:cs typeface="Times New Roman"/>
              </a:rPr>
              <a:t> </a:t>
            </a:r>
            <a:r>
              <a:rPr sz="1800" dirty="0">
                <a:solidFill>
                  <a:srgbClr val="404040"/>
                </a:solidFill>
                <a:latin typeface="Times New Roman"/>
                <a:cs typeface="Times New Roman"/>
              </a:rPr>
              <a:t>R</a:t>
            </a:r>
            <a:r>
              <a:rPr sz="1800" spc="-15" dirty="0">
                <a:solidFill>
                  <a:srgbClr val="404040"/>
                </a:solidFill>
                <a:latin typeface="Times New Roman"/>
                <a:cs typeface="Times New Roman"/>
              </a:rPr>
              <a:t> </a:t>
            </a:r>
            <a:r>
              <a:rPr sz="1800" spc="-10" dirty="0">
                <a:solidFill>
                  <a:srgbClr val="404040"/>
                </a:solidFill>
                <a:latin typeface="Times New Roman"/>
                <a:cs typeface="Times New Roman"/>
              </a:rPr>
              <a:t>from</a:t>
            </a:r>
            <a:r>
              <a:rPr sz="1800" spc="-105" dirty="0">
                <a:solidFill>
                  <a:srgbClr val="404040"/>
                </a:solidFill>
                <a:latin typeface="Times New Roman"/>
                <a:cs typeface="Times New Roman"/>
              </a:rPr>
              <a:t> </a:t>
            </a:r>
            <a:r>
              <a:rPr sz="1800" dirty="0">
                <a:solidFill>
                  <a:srgbClr val="404040"/>
                </a:solidFill>
                <a:latin typeface="Times New Roman"/>
                <a:cs typeface="Times New Roman"/>
              </a:rPr>
              <a:t>A</a:t>
            </a:r>
            <a:r>
              <a:rPr sz="1800" spc="-110" dirty="0">
                <a:solidFill>
                  <a:srgbClr val="404040"/>
                </a:solidFill>
                <a:latin typeface="Times New Roman"/>
                <a:cs typeface="Times New Roman"/>
              </a:rPr>
              <a:t> </a:t>
            </a:r>
            <a:r>
              <a:rPr sz="1800" dirty="0">
                <a:solidFill>
                  <a:srgbClr val="404040"/>
                </a:solidFill>
                <a:latin typeface="Times New Roman"/>
                <a:cs typeface="Times New Roman"/>
              </a:rPr>
              <a:t>to</a:t>
            </a:r>
            <a:r>
              <a:rPr sz="1800" spc="-15" dirty="0">
                <a:solidFill>
                  <a:srgbClr val="404040"/>
                </a:solidFill>
                <a:latin typeface="Times New Roman"/>
                <a:cs typeface="Times New Roman"/>
              </a:rPr>
              <a:t> </a:t>
            </a:r>
            <a:r>
              <a:rPr sz="1800" dirty="0">
                <a:solidFill>
                  <a:srgbClr val="404040"/>
                </a:solidFill>
                <a:latin typeface="Times New Roman"/>
                <a:cs typeface="Times New Roman"/>
              </a:rPr>
              <a:t>B</a:t>
            </a:r>
            <a:r>
              <a:rPr sz="1800" spc="-15" dirty="0">
                <a:solidFill>
                  <a:srgbClr val="404040"/>
                </a:solidFill>
                <a:latin typeface="Times New Roman"/>
                <a:cs typeface="Times New Roman"/>
              </a:rPr>
              <a:t> </a:t>
            </a:r>
            <a:r>
              <a:rPr sz="1800" dirty="0">
                <a:solidFill>
                  <a:srgbClr val="404040"/>
                </a:solidFill>
                <a:latin typeface="Times New Roman"/>
                <a:cs typeface="Times New Roman"/>
              </a:rPr>
              <a:t>is</a:t>
            </a:r>
            <a:r>
              <a:rPr sz="1800" spc="-10" dirty="0">
                <a:solidFill>
                  <a:srgbClr val="404040"/>
                </a:solidFill>
                <a:latin typeface="Times New Roman"/>
                <a:cs typeface="Times New Roman"/>
              </a:rPr>
              <a:t> </a:t>
            </a:r>
            <a:r>
              <a:rPr sz="1800" dirty="0">
                <a:solidFill>
                  <a:srgbClr val="404040"/>
                </a:solidFill>
                <a:latin typeface="Times New Roman"/>
                <a:cs typeface="Times New Roman"/>
              </a:rPr>
              <a:t>the</a:t>
            </a:r>
            <a:r>
              <a:rPr sz="1800" spc="-15" dirty="0">
                <a:solidFill>
                  <a:srgbClr val="404040"/>
                </a:solidFill>
                <a:latin typeface="Times New Roman"/>
                <a:cs typeface="Times New Roman"/>
              </a:rPr>
              <a:t> </a:t>
            </a:r>
            <a:r>
              <a:rPr sz="1800" dirty="0">
                <a:solidFill>
                  <a:srgbClr val="404040"/>
                </a:solidFill>
                <a:latin typeface="Times New Roman"/>
                <a:cs typeface="Times New Roman"/>
              </a:rPr>
              <a:t>set</a:t>
            </a:r>
            <a:r>
              <a:rPr sz="1800" spc="-15" dirty="0">
                <a:solidFill>
                  <a:srgbClr val="404040"/>
                </a:solidFill>
                <a:latin typeface="Times New Roman"/>
                <a:cs typeface="Times New Roman"/>
              </a:rPr>
              <a:t> </a:t>
            </a:r>
            <a:r>
              <a:rPr sz="1800" b="1" dirty="0">
                <a:solidFill>
                  <a:srgbClr val="404040"/>
                </a:solidFill>
                <a:latin typeface="Times New Roman"/>
                <a:cs typeface="Times New Roman"/>
              </a:rPr>
              <a:t>of</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all</a:t>
            </a:r>
            <a:r>
              <a:rPr sz="1800" b="1" spc="-10" dirty="0">
                <a:solidFill>
                  <a:srgbClr val="404040"/>
                </a:solidFill>
                <a:latin typeface="Times New Roman"/>
                <a:cs typeface="Times New Roman"/>
              </a:rPr>
              <a:t> second </a:t>
            </a:r>
            <a:r>
              <a:rPr sz="1800" b="1" dirty="0">
                <a:solidFill>
                  <a:srgbClr val="404040"/>
                </a:solidFill>
                <a:latin typeface="Times New Roman"/>
                <a:cs typeface="Times New Roman"/>
              </a:rPr>
              <a:t>elements</a:t>
            </a:r>
            <a:r>
              <a:rPr sz="1800" b="1" spc="-35" dirty="0">
                <a:solidFill>
                  <a:srgbClr val="404040"/>
                </a:solidFill>
                <a:latin typeface="Times New Roman"/>
                <a:cs typeface="Times New Roman"/>
              </a:rPr>
              <a:t> </a:t>
            </a:r>
            <a:r>
              <a:rPr sz="1800" b="1" dirty="0">
                <a:solidFill>
                  <a:srgbClr val="404040"/>
                </a:solidFill>
                <a:latin typeface="Times New Roman"/>
                <a:cs typeface="Times New Roman"/>
              </a:rPr>
              <a:t>of</a:t>
            </a:r>
            <a:r>
              <a:rPr sz="1800" b="1" spc="-35" dirty="0">
                <a:solidFill>
                  <a:srgbClr val="404040"/>
                </a:solidFill>
                <a:latin typeface="Times New Roman"/>
                <a:cs typeface="Times New Roman"/>
              </a:rPr>
              <a:t> </a:t>
            </a:r>
            <a:r>
              <a:rPr sz="1800" b="1" dirty="0">
                <a:solidFill>
                  <a:srgbClr val="404040"/>
                </a:solidFill>
                <a:latin typeface="Times New Roman"/>
                <a:cs typeface="Times New Roman"/>
              </a:rPr>
              <a:t>the</a:t>
            </a:r>
            <a:r>
              <a:rPr sz="1800" b="1" spc="-35" dirty="0">
                <a:solidFill>
                  <a:srgbClr val="404040"/>
                </a:solidFill>
                <a:latin typeface="Times New Roman"/>
                <a:cs typeface="Times New Roman"/>
              </a:rPr>
              <a:t> </a:t>
            </a:r>
            <a:r>
              <a:rPr sz="1800" b="1" dirty="0">
                <a:solidFill>
                  <a:srgbClr val="404040"/>
                </a:solidFill>
                <a:latin typeface="Times New Roman"/>
                <a:cs typeface="Times New Roman"/>
              </a:rPr>
              <a:t>ordered</a:t>
            </a:r>
            <a:r>
              <a:rPr sz="1800" b="1" spc="-35" dirty="0">
                <a:solidFill>
                  <a:srgbClr val="404040"/>
                </a:solidFill>
                <a:latin typeface="Times New Roman"/>
                <a:cs typeface="Times New Roman"/>
              </a:rPr>
              <a:t> </a:t>
            </a:r>
            <a:r>
              <a:rPr sz="1800" b="1" dirty="0">
                <a:solidFill>
                  <a:srgbClr val="404040"/>
                </a:solidFill>
                <a:latin typeface="Times New Roman"/>
                <a:cs typeface="Times New Roman"/>
              </a:rPr>
              <a:t>pairs</a:t>
            </a:r>
            <a:r>
              <a:rPr sz="1800" b="1" spc="-35" dirty="0">
                <a:solidFill>
                  <a:srgbClr val="404040"/>
                </a:solidFill>
                <a:latin typeface="Times New Roman"/>
                <a:cs typeface="Times New Roman"/>
              </a:rPr>
              <a:t> </a:t>
            </a:r>
            <a:r>
              <a:rPr sz="1800" dirty="0">
                <a:solidFill>
                  <a:srgbClr val="404040"/>
                </a:solidFill>
                <a:latin typeface="Times New Roman"/>
                <a:cs typeface="Times New Roman"/>
              </a:rPr>
              <a:t>which</a:t>
            </a:r>
            <a:r>
              <a:rPr sz="1800" spc="-35" dirty="0">
                <a:solidFill>
                  <a:srgbClr val="404040"/>
                </a:solidFill>
                <a:latin typeface="Times New Roman"/>
                <a:cs typeface="Times New Roman"/>
              </a:rPr>
              <a:t> </a:t>
            </a:r>
            <a:r>
              <a:rPr sz="1800" dirty="0">
                <a:solidFill>
                  <a:srgbClr val="404040"/>
                </a:solidFill>
                <a:latin typeface="Times New Roman"/>
                <a:cs typeface="Times New Roman"/>
              </a:rPr>
              <a:t>belong</a:t>
            </a:r>
            <a:r>
              <a:rPr sz="1800" spc="-35" dirty="0">
                <a:solidFill>
                  <a:srgbClr val="404040"/>
                </a:solidFill>
                <a:latin typeface="Times New Roman"/>
                <a:cs typeface="Times New Roman"/>
              </a:rPr>
              <a:t> </a:t>
            </a:r>
            <a:r>
              <a:rPr sz="1800" dirty="0">
                <a:solidFill>
                  <a:srgbClr val="404040"/>
                </a:solidFill>
                <a:latin typeface="Times New Roman"/>
                <a:cs typeface="Times New Roman"/>
              </a:rPr>
              <a:t>to</a:t>
            </a:r>
            <a:r>
              <a:rPr sz="1800" spc="-35" dirty="0">
                <a:solidFill>
                  <a:srgbClr val="404040"/>
                </a:solidFill>
                <a:latin typeface="Times New Roman"/>
                <a:cs typeface="Times New Roman"/>
              </a:rPr>
              <a:t> </a:t>
            </a:r>
            <a:r>
              <a:rPr sz="1800" dirty="0">
                <a:solidFill>
                  <a:srgbClr val="404040"/>
                </a:solidFill>
                <a:latin typeface="Times New Roman"/>
                <a:cs typeface="Times New Roman"/>
              </a:rPr>
              <a:t>R</a:t>
            </a:r>
            <a:r>
              <a:rPr sz="1800" spc="-35" dirty="0">
                <a:solidFill>
                  <a:srgbClr val="404040"/>
                </a:solidFill>
                <a:latin typeface="Times New Roman"/>
                <a:cs typeface="Times New Roman"/>
              </a:rPr>
              <a:t> </a:t>
            </a:r>
            <a:r>
              <a:rPr sz="1800" dirty="0">
                <a:solidFill>
                  <a:srgbClr val="404040"/>
                </a:solidFill>
                <a:latin typeface="Times New Roman"/>
                <a:cs typeface="Times New Roman"/>
              </a:rPr>
              <a:t>denoted</a:t>
            </a:r>
            <a:r>
              <a:rPr sz="1800" spc="-35" dirty="0">
                <a:solidFill>
                  <a:srgbClr val="404040"/>
                </a:solidFill>
                <a:latin typeface="Times New Roman"/>
                <a:cs typeface="Times New Roman"/>
              </a:rPr>
              <a:t> </a:t>
            </a:r>
            <a:r>
              <a:rPr sz="1800" spc="-10" dirty="0">
                <a:solidFill>
                  <a:srgbClr val="404040"/>
                </a:solidFill>
                <a:latin typeface="Times New Roman"/>
                <a:cs typeface="Times New Roman"/>
              </a:rPr>
              <a:t>Ran(R).</a:t>
            </a:r>
            <a:endParaRPr sz="1800" dirty="0">
              <a:latin typeface="Times New Roman"/>
              <a:cs typeface="Times New Roman"/>
            </a:endParaRPr>
          </a:p>
          <a:p>
            <a:pPr marL="12700">
              <a:lnSpc>
                <a:spcPct val="100000"/>
              </a:lnSpc>
              <a:spcBef>
                <a:spcPts val="1000"/>
              </a:spcBef>
            </a:pPr>
            <a:r>
              <a:rPr sz="1800" b="1" spc="-10" dirty="0">
                <a:solidFill>
                  <a:srgbClr val="001F5F"/>
                </a:solidFill>
                <a:latin typeface="Times New Roman"/>
                <a:cs typeface="Times New Roman"/>
              </a:rPr>
              <a:t>Symbolically:</a:t>
            </a:r>
            <a:endParaRPr sz="1800" dirty="0">
              <a:latin typeface="Times New Roman"/>
              <a:cs typeface="Times New Roman"/>
            </a:endParaRPr>
          </a:p>
          <a:p>
            <a:pPr marL="927100">
              <a:lnSpc>
                <a:spcPct val="100000"/>
              </a:lnSpc>
              <a:spcBef>
                <a:spcPts val="1005"/>
              </a:spcBef>
            </a:pPr>
            <a:r>
              <a:rPr sz="1800" b="1" dirty="0">
                <a:solidFill>
                  <a:srgbClr val="00AFEF"/>
                </a:solidFill>
                <a:latin typeface="Times New Roman"/>
                <a:cs typeface="Times New Roman"/>
              </a:rPr>
              <a:t>Ran(R)</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{b</a:t>
            </a:r>
            <a:r>
              <a:rPr sz="1800" b="1" spc="-35" dirty="0">
                <a:solidFill>
                  <a:srgbClr val="00AFEF"/>
                </a:solidFill>
                <a:latin typeface="Times New Roman"/>
                <a:cs typeface="Times New Roman"/>
              </a:rPr>
              <a:t> </a:t>
            </a:r>
            <a:r>
              <a:rPr sz="1800" dirty="0">
                <a:solidFill>
                  <a:srgbClr val="00AFEF"/>
                </a:solidFill>
                <a:latin typeface="Symbol"/>
                <a:cs typeface="Symbol"/>
              </a:rPr>
              <a:t></a:t>
            </a:r>
            <a:r>
              <a:rPr sz="1800" b="1" dirty="0">
                <a:solidFill>
                  <a:srgbClr val="00AFEF"/>
                </a:solidFill>
                <a:latin typeface="Times New Roman"/>
                <a:cs typeface="Times New Roman"/>
              </a:rPr>
              <a:t>B|(a,b)</a:t>
            </a:r>
            <a:r>
              <a:rPr sz="1800" b="1" spc="-15" dirty="0">
                <a:solidFill>
                  <a:srgbClr val="00AFEF"/>
                </a:solidFill>
                <a:latin typeface="Times New Roman"/>
                <a:cs typeface="Times New Roman"/>
              </a:rPr>
              <a:t> </a:t>
            </a:r>
            <a:r>
              <a:rPr sz="1800" dirty="0">
                <a:solidFill>
                  <a:srgbClr val="00AFEF"/>
                </a:solidFill>
                <a:latin typeface="Symbol"/>
                <a:cs typeface="Symbol"/>
              </a:rPr>
              <a:t></a:t>
            </a:r>
            <a:r>
              <a:rPr sz="1800" spc="-15" dirty="0">
                <a:solidFill>
                  <a:srgbClr val="00AFEF"/>
                </a:solidFill>
                <a:latin typeface="Times New Roman"/>
                <a:cs typeface="Times New Roman"/>
              </a:rPr>
              <a:t> </a:t>
            </a:r>
            <a:r>
              <a:rPr sz="1800" b="1" spc="-25" dirty="0">
                <a:solidFill>
                  <a:srgbClr val="00AFEF"/>
                </a:solidFill>
                <a:latin typeface="Times New Roman"/>
                <a:cs typeface="Times New Roman"/>
              </a:rPr>
              <a:t>R}</a:t>
            </a:r>
            <a:endParaRPr sz="1800" dirty="0">
              <a:latin typeface="Times New Roman"/>
              <a:cs typeface="Times New Roman"/>
            </a:endParaRPr>
          </a:p>
        </p:txBody>
      </p:sp>
      <p:sp>
        <p:nvSpPr>
          <p:cNvPr id="10" name="TextBox 9">
            <a:extLst>
              <a:ext uri="{FF2B5EF4-FFF2-40B4-BE49-F238E27FC236}">
                <a16:creationId xmlns:a16="http://schemas.microsoft.com/office/drawing/2014/main" id="{AF97E720-77C3-A261-DC0C-7B4FC0DCA828}"/>
              </a:ext>
            </a:extLst>
          </p:cNvPr>
          <p:cNvSpPr txBox="1"/>
          <p:nvPr/>
        </p:nvSpPr>
        <p:spPr>
          <a:xfrm>
            <a:off x="688340" y="5759410"/>
            <a:ext cx="6550660" cy="923330"/>
          </a:xfrm>
          <a:prstGeom prst="rect">
            <a:avLst/>
          </a:prstGeom>
          <a:noFill/>
        </p:spPr>
        <p:txBody>
          <a:bodyPr wrap="square">
            <a:spAutoFit/>
          </a:bodyPr>
          <a:lstStyle/>
          <a:p>
            <a:r>
              <a:rPr lang="en-US" b="1" dirty="0">
                <a:solidFill>
                  <a:srgbClr val="CC0066"/>
                </a:solidFill>
              </a:rPr>
              <a:t>If: R = {(1,2),(1,3),(2,3)}</a:t>
            </a:r>
          </a:p>
          <a:p>
            <a:r>
              <a:rPr lang="en-US" b="1" dirty="0">
                <a:solidFill>
                  <a:srgbClr val="0070C0"/>
                </a:solidFill>
              </a:rPr>
              <a:t>Domain: </a:t>
            </a:r>
            <a:r>
              <a:rPr lang="en-US" dirty="0">
                <a:solidFill>
                  <a:srgbClr val="0070C0"/>
                </a:solidFill>
              </a:rPr>
              <a:t>All first elements, </a:t>
            </a:r>
            <a:r>
              <a:rPr lang="en-US" b="1" dirty="0">
                <a:solidFill>
                  <a:srgbClr val="00B050"/>
                </a:solidFill>
              </a:rPr>
              <a:t>Dom(R) = {1,2}</a:t>
            </a:r>
          </a:p>
          <a:p>
            <a:r>
              <a:rPr lang="en-US" b="1" dirty="0">
                <a:solidFill>
                  <a:srgbClr val="0070C0"/>
                </a:solidFill>
              </a:rPr>
              <a:t>Range: </a:t>
            </a:r>
            <a:r>
              <a:rPr lang="en-US" dirty="0">
                <a:solidFill>
                  <a:srgbClr val="0070C0"/>
                </a:solidFill>
              </a:rPr>
              <a:t>All second elements, </a:t>
            </a:r>
            <a:r>
              <a:rPr lang="en-US" b="1" dirty="0">
                <a:solidFill>
                  <a:srgbClr val="00B050"/>
                </a:solidFill>
              </a:rPr>
              <a:t>Ran(R) = {2,3}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860" y="175260"/>
            <a:ext cx="2403475" cy="574675"/>
          </a:xfrm>
          <a:prstGeom prst="rect">
            <a:avLst/>
          </a:prstGeom>
        </p:spPr>
        <p:txBody>
          <a:bodyPr vert="horz" wrap="square" lIns="0" tIns="12700" rIns="0" bIns="0" rtlCol="0">
            <a:spAutoFit/>
          </a:bodyPr>
          <a:lstStyle/>
          <a:p>
            <a:pPr marL="12700">
              <a:lnSpc>
                <a:spcPct val="100000"/>
              </a:lnSpc>
              <a:spcBef>
                <a:spcPts val="100"/>
              </a:spcBef>
            </a:pPr>
            <a:r>
              <a:rPr dirty="0"/>
              <a:t>EXAMPLE</a:t>
            </a:r>
            <a:endParaRPr spc="-50" dirty="0"/>
          </a:p>
        </p:txBody>
      </p:sp>
      <p:sp>
        <p:nvSpPr>
          <p:cNvPr id="3" name="object 3"/>
          <p:cNvSpPr txBox="1"/>
          <p:nvPr/>
        </p:nvSpPr>
        <p:spPr>
          <a:xfrm>
            <a:off x="154939" y="943102"/>
            <a:ext cx="7465061" cy="4711546"/>
          </a:xfrm>
          <a:prstGeom prst="rect">
            <a:avLst/>
          </a:prstGeom>
        </p:spPr>
        <p:txBody>
          <a:bodyPr vert="horz" wrap="square" lIns="0" tIns="12700" rIns="0" bIns="0" rtlCol="0">
            <a:spAutoFit/>
          </a:bodyPr>
          <a:lstStyle/>
          <a:p>
            <a:pPr marL="12700" marR="5080">
              <a:lnSpc>
                <a:spcPct val="100000"/>
              </a:lnSpc>
              <a:spcBef>
                <a:spcPts val="100"/>
              </a:spcBef>
              <a:tabLst>
                <a:tab pos="501650" algn="l"/>
              </a:tabLst>
            </a:pPr>
            <a:r>
              <a:rPr sz="1800" b="1" spc="-25" dirty="0">
                <a:latin typeface="Times New Roman"/>
                <a:cs typeface="Times New Roman"/>
              </a:rPr>
              <a:t>Let</a:t>
            </a:r>
            <a:r>
              <a:rPr sz="1800" b="1" dirty="0">
                <a:latin typeface="Times New Roman"/>
                <a:cs typeface="Times New Roman"/>
              </a:rPr>
              <a:t>	A</a:t>
            </a:r>
            <a:r>
              <a:rPr sz="1800" b="1" spc="-114" dirty="0">
                <a:latin typeface="Times New Roman"/>
                <a:cs typeface="Times New Roman"/>
              </a:rPr>
              <a:t> </a:t>
            </a:r>
            <a:r>
              <a:rPr sz="1800" b="1" dirty="0">
                <a:latin typeface="Times New Roman"/>
                <a:cs typeface="Times New Roman"/>
              </a:rPr>
              <a:t>=</a:t>
            </a:r>
            <a:r>
              <a:rPr sz="1800" b="1" spc="-20" dirty="0">
                <a:latin typeface="Times New Roman"/>
                <a:cs typeface="Times New Roman"/>
              </a:rPr>
              <a:t> </a:t>
            </a:r>
            <a:r>
              <a:rPr sz="1800" b="1" dirty="0">
                <a:latin typeface="Times New Roman"/>
                <a:cs typeface="Times New Roman"/>
              </a:rPr>
              <a:t>{1,</a:t>
            </a:r>
            <a:r>
              <a:rPr sz="1800" b="1" spc="-10" dirty="0">
                <a:latin typeface="Times New Roman"/>
                <a:cs typeface="Times New Roman"/>
              </a:rPr>
              <a:t> </a:t>
            </a:r>
            <a:r>
              <a:rPr sz="1800" b="1" dirty="0">
                <a:latin typeface="Times New Roman"/>
                <a:cs typeface="Times New Roman"/>
              </a:rPr>
              <a:t>2},</a:t>
            </a:r>
            <a:r>
              <a:rPr sz="1800" b="1" spc="-15" dirty="0">
                <a:latin typeface="Times New Roman"/>
                <a:cs typeface="Times New Roman"/>
              </a:rPr>
              <a:t> </a:t>
            </a:r>
            <a:r>
              <a:rPr sz="1800" b="1" dirty="0">
                <a:latin typeface="Times New Roman"/>
                <a:cs typeface="Times New Roman"/>
              </a:rPr>
              <a:t>B</a:t>
            </a:r>
            <a:r>
              <a:rPr sz="1800" b="1" spc="-10" dirty="0">
                <a:latin typeface="Times New Roman"/>
                <a:cs typeface="Times New Roman"/>
              </a:rPr>
              <a:t> </a:t>
            </a:r>
            <a:r>
              <a:rPr sz="1800" b="1" dirty="0">
                <a:latin typeface="Times New Roman"/>
                <a:cs typeface="Times New Roman"/>
              </a:rPr>
              <a:t>=</a:t>
            </a:r>
            <a:r>
              <a:rPr sz="1800" b="1" spc="-15" dirty="0">
                <a:latin typeface="Times New Roman"/>
                <a:cs typeface="Times New Roman"/>
              </a:rPr>
              <a:t> </a:t>
            </a:r>
            <a:r>
              <a:rPr sz="1800" b="1" dirty="0">
                <a:latin typeface="Times New Roman"/>
                <a:cs typeface="Times New Roman"/>
              </a:rPr>
              <a:t>{1,</a:t>
            </a:r>
            <a:r>
              <a:rPr sz="1800" b="1" spc="-5" dirty="0">
                <a:latin typeface="Times New Roman"/>
                <a:cs typeface="Times New Roman"/>
              </a:rPr>
              <a:t> </a:t>
            </a:r>
            <a:r>
              <a:rPr sz="1800" b="1" dirty="0">
                <a:latin typeface="Times New Roman"/>
                <a:cs typeface="Times New Roman"/>
              </a:rPr>
              <a:t>2,</a:t>
            </a:r>
            <a:r>
              <a:rPr sz="1800" b="1" spc="-15" dirty="0">
                <a:latin typeface="Times New Roman"/>
                <a:cs typeface="Times New Roman"/>
              </a:rPr>
              <a:t> </a:t>
            </a:r>
            <a:r>
              <a:rPr sz="1800" b="1" dirty="0">
                <a:latin typeface="Times New Roman"/>
                <a:cs typeface="Times New Roman"/>
              </a:rPr>
              <a:t>3},</a:t>
            </a:r>
            <a:r>
              <a:rPr sz="1800" b="1" spc="-5" dirty="0">
                <a:latin typeface="Times New Roman"/>
                <a:cs typeface="Times New Roman"/>
              </a:rPr>
              <a:t> </a:t>
            </a:r>
            <a:r>
              <a:rPr sz="1800" b="1" dirty="0">
                <a:latin typeface="Times New Roman"/>
                <a:cs typeface="Times New Roman"/>
              </a:rPr>
              <a:t>Define</a:t>
            </a:r>
            <a:r>
              <a:rPr sz="1800" b="1" spc="-15" dirty="0">
                <a:latin typeface="Times New Roman"/>
                <a:cs typeface="Times New Roman"/>
              </a:rPr>
              <a:t> </a:t>
            </a:r>
            <a:r>
              <a:rPr sz="1800" b="1" dirty="0">
                <a:latin typeface="Times New Roman"/>
                <a:cs typeface="Times New Roman"/>
              </a:rPr>
              <a:t>a</a:t>
            </a:r>
            <a:r>
              <a:rPr sz="1800" b="1" spc="-10" dirty="0">
                <a:latin typeface="Times New Roman"/>
                <a:cs typeface="Times New Roman"/>
              </a:rPr>
              <a:t> </a:t>
            </a:r>
            <a:r>
              <a:rPr sz="1800" b="1" dirty="0">
                <a:latin typeface="Times New Roman"/>
                <a:cs typeface="Times New Roman"/>
              </a:rPr>
              <a:t>binary</a:t>
            </a:r>
            <a:r>
              <a:rPr sz="1800" b="1" spc="-10" dirty="0">
                <a:latin typeface="Times New Roman"/>
                <a:cs typeface="Times New Roman"/>
              </a:rPr>
              <a:t> </a:t>
            </a:r>
            <a:r>
              <a:rPr sz="1800" b="1" dirty="0">
                <a:latin typeface="Times New Roman"/>
                <a:cs typeface="Times New Roman"/>
              </a:rPr>
              <a:t>relation</a:t>
            </a:r>
            <a:r>
              <a:rPr sz="1800" b="1" spc="-15" dirty="0">
                <a:latin typeface="Times New Roman"/>
                <a:cs typeface="Times New Roman"/>
              </a:rPr>
              <a:t> </a:t>
            </a:r>
            <a:r>
              <a:rPr sz="1800" b="1" dirty="0">
                <a:latin typeface="Times New Roman"/>
                <a:cs typeface="Times New Roman"/>
              </a:rPr>
              <a:t>R</a:t>
            </a:r>
            <a:r>
              <a:rPr sz="1800" b="1" spc="-10" dirty="0">
                <a:latin typeface="Times New Roman"/>
                <a:cs typeface="Times New Roman"/>
              </a:rPr>
              <a:t> </a:t>
            </a:r>
            <a:r>
              <a:rPr sz="1800" b="1" spc="-25" dirty="0">
                <a:latin typeface="Times New Roman"/>
                <a:cs typeface="Times New Roman"/>
              </a:rPr>
              <a:t>from</a:t>
            </a:r>
            <a:r>
              <a:rPr sz="1800" b="1" spc="-105" dirty="0">
                <a:latin typeface="Times New Roman"/>
                <a:cs typeface="Times New Roman"/>
              </a:rPr>
              <a:t> </a:t>
            </a:r>
            <a:r>
              <a:rPr sz="1800" b="1" dirty="0">
                <a:latin typeface="Times New Roman"/>
                <a:cs typeface="Times New Roman"/>
              </a:rPr>
              <a:t>A</a:t>
            </a:r>
            <a:r>
              <a:rPr sz="1800" b="1" spc="-110" dirty="0">
                <a:latin typeface="Times New Roman"/>
                <a:cs typeface="Times New Roman"/>
              </a:rPr>
              <a:t> </a:t>
            </a:r>
            <a:r>
              <a:rPr sz="1800" b="1" dirty="0">
                <a:latin typeface="Times New Roman"/>
                <a:cs typeface="Times New Roman"/>
              </a:rPr>
              <a:t>to</a:t>
            </a:r>
            <a:r>
              <a:rPr sz="1800" b="1" spc="-15" dirty="0">
                <a:latin typeface="Times New Roman"/>
                <a:cs typeface="Times New Roman"/>
              </a:rPr>
              <a:t> </a:t>
            </a:r>
            <a:r>
              <a:rPr sz="1800" b="1" spc="-50" dirty="0">
                <a:latin typeface="Times New Roman"/>
                <a:cs typeface="Times New Roman"/>
              </a:rPr>
              <a:t>B </a:t>
            </a:r>
            <a:r>
              <a:rPr sz="1800" b="1" dirty="0">
                <a:latin typeface="Times New Roman"/>
                <a:cs typeface="Times New Roman"/>
              </a:rPr>
              <a:t>as</a:t>
            </a:r>
            <a:r>
              <a:rPr sz="1800" b="1" spc="-5" dirty="0">
                <a:latin typeface="Times New Roman"/>
                <a:cs typeface="Times New Roman"/>
              </a:rPr>
              <a:t> </a:t>
            </a:r>
            <a:r>
              <a:rPr sz="1800" b="1" dirty="0">
                <a:latin typeface="Times New Roman"/>
                <a:cs typeface="Times New Roman"/>
              </a:rPr>
              <a:t>follows:</a:t>
            </a:r>
            <a:r>
              <a:rPr sz="1800" b="1" spc="25" dirty="0">
                <a:latin typeface="Times New Roman"/>
                <a:cs typeface="Times New Roman"/>
              </a:rPr>
              <a:t>  </a:t>
            </a:r>
            <a:r>
              <a:rPr sz="1800" b="1" dirty="0">
                <a:latin typeface="Times New Roman"/>
                <a:cs typeface="Times New Roman"/>
              </a:rPr>
              <a:t>R = {(a,</a:t>
            </a:r>
            <a:r>
              <a:rPr sz="1800" b="1" spc="-5" dirty="0">
                <a:latin typeface="Times New Roman"/>
                <a:cs typeface="Times New Roman"/>
              </a:rPr>
              <a:t> </a:t>
            </a:r>
            <a:r>
              <a:rPr sz="1800" b="1" dirty="0">
                <a:latin typeface="Times New Roman"/>
                <a:cs typeface="Times New Roman"/>
              </a:rPr>
              <a:t>b)</a:t>
            </a:r>
            <a:r>
              <a:rPr sz="1800" b="1" spc="5" dirty="0">
                <a:latin typeface="Times New Roman"/>
                <a:cs typeface="Times New Roman"/>
              </a:rPr>
              <a:t> </a:t>
            </a:r>
            <a:r>
              <a:rPr sz="1800" spc="-20" dirty="0">
                <a:latin typeface="Symbol"/>
                <a:cs typeface="Symbol"/>
              </a:rPr>
              <a:t></a:t>
            </a:r>
            <a:r>
              <a:rPr sz="1800" b="1" spc="-20" dirty="0">
                <a:latin typeface="Times New Roman"/>
                <a:cs typeface="Times New Roman"/>
              </a:rPr>
              <a:t>A</a:t>
            </a:r>
            <a:r>
              <a:rPr sz="1800" b="1" spc="-105" dirty="0">
                <a:latin typeface="Times New Roman"/>
                <a:cs typeface="Times New Roman"/>
              </a:rPr>
              <a:t> </a:t>
            </a:r>
            <a:r>
              <a:rPr sz="1800" dirty="0">
                <a:latin typeface="Symbol"/>
                <a:cs typeface="Symbol"/>
              </a:rPr>
              <a:t></a:t>
            </a:r>
            <a:r>
              <a:rPr sz="1800" spc="-5" dirty="0">
                <a:latin typeface="Times New Roman"/>
                <a:cs typeface="Times New Roman"/>
              </a:rPr>
              <a:t> </a:t>
            </a:r>
            <a:r>
              <a:rPr sz="1800" b="1" dirty="0">
                <a:latin typeface="Times New Roman"/>
                <a:cs typeface="Times New Roman"/>
              </a:rPr>
              <a:t>B | a</a:t>
            </a:r>
            <a:r>
              <a:rPr sz="1800" b="1" spc="-5" dirty="0">
                <a:latin typeface="Times New Roman"/>
                <a:cs typeface="Times New Roman"/>
              </a:rPr>
              <a:t> </a:t>
            </a:r>
            <a:r>
              <a:rPr sz="1800" b="1" dirty="0">
                <a:latin typeface="Times New Roman"/>
                <a:cs typeface="Times New Roman"/>
              </a:rPr>
              <a:t>&lt; </a:t>
            </a:r>
            <a:r>
              <a:rPr sz="1800" b="1" spc="-25" dirty="0">
                <a:latin typeface="Times New Roman"/>
                <a:cs typeface="Times New Roman"/>
              </a:rPr>
              <a:t>b}</a:t>
            </a:r>
            <a:endParaRPr sz="1800" dirty="0">
              <a:latin typeface="Times New Roman"/>
              <a:cs typeface="Times New Roman"/>
            </a:endParaRPr>
          </a:p>
          <a:p>
            <a:pPr marL="12700">
              <a:lnSpc>
                <a:spcPct val="100000"/>
              </a:lnSpc>
            </a:pPr>
            <a:r>
              <a:rPr sz="1800" b="1" spc="-20" dirty="0">
                <a:latin typeface="Times New Roman"/>
                <a:cs typeface="Times New Roman"/>
              </a:rPr>
              <a:t>Then</a:t>
            </a:r>
            <a:endParaRPr sz="1800" dirty="0">
              <a:latin typeface="Times New Roman"/>
              <a:cs typeface="Times New Roman"/>
            </a:endParaRPr>
          </a:p>
          <a:p>
            <a:pPr marL="641350" indent="-174625">
              <a:lnSpc>
                <a:spcPct val="100000"/>
              </a:lnSpc>
              <a:buSzPct val="94444"/>
              <a:buAutoNum type="alphaLcPeriod"/>
              <a:tabLst>
                <a:tab pos="641350" algn="l"/>
              </a:tabLst>
            </a:pPr>
            <a:r>
              <a:rPr sz="1800" b="1" dirty="0">
                <a:latin typeface="Times New Roman"/>
                <a:cs typeface="Times New Roman"/>
              </a:rPr>
              <a:t>Find</a:t>
            </a:r>
            <a:r>
              <a:rPr sz="1800" b="1" spc="-25" dirty="0">
                <a:latin typeface="Times New Roman"/>
                <a:cs typeface="Times New Roman"/>
              </a:rPr>
              <a:t> </a:t>
            </a:r>
            <a:r>
              <a:rPr sz="1800" b="1" dirty="0">
                <a:latin typeface="Times New Roman"/>
                <a:cs typeface="Times New Roman"/>
              </a:rPr>
              <a:t>the</a:t>
            </a:r>
            <a:r>
              <a:rPr sz="1800" b="1" spc="-20" dirty="0">
                <a:latin typeface="Times New Roman"/>
                <a:cs typeface="Times New Roman"/>
              </a:rPr>
              <a:t> </a:t>
            </a:r>
            <a:r>
              <a:rPr sz="1800" b="1" dirty="0">
                <a:latin typeface="Times New Roman"/>
                <a:cs typeface="Times New Roman"/>
              </a:rPr>
              <a:t>ordered</a:t>
            </a:r>
            <a:r>
              <a:rPr sz="1800" b="1" spc="-20" dirty="0">
                <a:latin typeface="Times New Roman"/>
                <a:cs typeface="Times New Roman"/>
              </a:rPr>
              <a:t> </a:t>
            </a:r>
            <a:r>
              <a:rPr sz="1800" b="1" dirty="0">
                <a:latin typeface="Times New Roman"/>
                <a:cs typeface="Times New Roman"/>
              </a:rPr>
              <a:t>pairs</a:t>
            </a:r>
            <a:r>
              <a:rPr sz="1800" b="1" spc="-20" dirty="0">
                <a:latin typeface="Times New Roman"/>
                <a:cs typeface="Times New Roman"/>
              </a:rPr>
              <a:t> </a:t>
            </a:r>
            <a:r>
              <a:rPr sz="1800" b="1" dirty="0">
                <a:latin typeface="Times New Roman"/>
                <a:cs typeface="Times New Roman"/>
              </a:rPr>
              <a:t>in</a:t>
            </a:r>
            <a:r>
              <a:rPr sz="1800" b="1" spc="-20" dirty="0">
                <a:latin typeface="Times New Roman"/>
                <a:cs typeface="Times New Roman"/>
              </a:rPr>
              <a:t> </a:t>
            </a:r>
            <a:r>
              <a:rPr sz="1800" b="1" spc="-25" dirty="0">
                <a:latin typeface="Times New Roman"/>
                <a:cs typeface="Times New Roman"/>
              </a:rPr>
              <a:t>R.</a:t>
            </a:r>
            <a:endParaRPr sz="1800" dirty="0">
              <a:latin typeface="Times New Roman"/>
              <a:cs typeface="Times New Roman"/>
            </a:endParaRPr>
          </a:p>
          <a:p>
            <a:pPr marL="653415" indent="-187325">
              <a:lnSpc>
                <a:spcPct val="100000"/>
              </a:lnSpc>
              <a:buSzPct val="94444"/>
              <a:buAutoNum type="alphaLcPeriod"/>
              <a:tabLst>
                <a:tab pos="653415" algn="l"/>
              </a:tabLst>
            </a:pPr>
            <a:r>
              <a:rPr sz="1800" b="1" dirty="0">
                <a:latin typeface="Times New Roman"/>
                <a:cs typeface="Times New Roman"/>
              </a:rPr>
              <a:t>Find</a:t>
            </a:r>
            <a:r>
              <a:rPr sz="1800" b="1" spc="-10" dirty="0">
                <a:latin typeface="Times New Roman"/>
                <a:cs typeface="Times New Roman"/>
              </a:rPr>
              <a:t> </a:t>
            </a:r>
            <a:r>
              <a:rPr sz="1800" b="1" dirty="0">
                <a:latin typeface="Times New Roman"/>
                <a:cs typeface="Times New Roman"/>
              </a:rPr>
              <a:t>the</a:t>
            </a:r>
            <a:r>
              <a:rPr sz="1800" b="1" spc="-5" dirty="0">
                <a:latin typeface="Times New Roman"/>
                <a:cs typeface="Times New Roman"/>
              </a:rPr>
              <a:t> </a:t>
            </a:r>
            <a:r>
              <a:rPr sz="1800" b="1" dirty="0">
                <a:latin typeface="Times New Roman"/>
                <a:cs typeface="Times New Roman"/>
              </a:rPr>
              <a:t>Domain</a:t>
            </a:r>
            <a:r>
              <a:rPr sz="1800" b="1" spc="-5" dirty="0">
                <a:latin typeface="Times New Roman"/>
                <a:cs typeface="Times New Roman"/>
              </a:rPr>
              <a:t> </a:t>
            </a:r>
            <a:r>
              <a:rPr sz="1800" b="1" dirty="0">
                <a:latin typeface="Times New Roman"/>
                <a:cs typeface="Times New Roman"/>
              </a:rPr>
              <a:t>and</a:t>
            </a:r>
            <a:r>
              <a:rPr sz="1800" b="1" spc="-10" dirty="0">
                <a:latin typeface="Times New Roman"/>
                <a:cs typeface="Times New Roman"/>
              </a:rPr>
              <a:t> </a:t>
            </a:r>
            <a:r>
              <a:rPr sz="1800" b="1" dirty="0">
                <a:latin typeface="Times New Roman"/>
                <a:cs typeface="Times New Roman"/>
              </a:rPr>
              <a:t>Range</a:t>
            </a:r>
            <a:r>
              <a:rPr sz="1800" b="1" spc="-5" dirty="0">
                <a:latin typeface="Times New Roman"/>
                <a:cs typeface="Times New Roman"/>
              </a:rPr>
              <a:t> </a:t>
            </a:r>
            <a:r>
              <a:rPr sz="1800" b="1" dirty="0">
                <a:latin typeface="Times New Roman"/>
                <a:cs typeface="Times New Roman"/>
              </a:rPr>
              <a:t>of</a:t>
            </a:r>
            <a:r>
              <a:rPr sz="1800" b="1" spc="-5" dirty="0">
                <a:latin typeface="Times New Roman"/>
                <a:cs typeface="Times New Roman"/>
              </a:rPr>
              <a:t> </a:t>
            </a:r>
            <a:r>
              <a:rPr sz="1800" b="1" spc="-25" dirty="0">
                <a:latin typeface="Times New Roman"/>
                <a:cs typeface="Times New Roman"/>
              </a:rPr>
              <a:t>R.</a:t>
            </a:r>
            <a:endParaRPr sz="1800" dirty="0">
              <a:latin typeface="Times New Roman"/>
              <a:cs typeface="Times New Roman"/>
            </a:endParaRPr>
          </a:p>
          <a:p>
            <a:pPr marL="627380" indent="-161925">
              <a:lnSpc>
                <a:spcPct val="100000"/>
              </a:lnSpc>
              <a:buSzPct val="94444"/>
              <a:buAutoNum type="alphaLcPeriod"/>
              <a:tabLst>
                <a:tab pos="627380" algn="l"/>
              </a:tabLst>
            </a:pPr>
            <a:r>
              <a:rPr sz="1800" b="1" dirty="0">
                <a:latin typeface="Times New Roman"/>
                <a:cs typeface="Times New Roman"/>
              </a:rPr>
              <a:t>Is 1R3, </a:t>
            </a:r>
            <a:r>
              <a:rPr sz="1800" b="1" spc="-20" dirty="0">
                <a:latin typeface="Times New Roman"/>
                <a:cs typeface="Times New Roman"/>
              </a:rPr>
              <a:t>2R2?</a:t>
            </a:r>
            <a:endParaRPr sz="1800" dirty="0">
              <a:latin typeface="Times New Roman"/>
              <a:cs typeface="Times New Roman"/>
            </a:endParaRPr>
          </a:p>
          <a:p>
            <a:pPr marL="12700">
              <a:lnSpc>
                <a:spcPct val="100000"/>
              </a:lnSpc>
            </a:pPr>
            <a:r>
              <a:rPr sz="1800" b="1" u="sng" spc="-10" dirty="0">
                <a:solidFill>
                  <a:srgbClr val="6F2F9F"/>
                </a:solidFill>
                <a:uFill>
                  <a:solidFill>
                    <a:srgbClr val="6F2F9F"/>
                  </a:solidFill>
                </a:uFill>
                <a:latin typeface="Times New Roman"/>
                <a:cs typeface="Times New Roman"/>
              </a:rPr>
              <a:t>SOLUTION:</a:t>
            </a:r>
            <a:endParaRPr sz="1800" dirty="0">
              <a:latin typeface="Times New Roman"/>
              <a:cs typeface="Times New Roman"/>
            </a:endParaRPr>
          </a:p>
          <a:p>
            <a:pPr>
              <a:lnSpc>
                <a:spcPct val="100000"/>
              </a:lnSpc>
              <a:spcBef>
                <a:spcPts val="90"/>
              </a:spcBef>
            </a:pPr>
            <a:endParaRPr sz="1800" dirty="0">
              <a:latin typeface="Times New Roman"/>
              <a:cs typeface="Times New Roman"/>
            </a:endParaRPr>
          </a:p>
          <a:p>
            <a:pPr marL="12700">
              <a:lnSpc>
                <a:spcPct val="100000"/>
              </a:lnSpc>
            </a:pPr>
            <a:r>
              <a:rPr sz="1800" dirty="0">
                <a:latin typeface="Times New Roman"/>
                <a:cs typeface="Times New Roman"/>
              </a:rPr>
              <a:t>Given</a:t>
            </a:r>
            <a:r>
              <a:rPr sz="1800" spc="340" dirty="0">
                <a:latin typeface="Times New Roman"/>
                <a:cs typeface="Times New Roman"/>
              </a:rPr>
              <a:t> </a:t>
            </a:r>
            <a:r>
              <a:rPr sz="1800" dirty="0">
                <a:latin typeface="Times New Roman"/>
                <a:cs typeface="Times New Roman"/>
              </a:rPr>
              <a:t>A</a:t>
            </a:r>
            <a:r>
              <a:rPr sz="1800" spc="-100"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{1,</a:t>
            </a:r>
            <a:r>
              <a:rPr sz="1800" spc="-15" dirty="0">
                <a:latin typeface="Times New Roman"/>
                <a:cs typeface="Times New Roman"/>
              </a:rPr>
              <a:t> </a:t>
            </a:r>
            <a:r>
              <a:rPr sz="1800" dirty="0">
                <a:latin typeface="Times New Roman"/>
                <a:cs typeface="Times New Roman"/>
              </a:rPr>
              <a:t>2},</a:t>
            </a:r>
            <a:r>
              <a:rPr sz="1800" spc="445" dirty="0">
                <a:latin typeface="Times New Roman"/>
                <a:cs typeface="Times New Roman"/>
              </a:rPr>
              <a:t> </a:t>
            </a:r>
            <a:r>
              <a:rPr sz="1800" dirty="0">
                <a:latin typeface="Times New Roman"/>
                <a:cs typeface="Times New Roman"/>
              </a:rPr>
              <a:t>B</a:t>
            </a:r>
            <a:r>
              <a:rPr sz="1800" spc="-5" dirty="0">
                <a:latin typeface="Times New Roman"/>
                <a:cs typeface="Times New Roman"/>
              </a:rPr>
              <a:t> </a:t>
            </a:r>
            <a:r>
              <a:rPr sz="1800" dirty="0">
                <a:latin typeface="Times New Roman"/>
                <a:cs typeface="Times New Roman"/>
              </a:rPr>
              <a:t>= {1,</a:t>
            </a:r>
            <a:r>
              <a:rPr sz="1800" spc="-5" dirty="0">
                <a:latin typeface="Times New Roman"/>
                <a:cs typeface="Times New Roman"/>
              </a:rPr>
              <a:t> </a:t>
            </a:r>
            <a:r>
              <a:rPr sz="1800" dirty="0">
                <a:latin typeface="Times New Roman"/>
                <a:cs typeface="Times New Roman"/>
              </a:rPr>
              <a:t>2,</a:t>
            </a:r>
            <a:r>
              <a:rPr sz="1800" spc="-5" dirty="0">
                <a:latin typeface="Times New Roman"/>
                <a:cs typeface="Times New Roman"/>
              </a:rPr>
              <a:t> </a:t>
            </a:r>
            <a:r>
              <a:rPr sz="1800" dirty="0">
                <a:latin typeface="Times New Roman"/>
                <a:cs typeface="Times New Roman"/>
              </a:rPr>
              <a:t>3},</a:t>
            </a:r>
            <a:r>
              <a:rPr sz="1800" spc="434" dirty="0">
                <a:latin typeface="Times New Roman"/>
                <a:cs typeface="Times New Roman"/>
              </a:rPr>
              <a:t> </a:t>
            </a:r>
            <a:r>
              <a:rPr sz="1800" spc="-20" dirty="0">
                <a:latin typeface="Times New Roman"/>
                <a:cs typeface="Times New Roman"/>
              </a:rPr>
              <a:t>then</a:t>
            </a:r>
            <a:endParaRPr sz="1800" dirty="0">
              <a:latin typeface="Times New Roman"/>
              <a:cs typeface="Times New Roman"/>
            </a:endParaRPr>
          </a:p>
          <a:p>
            <a:pPr marL="1841500">
              <a:lnSpc>
                <a:spcPct val="100000"/>
              </a:lnSpc>
              <a:spcBef>
                <a:spcPts val="5"/>
              </a:spcBef>
            </a:pPr>
            <a:r>
              <a:rPr sz="1800" spc="-20" dirty="0">
                <a:latin typeface="Times New Roman"/>
                <a:cs typeface="Times New Roman"/>
              </a:rPr>
              <a:t>A</a:t>
            </a:r>
            <a:r>
              <a:rPr sz="1800" spc="-105" dirty="0">
                <a:latin typeface="Times New Roman"/>
                <a:cs typeface="Times New Roman"/>
              </a:rPr>
              <a:t> </a:t>
            </a:r>
            <a:r>
              <a:rPr sz="1800" dirty="0">
                <a:latin typeface="Symbol"/>
                <a:cs typeface="Symbol"/>
              </a:rPr>
              <a:t></a:t>
            </a:r>
            <a:r>
              <a:rPr sz="1800" spc="-30" dirty="0">
                <a:latin typeface="Times New Roman"/>
                <a:cs typeface="Times New Roman"/>
              </a:rPr>
              <a:t> </a:t>
            </a:r>
            <a:r>
              <a:rPr sz="1800" dirty="0">
                <a:latin typeface="Times New Roman"/>
                <a:cs typeface="Times New Roman"/>
              </a:rPr>
              <a:t>B</a:t>
            </a:r>
            <a:r>
              <a:rPr sz="1800" spc="-20" dirty="0">
                <a:latin typeface="Times New Roman"/>
                <a:cs typeface="Times New Roman"/>
              </a:rPr>
              <a:t> </a:t>
            </a: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{(1,1),</a:t>
            </a:r>
            <a:r>
              <a:rPr sz="1800" spc="-15" dirty="0">
                <a:latin typeface="Times New Roman"/>
                <a:cs typeface="Times New Roman"/>
              </a:rPr>
              <a:t> </a:t>
            </a:r>
            <a:r>
              <a:rPr sz="1800" dirty="0">
                <a:latin typeface="Times New Roman"/>
                <a:cs typeface="Times New Roman"/>
              </a:rPr>
              <a:t>(1,2),</a:t>
            </a:r>
            <a:r>
              <a:rPr sz="1800" spc="-15" dirty="0">
                <a:latin typeface="Times New Roman"/>
                <a:cs typeface="Times New Roman"/>
              </a:rPr>
              <a:t> </a:t>
            </a:r>
            <a:r>
              <a:rPr sz="1800" dirty="0">
                <a:latin typeface="Times New Roman"/>
                <a:cs typeface="Times New Roman"/>
              </a:rPr>
              <a:t>(1,3),</a:t>
            </a:r>
            <a:r>
              <a:rPr sz="1800" spc="-20" dirty="0">
                <a:latin typeface="Times New Roman"/>
                <a:cs typeface="Times New Roman"/>
              </a:rPr>
              <a:t> </a:t>
            </a:r>
            <a:r>
              <a:rPr sz="1800" dirty="0">
                <a:latin typeface="Times New Roman"/>
                <a:cs typeface="Times New Roman"/>
              </a:rPr>
              <a:t>(2,1),</a:t>
            </a:r>
            <a:r>
              <a:rPr sz="1800" spc="-15" dirty="0">
                <a:latin typeface="Times New Roman"/>
                <a:cs typeface="Times New Roman"/>
              </a:rPr>
              <a:t> </a:t>
            </a:r>
            <a:r>
              <a:rPr sz="1800" dirty="0">
                <a:latin typeface="Times New Roman"/>
                <a:cs typeface="Times New Roman"/>
              </a:rPr>
              <a:t>(2,2),</a:t>
            </a:r>
            <a:r>
              <a:rPr sz="1800" spc="-15" dirty="0">
                <a:latin typeface="Times New Roman"/>
                <a:cs typeface="Times New Roman"/>
              </a:rPr>
              <a:t> </a:t>
            </a:r>
            <a:r>
              <a:rPr sz="1800" spc="-10" dirty="0">
                <a:latin typeface="Times New Roman"/>
                <a:cs typeface="Times New Roman"/>
              </a:rPr>
              <a:t>(2,3)}</a:t>
            </a:r>
            <a:endParaRPr sz="1800" dirty="0">
              <a:latin typeface="Times New Roman"/>
              <a:cs typeface="Times New Roman"/>
            </a:endParaRPr>
          </a:p>
          <a:p>
            <a:pPr marL="232410" indent="-219710">
              <a:lnSpc>
                <a:spcPts val="2155"/>
              </a:lnSpc>
              <a:buSzPct val="88888"/>
              <a:buAutoNum type="alphaLcParenR"/>
              <a:tabLst>
                <a:tab pos="232410" algn="l"/>
              </a:tabLst>
            </a:pPr>
            <a:r>
              <a:rPr sz="1800" b="1" dirty="0">
                <a:solidFill>
                  <a:srgbClr val="00AFEF"/>
                </a:solidFill>
                <a:latin typeface="Times New Roman"/>
                <a:cs typeface="Times New Roman"/>
              </a:rPr>
              <a:t>R</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b)</a:t>
            </a:r>
            <a:r>
              <a:rPr sz="1800" b="1" spc="-5" dirty="0">
                <a:solidFill>
                  <a:srgbClr val="00AFEF"/>
                </a:solidFill>
                <a:latin typeface="Times New Roman"/>
                <a:cs typeface="Times New Roman"/>
              </a:rPr>
              <a:t> </a:t>
            </a:r>
            <a:r>
              <a:rPr sz="1800" dirty="0">
                <a:solidFill>
                  <a:srgbClr val="00AFEF"/>
                </a:solidFill>
                <a:latin typeface="Symbol"/>
                <a:cs typeface="Symbol"/>
              </a:rPr>
              <a:t></a:t>
            </a:r>
            <a:r>
              <a:rPr sz="1800" spc="350"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100" dirty="0">
                <a:solidFill>
                  <a:srgbClr val="00AFEF"/>
                </a:solidFill>
                <a:latin typeface="Times New Roman"/>
                <a:cs typeface="Times New Roman"/>
              </a:rPr>
              <a:t> </a:t>
            </a:r>
            <a:r>
              <a:rPr sz="1800" dirty="0">
                <a:solidFill>
                  <a:srgbClr val="00AFEF"/>
                </a:solidFill>
                <a:latin typeface="Symbol"/>
                <a:cs typeface="Symbol"/>
              </a:rPr>
              <a:t></a:t>
            </a:r>
            <a:r>
              <a:rPr sz="1800" spc="-10" dirty="0">
                <a:solidFill>
                  <a:srgbClr val="00AFEF"/>
                </a:solidFill>
                <a:latin typeface="Times New Roman"/>
                <a:cs typeface="Times New Roman"/>
              </a:rPr>
              <a:t> </a:t>
            </a:r>
            <a:r>
              <a:rPr sz="1800" b="1" dirty="0">
                <a:solidFill>
                  <a:srgbClr val="00AFEF"/>
                </a:solidFill>
                <a:latin typeface="Times New Roman"/>
                <a:cs typeface="Times New Roman"/>
              </a:rPr>
              <a:t>B</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a &lt;</a:t>
            </a:r>
            <a:r>
              <a:rPr sz="1800" b="1" spc="-5" dirty="0">
                <a:solidFill>
                  <a:srgbClr val="00AFEF"/>
                </a:solidFill>
                <a:latin typeface="Times New Roman"/>
                <a:cs typeface="Times New Roman"/>
              </a:rPr>
              <a:t> </a:t>
            </a:r>
            <a:r>
              <a:rPr sz="1800" b="1" spc="-25" dirty="0">
                <a:solidFill>
                  <a:srgbClr val="00AFEF"/>
                </a:solidFill>
                <a:latin typeface="Times New Roman"/>
                <a:cs typeface="Times New Roman"/>
              </a:rPr>
              <a:t>b}</a:t>
            </a:r>
            <a:endParaRPr sz="1800" dirty="0">
              <a:latin typeface="Times New Roman"/>
              <a:cs typeface="Times New Roman"/>
            </a:endParaRPr>
          </a:p>
          <a:p>
            <a:pPr marL="1841500">
              <a:lnSpc>
                <a:spcPts val="2155"/>
              </a:lnSpc>
            </a:pPr>
            <a:r>
              <a:rPr sz="1800" dirty="0">
                <a:latin typeface="Times New Roman"/>
                <a:cs typeface="Times New Roman"/>
              </a:rPr>
              <a:t>R</a:t>
            </a:r>
            <a:r>
              <a:rPr sz="1800" spc="-10"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{(1,2),</a:t>
            </a:r>
            <a:r>
              <a:rPr sz="1800" spc="-10" dirty="0">
                <a:latin typeface="Times New Roman"/>
                <a:cs typeface="Times New Roman"/>
              </a:rPr>
              <a:t> </a:t>
            </a:r>
            <a:r>
              <a:rPr sz="1800" dirty="0">
                <a:latin typeface="Times New Roman"/>
                <a:cs typeface="Times New Roman"/>
              </a:rPr>
              <a:t>(1,3),</a:t>
            </a:r>
            <a:r>
              <a:rPr sz="1800" spc="-10" dirty="0">
                <a:latin typeface="Times New Roman"/>
                <a:cs typeface="Times New Roman"/>
              </a:rPr>
              <a:t> (2,3)}</a:t>
            </a:r>
            <a:endParaRPr sz="1800" dirty="0">
              <a:latin typeface="Times New Roman"/>
              <a:cs typeface="Times New Roman"/>
            </a:endParaRPr>
          </a:p>
          <a:p>
            <a:pPr>
              <a:lnSpc>
                <a:spcPct val="100000"/>
              </a:lnSpc>
              <a:spcBef>
                <a:spcPts val="90"/>
              </a:spcBef>
            </a:pPr>
            <a:endParaRPr sz="1800" dirty="0">
              <a:latin typeface="Times New Roman"/>
              <a:cs typeface="Times New Roman"/>
            </a:endParaRPr>
          </a:p>
          <a:p>
            <a:pPr marL="273050" indent="-260350">
              <a:lnSpc>
                <a:spcPct val="100000"/>
              </a:lnSpc>
              <a:buAutoNum type="alphaLcParenR" startAt="2"/>
              <a:tabLst>
                <a:tab pos="273050" algn="l"/>
              </a:tabLst>
            </a:pPr>
            <a:r>
              <a:rPr sz="1800" b="1" dirty="0">
                <a:solidFill>
                  <a:srgbClr val="00AFEF"/>
                </a:solidFill>
                <a:latin typeface="Times New Roman"/>
                <a:cs typeface="Times New Roman"/>
              </a:rPr>
              <a:t>Dom(R)</a:t>
            </a:r>
            <a:r>
              <a:rPr sz="1800" b="1" spc="-2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{1,2}</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and</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Ran(R)</a:t>
            </a:r>
            <a:r>
              <a:rPr sz="1800" b="1" spc="-25" dirty="0">
                <a:solidFill>
                  <a:srgbClr val="00AFEF"/>
                </a:solidFill>
                <a:latin typeface="Times New Roman"/>
                <a:cs typeface="Times New Roman"/>
              </a:rPr>
              <a:t> </a:t>
            </a:r>
            <a:r>
              <a:rPr sz="1800" b="1" dirty="0">
                <a:solidFill>
                  <a:srgbClr val="00AFEF"/>
                </a:solidFill>
                <a:latin typeface="Times New Roman"/>
                <a:cs typeface="Times New Roman"/>
              </a:rPr>
              <a:t>=</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{2,</a:t>
            </a:r>
            <a:r>
              <a:rPr sz="1800" b="1" spc="-20" dirty="0">
                <a:solidFill>
                  <a:srgbClr val="00AFEF"/>
                </a:solidFill>
                <a:latin typeface="Times New Roman"/>
                <a:cs typeface="Times New Roman"/>
              </a:rPr>
              <a:t> </a:t>
            </a:r>
            <a:r>
              <a:rPr sz="1800" b="1" spc="-25" dirty="0">
                <a:solidFill>
                  <a:srgbClr val="00AFEF"/>
                </a:solidFill>
                <a:latin typeface="Times New Roman"/>
                <a:cs typeface="Times New Roman"/>
              </a:rPr>
              <a:t>3}</a:t>
            </a:r>
            <a:endParaRPr sz="1800" dirty="0">
              <a:latin typeface="Times New Roman"/>
              <a:cs typeface="Times New Roman"/>
            </a:endParaRPr>
          </a:p>
          <a:p>
            <a:pPr>
              <a:lnSpc>
                <a:spcPct val="100000"/>
              </a:lnSpc>
              <a:spcBef>
                <a:spcPts val="1775"/>
              </a:spcBef>
              <a:buAutoNum type="alphaLcParenR" startAt="2"/>
            </a:pPr>
            <a:endParaRPr sz="1800" dirty="0">
              <a:latin typeface="Times New Roman"/>
              <a:cs typeface="Times New Roman"/>
            </a:endParaRPr>
          </a:p>
          <a:p>
            <a:pPr marL="221615" indent="-208915">
              <a:lnSpc>
                <a:spcPct val="100000"/>
              </a:lnSpc>
              <a:spcBef>
                <a:spcPts val="5"/>
              </a:spcBef>
              <a:buSzPct val="88888"/>
              <a:buAutoNum type="alphaLcParenR" startAt="2"/>
              <a:tabLst>
                <a:tab pos="221615" algn="l"/>
              </a:tabLst>
            </a:pPr>
            <a:r>
              <a:rPr sz="1800" b="1" dirty="0">
                <a:solidFill>
                  <a:srgbClr val="00AFEF"/>
                </a:solidFill>
                <a:latin typeface="Times New Roman"/>
                <a:cs typeface="Times New Roman"/>
              </a:rPr>
              <a:t>Since</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(1,3)</a:t>
            </a:r>
            <a:r>
              <a:rPr sz="1800" b="1" spc="-10" dirty="0">
                <a:solidFill>
                  <a:srgbClr val="00AFEF"/>
                </a:solidFill>
                <a:latin typeface="Times New Roman"/>
                <a:cs typeface="Times New Roman"/>
              </a:rPr>
              <a:t> </a:t>
            </a:r>
            <a:r>
              <a:rPr sz="1800" dirty="0">
                <a:solidFill>
                  <a:srgbClr val="00AFEF"/>
                </a:solidFill>
                <a:latin typeface="Symbol"/>
                <a:cs typeface="Symbol"/>
              </a:rPr>
              <a:t></a:t>
            </a:r>
            <a:r>
              <a:rPr sz="1800" spc="5" dirty="0">
                <a:solidFill>
                  <a:srgbClr val="00AFEF"/>
                </a:solidFill>
                <a:latin typeface="Times New Roman"/>
                <a:cs typeface="Times New Roman"/>
              </a:rPr>
              <a:t> </a:t>
            </a:r>
            <a:r>
              <a:rPr sz="1800" b="1" dirty="0">
                <a:solidFill>
                  <a:srgbClr val="00AFEF"/>
                </a:solidFill>
                <a:latin typeface="Times New Roman"/>
                <a:cs typeface="Times New Roman"/>
              </a:rPr>
              <a:t>R</a:t>
            </a:r>
            <a:r>
              <a:rPr sz="1800" b="1" spc="-5" dirty="0">
                <a:solidFill>
                  <a:srgbClr val="00AFEF"/>
                </a:solidFill>
                <a:latin typeface="Times New Roman"/>
                <a:cs typeface="Times New Roman"/>
              </a:rPr>
              <a:t> </a:t>
            </a:r>
            <a:r>
              <a:rPr sz="1800" b="1" dirty="0">
                <a:solidFill>
                  <a:srgbClr val="00AFEF"/>
                </a:solidFill>
                <a:latin typeface="Times New Roman"/>
                <a:cs typeface="Times New Roman"/>
              </a:rPr>
              <a:t>so 1R3,</a:t>
            </a:r>
            <a:r>
              <a:rPr sz="1800" b="1" spc="-10" dirty="0">
                <a:solidFill>
                  <a:srgbClr val="00AFEF"/>
                </a:solidFill>
                <a:latin typeface="Times New Roman"/>
                <a:cs typeface="Times New Roman"/>
              </a:rPr>
              <a:t> </a:t>
            </a:r>
            <a:r>
              <a:rPr sz="1800" dirty="0">
                <a:solidFill>
                  <a:srgbClr val="00AFEF"/>
                </a:solidFill>
                <a:latin typeface="Times New Roman"/>
                <a:cs typeface="Times New Roman"/>
              </a:rPr>
              <a:t>But</a:t>
            </a:r>
            <a:r>
              <a:rPr sz="1800" spc="-10" dirty="0">
                <a:solidFill>
                  <a:srgbClr val="00AFEF"/>
                </a:solidFill>
                <a:latin typeface="Times New Roman"/>
                <a:cs typeface="Times New Roman"/>
              </a:rPr>
              <a:t> </a:t>
            </a:r>
            <a:r>
              <a:rPr sz="1800" dirty="0">
                <a:solidFill>
                  <a:srgbClr val="00AFEF"/>
                </a:solidFill>
                <a:latin typeface="Times New Roman"/>
                <a:cs typeface="Times New Roman"/>
              </a:rPr>
              <a:t>(2, 2)</a:t>
            </a:r>
            <a:r>
              <a:rPr sz="1800" spc="-10" dirty="0">
                <a:solidFill>
                  <a:srgbClr val="00AFEF"/>
                </a:solidFill>
                <a:latin typeface="Times New Roman"/>
                <a:cs typeface="Times New Roman"/>
              </a:rPr>
              <a:t> </a:t>
            </a:r>
            <a:r>
              <a:rPr sz="1800" dirty="0">
                <a:solidFill>
                  <a:srgbClr val="00AFEF"/>
                </a:solidFill>
                <a:latin typeface="Symbol"/>
                <a:cs typeface="Symbol"/>
              </a:rPr>
              <a:t></a:t>
            </a:r>
            <a:r>
              <a:rPr sz="1800" dirty="0">
                <a:solidFill>
                  <a:srgbClr val="00AFEF"/>
                </a:solidFill>
                <a:latin typeface="Times New Roman"/>
                <a:cs typeface="Times New Roman"/>
              </a:rPr>
              <a:t>R so</a:t>
            </a:r>
            <a:r>
              <a:rPr sz="1800" spc="-5" dirty="0">
                <a:solidFill>
                  <a:srgbClr val="00AFEF"/>
                </a:solidFill>
                <a:latin typeface="Times New Roman"/>
                <a:cs typeface="Times New Roman"/>
              </a:rPr>
              <a:t> </a:t>
            </a:r>
            <a:r>
              <a:rPr sz="1800" dirty="0">
                <a:solidFill>
                  <a:srgbClr val="00AFEF"/>
                </a:solidFill>
                <a:latin typeface="Times New Roman"/>
                <a:cs typeface="Times New Roman"/>
              </a:rPr>
              <a:t>2 is</a:t>
            </a:r>
            <a:r>
              <a:rPr sz="1800" spc="-5" dirty="0">
                <a:solidFill>
                  <a:srgbClr val="00AFEF"/>
                </a:solidFill>
                <a:latin typeface="Times New Roman"/>
                <a:cs typeface="Times New Roman"/>
              </a:rPr>
              <a:t> </a:t>
            </a:r>
            <a:r>
              <a:rPr sz="1800" dirty="0">
                <a:solidFill>
                  <a:srgbClr val="00AFEF"/>
                </a:solidFill>
                <a:latin typeface="Times New Roman"/>
                <a:cs typeface="Times New Roman"/>
              </a:rPr>
              <a:t>not</a:t>
            </a:r>
            <a:r>
              <a:rPr sz="1800" spc="-10" dirty="0">
                <a:solidFill>
                  <a:srgbClr val="00AFEF"/>
                </a:solidFill>
                <a:latin typeface="Times New Roman"/>
                <a:cs typeface="Times New Roman"/>
              </a:rPr>
              <a:t> related.</a:t>
            </a:r>
            <a:endParaRPr sz="18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6017" y="95503"/>
            <a:ext cx="5754370" cy="574040"/>
          </a:xfrm>
          <a:prstGeom prst="rect">
            <a:avLst/>
          </a:prstGeom>
        </p:spPr>
        <p:txBody>
          <a:bodyPr vert="horz" wrap="square" lIns="0" tIns="12700" rIns="0" bIns="0" rtlCol="0">
            <a:spAutoFit/>
          </a:bodyPr>
          <a:lstStyle/>
          <a:p>
            <a:pPr marL="12700">
              <a:lnSpc>
                <a:spcPct val="100000"/>
              </a:lnSpc>
              <a:spcBef>
                <a:spcPts val="100"/>
              </a:spcBef>
            </a:pPr>
            <a:r>
              <a:rPr spc="-10" dirty="0"/>
              <a:t>PROPERTIES</a:t>
            </a:r>
            <a:r>
              <a:rPr spc="-130" dirty="0"/>
              <a:t> </a:t>
            </a:r>
            <a:r>
              <a:rPr dirty="0"/>
              <a:t>OF</a:t>
            </a:r>
            <a:r>
              <a:rPr spc="-114" dirty="0"/>
              <a:t> </a:t>
            </a:r>
            <a:r>
              <a:rPr spc="-20" dirty="0"/>
              <a:t>RELATIONS</a:t>
            </a:r>
          </a:p>
        </p:txBody>
      </p:sp>
      <p:sp>
        <p:nvSpPr>
          <p:cNvPr id="3" name="object 3"/>
          <p:cNvSpPr txBox="1">
            <a:spLocks noGrp="1"/>
          </p:cNvSpPr>
          <p:nvPr>
            <p:ph idx="1"/>
          </p:nvPr>
        </p:nvSpPr>
        <p:spPr>
          <a:xfrm>
            <a:off x="152400" y="1219200"/>
            <a:ext cx="8125460" cy="4388431"/>
          </a:xfrm>
          <a:prstGeom prst="rect">
            <a:avLst/>
          </a:prstGeom>
        </p:spPr>
        <p:txBody>
          <a:bodyPr vert="horz" wrap="square" lIns="0" tIns="358190" rIns="0" bIns="0" rtlCol="0">
            <a:spAutoFit/>
          </a:bodyPr>
          <a:lstStyle/>
          <a:p>
            <a:pPr marL="215900" marR="5080">
              <a:lnSpc>
                <a:spcPct val="100000"/>
              </a:lnSpc>
              <a:spcBef>
                <a:spcPts val="100"/>
              </a:spcBef>
            </a:pPr>
            <a:r>
              <a:rPr sz="2000" dirty="0"/>
              <a:t>There</a:t>
            </a:r>
            <a:r>
              <a:rPr sz="2000" spc="-35" dirty="0"/>
              <a:t> </a:t>
            </a:r>
            <a:r>
              <a:rPr sz="2000" dirty="0"/>
              <a:t>are</a:t>
            </a:r>
            <a:r>
              <a:rPr sz="2000" spc="-40" dirty="0"/>
              <a:t> </a:t>
            </a:r>
            <a:r>
              <a:rPr sz="2000" dirty="0"/>
              <a:t>several</a:t>
            </a:r>
            <a:r>
              <a:rPr sz="2000" spc="-45" dirty="0"/>
              <a:t> </a:t>
            </a:r>
            <a:r>
              <a:rPr sz="2000" dirty="0"/>
              <a:t>properties</a:t>
            </a:r>
            <a:r>
              <a:rPr sz="2000" spc="-60" dirty="0"/>
              <a:t> </a:t>
            </a:r>
            <a:r>
              <a:rPr sz="2000" dirty="0"/>
              <a:t>that</a:t>
            </a:r>
            <a:r>
              <a:rPr sz="2000" spc="-50" dirty="0"/>
              <a:t> </a:t>
            </a:r>
            <a:r>
              <a:rPr sz="2000" dirty="0"/>
              <a:t>are</a:t>
            </a:r>
            <a:r>
              <a:rPr sz="2000" spc="-40" dirty="0"/>
              <a:t> </a:t>
            </a:r>
            <a:r>
              <a:rPr sz="2000" dirty="0"/>
              <a:t>used</a:t>
            </a:r>
            <a:r>
              <a:rPr sz="2000" spc="-45" dirty="0"/>
              <a:t> </a:t>
            </a:r>
            <a:r>
              <a:rPr sz="2000" dirty="0"/>
              <a:t>to</a:t>
            </a:r>
            <a:r>
              <a:rPr sz="2000" spc="-55" dirty="0"/>
              <a:t> </a:t>
            </a:r>
            <a:r>
              <a:rPr sz="2000" dirty="0"/>
              <a:t>classify</a:t>
            </a:r>
            <a:r>
              <a:rPr sz="2000" spc="-65" dirty="0"/>
              <a:t> </a:t>
            </a:r>
            <a:r>
              <a:rPr sz="2000" spc="-10" dirty="0"/>
              <a:t>relations </a:t>
            </a:r>
            <a:r>
              <a:rPr sz="2000" dirty="0"/>
              <a:t>on</a:t>
            </a:r>
            <a:r>
              <a:rPr sz="2000" spc="-25" dirty="0"/>
              <a:t> </a:t>
            </a:r>
            <a:r>
              <a:rPr sz="2000" dirty="0"/>
              <a:t>a</a:t>
            </a:r>
            <a:r>
              <a:rPr sz="2000" spc="-20" dirty="0"/>
              <a:t> set.</a:t>
            </a:r>
          </a:p>
          <a:p>
            <a:pPr marL="215900">
              <a:lnSpc>
                <a:spcPct val="100000"/>
              </a:lnSpc>
              <a:spcBef>
                <a:spcPts val="994"/>
              </a:spcBef>
            </a:pPr>
            <a:r>
              <a:rPr sz="2000" dirty="0"/>
              <a:t>A</a:t>
            </a:r>
            <a:r>
              <a:rPr sz="2000" spc="-125" dirty="0"/>
              <a:t> </a:t>
            </a:r>
            <a:r>
              <a:rPr sz="2000" dirty="0"/>
              <a:t>relation</a:t>
            </a:r>
            <a:r>
              <a:rPr sz="2000" spc="-30" dirty="0"/>
              <a:t> </a:t>
            </a:r>
            <a:r>
              <a:rPr sz="2000" dirty="0"/>
              <a:t>R</a:t>
            </a:r>
            <a:r>
              <a:rPr sz="2000" spc="-25" dirty="0"/>
              <a:t> </a:t>
            </a:r>
            <a:r>
              <a:rPr sz="2000" dirty="0"/>
              <a:t>on</a:t>
            </a:r>
            <a:r>
              <a:rPr sz="2000" spc="-35" dirty="0"/>
              <a:t> </a:t>
            </a:r>
            <a:r>
              <a:rPr sz="2000" dirty="0"/>
              <a:t>a</a:t>
            </a:r>
            <a:r>
              <a:rPr sz="2000" spc="-25" dirty="0"/>
              <a:t> </a:t>
            </a:r>
            <a:r>
              <a:rPr sz="2000" spc="-10" dirty="0"/>
              <a:t>set</a:t>
            </a:r>
            <a:r>
              <a:rPr sz="2000" spc="-120" dirty="0"/>
              <a:t> </a:t>
            </a:r>
            <a:r>
              <a:rPr sz="2000" dirty="0"/>
              <a:t>A</a:t>
            </a:r>
            <a:r>
              <a:rPr sz="2000" spc="-125" dirty="0"/>
              <a:t> </a:t>
            </a:r>
            <a:r>
              <a:rPr sz="2000" dirty="0"/>
              <a:t>is</a:t>
            </a:r>
            <a:r>
              <a:rPr sz="2000" spc="-30" dirty="0"/>
              <a:t> </a:t>
            </a:r>
            <a:r>
              <a:rPr sz="2000" spc="-10" dirty="0"/>
              <a:t>called</a:t>
            </a:r>
          </a:p>
          <a:p>
            <a:pPr marL="958215" indent="-342265">
              <a:lnSpc>
                <a:spcPct val="100000"/>
              </a:lnSpc>
              <a:spcBef>
                <a:spcPts val="1010"/>
              </a:spcBef>
              <a:buClr>
                <a:srgbClr val="90C225"/>
              </a:buClr>
              <a:buSzPct val="78125"/>
              <a:buAutoNum type="arabicPeriod"/>
              <a:tabLst>
                <a:tab pos="958215" algn="l"/>
              </a:tabLst>
            </a:pPr>
            <a:r>
              <a:rPr sz="2000" b="1" dirty="0">
                <a:solidFill>
                  <a:srgbClr val="00AFEF"/>
                </a:solidFill>
                <a:latin typeface="Trebuchet MS"/>
                <a:cs typeface="Trebuchet MS"/>
              </a:rPr>
              <a:t>reflexive</a:t>
            </a:r>
            <a:r>
              <a:rPr sz="2000" b="1" spc="10" dirty="0">
                <a:solidFill>
                  <a:srgbClr val="00AFEF"/>
                </a:solidFill>
                <a:latin typeface="Trebuchet MS"/>
                <a:cs typeface="Trebuchet MS"/>
              </a:rPr>
              <a:t> </a:t>
            </a:r>
            <a:r>
              <a:rPr sz="2000" dirty="0"/>
              <a:t>if</a:t>
            </a:r>
            <a:r>
              <a:rPr sz="2000" spc="-20" dirty="0"/>
              <a:t> </a:t>
            </a:r>
            <a:r>
              <a:rPr sz="2000" dirty="0"/>
              <a:t>for</a:t>
            </a:r>
            <a:r>
              <a:rPr sz="2000" spc="-15" dirty="0"/>
              <a:t> </a:t>
            </a:r>
            <a:r>
              <a:rPr sz="2000" dirty="0"/>
              <a:t>all</a:t>
            </a:r>
            <a:r>
              <a:rPr sz="2000" spc="-20" dirty="0"/>
              <a:t> </a:t>
            </a:r>
            <a:r>
              <a:rPr sz="2000" dirty="0"/>
              <a:t>a</a:t>
            </a:r>
            <a:r>
              <a:rPr sz="2000" spc="370" dirty="0"/>
              <a:t> </a:t>
            </a:r>
            <a:r>
              <a:rPr sz="2000" dirty="0">
                <a:solidFill>
                  <a:srgbClr val="00AFEF"/>
                </a:solidFill>
                <a:latin typeface="Symbol"/>
                <a:cs typeface="Symbol"/>
              </a:rPr>
              <a:t></a:t>
            </a:r>
            <a:r>
              <a:rPr sz="2000" spc="365" dirty="0">
                <a:solidFill>
                  <a:srgbClr val="00AFEF"/>
                </a:solidFill>
                <a:latin typeface="Times New Roman"/>
                <a:cs typeface="Times New Roman"/>
              </a:rPr>
              <a:t> </a:t>
            </a:r>
            <a:r>
              <a:rPr sz="2000" dirty="0"/>
              <a:t>A,</a:t>
            </a:r>
            <a:r>
              <a:rPr sz="2000" spc="-15" dirty="0"/>
              <a:t> </a:t>
            </a:r>
            <a:r>
              <a:rPr sz="2000" spc="-20" dirty="0" err="1"/>
              <a:t>aRa</a:t>
            </a:r>
            <a:r>
              <a:rPr sz="2000" spc="-20" dirty="0"/>
              <a:t>.</a:t>
            </a:r>
            <a:br>
              <a:rPr lang="en-US" sz="2000" spc="-20" dirty="0"/>
            </a:br>
            <a:r>
              <a:rPr lang="en-US" sz="2000" dirty="0">
                <a:solidFill>
                  <a:srgbClr val="CC0066"/>
                </a:solidFill>
                <a:latin typeface="Times New Roman"/>
                <a:cs typeface="Times New Roman"/>
              </a:rPr>
              <a:t>Every element is related to itself.</a:t>
            </a:r>
            <a:endParaRPr sz="2000" dirty="0">
              <a:solidFill>
                <a:srgbClr val="CC0066"/>
              </a:solidFill>
              <a:latin typeface="Times New Roman"/>
              <a:cs typeface="Times New Roman"/>
            </a:endParaRPr>
          </a:p>
          <a:p>
            <a:pPr marL="958215" indent="-342265">
              <a:lnSpc>
                <a:spcPct val="100000"/>
              </a:lnSpc>
              <a:spcBef>
                <a:spcPts val="994"/>
              </a:spcBef>
              <a:buClr>
                <a:srgbClr val="90C225"/>
              </a:buClr>
              <a:buSzPct val="78125"/>
              <a:buAutoNum type="arabicPeriod"/>
              <a:tabLst>
                <a:tab pos="958215" algn="l"/>
              </a:tabLst>
            </a:pPr>
            <a:r>
              <a:rPr sz="2000" b="1" dirty="0">
                <a:solidFill>
                  <a:srgbClr val="00AFEF"/>
                </a:solidFill>
                <a:latin typeface="Trebuchet MS"/>
                <a:cs typeface="Trebuchet MS"/>
              </a:rPr>
              <a:t>symmetric </a:t>
            </a:r>
            <a:r>
              <a:rPr sz="2000" dirty="0"/>
              <a:t>if</a:t>
            </a:r>
            <a:r>
              <a:rPr sz="2000" spc="-10" dirty="0"/>
              <a:t> </a:t>
            </a:r>
            <a:r>
              <a:rPr sz="2000" dirty="0"/>
              <a:t>for</a:t>
            </a:r>
            <a:r>
              <a:rPr sz="2000" spc="-15" dirty="0"/>
              <a:t> </a:t>
            </a:r>
            <a:r>
              <a:rPr sz="2000" dirty="0"/>
              <a:t>all</a:t>
            </a:r>
            <a:r>
              <a:rPr sz="2000" spc="-10" dirty="0"/>
              <a:t> </a:t>
            </a:r>
            <a:r>
              <a:rPr sz="2000" dirty="0"/>
              <a:t>a,</a:t>
            </a:r>
            <a:r>
              <a:rPr sz="2000" spc="-20" dirty="0"/>
              <a:t> </a:t>
            </a:r>
            <a:r>
              <a:rPr sz="2000" dirty="0"/>
              <a:t>b</a:t>
            </a:r>
            <a:r>
              <a:rPr sz="2000" spc="375" dirty="0"/>
              <a:t> </a:t>
            </a:r>
            <a:r>
              <a:rPr sz="2000" dirty="0">
                <a:solidFill>
                  <a:srgbClr val="00AFEF"/>
                </a:solidFill>
                <a:latin typeface="Symbol"/>
                <a:cs typeface="Symbol"/>
              </a:rPr>
              <a:t></a:t>
            </a:r>
            <a:r>
              <a:rPr sz="2000" spc="365" dirty="0">
                <a:solidFill>
                  <a:srgbClr val="00AFEF"/>
                </a:solidFill>
                <a:latin typeface="Times New Roman"/>
                <a:cs typeface="Times New Roman"/>
              </a:rPr>
              <a:t> </a:t>
            </a:r>
            <a:r>
              <a:rPr sz="2000" dirty="0"/>
              <a:t>A,</a:t>
            </a:r>
            <a:r>
              <a:rPr sz="2000" spc="-5" dirty="0"/>
              <a:t> </a:t>
            </a:r>
            <a:r>
              <a:rPr sz="2000" dirty="0"/>
              <a:t>aRb</a:t>
            </a:r>
            <a:r>
              <a:rPr sz="2000" spc="-15" dirty="0"/>
              <a:t> </a:t>
            </a:r>
            <a:r>
              <a:rPr sz="2000" dirty="0"/>
              <a:t>implies</a:t>
            </a:r>
            <a:r>
              <a:rPr sz="2000" spc="-10" dirty="0"/>
              <a:t> </a:t>
            </a:r>
            <a:r>
              <a:rPr sz="2000" spc="-20" dirty="0" err="1"/>
              <a:t>bRa</a:t>
            </a:r>
            <a:r>
              <a:rPr sz="2000" spc="-20" dirty="0"/>
              <a:t>.</a:t>
            </a:r>
            <a:br>
              <a:rPr lang="en-US" sz="2000" spc="-20" dirty="0"/>
            </a:br>
            <a:r>
              <a:rPr lang="en-US" sz="2000" spc="-20" dirty="0">
                <a:solidFill>
                  <a:srgbClr val="CC0066"/>
                </a:solidFill>
              </a:rPr>
              <a:t>If (</a:t>
            </a:r>
            <a:r>
              <a:rPr lang="en-US" sz="2000" spc="-20" dirty="0" err="1">
                <a:solidFill>
                  <a:srgbClr val="CC0066"/>
                </a:solidFill>
              </a:rPr>
              <a:t>a,b</a:t>
            </a:r>
            <a:r>
              <a:rPr lang="en-US" sz="2000" spc="-20" dirty="0">
                <a:solidFill>
                  <a:srgbClr val="CC0066"/>
                </a:solidFill>
              </a:rPr>
              <a:t>) ∈ R then (</a:t>
            </a:r>
            <a:r>
              <a:rPr lang="en-US" sz="2000" spc="-20" dirty="0" err="1">
                <a:solidFill>
                  <a:srgbClr val="CC0066"/>
                </a:solidFill>
              </a:rPr>
              <a:t>b,a</a:t>
            </a:r>
            <a:r>
              <a:rPr lang="en-US" sz="2000" spc="-20" dirty="0">
                <a:solidFill>
                  <a:srgbClr val="CC0066"/>
                </a:solidFill>
              </a:rPr>
              <a:t>) must also be in R</a:t>
            </a:r>
            <a:endParaRPr sz="2000" dirty="0">
              <a:solidFill>
                <a:srgbClr val="CC0066"/>
              </a:solidFill>
              <a:latin typeface="Times New Roman"/>
              <a:cs typeface="Times New Roman"/>
            </a:endParaRPr>
          </a:p>
          <a:p>
            <a:pPr marL="958215" indent="-342265">
              <a:lnSpc>
                <a:spcPct val="100000"/>
              </a:lnSpc>
              <a:spcBef>
                <a:spcPts val="1000"/>
              </a:spcBef>
              <a:buClr>
                <a:srgbClr val="90C225"/>
              </a:buClr>
              <a:buSzPct val="78125"/>
              <a:buAutoNum type="arabicPeriod"/>
              <a:tabLst>
                <a:tab pos="958215" algn="l"/>
              </a:tabLst>
            </a:pPr>
            <a:r>
              <a:rPr sz="2000" b="1" dirty="0">
                <a:solidFill>
                  <a:srgbClr val="00AFEF"/>
                </a:solidFill>
                <a:latin typeface="Trebuchet MS"/>
                <a:cs typeface="Trebuchet MS"/>
              </a:rPr>
              <a:t>antisymmetric </a:t>
            </a:r>
            <a:r>
              <a:rPr sz="2000" dirty="0"/>
              <a:t>if</a:t>
            </a:r>
            <a:r>
              <a:rPr sz="2000" spc="-15" dirty="0"/>
              <a:t> </a:t>
            </a:r>
            <a:r>
              <a:rPr sz="2000" dirty="0"/>
              <a:t>for</a:t>
            </a:r>
            <a:r>
              <a:rPr sz="2000" spc="-10" dirty="0"/>
              <a:t> </a:t>
            </a:r>
            <a:r>
              <a:rPr sz="2000" dirty="0"/>
              <a:t>all</a:t>
            </a:r>
            <a:r>
              <a:rPr sz="2000" spc="-10" dirty="0"/>
              <a:t> </a:t>
            </a:r>
            <a:r>
              <a:rPr sz="2000" dirty="0"/>
              <a:t>a,</a:t>
            </a:r>
            <a:r>
              <a:rPr sz="2000" spc="-20" dirty="0"/>
              <a:t> </a:t>
            </a:r>
            <a:r>
              <a:rPr sz="2000" dirty="0"/>
              <a:t>b</a:t>
            </a:r>
            <a:r>
              <a:rPr sz="2000" spc="385" dirty="0"/>
              <a:t> </a:t>
            </a:r>
            <a:r>
              <a:rPr sz="2000" dirty="0">
                <a:solidFill>
                  <a:srgbClr val="00AFEF"/>
                </a:solidFill>
                <a:latin typeface="Symbol"/>
                <a:cs typeface="Symbol"/>
              </a:rPr>
              <a:t></a:t>
            </a:r>
            <a:r>
              <a:rPr sz="2000" spc="370" dirty="0">
                <a:solidFill>
                  <a:srgbClr val="00AFEF"/>
                </a:solidFill>
                <a:latin typeface="Times New Roman"/>
                <a:cs typeface="Times New Roman"/>
              </a:rPr>
              <a:t> </a:t>
            </a:r>
            <a:r>
              <a:rPr sz="2000" dirty="0"/>
              <a:t>A,</a:t>
            </a:r>
            <a:r>
              <a:rPr sz="2000" spc="-5" dirty="0"/>
              <a:t> </a:t>
            </a:r>
            <a:r>
              <a:rPr sz="2000" dirty="0"/>
              <a:t>aRb</a:t>
            </a:r>
            <a:r>
              <a:rPr sz="2000" spc="-15" dirty="0"/>
              <a:t> </a:t>
            </a:r>
            <a:r>
              <a:rPr sz="2000" dirty="0"/>
              <a:t>and</a:t>
            </a:r>
            <a:r>
              <a:rPr sz="2000" spc="-20" dirty="0"/>
              <a:t> </a:t>
            </a:r>
            <a:r>
              <a:rPr sz="2000" dirty="0"/>
              <a:t>bRa</a:t>
            </a:r>
            <a:r>
              <a:rPr sz="2000" spc="-10" dirty="0"/>
              <a:t> </a:t>
            </a:r>
            <a:r>
              <a:rPr sz="2000" dirty="0"/>
              <a:t>implies</a:t>
            </a:r>
            <a:r>
              <a:rPr sz="2000" spc="-15" dirty="0"/>
              <a:t> </a:t>
            </a:r>
            <a:r>
              <a:rPr sz="2000" dirty="0"/>
              <a:t>a</a:t>
            </a:r>
            <a:r>
              <a:rPr sz="2000" spc="-15" dirty="0"/>
              <a:t> </a:t>
            </a:r>
            <a:r>
              <a:rPr sz="2000" dirty="0"/>
              <a:t>=</a:t>
            </a:r>
            <a:r>
              <a:rPr sz="2000" spc="-15" dirty="0"/>
              <a:t> </a:t>
            </a:r>
            <a:r>
              <a:rPr sz="2000" spc="-25" dirty="0"/>
              <a:t>b.</a:t>
            </a:r>
            <a:br>
              <a:rPr lang="en-US" sz="2000" spc="-25" dirty="0"/>
            </a:br>
            <a:r>
              <a:rPr lang="en-US" sz="2000" spc="-25" dirty="0">
                <a:solidFill>
                  <a:srgbClr val="CC0066"/>
                </a:solidFill>
              </a:rPr>
              <a:t>If:(</a:t>
            </a:r>
            <a:r>
              <a:rPr lang="en-US" sz="2000" spc="-25" dirty="0" err="1">
                <a:solidFill>
                  <a:srgbClr val="CC0066"/>
                </a:solidFill>
              </a:rPr>
              <a:t>a,b</a:t>
            </a:r>
            <a:r>
              <a:rPr lang="en-US" sz="2000" spc="-25" dirty="0">
                <a:solidFill>
                  <a:srgbClr val="CC0066"/>
                </a:solidFill>
              </a:rPr>
              <a:t>) ∈ R and (</a:t>
            </a:r>
            <a:r>
              <a:rPr lang="en-US" sz="2000" spc="-25" dirty="0" err="1">
                <a:solidFill>
                  <a:srgbClr val="CC0066"/>
                </a:solidFill>
              </a:rPr>
              <a:t>b,a</a:t>
            </a:r>
            <a:r>
              <a:rPr lang="en-US" sz="2000" spc="-25" dirty="0">
                <a:solidFill>
                  <a:srgbClr val="CC0066"/>
                </a:solidFill>
              </a:rPr>
              <a:t>) ∈ R Then: a = b</a:t>
            </a:r>
            <a:endParaRPr sz="2000" dirty="0">
              <a:solidFill>
                <a:srgbClr val="CC0066"/>
              </a:solidFill>
              <a:latin typeface="Times New Roman"/>
              <a:cs typeface="Times New Roman"/>
            </a:endParaRPr>
          </a:p>
          <a:p>
            <a:pPr marL="958215" indent="-342265">
              <a:lnSpc>
                <a:spcPct val="100000"/>
              </a:lnSpc>
              <a:spcBef>
                <a:spcPts val="1005"/>
              </a:spcBef>
              <a:buClr>
                <a:srgbClr val="90C225"/>
              </a:buClr>
              <a:buSzPct val="78125"/>
              <a:buAutoNum type="arabicPeriod"/>
              <a:tabLst>
                <a:tab pos="958215" algn="l"/>
              </a:tabLst>
            </a:pPr>
            <a:r>
              <a:rPr sz="2000" b="1" dirty="0">
                <a:solidFill>
                  <a:srgbClr val="00AFEF"/>
                </a:solidFill>
                <a:latin typeface="Trebuchet MS"/>
                <a:cs typeface="Trebuchet MS"/>
              </a:rPr>
              <a:t>transitive</a:t>
            </a:r>
            <a:r>
              <a:rPr sz="2000" b="1" spc="-5" dirty="0">
                <a:solidFill>
                  <a:srgbClr val="00AFEF"/>
                </a:solidFill>
                <a:latin typeface="Trebuchet MS"/>
                <a:cs typeface="Trebuchet MS"/>
              </a:rPr>
              <a:t> </a:t>
            </a:r>
            <a:r>
              <a:rPr sz="2000" dirty="0"/>
              <a:t>if</a:t>
            </a:r>
            <a:r>
              <a:rPr sz="2000" spc="-10" dirty="0"/>
              <a:t> </a:t>
            </a:r>
            <a:r>
              <a:rPr sz="2000" dirty="0"/>
              <a:t>for</a:t>
            </a:r>
            <a:r>
              <a:rPr sz="2000" spc="-10" dirty="0"/>
              <a:t> </a:t>
            </a:r>
            <a:r>
              <a:rPr sz="2000" dirty="0"/>
              <a:t>all</a:t>
            </a:r>
            <a:r>
              <a:rPr sz="2000" spc="-5" dirty="0"/>
              <a:t> </a:t>
            </a:r>
            <a:r>
              <a:rPr sz="2000" dirty="0"/>
              <a:t>a,</a:t>
            </a:r>
            <a:r>
              <a:rPr sz="2000" spc="-10" dirty="0"/>
              <a:t> </a:t>
            </a:r>
            <a:r>
              <a:rPr sz="2000" dirty="0"/>
              <a:t>b,</a:t>
            </a:r>
            <a:r>
              <a:rPr sz="2000" spc="-10" dirty="0"/>
              <a:t> </a:t>
            </a:r>
            <a:r>
              <a:rPr sz="2000" dirty="0"/>
              <a:t>c</a:t>
            </a:r>
            <a:r>
              <a:rPr sz="2000" spc="380" dirty="0"/>
              <a:t> </a:t>
            </a:r>
            <a:r>
              <a:rPr sz="2000" dirty="0">
                <a:solidFill>
                  <a:srgbClr val="00AFEF"/>
                </a:solidFill>
                <a:latin typeface="Symbol"/>
                <a:cs typeface="Symbol"/>
              </a:rPr>
              <a:t></a:t>
            </a:r>
            <a:r>
              <a:rPr sz="2000" spc="375" dirty="0">
                <a:solidFill>
                  <a:srgbClr val="00AFEF"/>
                </a:solidFill>
                <a:latin typeface="Times New Roman"/>
                <a:cs typeface="Times New Roman"/>
              </a:rPr>
              <a:t> </a:t>
            </a:r>
            <a:r>
              <a:rPr sz="2000" dirty="0"/>
              <a:t>A, aRb</a:t>
            </a:r>
            <a:r>
              <a:rPr sz="2000" spc="-10" dirty="0"/>
              <a:t> </a:t>
            </a:r>
            <a:r>
              <a:rPr sz="2000" dirty="0"/>
              <a:t>and</a:t>
            </a:r>
            <a:r>
              <a:rPr sz="2000" spc="-25" dirty="0"/>
              <a:t> </a:t>
            </a:r>
            <a:r>
              <a:rPr sz="2000" dirty="0"/>
              <a:t>bRc</a:t>
            </a:r>
            <a:r>
              <a:rPr sz="2000" spc="-5" dirty="0"/>
              <a:t> </a:t>
            </a:r>
            <a:r>
              <a:rPr sz="2000" dirty="0"/>
              <a:t>implies</a:t>
            </a:r>
            <a:r>
              <a:rPr sz="2000" spc="-10" dirty="0"/>
              <a:t> </a:t>
            </a:r>
            <a:r>
              <a:rPr sz="2000" spc="-20" dirty="0" err="1"/>
              <a:t>aRc</a:t>
            </a:r>
            <a:r>
              <a:rPr sz="2000" spc="-20" dirty="0"/>
              <a:t>.</a:t>
            </a:r>
            <a:br>
              <a:rPr lang="en-US" sz="2000" spc="-20" dirty="0"/>
            </a:br>
            <a:r>
              <a:rPr lang="en-US" sz="2000" spc="-20" dirty="0">
                <a:solidFill>
                  <a:srgbClr val="CC0066"/>
                </a:solidFill>
              </a:rPr>
              <a:t>If:(</a:t>
            </a:r>
            <a:r>
              <a:rPr lang="en-US" sz="2000" spc="-20" dirty="0" err="1">
                <a:solidFill>
                  <a:srgbClr val="CC0066"/>
                </a:solidFill>
              </a:rPr>
              <a:t>a,b</a:t>
            </a:r>
            <a:r>
              <a:rPr lang="en-US" sz="2000" spc="-20" dirty="0">
                <a:solidFill>
                  <a:srgbClr val="CC0066"/>
                </a:solidFill>
              </a:rPr>
              <a:t>) ∈ Rand (</a:t>
            </a:r>
            <a:r>
              <a:rPr lang="en-US" sz="2000" spc="-20" dirty="0" err="1">
                <a:solidFill>
                  <a:srgbClr val="CC0066"/>
                </a:solidFill>
              </a:rPr>
              <a:t>b,c</a:t>
            </a:r>
            <a:r>
              <a:rPr lang="en-US" sz="2000" spc="-20" dirty="0">
                <a:solidFill>
                  <a:srgbClr val="CC0066"/>
                </a:solidFill>
              </a:rPr>
              <a:t>) ∈ R Then:(</a:t>
            </a:r>
            <a:r>
              <a:rPr lang="en-US" sz="2000" spc="-20" dirty="0" err="1">
                <a:solidFill>
                  <a:srgbClr val="CC0066"/>
                </a:solidFill>
              </a:rPr>
              <a:t>a,c</a:t>
            </a:r>
            <a:r>
              <a:rPr lang="en-US" sz="2000" spc="-20" dirty="0">
                <a:solidFill>
                  <a:srgbClr val="CC0066"/>
                </a:solidFill>
              </a:rPr>
              <a:t>) must also be in R</a:t>
            </a:r>
            <a:endParaRPr sz="2000" dirty="0">
              <a:solidFill>
                <a:srgbClr val="CC0066"/>
              </a:solidFill>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152400"/>
            <a:ext cx="5331461" cy="574040"/>
          </a:xfrm>
          <a:prstGeom prst="rect">
            <a:avLst/>
          </a:prstGeom>
        </p:spPr>
        <p:txBody>
          <a:bodyPr vert="horz" wrap="square" lIns="0" tIns="12700" rIns="0" bIns="0" rtlCol="0">
            <a:spAutoFit/>
          </a:bodyPr>
          <a:lstStyle/>
          <a:p>
            <a:pPr marL="12700">
              <a:lnSpc>
                <a:spcPct val="100000"/>
              </a:lnSpc>
              <a:spcBef>
                <a:spcPts val="100"/>
              </a:spcBef>
            </a:pPr>
            <a:r>
              <a:rPr dirty="0"/>
              <a:t>REFLEXIVE</a:t>
            </a:r>
            <a:r>
              <a:rPr spc="-185" dirty="0"/>
              <a:t> </a:t>
            </a:r>
            <a:r>
              <a:rPr spc="-20" dirty="0"/>
              <a:t>RELATION</a:t>
            </a:r>
          </a:p>
        </p:txBody>
      </p:sp>
      <p:sp>
        <p:nvSpPr>
          <p:cNvPr id="3" name="object 3"/>
          <p:cNvSpPr txBox="1"/>
          <p:nvPr/>
        </p:nvSpPr>
        <p:spPr>
          <a:xfrm>
            <a:off x="533400" y="1047906"/>
            <a:ext cx="7236460" cy="5000728"/>
          </a:xfrm>
          <a:prstGeom prst="rect">
            <a:avLst/>
          </a:prstGeom>
        </p:spPr>
        <p:txBody>
          <a:bodyPr vert="horz" wrap="square" lIns="0" tIns="12065" rIns="0" bIns="0" rtlCol="0">
            <a:spAutoFit/>
          </a:bodyPr>
          <a:lstStyle/>
          <a:p>
            <a:pPr marL="12700">
              <a:lnSpc>
                <a:spcPts val="1939"/>
              </a:lnSpc>
              <a:spcBef>
                <a:spcPts val="95"/>
              </a:spcBef>
            </a:pPr>
            <a:r>
              <a:rPr sz="2000" b="1" dirty="0">
                <a:solidFill>
                  <a:srgbClr val="00AFEF"/>
                </a:solidFill>
                <a:latin typeface="Times New Roman"/>
                <a:cs typeface="Times New Roman"/>
              </a:rPr>
              <a:t>A</a:t>
            </a:r>
            <a:r>
              <a:rPr sz="2000" b="1" spc="-110" dirty="0">
                <a:solidFill>
                  <a:srgbClr val="00AFEF"/>
                </a:solidFill>
                <a:latin typeface="Times New Roman"/>
                <a:cs typeface="Times New Roman"/>
              </a:rPr>
              <a:t> </a:t>
            </a:r>
            <a:r>
              <a:rPr sz="2000" b="1" dirty="0">
                <a:solidFill>
                  <a:srgbClr val="00AFEF"/>
                </a:solidFill>
                <a:latin typeface="Times New Roman"/>
                <a:cs typeface="Times New Roman"/>
              </a:rPr>
              <a:t>relation</a:t>
            </a:r>
            <a:r>
              <a:rPr sz="2000" b="1" spc="-30" dirty="0">
                <a:solidFill>
                  <a:srgbClr val="00AFEF"/>
                </a:solidFill>
                <a:latin typeface="Times New Roman"/>
                <a:cs typeface="Times New Roman"/>
              </a:rPr>
              <a:t> </a:t>
            </a:r>
            <a:r>
              <a:rPr sz="2000" b="1" dirty="0">
                <a:solidFill>
                  <a:srgbClr val="00AFEF"/>
                </a:solidFill>
                <a:latin typeface="Times New Roman"/>
                <a:cs typeface="Times New Roman"/>
              </a:rPr>
              <a:t>R</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on</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set</a:t>
            </a:r>
            <a:r>
              <a:rPr sz="2000" b="1" spc="-10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05" dirty="0">
                <a:solidFill>
                  <a:srgbClr val="00AFEF"/>
                </a:solidFill>
                <a:latin typeface="Times New Roman"/>
                <a:cs typeface="Times New Roman"/>
              </a:rPr>
              <a:t> </a:t>
            </a:r>
            <a:r>
              <a:rPr sz="2000" b="1" dirty="0">
                <a:solidFill>
                  <a:srgbClr val="00AFEF"/>
                </a:solidFill>
                <a:latin typeface="Times New Roman"/>
                <a:cs typeface="Times New Roman"/>
              </a:rPr>
              <a:t>is</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called</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reflexive</a:t>
            </a:r>
            <a:r>
              <a:rPr sz="2000" b="1" spc="-30" dirty="0">
                <a:solidFill>
                  <a:srgbClr val="00AFEF"/>
                </a:solidFill>
                <a:latin typeface="Times New Roman"/>
                <a:cs typeface="Times New Roman"/>
              </a:rPr>
              <a:t> </a:t>
            </a:r>
            <a:r>
              <a:rPr sz="2000" b="1" dirty="0">
                <a:solidFill>
                  <a:srgbClr val="00AFEF"/>
                </a:solidFill>
                <a:latin typeface="Times New Roman"/>
                <a:cs typeface="Times New Roman"/>
              </a:rPr>
              <a:t>if</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5" dirty="0">
                <a:solidFill>
                  <a:srgbClr val="00AFEF"/>
                </a:solidFill>
                <a:latin typeface="Times New Roman"/>
                <a:cs typeface="Times New Roman"/>
              </a:rPr>
              <a:t> </a:t>
            </a:r>
            <a:r>
              <a:rPr sz="2000" dirty="0">
                <a:solidFill>
                  <a:srgbClr val="00AFEF"/>
                </a:solidFill>
                <a:latin typeface="Cambria Math"/>
                <a:cs typeface="Cambria Math"/>
              </a:rPr>
              <a:t>∈</a:t>
            </a:r>
            <a:r>
              <a:rPr sz="2000" spc="10" dirty="0">
                <a:solidFill>
                  <a:srgbClr val="00AFEF"/>
                </a:solidFill>
                <a:latin typeface="Cambria Math"/>
                <a:cs typeface="Cambria Math"/>
              </a:rPr>
              <a:t> </a:t>
            </a:r>
            <a:r>
              <a:rPr sz="2000" b="1" dirty="0">
                <a:solidFill>
                  <a:srgbClr val="00AFEF"/>
                </a:solidFill>
                <a:latin typeface="Times New Roman"/>
                <a:cs typeface="Times New Roman"/>
              </a:rPr>
              <a:t>R</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for</a:t>
            </a:r>
            <a:r>
              <a:rPr sz="2000" b="1" spc="-45" dirty="0">
                <a:solidFill>
                  <a:srgbClr val="00AFEF"/>
                </a:solidFill>
                <a:latin typeface="Times New Roman"/>
                <a:cs typeface="Times New Roman"/>
              </a:rPr>
              <a:t> </a:t>
            </a:r>
            <a:r>
              <a:rPr sz="2000" b="1" dirty="0">
                <a:solidFill>
                  <a:srgbClr val="00AFEF"/>
                </a:solidFill>
                <a:latin typeface="Times New Roman"/>
                <a:cs typeface="Times New Roman"/>
              </a:rPr>
              <a:t>every</a:t>
            </a:r>
            <a:r>
              <a:rPr sz="2000" b="1" spc="-30" dirty="0">
                <a:solidFill>
                  <a:srgbClr val="00AFEF"/>
                </a:solidFill>
                <a:latin typeface="Times New Roman"/>
                <a:cs typeface="Times New Roman"/>
              </a:rPr>
              <a:t> </a:t>
            </a:r>
            <a:r>
              <a:rPr sz="2000" b="1" dirty="0">
                <a:solidFill>
                  <a:srgbClr val="00AFEF"/>
                </a:solidFill>
                <a:latin typeface="Times New Roman"/>
                <a:cs typeface="Times New Roman"/>
              </a:rPr>
              <a:t>element</a:t>
            </a:r>
            <a:r>
              <a:rPr sz="2000" b="1" spc="-35" dirty="0">
                <a:solidFill>
                  <a:srgbClr val="00AFEF"/>
                </a:solidFill>
                <a:latin typeface="Times New Roman"/>
                <a:cs typeface="Times New Roman"/>
              </a:rPr>
              <a:t> </a:t>
            </a:r>
            <a:r>
              <a:rPr sz="2000" b="1" spc="-60" dirty="0">
                <a:solidFill>
                  <a:srgbClr val="00AFEF"/>
                </a:solidFill>
                <a:latin typeface="Times New Roman"/>
                <a:cs typeface="Times New Roman"/>
              </a:rPr>
              <a:t>a</a:t>
            </a:r>
            <a:r>
              <a:rPr lang="en-US" sz="2000" b="1" spc="-60" dirty="0">
                <a:latin typeface="Times New Roman"/>
                <a:cs typeface="Times New Roman"/>
              </a:rPr>
              <a:t> </a:t>
            </a:r>
            <a:r>
              <a:rPr sz="2000" dirty="0">
                <a:solidFill>
                  <a:srgbClr val="00AFEF"/>
                </a:solidFill>
                <a:latin typeface="Cambria Math"/>
                <a:cs typeface="Cambria Math"/>
              </a:rPr>
              <a:t>∈</a:t>
            </a:r>
            <a:r>
              <a:rPr sz="2000" spc="-80" dirty="0">
                <a:solidFill>
                  <a:srgbClr val="00AFEF"/>
                </a:solidFill>
                <a:latin typeface="Cambria Math"/>
                <a:cs typeface="Cambria Math"/>
              </a:rPr>
              <a:t> </a:t>
            </a:r>
            <a:r>
              <a:rPr sz="2000" b="1" spc="-25" dirty="0">
                <a:solidFill>
                  <a:srgbClr val="00AFEF"/>
                </a:solidFill>
                <a:latin typeface="Times New Roman"/>
                <a:cs typeface="Times New Roman"/>
              </a:rPr>
              <a:t>A.</a:t>
            </a:r>
            <a:endParaRPr sz="2000" dirty="0">
              <a:latin typeface="Times New Roman"/>
              <a:cs typeface="Times New Roman"/>
            </a:endParaRPr>
          </a:p>
          <a:p>
            <a:pPr marL="12700" algn="ctr">
              <a:lnSpc>
                <a:spcPts val="1939"/>
              </a:lnSpc>
              <a:spcBef>
                <a:spcPts val="795"/>
              </a:spcBef>
            </a:pPr>
            <a:r>
              <a:rPr lang="en-US" sz="2400" b="1" spc="-45" dirty="0">
                <a:solidFill>
                  <a:srgbClr val="CC0066"/>
                </a:solidFill>
                <a:latin typeface="Times New Roman"/>
                <a:cs typeface="Times New Roman"/>
              </a:rPr>
              <a:t>(</a:t>
            </a:r>
            <a:r>
              <a:rPr lang="en-US" sz="2400" b="1" spc="-45" dirty="0" err="1">
                <a:solidFill>
                  <a:srgbClr val="CC0066"/>
                </a:solidFill>
                <a:latin typeface="Times New Roman"/>
                <a:cs typeface="Times New Roman"/>
              </a:rPr>
              <a:t>a,a</a:t>
            </a:r>
            <a:r>
              <a:rPr lang="en-US" sz="2400" b="1" spc="-45" dirty="0">
                <a:solidFill>
                  <a:srgbClr val="CC0066"/>
                </a:solidFill>
                <a:latin typeface="Times New Roman"/>
                <a:cs typeface="Times New Roman"/>
              </a:rPr>
              <a:t>) ∈ R</a:t>
            </a:r>
          </a:p>
          <a:p>
            <a:pPr marL="12700" algn="l">
              <a:lnSpc>
                <a:spcPts val="1939"/>
              </a:lnSpc>
              <a:spcBef>
                <a:spcPts val="795"/>
              </a:spcBef>
            </a:pPr>
            <a:r>
              <a:rPr lang="en-US" sz="2000" spc="-45" dirty="0">
                <a:solidFill>
                  <a:srgbClr val="CC0066"/>
                </a:solidFill>
                <a:latin typeface="Times New Roman"/>
                <a:cs typeface="Times New Roman"/>
              </a:rPr>
              <a:t>Every element is related to itself.</a:t>
            </a:r>
          </a:p>
          <a:p>
            <a:pPr marL="12700" algn="l">
              <a:lnSpc>
                <a:spcPts val="1939"/>
              </a:lnSpc>
              <a:spcBef>
                <a:spcPts val="795"/>
              </a:spcBef>
            </a:pPr>
            <a:endParaRPr lang="en-US" sz="2000" dirty="0">
              <a:solidFill>
                <a:srgbClr val="CC0066"/>
              </a:solidFill>
              <a:latin typeface="Times New Roman"/>
              <a:cs typeface="Times New Roman"/>
            </a:endParaRPr>
          </a:p>
          <a:p>
            <a:pPr marL="12700" algn="l">
              <a:lnSpc>
                <a:spcPts val="1939"/>
              </a:lnSpc>
              <a:spcBef>
                <a:spcPts val="795"/>
              </a:spcBef>
            </a:pPr>
            <a:r>
              <a:rPr lang="en-US" sz="2000" b="1" dirty="0">
                <a:solidFill>
                  <a:srgbClr val="002060"/>
                </a:solidFill>
                <a:latin typeface="Times New Roman"/>
                <a:cs typeface="Times New Roman"/>
              </a:rPr>
              <a:t>Example A = {1,2,3}</a:t>
            </a:r>
          </a:p>
          <a:p>
            <a:pPr marL="12700" algn="l">
              <a:lnSpc>
                <a:spcPts val="1939"/>
              </a:lnSpc>
              <a:spcBef>
                <a:spcPts val="795"/>
              </a:spcBef>
            </a:pPr>
            <a:r>
              <a:rPr lang="en-US" sz="2000" dirty="0">
                <a:solidFill>
                  <a:srgbClr val="002060"/>
                </a:solidFill>
                <a:latin typeface="Times New Roman"/>
                <a:cs typeface="Times New Roman"/>
              </a:rPr>
              <a:t>If R = {(1,1),(2,2),(3,3),(1,2)}</a:t>
            </a:r>
          </a:p>
          <a:p>
            <a:pPr marL="12700" algn="l">
              <a:lnSpc>
                <a:spcPts val="1939"/>
              </a:lnSpc>
              <a:spcBef>
                <a:spcPts val="795"/>
              </a:spcBef>
            </a:pPr>
            <a:r>
              <a:rPr lang="en-US" sz="2000" dirty="0">
                <a:solidFill>
                  <a:srgbClr val="002060"/>
                </a:solidFill>
                <a:latin typeface="Times New Roman"/>
                <a:cs typeface="Times New Roman"/>
              </a:rPr>
              <a:t>This is reflexive because:</a:t>
            </a:r>
          </a:p>
          <a:p>
            <a:pPr marL="12700" algn="l">
              <a:lnSpc>
                <a:spcPts val="1939"/>
              </a:lnSpc>
              <a:spcBef>
                <a:spcPts val="795"/>
              </a:spcBef>
            </a:pPr>
            <a:r>
              <a:rPr lang="en-US" sz="2000" dirty="0">
                <a:solidFill>
                  <a:srgbClr val="002060"/>
                </a:solidFill>
                <a:latin typeface="Times New Roman"/>
                <a:cs typeface="Times New Roman"/>
              </a:rPr>
              <a:t>(1,1) </a:t>
            </a:r>
          </a:p>
          <a:p>
            <a:pPr marL="12700" algn="l">
              <a:lnSpc>
                <a:spcPts val="1939"/>
              </a:lnSpc>
              <a:spcBef>
                <a:spcPts val="795"/>
              </a:spcBef>
            </a:pPr>
            <a:r>
              <a:rPr lang="en-US" sz="2000" dirty="0">
                <a:solidFill>
                  <a:srgbClr val="002060"/>
                </a:solidFill>
                <a:latin typeface="Times New Roman"/>
                <a:cs typeface="Times New Roman"/>
              </a:rPr>
              <a:t>(2,2) </a:t>
            </a:r>
          </a:p>
          <a:p>
            <a:pPr marL="12700" algn="l">
              <a:lnSpc>
                <a:spcPts val="1939"/>
              </a:lnSpc>
              <a:spcBef>
                <a:spcPts val="795"/>
              </a:spcBef>
            </a:pPr>
            <a:r>
              <a:rPr lang="en-US" sz="2000" dirty="0">
                <a:solidFill>
                  <a:srgbClr val="002060"/>
                </a:solidFill>
                <a:latin typeface="Times New Roman"/>
                <a:cs typeface="Times New Roman"/>
              </a:rPr>
              <a:t>(3,3) </a:t>
            </a:r>
          </a:p>
          <a:p>
            <a:pPr marL="12700" algn="l">
              <a:lnSpc>
                <a:spcPts val="1939"/>
              </a:lnSpc>
              <a:spcBef>
                <a:spcPts val="795"/>
              </a:spcBef>
            </a:pPr>
            <a:r>
              <a:rPr lang="en-US" sz="2000" dirty="0">
                <a:solidFill>
                  <a:srgbClr val="002060"/>
                </a:solidFill>
                <a:latin typeface="Times New Roman"/>
                <a:cs typeface="Times New Roman"/>
              </a:rPr>
              <a:t>All elements relate to themselves.</a:t>
            </a:r>
          </a:p>
          <a:p>
            <a:pPr marL="12700" algn="l">
              <a:lnSpc>
                <a:spcPts val="1939"/>
              </a:lnSpc>
              <a:spcBef>
                <a:spcPts val="795"/>
              </a:spcBef>
            </a:pPr>
            <a:endParaRPr lang="en-US" sz="2000" dirty="0">
              <a:solidFill>
                <a:srgbClr val="CC0066"/>
              </a:solidFill>
              <a:latin typeface="Times New Roman"/>
              <a:cs typeface="Times New Roman"/>
            </a:endParaRPr>
          </a:p>
          <a:p>
            <a:pPr marL="12700" algn="l">
              <a:lnSpc>
                <a:spcPts val="1939"/>
              </a:lnSpc>
              <a:spcBef>
                <a:spcPts val="795"/>
              </a:spcBef>
            </a:pPr>
            <a:r>
              <a:rPr lang="en-US" sz="2000" b="1" dirty="0">
                <a:solidFill>
                  <a:srgbClr val="7030A0"/>
                </a:solidFill>
                <a:latin typeface="Times New Roman"/>
                <a:cs typeface="Times New Roman"/>
              </a:rPr>
              <a:t>If one is missing?</a:t>
            </a:r>
          </a:p>
          <a:p>
            <a:pPr marL="12700" algn="l">
              <a:lnSpc>
                <a:spcPts val="1939"/>
              </a:lnSpc>
              <a:spcBef>
                <a:spcPts val="795"/>
              </a:spcBef>
            </a:pPr>
            <a:r>
              <a:rPr lang="en-US" sz="2000" dirty="0">
                <a:solidFill>
                  <a:srgbClr val="7030A0"/>
                </a:solidFill>
                <a:latin typeface="Times New Roman"/>
                <a:cs typeface="Times New Roman"/>
              </a:rPr>
              <a:t>If (3,3) is missing → NOT reflexive.</a:t>
            </a:r>
            <a:endParaRPr sz="2000" dirty="0">
              <a:solidFill>
                <a:srgbClr val="7030A0"/>
              </a:solidFill>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0738" y="-82296"/>
            <a:ext cx="5407661" cy="574040"/>
          </a:xfrm>
          <a:prstGeom prst="rect">
            <a:avLst/>
          </a:prstGeom>
        </p:spPr>
        <p:txBody>
          <a:bodyPr vert="horz" wrap="square" lIns="0" tIns="12700" rIns="0" bIns="0" rtlCol="0">
            <a:spAutoFit/>
          </a:bodyPr>
          <a:lstStyle/>
          <a:p>
            <a:pPr marL="12700">
              <a:lnSpc>
                <a:spcPct val="100000"/>
              </a:lnSpc>
              <a:spcBef>
                <a:spcPts val="100"/>
              </a:spcBef>
            </a:pPr>
            <a:r>
              <a:rPr dirty="0"/>
              <a:t>REFLEXIVE</a:t>
            </a:r>
            <a:r>
              <a:rPr spc="-185" dirty="0"/>
              <a:t> </a:t>
            </a:r>
            <a:r>
              <a:rPr spc="-20" dirty="0"/>
              <a:t>RELATION</a:t>
            </a:r>
          </a:p>
        </p:txBody>
      </p:sp>
      <p:sp>
        <p:nvSpPr>
          <p:cNvPr id="3" name="object 3"/>
          <p:cNvSpPr txBox="1"/>
          <p:nvPr/>
        </p:nvSpPr>
        <p:spPr>
          <a:xfrm>
            <a:off x="381000" y="762000"/>
            <a:ext cx="7236460" cy="4951997"/>
          </a:xfrm>
          <a:prstGeom prst="rect">
            <a:avLst/>
          </a:prstGeom>
        </p:spPr>
        <p:txBody>
          <a:bodyPr vert="horz" wrap="square" lIns="0" tIns="12065" rIns="0" bIns="0" rtlCol="0">
            <a:spAutoFit/>
          </a:bodyPr>
          <a:lstStyle/>
          <a:p>
            <a:pPr marL="12700">
              <a:lnSpc>
                <a:spcPct val="100000"/>
              </a:lnSpc>
              <a:spcBef>
                <a:spcPts val="795"/>
              </a:spcBef>
            </a:pPr>
            <a:r>
              <a:rPr sz="1700" b="1" dirty="0">
                <a:solidFill>
                  <a:srgbClr val="90C225"/>
                </a:solidFill>
                <a:latin typeface="Times New Roman"/>
                <a:cs typeface="Times New Roman"/>
              </a:rPr>
              <a:t>EXAMPLE</a:t>
            </a:r>
            <a:r>
              <a:rPr sz="1700" b="1" spc="-75" dirty="0">
                <a:solidFill>
                  <a:srgbClr val="90C225"/>
                </a:solidFill>
                <a:latin typeface="Times New Roman"/>
                <a:cs typeface="Times New Roman"/>
              </a:rPr>
              <a:t> </a:t>
            </a:r>
            <a:r>
              <a:rPr sz="1700" b="1" spc="-50" dirty="0">
                <a:solidFill>
                  <a:srgbClr val="90C225"/>
                </a:solidFill>
                <a:latin typeface="Times New Roman"/>
                <a:cs typeface="Times New Roman"/>
              </a:rPr>
              <a:t>G</a:t>
            </a:r>
            <a:endParaRPr sz="1700" dirty="0">
              <a:latin typeface="Times New Roman"/>
              <a:cs typeface="Times New Roman"/>
            </a:endParaRPr>
          </a:p>
          <a:p>
            <a:pPr marL="12700">
              <a:lnSpc>
                <a:spcPct val="100000"/>
              </a:lnSpc>
              <a:spcBef>
                <a:spcPts val="800"/>
              </a:spcBef>
            </a:pPr>
            <a:r>
              <a:rPr sz="1700" b="1" dirty="0">
                <a:solidFill>
                  <a:srgbClr val="404040"/>
                </a:solidFill>
                <a:latin typeface="Times New Roman"/>
                <a:cs typeface="Times New Roman"/>
              </a:rPr>
              <a:t>Consider</a:t>
            </a:r>
            <a:r>
              <a:rPr sz="1700" b="1" spc="-6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following</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3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3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35" dirty="0">
                <a:solidFill>
                  <a:srgbClr val="404040"/>
                </a:solidFill>
                <a:latin typeface="Times New Roman"/>
                <a:cs typeface="Times New Roman"/>
              </a:rPr>
              <a:t> </a:t>
            </a:r>
            <a:r>
              <a:rPr sz="1700" b="1" spc="-25" dirty="0">
                <a:solidFill>
                  <a:srgbClr val="404040"/>
                </a:solidFill>
                <a:latin typeface="Times New Roman"/>
                <a:cs typeface="Times New Roman"/>
              </a:rPr>
              <a:t>4}:</a:t>
            </a:r>
            <a:endParaRPr sz="1700" dirty="0">
              <a:latin typeface="Times New Roman"/>
              <a:cs typeface="Times New Roman"/>
            </a:endParaRPr>
          </a:p>
          <a:p>
            <a:pPr marL="12700">
              <a:lnSpc>
                <a:spcPct val="100000"/>
              </a:lnSpc>
              <a:spcBef>
                <a:spcPts val="79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spc="-20" dirty="0">
                <a:solidFill>
                  <a:srgbClr val="404040"/>
                </a:solidFill>
                <a:latin typeface="Times New Roman"/>
                <a:cs typeface="Times New Roman"/>
              </a:rPr>
              <a:t>4)}</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spc="-20" dirty="0">
                <a:solidFill>
                  <a:srgbClr val="404040"/>
                </a:solidFill>
                <a:latin typeface="Times New Roman"/>
                <a:cs typeface="Times New Roman"/>
              </a:rPr>
              <a:t>1)}</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3</a:t>
            </a:r>
            <a:r>
              <a:rPr sz="1700" spc="-25"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3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spc="-20" dirty="0">
                <a:solidFill>
                  <a:srgbClr val="404040"/>
                </a:solidFill>
                <a:latin typeface="Times New Roman"/>
                <a:cs typeface="Times New Roman"/>
              </a:rPr>
              <a:t>4)}</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79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4</a:t>
            </a:r>
            <a:r>
              <a:rPr sz="1700" spc="-25"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spc="-20" dirty="0">
                <a:solidFill>
                  <a:srgbClr val="404040"/>
                </a:solidFill>
                <a:latin typeface="Times New Roman"/>
                <a:cs typeface="Times New Roman"/>
              </a:rPr>
              <a:t>3)}</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5</a:t>
            </a:r>
            <a:r>
              <a:rPr sz="1700" spc="-15" dirty="0">
                <a:solidFill>
                  <a:srgbClr val="404040"/>
                </a:solidFill>
                <a:latin typeface="Times New Roman"/>
                <a:cs typeface="Times New Roman"/>
              </a:rPr>
              <a:t> </a:t>
            </a:r>
            <a:r>
              <a:rPr sz="1700" dirty="0">
                <a:solidFill>
                  <a:srgbClr val="404040"/>
                </a:solidFill>
                <a:latin typeface="Times New Roman"/>
                <a:cs typeface="Times New Roman"/>
              </a:rPr>
              <a:t>= {(1</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5"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5"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spc="-20" dirty="0">
                <a:solidFill>
                  <a:srgbClr val="404040"/>
                </a:solidFill>
                <a:latin typeface="Times New Roman"/>
                <a:cs typeface="Times New Roman"/>
              </a:rPr>
              <a:t>4)}</a:t>
            </a:r>
            <a:r>
              <a:rPr sz="1700"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6</a:t>
            </a:r>
            <a:r>
              <a:rPr sz="1700" spc="-20" dirty="0">
                <a:solidFill>
                  <a:srgbClr val="404040"/>
                </a:solidFill>
                <a:latin typeface="Times New Roman"/>
                <a:cs typeface="Times New Roman"/>
              </a:rPr>
              <a:t> </a:t>
            </a:r>
            <a:r>
              <a:rPr sz="1700" dirty="0">
                <a:solidFill>
                  <a:srgbClr val="404040"/>
                </a:solidFill>
                <a:latin typeface="Times New Roman"/>
                <a:cs typeface="Times New Roman"/>
              </a:rPr>
              <a:t>=</a:t>
            </a:r>
            <a:r>
              <a:rPr sz="1700" spc="-1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25" dirty="0">
                <a:solidFill>
                  <a:srgbClr val="404040"/>
                </a:solidFill>
                <a:latin typeface="Times New Roman"/>
                <a:cs typeface="Times New Roman"/>
              </a:rPr>
              <a:t> </a:t>
            </a:r>
            <a:r>
              <a:rPr sz="1700" spc="-20" dirty="0">
                <a:solidFill>
                  <a:srgbClr val="404040"/>
                </a:solidFill>
                <a:latin typeface="Times New Roman"/>
                <a:cs typeface="Times New Roman"/>
              </a:rPr>
              <a:t>4)}</a:t>
            </a:r>
            <a:r>
              <a:rPr sz="1700" i="1" spc="-20" dirty="0">
                <a:solidFill>
                  <a:srgbClr val="404040"/>
                </a:solidFill>
                <a:latin typeface="Times New Roman"/>
                <a:cs typeface="Times New Roman"/>
              </a:rPr>
              <a:t>.</a:t>
            </a:r>
            <a:endParaRPr sz="1700" dirty="0">
              <a:latin typeface="Times New Roman"/>
              <a:cs typeface="Times New Roman"/>
            </a:endParaRPr>
          </a:p>
          <a:p>
            <a:pPr marL="12700" marR="3201035">
              <a:lnSpc>
                <a:spcPts val="2840"/>
              </a:lnSpc>
              <a:spcBef>
                <a:spcPts val="219"/>
              </a:spcBef>
            </a:pPr>
            <a:r>
              <a:rPr sz="1700" b="1" dirty="0">
                <a:solidFill>
                  <a:srgbClr val="404040"/>
                </a:solidFill>
                <a:latin typeface="Times New Roman"/>
                <a:cs typeface="Times New Roman"/>
              </a:rPr>
              <a:t>Which</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these</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are</a:t>
            </a:r>
            <a:r>
              <a:rPr sz="1700" b="1" spc="-50" dirty="0">
                <a:solidFill>
                  <a:srgbClr val="404040"/>
                </a:solidFill>
                <a:latin typeface="Times New Roman"/>
                <a:cs typeface="Times New Roman"/>
              </a:rPr>
              <a:t> </a:t>
            </a:r>
            <a:r>
              <a:rPr sz="1700" b="1" spc="-10" dirty="0">
                <a:solidFill>
                  <a:srgbClr val="404040"/>
                </a:solidFill>
                <a:latin typeface="Times New Roman"/>
                <a:cs typeface="Times New Roman"/>
              </a:rPr>
              <a:t>reflexive? </a:t>
            </a:r>
            <a:r>
              <a:rPr sz="1700" b="1" u="sng" spc="-10" dirty="0">
                <a:solidFill>
                  <a:srgbClr val="6F2F9F"/>
                </a:solidFill>
                <a:uFill>
                  <a:solidFill>
                    <a:srgbClr val="6F2F9F"/>
                  </a:solidFill>
                </a:uFill>
                <a:latin typeface="Times New Roman"/>
                <a:cs typeface="Times New Roman"/>
              </a:rPr>
              <a:t>SOLUTION:</a:t>
            </a:r>
            <a:endParaRPr sz="1700" dirty="0">
              <a:latin typeface="Times New Roman"/>
              <a:cs typeface="Times New Roman"/>
            </a:endParaRPr>
          </a:p>
          <a:p>
            <a:pPr marL="355600" marR="20320" indent="-342900">
              <a:lnSpc>
                <a:spcPts val="1839"/>
              </a:lnSpc>
              <a:spcBef>
                <a:spcPts val="79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dirty="0">
                <a:solidFill>
                  <a:srgbClr val="404040"/>
                </a:solidFill>
                <a:latin typeface="Times New Roman"/>
                <a:cs typeface="Times New Roman"/>
              </a:rPr>
              <a:t>The</a:t>
            </a:r>
            <a:r>
              <a:rPr sz="1700" spc="-30" dirty="0">
                <a:solidFill>
                  <a:srgbClr val="404040"/>
                </a:solidFill>
                <a:latin typeface="Times New Roman"/>
                <a:cs typeface="Times New Roman"/>
              </a:rPr>
              <a:t> </a:t>
            </a:r>
            <a:r>
              <a:rPr sz="1700" dirty="0">
                <a:solidFill>
                  <a:srgbClr val="404040"/>
                </a:solidFill>
                <a:latin typeface="Times New Roman"/>
                <a:cs typeface="Times New Roman"/>
              </a:rPr>
              <a:t>relations</a:t>
            </a:r>
            <a:r>
              <a:rPr sz="1700" spc="-20" dirty="0">
                <a:solidFill>
                  <a:srgbClr val="404040"/>
                </a:solidFill>
                <a:latin typeface="Times New Roman"/>
                <a:cs typeface="Times New Roman"/>
              </a:rPr>
              <a:t> </a:t>
            </a:r>
            <a:r>
              <a:rPr sz="1700" b="1" dirty="0">
                <a:solidFill>
                  <a:srgbClr val="00AFEF"/>
                </a:solidFill>
                <a:latin typeface="Times New Roman"/>
                <a:cs typeface="Times New Roman"/>
              </a:rPr>
              <a:t>R3</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R5</a:t>
            </a:r>
            <a:r>
              <a:rPr sz="1700" b="1" spc="-15" dirty="0">
                <a:solidFill>
                  <a:srgbClr val="00AFEF"/>
                </a:solidFill>
                <a:latin typeface="Times New Roman"/>
                <a:cs typeface="Times New Roman"/>
              </a:rPr>
              <a:t> </a:t>
            </a:r>
            <a:r>
              <a:rPr sz="1700" dirty="0">
                <a:solidFill>
                  <a:srgbClr val="404040"/>
                </a:solidFill>
                <a:latin typeface="Times New Roman"/>
                <a:cs typeface="Times New Roman"/>
              </a:rPr>
              <a:t>are</a:t>
            </a:r>
            <a:r>
              <a:rPr sz="1700" spc="-35" dirty="0">
                <a:solidFill>
                  <a:srgbClr val="404040"/>
                </a:solidFill>
                <a:latin typeface="Times New Roman"/>
                <a:cs typeface="Times New Roman"/>
              </a:rPr>
              <a:t> </a:t>
            </a:r>
            <a:r>
              <a:rPr sz="1700" b="1" dirty="0">
                <a:solidFill>
                  <a:srgbClr val="00AFEF"/>
                </a:solidFill>
                <a:latin typeface="Times New Roman"/>
                <a:cs typeface="Times New Roman"/>
              </a:rPr>
              <a:t>reflexive</a:t>
            </a:r>
            <a:r>
              <a:rPr sz="1700" b="1" spc="-30" dirty="0">
                <a:solidFill>
                  <a:srgbClr val="00AFEF"/>
                </a:solidFill>
                <a:latin typeface="Times New Roman"/>
                <a:cs typeface="Times New Roman"/>
              </a:rPr>
              <a:t> </a:t>
            </a:r>
            <a:r>
              <a:rPr sz="1700" dirty="0">
                <a:solidFill>
                  <a:srgbClr val="404040"/>
                </a:solidFill>
                <a:latin typeface="Times New Roman"/>
                <a:cs typeface="Times New Roman"/>
              </a:rPr>
              <a:t>because</a:t>
            </a:r>
            <a:r>
              <a:rPr sz="1700" spc="-40" dirty="0">
                <a:solidFill>
                  <a:srgbClr val="404040"/>
                </a:solidFill>
                <a:latin typeface="Times New Roman"/>
                <a:cs typeface="Times New Roman"/>
              </a:rPr>
              <a:t> </a:t>
            </a:r>
            <a:r>
              <a:rPr sz="1700" dirty="0">
                <a:solidFill>
                  <a:srgbClr val="404040"/>
                </a:solidFill>
                <a:latin typeface="Times New Roman"/>
                <a:cs typeface="Times New Roman"/>
              </a:rPr>
              <a:t>they</a:t>
            </a:r>
            <a:r>
              <a:rPr sz="1700" spc="-30" dirty="0">
                <a:solidFill>
                  <a:srgbClr val="404040"/>
                </a:solidFill>
                <a:latin typeface="Times New Roman"/>
                <a:cs typeface="Times New Roman"/>
              </a:rPr>
              <a:t> </a:t>
            </a:r>
            <a:r>
              <a:rPr sz="1700" dirty="0">
                <a:solidFill>
                  <a:srgbClr val="404040"/>
                </a:solidFill>
                <a:latin typeface="Times New Roman"/>
                <a:cs typeface="Times New Roman"/>
              </a:rPr>
              <a:t>both</a:t>
            </a:r>
            <a:r>
              <a:rPr sz="1700" spc="-20" dirty="0">
                <a:solidFill>
                  <a:srgbClr val="404040"/>
                </a:solidFill>
                <a:latin typeface="Times New Roman"/>
                <a:cs typeface="Times New Roman"/>
              </a:rPr>
              <a:t> </a:t>
            </a:r>
            <a:r>
              <a:rPr sz="1700" dirty="0">
                <a:solidFill>
                  <a:srgbClr val="404040"/>
                </a:solidFill>
                <a:latin typeface="Times New Roman"/>
                <a:cs typeface="Times New Roman"/>
              </a:rPr>
              <a:t>contain</a:t>
            </a:r>
            <a:r>
              <a:rPr sz="1700" spc="-30" dirty="0">
                <a:solidFill>
                  <a:srgbClr val="404040"/>
                </a:solidFill>
                <a:latin typeface="Times New Roman"/>
                <a:cs typeface="Times New Roman"/>
              </a:rPr>
              <a:t> </a:t>
            </a:r>
            <a:r>
              <a:rPr sz="1700" dirty="0">
                <a:solidFill>
                  <a:srgbClr val="404040"/>
                </a:solidFill>
                <a:latin typeface="Times New Roman"/>
                <a:cs typeface="Times New Roman"/>
              </a:rPr>
              <a:t>all</a:t>
            </a:r>
            <a:r>
              <a:rPr sz="1700" spc="-15" dirty="0">
                <a:solidFill>
                  <a:srgbClr val="404040"/>
                </a:solidFill>
                <a:latin typeface="Times New Roman"/>
                <a:cs typeface="Times New Roman"/>
              </a:rPr>
              <a:t> </a:t>
            </a:r>
            <a:r>
              <a:rPr sz="1700" spc="-10" dirty="0">
                <a:solidFill>
                  <a:srgbClr val="404040"/>
                </a:solidFill>
                <a:latin typeface="Times New Roman"/>
                <a:cs typeface="Times New Roman"/>
              </a:rPr>
              <a:t>pairs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form</a:t>
            </a:r>
            <a:r>
              <a:rPr sz="1700" spc="-1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i="1" dirty="0">
                <a:solidFill>
                  <a:srgbClr val="404040"/>
                </a:solidFill>
                <a:latin typeface="Times New Roman"/>
                <a:cs typeface="Times New Roman"/>
              </a:rPr>
              <a:t>a</a:t>
            </a:r>
            <a:r>
              <a:rPr sz="1700" dirty="0">
                <a:solidFill>
                  <a:srgbClr val="404040"/>
                </a:solidFill>
                <a:latin typeface="Times New Roman"/>
                <a:cs typeface="Times New Roman"/>
              </a:rPr>
              <a:t>),</a:t>
            </a:r>
            <a:r>
              <a:rPr sz="1700" spc="-15" dirty="0">
                <a:solidFill>
                  <a:srgbClr val="404040"/>
                </a:solidFill>
                <a:latin typeface="Times New Roman"/>
                <a:cs typeface="Times New Roman"/>
              </a:rPr>
              <a:t> </a:t>
            </a:r>
            <a:r>
              <a:rPr sz="1700" spc="-20" dirty="0">
                <a:solidFill>
                  <a:srgbClr val="404040"/>
                </a:solidFill>
                <a:latin typeface="Times New Roman"/>
                <a:cs typeface="Times New Roman"/>
              </a:rPr>
              <a:t>namely,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15"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2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spc="-25" dirty="0">
                <a:solidFill>
                  <a:srgbClr val="404040"/>
                </a:solidFill>
                <a:latin typeface="Times New Roman"/>
                <a:cs typeface="Times New Roman"/>
              </a:rPr>
              <a:t>4).</a:t>
            </a:r>
            <a:endParaRPr sz="1700" dirty="0">
              <a:latin typeface="Times New Roman"/>
              <a:cs typeface="Times New Roman"/>
            </a:endParaRPr>
          </a:p>
          <a:p>
            <a:pPr marL="355600" marR="233679" indent="-342900" algn="just">
              <a:lnSpc>
                <a:spcPts val="1839"/>
              </a:lnSpc>
              <a:spcBef>
                <a:spcPts val="985"/>
              </a:spcBef>
            </a:pPr>
            <a:r>
              <a:rPr sz="1350" spc="114" dirty="0">
                <a:solidFill>
                  <a:srgbClr val="90C225"/>
                </a:solidFill>
                <a:latin typeface="Lucida Sans Unicode"/>
                <a:cs typeface="Lucida Sans Unicode"/>
              </a:rPr>
              <a:t>▶</a:t>
            </a:r>
            <a:r>
              <a:rPr sz="1350" spc="490" dirty="0">
                <a:solidFill>
                  <a:srgbClr val="90C225"/>
                </a:solidFill>
                <a:latin typeface="Lucida Sans Unicode"/>
                <a:cs typeface="Lucida Sans Unicode"/>
              </a:rPr>
              <a:t>  </a:t>
            </a:r>
            <a:r>
              <a:rPr sz="1700" dirty="0">
                <a:solidFill>
                  <a:srgbClr val="404040"/>
                </a:solidFill>
                <a:latin typeface="Times New Roman"/>
                <a:cs typeface="Times New Roman"/>
              </a:rPr>
              <a:t>The</a:t>
            </a:r>
            <a:r>
              <a:rPr sz="1700" spc="-20" dirty="0">
                <a:solidFill>
                  <a:srgbClr val="404040"/>
                </a:solidFill>
                <a:latin typeface="Times New Roman"/>
                <a:cs typeface="Times New Roman"/>
              </a:rPr>
              <a:t> </a:t>
            </a:r>
            <a:r>
              <a:rPr sz="1700" dirty="0">
                <a:solidFill>
                  <a:srgbClr val="404040"/>
                </a:solidFill>
                <a:latin typeface="Times New Roman"/>
                <a:cs typeface="Times New Roman"/>
              </a:rPr>
              <a:t>other</a:t>
            </a:r>
            <a:r>
              <a:rPr sz="1700" spc="-30" dirty="0">
                <a:solidFill>
                  <a:srgbClr val="404040"/>
                </a:solidFill>
                <a:latin typeface="Times New Roman"/>
                <a:cs typeface="Times New Roman"/>
              </a:rPr>
              <a:t> </a:t>
            </a:r>
            <a:r>
              <a:rPr sz="1700" dirty="0">
                <a:solidFill>
                  <a:srgbClr val="404040"/>
                </a:solidFill>
                <a:latin typeface="Times New Roman"/>
                <a:cs typeface="Times New Roman"/>
              </a:rPr>
              <a:t>relations</a:t>
            </a:r>
            <a:r>
              <a:rPr sz="1700" spc="-25" dirty="0">
                <a:solidFill>
                  <a:srgbClr val="404040"/>
                </a:solidFill>
                <a:latin typeface="Times New Roman"/>
                <a:cs typeface="Times New Roman"/>
              </a:rPr>
              <a:t> </a:t>
            </a:r>
            <a:r>
              <a:rPr sz="1700" dirty="0">
                <a:solidFill>
                  <a:srgbClr val="404040"/>
                </a:solidFill>
                <a:latin typeface="Times New Roman"/>
                <a:cs typeface="Times New Roman"/>
              </a:rPr>
              <a:t>are</a:t>
            </a:r>
            <a:r>
              <a:rPr sz="1700" spc="-10" dirty="0">
                <a:solidFill>
                  <a:srgbClr val="404040"/>
                </a:solidFill>
                <a:latin typeface="Times New Roman"/>
                <a:cs typeface="Times New Roman"/>
              </a:rPr>
              <a:t> </a:t>
            </a:r>
            <a:r>
              <a:rPr sz="1700" b="1" dirty="0">
                <a:solidFill>
                  <a:srgbClr val="E6B81E"/>
                </a:solidFill>
                <a:latin typeface="Times New Roman"/>
                <a:cs typeface="Times New Roman"/>
              </a:rPr>
              <a:t>not</a:t>
            </a:r>
            <a:r>
              <a:rPr sz="1700" b="1" spc="-20" dirty="0">
                <a:solidFill>
                  <a:srgbClr val="E6B81E"/>
                </a:solidFill>
                <a:latin typeface="Times New Roman"/>
                <a:cs typeface="Times New Roman"/>
              </a:rPr>
              <a:t> </a:t>
            </a:r>
            <a:r>
              <a:rPr sz="1700" b="1" dirty="0">
                <a:solidFill>
                  <a:srgbClr val="E6B81E"/>
                </a:solidFill>
                <a:latin typeface="Times New Roman"/>
                <a:cs typeface="Times New Roman"/>
              </a:rPr>
              <a:t>reflexive</a:t>
            </a:r>
            <a:r>
              <a:rPr sz="1700" b="1" spc="-30" dirty="0">
                <a:solidFill>
                  <a:srgbClr val="E6B81E"/>
                </a:solidFill>
                <a:latin typeface="Times New Roman"/>
                <a:cs typeface="Times New Roman"/>
              </a:rPr>
              <a:t> </a:t>
            </a:r>
            <a:r>
              <a:rPr sz="1700" dirty="0">
                <a:solidFill>
                  <a:srgbClr val="404040"/>
                </a:solidFill>
                <a:latin typeface="Times New Roman"/>
                <a:cs typeface="Times New Roman"/>
              </a:rPr>
              <a:t>because</a:t>
            </a:r>
            <a:r>
              <a:rPr sz="1700" spc="-30" dirty="0">
                <a:solidFill>
                  <a:srgbClr val="404040"/>
                </a:solidFill>
                <a:latin typeface="Times New Roman"/>
                <a:cs typeface="Times New Roman"/>
              </a:rPr>
              <a:t> </a:t>
            </a:r>
            <a:r>
              <a:rPr sz="1700" dirty="0">
                <a:solidFill>
                  <a:srgbClr val="404040"/>
                </a:solidFill>
                <a:latin typeface="Times New Roman"/>
                <a:cs typeface="Times New Roman"/>
              </a:rPr>
              <a:t>they</a:t>
            </a:r>
            <a:r>
              <a:rPr sz="1700" spc="-20" dirty="0">
                <a:solidFill>
                  <a:srgbClr val="404040"/>
                </a:solidFill>
                <a:latin typeface="Times New Roman"/>
                <a:cs typeface="Times New Roman"/>
              </a:rPr>
              <a:t> </a:t>
            </a:r>
            <a:r>
              <a:rPr sz="1700" dirty="0">
                <a:solidFill>
                  <a:srgbClr val="404040"/>
                </a:solidFill>
                <a:latin typeface="Times New Roman"/>
                <a:cs typeface="Times New Roman"/>
              </a:rPr>
              <a:t>do</a:t>
            </a:r>
            <a:r>
              <a:rPr sz="1700" spc="-15" dirty="0">
                <a:solidFill>
                  <a:srgbClr val="404040"/>
                </a:solidFill>
                <a:latin typeface="Times New Roman"/>
                <a:cs typeface="Times New Roman"/>
              </a:rPr>
              <a:t> </a:t>
            </a:r>
            <a:r>
              <a:rPr sz="1700" dirty="0">
                <a:solidFill>
                  <a:srgbClr val="404040"/>
                </a:solidFill>
                <a:latin typeface="Times New Roman"/>
                <a:cs typeface="Times New Roman"/>
              </a:rPr>
              <a:t>not</a:t>
            </a:r>
            <a:r>
              <a:rPr sz="1700" spc="-15" dirty="0">
                <a:solidFill>
                  <a:srgbClr val="404040"/>
                </a:solidFill>
                <a:latin typeface="Times New Roman"/>
                <a:cs typeface="Times New Roman"/>
              </a:rPr>
              <a:t> </a:t>
            </a:r>
            <a:r>
              <a:rPr sz="1700" dirty="0">
                <a:solidFill>
                  <a:srgbClr val="404040"/>
                </a:solidFill>
                <a:latin typeface="Times New Roman"/>
                <a:cs typeface="Times New Roman"/>
              </a:rPr>
              <a:t>contain</a:t>
            </a:r>
            <a:r>
              <a:rPr sz="1700" spc="-25" dirty="0">
                <a:solidFill>
                  <a:srgbClr val="404040"/>
                </a:solidFill>
                <a:latin typeface="Times New Roman"/>
                <a:cs typeface="Times New Roman"/>
              </a:rPr>
              <a:t> </a:t>
            </a:r>
            <a:r>
              <a:rPr sz="1700" dirty="0">
                <a:solidFill>
                  <a:srgbClr val="404040"/>
                </a:solidFill>
                <a:latin typeface="Times New Roman"/>
                <a:cs typeface="Times New Roman"/>
              </a:rPr>
              <a:t>all</a:t>
            </a:r>
            <a:r>
              <a:rPr sz="1700" spc="-15" dirty="0">
                <a:solidFill>
                  <a:srgbClr val="404040"/>
                </a:solidFill>
                <a:latin typeface="Times New Roman"/>
                <a:cs typeface="Times New Roman"/>
              </a:rPr>
              <a:t> </a:t>
            </a:r>
            <a:r>
              <a:rPr sz="1700" spc="-25" dirty="0">
                <a:solidFill>
                  <a:srgbClr val="404040"/>
                </a:solidFill>
                <a:latin typeface="Times New Roman"/>
                <a:cs typeface="Times New Roman"/>
              </a:rPr>
              <a:t>of </a:t>
            </a:r>
            <a:r>
              <a:rPr sz="1700" dirty="0">
                <a:solidFill>
                  <a:srgbClr val="404040"/>
                </a:solidFill>
                <a:latin typeface="Times New Roman"/>
                <a:cs typeface="Times New Roman"/>
              </a:rPr>
              <a:t>these</a:t>
            </a:r>
            <a:r>
              <a:rPr sz="1700" spc="-25" dirty="0">
                <a:solidFill>
                  <a:srgbClr val="404040"/>
                </a:solidFill>
                <a:latin typeface="Times New Roman"/>
                <a:cs typeface="Times New Roman"/>
              </a:rPr>
              <a:t> </a:t>
            </a:r>
            <a:r>
              <a:rPr sz="1700" dirty="0">
                <a:solidFill>
                  <a:srgbClr val="404040"/>
                </a:solidFill>
                <a:latin typeface="Times New Roman"/>
                <a:cs typeface="Times New Roman"/>
              </a:rPr>
              <a:t>ordered</a:t>
            </a:r>
            <a:r>
              <a:rPr sz="1700" spc="-35" dirty="0">
                <a:solidFill>
                  <a:srgbClr val="404040"/>
                </a:solidFill>
                <a:latin typeface="Times New Roman"/>
                <a:cs typeface="Times New Roman"/>
              </a:rPr>
              <a:t> </a:t>
            </a:r>
            <a:r>
              <a:rPr sz="1700" dirty="0">
                <a:solidFill>
                  <a:srgbClr val="404040"/>
                </a:solidFill>
                <a:latin typeface="Times New Roman"/>
                <a:cs typeface="Times New Roman"/>
              </a:rPr>
              <a:t>pairs.</a:t>
            </a:r>
            <a:r>
              <a:rPr sz="1700" spc="-15" dirty="0">
                <a:solidFill>
                  <a:srgbClr val="404040"/>
                </a:solidFill>
                <a:latin typeface="Times New Roman"/>
                <a:cs typeface="Times New Roman"/>
              </a:rPr>
              <a:t> </a:t>
            </a:r>
            <a:r>
              <a:rPr sz="1700" dirty="0">
                <a:solidFill>
                  <a:srgbClr val="404040"/>
                </a:solidFill>
                <a:latin typeface="Times New Roman"/>
                <a:cs typeface="Times New Roman"/>
              </a:rPr>
              <a:t>In</a:t>
            </a:r>
            <a:r>
              <a:rPr sz="1700" spc="-20" dirty="0">
                <a:solidFill>
                  <a:srgbClr val="404040"/>
                </a:solidFill>
                <a:latin typeface="Times New Roman"/>
                <a:cs typeface="Times New Roman"/>
              </a:rPr>
              <a:t> </a:t>
            </a:r>
            <a:r>
              <a:rPr sz="1700" spc="-10" dirty="0">
                <a:solidFill>
                  <a:srgbClr val="404040"/>
                </a:solidFill>
                <a:latin typeface="Times New Roman"/>
                <a:cs typeface="Times New Roman"/>
              </a:rPr>
              <a:t>particular,</a:t>
            </a:r>
            <a:r>
              <a:rPr sz="1700" spc="-20" dirty="0">
                <a:solidFill>
                  <a:srgbClr val="404040"/>
                </a:solidFill>
                <a:latin typeface="Times New Roman"/>
                <a:cs typeface="Times New Roman"/>
              </a:rPr>
              <a:t> </a:t>
            </a:r>
            <a:r>
              <a:rPr sz="1700" b="1" dirty="0">
                <a:solidFill>
                  <a:srgbClr val="E6B81E"/>
                </a:solidFill>
                <a:latin typeface="Times New Roman"/>
                <a:cs typeface="Times New Roman"/>
              </a:rPr>
              <a:t>R1,</a:t>
            </a:r>
            <a:r>
              <a:rPr sz="1700" b="1" spc="-15" dirty="0">
                <a:solidFill>
                  <a:srgbClr val="E6B81E"/>
                </a:solidFill>
                <a:latin typeface="Times New Roman"/>
                <a:cs typeface="Times New Roman"/>
              </a:rPr>
              <a:t> </a:t>
            </a:r>
            <a:r>
              <a:rPr sz="1700" b="1" dirty="0">
                <a:solidFill>
                  <a:srgbClr val="E6B81E"/>
                </a:solidFill>
                <a:latin typeface="Times New Roman"/>
                <a:cs typeface="Times New Roman"/>
              </a:rPr>
              <a:t>R2,</a:t>
            </a:r>
            <a:r>
              <a:rPr sz="1700" b="1" spc="-15" dirty="0">
                <a:solidFill>
                  <a:srgbClr val="E6B81E"/>
                </a:solidFill>
                <a:latin typeface="Times New Roman"/>
                <a:cs typeface="Times New Roman"/>
              </a:rPr>
              <a:t> </a:t>
            </a:r>
            <a:r>
              <a:rPr sz="1700" b="1" dirty="0">
                <a:solidFill>
                  <a:srgbClr val="E6B81E"/>
                </a:solidFill>
                <a:latin typeface="Times New Roman"/>
                <a:cs typeface="Times New Roman"/>
              </a:rPr>
              <a:t>R4,</a:t>
            </a:r>
            <a:r>
              <a:rPr sz="1700" b="1" spc="-20" dirty="0">
                <a:solidFill>
                  <a:srgbClr val="E6B81E"/>
                </a:solidFill>
                <a:latin typeface="Times New Roman"/>
                <a:cs typeface="Times New Roman"/>
              </a:rPr>
              <a:t> </a:t>
            </a:r>
            <a:r>
              <a:rPr sz="1700" b="1" dirty="0">
                <a:solidFill>
                  <a:srgbClr val="E6B81E"/>
                </a:solidFill>
                <a:latin typeface="Times New Roman"/>
                <a:cs typeface="Times New Roman"/>
              </a:rPr>
              <a:t>and</a:t>
            </a:r>
            <a:r>
              <a:rPr sz="1700" b="1" spc="-10" dirty="0">
                <a:solidFill>
                  <a:srgbClr val="E6B81E"/>
                </a:solidFill>
                <a:latin typeface="Times New Roman"/>
                <a:cs typeface="Times New Roman"/>
              </a:rPr>
              <a:t> </a:t>
            </a:r>
            <a:r>
              <a:rPr sz="1700" b="1" dirty="0">
                <a:solidFill>
                  <a:srgbClr val="E6B81E"/>
                </a:solidFill>
                <a:latin typeface="Times New Roman"/>
                <a:cs typeface="Times New Roman"/>
              </a:rPr>
              <a:t>R6</a:t>
            </a:r>
            <a:r>
              <a:rPr sz="1700" b="1" spc="-20" dirty="0">
                <a:solidFill>
                  <a:srgbClr val="E6B81E"/>
                </a:solidFill>
                <a:latin typeface="Times New Roman"/>
                <a:cs typeface="Times New Roman"/>
              </a:rPr>
              <a:t> </a:t>
            </a:r>
            <a:r>
              <a:rPr sz="1700" dirty="0">
                <a:solidFill>
                  <a:srgbClr val="404040"/>
                </a:solidFill>
                <a:latin typeface="Times New Roman"/>
                <a:cs typeface="Times New Roman"/>
              </a:rPr>
              <a:t>are</a:t>
            </a:r>
            <a:r>
              <a:rPr sz="1700" spc="-20" dirty="0">
                <a:solidFill>
                  <a:srgbClr val="404040"/>
                </a:solidFill>
                <a:latin typeface="Times New Roman"/>
                <a:cs typeface="Times New Roman"/>
              </a:rPr>
              <a:t> </a:t>
            </a:r>
            <a:r>
              <a:rPr sz="1700" dirty="0">
                <a:solidFill>
                  <a:srgbClr val="404040"/>
                </a:solidFill>
                <a:latin typeface="Times New Roman"/>
                <a:cs typeface="Times New Roman"/>
              </a:rPr>
              <a:t>not</a:t>
            </a:r>
            <a:r>
              <a:rPr sz="1700" spc="-20" dirty="0">
                <a:solidFill>
                  <a:srgbClr val="404040"/>
                </a:solidFill>
                <a:latin typeface="Times New Roman"/>
                <a:cs typeface="Times New Roman"/>
              </a:rPr>
              <a:t> </a:t>
            </a:r>
            <a:r>
              <a:rPr sz="1700" spc="-10" dirty="0">
                <a:solidFill>
                  <a:srgbClr val="404040"/>
                </a:solidFill>
                <a:latin typeface="Times New Roman"/>
                <a:cs typeface="Times New Roman"/>
              </a:rPr>
              <a:t>reflexive </a:t>
            </a:r>
            <a:r>
              <a:rPr sz="1700" dirty="0">
                <a:solidFill>
                  <a:srgbClr val="404040"/>
                </a:solidFill>
                <a:latin typeface="Times New Roman"/>
                <a:cs typeface="Times New Roman"/>
              </a:rPr>
              <a:t>because</a:t>
            </a:r>
            <a:r>
              <a:rPr sz="1700" spc="-30" dirty="0">
                <a:solidFill>
                  <a:srgbClr val="404040"/>
                </a:solidFill>
                <a:latin typeface="Times New Roman"/>
                <a:cs typeface="Times New Roman"/>
              </a:rPr>
              <a:t> </a:t>
            </a:r>
            <a:r>
              <a:rPr sz="1700" dirty="0">
                <a:solidFill>
                  <a:srgbClr val="404040"/>
                </a:solidFill>
                <a:latin typeface="Times New Roman"/>
                <a:cs typeface="Times New Roman"/>
              </a:rPr>
              <a:t>(3</a:t>
            </a:r>
            <a:r>
              <a:rPr sz="1700" i="1" dirty="0">
                <a:solidFill>
                  <a:srgbClr val="404040"/>
                </a:solidFill>
                <a:latin typeface="Times New Roman"/>
                <a:cs typeface="Times New Roman"/>
              </a:rPr>
              <a:t>,</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3)</a:t>
            </a:r>
            <a:r>
              <a:rPr sz="1700" spc="-20" dirty="0">
                <a:solidFill>
                  <a:srgbClr val="404040"/>
                </a:solidFill>
                <a:latin typeface="Times New Roman"/>
                <a:cs typeface="Times New Roman"/>
              </a:rPr>
              <a:t> </a:t>
            </a:r>
            <a:r>
              <a:rPr sz="1700" dirty="0">
                <a:solidFill>
                  <a:srgbClr val="404040"/>
                </a:solidFill>
                <a:latin typeface="Times New Roman"/>
                <a:cs typeface="Times New Roman"/>
              </a:rPr>
              <a:t>is</a:t>
            </a:r>
            <a:r>
              <a:rPr sz="1700" spc="-10" dirty="0">
                <a:solidFill>
                  <a:srgbClr val="404040"/>
                </a:solidFill>
                <a:latin typeface="Times New Roman"/>
                <a:cs typeface="Times New Roman"/>
              </a:rPr>
              <a:t> </a:t>
            </a:r>
            <a:r>
              <a:rPr sz="1700" dirty="0">
                <a:solidFill>
                  <a:srgbClr val="404040"/>
                </a:solidFill>
                <a:latin typeface="Times New Roman"/>
                <a:cs typeface="Times New Roman"/>
              </a:rPr>
              <a:t>not</a:t>
            </a:r>
            <a:r>
              <a:rPr sz="1700" spc="-10" dirty="0">
                <a:solidFill>
                  <a:srgbClr val="404040"/>
                </a:solidFill>
                <a:latin typeface="Times New Roman"/>
                <a:cs typeface="Times New Roman"/>
              </a:rPr>
              <a:t> </a:t>
            </a:r>
            <a:r>
              <a:rPr sz="1700" dirty="0">
                <a:solidFill>
                  <a:srgbClr val="404040"/>
                </a:solidFill>
                <a:latin typeface="Times New Roman"/>
                <a:cs typeface="Times New Roman"/>
              </a:rPr>
              <a:t>in</a:t>
            </a:r>
            <a:r>
              <a:rPr sz="1700" spc="-10" dirty="0">
                <a:solidFill>
                  <a:srgbClr val="404040"/>
                </a:solidFill>
                <a:latin typeface="Times New Roman"/>
                <a:cs typeface="Times New Roman"/>
              </a:rPr>
              <a:t> </a:t>
            </a:r>
            <a:r>
              <a:rPr sz="1700" dirty="0">
                <a:solidFill>
                  <a:srgbClr val="404040"/>
                </a:solidFill>
                <a:latin typeface="Times New Roman"/>
                <a:cs typeface="Times New Roman"/>
              </a:rPr>
              <a:t>any</a:t>
            </a:r>
            <a:r>
              <a:rPr sz="1700" spc="-15" dirty="0">
                <a:solidFill>
                  <a:srgbClr val="404040"/>
                </a:solidFill>
                <a:latin typeface="Times New Roman"/>
                <a:cs typeface="Times New Roman"/>
              </a:rPr>
              <a:t> </a:t>
            </a:r>
            <a:r>
              <a:rPr sz="1700" dirty="0">
                <a:solidFill>
                  <a:srgbClr val="404040"/>
                </a:solidFill>
                <a:latin typeface="Times New Roman"/>
                <a:cs typeface="Times New Roman"/>
              </a:rPr>
              <a:t>of</a:t>
            </a:r>
            <a:r>
              <a:rPr sz="1700" spc="-10" dirty="0">
                <a:solidFill>
                  <a:srgbClr val="404040"/>
                </a:solidFill>
                <a:latin typeface="Times New Roman"/>
                <a:cs typeface="Times New Roman"/>
              </a:rPr>
              <a:t> </a:t>
            </a:r>
            <a:r>
              <a:rPr sz="1700" dirty="0">
                <a:solidFill>
                  <a:srgbClr val="404040"/>
                </a:solidFill>
                <a:latin typeface="Times New Roman"/>
                <a:cs typeface="Times New Roman"/>
              </a:rPr>
              <a:t>these</a:t>
            </a:r>
            <a:r>
              <a:rPr sz="1700" spc="-20" dirty="0">
                <a:solidFill>
                  <a:srgbClr val="404040"/>
                </a:solidFill>
                <a:latin typeface="Times New Roman"/>
                <a:cs typeface="Times New Roman"/>
              </a:rPr>
              <a:t> </a:t>
            </a:r>
            <a:r>
              <a:rPr sz="1700" spc="-10" dirty="0">
                <a:solidFill>
                  <a:srgbClr val="404040"/>
                </a:solidFill>
                <a:latin typeface="Times New Roman"/>
                <a:cs typeface="Times New Roman"/>
              </a:rPr>
              <a:t>relations.</a:t>
            </a:r>
            <a:endParaRPr sz="1700" dirty="0">
              <a:latin typeface="Times New Roman"/>
              <a:cs typeface="Times New Roman"/>
            </a:endParaRPr>
          </a:p>
        </p:txBody>
      </p:sp>
    </p:spTree>
    <p:extLst>
      <p:ext uri="{BB962C8B-B14F-4D97-AF65-F5344CB8AC3E}">
        <p14:creationId xmlns:p14="http://schemas.microsoft.com/office/powerpoint/2010/main" val="297036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7900" y="38608"/>
            <a:ext cx="6489700" cy="1123315"/>
          </a:xfrm>
          <a:prstGeom prst="rect">
            <a:avLst/>
          </a:prstGeom>
        </p:spPr>
        <p:txBody>
          <a:bodyPr vert="horz" wrap="square" lIns="0" tIns="12700" rIns="0" bIns="0" rtlCol="0">
            <a:spAutoFit/>
          </a:bodyPr>
          <a:lstStyle/>
          <a:p>
            <a:pPr marL="12700" marR="5080" indent="1374140">
              <a:lnSpc>
                <a:spcPct val="100000"/>
              </a:lnSpc>
              <a:spcBef>
                <a:spcPts val="100"/>
              </a:spcBef>
            </a:pPr>
            <a:r>
              <a:rPr dirty="0"/>
              <a:t>SYMMETRIC</a:t>
            </a:r>
            <a:r>
              <a:rPr spc="-190" dirty="0"/>
              <a:t> </a:t>
            </a:r>
            <a:r>
              <a:rPr spc="-50" dirty="0"/>
              <a:t>&amp; </a:t>
            </a:r>
            <a:r>
              <a:rPr dirty="0"/>
              <a:t>ANTISYMMETRIC</a:t>
            </a:r>
            <a:r>
              <a:rPr spc="-15" dirty="0"/>
              <a:t> </a:t>
            </a:r>
            <a:r>
              <a:rPr spc="-50" dirty="0"/>
              <a:t>RELATION</a:t>
            </a:r>
          </a:p>
        </p:txBody>
      </p:sp>
      <p:sp>
        <p:nvSpPr>
          <p:cNvPr id="3" name="object 3"/>
          <p:cNvSpPr txBox="1"/>
          <p:nvPr/>
        </p:nvSpPr>
        <p:spPr>
          <a:xfrm>
            <a:off x="228600" y="1230071"/>
            <a:ext cx="7239000" cy="5630387"/>
          </a:xfrm>
          <a:prstGeom prst="rect">
            <a:avLst/>
          </a:prstGeom>
        </p:spPr>
        <p:txBody>
          <a:bodyPr vert="horz" wrap="square" lIns="0" tIns="64135" rIns="0" bIns="0" rtlCol="0">
            <a:spAutoFit/>
          </a:bodyPr>
          <a:lstStyle/>
          <a:p>
            <a:pPr marL="12700" marR="107314">
              <a:lnSpc>
                <a:spcPct val="80000"/>
              </a:lnSpc>
              <a:spcBef>
                <a:spcPts val="505"/>
              </a:spcBef>
            </a:pPr>
            <a:r>
              <a:rPr sz="2000" b="1" dirty="0">
                <a:solidFill>
                  <a:srgbClr val="00AFEF"/>
                </a:solidFill>
                <a:latin typeface="Times New Roman" panose="02020603050405020304" pitchFamily="18" charset="0"/>
                <a:cs typeface="Times New Roman" panose="02020603050405020304" pitchFamily="18" charset="0"/>
              </a:rPr>
              <a:t>A</a:t>
            </a:r>
            <a:r>
              <a:rPr sz="2000" b="1" spc="-110"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relation</a:t>
            </a:r>
            <a:r>
              <a:rPr sz="2000" b="1" spc="-4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R</a:t>
            </a:r>
            <a:r>
              <a:rPr sz="2000" b="1" i="1" spc="-20"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on</a:t>
            </a:r>
            <a:r>
              <a:rPr sz="2000" b="1" spc="-1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a</a:t>
            </a:r>
            <a:r>
              <a:rPr sz="2000" b="1" spc="-2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set</a:t>
            </a:r>
            <a:r>
              <a:rPr sz="2000" b="1" spc="-25" dirty="0">
                <a:solidFill>
                  <a:srgbClr val="00AFEF"/>
                </a:solidFill>
                <a:latin typeface="Times New Roman" panose="02020603050405020304" pitchFamily="18" charset="0"/>
                <a:cs typeface="Times New Roman" panose="02020603050405020304" pitchFamily="18" charset="0"/>
              </a:rPr>
              <a:t> </a:t>
            </a:r>
            <a:r>
              <a:rPr sz="2000" b="1" i="1" spc="-20" dirty="0">
                <a:solidFill>
                  <a:srgbClr val="00AFEF"/>
                </a:solidFill>
                <a:latin typeface="Times New Roman" panose="02020603050405020304" pitchFamily="18" charset="0"/>
                <a:cs typeface="Times New Roman" panose="02020603050405020304" pitchFamily="18" charset="0"/>
              </a:rPr>
              <a:t>A</a:t>
            </a:r>
            <a:r>
              <a:rPr sz="2000" b="1" i="1" spc="-9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is</a:t>
            </a:r>
            <a:r>
              <a:rPr sz="2000" b="1" spc="-1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called</a:t>
            </a:r>
            <a:r>
              <a:rPr sz="2000" b="1" spc="-20"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symmetric</a:t>
            </a:r>
            <a:r>
              <a:rPr sz="2000" b="1" i="1" spc="-1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if</a:t>
            </a:r>
            <a:r>
              <a:rPr sz="2000" b="1" spc="-2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a:t>
            </a:r>
            <a:r>
              <a:rPr sz="2000" b="1" i="1" dirty="0">
                <a:solidFill>
                  <a:srgbClr val="00AFEF"/>
                </a:solidFill>
                <a:latin typeface="Times New Roman" panose="02020603050405020304" pitchFamily="18" charset="0"/>
                <a:cs typeface="Times New Roman" panose="02020603050405020304" pitchFamily="18" charset="0"/>
              </a:rPr>
              <a:t>b,</a:t>
            </a:r>
            <a:r>
              <a:rPr sz="2000" b="1" i="1" spc="-2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a</a:t>
            </a:r>
            <a:r>
              <a:rPr sz="2000" b="1" dirty="0">
                <a:solidFill>
                  <a:srgbClr val="00AFEF"/>
                </a:solidFill>
                <a:latin typeface="Times New Roman" panose="02020603050405020304" pitchFamily="18" charset="0"/>
                <a:cs typeface="Times New Roman" panose="02020603050405020304" pitchFamily="18" charset="0"/>
              </a:rPr>
              <a:t>)</a:t>
            </a:r>
            <a:r>
              <a:rPr sz="2000" b="1" spc="-25" dirty="0">
                <a:solidFill>
                  <a:srgbClr val="00AFEF"/>
                </a:solidFill>
                <a:latin typeface="Times New Roman" panose="02020603050405020304" pitchFamily="18" charset="0"/>
                <a:cs typeface="Times New Roman" panose="02020603050405020304" pitchFamily="18" charset="0"/>
              </a:rPr>
              <a:t> </a:t>
            </a:r>
            <a:r>
              <a:rPr sz="2000" dirty="0">
                <a:solidFill>
                  <a:srgbClr val="00AFEF"/>
                </a:solidFill>
                <a:latin typeface="Times New Roman" panose="02020603050405020304" pitchFamily="18" charset="0"/>
                <a:cs typeface="Times New Roman" panose="02020603050405020304" pitchFamily="18" charset="0"/>
              </a:rPr>
              <a:t>∈</a:t>
            </a:r>
            <a:r>
              <a:rPr sz="2000" spc="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R</a:t>
            </a:r>
            <a:r>
              <a:rPr sz="2000" b="1" i="1" spc="-1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whenever</a:t>
            </a:r>
            <a:r>
              <a:rPr sz="2000" b="1" spc="-60"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a:t>
            </a:r>
            <a:r>
              <a:rPr sz="2000" b="1" i="1" dirty="0">
                <a:solidFill>
                  <a:srgbClr val="00AFEF"/>
                </a:solidFill>
                <a:latin typeface="Times New Roman" panose="02020603050405020304" pitchFamily="18" charset="0"/>
                <a:cs typeface="Times New Roman" panose="02020603050405020304" pitchFamily="18" charset="0"/>
              </a:rPr>
              <a:t>a,</a:t>
            </a:r>
            <a:r>
              <a:rPr sz="2000" b="1" i="1" spc="-2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b</a:t>
            </a:r>
            <a:r>
              <a:rPr sz="2000" b="1" dirty="0">
                <a:solidFill>
                  <a:srgbClr val="00AFEF"/>
                </a:solidFill>
                <a:latin typeface="Times New Roman" panose="02020603050405020304" pitchFamily="18" charset="0"/>
                <a:cs typeface="Times New Roman" panose="02020603050405020304" pitchFamily="18" charset="0"/>
              </a:rPr>
              <a:t>)</a:t>
            </a:r>
            <a:r>
              <a:rPr sz="2000" b="1" spc="-25" dirty="0">
                <a:solidFill>
                  <a:srgbClr val="00AFEF"/>
                </a:solidFill>
                <a:latin typeface="Times New Roman" panose="02020603050405020304" pitchFamily="18" charset="0"/>
                <a:cs typeface="Times New Roman" panose="02020603050405020304" pitchFamily="18" charset="0"/>
              </a:rPr>
              <a:t> </a:t>
            </a:r>
            <a:r>
              <a:rPr sz="2000" dirty="0">
                <a:solidFill>
                  <a:srgbClr val="00AFEF"/>
                </a:solidFill>
                <a:latin typeface="Times New Roman" panose="02020603050405020304" pitchFamily="18" charset="0"/>
                <a:cs typeface="Times New Roman" panose="02020603050405020304" pitchFamily="18" charset="0"/>
              </a:rPr>
              <a:t>∈</a:t>
            </a:r>
            <a:r>
              <a:rPr sz="2000" spc="10" dirty="0">
                <a:solidFill>
                  <a:srgbClr val="00AFEF"/>
                </a:solidFill>
                <a:latin typeface="Times New Roman" panose="02020603050405020304" pitchFamily="18" charset="0"/>
                <a:cs typeface="Times New Roman" panose="02020603050405020304" pitchFamily="18" charset="0"/>
              </a:rPr>
              <a:t> </a:t>
            </a:r>
            <a:r>
              <a:rPr sz="2000" b="1" i="1" spc="-25" dirty="0">
                <a:solidFill>
                  <a:srgbClr val="00AFEF"/>
                </a:solidFill>
                <a:latin typeface="Times New Roman" panose="02020603050405020304" pitchFamily="18" charset="0"/>
                <a:cs typeface="Times New Roman" panose="02020603050405020304" pitchFamily="18" charset="0"/>
              </a:rPr>
              <a:t>R</a:t>
            </a:r>
            <a:r>
              <a:rPr sz="2000" b="1" spc="-25"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for</a:t>
            </a:r>
            <a:r>
              <a:rPr sz="2000" b="1" spc="-50" dirty="0">
                <a:solidFill>
                  <a:srgbClr val="00AFEF"/>
                </a:solidFill>
                <a:latin typeface="Times New Roman" panose="02020603050405020304" pitchFamily="18" charset="0"/>
                <a:cs typeface="Times New Roman" panose="02020603050405020304" pitchFamily="18" charset="0"/>
              </a:rPr>
              <a:t> </a:t>
            </a:r>
            <a:r>
              <a:rPr sz="2000" b="1" dirty="0">
                <a:solidFill>
                  <a:srgbClr val="00AFEF"/>
                </a:solidFill>
                <a:latin typeface="Times New Roman" panose="02020603050405020304" pitchFamily="18" charset="0"/>
                <a:cs typeface="Times New Roman" panose="02020603050405020304" pitchFamily="18" charset="0"/>
              </a:rPr>
              <a:t>all</a:t>
            </a:r>
            <a:r>
              <a:rPr sz="2000" b="1" spc="-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a,</a:t>
            </a:r>
            <a:r>
              <a:rPr sz="2000" b="1" i="1" spc="-15" dirty="0">
                <a:solidFill>
                  <a:srgbClr val="00AFEF"/>
                </a:solidFill>
                <a:latin typeface="Times New Roman" panose="02020603050405020304" pitchFamily="18" charset="0"/>
                <a:cs typeface="Times New Roman" panose="02020603050405020304" pitchFamily="18" charset="0"/>
              </a:rPr>
              <a:t> </a:t>
            </a:r>
            <a:r>
              <a:rPr sz="2000" b="1" i="1" dirty="0">
                <a:solidFill>
                  <a:srgbClr val="00AFEF"/>
                </a:solidFill>
                <a:latin typeface="Times New Roman" panose="02020603050405020304" pitchFamily="18" charset="0"/>
                <a:cs typeface="Times New Roman" panose="02020603050405020304" pitchFamily="18" charset="0"/>
              </a:rPr>
              <a:t>b</a:t>
            </a:r>
            <a:r>
              <a:rPr sz="2000" b="1" i="1" spc="-15" dirty="0">
                <a:solidFill>
                  <a:srgbClr val="00AFEF"/>
                </a:solidFill>
                <a:latin typeface="Times New Roman" panose="02020603050405020304" pitchFamily="18" charset="0"/>
                <a:cs typeface="Times New Roman" panose="02020603050405020304" pitchFamily="18" charset="0"/>
              </a:rPr>
              <a:t> </a:t>
            </a:r>
            <a:r>
              <a:rPr sz="2000" dirty="0">
                <a:solidFill>
                  <a:srgbClr val="00AFEF"/>
                </a:solidFill>
                <a:latin typeface="Times New Roman" panose="02020603050405020304" pitchFamily="18" charset="0"/>
                <a:cs typeface="Times New Roman" panose="02020603050405020304" pitchFamily="18" charset="0"/>
              </a:rPr>
              <a:t>∈</a:t>
            </a:r>
            <a:r>
              <a:rPr sz="2000" spc="25" dirty="0">
                <a:solidFill>
                  <a:srgbClr val="00AFEF"/>
                </a:solidFill>
                <a:latin typeface="Times New Roman" panose="02020603050405020304" pitchFamily="18" charset="0"/>
                <a:cs typeface="Times New Roman" panose="02020603050405020304" pitchFamily="18" charset="0"/>
              </a:rPr>
              <a:t> </a:t>
            </a:r>
            <a:r>
              <a:rPr sz="2000" b="1" i="1" spc="-25" dirty="0">
                <a:solidFill>
                  <a:srgbClr val="00AFEF"/>
                </a:solidFill>
                <a:latin typeface="Times New Roman" panose="02020603050405020304" pitchFamily="18" charset="0"/>
                <a:cs typeface="Times New Roman" panose="02020603050405020304" pitchFamily="18" charset="0"/>
              </a:rPr>
              <a:t>A</a:t>
            </a:r>
            <a:r>
              <a:rPr sz="2000" b="1" spc="-25" dirty="0">
                <a:solidFill>
                  <a:srgbClr val="00AFEF"/>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R="931544" algn="ctr">
              <a:lnSpc>
                <a:spcPct val="100000"/>
              </a:lnSpc>
              <a:spcBef>
                <a:spcPts val="585"/>
              </a:spcBef>
            </a:pPr>
            <a:r>
              <a:rPr sz="2000" b="1" spc="-25" dirty="0">
                <a:solidFill>
                  <a:srgbClr val="E6B81E"/>
                </a:solidFill>
                <a:latin typeface="Times New Roman" panose="02020603050405020304" pitchFamily="18" charset="0"/>
                <a:cs typeface="Times New Roman" panose="02020603050405020304" pitchFamily="18" charset="0"/>
              </a:rPr>
              <a:t>AND</a:t>
            </a:r>
            <a:endParaRPr sz="2000" dirty="0">
              <a:latin typeface="Times New Roman" panose="02020603050405020304" pitchFamily="18" charset="0"/>
              <a:cs typeface="Times New Roman" panose="02020603050405020304" pitchFamily="18" charset="0"/>
            </a:endParaRPr>
          </a:p>
          <a:p>
            <a:pPr marL="12700" marR="74295">
              <a:lnSpc>
                <a:spcPct val="80000"/>
              </a:lnSpc>
              <a:spcBef>
                <a:spcPts val="1005"/>
              </a:spcBef>
            </a:pPr>
            <a:r>
              <a:rPr sz="2000" b="1" dirty="0">
                <a:solidFill>
                  <a:srgbClr val="6F2F9F"/>
                </a:solidFill>
                <a:latin typeface="Times New Roman" panose="02020603050405020304" pitchFamily="18" charset="0"/>
                <a:cs typeface="Times New Roman" panose="02020603050405020304" pitchFamily="18" charset="0"/>
              </a:rPr>
              <a:t>A</a:t>
            </a:r>
            <a:r>
              <a:rPr sz="2000" b="1" spc="-1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relation</a:t>
            </a:r>
            <a:r>
              <a:rPr sz="2000" b="1" spc="-3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R</a:t>
            </a:r>
            <a:r>
              <a:rPr sz="2000" b="1" i="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on</a:t>
            </a:r>
            <a:r>
              <a:rPr sz="2000" b="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a:t>
            </a:r>
            <a:r>
              <a:rPr sz="2000" b="1" spc="-2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set</a:t>
            </a:r>
            <a:r>
              <a:rPr sz="2000" b="1" spc="-20" dirty="0">
                <a:solidFill>
                  <a:srgbClr val="6F2F9F"/>
                </a:solidFill>
                <a:latin typeface="Times New Roman" panose="02020603050405020304" pitchFamily="18" charset="0"/>
                <a:cs typeface="Times New Roman" panose="02020603050405020304" pitchFamily="18" charset="0"/>
              </a:rPr>
              <a:t> </a:t>
            </a:r>
            <a:r>
              <a:rPr sz="2000" b="1" i="1" spc="-20" dirty="0">
                <a:solidFill>
                  <a:srgbClr val="6F2F9F"/>
                </a:solidFill>
                <a:latin typeface="Times New Roman" panose="02020603050405020304" pitchFamily="18" charset="0"/>
                <a:cs typeface="Times New Roman" panose="02020603050405020304" pitchFamily="18" charset="0"/>
              </a:rPr>
              <a:t>A</a:t>
            </a:r>
            <a:r>
              <a:rPr sz="2000" b="1" i="1" spc="-9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such</a:t>
            </a:r>
            <a:r>
              <a:rPr sz="2000" b="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that</a:t>
            </a:r>
            <a:r>
              <a:rPr sz="2000" b="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for</a:t>
            </a:r>
            <a:r>
              <a:rPr sz="2000" b="1" spc="-5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all</a:t>
            </a:r>
            <a:r>
              <a:rPr sz="2000" b="1" spc="-5"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a,</a:t>
            </a:r>
            <a:r>
              <a:rPr sz="2000" b="1" i="1" spc="-2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b</a:t>
            </a:r>
            <a:r>
              <a:rPr sz="2000" b="1" i="1" spc="-20" dirty="0">
                <a:solidFill>
                  <a:srgbClr val="6F2F9F"/>
                </a:solidFill>
                <a:latin typeface="Times New Roman" panose="02020603050405020304" pitchFamily="18" charset="0"/>
                <a:cs typeface="Times New Roman" panose="02020603050405020304" pitchFamily="18" charset="0"/>
              </a:rPr>
              <a:t> </a:t>
            </a:r>
            <a:r>
              <a:rPr sz="2000" dirty="0">
                <a:solidFill>
                  <a:srgbClr val="6F2F9F"/>
                </a:solidFill>
                <a:latin typeface="Times New Roman" panose="02020603050405020304" pitchFamily="18" charset="0"/>
                <a:cs typeface="Times New Roman" panose="02020603050405020304" pitchFamily="18" charset="0"/>
              </a:rPr>
              <a:t>∈</a:t>
            </a:r>
            <a:r>
              <a:rPr sz="2000" spc="15"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A</a:t>
            </a:r>
            <a:r>
              <a:rPr sz="2000" b="1" dirty="0">
                <a:solidFill>
                  <a:srgbClr val="6F2F9F"/>
                </a:solidFill>
                <a:latin typeface="Times New Roman" panose="02020603050405020304" pitchFamily="18" charset="0"/>
                <a:cs typeface="Times New Roman" panose="02020603050405020304" pitchFamily="18" charset="0"/>
              </a:rPr>
              <a:t>,</a:t>
            </a:r>
            <a:r>
              <a:rPr sz="2000" b="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if</a:t>
            </a:r>
            <a:r>
              <a:rPr sz="2000" b="1" spc="-2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t>
            </a:r>
            <a:r>
              <a:rPr sz="2000" b="1" i="1" dirty="0">
                <a:solidFill>
                  <a:srgbClr val="6F2F9F"/>
                </a:solidFill>
                <a:latin typeface="Times New Roman" panose="02020603050405020304" pitchFamily="18" charset="0"/>
                <a:cs typeface="Times New Roman" panose="02020603050405020304" pitchFamily="18" charset="0"/>
              </a:rPr>
              <a:t>a,</a:t>
            </a:r>
            <a:r>
              <a:rPr sz="2000" b="1" i="1" spc="-2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b</a:t>
            </a:r>
            <a:r>
              <a:rPr sz="2000" b="1" dirty="0">
                <a:solidFill>
                  <a:srgbClr val="6F2F9F"/>
                </a:solidFill>
                <a:latin typeface="Times New Roman" panose="02020603050405020304" pitchFamily="18" charset="0"/>
                <a:cs typeface="Times New Roman" panose="02020603050405020304" pitchFamily="18" charset="0"/>
              </a:rPr>
              <a:t>)</a:t>
            </a:r>
            <a:r>
              <a:rPr sz="2000" b="1" spc="-15" dirty="0">
                <a:solidFill>
                  <a:srgbClr val="6F2F9F"/>
                </a:solidFill>
                <a:latin typeface="Times New Roman" panose="02020603050405020304" pitchFamily="18" charset="0"/>
                <a:cs typeface="Times New Roman" panose="02020603050405020304" pitchFamily="18" charset="0"/>
              </a:rPr>
              <a:t> </a:t>
            </a:r>
            <a:r>
              <a:rPr sz="2000" dirty="0">
                <a:solidFill>
                  <a:srgbClr val="6F2F9F"/>
                </a:solidFill>
                <a:latin typeface="Times New Roman" panose="02020603050405020304" pitchFamily="18" charset="0"/>
                <a:cs typeface="Times New Roman" panose="02020603050405020304" pitchFamily="18" charset="0"/>
              </a:rPr>
              <a:t>∈</a:t>
            </a:r>
            <a:r>
              <a:rPr sz="2000" spc="1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R</a:t>
            </a:r>
            <a:r>
              <a:rPr sz="2000" b="1" i="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and</a:t>
            </a:r>
            <a:r>
              <a:rPr sz="2000" b="1" spc="-10"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t>
            </a:r>
            <a:r>
              <a:rPr sz="2000" b="1" i="1" dirty="0">
                <a:solidFill>
                  <a:srgbClr val="6F2F9F"/>
                </a:solidFill>
                <a:latin typeface="Times New Roman" panose="02020603050405020304" pitchFamily="18" charset="0"/>
                <a:cs typeface="Times New Roman" panose="02020603050405020304" pitchFamily="18" charset="0"/>
              </a:rPr>
              <a:t>b,</a:t>
            </a:r>
            <a:r>
              <a:rPr sz="2000" b="1" i="1" spc="-2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a</a:t>
            </a:r>
            <a:r>
              <a:rPr sz="2000" b="1" dirty="0">
                <a:solidFill>
                  <a:srgbClr val="6F2F9F"/>
                </a:solidFill>
                <a:latin typeface="Times New Roman" panose="02020603050405020304" pitchFamily="18" charset="0"/>
                <a:cs typeface="Times New Roman" panose="02020603050405020304" pitchFamily="18" charset="0"/>
              </a:rPr>
              <a:t>)</a:t>
            </a:r>
            <a:r>
              <a:rPr sz="2000" b="1" spc="-25" dirty="0">
                <a:solidFill>
                  <a:srgbClr val="6F2F9F"/>
                </a:solidFill>
                <a:latin typeface="Times New Roman" panose="02020603050405020304" pitchFamily="18" charset="0"/>
                <a:cs typeface="Times New Roman" panose="02020603050405020304" pitchFamily="18" charset="0"/>
              </a:rPr>
              <a:t> </a:t>
            </a:r>
            <a:r>
              <a:rPr sz="2000" dirty="0">
                <a:solidFill>
                  <a:srgbClr val="6F2F9F"/>
                </a:solidFill>
                <a:latin typeface="Times New Roman" panose="02020603050405020304" pitchFamily="18" charset="0"/>
                <a:cs typeface="Times New Roman" panose="02020603050405020304" pitchFamily="18" charset="0"/>
              </a:rPr>
              <a:t>∈</a:t>
            </a:r>
            <a:r>
              <a:rPr sz="2000" spc="20" dirty="0">
                <a:solidFill>
                  <a:srgbClr val="6F2F9F"/>
                </a:solidFill>
                <a:latin typeface="Times New Roman" panose="02020603050405020304" pitchFamily="18" charset="0"/>
                <a:cs typeface="Times New Roman" panose="02020603050405020304" pitchFamily="18" charset="0"/>
              </a:rPr>
              <a:t> </a:t>
            </a:r>
            <a:r>
              <a:rPr sz="2000" b="1" i="1" spc="-25" dirty="0">
                <a:solidFill>
                  <a:srgbClr val="6F2F9F"/>
                </a:solidFill>
                <a:latin typeface="Times New Roman" panose="02020603050405020304" pitchFamily="18" charset="0"/>
                <a:cs typeface="Times New Roman" panose="02020603050405020304" pitchFamily="18" charset="0"/>
              </a:rPr>
              <a:t>R</a:t>
            </a:r>
            <a:r>
              <a:rPr sz="2000" b="1" spc="-2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then</a:t>
            </a:r>
            <a:r>
              <a:rPr sz="2000" b="1" spc="-15"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a</a:t>
            </a:r>
            <a:r>
              <a:rPr sz="2000" b="1" i="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a:t>
            </a:r>
            <a:r>
              <a:rPr sz="2000" b="1" spc="-20" dirty="0">
                <a:solidFill>
                  <a:srgbClr val="6F2F9F"/>
                </a:solidFill>
                <a:latin typeface="Times New Roman" panose="02020603050405020304" pitchFamily="18" charset="0"/>
                <a:cs typeface="Times New Roman" panose="02020603050405020304" pitchFamily="18" charset="0"/>
              </a:rPr>
              <a:t> </a:t>
            </a:r>
            <a:r>
              <a:rPr sz="2000" b="1" i="1" dirty="0">
                <a:solidFill>
                  <a:srgbClr val="6F2F9F"/>
                </a:solidFill>
                <a:latin typeface="Times New Roman" panose="02020603050405020304" pitchFamily="18" charset="0"/>
                <a:cs typeface="Times New Roman" panose="02020603050405020304" pitchFamily="18" charset="0"/>
              </a:rPr>
              <a:t>b</a:t>
            </a:r>
            <a:r>
              <a:rPr sz="2000" b="1" i="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is</a:t>
            </a:r>
            <a:r>
              <a:rPr sz="2000" b="1" spc="-15" dirty="0">
                <a:solidFill>
                  <a:srgbClr val="6F2F9F"/>
                </a:solidFill>
                <a:latin typeface="Times New Roman" panose="02020603050405020304" pitchFamily="18" charset="0"/>
                <a:cs typeface="Times New Roman" panose="02020603050405020304" pitchFamily="18" charset="0"/>
              </a:rPr>
              <a:t> </a:t>
            </a:r>
            <a:r>
              <a:rPr sz="2000" b="1" dirty="0">
                <a:solidFill>
                  <a:srgbClr val="6F2F9F"/>
                </a:solidFill>
                <a:latin typeface="Times New Roman" panose="02020603050405020304" pitchFamily="18" charset="0"/>
                <a:cs typeface="Times New Roman" panose="02020603050405020304" pitchFamily="18" charset="0"/>
              </a:rPr>
              <a:t>called</a:t>
            </a:r>
            <a:r>
              <a:rPr sz="2000" b="1" spc="-20" dirty="0">
                <a:solidFill>
                  <a:srgbClr val="6F2F9F"/>
                </a:solidFill>
                <a:latin typeface="Times New Roman" panose="02020603050405020304" pitchFamily="18" charset="0"/>
                <a:cs typeface="Times New Roman" panose="02020603050405020304" pitchFamily="18" charset="0"/>
              </a:rPr>
              <a:t> </a:t>
            </a:r>
            <a:r>
              <a:rPr sz="2000" b="1" i="1" spc="-10" dirty="0">
                <a:solidFill>
                  <a:srgbClr val="6F2F9F"/>
                </a:solidFill>
                <a:latin typeface="Times New Roman" panose="02020603050405020304" pitchFamily="18" charset="0"/>
                <a:cs typeface="Times New Roman" panose="02020603050405020304" pitchFamily="18" charset="0"/>
              </a:rPr>
              <a:t>antisymmetric</a:t>
            </a:r>
            <a:r>
              <a:rPr sz="2000" b="1" spc="-10" dirty="0">
                <a:solidFill>
                  <a:srgbClr val="6F2F9F"/>
                </a:solidFill>
                <a:latin typeface="Times New Roman" panose="02020603050405020304" pitchFamily="18" charset="0"/>
                <a:cs typeface="Times New Roman" panose="02020603050405020304" pitchFamily="18" charset="0"/>
              </a:rPr>
              <a:t>.</a:t>
            </a:r>
            <a:endParaRPr lang="en-US" sz="2000" b="1" spc="-10" dirty="0">
              <a:solidFill>
                <a:srgbClr val="6F2F9F"/>
              </a:solidFill>
              <a:latin typeface="Times New Roman" panose="02020603050405020304" pitchFamily="18" charset="0"/>
              <a:cs typeface="Times New Roman" panose="02020603050405020304" pitchFamily="18" charset="0"/>
            </a:endParaRPr>
          </a:p>
          <a:p>
            <a:pPr marL="12700" marR="74295">
              <a:lnSpc>
                <a:spcPct val="80000"/>
              </a:lnSpc>
              <a:spcBef>
                <a:spcPts val="1005"/>
              </a:spcBef>
            </a:pPr>
            <a:endParaRPr sz="2000" dirty="0">
              <a:latin typeface="Times New Roman" panose="02020603050405020304" pitchFamily="18" charset="0"/>
              <a:cs typeface="Times New Roman" panose="02020603050405020304" pitchFamily="18" charset="0"/>
            </a:endParaRPr>
          </a:p>
          <a:p>
            <a:pPr marL="285750" lvl="2" indent="-285750" algn="l">
              <a:buFont typeface="Arial" panose="020B0604020202020204" pitchFamily="34" charset="0"/>
              <a:buChar char="•"/>
            </a:pPr>
            <a:r>
              <a:rPr lang="en-US" sz="2000" b="0" i="0" dirty="0">
                <a:solidFill>
                  <a:srgbClr val="0F1115"/>
                </a:solidFill>
                <a:effectLst/>
                <a:latin typeface="Times New Roman" panose="02020603050405020304" pitchFamily="18" charset="0"/>
                <a:cs typeface="Times New Roman" panose="02020603050405020304" pitchFamily="18" charset="0"/>
              </a:rPr>
              <a:t>A </a:t>
            </a:r>
            <a:r>
              <a:rPr lang="en-US" sz="2000" b="1" i="0" dirty="0">
                <a:solidFill>
                  <a:srgbClr val="0F1115"/>
                </a:solidFill>
                <a:effectLst/>
                <a:latin typeface="Times New Roman" panose="02020603050405020304" pitchFamily="18" charset="0"/>
                <a:cs typeface="Times New Roman" panose="02020603050405020304" pitchFamily="18" charset="0"/>
              </a:rPr>
              <a:t>symmetric</a:t>
            </a:r>
            <a:r>
              <a:rPr lang="en-US" sz="2000" b="0" i="0" dirty="0">
                <a:solidFill>
                  <a:srgbClr val="0F1115"/>
                </a:solidFill>
                <a:effectLst/>
                <a:latin typeface="Times New Roman" panose="02020603050405020304" pitchFamily="18" charset="0"/>
                <a:cs typeface="Times New Roman" panose="02020603050405020304" pitchFamily="18" charset="0"/>
              </a:rPr>
              <a:t> relation:</a:t>
            </a:r>
            <a:br>
              <a:rPr lang="en-US" sz="2000" b="0" i="0" dirty="0">
                <a:solidFill>
                  <a:srgbClr val="0F1115"/>
                </a:solidFill>
                <a:effectLst/>
                <a:latin typeface="Times New Roman" panose="02020603050405020304" pitchFamily="18" charset="0"/>
                <a:cs typeface="Times New Roman" panose="02020603050405020304" pitchFamily="18" charset="0"/>
              </a:rPr>
            </a:br>
            <a:r>
              <a:rPr lang="en-US" sz="2000" b="0" i="0" dirty="0">
                <a:solidFill>
                  <a:srgbClr val="0F1115"/>
                </a:solidFill>
                <a:effectLst/>
                <a:latin typeface="Times New Roman" panose="02020603050405020304" pitchFamily="18" charset="0"/>
                <a:cs typeface="Times New Roman" panose="02020603050405020304" pitchFamily="18" charset="0"/>
              </a:rPr>
              <a:t>A relation R on a set A is symmetric if: </a:t>
            </a:r>
            <a:r>
              <a:rPr lang="en-US" sz="2000" b="1" i="0" dirty="0">
                <a:solidFill>
                  <a:srgbClr val="CC0066"/>
                </a:solidFill>
                <a:effectLst/>
                <a:latin typeface="Times New Roman" panose="02020603050405020304" pitchFamily="18" charset="0"/>
                <a:cs typeface="Times New Roman" panose="02020603050405020304" pitchFamily="18" charset="0"/>
              </a:rPr>
              <a:t>(𝑎,𝑏)∈𝑅 ⇒ (𝑏,𝑎)∈𝑅 </a:t>
            </a:r>
            <a:br>
              <a:rPr lang="en-US" sz="2000" b="0" i="0" dirty="0">
                <a:solidFill>
                  <a:srgbClr val="0F1115"/>
                </a:solidFill>
                <a:effectLst/>
                <a:latin typeface="Times New Roman" panose="02020603050405020304" pitchFamily="18" charset="0"/>
                <a:cs typeface="Times New Roman" panose="02020603050405020304" pitchFamily="18" charset="0"/>
              </a:rPr>
            </a:br>
            <a:r>
              <a:rPr lang="en-US" sz="2000" b="0" i="0" dirty="0">
                <a:solidFill>
                  <a:srgbClr val="0070C0"/>
                </a:solidFill>
                <a:effectLst/>
                <a:latin typeface="Times New Roman" panose="02020603050405020304" pitchFamily="18" charset="0"/>
                <a:cs typeface="Times New Roman" panose="02020603050405020304" pitchFamily="18" charset="0"/>
              </a:rPr>
              <a:t>Meaning: Whenever a is related to b, b must also be related to a.</a:t>
            </a:r>
          </a:p>
          <a:p>
            <a:pPr marL="285750" lvl="2" indent="-285750" algn="l">
              <a:buFont typeface="Arial" panose="020B0604020202020204" pitchFamily="34" charset="0"/>
              <a:buChar char="•"/>
            </a:pPr>
            <a:r>
              <a:rPr lang="en-US" sz="2000" b="0" i="0" dirty="0">
                <a:solidFill>
                  <a:srgbClr val="CC0066"/>
                </a:solidFill>
                <a:effectLst/>
                <a:latin typeface="Times New Roman" panose="02020603050405020304" pitchFamily="18" charset="0"/>
                <a:cs typeface="Times New Roman" panose="02020603050405020304" pitchFamily="18" charset="0"/>
              </a:rPr>
              <a:t>Let 𝐴={1,2,3} so 𝑅={(1,2),(2,1),(2,3),(3,2)} </a:t>
            </a:r>
            <a:r>
              <a:rPr lang="en-US" sz="2000" b="1" i="0" dirty="0">
                <a:solidFill>
                  <a:srgbClr val="7030A0"/>
                </a:solidFill>
                <a:effectLst/>
                <a:latin typeface="Times New Roman" panose="02020603050405020304" pitchFamily="18" charset="0"/>
                <a:cs typeface="Times New Roman" panose="02020603050405020304" pitchFamily="18" charset="0"/>
              </a:rPr>
              <a:t>So R is symmetric</a:t>
            </a:r>
            <a:br>
              <a:rPr lang="en-US" sz="2000" b="0" i="0" dirty="0">
                <a:solidFill>
                  <a:srgbClr val="0F1115"/>
                </a:solidFill>
                <a:effectLst/>
                <a:latin typeface="Times New Roman" panose="02020603050405020304" pitchFamily="18" charset="0"/>
                <a:cs typeface="Times New Roman" panose="02020603050405020304" pitchFamily="18" charset="0"/>
              </a:rPr>
            </a:br>
            <a:r>
              <a:rPr lang="en-US" sz="2000" b="0" i="0" dirty="0">
                <a:solidFill>
                  <a:srgbClr val="0F1115"/>
                </a:solidFill>
                <a:effectLst/>
                <a:latin typeface="Times New Roman" panose="02020603050405020304" pitchFamily="18" charset="0"/>
                <a:cs typeface="Times New Roman" panose="02020603050405020304" pitchFamily="18" charset="0"/>
              </a:rPr>
              <a:t> </a:t>
            </a:r>
            <a:endParaRPr lang="en-US" sz="2000" dirty="0">
              <a:solidFill>
                <a:srgbClr val="0F1115"/>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000" b="0" i="0" dirty="0">
                <a:solidFill>
                  <a:srgbClr val="0F1115"/>
                </a:solidFill>
                <a:effectLst/>
                <a:latin typeface="Times New Roman" panose="02020603050405020304" pitchFamily="18" charset="0"/>
                <a:cs typeface="Times New Roman" panose="02020603050405020304" pitchFamily="18" charset="0"/>
              </a:rPr>
              <a:t>An </a:t>
            </a:r>
            <a:r>
              <a:rPr lang="en-US" sz="2000" b="1" i="0" dirty="0">
                <a:solidFill>
                  <a:srgbClr val="0F1115"/>
                </a:solidFill>
                <a:effectLst/>
                <a:latin typeface="Times New Roman" panose="02020603050405020304" pitchFamily="18" charset="0"/>
                <a:cs typeface="Times New Roman" panose="02020603050405020304" pitchFamily="18" charset="0"/>
              </a:rPr>
              <a:t>antisymmetric</a:t>
            </a:r>
            <a:r>
              <a:rPr lang="en-US" sz="2000" b="0" i="0" dirty="0">
                <a:solidFill>
                  <a:srgbClr val="0F1115"/>
                </a:solidFill>
                <a:effectLst/>
                <a:latin typeface="Times New Roman" panose="02020603050405020304" pitchFamily="18" charset="0"/>
                <a:cs typeface="Times New Roman" panose="02020603050405020304" pitchFamily="18" charset="0"/>
              </a:rPr>
              <a:t> relation:</a:t>
            </a:r>
            <a:br>
              <a:rPr lang="en-US" sz="2000" b="0" i="0" dirty="0">
                <a:solidFill>
                  <a:srgbClr val="0F1115"/>
                </a:solidFill>
                <a:effectLst/>
                <a:latin typeface="Times New Roman" panose="02020603050405020304" pitchFamily="18" charset="0"/>
                <a:cs typeface="Times New Roman" panose="02020603050405020304" pitchFamily="18" charset="0"/>
              </a:rPr>
            </a:br>
            <a:r>
              <a:rPr lang="en-US" sz="2000" b="0" i="0" dirty="0">
                <a:solidFill>
                  <a:srgbClr val="0F1115"/>
                </a:solidFill>
                <a:effectLst/>
                <a:latin typeface="quote-cjk-patch"/>
              </a:rPr>
              <a:t>A relation R on A is antisymmetric if</a:t>
            </a:r>
            <a:r>
              <a:rPr lang="en-US" sz="2000" b="1" i="0" dirty="0">
                <a:solidFill>
                  <a:srgbClr val="CC0066"/>
                </a:solidFill>
                <a:effectLst/>
                <a:latin typeface="quote-cjk-patch"/>
              </a:rPr>
              <a:t>: (𝑎,𝑏)∈𝑅 and (𝑏,𝑎)∈𝑅⇒ 𝑎=𝑏</a:t>
            </a:r>
            <a:br>
              <a:rPr lang="en-US" sz="2000" b="1" i="0" dirty="0">
                <a:solidFill>
                  <a:srgbClr val="CC0066"/>
                </a:solidFill>
                <a:effectLst/>
                <a:latin typeface="quote-cjk-patch"/>
              </a:rPr>
            </a:br>
            <a:r>
              <a:rPr lang="en-US" sz="2000" i="0" dirty="0">
                <a:solidFill>
                  <a:srgbClr val="0070C0"/>
                </a:solidFill>
                <a:effectLst/>
                <a:latin typeface="Times New Roman" panose="02020603050405020304" pitchFamily="18" charset="0"/>
                <a:cs typeface="Times New Roman" panose="02020603050405020304" pitchFamily="18" charset="0"/>
              </a:rPr>
              <a:t>Meaning: If both directions happen, then a and b must be the same element.</a:t>
            </a:r>
          </a:p>
          <a:p>
            <a:pPr marL="285750" indent="-285750" algn="l">
              <a:buFont typeface="Wingdings" panose="05000000000000000000" pitchFamily="2" charset="2"/>
              <a:buChar char="Ø"/>
            </a:pPr>
            <a:r>
              <a:rPr lang="en-US" i="0" dirty="0">
                <a:solidFill>
                  <a:srgbClr val="CC0066"/>
                </a:solidFill>
                <a:effectLst/>
                <a:latin typeface="Times New Roman" panose="02020603050405020304" pitchFamily="18" charset="0"/>
                <a:cs typeface="Times New Roman" panose="02020603050405020304" pitchFamily="18" charset="0"/>
              </a:rPr>
              <a:t>Let 𝐴={1,2,3}, 𝑅={(1,1),(2,2),(3,3),(1,2)} </a:t>
            </a:r>
            <a:br>
              <a:rPr lang="en-US" i="0" dirty="0">
                <a:solidFill>
                  <a:srgbClr val="CC0066"/>
                </a:solidFill>
                <a:effectLst/>
                <a:latin typeface="Times New Roman" panose="02020603050405020304" pitchFamily="18" charset="0"/>
                <a:cs typeface="Times New Roman" panose="02020603050405020304" pitchFamily="18" charset="0"/>
              </a:rPr>
            </a:br>
            <a:r>
              <a:rPr lang="en-US" i="0" dirty="0">
                <a:solidFill>
                  <a:srgbClr val="7030A0"/>
                </a:solidFill>
                <a:effectLst/>
                <a:latin typeface="Times New Roman" panose="02020603050405020304" pitchFamily="18" charset="0"/>
                <a:cs typeface="Times New Roman" panose="02020603050405020304" pitchFamily="18" charset="0"/>
              </a:rPr>
              <a:t>Notice: (1,2) is there (2,1) is NOT there </a:t>
            </a:r>
            <a:br>
              <a:rPr lang="en-US" i="0" dirty="0">
                <a:solidFill>
                  <a:srgbClr val="7030A0"/>
                </a:solidFill>
                <a:effectLst/>
                <a:latin typeface="Times New Roman" panose="02020603050405020304" pitchFamily="18" charset="0"/>
                <a:cs typeface="Times New Roman" panose="02020603050405020304" pitchFamily="18" charset="0"/>
              </a:rPr>
            </a:br>
            <a:r>
              <a:rPr lang="en-US" i="0" dirty="0">
                <a:solidFill>
                  <a:srgbClr val="7030A0"/>
                </a:solidFill>
                <a:effectLst/>
                <a:latin typeface="Times New Roman" panose="02020603050405020304" pitchFamily="18" charset="0"/>
                <a:cs typeface="Times New Roman" panose="02020603050405020304" pitchFamily="18" charset="0"/>
              </a:rPr>
              <a:t>So no two different numbers point to each other.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1676" y="27178"/>
            <a:ext cx="2237105" cy="574040"/>
          </a:xfrm>
          <a:prstGeom prst="rect">
            <a:avLst/>
          </a:prstGeom>
        </p:spPr>
        <p:txBody>
          <a:bodyPr vert="horz" wrap="square" lIns="0" tIns="12700" rIns="0" bIns="0" rtlCol="0">
            <a:spAutoFit/>
          </a:bodyPr>
          <a:lstStyle/>
          <a:p>
            <a:pPr marL="12700">
              <a:lnSpc>
                <a:spcPct val="100000"/>
              </a:lnSpc>
              <a:spcBef>
                <a:spcPts val="100"/>
              </a:spcBef>
            </a:pPr>
            <a:r>
              <a:rPr dirty="0"/>
              <a:t>EXAMPLE</a:t>
            </a:r>
            <a:r>
              <a:rPr spc="-160" dirty="0"/>
              <a:t> </a:t>
            </a:r>
            <a:r>
              <a:rPr spc="-50" dirty="0"/>
              <a:t>I</a:t>
            </a:r>
          </a:p>
        </p:txBody>
      </p:sp>
      <p:sp>
        <p:nvSpPr>
          <p:cNvPr id="3" name="object 3"/>
          <p:cNvSpPr txBox="1"/>
          <p:nvPr/>
        </p:nvSpPr>
        <p:spPr>
          <a:xfrm>
            <a:off x="231140" y="584911"/>
            <a:ext cx="7234555" cy="5480346"/>
          </a:xfrm>
          <a:prstGeom prst="rect">
            <a:avLst/>
          </a:prstGeom>
        </p:spPr>
        <p:txBody>
          <a:bodyPr vert="horz" wrap="square" lIns="0" tIns="139065" rIns="0" bIns="0" rtlCol="0">
            <a:spAutoFit/>
          </a:bodyPr>
          <a:lstStyle/>
          <a:p>
            <a:pPr marL="12700">
              <a:lnSpc>
                <a:spcPct val="100000"/>
              </a:lnSpc>
              <a:spcBef>
                <a:spcPts val="1095"/>
              </a:spcBef>
            </a:pPr>
            <a:r>
              <a:rPr sz="1700" dirty="0">
                <a:solidFill>
                  <a:srgbClr val="404040"/>
                </a:solidFill>
                <a:latin typeface="Times New Roman"/>
                <a:cs typeface="Times New Roman"/>
              </a:rPr>
              <a:t>C</a:t>
            </a:r>
            <a:r>
              <a:rPr sz="1700" b="1" dirty="0">
                <a:solidFill>
                  <a:srgbClr val="404040"/>
                </a:solidFill>
                <a:latin typeface="Times New Roman"/>
                <a:cs typeface="Times New Roman"/>
              </a:rPr>
              <a:t>onsider</a:t>
            </a:r>
            <a:r>
              <a:rPr sz="1700" b="1" spc="-6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following</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4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3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40" dirty="0">
                <a:solidFill>
                  <a:srgbClr val="404040"/>
                </a:solidFill>
                <a:latin typeface="Times New Roman"/>
                <a:cs typeface="Times New Roman"/>
              </a:rPr>
              <a:t> </a:t>
            </a:r>
            <a:r>
              <a:rPr sz="1700" b="1" spc="-25" dirty="0">
                <a:solidFill>
                  <a:srgbClr val="404040"/>
                </a:solidFill>
                <a:latin typeface="Times New Roman"/>
                <a:cs typeface="Times New Roman"/>
              </a:rPr>
              <a:t>4}:</a:t>
            </a:r>
            <a:endParaRPr sz="1700" dirty="0">
              <a:latin typeface="Times New Roman"/>
              <a:cs typeface="Times New Roman"/>
            </a:endParaRPr>
          </a:p>
          <a:p>
            <a:pPr marL="12700">
              <a:lnSpc>
                <a:spcPct val="100000"/>
              </a:lnSpc>
              <a:spcBef>
                <a:spcPts val="10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2</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spc="-20" dirty="0">
                <a:solidFill>
                  <a:srgbClr val="404040"/>
                </a:solidFill>
                <a:latin typeface="Times New Roman"/>
                <a:cs typeface="Times New Roman"/>
              </a:rPr>
              <a:t>1)}</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100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3</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994"/>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4</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3)}</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10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5</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100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6</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994"/>
              </a:spcBef>
            </a:pPr>
            <a:r>
              <a:rPr sz="1700" b="1" dirty="0">
                <a:solidFill>
                  <a:srgbClr val="404040"/>
                </a:solidFill>
                <a:latin typeface="Times New Roman"/>
                <a:cs typeface="Times New Roman"/>
              </a:rPr>
              <a:t>Which</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these</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are</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Symmetric</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and</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antisymmetric</a:t>
            </a:r>
            <a:r>
              <a:rPr sz="1700" b="1" spc="-55" dirty="0">
                <a:solidFill>
                  <a:srgbClr val="404040"/>
                </a:solidFill>
                <a:latin typeface="Times New Roman"/>
                <a:cs typeface="Times New Roman"/>
              </a:rPr>
              <a:t> </a:t>
            </a:r>
            <a:r>
              <a:rPr sz="1700" b="1" spc="-5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1000"/>
              </a:spcBef>
            </a:pPr>
            <a:r>
              <a:rPr sz="1700" b="1" spc="-10" dirty="0">
                <a:solidFill>
                  <a:srgbClr val="6F2F9F"/>
                </a:solidFill>
                <a:latin typeface="Times New Roman"/>
                <a:cs typeface="Times New Roman"/>
              </a:rPr>
              <a:t>SOLUTION:</a:t>
            </a:r>
            <a:endParaRPr sz="1700" dirty="0">
              <a:latin typeface="Times New Roman"/>
              <a:cs typeface="Times New Roman"/>
            </a:endParaRPr>
          </a:p>
          <a:p>
            <a:pPr marL="355600" marR="11430" indent="-342900">
              <a:lnSpc>
                <a:spcPct val="100000"/>
              </a:lnSpc>
              <a:spcBef>
                <a:spcPts val="100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dirty="0">
                <a:solidFill>
                  <a:srgbClr val="00AFEF"/>
                </a:solidFill>
                <a:latin typeface="Times New Roman"/>
                <a:cs typeface="Times New Roman"/>
              </a:rPr>
              <a:t>The</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relations</a:t>
            </a:r>
            <a:r>
              <a:rPr sz="1700" b="1" spc="-20" dirty="0">
                <a:solidFill>
                  <a:srgbClr val="00AFEF"/>
                </a:solidFill>
                <a:latin typeface="Times New Roman"/>
                <a:cs typeface="Times New Roman"/>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2</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0" dirty="0">
                <a:solidFill>
                  <a:srgbClr val="00AFEF"/>
                </a:solidFill>
                <a:latin typeface="Times New Roman"/>
                <a:cs typeface="Times New Roman"/>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3</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are</a:t>
            </a:r>
            <a:r>
              <a:rPr sz="1700" b="1" spc="-35" dirty="0">
                <a:solidFill>
                  <a:srgbClr val="00AFEF"/>
                </a:solidFill>
                <a:latin typeface="Times New Roman"/>
                <a:cs typeface="Times New Roman"/>
              </a:rPr>
              <a:t> </a:t>
            </a:r>
            <a:r>
              <a:rPr sz="1700" b="1" dirty="0">
                <a:solidFill>
                  <a:srgbClr val="00AFEF"/>
                </a:solidFill>
                <a:latin typeface="Times New Roman"/>
                <a:cs typeface="Times New Roman"/>
              </a:rPr>
              <a:t>symmetric</a:t>
            </a:r>
            <a:r>
              <a:rPr sz="1700" b="1" dirty="0">
                <a:solidFill>
                  <a:srgbClr val="404040"/>
                </a:solidFill>
                <a:latin typeface="Times New Roman"/>
                <a:cs typeface="Times New Roman"/>
              </a:rPr>
              <a:t>,</a:t>
            </a:r>
            <a:r>
              <a:rPr sz="1700" b="1" spc="-35" dirty="0">
                <a:solidFill>
                  <a:srgbClr val="404040"/>
                </a:solidFill>
                <a:latin typeface="Times New Roman"/>
                <a:cs typeface="Times New Roman"/>
              </a:rPr>
              <a:t> </a:t>
            </a:r>
            <a:r>
              <a:rPr sz="1700" dirty="0">
                <a:solidFill>
                  <a:srgbClr val="404040"/>
                </a:solidFill>
                <a:latin typeface="Times New Roman"/>
                <a:cs typeface="Times New Roman"/>
              </a:rPr>
              <a:t>because</a:t>
            </a:r>
            <a:r>
              <a:rPr sz="1700" spc="-40" dirty="0">
                <a:solidFill>
                  <a:srgbClr val="404040"/>
                </a:solidFill>
                <a:latin typeface="Times New Roman"/>
                <a:cs typeface="Times New Roman"/>
              </a:rPr>
              <a:t> </a:t>
            </a:r>
            <a:r>
              <a:rPr sz="1700" dirty="0">
                <a:solidFill>
                  <a:srgbClr val="404040"/>
                </a:solidFill>
                <a:latin typeface="Times New Roman"/>
                <a:cs typeface="Times New Roman"/>
              </a:rPr>
              <a:t>in</a:t>
            </a:r>
            <a:r>
              <a:rPr sz="1700" spc="-25" dirty="0">
                <a:solidFill>
                  <a:srgbClr val="404040"/>
                </a:solidFill>
                <a:latin typeface="Times New Roman"/>
                <a:cs typeface="Times New Roman"/>
              </a:rPr>
              <a:t> </a:t>
            </a:r>
            <a:r>
              <a:rPr sz="1700" dirty="0">
                <a:solidFill>
                  <a:srgbClr val="404040"/>
                </a:solidFill>
                <a:latin typeface="Times New Roman"/>
                <a:cs typeface="Times New Roman"/>
              </a:rPr>
              <a:t>each</a:t>
            </a:r>
            <a:r>
              <a:rPr sz="1700" spc="-30" dirty="0">
                <a:solidFill>
                  <a:srgbClr val="404040"/>
                </a:solidFill>
                <a:latin typeface="Times New Roman"/>
                <a:cs typeface="Times New Roman"/>
              </a:rPr>
              <a:t> </a:t>
            </a:r>
            <a:r>
              <a:rPr sz="1700" dirty="0">
                <a:solidFill>
                  <a:srgbClr val="404040"/>
                </a:solidFill>
                <a:latin typeface="Times New Roman"/>
                <a:cs typeface="Times New Roman"/>
              </a:rPr>
              <a:t>case</a:t>
            </a:r>
            <a:r>
              <a:rPr sz="1700" spc="-3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b,</a:t>
            </a:r>
            <a:r>
              <a:rPr sz="1700" i="1" spc="-25" dirty="0">
                <a:solidFill>
                  <a:srgbClr val="404040"/>
                </a:solidFill>
                <a:latin typeface="Times New Roman"/>
                <a:cs typeface="Times New Roman"/>
              </a:rPr>
              <a:t> </a:t>
            </a:r>
            <a:r>
              <a:rPr sz="1700" i="1" dirty="0">
                <a:solidFill>
                  <a:srgbClr val="404040"/>
                </a:solidFill>
                <a:latin typeface="Times New Roman"/>
                <a:cs typeface="Times New Roman"/>
              </a:rPr>
              <a:t>a</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spc="-10" dirty="0">
                <a:solidFill>
                  <a:srgbClr val="404040"/>
                </a:solidFill>
                <a:latin typeface="Times New Roman"/>
                <a:cs typeface="Times New Roman"/>
              </a:rPr>
              <a:t>belongs </a:t>
            </a:r>
            <a:r>
              <a:rPr sz="1700" dirty="0">
                <a:solidFill>
                  <a:srgbClr val="404040"/>
                </a:solidFill>
                <a:latin typeface="Times New Roman"/>
                <a:cs typeface="Times New Roman"/>
              </a:rPr>
              <a:t>to</a:t>
            </a:r>
            <a:r>
              <a:rPr sz="1700" spc="-15" dirty="0">
                <a:solidFill>
                  <a:srgbClr val="404040"/>
                </a:solidFill>
                <a:latin typeface="Times New Roman"/>
                <a:cs typeface="Times New Roman"/>
              </a:rPr>
              <a:t> </a:t>
            </a:r>
            <a:r>
              <a:rPr sz="1700" dirty="0">
                <a:solidFill>
                  <a:srgbClr val="404040"/>
                </a:solidFill>
                <a:latin typeface="Times New Roman"/>
                <a:cs typeface="Times New Roman"/>
              </a:rPr>
              <a:t>the</a:t>
            </a:r>
            <a:r>
              <a:rPr sz="1700" spc="-25"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20" dirty="0">
                <a:solidFill>
                  <a:srgbClr val="404040"/>
                </a:solidFill>
                <a:latin typeface="Times New Roman"/>
                <a:cs typeface="Times New Roman"/>
              </a:rPr>
              <a:t> </a:t>
            </a:r>
            <a:r>
              <a:rPr sz="1700" dirty="0">
                <a:solidFill>
                  <a:srgbClr val="404040"/>
                </a:solidFill>
                <a:latin typeface="Times New Roman"/>
                <a:cs typeface="Times New Roman"/>
              </a:rPr>
              <a:t>whenever</a:t>
            </a:r>
            <a:r>
              <a:rPr sz="1700" spc="-3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5" dirty="0">
                <a:solidFill>
                  <a:srgbClr val="404040"/>
                </a:solidFill>
                <a:latin typeface="Times New Roman"/>
                <a:cs typeface="Times New Roman"/>
              </a:rPr>
              <a:t> </a:t>
            </a:r>
            <a:r>
              <a:rPr sz="1700" dirty="0">
                <a:solidFill>
                  <a:srgbClr val="404040"/>
                </a:solidFill>
                <a:latin typeface="Times New Roman"/>
                <a:cs typeface="Times New Roman"/>
              </a:rPr>
              <a:t>For</a:t>
            </a:r>
            <a:r>
              <a:rPr sz="1700" spc="-10" dirty="0">
                <a:solidFill>
                  <a:srgbClr val="404040"/>
                </a:solidFill>
                <a:latin typeface="Times New Roman"/>
                <a:cs typeface="Times New Roman"/>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only</a:t>
            </a:r>
            <a:r>
              <a:rPr sz="1700" spc="-15" dirty="0">
                <a:solidFill>
                  <a:srgbClr val="404040"/>
                </a:solidFill>
                <a:latin typeface="Times New Roman"/>
                <a:cs typeface="Times New Roman"/>
              </a:rPr>
              <a:t> </a:t>
            </a:r>
            <a:r>
              <a:rPr sz="1700" dirty="0">
                <a:solidFill>
                  <a:srgbClr val="404040"/>
                </a:solidFill>
                <a:latin typeface="Times New Roman"/>
                <a:cs typeface="Times New Roman"/>
              </a:rPr>
              <a:t>thing</a:t>
            </a:r>
            <a:r>
              <a:rPr sz="1700" spc="-20"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check</a:t>
            </a:r>
            <a:r>
              <a:rPr sz="1700" spc="-30" dirty="0">
                <a:solidFill>
                  <a:srgbClr val="404040"/>
                </a:solidFill>
                <a:latin typeface="Times New Roman"/>
                <a:cs typeface="Times New Roman"/>
              </a:rPr>
              <a:t> </a:t>
            </a:r>
            <a:r>
              <a:rPr sz="1700" dirty="0">
                <a:solidFill>
                  <a:srgbClr val="404040"/>
                </a:solidFill>
                <a:latin typeface="Times New Roman"/>
                <a:cs typeface="Times New Roman"/>
              </a:rPr>
              <a:t>is</a:t>
            </a:r>
            <a:r>
              <a:rPr sz="1700" spc="-15"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0" dirty="0">
                <a:solidFill>
                  <a:srgbClr val="404040"/>
                </a:solidFill>
                <a:latin typeface="Times New Roman"/>
                <a:cs typeface="Times New Roman"/>
              </a:rPr>
              <a:t> both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are</a:t>
            </a:r>
            <a:r>
              <a:rPr sz="1700" spc="-30" dirty="0">
                <a:solidFill>
                  <a:srgbClr val="404040"/>
                </a:solidFill>
                <a:latin typeface="Times New Roman"/>
                <a:cs typeface="Times New Roman"/>
              </a:rPr>
              <a:t> </a:t>
            </a:r>
            <a:r>
              <a:rPr sz="1700" dirty="0">
                <a:solidFill>
                  <a:srgbClr val="404040"/>
                </a:solidFill>
                <a:latin typeface="Times New Roman"/>
                <a:cs typeface="Times New Roman"/>
              </a:rPr>
              <a:t>in</a:t>
            </a:r>
            <a:r>
              <a:rPr sz="1700" spc="-10"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30" dirty="0">
                <a:solidFill>
                  <a:srgbClr val="404040"/>
                </a:solidFill>
                <a:latin typeface="Times New Roman"/>
                <a:cs typeface="Times New Roman"/>
              </a:rPr>
              <a:t> </a:t>
            </a:r>
            <a:r>
              <a:rPr sz="1700" dirty="0">
                <a:solidFill>
                  <a:srgbClr val="404040"/>
                </a:solidFill>
                <a:latin typeface="Times New Roman"/>
                <a:cs typeface="Times New Roman"/>
              </a:rPr>
              <a:t>For</a:t>
            </a:r>
            <a:r>
              <a:rPr sz="1700" spc="-5" dirty="0">
                <a:solidFill>
                  <a:srgbClr val="404040"/>
                </a:solidFill>
                <a:latin typeface="Times New Roman"/>
                <a:cs typeface="Times New Roman"/>
              </a:rPr>
              <a:t> </a:t>
            </a:r>
            <a:r>
              <a:rPr sz="1700" i="1" dirty="0">
                <a:solidFill>
                  <a:srgbClr val="404040"/>
                </a:solidFill>
                <a:latin typeface="Times New Roman"/>
                <a:cs typeface="Times New Roman"/>
              </a:rPr>
              <a:t>R</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it</a:t>
            </a:r>
            <a:r>
              <a:rPr sz="1700" spc="-20" dirty="0">
                <a:solidFill>
                  <a:srgbClr val="404040"/>
                </a:solidFill>
                <a:latin typeface="Times New Roman"/>
                <a:cs typeface="Times New Roman"/>
              </a:rPr>
              <a:t> </a:t>
            </a:r>
            <a:r>
              <a:rPr sz="1700" dirty="0">
                <a:solidFill>
                  <a:srgbClr val="404040"/>
                </a:solidFill>
                <a:latin typeface="Times New Roman"/>
                <a:cs typeface="Times New Roman"/>
              </a:rPr>
              <a:t>is</a:t>
            </a:r>
            <a:r>
              <a:rPr sz="1700" spc="-15" dirty="0">
                <a:solidFill>
                  <a:srgbClr val="404040"/>
                </a:solidFill>
                <a:latin typeface="Times New Roman"/>
                <a:cs typeface="Times New Roman"/>
              </a:rPr>
              <a:t> </a:t>
            </a:r>
            <a:r>
              <a:rPr sz="1700" dirty="0">
                <a:solidFill>
                  <a:srgbClr val="404040"/>
                </a:solidFill>
                <a:latin typeface="Times New Roman"/>
                <a:cs typeface="Times New Roman"/>
              </a:rPr>
              <a:t>necessary</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15" dirty="0">
                <a:solidFill>
                  <a:srgbClr val="404040"/>
                </a:solidFill>
                <a:latin typeface="Times New Roman"/>
                <a:cs typeface="Times New Roman"/>
              </a:rPr>
              <a:t> </a:t>
            </a:r>
            <a:r>
              <a:rPr sz="1700" dirty="0">
                <a:solidFill>
                  <a:srgbClr val="404040"/>
                </a:solidFill>
                <a:latin typeface="Times New Roman"/>
                <a:cs typeface="Times New Roman"/>
              </a:rPr>
              <a:t>check</a:t>
            </a:r>
            <a:r>
              <a:rPr sz="1700" spc="-35"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0" dirty="0">
                <a:solidFill>
                  <a:srgbClr val="404040"/>
                </a:solidFill>
                <a:latin typeface="Times New Roman"/>
                <a:cs typeface="Times New Roman"/>
              </a:rPr>
              <a:t> </a:t>
            </a:r>
            <a:r>
              <a:rPr sz="1700" dirty="0">
                <a:solidFill>
                  <a:srgbClr val="404040"/>
                </a:solidFill>
                <a:latin typeface="Times New Roman"/>
                <a:cs typeface="Times New Roman"/>
              </a:rPr>
              <a:t>both</a:t>
            </a:r>
            <a:r>
              <a:rPr sz="1700" spc="-15" dirty="0">
                <a:solidFill>
                  <a:srgbClr val="404040"/>
                </a:solidFill>
                <a:latin typeface="Times New Roman"/>
                <a:cs typeface="Times New Roman"/>
              </a:rPr>
              <a:t> </a:t>
            </a:r>
            <a:r>
              <a:rPr sz="1700" spc="-25" dirty="0">
                <a:solidFill>
                  <a:srgbClr val="404040"/>
                </a:solidFill>
                <a:latin typeface="Times New Roman"/>
                <a:cs typeface="Times New Roman"/>
              </a:rPr>
              <a:t>(1</a:t>
            </a:r>
            <a:r>
              <a:rPr sz="1700" i="1" spc="-25"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i="1" dirty="0">
                <a:solidFill>
                  <a:srgbClr val="404040"/>
                </a:solidFill>
                <a:latin typeface="Times New Roman"/>
                <a:cs typeface="Times New Roman"/>
              </a:rPr>
              <a:t>,</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15"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i="1" dirty="0">
                <a:solidFill>
                  <a:srgbClr val="404040"/>
                </a:solidFill>
                <a:latin typeface="Times New Roman"/>
                <a:cs typeface="Times New Roman"/>
              </a:rPr>
              <a:t>,</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25"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spc="-10" dirty="0">
                <a:solidFill>
                  <a:srgbClr val="404040"/>
                </a:solidFill>
                <a:latin typeface="Times New Roman"/>
                <a:cs typeface="Times New Roman"/>
              </a:rPr>
              <a:t>relation.</a:t>
            </a:r>
            <a:endParaRPr sz="1700" dirty="0">
              <a:latin typeface="Times New Roman"/>
              <a:cs typeface="Times New Roman"/>
            </a:endParaRPr>
          </a:p>
          <a:p>
            <a:pPr marL="355600" marR="5080" indent="-342900">
              <a:lnSpc>
                <a:spcPct val="100000"/>
              </a:lnSpc>
              <a:spcBef>
                <a:spcPts val="994"/>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4,</a:t>
            </a:r>
            <a:r>
              <a:rPr sz="1700" b="1" spc="-15" dirty="0">
                <a:solidFill>
                  <a:srgbClr val="00AFEF"/>
                </a:solidFill>
                <a:latin typeface="Times New Roman"/>
                <a:cs typeface="Times New Roman"/>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5,</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0" dirty="0">
                <a:solidFill>
                  <a:srgbClr val="00AFEF"/>
                </a:solidFill>
                <a:latin typeface="Times New Roman"/>
                <a:cs typeface="Times New Roman"/>
              </a:rPr>
              <a:t> </a:t>
            </a:r>
            <a:r>
              <a:rPr sz="1700" b="1" i="1" dirty="0">
                <a:solidFill>
                  <a:srgbClr val="00AFEF"/>
                </a:solidFill>
                <a:latin typeface="Times New Roman"/>
                <a:cs typeface="Times New Roman"/>
              </a:rPr>
              <a:t>R</a:t>
            </a:r>
            <a:r>
              <a:rPr sz="1700" b="1" dirty="0">
                <a:solidFill>
                  <a:srgbClr val="00AFEF"/>
                </a:solidFill>
                <a:latin typeface="Times New Roman"/>
                <a:cs typeface="Times New Roman"/>
              </a:rPr>
              <a:t>6</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are</a:t>
            </a:r>
            <a:r>
              <a:rPr sz="1700" b="1" spc="-25" dirty="0">
                <a:solidFill>
                  <a:srgbClr val="00AFEF"/>
                </a:solidFill>
                <a:latin typeface="Times New Roman"/>
                <a:cs typeface="Times New Roman"/>
              </a:rPr>
              <a:t> </a:t>
            </a:r>
            <a:r>
              <a:rPr sz="1700" b="1" dirty="0">
                <a:solidFill>
                  <a:srgbClr val="00AFEF"/>
                </a:solidFill>
                <a:latin typeface="Times New Roman"/>
                <a:cs typeface="Times New Roman"/>
              </a:rPr>
              <a:t>all</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antisymmetric</a:t>
            </a:r>
            <a:r>
              <a:rPr sz="1700" dirty="0">
                <a:solidFill>
                  <a:srgbClr val="404040"/>
                </a:solidFill>
                <a:latin typeface="Times New Roman"/>
                <a:cs typeface="Times New Roman"/>
              </a:rPr>
              <a:t>.</a:t>
            </a:r>
            <a:r>
              <a:rPr sz="1700" spc="-35" dirty="0">
                <a:solidFill>
                  <a:srgbClr val="404040"/>
                </a:solidFill>
                <a:latin typeface="Times New Roman"/>
                <a:cs typeface="Times New Roman"/>
              </a:rPr>
              <a:t> </a:t>
            </a:r>
            <a:r>
              <a:rPr sz="1700" dirty="0">
                <a:solidFill>
                  <a:srgbClr val="404040"/>
                </a:solidFill>
                <a:latin typeface="Times New Roman"/>
                <a:cs typeface="Times New Roman"/>
              </a:rPr>
              <a:t>For</a:t>
            </a:r>
            <a:r>
              <a:rPr sz="1700" spc="-20" dirty="0">
                <a:solidFill>
                  <a:srgbClr val="404040"/>
                </a:solidFill>
                <a:latin typeface="Times New Roman"/>
                <a:cs typeface="Times New Roman"/>
              </a:rPr>
              <a:t> </a:t>
            </a:r>
            <a:r>
              <a:rPr sz="1700" dirty="0">
                <a:solidFill>
                  <a:srgbClr val="404040"/>
                </a:solidFill>
                <a:latin typeface="Times New Roman"/>
                <a:cs typeface="Times New Roman"/>
              </a:rPr>
              <a:t>each</a:t>
            </a:r>
            <a:r>
              <a:rPr sz="1700" spc="-30" dirty="0">
                <a:solidFill>
                  <a:srgbClr val="404040"/>
                </a:solidFill>
                <a:latin typeface="Times New Roman"/>
                <a:cs typeface="Times New Roman"/>
              </a:rPr>
              <a:t> </a:t>
            </a:r>
            <a:r>
              <a:rPr sz="1700" dirty="0">
                <a:solidFill>
                  <a:srgbClr val="404040"/>
                </a:solidFill>
                <a:latin typeface="Times New Roman"/>
                <a:cs typeface="Times New Roman"/>
              </a:rPr>
              <a:t>of</a:t>
            </a:r>
            <a:r>
              <a:rPr sz="1700" spc="-15" dirty="0">
                <a:solidFill>
                  <a:srgbClr val="404040"/>
                </a:solidFill>
                <a:latin typeface="Times New Roman"/>
                <a:cs typeface="Times New Roman"/>
              </a:rPr>
              <a:t> </a:t>
            </a:r>
            <a:r>
              <a:rPr sz="1700" dirty="0">
                <a:solidFill>
                  <a:srgbClr val="404040"/>
                </a:solidFill>
                <a:latin typeface="Times New Roman"/>
                <a:cs typeface="Times New Roman"/>
              </a:rPr>
              <a:t>these</a:t>
            </a:r>
            <a:r>
              <a:rPr sz="1700" spc="-25" dirty="0">
                <a:solidFill>
                  <a:srgbClr val="404040"/>
                </a:solidFill>
                <a:latin typeface="Times New Roman"/>
                <a:cs typeface="Times New Roman"/>
              </a:rPr>
              <a:t> </a:t>
            </a:r>
            <a:r>
              <a:rPr sz="1700" dirty="0">
                <a:solidFill>
                  <a:srgbClr val="404040"/>
                </a:solidFill>
                <a:latin typeface="Times New Roman"/>
                <a:cs typeface="Times New Roman"/>
              </a:rPr>
              <a:t>relations</a:t>
            </a:r>
            <a:r>
              <a:rPr sz="1700" spc="-30" dirty="0">
                <a:solidFill>
                  <a:srgbClr val="404040"/>
                </a:solidFill>
                <a:latin typeface="Times New Roman"/>
                <a:cs typeface="Times New Roman"/>
              </a:rPr>
              <a:t> </a:t>
            </a:r>
            <a:r>
              <a:rPr sz="1700" dirty="0">
                <a:solidFill>
                  <a:srgbClr val="404040"/>
                </a:solidFill>
                <a:latin typeface="Times New Roman"/>
                <a:cs typeface="Times New Roman"/>
              </a:rPr>
              <a:t>there</a:t>
            </a:r>
            <a:r>
              <a:rPr sz="1700" spc="-35" dirty="0">
                <a:solidFill>
                  <a:srgbClr val="404040"/>
                </a:solidFill>
                <a:latin typeface="Times New Roman"/>
                <a:cs typeface="Times New Roman"/>
              </a:rPr>
              <a:t> </a:t>
            </a:r>
            <a:r>
              <a:rPr sz="1700" dirty="0">
                <a:solidFill>
                  <a:srgbClr val="404040"/>
                </a:solidFill>
                <a:latin typeface="Times New Roman"/>
                <a:cs typeface="Times New Roman"/>
              </a:rPr>
              <a:t>is</a:t>
            </a:r>
            <a:r>
              <a:rPr sz="1700" spc="-10" dirty="0">
                <a:solidFill>
                  <a:srgbClr val="404040"/>
                </a:solidFill>
                <a:latin typeface="Times New Roman"/>
                <a:cs typeface="Times New Roman"/>
              </a:rPr>
              <a:t> </a:t>
            </a:r>
            <a:r>
              <a:rPr sz="1700" spc="-25" dirty="0">
                <a:solidFill>
                  <a:srgbClr val="404040"/>
                </a:solidFill>
                <a:latin typeface="Times New Roman"/>
                <a:cs typeface="Times New Roman"/>
              </a:rPr>
              <a:t>no </a:t>
            </a:r>
            <a:r>
              <a:rPr sz="1700" dirty="0">
                <a:solidFill>
                  <a:srgbClr val="404040"/>
                </a:solidFill>
                <a:latin typeface="Times New Roman"/>
                <a:cs typeface="Times New Roman"/>
              </a:rPr>
              <a:t>pair</a:t>
            </a:r>
            <a:r>
              <a:rPr sz="1700" spc="-40" dirty="0">
                <a:solidFill>
                  <a:srgbClr val="404040"/>
                </a:solidFill>
                <a:latin typeface="Times New Roman"/>
                <a:cs typeface="Times New Roman"/>
              </a:rPr>
              <a:t>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elements</a:t>
            </a:r>
            <a:r>
              <a:rPr sz="1700" spc="-20"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i="1" dirty="0">
                <a:solidFill>
                  <a:srgbClr val="404040"/>
                </a:solidFill>
                <a:latin typeface="Times New Roman"/>
                <a:cs typeface="Times New Roman"/>
              </a:rPr>
              <a:t>b</a:t>
            </a:r>
            <a:r>
              <a:rPr sz="1700" i="1" spc="-15" dirty="0">
                <a:solidFill>
                  <a:srgbClr val="404040"/>
                </a:solidFill>
                <a:latin typeface="Times New Roman"/>
                <a:cs typeface="Times New Roman"/>
              </a:rPr>
              <a:t> </a:t>
            </a:r>
            <a:r>
              <a:rPr sz="1700" dirty="0">
                <a:solidFill>
                  <a:srgbClr val="404040"/>
                </a:solidFill>
                <a:latin typeface="Times New Roman"/>
                <a:cs typeface="Times New Roman"/>
              </a:rPr>
              <a:t>with</a:t>
            </a:r>
            <a:r>
              <a:rPr sz="1700" spc="-10"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a:t>
            </a:r>
            <a:r>
              <a:rPr sz="1700" spc="-5" dirty="0">
                <a:solidFill>
                  <a:srgbClr val="404040"/>
                </a:solidFill>
                <a:latin typeface="Times New Roman"/>
                <a:cs typeface="Times New Roman"/>
              </a:rPr>
              <a:t> </a:t>
            </a:r>
            <a:r>
              <a:rPr sz="1700" i="1" dirty="0">
                <a:solidFill>
                  <a:srgbClr val="404040"/>
                </a:solidFill>
                <a:latin typeface="Times New Roman"/>
                <a:cs typeface="Times New Roman"/>
              </a:rPr>
              <a:t>b</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such</a:t>
            </a:r>
            <a:r>
              <a:rPr sz="1700" spc="-10"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5" dirty="0">
                <a:solidFill>
                  <a:srgbClr val="404040"/>
                </a:solidFill>
                <a:latin typeface="Times New Roman"/>
                <a:cs typeface="Times New Roman"/>
              </a:rPr>
              <a:t> </a:t>
            </a:r>
            <a:r>
              <a:rPr sz="1700" dirty="0">
                <a:solidFill>
                  <a:srgbClr val="404040"/>
                </a:solidFill>
                <a:latin typeface="Times New Roman"/>
                <a:cs typeface="Times New Roman"/>
              </a:rPr>
              <a:t>both</a:t>
            </a:r>
            <a:r>
              <a:rPr sz="1700" spc="-20"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15"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b,</a:t>
            </a:r>
            <a:r>
              <a:rPr sz="1700" i="1" spc="-20" dirty="0">
                <a:solidFill>
                  <a:srgbClr val="404040"/>
                </a:solidFill>
                <a:latin typeface="Times New Roman"/>
                <a:cs typeface="Times New Roman"/>
              </a:rPr>
              <a:t> </a:t>
            </a:r>
            <a:r>
              <a:rPr sz="1700" i="1" dirty="0">
                <a:solidFill>
                  <a:srgbClr val="404040"/>
                </a:solidFill>
                <a:latin typeface="Times New Roman"/>
                <a:cs typeface="Times New Roman"/>
              </a:rPr>
              <a:t>a</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25" dirty="0">
                <a:solidFill>
                  <a:srgbClr val="404040"/>
                </a:solidFill>
                <a:latin typeface="Times New Roman"/>
                <a:cs typeface="Times New Roman"/>
              </a:rPr>
              <a:t> </a:t>
            </a:r>
            <a:r>
              <a:rPr sz="1700" dirty="0">
                <a:solidFill>
                  <a:srgbClr val="404040"/>
                </a:solidFill>
                <a:latin typeface="Times New Roman"/>
                <a:cs typeface="Times New Roman"/>
              </a:rPr>
              <a:t>to</a:t>
            </a:r>
            <a:r>
              <a:rPr sz="1700" spc="-10" dirty="0">
                <a:solidFill>
                  <a:srgbClr val="404040"/>
                </a:solidFill>
                <a:latin typeface="Times New Roman"/>
                <a:cs typeface="Times New Roman"/>
              </a:rPr>
              <a:t> </a:t>
            </a:r>
            <a:r>
              <a:rPr sz="1700" spc="-25" dirty="0">
                <a:solidFill>
                  <a:srgbClr val="404040"/>
                </a:solidFill>
                <a:latin typeface="Times New Roman"/>
                <a:cs typeface="Times New Roman"/>
              </a:rPr>
              <a:t>the </a:t>
            </a:r>
            <a:r>
              <a:rPr sz="1700" dirty="0">
                <a:solidFill>
                  <a:srgbClr val="404040"/>
                </a:solidFill>
                <a:latin typeface="Times New Roman"/>
                <a:cs typeface="Times New Roman"/>
              </a:rPr>
              <a:t>relation.</a:t>
            </a:r>
            <a:r>
              <a:rPr sz="1700" spc="-65" dirty="0">
                <a:solidFill>
                  <a:srgbClr val="404040"/>
                </a:solidFill>
                <a:latin typeface="Times New Roman"/>
                <a:cs typeface="Times New Roman"/>
              </a:rPr>
              <a:t> </a:t>
            </a:r>
            <a:r>
              <a:rPr sz="1700" dirty="0">
                <a:solidFill>
                  <a:srgbClr val="404040"/>
                </a:solidFill>
                <a:latin typeface="Times New Roman"/>
                <a:cs typeface="Times New Roman"/>
              </a:rPr>
              <a:t>This</a:t>
            </a:r>
            <a:r>
              <a:rPr sz="1700" spc="-15" dirty="0">
                <a:solidFill>
                  <a:srgbClr val="404040"/>
                </a:solidFill>
                <a:latin typeface="Times New Roman"/>
                <a:cs typeface="Times New Roman"/>
              </a:rPr>
              <a:t> </a:t>
            </a:r>
            <a:r>
              <a:rPr sz="1700" dirty="0">
                <a:solidFill>
                  <a:srgbClr val="404040"/>
                </a:solidFill>
                <a:latin typeface="Times New Roman"/>
                <a:cs typeface="Times New Roman"/>
              </a:rPr>
              <a:t>is</a:t>
            </a:r>
            <a:r>
              <a:rPr sz="1700" spc="-10" dirty="0">
                <a:solidFill>
                  <a:srgbClr val="404040"/>
                </a:solidFill>
                <a:latin typeface="Times New Roman"/>
                <a:cs typeface="Times New Roman"/>
              </a:rPr>
              <a:t> </a:t>
            </a:r>
            <a:r>
              <a:rPr sz="1700" dirty="0">
                <a:solidFill>
                  <a:srgbClr val="404040"/>
                </a:solidFill>
                <a:latin typeface="Times New Roman"/>
                <a:cs typeface="Times New Roman"/>
              </a:rPr>
              <a:t>done</a:t>
            </a:r>
            <a:r>
              <a:rPr sz="1700" spc="-30" dirty="0">
                <a:solidFill>
                  <a:srgbClr val="404040"/>
                </a:solidFill>
                <a:latin typeface="Times New Roman"/>
                <a:cs typeface="Times New Roman"/>
              </a:rPr>
              <a:t> </a:t>
            </a:r>
            <a:r>
              <a:rPr sz="1700" dirty="0">
                <a:solidFill>
                  <a:srgbClr val="404040"/>
                </a:solidFill>
                <a:latin typeface="Times New Roman"/>
                <a:cs typeface="Times New Roman"/>
              </a:rPr>
              <a:t>by</a:t>
            </a:r>
            <a:r>
              <a:rPr sz="1700" spc="-10" dirty="0">
                <a:solidFill>
                  <a:srgbClr val="404040"/>
                </a:solidFill>
                <a:latin typeface="Times New Roman"/>
                <a:cs typeface="Times New Roman"/>
              </a:rPr>
              <a:t> </a:t>
            </a:r>
            <a:r>
              <a:rPr sz="1700" dirty="0">
                <a:solidFill>
                  <a:srgbClr val="404040"/>
                </a:solidFill>
                <a:latin typeface="Times New Roman"/>
                <a:cs typeface="Times New Roman"/>
              </a:rPr>
              <a:t>finding</a:t>
            </a:r>
            <a:r>
              <a:rPr sz="1700" spc="-20" dirty="0">
                <a:solidFill>
                  <a:srgbClr val="404040"/>
                </a:solidFill>
                <a:latin typeface="Times New Roman"/>
                <a:cs typeface="Times New Roman"/>
              </a:rPr>
              <a:t> </a:t>
            </a:r>
            <a:r>
              <a:rPr sz="1700" dirty="0">
                <a:solidFill>
                  <a:srgbClr val="404040"/>
                </a:solidFill>
                <a:latin typeface="Times New Roman"/>
                <a:cs typeface="Times New Roman"/>
              </a:rPr>
              <a:t>a</a:t>
            </a:r>
            <a:r>
              <a:rPr sz="1700" spc="-20" dirty="0">
                <a:solidFill>
                  <a:srgbClr val="404040"/>
                </a:solidFill>
                <a:latin typeface="Times New Roman"/>
                <a:cs typeface="Times New Roman"/>
              </a:rPr>
              <a:t> </a:t>
            </a:r>
            <a:r>
              <a:rPr sz="1700" dirty="0">
                <a:solidFill>
                  <a:srgbClr val="404040"/>
                </a:solidFill>
                <a:latin typeface="Times New Roman"/>
                <a:cs typeface="Times New Roman"/>
              </a:rPr>
              <a:t>pair</a:t>
            </a:r>
            <a:r>
              <a:rPr sz="1700" spc="-20"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15"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20" dirty="0">
                <a:solidFill>
                  <a:srgbClr val="404040"/>
                </a:solidFill>
                <a:latin typeface="Times New Roman"/>
                <a:cs typeface="Times New Roman"/>
              </a:rPr>
              <a:t> </a:t>
            </a:r>
            <a:r>
              <a:rPr sz="1700" dirty="0">
                <a:solidFill>
                  <a:srgbClr val="404040"/>
                </a:solidFill>
                <a:latin typeface="Times New Roman"/>
                <a:cs typeface="Times New Roman"/>
              </a:rPr>
              <a:t>with</a:t>
            </a:r>
            <a:r>
              <a:rPr sz="1700" spc="-10" dirty="0">
                <a:solidFill>
                  <a:srgbClr val="404040"/>
                </a:solidFill>
                <a:latin typeface="Times New Roman"/>
                <a:cs typeface="Times New Roman"/>
              </a:rPr>
              <a:t> </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dirty="0">
                <a:solidFill>
                  <a:srgbClr val="404040"/>
                </a:solidFill>
                <a:latin typeface="Times New Roman"/>
                <a:cs typeface="Times New Roman"/>
              </a:rPr>
              <a:t>≠</a:t>
            </a:r>
            <a:r>
              <a:rPr sz="1700" spc="-5" dirty="0">
                <a:solidFill>
                  <a:srgbClr val="404040"/>
                </a:solidFill>
                <a:latin typeface="Times New Roman"/>
                <a:cs typeface="Times New Roman"/>
              </a:rPr>
              <a:t> </a:t>
            </a:r>
            <a:r>
              <a:rPr sz="1700" i="1" dirty="0">
                <a:solidFill>
                  <a:srgbClr val="404040"/>
                </a:solidFill>
                <a:latin typeface="Times New Roman"/>
                <a:cs typeface="Times New Roman"/>
              </a:rPr>
              <a:t>b</a:t>
            </a:r>
            <a:r>
              <a:rPr sz="1700" i="1" spc="-10" dirty="0">
                <a:solidFill>
                  <a:srgbClr val="404040"/>
                </a:solidFill>
                <a:latin typeface="Times New Roman"/>
                <a:cs typeface="Times New Roman"/>
              </a:rPr>
              <a:t> </a:t>
            </a:r>
            <a:r>
              <a:rPr sz="1700" dirty="0">
                <a:solidFill>
                  <a:srgbClr val="404040"/>
                </a:solidFill>
                <a:latin typeface="Times New Roman"/>
                <a:cs typeface="Times New Roman"/>
              </a:rPr>
              <a:t>such</a:t>
            </a:r>
            <a:r>
              <a:rPr sz="1700" spc="-25" dirty="0">
                <a:solidFill>
                  <a:srgbClr val="404040"/>
                </a:solidFill>
                <a:latin typeface="Times New Roman"/>
                <a:cs typeface="Times New Roman"/>
              </a:rPr>
              <a:t> </a:t>
            </a:r>
            <a:r>
              <a:rPr sz="1700" dirty="0">
                <a:solidFill>
                  <a:srgbClr val="404040"/>
                </a:solidFill>
                <a:latin typeface="Times New Roman"/>
                <a:cs typeface="Times New Roman"/>
              </a:rPr>
              <a:t>that</a:t>
            </a:r>
            <a:r>
              <a:rPr sz="1700" spc="-15" dirty="0">
                <a:solidFill>
                  <a:srgbClr val="404040"/>
                </a:solidFill>
                <a:latin typeface="Times New Roman"/>
                <a:cs typeface="Times New Roman"/>
              </a:rPr>
              <a:t> </a:t>
            </a:r>
            <a:r>
              <a:rPr sz="1700" dirty="0">
                <a:solidFill>
                  <a:srgbClr val="404040"/>
                </a:solidFill>
                <a:latin typeface="Times New Roman"/>
                <a:cs typeface="Times New Roman"/>
              </a:rPr>
              <a:t>(</a:t>
            </a:r>
            <a:r>
              <a:rPr sz="1700" i="1" dirty="0">
                <a:solidFill>
                  <a:srgbClr val="404040"/>
                </a:solidFill>
                <a:latin typeface="Times New Roman"/>
                <a:cs typeface="Times New Roman"/>
              </a:rPr>
              <a:t>a,</a:t>
            </a:r>
            <a:r>
              <a:rPr sz="1700" i="1" spc="-20" dirty="0">
                <a:solidFill>
                  <a:srgbClr val="404040"/>
                </a:solidFill>
                <a:latin typeface="Times New Roman"/>
                <a:cs typeface="Times New Roman"/>
              </a:rPr>
              <a:t> </a:t>
            </a:r>
            <a:r>
              <a:rPr sz="1700" i="1" dirty="0">
                <a:solidFill>
                  <a:srgbClr val="404040"/>
                </a:solidFill>
                <a:latin typeface="Times New Roman"/>
                <a:cs typeface="Times New Roman"/>
              </a:rPr>
              <a:t>b</a:t>
            </a:r>
            <a:r>
              <a:rPr sz="1700" dirty="0">
                <a:solidFill>
                  <a:srgbClr val="404040"/>
                </a:solidFill>
                <a:latin typeface="Times New Roman"/>
                <a:cs typeface="Times New Roman"/>
              </a:rPr>
              <a:t>)</a:t>
            </a:r>
            <a:r>
              <a:rPr sz="1700" spc="-20"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spc="-25" dirty="0">
                <a:solidFill>
                  <a:srgbClr val="404040"/>
                </a:solidFill>
                <a:latin typeface="Times New Roman"/>
                <a:cs typeface="Times New Roman"/>
              </a:rPr>
              <a:t>(</a:t>
            </a:r>
            <a:r>
              <a:rPr sz="1700" i="1" spc="-25" dirty="0">
                <a:solidFill>
                  <a:srgbClr val="404040"/>
                </a:solidFill>
                <a:latin typeface="Times New Roman"/>
                <a:cs typeface="Times New Roman"/>
              </a:rPr>
              <a:t>b, </a:t>
            </a:r>
            <a:r>
              <a:rPr sz="1700" i="1" dirty="0">
                <a:solidFill>
                  <a:srgbClr val="404040"/>
                </a:solidFill>
                <a:latin typeface="Times New Roman"/>
                <a:cs typeface="Times New Roman"/>
              </a:rPr>
              <a:t>a</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are</a:t>
            </a:r>
            <a:r>
              <a:rPr sz="1700" spc="-20" dirty="0">
                <a:solidFill>
                  <a:srgbClr val="404040"/>
                </a:solidFill>
                <a:latin typeface="Times New Roman"/>
                <a:cs typeface="Times New Roman"/>
              </a:rPr>
              <a:t> </a:t>
            </a:r>
            <a:r>
              <a:rPr sz="1700" dirty="0">
                <a:solidFill>
                  <a:srgbClr val="404040"/>
                </a:solidFill>
                <a:latin typeface="Times New Roman"/>
                <a:cs typeface="Times New Roman"/>
              </a:rPr>
              <a:t>both</a:t>
            </a:r>
            <a:r>
              <a:rPr sz="1700" spc="-15" dirty="0">
                <a:solidFill>
                  <a:srgbClr val="404040"/>
                </a:solidFill>
                <a:latin typeface="Times New Roman"/>
                <a:cs typeface="Times New Roman"/>
              </a:rPr>
              <a:t> </a:t>
            </a:r>
            <a:r>
              <a:rPr sz="1700" dirty="0">
                <a:solidFill>
                  <a:srgbClr val="404040"/>
                </a:solidFill>
                <a:latin typeface="Times New Roman"/>
                <a:cs typeface="Times New Roman"/>
              </a:rPr>
              <a:t>in</a:t>
            </a:r>
            <a:r>
              <a:rPr sz="1700" spc="-10" dirty="0">
                <a:solidFill>
                  <a:srgbClr val="404040"/>
                </a:solidFill>
                <a:latin typeface="Times New Roman"/>
                <a:cs typeface="Times New Roman"/>
              </a:rPr>
              <a:t> </a:t>
            </a:r>
            <a:r>
              <a:rPr sz="1700" dirty="0">
                <a:solidFill>
                  <a:srgbClr val="404040"/>
                </a:solidFill>
                <a:latin typeface="Times New Roman"/>
                <a:cs typeface="Times New Roman"/>
              </a:rPr>
              <a:t>the</a:t>
            </a:r>
            <a:r>
              <a:rPr sz="1700" spc="-25" dirty="0">
                <a:solidFill>
                  <a:srgbClr val="404040"/>
                </a:solidFill>
                <a:latin typeface="Times New Roman"/>
                <a:cs typeface="Times New Roman"/>
              </a:rPr>
              <a:t> </a:t>
            </a:r>
            <a:r>
              <a:rPr sz="1700" spc="-10" dirty="0">
                <a:solidFill>
                  <a:srgbClr val="404040"/>
                </a:solidFill>
                <a:latin typeface="Times New Roman"/>
                <a:cs typeface="Times New Roman"/>
              </a:rPr>
              <a:t>relation.</a:t>
            </a:r>
            <a:endParaRPr sz="17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2400" y="-6095"/>
            <a:ext cx="5283200" cy="574675"/>
          </a:xfrm>
          <a:prstGeom prst="rect">
            <a:avLst/>
          </a:prstGeom>
        </p:spPr>
        <p:txBody>
          <a:bodyPr vert="horz" wrap="square" lIns="0" tIns="12700" rIns="0" bIns="0" rtlCol="0">
            <a:spAutoFit/>
          </a:bodyPr>
          <a:lstStyle/>
          <a:p>
            <a:pPr marL="12700">
              <a:lnSpc>
                <a:spcPct val="100000"/>
              </a:lnSpc>
              <a:spcBef>
                <a:spcPts val="100"/>
              </a:spcBef>
            </a:pPr>
            <a:r>
              <a:rPr dirty="0"/>
              <a:t>TRANSITIVE</a:t>
            </a:r>
            <a:r>
              <a:rPr spc="-20" dirty="0"/>
              <a:t> </a:t>
            </a:r>
            <a:r>
              <a:rPr spc="-40" dirty="0"/>
              <a:t>RELATION</a:t>
            </a:r>
          </a:p>
        </p:txBody>
      </p:sp>
      <p:sp>
        <p:nvSpPr>
          <p:cNvPr id="3" name="object 3"/>
          <p:cNvSpPr txBox="1"/>
          <p:nvPr/>
        </p:nvSpPr>
        <p:spPr>
          <a:xfrm>
            <a:off x="356870" y="914400"/>
            <a:ext cx="7414260" cy="3166893"/>
          </a:xfrm>
          <a:prstGeom prst="rect">
            <a:avLst/>
          </a:prstGeom>
        </p:spPr>
        <p:txBody>
          <a:bodyPr vert="horz" wrap="square" lIns="0" tIns="12065" rIns="0" bIns="0" rtlCol="0">
            <a:spAutoFit/>
          </a:bodyPr>
          <a:lstStyle/>
          <a:p>
            <a:pPr marL="12700">
              <a:lnSpc>
                <a:spcPts val="1939"/>
              </a:lnSpc>
              <a:spcBef>
                <a:spcPts val="95"/>
              </a:spcBef>
            </a:pPr>
            <a:r>
              <a:rPr sz="2000" b="1" dirty="0">
                <a:solidFill>
                  <a:srgbClr val="00AFEF"/>
                </a:solidFill>
                <a:latin typeface="Times New Roman"/>
                <a:cs typeface="Times New Roman"/>
              </a:rPr>
              <a:t>A</a:t>
            </a:r>
            <a:r>
              <a:rPr sz="2000" b="1" spc="-110" dirty="0">
                <a:solidFill>
                  <a:srgbClr val="00AFEF"/>
                </a:solidFill>
                <a:latin typeface="Times New Roman"/>
                <a:cs typeface="Times New Roman"/>
              </a:rPr>
              <a:t> </a:t>
            </a:r>
            <a:r>
              <a:rPr sz="2000" b="1" dirty="0">
                <a:solidFill>
                  <a:srgbClr val="00AFEF"/>
                </a:solidFill>
                <a:latin typeface="Times New Roman"/>
                <a:cs typeface="Times New Roman"/>
              </a:rPr>
              <a:t>relation</a:t>
            </a:r>
            <a:r>
              <a:rPr sz="2000" b="1" spc="-40" dirty="0">
                <a:solidFill>
                  <a:srgbClr val="00AFEF"/>
                </a:solidFill>
                <a:latin typeface="Times New Roman"/>
                <a:cs typeface="Times New Roman"/>
              </a:rPr>
              <a:t> </a:t>
            </a:r>
            <a:r>
              <a:rPr sz="2000" b="1" dirty="0">
                <a:solidFill>
                  <a:srgbClr val="00AFEF"/>
                </a:solidFill>
                <a:latin typeface="Times New Roman"/>
                <a:cs typeface="Times New Roman"/>
              </a:rPr>
              <a:t>R</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on</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set</a:t>
            </a:r>
            <a:r>
              <a:rPr sz="2000" b="1" spc="-10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05" dirty="0">
                <a:solidFill>
                  <a:srgbClr val="00AFEF"/>
                </a:solidFill>
                <a:latin typeface="Times New Roman"/>
                <a:cs typeface="Times New Roman"/>
              </a:rPr>
              <a:t> </a:t>
            </a:r>
            <a:r>
              <a:rPr sz="2000" b="1" dirty="0">
                <a:solidFill>
                  <a:srgbClr val="00AFEF"/>
                </a:solidFill>
                <a:latin typeface="Times New Roman"/>
                <a:cs typeface="Times New Roman"/>
              </a:rPr>
              <a:t>is</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called</a:t>
            </a:r>
            <a:r>
              <a:rPr sz="2000" b="1" spc="-25" dirty="0">
                <a:solidFill>
                  <a:srgbClr val="00AFEF"/>
                </a:solidFill>
                <a:latin typeface="Times New Roman"/>
                <a:cs typeface="Times New Roman"/>
              </a:rPr>
              <a:t> </a:t>
            </a:r>
            <a:r>
              <a:rPr sz="2000" b="1" dirty="0">
                <a:solidFill>
                  <a:srgbClr val="00AFEF"/>
                </a:solidFill>
                <a:latin typeface="Times New Roman"/>
                <a:cs typeface="Times New Roman"/>
              </a:rPr>
              <a:t>transitive</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if</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whenever</a:t>
            </a:r>
            <a:r>
              <a:rPr sz="2000" b="1" spc="-5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b)</a:t>
            </a:r>
            <a:r>
              <a:rPr sz="2000" b="1" spc="-5" dirty="0">
                <a:solidFill>
                  <a:srgbClr val="00AFEF"/>
                </a:solidFill>
                <a:latin typeface="Times New Roman"/>
                <a:cs typeface="Times New Roman"/>
              </a:rPr>
              <a:t> </a:t>
            </a:r>
            <a:r>
              <a:rPr sz="2000" dirty="0">
                <a:solidFill>
                  <a:srgbClr val="00AFEF"/>
                </a:solidFill>
                <a:latin typeface="Cambria Math"/>
                <a:cs typeface="Cambria Math"/>
              </a:rPr>
              <a:t>∈</a:t>
            </a:r>
            <a:r>
              <a:rPr sz="2000" spc="15" dirty="0">
                <a:solidFill>
                  <a:srgbClr val="00AFEF"/>
                </a:solidFill>
                <a:latin typeface="Cambria Math"/>
                <a:cs typeface="Cambria Math"/>
              </a:rPr>
              <a:t> </a:t>
            </a:r>
            <a:r>
              <a:rPr sz="2000" b="1" dirty="0">
                <a:solidFill>
                  <a:srgbClr val="00AFEF"/>
                </a:solidFill>
                <a:latin typeface="Times New Roman"/>
                <a:cs typeface="Times New Roman"/>
              </a:rPr>
              <a:t>R</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and</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(b,</a:t>
            </a:r>
            <a:r>
              <a:rPr sz="2000" b="1" spc="-20" dirty="0">
                <a:solidFill>
                  <a:srgbClr val="00AFEF"/>
                </a:solidFill>
                <a:latin typeface="Times New Roman"/>
                <a:cs typeface="Times New Roman"/>
              </a:rPr>
              <a:t> </a:t>
            </a:r>
            <a:r>
              <a:rPr sz="2000" b="1" spc="-25" dirty="0">
                <a:solidFill>
                  <a:srgbClr val="00AFEF"/>
                </a:solidFill>
                <a:latin typeface="Times New Roman"/>
                <a:cs typeface="Times New Roman"/>
              </a:rPr>
              <a:t>c)</a:t>
            </a:r>
            <a:r>
              <a:rPr sz="2000" dirty="0">
                <a:solidFill>
                  <a:srgbClr val="00AFEF"/>
                </a:solidFill>
                <a:latin typeface="Cambria Math"/>
                <a:cs typeface="Cambria Math"/>
              </a:rPr>
              <a:t>∈</a:t>
            </a:r>
            <a:r>
              <a:rPr sz="2000" spc="20" dirty="0">
                <a:solidFill>
                  <a:srgbClr val="00AFEF"/>
                </a:solidFill>
                <a:latin typeface="Cambria Math"/>
                <a:cs typeface="Cambria Math"/>
              </a:rPr>
              <a:t> </a:t>
            </a:r>
            <a:r>
              <a:rPr sz="2000" b="1" dirty="0">
                <a:solidFill>
                  <a:srgbClr val="00AFEF"/>
                </a:solidFill>
                <a:latin typeface="Times New Roman"/>
                <a:cs typeface="Times New Roman"/>
              </a:rPr>
              <a:t>R,</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then</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c)</a:t>
            </a:r>
            <a:r>
              <a:rPr sz="2000" b="1" spc="-15" dirty="0">
                <a:solidFill>
                  <a:srgbClr val="00AFEF"/>
                </a:solidFill>
                <a:latin typeface="Times New Roman"/>
                <a:cs typeface="Times New Roman"/>
              </a:rPr>
              <a:t> </a:t>
            </a:r>
            <a:r>
              <a:rPr sz="2000" dirty="0">
                <a:solidFill>
                  <a:srgbClr val="00AFEF"/>
                </a:solidFill>
                <a:latin typeface="Cambria Math"/>
                <a:cs typeface="Cambria Math"/>
              </a:rPr>
              <a:t>∈</a:t>
            </a:r>
            <a:r>
              <a:rPr sz="2000" spc="15" dirty="0">
                <a:solidFill>
                  <a:srgbClr val="00AFEF"/>
                </a:solidFill>
                <a:latin typeface="Cambria Math"/>
                <a:cs typeface="Cambria Math"/>
              </a:rPr>
              <a:t> </a:t>
            </a:r>
            <a:r>
              <a:rPr sz="2000" b="1" dirty="0">
                <a:solidFill>
                  <a:srgbClr val="00AFEF"/>
                </a:solidFill>
                <a:latin typeface="Times New Roman"/>
                <a:cs typeface="Times New Roman"/>
              </a:rPr>
              <a:t>R,</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for</a:t>
            </a:r>
            <a:r>
              <a:rPr sz="2000" b="1" spc="-50" dirty="0">
                <a:solidFill>
                  <a:srgbClr val="00AFEF"/>
                </a:solidFill>
                <a:latin typeface="Times New Roman"/>
                <a:cs typeface="Times New Roman"/>
              </a:rPr>
              <a:t> </a:t>
            </a:r>
            <a:r>
              <a:rPr sz="2000" b="1" dirty="0">
                <a:solidFill>
                  <a:srgbClr val="00AFEF"/>
                </a:solidFill>
                <a:latin typeface="Times New Roman"/>
                <a:cs typeface="Times New Roman"/>
              </a:rPr>
              <a:t>all</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0" dirty="0">
                <a:solidFill>
                  <a:srgbClr val="00AFEF"/>
                </a:solidFill>
                <a:latin typeface="Times New Roman"/>
                <a:cs typeface="Times New Roman"/>
              </a:rPr>
              <a:t> </a:t>
            </a:r>
            <a:r>
              <a:rPr sz="2000" b="1" dirty="0">
                <a:solidFill>
                  <a:srgbClr val="00AFEF"/>
                </a:solidFill>
                <a:latin typeface="Times New Roman"/>
                <a:cs typeface="Times New Roman"/>
              </a:rPr>
              <a:t>b,</a:t>
            </a:r>
            <a:r>
              <a:rPr sz="2000" b="1" spc="-5" dirty="0">
                <a:solidFill>
                  <a:srgbClr val="00AFEF"/>
                </a:solidFill>
                <a:latin typeface="Times New Roman"/>
                <a:cs typeface="Times New Roman"/>
              </a:rPr>
              <a:t> </a:t>
            </a:r>
            <a:r>
              <a:rPr sz="2000" b="1" dirty="0">
                <a:solidFill>
                  <a:srgbClr val="00AFEF"/>
                </a:solidFill>
                <a:latin typeface="Times New Roman"/>
                <a:cs typeface="Times New Roman"/>
              </a:rPr>
              <a:t>c</a:t>
            </a:r>
            <a:r>
              <a:rPr sz="2000" b="1" spc="-10" dirty="0">
                <a:solidFill>
                  <a:srgbClr val="00AFEF"/>
                </a:solidFill>
                <a:latin typeface="Times New Roman"/>
                <a:cs typeface="Times New Roman"/>
              </a:rPr>
              <a:t> </a:t>
            </a:r>
            <a:r>
              <a:rPr sz="2000" dirty="0">
                <a:solidFill>
                  <a:srgbClr val="00AFEF"/>
                </a:solidFill>
                <a:latin typeface="Cambria Math"/>
                <a:cs typeface="Cambria Math"/>
              </a:rPr>
              <a:t>∈</a:t>
            </a:r>
            <a:r>
              <a:rPr sz="2000" spc="-70" dirty="0">
                <a:solidFill>
                  <a:srgbClr val="00AFEF"/>
                </a:solidFill>
                <a:latin typeface="Cambria Math"/>
                <a:cs typeface="Cambria Math"/>
              </a:rPr>
              <a:t> </a:t>
            </a:r>
            <a:r>
              <a:rPr sz="2000" b="1" spc="-25" dirty="0">
                <a:solidFill>
                  <a:srgbClr val="00AFEF"/>
                </a:solidFill>
                <a:latin typeface="Times New Roman"/>
                <a:cs typeface="Times New Roman"/>
              </a:rPr>
              <a:t>A.</a:t>
            </a:r>
            <a:endParaRPr sz="2000" dirty="0">
              <a:latin typeface="Times New Roman"/>
              <a:cs typeface="Times New Roman"/>
            </a:endParaRPr>
          </a:p>
          <a:p>
            <a:pPr marL="298450" indent="-285750">
              <a:lnSpc>
                <a:spcPct val="100000"/>
              </a:lnSpc>
              <a:spcBef>
                <a:spcPts val="795"/>
              </a:spcBef>
              <a:buFont typeface="Arial" panose="020B0604020202020204" pitchFamily="34" charset="0"/>
              <a:buChar char="•"/>
            </a:pPr>
            <a:r>
              <a:rPr lang="en-US" sz="2000" dirty="0">
                <a:solidFill>
                  <a:srgbClr val="CC0066"/>
                </a:solidFill>
              </a:rPr>
              <a:t>If two-step paths exist, the shortcut must exist.</a:t>
            </a:r>
            <a:br>
              <a:rPr lang="en-US" sz="2000" dirty="0">
                <a:solidFill>
                  <a:srgbClr val="CC0066"/>
                </a:solidFill>
              </a:rPr>
            </a:br>
            <a:r>
              <a:rPr lang="en-US" sz="2000" dirty="0">
                <a:solidFill>
                  <a:srgbClr val="CC0066"/>
                </a:solidFill>
              </a:rPr>
              <a:t>If no two-step path exists, nothing can go wrong.</a:t>
            </a:r>
          </a:p>
          <a:p>
            <a:pPr marL="12700">
              <a:lnSpc>
                <a:spcPct val="100000"/>
              </a:lnSpc>
              <a:spcBef>
                <a:spcPts val="795"/>
              </a:spcBef>
            </a:pPr>
            <a:r>
              <a:rPr lang="en-US" sz="2000" b="1" dirty="0">
                <a:solidFill>
                  <a:srgbClr val="C00000"/>
                </a:solidFill>
                <a:latin typeface="Times New Roman"/>
                <a:cs typeface="Times New Roman"/>
              </a:rPr>
              <a:t>NOTE:</a:t>
            </a:r>
          </a:p>
          <a:p>
            <a:pPr marL="12700">
              <a:lnSpc>
                <a:spcPct val="100000"/>
              </a:lnSpc>
              <a:spcBef>
                <a:spcPts val="795"/>
              </a:spcBef>
            </a:pPr>
            <a:r>
              <a:rPr lang="en-US" sz="2000" b="1" dirty="0">
                <a:solidFill>
                  <a:srgbClr val="7030A0"/>
                </a:solidFill>
                <a:latin typeface="Times New Roman"/>
                <a:cs typeface="Times New Roman"/>
              </a:rPr>
              <a:t>Transitivity only requires that when a chain exists, the resulting pair (</a:t>
            </a:r>
            <a:r>
              <a:rPr lang="en-US" sz="2000" b="1" dirty="0" err="1">
                <a:solidFill>
                  <a:srgbClr val="7030A0"/>
                </a:solidFill>
                <a:latin typeface="Times New Roman"/>
                <a:cs typeface="Times New Roman"/>
              </a:rPr>
              <a:t>a,c</a:t>
            </a:r>
            <a:r>
              <a:rPr lang="en-US" sz="2000" b="1" dirty="0">
                <a:solidFill>
                  <a:srgbClr val="7030A0"/>
                </a:solidFill>
                <a:latin typeface="Times New Roman"/>
                <a:cs typeface="Times New Roman"/>
              </a:rPr>
              <a:t>) is in the relation.</a:t>
            </a:r>
          </a:p>
          <a:p>
            <a:pPr marL="12700">
              <a:lnSpc>
                <a:spcPct val="100000"/>
              </a:lnSpc>
              <a:spcBef>
                <a:spcPts val="795"/>
              </a:spcBef>
            </a:pPr>
            <a:r>
              <a:rPr lang="en-US" sz="2000" b="1" dirty="0">
                <a:solidFill>
                  <a:srgbClr val="7030A0"/>
                </a:solidFill>
                <a:latin typeface="Times New Roman"/>
                <a:cs typeface="Times New Roman"/>
              </a:rPr>
              <a:t>If no chain exists, there’s nothing to check → automatically OK</a:t>
            </a:r>
          </a:p>
          <a:p>
            <a:pPr marL="12700">
              <a:lnSpc>
                <a:spcPct val="100000"/>
              </a:lnSpc>
              <a:spcBef>
                <a:spcPts val="795"/>
              </a:spcBef>
            </a:pPr>
            <a:endParaRPr lang="en-US" sz="2000" b="1" dirty="0">
              <a:solidFill>
                <a:srgbClr val="CC0066"/>
              </a:solidFill>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2400" y="-6095"/>
            <a:ext cx="5283200" cy="574675"/>
          </a:xfrm>
          <a:prstGeom prst="rect">
            <a:avLst/>
          </a:prstGeom>
        </p:spPr>
        <p:txBody>
          <a:bodyPr vert="horz" wrap="square" lIns="0" tIns="12700" rIns="0" bIns="0" rtlCol="0">
            <a:spAutoFit/>
          </a:bodyPr>
          <a:lstStyle/>
          <a:p>
            <a:pPr marL="12700">
              <a:lnSpc>
                <a:spcPct val="100000"/>
              </a:lnSpc>
              <a:spcBef>
                <a:spcPts val="100"/>
              </a:spcBef>
            </a:pPr>
            <a:r>
              <a:rPr dirty="0"/>
              <a:t>TRANSITIVE</a:t>
            </a:r>
            <a:r>
              <a:rPr spc="-20" dirty="0"/>
              <a:t> </a:t>
            </a:r>
            <a:r>
              <a:rPr spc="-40" dirty="0"/>
              <a:t>RELATION</a:t>
            </a:r>
          </a:p>
        </p:txBody>
      </p:sp>
      <p:sp>
        <p:nvSpPr>
          <p:cNvPr id="3" name="object 3"/>
          <p:cNvSpPr txBox="1"/>
          <p:nvPr/>
        </p:nvSpPr>
        <p:spPr>
          <a:xfrm>
            <a:off x="307340" y="521970"/>
            <a:ext cx="7084060" cy="6113853"/>
          </a:xfrm>
          <a:prstGeom prst="rect">
            <a:avLst/>
          </a:prstGeom>
        </p:spPr>
        <p:txBody>
          <a:bodyPr vert="horz" wrap="square" lIns="0" tIns="12065" rIns="0" bIns="0" rtlCol="0">
            <a:spAutoFit/>
          </a:bodyPr>
          <a:lstStyle/>
          <a:p>
            <a:pPr marL="12700">
              <a:lnSpc>
                <a:spcPts val="1939"/>
              </a:lnSpc>
              <a:spcBef>
                <a:spcPts val="95"/>
              </a:spcBef>
            </a:pPr>
            <a:r>
              <a:rPr sz="1700" b="1" dirty="0">
                <a:solidFill>
                  <a:srgbClr val="00AFEF"/>
                </a:solidFill>
                <a:latin typeface="Times New Roman"/>
                <a:cs typeface="Times New Roman"/>
              </a:rPr>
              <a:t>A</a:t>
            </a:r>
            <a:r>
              <a:rPr sz="1700" b="1" spc="-110" dirty="0">
                <a:solidFill>
                  <a:srgbClr val="00AFEF"/>
                </a:solidFill>
                <a:latin typeface="Times New Roman"/>
                <a:cs typeface="Times New Roman"/>
              </a:rPr>
              <a:t> </a:t>
            </a:r>
            <a:r>
              <a:rPr sz="1700" b="1" dirty="0">
                <a:solidFill>
                  <a:srgbClr val="00AFEF"/>
                </a:solidFill>
                <a:latin typeface="Times New Roman"/>
                <a:cs typeface="Times New Roman"/>
              </a:rPr>
              <a:t>relation</a:t>
            </a:r>
            <a:r>
              <a:rPr sz="1700" b="1" spc="-40" dirty="0">
                <a:solidFill>
                  <a:srgbClr val="00AFEF"/>
                </a:solidFill>
                <a:latin typeface="Times New Roman"/>
                <a:cs typeface="Times New Roman"/>
              </a:rPr>
              <a:t> </a:t>
            </a:r>
            <a:r>
              <a:rPr sz="1700" b="1" dirty="0">
                <a:solidFill>
                  <a:srgbClr val="00AFEF"/>
                </a:solidFill>
                <a:latin typeface="Times New Roman"/>
                <a:cs typeface="Times New Roman"/>
              </a:rPr>
              <a:t>R</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on</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set</a:t>
            </a:r>
            <a:r>
              <a:rPr sz="1700" b="1" spc="-105"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105" dirty="0">
                <a:solidFill>
                  <a:srgbClr val="00AFEF"/>
                </a:solidFill>
                <a:latin typeface="Times New Roman"/>
                <a:cs typeface="Times New Roman"/>
              </a:rPr>
              <a:t> </a:t>
            </a:r>
            <a:r>
              <a:rPr sz="1700" b="1" dirty="0">
                <a:solidFill>
                  <a:srgbClr val="00AFEF"/>
                </a:solidFill>
                <a:latin typeface="Times New Roman"/>
                <a:cs typeface="Times New Roman"/>
              </a:rPr>
              <a:t>is</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called</a:t>
            </a:r>
            <a:r>
              <a:rPr sz="1700" b="1" spc="-25"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if</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whenever</a:t>
            </a:r>
            <a:r>
              <a:rPr sz="1700" b="1" spc="-55"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b)</a:t>
            </a:r>
            <a:r>
              <a:rPr sz="1700" b="1" spc="-5" dirty="0">
                <a:solidFill>
                  <a:srgbClr val="00AFEF"/>
                </a:solidFill>
                <a:latin typeface="Times New Roman"/>
                <a:cs typeface="Times New Roman"/>
              </a:rPr>
              <a:t> </a:t>
            </a:r>
            <a:r>
              <a:rPr sz="1700" dirty="0">
                <a:solidFill>
                  <a:srgbClr val="00AFEF"/>
                </a:solidFill>
                <a:latin typeface="Cambria Math"/>
                <a:cs typeface="Cambria Math"/>
              </a:rPr>
              <a:t>∈</a:t>
            </a:r>
            <a:r>
              <a:rPr sz="1700" spc="15" dirty="0">
                <a:solidFill>
                  <a:srgbClr val="00AFEF"/>
                </a:solidFill>
                <a:latin typeface="Cambria Math"/>
                <a:cs typeface="Cambria Math"/>
              </a:rPr>
              <a:t> </a:t>
            </a:r>
            <a:r>
              <a:rPr sz="1700" b="1" dirty="0">
                <a:solidFill>
                  <a:srgbClr val="00AFEF"/>
                </a:solidFill>
                <a:latin typeface="Times New Roman"/>
                <a:cs typeface="Times New Roman"/>
              </a:rPr>
              <a:t>R</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(b,</a:t>
            </a:r>
            <a:r>
              <a:rPr sz="1700" b="1" spc="-20" dirty="0">
                <a:solidFill>
                  <a:srgbClr val="00AFEF"/>
                </a:solidFill>
                <a:latin typeface="Times New Roman"/>
                <a:cs typeface="Times New Roman"/>
              </a:rPr>
              <a:t> </a:t>
            </a:r>
            <a:r>
              <a:rPr sz="1700" b="1" spc="-25" dirty="0">
                <a:solidFill>
                  <a:srgbClr val="00AFEF"/>
                </a:solidFill>
                <a:latin typeface="Times New Roman"/>
                <a:cs typeface="Times New Roman"/>
              </a:rPr>
              <a:t>c)</a:t>
            </a:r>
            <a:endParaRPr sz="1700" dirty="0">
              <a:latin typeface="Times New Roman"/>
              <a:cs typeface="Times New Roman"/>
            </a:endParaRPr>
          </a:p>
          <a:p>
            <a:pPr marL="12700">
              <a:lnSpc>
                <a:spcPts val="1939"/>
              </a:lnSpc>
            </a:pPr>
            <a:r>
              <a:rPr sz="1700" dirty="0">
                <a:solidFill>
                  <a:srgbClr val="00AFEF"/>
                </a:solidFill>
                <a:latin typeface="Cambria Math"/>
                <a:cs typeface="Cambria Math"/>
              </a:rPr>
              <a:t>∈</a:t>
            </a:r>
            <a:r>
              <a:rPr sz="1700" spc="20" dirty="0">
                <a:solidFill>
                  <a:srgbClr val="00AFEF"/>
                </a:solidFill>
                <a:latin typeface="Cambria Math"/>
                <a:cs typeface="Cambria Math"/>
              </a:rPr>
              <a:t> </a:t>
            </a:r>
            <a:r>
              <a:rPr sz="1700" b="1" dirty="0">
                <a:solidFill>
                  <a:srgbClr val="00AFEF"/>
                </a:solidFill>
                <a:latin typeface="Times New Roman"/>
                <a:cs typeface="Times New Roman"/>
              </a:rPr>
              <a:t>R,</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then</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c)</a:t>
            </a:r>
            <a:r>
              <a:rPr sz="1700" b="1" spc="-15" dirty="0">
                <a:solidFill>
                  <a:srgbClr val="00AFEF"/>
                </a:solidFill>
                <a:latin typeface="Times New Roman"/>
                <a:cs typeface="Times New Roman"/>
              </a:rPr>
              <a:t> </a:t>
            </a:r>
            <a:r>
              <a:rPr sz="1700" dirty="0">
                <a:solidFill>
                  <a:srgbClr val="00AFEF"/>
                </a:solidFill>
                <a:latin typeface="Cambria Math"/>
                <a:cs typeface="Cambria Math"/>
              </a:rPr>
              <a:t>∈</a:t>
            </a:r>
            <a:r>
              <a:rPr sz="1700" spc="15" dirty="0">
                <a:solidFill>
                  <a:srgbClr val="00AFEF"/>
                </a:solidFill>
                <a:latin typeface="Cambria Math"/>
                <a:cs typeface="Cambria Math"/>
              </a:rPr>
              <a:t> </a:t>
            </a:r>
            <a:r>
              <a:rPr sz="1700" b="1" dirty="0">
                <a:solidFill>
                  <a:srgbClr val="00AFEF"/>
                </a:solidFill>
                <a:latin typeface="Times New Roman"/>
                <a:cs typeface="Times New Roman"/>
              </a:rPr>
              <a:t>R,</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for</a:t>
            </a:r>
            <a:r>
              <a:rPr sz="1700" b="1" spc="-50" dirty="0">
                <a:solidFill>
                  <a:srgbClr val="00AFEF"/>
                </a:solidFill>
                <a:latin typeface="Times New Roman"/>
                <a:cs typeface="Times New Roman"/>
              </a:rPr>
              <a:t> </a:t>
            </a:r>
            <a:r>
              <a:rPr sz="1700" b="1" dirty="0">
                <a:solidFill>
                  <a:srgbClr val="00AFEF"/>
                </a:solidFill>
                <a:latin typeface="Times New Roman"/>
                <a:cs typeface="Times New Roman"/>
              </a:rPr>
              <a:t>all</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a,</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b,</a:t>
            </a:r>
            <a:r>
              <a:rPr sz="1700" b="1" spc="-5" dirty="0">
                <a:solidFill>
                  <a:srgbClr val="00AFEF"/>
                </a:solidFill>
                <a:latin typeface="Times New Roman"/>
                <a:cs typeface="Times New Roman"/>
              </a:rPr>
              <a:t> </a:t>
            </a:r>
            <a:r>
              <a:rPr sz="1700" b="1" dirty="0">
                <a:solidFill>
                  <a:srgbClr val="00AFEF"/>
                </a:solidFill>
                <a:latin typeface="Times New Roman"/>
                <a:cs typeface="Times New Roman"/>
              </a:rPr>
              <a:t>c</a:t>
            </a:r>
            <a:r>
              <a:rPr sz="1700" b="1" spc="-10" dirty="0">
                <a:solidFill>
                  <a:srgbClr val="00AFEF"/>
                </a:solidFill>
                <a:latin typeface="Times New Roman"/>
                <a:cs typeface="Times New Roman"/>
              </a:rPr>
              <a:t> </a:t>
            </a:r>
            <a:r>
              <a:rPr sz="1700" dirty="0">
                <a:solidFill>
                  <a:srgbClr val="00AFEF"/>
                </a:solidFill>
                <a:latin typeface="Cambria Math"/>
                <a:cs typeface="Cambria Math"/>
              </a:rPr>
              <a:t>∈</a:t>
            </a:r>
            <a:r>
              <a:rPr sz="1700" spc="-70" dirty="0">
                <a:solidFill>
                  <a:srgbClr val="00AFEF"/>
                </a:solidFill>
                <a:latin typeface="Cambria Math"/>
                <a:cs typeface="Cambria Math"/>
              </a:rPr>
              <a:t> </a:t>
            </a:r>
            <a:r>
              <a:rPr sz="1700" b="1" spc="-25" dirty="0">
                <a:solidFill>
                  <a:srgbClr val="00AFEF"/>
                </a:solidFill>
                <a:latin typeface="Times New Roman"/>
                <a:cs typeface="Times New Roman"/>
              </a:rPr>
              <a:t>A.</a:t>
            </a:r>
            <a:endParaRPr sz="1700" dirty="0">
              <a:latin typeface="Times New Roman"/>
              <a:cs typeface="Times New Roman"/>
            </a:endParaRPr>
          </a:p>
          <a:p>
            <a:pPr marL="12700">
              <a:lnSpc>
                <a:spcPct val="100000"/>
              </a:lnSpc>
              <a:spcBef>
                <a:spcPts val="795"/>
              </a:spcBef>
            </a:pPr>
            <a:r>
              <a:rPr sz="1700" b="1" u="sng" dirty="0">
                <a:solidFill>
                  <a:srgbClr val="90C225"/>
                </a:solidFill>
                <a:uFill>
                  <a:solidFill>
                    <a:srgbClr val="90C225"/>
                  </a:solidFill>
                </a:uFill>
                <a:latin typeface="Times New Roman"/>
                <a:cs typeface="Times New Roman"/>
              </a:rPr>
              <a:t>EXAMPLE</a:t>
            </a:r>
            <a:r>
              <a:rPr sz="1700" b="1" u="sng" spc="-20" dirty="0">
                <a:solidFill>
                  <a:srgbClr val="90C225"/>
                </a:solidFill>
                <a:uFill>
                  <a:solidFill>
                    <a:srgbClr val="90C225"/>
                  </a:solidFill>
                </a:uFill>
                <a:latin typeface="Times New Roman"/>
                <a:cs typeface="Times New Roman"/>
              </a:rPr>
              <a:t> </a:t>
            </a:r>
            <a:r>
              <a:rPr sz="1700" b="1" u="sng" spc="-50" dirty="0">
                <a:solidFill>
                  <a:srgbClr val="90C225"/>
                </a:solidFill>
                <a:uFill>
                  <a:solidFill>
                    <a:srgbClr val="90C225"/>
                  </a:solidFill>
                </a:uFill>
                <a:latin typeface="Times New Roman"/>
                <a:cs typeface="Times New Roman"/>
              </a:rPr>
              <a:t>K</a:t>
            </a:r>
            <a:endParaRPr sz="1700" dirty="0">
              <a:latin typeface="Times New Roman"/>
              <a:cs typeface="Times New Roman"/>
            </a:endParaRPr>
          </a:p>
          <a:p>
            <a:pPr marL="12700">
              <a:lnSpc>
                <a:spcPct val="100000"/>
              </a:lnSpc>
              <a:spcBef>
                <a:spcPts val="800"/>
              </a:spcBef>
            </a:pPr>
            <a:r>
              <a:rPr sz="1700" dirty="0">
                <a:solidFill>
                  <a:srgbClr val="404040"/>
                </a:solidFill>
                <a:latin typeface="Times New Roman"/>
                <a:cs typeface="Times New Roman"/>
              </a:rPr>
              <a:t>C</a:t>
            </a:r>
            <a:r>
              <a:rPr sz="1700" b="1" dirty="0">
                <a:solidFill>
                  <a:srgbClr val="404040"/>
                </a:solidFill>
                <a:latin typeface="Times New Roman"/>
                <a:cs typeface="Times New Roman"/>
              </a:rPr>
              <a:t>onsider</a:t>
            </a:r>
            <a:r>
              <a:rPr sz="1700" b="1" spc="-60" dirty="0">
                <a:solidFill>
                  <a:srgbClr val="404040"/>
                </a:solidFill>
                <a:latin typeface="Times New Roman"/>
                <a:cs typeface="Times New Roman"/>
              </a:rPr>
              <a:t> </a:t>
            </a:r>
            <a:r>
              <a:rPr sz="1700" b="1" dirty="0">
                <a:solidFill>
                  <a:srgbClr val="404040"/>
                </a:solidFill>
                <a:latin typeface="Times New Roman"/>
                <a:cs typeface="Times New Roman"/>
              </a:rPr>
              <a:t>the</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following</a:t>
            </a:r>
            <a:r>
              <a:rPr sz="1700" b="1" spc="-3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on</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4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3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40" dirty="0">
                <a:solidFill>
                  <a:srgbClr val="404040"/>
                </a:solidFill>
                <a:latin typeface="Times New Roman"/>
                <a:cs typeface="Times New Roman"/>
              </a:rPr>
              <a:t> </a:t>
            </a:r>
            <a:r>
              <a:rPr sz="1700" b="1" spc="-25" dirty="0">
                <a:solidFill>
                  <a:srgbClr val="404040"/>
                </a:solidFill>
                <a:latin typeface="Times New Roman"/>
                <a:cs typeface="Times New Roman"/>
              </a:rPr>
              <a:t>4}:</a:t>
            </a:r>
            <a:endParaRPr sz="1700" dirty="0">
              <a:latin typeface="Times New Roman"/>
              <a:cs typeface="Times New Roman"/>
            </a:endParaRPr>
          </a:p>
          <a:p>
            <a:pPr marL="12700">
              <a:lnSpc>
                <a:spcPct val="100000"/>
              </a:lnSpc>
              <a:spcBef>
                <a:spcPts val="79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1</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79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2</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spc="-20" dirty="0">
                <a:solidFill>
                  <a:srgbClr val="404040"/>
                </a:solidFill>
                <a:latin typeface="Times New Roman"/>
                <a:cs typeface="Times New Roman"/>
              </a:rPr>
              <a:t>1)}</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795"/>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3</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1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80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4</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3)}</a:t>
            </a:r>
            <a:r>
              <a:rPr sz="1700" b="1" i="1" spc="-20" dirty="0">
                <a:solidFill>
                  <a:srgbClr val="404040"/>
                </a:solidFill>
                <a:latin typeface="Times New Roman"/>
                <a:cs typeface="Times New Roman"/>
              </a:rPr>
              <a:t>,</a:t>
            </a:r>
            <a:endParaRPr sz="1700" dirty="0">
              <a:latin typeface="Times New Roman"/>
              <a:cs typeface="Times New Roman"/>
            </a:endParaRPr>
          </a:p>
          <a:p>
            <a:pPr marL="12700">
              <a:lnSpc>
                <a:spcPct val="100000"/>
              </a:lnSpc>
              <a:spcBef>
                <a:spcPts val="790"/>
              </a:spcBef>
              <a:tabLst>
                <a:tab pos="354965" algn="l"/>
              </a:tabLst>
            </a:pPr>
            <a:r>
              <a:rPr sz="1350" spc="65" dirty="0">
                <a:solidFill>
                  <a:srgbClr val="90C225"/>
                </a:solidFill>
                <a:latin typeface="Lucida Sans Unicode"/>
                <a:cs typeface="Lucida Sans Unicode"/>
              </a:rPr>
              <a:t>▶</a:t>
            </a:r>
            <a:r>
              <a:rPr sz="1350" dirty="0">
                <a:solidFill>
                  <a:srgbClr val="90C225"/>
                </a:solidFill>
                <a:latin typeface="Lucida Sans Unicode"/>
                <a:cs typeface="Lucida Sans Unicode"/>
              </a:rPr>
              <a:t>	</a:t>
            </a:r>
            <a:r>
              <a:rPr sz="1700" b="1" i="1" dirty="0">
                <a:solidFill>
                  <a:srgbClr val="404040"/>
                </a:solidFill>
                <a:latin typeface="Times New Roman"/>
                <a:cs typeface="Times New Roman"/>
              </a:rPr>
              <a:t>R</a:t>
            </a:r>
            <a:r>
              <a:rPr sz="1700" b="1" dirty="0">
                <a:solidFill>
                  <a:srgbClr val="404040"/>
                </a:solidFill>
                <a:latin typeface="Times New Roman"/>
                <a:cs typeface="Times New Roman"/>
              </a:rPr>
              <a:t>5</a:t>
            </a:r>
            <a:r>
              <a:rPr sz="1700" b="1" spc="-20" dirty="0">
                <a:solidFill>
                  <a:srgbClr val="404040"/>
                </a:solidFill>
                <a:latin typeface="Times New Roman"/>
                <a:cs typeface="Times New Roman"/>
              </a:rPr>
              <a:t> </a:t>
            </a:r>
            <a:r>
              <a:rPr sz="1700" b="1" dirty="0">
                <a:solidFill>
                  <a:srgbClr val="404040"/>
                </a:solidFill>
                <a:latin typeface="Times New Roman"/>
                <a:cs typeface="Times New Roman"/>
              </a:rPr>
              <a:t>=</a:t>
            </a:r>
            <a:r>
              <a:rPr sz="1700" b="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(1</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(2</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(3</a:t>
            </a:r>
            <a:r>
              <a:rPr sz="1700" b="1" i="1" dirty="0">
                <a:solidFill>
                  <a:srgbClr val="404040"/>
                </a:solidFill>
                <a:latin typeface="Times New Roman"/>
                <a:cs typeface="Times New Roman"/>
              </a:rPr>
              <a:t>,</a:t>
            </a:r>
            <a:r>
              <a:rPr sz="1700" b="1" i="1" spc="-25"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dirty="0">
                <a:solidFill>
                  <a:srgbClr val="404040"/>
                </a:solidFill>
                <a:latin typeface="Times New Roman"/>
                <a:cs typeface="Times New Roman"/>
              </a:rPr>
              <a:t>(4</a:t>
            </a:r>
            <a:r>
              <a:rPr sz="1700" b="1" i="1" dirty="0">
                <a:solidFill>
                  <a:srgbClr val="404040"/>
                </a:solidFill>
                <a:latin typeface="Times New Roman"/>
                <a:cs typeface="Times New Roman"/>
              </a:rPr>
              <a:t>,</a:t>
            </a:r>
            <a:r>
              <a:rPr sz="1700" b="1" i="1" spc="-20" dirty="0">
                <a:solidFill>
                  <a:srgbClr val="404040"/>
                </a:solidFill>
                <a:latin typeface="Times New Roman"/>
                <a:cs typeface="Times New Roman"/>
              </a:rPr>
              <a:t> </a:t>
            </a:r>
            <a:r>
              <a:rPr sz="1700" b="1" spc="-20" dirty="0">
                <a:solidFill>
                  <a:srgbClr val="404040"/>
                </a:solidFill>
                <a:latin typeface="Times New Roman"/>
                <a:cs typeface="Times New Roman"/>
              </a:rPr>
              <a:t>4)}</a:t>
            </a:r>
            <a:r>
              <a:rPr sz="1700" b="1" i="1" spc="-20" dirty="0">
                <a:solidFill>
                  <a:srgbClr val="404040"/>
                </a:solidFill>
                <a:latin typeface="Times New Roman"/>
                <a:cs typeface="Times New Roman"/>
              </a:rPr>
              <a:t>.</a:t>
            </a:r>
            <a:endParaRPr sz="1700" dirty="0">
              <a:latin typeface="Times New Roman"/>
              <a:cs typeface="Times New Roman"/>
            </a:endParaRPr>
          </a:p>
          <a:p>
            <a:pPr marL="12700" marR="3140710">
              <a:lnSpc>
                <a:spcPts val="2840"/>
              </a:lnSpc>
              <a:spcBef>
                <a:spcPts val="229"/>
              </a:spcBef>
            </a:pPr>
            <a:r>
              <a:rPr sz="1700" b="1" dirty="0">
                <a:solidFill>
                  <a:srgbClr val="404040"/>
                </a:solidFill>
                <a:latin typeface="Times New Roman"/>
                <a:cs typeface="Times New Roman"/>
              </a:rPr>
              <a:t>Which</a:t>
            </a:r>
            <a:r>
              <a:rPr sz="1700" b="1" spc="-35" dirty="0">
                <a:solidFill>
                  <a:srgbClr val="404040"/>
                </a:solidFill>
                <a:latin typeface="Times New Roman"/>
                <a:cs typeface="Times New Roman"/>
              </a:rPr>
              <a:t> </a:t>
            </a:r>
            <a:r>
              <a:rPr sz="1700" b="1" dirty="0">
                <a:solidFill>
                  <a:srgbClr val="404040"/>
                </a:solidFill>
                <a:latin typeface="Times New Roman"/>
                <a:cs typeface="Times New Roman"/>
              </a:rPr>
              <a:t>of</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these</a:t>
            </a:r>
            <a:r>
              <a:rPr sz="1700" b="1" spc="-40" dirty="0">
                <a:solidFill>
                  <a:srgbClr val="404040"/>
                </a:solidFill>
                <a:latin typeface="Times New Roman"/>
                <a:cs typeface="Times New Roman"/>
              </a:rPr>
              <a:t> </a:t>
            </a:r>
            <a:r>
              <a:rPr sz="1700" b="1" dirty="0">
                <a:solidFill>
                  <a:srgbClr val="404040"/>
                </a:solidFill>
                <a:latin typeface="Times New Roman"/>
                <a:cs typeface="Times New Roman"/>
              </a:rPr>
              <a:t>relations</a:t>
            </a:r>
            <a:r>
              <a:rPr sz="1700" b="1" spc="-45" dirty="0">
                <a:solidFill>
                  <a:srgbClr val="404040"/>
                </a:solidFill>
                <a:latin typeface="Times New Roman"/>
                <a:cs typeface="Times New Roman"/>
              </a:rPr>
              <a:t> </a:t>
            </a:r>
            <a:r>
              <a:rPr sz="1700" b="1" dirty="0">
                <a:solidFill>
                  <a:srgbClr val="404040"/>
                </a:solidFill>
                <a:latin typeface="Times New Roman"/>
                <a:cs typeface="Times New Roman"/>
              </a:rPr>
              <a:t>are</a:t>
            </a:r>
            <a:r>
              <a:rPr sz="1700" b="1" spc="-55" dirty="0">
                <a:solidFill>
                  <a:srgbClr val="404040"/>
                </a:solidFill>
                <a:latin typeface="Times New Roman"/>
                <a:cs typeface="Times New Roman"/>
              </a:rPr>
              <a:t> </a:t>
            </a:r>
            <a:r>
              <a:rPr sz="1700" b="1" dirty="0">
                <a:solidFill>
                  <a:srgbClr val="404040"/>
                </a:solidFill>
                <a:latin typeface="Times New Roman"/>
                <a:cs typeface="Times New Roman"/>
              </a:rPr>
              <a:t>transitive</a:t>
            </a:r>
            <a:r>
              <a:rPr sz="1700" b="1" spc="-45" dirty="0">
                <a:solidFill>
                  <a:srgbClr val="404040"/>
                </a:solidFill>
                <a:latin typeface="Times New Roman"/>
                <a:cs typeface="Times New Roman"/>
              </a:rPr>
              <a:t> </a:t>
            </a:r>
            <a:r>
              <a:rPr sz="1700" b="1" spc="-50" dirty="0">
                <a:solidFill>
                  <a:srgbClr val="404040"/>
                </a:solidFill>
                <a:latin typeface="Times New Roman"/>
                <a:cs typeface="Times New Roman"/>
              </a:rPr>
              <a:t>? </a:t>
            </a:r>
            <a:r>
              <a:rPr sz="1700" b="1" u="sng" spc="-10" dirty="0">
                <a:solidFill>
                  <a:srgbClr val="6F2F9F"/>
                </a:solidFill>
                <a:uFill>
                  <a:solidFill>
                    <a:srgbClr val="6F2F9F"/>
                  </a:solidFill>
                </a:uFill>
                <a:latin typeface="Times New Roman"/>
                <a:cs typeface="Times New Roman"/>
              </a:rPr>
              <a:t>SOLUTION:</a:t>
            </a:r>
            <a:endParaRPr sz="1700" dirty="0">
              <a:latin typeface="Times New Roman"/>
              <a:cs typeface="Times New Roman"/>
            </a:endParaRPr>
          </a:p>
          <a:p>
            <a:pPr marL="12700" marR="22225">
              <a:lnSpc>
                <a:spcPts val="1839"/>
              </a:lnSpc>
              <a:spcBef>
                <a:spcPts val="790"/>
              </a:spcBef>
            </a:pPr>
            <a:r>
              <a:rPr sz="1700" b="1" dirty="0">
                <a:solidFill>
                  <a:srgbClr val="00AFEF"/>
                </a:solidFill>
                <a:latin typeface="Times New Roman"/>
                <a:cs typeface="Times New Roman"/>
              </a:rPr>
              <a:t>R4</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and</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R5</a:t>
            </a:r>
            <a:r>
              <a:rPr sz="1700" b="1" spc="-15" dirty="0">
                <a:solidFill>
                  <a:srgbClr val="00AFEF"/>
                </a:solidFill>
                <a:latin typeface="Times New Roman"/>
                <a:cs typeface="Times New Roman"/>
              </a:rPr>
              <a:t> </a:t>
            </a:r>
            <a:r>
              <a:rPr sz="1700" b="1" dirty="0">
                <a:solidFill>
                  <a:srgbClr val="00AFEF"/>
                </a:solidFill>
                <a:latin typeface="Times New Roman"/>
                <a:cs typeface="Times New Roman"/>
              </a:rPr>
              <a:t>are</a:t>
            </a:r>
            <a:r>
              <a:rPr sz="1700" b="1" spc="-30"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dirty="0">
                <a:solidFill>
                  <a:srgbClr val="404040"/>
                </a:solidFill>
                <a:latin typeface="Times New Roman"/>
                <a:cs typeface="Times New Roman"/>
              </a:rPr>
              <a:t>.</a:t>
            </a:r>
            <a:r>
              <a:rPr sz="1700" spc="-25" dirty="0">
                <a:solidFill>
                  <a:srgbClr val="404040"/>
                </a:solidFill>
                <a:latin typeface="Times New Roman"/>
                <a:cs typeface="Times New Roman"/>
              </a:rPr>
              <a:t> </a:t>
            </a:r>
            <a:r>
              <a:rPr sz="1700" dirty="0">
                <a:solidFill>
                  <a:srgbClr val="404040"/>
                </a:solidFill>
                <a:latin typeface="Times New Roman"/>
                <a:cs typeface="Times New Roman"/>
              </a:rPr>
              <a:t>For</a:t>
            </a:r>
            <a:r>
              <a:rPr sz="1700" spc="-20" dirty="0">
                <a:solidFill>
                  <a:srgbClr val="404040"/>
                </a:solidFill>
                <a:latin typeface="Times New Roman"/>
                <a:cs typeface="Times New Roman"/>
              </a:rPr>
              <a:t> </a:t>
            </a:r>
            <a:r>
              <a:rPr sz="1700" dirty="0">
                <a:solidFill>
                  <a:srgbClr val="404040"/>
                </a:solidFill>
                <a:latin typeface="Times New Roman"/>
                <a:cs typeface="Times New Roman"/>
              </a:rPr>
              <a:t>each</a:t>
            </a:r>
            <a:r>
              <a:rPr sz="1700" spc="-30" dirty="0">
                <a:solidFill>
                  <a:srgbClr val="404040"/>
                </a:solidFill>
                <a:latin typeface="Times New Roman"/>
                <a:cs typeface="Times New Roman"/>
              </a:rPr>
              <a:t>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these</a:t>
            </a:r>
            <a:r>
              <a:rPr sz="1700" spc="-25" dirty="0">
                <a:solidFill>
                  <a:srgbClr val="404040"/>
                </a:solidFill>
                <a:latin typeface="Times New Roman"/>
                <a:cs typeface="Times New Roman"/>
              </a:rPr>
              <a:t> </a:t>
            </a:r>
            <a:r>
              <a:rPr sz="1700" dirty="0">
                <a:solidFill>
                  <a:srgbClr val="404040"/>
                </a:solidFill>
                <a:latin typeface="Times New Roman"/>
                <a:cs typeface="Times New Roman"/>
              </a:rPr>
              <a:t>relations,</a:t>
            </a:r>
            <a:r>
              <a:rPr sz="1700" spc="-35" dirty="0">
                <a:solidFill>
                  <a:srgbClr val="404040"/>
                </a:solidFill>
                <a:latin typeface="Times New Roman"/>
                <a:cs typeface="Times New Roman"/>
              </a:rPr>
              <a:t> </a:t>
            </a:r>
            <a:r>
              <a:rPr sz="1700" dirty="0">
                <a:solidFill>
                  <a:srgbClr val="404040"/>
                </a:solidFill>
                <a:latin typeface="Times New Roman"/>
                <a:cs typeface="Times New Roman"/>
              </a:rPr>
              <a:t>we</a:t>
            </a:r>
            <a:r>
              <a:rPr sz="1700" spc="-20" dirty="0">
                <a:solidFill>
                  <a:srgbClr val="404040"/>
                </a:solidFill>
                <a:latin typeface="Times New Roman"/>
                <a:cs typeface="Times New Roman"/>
              </a:rPr>
              <a:t> </a:t>
            </a:r>
            <a:r>
              <a:rPr sz="1700" dirty="0">
                <a:solidFill>
                  <a:srgbClr val="404040"/>
                </a:solidFill>
                <a:latin typeface="Times New Roman"/>
                <a:cs typeface="Times New Roman"/>
              </a:rPr>
              <a:t>can</a:t>
            </a:r>
            <a:r>
              <a:rPr sz="1700" spc="-30" dirty="0">
                <a:solidFill>
                  <a:srgbClr val="404040"/>
                </a:solidFill>
                <a:latin typeface="Times New Roman"/>
                <a:cs typeface="Times New Roman"/>
              </a:rPr>
              <a:t> </a:t>
            </a:r>
            <a:r>
              <a:rPr sz="1700" dirty="0">
                <a:solidFill>
                  <a:srgbClr val="404040"/>
                </a:solidFill>
                <a:latin typeface="Times New Roman"/>
                <a:cs typeface="Times New Roman"/>
              </a:rPr>
              <a:t>show</a:t>
            </a:r>
            <a:r>
              <a:rPr sz="1700" spc="-20"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0" dirty="0">
                <a:solidFill>
                  <a:srgbClr val="404040"/>
                </a:solidFill>
                <a:latin typeface="Times New Roman"/>
                <a:cs typeface="Times New Roman"/>
              </a:rPr>
              <a:t> </a:t>
            </a:r>
            <a:r>
              <a:rPr sz="1700" dirty="0">
                <a:solidFill>
                  <a:srgbClr val="404040"/>
                </a:solidFill>
                <a:latin typeface="Times New Roman"/>
                <a:cs typeface="Times New Roman"/>
              </a:rPr>
              <a:t>it</a:t>
            </a:r>
            <a:r>
              <a:rPr sz="1700" spc="-20" dirty="0">
                <a:solidFill>
                  <a:srgbClr val="404040"/>
                </a:solidFill>
                <a:latin typeface="Times New Roman"/>
                <a:cs typeface="Times New Roman"/>
              </a:rPr>
              <a:t> </a:t>
            </a:r>
            <a:r>
              <a:rPr sz="1700" spc="-35" dirty="0">
                <a:solidFill>
                  <a:srgbClr val="404040"/>
                </a:solidFill>
                <a:latin typeface="Times New Roman"/>
                <a:cs typeface="Times New Roman"/>
              </a:rPr>
              <a:t>is </a:t>
            </a:r>
            <a:r>
              <a:rPr sz="1700" dirty="0">
                <a:solidFill>
                  <a:srgbClr val="404040"/>
                </a:solidFill>
                <a:latin typeface="Times New Roman"/>
                <a:cs typeface="Times New Roman"/>
              </a:rPr>
              <a:t>transitive</a:t>
            </a:r>
            <a:r>
              <a:rPr sz="1700" spc="-25" dirty="0">
                <a:solidFill>
                  <a:srgbClr val="404040"/>
                </a:solidFill>
                <a:latin typeface="Times New Roman"/>
                <a:cs typeface="Times New Roman"/>
              </a:rPr>
              <a:t> </a:t>
            </a:r>
            <a:r>
              <a:rPr sz="1700" dirty="0">
                <a:solidFill>
                  <a:srgbClr val="404040"/>
                </a:solidFill>
                <a:latin typeface="Times New Roman"/>
                <a:cs typeface="Times New Roman"/>
              </a:rPr>
              <a:t>by</a:t>
            </a:r>
            <a:r>
              <a:rPr sz="1700" spc="-10" dirty="0">
                <a:solidFill>
                  <a:srgbClr val="404040"/>
                </a:solidFill>
                <a:latin typeface="Times New Roman"/>
                <a:cs typeface="Times New Roman"/>
              </a:rPr>
              <a:t> </a:t>
            </a:r>
            <a:r>
              <a:rPr sz="1700" dirty="0">
                <a:solidFill>
                  <a:srgbClr val="404040"/>
                </a:solidFill>
                <a:latin typeface="Times New Roman"/>
                <a:cs typeface="Times New Roman"/>
              </a:rPr>
              <a:t>verifying</a:t>
            </a:r>
            <a:r>
              <a:rPr sz="1700" spc="-25" dirty="0">
                <a:solidFill>
                  <a:srgbClr val="404040"/>
                </a:solidFill>
                <a:latin typeface="Times New Roman"/>
                <a:cs typeface="Times New Roman"/>
              </a:rPr>
              <a:t> </a:t>
            </a:r>
            <a:r>
              <a:rPr sz="1700" dirty="0">
                <a:solidFill>
                  <a:srgbClr val="404040"/>
                </a:solidFill>
                <a:latin typeface="Times New Roman"/>
                <a:cs typeface="Times New Roman"/>
              </a:rPr>
              <a:t>that</a:t>
            </a:r>
            <a:r>
              <a:rPr sz="1700" spc="-20" dirty="0">
                <a:solidFill>
                  <a:srgbClr val="404040"/>
                </a:solidFill>
                <a:latin typeface="Times New Roman"/>
                <a:cs typeface="Times New Roman"/>
              </a:rPr>
              <a:t> </a:t>
            </a:r>
            <a:r>
              <a:rPr sz="1700" dirty="0">
                <a:solidFill>
                  <a:srgbClr val="404040"/>
                </a:solidFill>
                <a:latin typeface="Times New Roman"/>
                <a:cs typeface="Times New Roman"/>
              </a:rPr>
              <a:t>if</a:t>
            </a:r>
            <a:r>
              <a:rPr sz="1700" spc="-15" dirty="0">
                <a:solidFill>
                  <a:srgbClr val="404040"/>
                </a:solidFill>
                <a:latin typeface="Times New Roman"/>
                <a:cs typeface="Times New Roman"/>
              </a:rPr>
              <a:t> </a:t>
            </a:r>
            <a:r>
              <a:rPr sz="1700" dirty="0">
                <a:solidFill>
                  <a:srgbClr val="404040"/>
                </a:solidFill>
                <a:latin typeface="Times New Roman"/>
                <a:cs typeface="Times New Roman"/>
              </a:rPr>
              <a:t>(a,</a:t>
            </a:r>
            <a:r>
              <a:rPr sz="1700" spc="-20" dirty="0">
                <a:solidFill>
                  <a:srgbClr val="404040"/>
                </a:solidFill>
                <a:latin typeface="Times New Roman"/>
                <a:cs typeface="Times New Roman"/>
              </a:rPr>
              <a:t> </a:t>
            </a:r>
            <a:r>
              <a:rPr sz="1700" dirty="0">
                <a:solidFill>
                  <a:srgbClr val="404040"/>
                </a:solidFill>
                <a:latin typeface="Times New Roman"/>
                <a:cs typeface="Times New Roman"/>
              </a:rPr>
              <a:t>b)</a:t>
            </a:r>
            <a:r>
              <a:rPr sz="1700" spc="-1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(b,</a:t>
            </a:r>
            <a:r>
              <a:rPr sz="1700" spc="-15" dirty="0">
                <a:solidFill>
                  <a:srgbClr val="404040"/>
                </a:solidFill>
                <a:latin typeface="Times New Roman"/>
                <a:cs typeface="Times New Roman"/>
              </a:rPr>
              <a:t> </a:t>
            </a:r>
            <a:r>
              <a:rPr sz="1700" dirty="0">
                <a:solidFill>
                  <a:srgbClr val="404040"/>
                </a:solidFill>
                <a:latin typeface="Times New Roman"/>
                <a:cs typeface="Times New Roman"/>
              </a:rPr>
              <a:t>c)</a:t>
            </a:r>
            <a:r>
              <a:rPr sz="1700" spc="-20"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10" dirty="0">
                <a:solidFill>
                  <a:srgbClr val="404040"/>
                </a:solidFill>
                <a:latin typeface="Times New Roman"/>
                <a:cs typeface="Times New Roman"/>
              </a:rPr>
              <a:t> </a:t>
            </a:r>
            <a:r>
              <a:rPr sz="1700" dirty="0">
                <a:solidFill>
                  <a:srgbClr val="404040"/>
                </a:solidFill>
                <a:latin typeface="Times New Roman"/>
                <a:cs typeface="Times New Roman"/>
              </a:rPr>
              <a:t>this</a:t>
            </a:r>
            <a:r>
              <a:rPr sz="1700" spc="-20" dirty="0">
                <a:solidFill>
                  <a:srgbClr val="404040"/>
                </a:solidFill>
                <a:latin typeface="Times New Roman"/>
                <a:cs typeface="Times New Roman"/>
              </a:rPr>
              <a:t> </a:t>
            </a:r>
            <a:r>
              <a:rPr sz="1700" dirty="0">
                <a:solidFill>
                  <a:srgbClr val="404040"/>
                </a:solidFill>
                <a:latin typeface="Times New Roman"/>
                <a:cs typeface="Times New Roman"/>
              </a:rPr>
              <a:t>relation,</a:t>
            </a:r>
            <a:r>
              <a:rPr sz="1700" spc="-25" dirty="0">
                <a:solidFill>
                  <a:srgbClr val="404040"/>
                </a:solidFill>
                <a:latin typeface="Times New Roman"/>
                <a:cs typeface="Times New Roman"/>
              </a:rPr>
              <a:t> </a:t>
            </a:r>
            <a:r>
              <a:rPr sz="1700" dirty="0">
                <a:solidFill>
                  <a:srgbClr val="404040"/>
                </a:solidFill>
                <a:latin typeface="Times New Roman"/>
                <a:cs typeface="Times New Roman"/>
              </a:rPr>
              <a:t>then</a:t>
            </a:r>
            <a:r>
              <a:rPr sz="1700" spc="-15" dirty="0">
                <a:solidFill>
                  <a:srgbClr val="404040"/>
                </a:solidFill>
                <a:latin typeface="Times New Roman"/>
                <a:cs typeface="Times New Roman"/>
              </a:rPr>
              <a:t> </a:t>
            </a:r>
            <a:r>
              <a:rPr sz="1700" dirty="0">
                <a:solidFill>
                  <a:srgbClr val="404040"/>
                </a:solidFill>
                <a:latin typeface="Times New Roman"/>
                <a:cs typeface="Times New Roman"/>
              </a:rPr>
              <a:t>(a,</a:t>
            </a:r>
            <a:r>
              <a:rPr sz="1700" spc="-30" dirty="0">
                <a:solidFill>
                  <a:srgbClr val="404040"/>
                </a:solidFill>
                <a:latin typeface="Times New Roman"/>
                <a:cs typeface="Times New Roman"/>
              </a:rPr>
              <a:t> </a:t>
            </a:r>
            <a:r>
              <a:rPr sz="1700" spc="-25" dirty="0">
                <a:solidFill>
                  <a:srgbClr val="404040"/>
                </a:solidFill>
                <a:latin typeface="Times New Roman"/>
                <a:cs typeface="Times New Roman"/>
              </a:rPr>
              <a:t>c) </a:t>
            </a:r>
            <a:r>
              <a:rPr sz="1700" dirty="0">
                <a:solidFill>
                  <a:srgbClr val="404040"/>
                </a:solidFill>
                <a:latin typeface="Times New Roman"/>
                <a:cs typeface="Times New Roman"/>
              </a:rPr>
              <a:t>also</a:t>
            </a:r>
            <a:r>
              <a:rPr sz="1700" spc="-20"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0" dirty="0">
                <a:solidFill>
                  <a:srgbClr val="404040"/>
                </a:solidFill>
                <a:latin typeface="Times New Roman"/>
                <a:cs typeface="Times New Roman"/>
              </a:rPr>
              <a:t> </a:t>
            </a:r>
            <a:r>
              <a:rPr sz="1700" dirty="0">
                <a:solidFill>
                  <a:srgbClr val="404040"/>
                </a:solidFill>
                <a:latin typeface="Times New Roman"/>
                <a:cs typeface="Times New Roman"/>
              </a:rPr>
              <a:t>For</a:t>
            </a:r>
            <a:r>
              <a:rPr sz="1700" spc="-20" dirty="0">
                <a:solidFill>
                  <a:srgbClr val="404040"/>
                </a:solidFill>
                <a:latin typeface="Times New Roman"/>
                <a:cs typeface="Times New Roman"/>
              </a:rPr>
              <a:t> </a:t>
            </a:r>
            <a:r>
              <a:rPr sz="1700" dirty="0">
                <a:solidFill>
                  <a:srgbClr val="404040"/>
                </a:solidFill>
                <a:latin typeface="Times New Roman"/>
                <a:cs typeface="Times New Roman"/>
              </a:rPr>
              <a:t>instance,</a:t>
            </a:r>
            <a:r>
              <a:rPr sz="1700" spc="-30" dirty="0">
                <a:solidFill>
                  <a:srgbClr val="404040"/>
                </a:solidFill>
                <a:latin typeface="Times New Roman"/>
                <a:cs typeface="Times New Roman"/>
              </a:rPr>
              <a:t> </a:t>
            </a:r>
            <a:r>
              <a:rPr sz="1700" dirty="0">
                <a:solidFill>
                  <a:srgbClr val="404040"/>
                </a:solidFill>
                <a:latin typeface="Times New Roman"/>
                <a:cs typeface="Times New Roman"/>
              </a:rPr>
              <a:t>R4</a:t>
            </a:r>
            <a:r>
              <a:rPr sz="1700" spc="-15" dirty="0">
                <a:solidFill>
                  <a:srgbClr val="404040"/>
                </a:solidFill>
                <a:latin typeface="Times New Roman"/>
                <a:cs typeface="Times New Roman"/>
              </a:rPr>
              <a:t> </a:t>
            </a:r>
            <a:r>
              <a:rPr sz="1700" dirty="0">
                <a:solidFill>
                  <a:srgbClr val="404040"/>
                </a:solidFill>
                <a:latin typeface="Times New Roman"/>
                <a:cs typeface="Times New Roman"/>
              </a:rPr>
              <a:t>is</a:t>
            </a:r>
            <a:r>
              <a:rPr sz="1700" spc="-20" dirty="0">
                <a:solidFill>
                  <a:srgbClr val="404040"/>
                </a:solidFill>
                <a:latin typeface="Times New Roman"/>
                <a:cs typeface="Times New Roman"/>
              </a:rPr>
              <a:t> </a:t>
            </a:r>
            <a:r>
              <a:rPr sz="1700" dirty="0">
                <a:solidFill>
                  <a:srgbClr val="404040"/>
                </a:solidFill>
                <a:latin typeface="Times New Roman"/>
                <a:cs typeface="Times New Roman"/>
              </a:rPr>
              <a:t>transitive,</a:t>
            </a:r>
            <a:r>
              <a:rPr sz="1700" spc="-30" dirty="0">
                <a:solidFill>
                  <a:srgbClr val="404040"/>
                </a:solidFill>
                <a:latin typeface="Times New Roman"/>
                <a:cs typeface="Times New Roman"/>
              </a:rPr>
              <a:t> </a:t>
            </a:r>
            <a:r>
              <a:rPr sz="1700" dirty="0">
                <a:solidFill>
                  <a:srgbClr val="404040"/>
                </a:solidFill>
                <a:latin typeface="Times New Roman"/>
                <a:cs typeface="Times New Roman"/>
              </a:rPr>
              <a:t>because</a:t>
            </a:r>
            <a:r>
              <a:rPr sz="1700" spc="-35" dirty="0">
                <a:solidFill>
                  <a:srgbClr val="404040"/>
                </a:solidFill>
                <a:latin typeface="Times New Roman"/>
                <a:cs typeface="Times New Roman"/>
              </a:rPr>
              <a:t>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(3,</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(2,</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and</a:t>
            </a:r>
            <a:endParaRPr sz="1700" dirty="0">
              <a:latin typeface="Times New Roman"/>
              <a:cs typeface="Times New Roman"/>
            </a:endParaRPr>
          </a:p>
          <a:p>
            <a:pPr marL="12700">
              <a:lnSpc>
                <a:spcPts val="1700"/>
              </a:lnSpc>
            </a:pPr>
            <a:r>
              <a:rPr sz="1700" dirty="0">
                <a:solidFill>
                  <a:srgbClr val="404040"/>
                </a:solidFill>
                <a:latin typeface="Times New Roman"/>
                <a:cs typeface="Times New Roman"/>
              </a:rPr>
              <a:t>(2,</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15"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1),</a:t>
            </a:r>
            <a:r>
              <a:rPr sz="1700" spc="-15" dirty="0">
                <a:solidFill>
                  <a:srgbClr val="404040"/>
                </a:solidFill>
                <a:latin typeface="Times New Roman"/>
                <a:cs typeface="Times New Roman"/>
              </a:rPr>
              <a:t> </a:t>
            </a:r>
            <a:r>
              <a:rPr sz="1700" dirty="0">
                <a:solidFill>
                  <a:srgbClr val="404040"/>
                </a:solidFill>
                <a:latin typeface="Times New Roman"/>
                <a:cs typeface="Times New Roman"/>
              </a:rPr>
              <a:t>and</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spc="-15" dirty="0">
                <a:solidFill>
                  <a:srgbClr val="404040"/>
                </a:solidFill>
                <a:latin typeface="Times New Roman"/>
                <a:cs typeface="Times New Roman"/>
              </a:rPr>
              <a:t> </a:t>
            </a:r>
            <a:r>
              <a:rPr sz="1700" dirty="0">
                <a:solidFill>
                  <a:srgbClr val="404040"/>
                </a:solidFill>
                <a:latin typeface="Times New Roman"/>
                <a:cs typeface="Times New Roman"/>
              </a:rPr>
              <a:t>3)</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5"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are</a:t>
            </a:r>
            <a:r>
              <a:rPr sz="1700" spc="-25" dirty="0">
                <a:solidFill>
                  <a:srgbClr val="404040"/>
                </a:solidFill>
                <a:latin typeface="Times New Roman"/>
                <a:cs typeface="Times New Roman"/>
              </a:rPr>
              <a:t> </a:t>
            </a:r>
            <a:r>
              <a:rPr sz="1700" dirty="0">
                <a:solidFill>
                  <a:srgbClr val="404040"/>
                </a:solidFill>
                <a:latin typeface="Times New Roman"/>
                <a:cs typeface="Times New Roman"/>
              </a:rPr>
              <a:t>the</a:t>
            </a:r>
            <a:r>
              <a:rPr sz="1700" spc="-15" dirty="0">
                <a:solidFill>
                  <a:srgbClr val="404040"/>
                </a:solidFill>
                <a:latin typeface="Times New Roman"/>
                <a:cs typeface="Times New Roman"/>
              </a:rPr>
              <a:t> </a:t>
            </a:r>
            <a:r>
              <a:rPr sz="1700" dirty="0">
                <a:solidFill>
                  <a:srgbClr val="404040"/>
                </a:solidFill>
                <a:latin typeface="Times New Roman"/>
                <a:cs typeface="Times New Roman"/>
              </a:rPr>
              <a:t>only</a:t>
            </a:r>
            <a:r>
              <a:rPr sz="1700" spc="-10" dirty="0">
                <a:solidFill>
                  <a:srgbClr val="404040"/>
                </a:solidFill>
                <a:latin typeface="Times New Roman"/>
                <a:cs typeface="Times New Roman"/>
              </a:rPr>
              <a:t> </a:t>
            </a:r>
            <a:r>
              <a:rPr sz="1700" dirty="0">
                <a:solidFill>
                  <a:srgbClr val="404040"/>
                </a:solidFill>
                <a:latin typeface="Times New Roman"/>
                <a:cs typeface="Times New Roman"/>
              </a:rPr>
              <a:t>such</a:t>
            </a:r>
            <a:r>
              <a:rPr sz="1700" spc="-15" dirty="0">
                <a:solidFill>
                  <a:srgbClr val="404040"/>
                </a:solidFill>
                <a:latin typeface="Times New Roman"/>
                <a:cs typeface="Times New Roman"/>
              </a:rPr>
              <a:t> </a:t>
            </a:r>
            <a:r>
              <a:rPr sz="1700" dirty="0">
                <a:solidFill>
                  <a:srgbClr val="404040"/>
                </a:solidFill>
                <a:latin typeface="Times New Roman"/>
                <a:cs typeface="Times New Roman"/>
              </a:rPr>
              <a:t>sets</a:t>
            </a:r>
            <a:r>
              <a:rPr sz="1700" spc="-20" dirty="0">
                <a:solidFill>
                  <a:srgbClr val="404040"/>
                </a:solidFill>
                <a:latin typeface="Times New Roman"/>
                <a:cs typeface="Times New Roman"/>
              </a:rPr>
              <a:t> </a:t>
            </a:r>
            <a:r>
              <a:rPr sz="1700" dirty="0">
                <a:solidFill>
                  <a:srgbClr val="404040"/>
                </a:solidFill>
                <a:latin typeface="Times New Roman"/>
                <a:cs typeface="Times New Roman"/>
              </a:rPr>
              <a:t>of</a:t>
            </a:r>
            <a:r>
              <a:rPr sz="1700" spc="-20" dirty="0">
                <a:solidFill>
                  <a:srgbClr val="404040"/>
                </a:solidFill>
                <a:latin typeface="Times New Roman"/>
                <a:cs typeface="Times New Roman"/>
              </a:rPr>
              <a:t> </a:t>
            </a:r>
            <a:r>
              <a:rPr sz="1700" dirty="0">
                <a:solidFill>
                  <a:srgbClr val="404040"/>
                </a:solidFill>
                <a:latin typeface="Times New Roman"/>
                <a:cs typeface="Times New Roman"/>
              </a:rPr>
              <a:t>pairs,</a:t>
            </a:r>
            <a:r>
              <a:rPr sz="1700" spc="-30" dirty="0">
                <a:solidFill>
                  <a:srgbClr val="404040"/>
                </a:solidFill>
                <a:latin typeface="Times New Roman"/>
                <a:cs typeface="Times New Roman"/>
              </a:rPr>
              <a:t> </a:t>
            </a:r>
            <a:r>
              <a:rPr sz="1700" spc="-25" dirty="0">
                <a:solidFill>
                  <a:srgbClr val="404040"/>
                </a:solidFill>
                <a:latin typeface="Times New Roman"/>
                <a:cs typeface="Times New Roman"/>
              </a:rPr>
              <a:t>and</a:t>
            </a:r>
            <a:endParaRPr sz="1700" dirty="0">
              <a:latin typeface="Times New Roman"/>
              <a:cs typeface="Times New Roman"/>
            </a:endParaRPr>
          </a:p>
          <a:p>
            <a:pPr marL="12700">
              <a:lnSpc>
                <a:spcPts val="1939"/>
              </a:lnSpc>
            </a:pPr>
            <a:r>
              <a:rPr sz="1700" dirty="0">
                <a:solidFill>
                  <a:srgbClr val="404040"/>
                </a:solidFill>
                <a:latin typeface="Times New Roman"/>
                <a:cs typeface="Times New Roman"/>
              </a:rPr>
              <a:t>(3,</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0"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0" dirty="0">
                <a:solidFill>
                  <a:srgbClr val="404040"/>
                </a:solidFill>
                <a:latin typeface="Times New Roman"/>
                <a:cs typeface="Times New Roman"/>
              </a:rPr>
              <a:t> </a:t>
            </a:r>
            <a:r>
              <a:rPr sz="1700" dirty="0">
                <a:solidFill>
                  <a:srgbClr val="404040"/>
                </a:solidFill>
                <a:latin typeface="Times New Roman"/>
                <a:cs typeface="Times New Roman"/>
              </a:rPr>
              <a:t>and</a:t>
            </a:r>
            <a:r>
              <a:rPr sz="1700" spc="-20"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0"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25"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spc="-25" dirty="0">
                <a:solidFill>
                  <a:srgbClr val="404040"/>
                </a:solidFill>
                <a:latin typeface="Times New Roman"/>
                <a:cs typeface="Times New Roman"/>
              </a:rPr>
              <a:t>R4.</a:t>
            </a:r>
            <a:endParaRPr sz="1700" dirty="0">
              <a:latin typeface="Times New Roman"/>
              <a:cs typeface="Times New Roman"/>
            </a:endParaRPr>
          </a:p>
          <a:p>
            <a:pPr marL="12700">
              <a:lnSpc>
                <a:spcPts val="1939"/>
              </a:lnSpc>
              <a:spcBef>
                <a:spcPts val="800"/>
              </a:spcBef>
            </a:pPr>
            <a:r>
              <a:rPr sz="1700" b="1" dirty="0">
                <a:solidFill>
                  <a:srgbClr val="00AFEF"/>
                </a:solidFill>
                <a:latin typeface="Times New Roman"/>
                <a:cs typeface="Times New Roman"/>
              </a:rPr>
              <a:t>R1</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is</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not</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b="1" spc="-20" dirty="0">
                <a:solidFill>
                  <a:srgbClr val="00AFEF"/>
                </a:solidFill>
                <a:latin typeface="Times New Roman"/>
                <a:cs typeface="Times New Roman"/>
              </a:rPr>
              <a:t> </a:t>
            </a:r>
            <a:r>
              <a:rPr sz="1700" dirty="0">
                <a:solidFill>
                  <a:srgbClr val="404040"/>
                </a:solidFill>
                <a:latin typeface="Times New Roman"/>
                <a:cs typeface="Times New Roman"/>
              </a:rPr>
              <a:t>because</a:t>
            </a:r>
            <a:r>
              <a:rPr sz="1700" spc="-35" dirty="0">
                <a:solidFill>
                  <a:srgbClr val="404040"/>
                </a:solidFill>
                <a:latin typeface="Times New Roman"/>
                <a:cs typeface="Times New Roman"/>
              </a:rPr>
              <a:t> </a:t>
            </a:r>
            <a:r>
              <a:rPr sz="1700" dirty="0">
                <a:solidFill>
                  <a:srgbClr val="404040"/>
                </a:solidFill>
                <a:latin typeface="Times New Roman"/>
                <a:cs typeface="Times New Roman"/>
              </a:rPr>
              <a:t>(3,</a:t>
            </a:r>
            <a:r>
              <a:rPr sz="1700" spc="-25" dirty="0">
                <a:solidFill>
                  <a:srgbClr val="404040"/>
                </a:solidFill>
                <a:latin typeface="Times New Roman"/>
                <a:cs typeface="Times New Roman"/>
              </a:rPr>
              <a:t> </a:t>
            </a:r>
            <a:r>
              <a:rPr sz="1700" dirty="0">
                <a:solidFill>
                  <a:srgbClr val="404040"/>
                </a:solidFill>
                <a:latin typeface="Times New Roman"/>
                <a:cs typeface="Times New Roman"/>
              </a:rPr>
              <a:t>4)</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(4,</a:t>
            </a:r>
            <a:r>
              <a:rPr sz="1700" spc="-20"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R1,</a:t>
            </a:r>
            <a:r>
              <a:rPr sz="1700" spc="-20" dirty="0">
                <a:solidFill>
                  <a:srgbClr val="404040"/>
                </a:solidFill>
                <a:latin typeface="Times New Roman"/>
                <a:cs typeface="Times New Roman"/>
              </a:rPr>
              <a:t> </a:t>
            </a:r>
            <a:r>
              <a:rPr sz="1700" dirty="0">
                <a:solidFill>
                  <a:srgbClr val="404040"/>
                </a:solidFill>
                <a:latin typeface="Times New Roman"/>
                <a:cs typeface="Times New Roman"/>
              </a:rPr>
              <a:t>but</a:t>
            </a:r>
            <a:r>
              <a:rPr sz="1700" spc="-20" dirty="0">
                <a:solidFill>
                  <a:srgbClr val="404040"/>
                </a:solidFill>
                <a:latin typeface="Times New Roman"/>
                <a:cs typeface="Times New Roman"/>
              </a:rPr>
              <a:t> </a:t>
            </a:r>
            <a:r>
              <a:rPr sz="1700" dirty="0">
                <a:solidFill>
                  <a:srgbClr val="404040"/>
                </a:solidFill>
                <a:latin typeface="Times New Roman"/>
                <a:cs typeface="Times New Roman"/>
              </a:rPr>
              <a:t>(3,</a:t>
            </a:r>
            <a:r>
              <a:rPr sz="1700" spc="-15" dirty="0">
                <a:solidFill>
                  <a:srgbClr val="404040"/>
                </a:solidFill>
                <a:latin typeface="Times New Roman"/>
                <a:cs typeface="Times New Roman"/>
              </a:rPr>
              <a:t> </a:t>
            </a:r>
            <a:r>
              <a:rPr sz="1700" dirty="0">
                <a:solidFill>
                  <a:srgbClr val="404040"/>
                </a:solidFill>
                <a:latin typeface="Times New Roman"/>
                <a:cs typeface="Times New Roman"/>
              </a:rPr>
              <a:t>1)</a:t>
            </a:r>
            <a:r>
              <a:rPr sz="1700" spc="-30"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5" dirty="0">
                <a:solidFill>
                  <a:srgbClr val="404040"/>
                </a:solidFill>
                <a:latin typeface="Times New Roman"/>
                <a:cs typeface="Times New Roman"/>
              </a:rPr>
              <a:t> </a:t>
            </a:r>
            <a:r>
              <a:rPr sz="1700" spc="-20" dirty="0">
                <a:solidFill>
                  <a:srgbClr val="404040"/>
                </a:solidFill>
                <a:latin typeface="Times New Roman"/>
                <a:cs typeface="Times New Roman"/>
              </a:rPr>
              <a:t>not.</a:t>
            </a:r>
            <a:endParaRPr sz="1700" dirty="0">
              <a:latin typeface="Times New Roman"/>
              <a:cs typeface="Times New Roman"/>
            </a:endParaRPr>
          </a:p>
          <a:p>
            <a:pPr marL="12700">
              <a:lnSpc>
                <a:spcPts val="1835"/>
              </a:lnSpc>
            </a:pPr>
            <a:r>
              <a:rPr sz="1700" b="1" dirty="0">
                <a:solidFill>
                  <a:srgbClr val="00AFEF"/>
                </a:solidFill>
                <a:latin typeface="Times New Roman"/>
                <a:cs typeface="Times New Roman"/>
              </a:rPr>
              <a:t>R2</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is</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not</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b="1" spc="-20" dirty="0">
                <a:solidFill>
                  <a:srgbClr val="00AFEF"/>
                </a:solidFill>
                <a:latin typeface="Times New Roman"/>
                <a:cs typeface="Times New Roman"/>
              </a:rPr>
              <a:t> </a:t>
            </a:r>
            <a:r>
              <a:rPr sz="1700" dirty="0">
                <a:solidFill>
                  <a:srgbClr val="404040"/>
                </a:solidFill>
                <a:latin typeface="Times New Roman"/>
                <a:cs typeface="Times New Roman"/>
              </a:rPr>
              <a:t>because</a:t>
            </a:r>
            <a:r>
              <a:rPr sz="1700" spc="-35"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R2,</a:t>
            </a:r>
            <a:r>
              <a:rPr sz="1700" spc="-20" dirty="0">
                <a:solidFill>
                  <a:srgbClr val="404040"/>
                </a:solidFill>
                <a:latin typeface="Times New Roman"/>
                <a:cs typeface="Times New Roman"/>
              </a:rPr>
              <a:t> </a:t>
            </a:r>
            <a:r>
              <a:rPr sz="1700" dirty="0">
                <a:solidFill>
                  <a:srgbClr val="404040"/>
                </a:solidFill>
                <a:latin typeface="Times New Roman"/>
                <a:cs typeface="Times New Roman"/>
              </a:rPr>
              <a:t>but</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30"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5" dirty="0">
                <a:solidFill>
                  <a:srgbClr val="404040"/>
                </a:solidFill>
                <a:latin typeface="Times New Roman"/>
                <a:cs typeface="Times New Roman"/>
              </a:rPr>
              <a:t> </a:t>
            </a:r>
            <a:r>
              <a:rPr sz="1700" spc="-20" dirty="0">
                <a:solidFill>
                  <a:srgbClr val="404040"/>
                </a:solidFill>
                <a:latin typeface="Times New Roman"/>
                <a:cs typeface="Times New Roman"/>
              </a:rPr>
              <a:t>not.</a:t>
            </a:r>
            <a:endParaRPr sz="1700" dirty="0">
              <a:latin typeface="Times New Roman"/>
              <a:cs typeface="Times New Roman"/>
            </a:endParaRPr>
          </a:p>
          <a:p>
            <a:pPr marL="12700">
              <a:lnSpc>
                <a:spcPts val="1939"/>
              </a:lnSpc>
            </a:pPr>
            <a:r>
              <a:rPr sz="1700" b="1" dirty="0">
                <a:solidFill>
                  <a:srgbClr val="00AFEF"/>
                </a:solidFill>
                <a:latin typeface="Times New Roman"/>
                <a:cs typeface="Times New Roman"/>
              </a:rPr>
              <a:t>R3</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is</a:t>
            </a:r>
            <a:r>
              <a:rPr sz="1700" b="1" spc="-20" dirty="0">
                <a:solidFill>
                  <a:srgbClr val="00AFEF"/>
                </a:solidFill>
                <a:latin typeface="Times New Roman"/>
                <a:cs typeface="Times New Roman"/>
              </a:rPr>
              <a:t> </a:t>
            </a:r>
            <a:r>
              <a:rPr sz="1700" b="1" dirty="0">
                <a:solidFill>
                  <a:srgbClr val="00AFEF"/>
                </a:solidFill>
                <a:latin typeface="Times New Roman"/>
                <a:cs typeface="Times New Roman"/>
              </a:rPr>
              <a:t>not</a:t>
            </a:r>
            <a:r>
              <a:rPr sz="1700" b="1" spc="-10" dirty="0">
                <a:solidFill>
                  <a:srgbClr val="00AFEF"/>
                </a:solidFill>
                <a:latin typeface="Times New Roman"/>
                <a:cs typeface="Times New Roman"/>
              </a:rPr>
              <a:t> </a:t>
            </a:r>
            <a:r>
              <a:rPr sz="1700" b="1" dirty="0">
                <a:solidFill>
                  <a:srgbClr val="00AFEF"/>
                </a:solidFill>
                <a:latin typeface="Times New Roman"/>
                <a:cs typeface="Times New Roman"/>
              </a:rPr>
              <a:t>transitive</a:t>
            </a:r>
            <a:r>
              <a:rPr sz="1700" b="1" spc="-20" dirty="0">
                <a:solidFill>
                  <a:srgbClr val="00AFEF"/>
                </a:solidFill>
                <a:latin typeface="Times New Roman"/>
                <a:cs typeface="Times New Roman"/>
              </a:rPr>
              <a:t> </a:t>
            </a:r>
            <a:r>
              <a:rPr sz="1700" dirty="0">
                <a:solidFill>
                  <a:srgbClr val="404040"/>
                </a:solidFill>
                <a:latin typeface="Times New Roman"/>
                <a:cs typeface="Times New Roman"/>
              </a:rPr>
              <a:t>because</a:t>
            </a:r>
            <a:r>
              <a:rPr sz="1700" spc="-35" dirty="0">
                <a:solidFill>
                  <a:srgbClr val="404040"/>
                </a:solidFill>
                <a:latin typeface="Times New Roman"/>
                <a:cs typeface="Times New Roman"/>
              </a:rPr>
              <a:t> </a:t>
            </a:r>
            <a:r>
              <a:rPr sz="1700" dirty="0">
                <a:solidFill>
                  <a:srgbClr val="404040"/>
                </a:solidFill>
                <a:latin typeface="Times New Roman"/>
                <a:cs typeface="Times New Roman"/>
              </a:rPr>
              <a:t>(4,</a:t>
            </a:r>
            <a:r>
              <a:rPr sz="1700" spc="-25" dirty="0">
                <a:solidFill>
                  <a:srgbClr val="404040"/>
                </a:solidFill>
                <a:latin typeface="Times New Roman"/>
                <a:cs typeface="Times New Roman"/>
              </a:rPr>
              <a:t> </a:t>
            </a:r>
            <a:r>
              <a:rPr sz="1700" dirty="0">
                <a:solidFill>
                  <a:srgbClr val="404040"/>
                </a:solidFill>
                <a:latin typeface="Times New Roman"/>
                <a:cs typeface="Times New Roman"/>
              </a:rPr>
              <a:t>1)</a:t>
            </a:r>
            <a:r>
              <a:rPr sz="1700" spc="-25" dirty="0">
                <a:solidFill>
                  <a:srgbClr val="404040"/>
                </a:solidFill>
                <a:latin typeface="Times New Roman"/>
                <a:cs typeface="Times New Roman"/>
              </a:rPr>
              <a:t> </a:t>
            </a:r>
            <a:r>
              <a:rPr sz="1700" dirty="0">
                <a:solidFill>
                  <a:srgbClr val="404040"/>
                </a:solidFill>
                <a:latin typeface="Times New Roman"/>
                <a:cs typeface="Times New Roman"/>
              </a:rPr>
              <a:t>and</a:t>
            </a:r>
            <a:r>
              <a:rPr sz="1700" spc="-10" dirty="0">
                <a:solidFill>
                  <a:srgbClr val="404040"/>
                </a:solidFill>
                <a:latin typeface="Times New Roman"/>
                <a:cs typeface="Times New Roman"/>
              </a:rPr>
              <a:t> </a:t>
            </a:r>
            <a:r>
              <a:rPr sz="1700" dirty="0">
                <a:solidFill>
                  <a:srgbClr val="404040"/>
                </a:solidFill>
                <a:latin typeface="Times New Roman"/>
                <a:cs typeface="Times New Roman"/>
              </a:rPr>
              <a:t>(1,</a:t>
            </a:r>
            <a:r>
              <a:rPr sz="1700" spc="-20" dirty="0">
                <a:solidFill>
                  <a:srgbClr val="404040"/>
                </a:solidFill>
                <a:latin typeface="Times New Roman"/>
                <a:cs typeface="Times New Roman"/>
              </a:rPr>
              <a:t> </a:t>
            </a:r>
            <a:r>
              <a:rPr sz="1700" dirty="0">
                <a:solidFill>
                  <a:srgbClr val="404040"/>
                </a:solidFill>
                <a:latin typeface="Times New Roman"/>
                <a:cs typeface="Times New Roman"/>
              </a:rPr>
              <a:t>2)</a:t>
            </a:r>
            <a:r>
              <a:rPr sz="1700" spc="-25" dirty="0">
                <a:solidFill>
                  <a:srgbClr val="404040"/>
                </a:solidFill>
                <a:latin typeface="Times New Roman"/>
                <a:cs typeface="Times New Roman"/>
              </a:rPr>
              <a:t> </a:t>
            </a:r>
            <a:r>
              <a:rPr sz="1700" dirty="0">
                <a:solidFill>
                  <a:srgbClr val="404040"/>
                </a:solidFill>
                <a:latin typeface="Times New Roman"/>
                <a:cs typeface="Times New Roman"/>
              </a:rPr>
              <a:t>belong</a:t>
            </a:r>
            <a:r>
              <a:rPr sz="1700" spc="-30" dirty="0">
                <a:solidFill>
                  <a:srgbClr val="404040"/>
                </a:solidFill>
                <a:latin typeface="Times New Roman"/>
                <a:cs typeface="Times New Roman"/>
              </a:rPr>
              <a:t> </a:t>
            </a:r>
            <a:r>
              <a:rPr sz="1700" dirty="0">
                <a:solidFill>
                  <a:srgbClr val="404040"/>
                </a:solidFill>
                <a:latin typeface="Times New Roman"/>
                <a:cs typeface="Times New Roman"/>
              </a:rPr>
              <a:t>to</a:t>
            </a:r>
            <a:r>
              <a:rPr sz="1700" spc="-20" dirty="0">
                <a:solidFill>
                  <a:srgbClr val="404040"/>
                </a:solidFill>
                <a:latin typeface="Times New Roman"/>
                <a:cs typeface="Times New Roman"/>
              </a:rPr>
              <a:t> </a:t>
            </a:r>
            <a:r>
              <a:rPr sz="1700" dirty="0">
                <a:solidFill>
                  <a:srgbClr val="404040"/>
                </a:solidFill>
                <a:latin typeface="Times New Roman"/>
                <a:cs typeface="Times New Roman"/>
              </a:rPr>
              <a:t>R3,</a:t>
            </a:r>
            <a:r>
              <a:rPr sz="1700" spc="-20" dirty="0">
                <a:solidFill>
                  <a:srgbClr val="404040"/>
                </a:solidFill>
                <a:latin typeface="Times New Roman"/>
                <a:cs typeface="Times New Roman"/>
              </a:rPr>
              <a:t> </a:t>
            </a:r>
            <a:r>
              <a:rPr sz="1700" dirty="0">
                <a:solidFill>
                  <a:srgbClr val="404040"/>
                </a:solidFill>
                <a:latin typeface="Times New Roman"/>
                <a:cs typeface="Times New Roman"/>
              </a:rPr>
              <a:t>but</a:t>
            </a:r>
            <a:r>
              <a:rPr sz="1700" spc="-20" dirty="0">
                <a:solidFill>
                  <a:srgbClr val="404040"/>
                </a:solidFill>
                <a:latin typeface="Times New Roman"/>
                <a:cs typeface="Times New Roman"/>
              </a:rPr>
              <a:t> </a:t>
            </a:r>
            <a:r>
              <a:rPr sz="1700" dirty="0">
                <a:solidFill>
                  <a:srgbClr val="404040"/>
                </a:solidFill>
                <a:latin typeface="Times New Roman"/>
                <a:cs typeface="Times New Roman"/>
              </a:rPr>
              <a:t>(4,</a:t>
            </a:r>
            <a:r>
              <a:rPr sz="1700" spc="-15" dirty="0">
                <a:solidFill>
                  <a:srgbClr val="404040"/>
                </a:solidFill>
                <a:latin typeface="Times New Roman"/>
                <a:cs typeface="Times New Roman"/>
              </a:rPr>
              <a:t> </a:t>
            </a:r>
            <a:r>
              <a:rPr sz="1700" dirty="0">
                <a:solidFill>
                  <a:srgbClr val="404040"/>
                </a:solidFill>
                <a:latin typeface="Times New Roman"/>
                <a:cs typeface="Times New Roman"/>
              </a:rPr>
              <a:t>2)</a:t>
            </a:r>
            <a:r>
              <a:rPr sz="1700" spc="-30" dirty="0">
                <a:solidFill>
                  <a:srgbClr val="404040"/>
                </a:solidFill>
                <a:latin typeface="Times New Roman"/>
                <a:cs typeface="Times New Roman"/>
              </a:rPr>
              <a:t> </a:t>
            </a:r>
            <a:r>
              <a:rPr sz="1700" dirty="0">
                <a:solidFill>
                  <a:srgbClr val="404040"/>
                </a:solidFill>
                <a:latin typeface="Times New Roman"/>
                <a:cs typeface="Times New Roman"/>
              </a:rPr>
              <a:t>does</a:t>
            </a:r>
            <a:r>
              <a:rPr sz="1700" spc="-25" dirty="0">
                <a:solidFill>
                  <a:srgbClr val="404040"/>
                </a:solidFill>
                <a:latin typeface="Times New Roman"/>
                <a:cs typeface="Times New Roman"/>
              </a:rPr>
              <a:t> </a:t>
            </a:r>
            <a:r>
              <a:rPr sz="1700" spc="-20" dirty="0">
                <a:solidFill>
                  <a:srgbClr val="404040"/>
                </a:solidFill>
                <a:latin typeface="Times New Roman"/>
                <a:cs typeface="Times New Roman"/>
              </a:rPr>
              <a:t>not.</a:t>
            </a:r>
            <a:br>
              <a:rPr lang="en-US" sz="1700" spc="-20" dirty="0">
                <a:solidFill>
                  <a:srgbClr val="404040"/>
                </a:solidFill>
                <a:latin typeface="Times New Roman"/>
                <a:cs typeface="Times New Roman"/>
              </a:rPr>
            </a:br>
            <a:r>
              <a:rPr lang="en-US" sz="1700" b="1" spc="-20" dirty="0">
                <a:solidFill>
                  <a:srgbClr val="CC0066"/>
                </a:solidFill>
                <a:latin typeface="Times New Roman"/>
                <a:cs typeface="Times New Roman"/>
              </a:rPr>
              <a:t>Transitivity means: ALL possible chains must satisfy the rule.</a:t>
            </a:r>
            <a:endParaRPr sz="1700" b="1" dirty="0">
              <a:solidFill>
                <a:srgbClr val="CC0066"/>
              </a:solidFill>
              <a:latin typeface="Times New Roman"/>
              <a:cs typeface="Times New Roman"/>
            </a:endParaRPr>
          </a:p>
        </p:txBody>
      </p:sp>
    </p:spTree>
    <p:extLst>
      <p:ext uri="{BB962C8B-B14F-4D97-AF65-F5344CB8AC3E}">
        <p14:creationId xmlns:p14="http://schemas.microsoft.com/office/powerpoint/2010/main" val="405463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4719" y="323849"/>
            <a:ext cx="6398260" cy="1123315"/>
          </a:xfrm>
          <a:prstGeom prst="rect">
            <a:avLst/>
          </a:prstGeom>
        </p:spPr>
        <p:txBody>
          <a:bodyPr vert="horz" wrap="square" lIns="0" tIns="12700" rIns="0" bIns="0" rtlCol="0">
            <a:spAutoFit/>
          </a:bodyPr>
          <a:lstStyle/>
          <a:p>
            <a:pPr marL="12700" marR="5080" indent="1278890">
              <a:lnSpc>
                <a:spcPct val="100000"/>
              </a:lnSpc>
              <a:spcBef>
                <a:spcPts val="100"/>
              </a:spcBef>
            </a:pPr>
            <a:r>
              <a:rPr dirty="0"/>
              <a:t>METHODS</a:t>
            </a:r>
            <a:r>
              <a:rPr spc="-110" dirty="0"/>
              <a:t> </a:t>
            </a:r>
            <a:r>
              <a:rPr spc="-25" dirty="0"/>
              <a:t>FOR </a:t>
            </a:r>
            <a:r>
              <a:rPr dirty="0"/>
              <a:t>REPRESENTING</a:t>
            </a:r>
            <a:r>
              <a:rPr spc="-60" dirty="0"/>
              <a:t> </a:t>
            </a:r>
            <a:r>
              <a:rPr spc="-45" dirty="0"/>
              <a:t>RELATIONS</a:t>
            </a:r>
          </a:p>
        </p:txBody>
      </p:sp>
      <p:sp>
        <p:nvSpPr>
          <p:cNvPr id="3" name="object 3"/>
          <p:cNvSpPr txBox="1"/>
          <p:nvPr/>
        </p:nvSpPr>
        <p:spPr>
          <a:xfrm>
            <a:off x="685800" y="2057400"/>
            <a:ext cx="6398260" cy="1987724"/>
          </a:xfrm>
          <a:prstGeom prst="rect">
            <a:avLst/>
          </a:prstGeom>
        </p:spPr>
        <p:txBody>
          <a:bodyPr vert="horz" wrap="square" lIns="0" tIns="12700" rIns="0" bIns="0" rtlCol="0">
            <a:spAutoFit/>
          </a:bodyPr>
          <a:lstStyle/>
          <a:p>
            <a:pPr marL="12700">
              <a:lnSpc>
                <a:spcPct val="100000"/>
              </a:lnSpc>
              <a:spcBef>
                <a:spcPts val="100"/>
              </a:spcBef>
              <a:tabLst>
                <a:tab pos="354965" algn="l"/>
              </a:tabLst>
            </a:pPr>
            <a:r>
              <a:rPr sz="2400" spc="65" dirty="0">
                <a:solidFill>
                  <a:srgbClr val="90C225"/>
                </a:solidFill>
                <a:latin typeface="Lucida Sans Unicode"/>
                <a:cs typeface="Lucida Sans Unicode"/>
              </a:rPr>
              <a:t>▶</a:t>
            </a:r>
            <a:r>
              <a:rPr sz="2400" dirty="0">
                <a:solidFill>
                  <a:srgbClr val="90C225"/>
                </a:solidFill>
                <a:latin typeface="Lucida Sans Unicode"/>
                <a:cs typeface="Lucida Sans Unicode"/>
              </a:rPr>
              <a:t>	</a:t>
            </a:r>
            <a:r>
              <a:rPr sz="2400" spc="-35" dirty="0">
                <a:solidFill>
                  <a:srgbClr val="404040"/>
                </a:solidFill>
                <a:latin typeface="Times New Roman"/>
                <a:cs typeface="Times New Roman"/>
              </a:rPr>
              <a:t>Two</a:t>
            </a:r>
            <a:r>
              <a:rPr sz="2400" spc="-65" dirty="0">
                <a:solidFill>
                  <a:srgbClr val="404040"/>
                </a:solidFill>
                <a:latin typeface="Times New Roman"/>
                <a:cs typeface="Times New Roman"/>
              </a:rPr>
              <a:t> </a:t>
            </a:r>
            <a:r>
              <a:rPr sz="2400" dirty="0">
                <a:solidFill>
                  <a:srgbClr val="404040"/>
                </a:solidFill>
                <a:latin typeface="Times New Roman"/>
                <a:cs typeface="Times New Roman"/>
              </a:rPr>
              <a:t>methods</a:t>
            </a:r>
            <a:r>
              <a:rPr sz="2400" spc="-60" dirty="0">
                <a:solidFill>
                  <a:srgbClr val="404040"/>
                </a:solidFill>
                <a:latin typeface="Times New Roman"/>
                <a:cs typeface="Times New Roman"/>
              </a:rPr>
              <a:t> </a:t>
            </a:r>
            <a:r>
              <a:rPr sz="2400" dirty="0">
                <a:solidFill>
                  <a:srgbClr val="404040"/>
                </a:solidFill>
                <a:latin typeface="Times New Roman"/>
                <a:cs typeface="Times New Roman"/>
              </a:rPr>
              <a:t>for</a:t>
            </a:r>
            <a:r>
              <a:rPr sz="2400" spc="-60" dirty="0">
                <a:solidFill>
                  <a:srgbClr val="404040"/>
                </a:solidFill>
                <a:latin typeface="Times New Roman"/>
                <a:cs typeface="Times New Roman"/>
              </a:rPr>
              <a:t> </a:t>
            </a:r>
            <a:r>
              <a:rPr sz="2400" dirty="0">
                <a:solidFill>
                  <a:srgbClr val="404040"/>
                </a:solidFill>
                <a:latin typeface="Times New Roman"/>
                <a:cs typeface="Times New Roman"/>
              </a:rPr>
              <a:t>representing</a:t>
            </a:r>
            <a:r>
              <a:rPr sz="2400" spc="-55" dirty="0">
                <a:solidFill>
                  <a:srgbClr val="404040"/>
                </a:solidFill>
                <a:latin typeface="Times New Roman"/>
                <a:cs typeface="Times New Roman"/>
              </a:rPr>
              <a:t> </a:t>
            </a:r>
            <a:r>
              <a:rPr sz="2400" spc="-10" dirty="0">
                <a:solidFill>
                  <a:srgbClr val="404040"/>
                </a:solidFill>
                <a:latin typeface="Times New Roman"/>
                <a:cs typeface="Times New Roman"/>
              </a:rPr>
              <a:t>relations:</a:t>
            </a:r>
            <a:endParaRPr sz="2400" dirty="0">
              <a:latin typeface="Times New Roman"/>
              <a:cs typeface="Times New Roman"/>
            </a:endParaRPr>
          </a:p>
          <a:p>
            <a:pPr>
              <a:lnSpc>
                <a:spcPct val="100000"/>
              </a:lnSpc>
              <a:spcBef>
                <a:spcPts val="25"/>
              </a:spcBef>
            </a:pPr>
            <a:endParaRPr sz="2400" dirty="0">
              <a:latin typeface="Times New Roman"/>
              <a:cs typeface="Times New Roman"/>
            </a:endParaRPr>
          </a:p>
          <a:p>
            <a:pPr marL="863600" indent="-393700">
              <a:lnSpc>
                <a:spcPct val="100000"/>
              </a:lnSpc>
              <a:buClr>
                <a:srgbClr val="90C225"/>
              </a:buClr>
              <a:buSzPct val="78125"/>
              <a:buFont typeface="Times New Roman"/>
              <a:buAutoNum type="arabicPeriod"/>
              <a:tabLst>
                <a:tab pos="863600" algn="l"/>
              </a:tabLst>
            </a:pPr>
            <a:r>
              <a:rPr sz="2400" b="1" dirty="0">
                <a:solidFill>
                  <a:srgbClr val="6F2F9F"/>
                </a:solidFill>
                <a:latin typeface="Times New Roman"/>
                <a:cs typeface="Times New Roman"/>
              </a:rPr>
              <a:t>Square</a:t>
            </a:r>
            <a:r>
              <a:rPr sz="2400" b="1" spc="-55" dirty="0">
                <a:solidFill>
                  <a:srgbClr val="6F2F9F"/>
                </a:solidFill>
                <a:latin typeface="Times New Roman"/>
                <a:cs typeface="Times New Roman"/>
              </a:rPr>
              <a:t> </a:t>
            </a:r>
            <a:r>
              <a:rPr sz="2400" b="1" spc="-10" dirty="0">
                <a:solidFill>
                  <a:srgbClr val="6F2F9F"/>
                </a:solidFill>
                <a:latin typeface="Times New Roman"/>
                <a:cs typeface="Times New Roman"/>
              </a:rPr>
              <a:t>Matrices</a:t>
            </a:r>
            <a:endParaRPr sz="2400" dirty="0">
              <a:latin typeface="Times New Roman"/>
              <a:cs typeface="Times New Roman"/>
            </a:endParaRPr>
          </a:p>
          <a:p>
            <a:pPr marL="863600" indent="-393700">
              <a:lnSpc>
                <a:spcPct val="100000"/>
              </a:lnSpc>
              <a:spcBef>
                <a:spcPts val="1005"/>
              </a:spcBef>
              <a:buClr>
                <a:srgbClr val="90C225"/>
              </a:buClr>
              <a:buSzPct val="78125"/>
              <a:buAutoNum type="arabicPeriod"/>
              <a:tabLst>
                <a:tab pos="863600" algn="l"/>
              </a:tabLst>
            </a:pPr>
            <a:r>
              <a:rPr sz="2400" b="1" dirty="0">
                <a:solidFill>
                  <a:srgbClr val="6F2F9F"/>
                </a:solidFill>
                <a:latin typeface="Times New Roman"/>
                <a:cs typeface="Times New Roman"/>
              </a:rPr>
              <a:t>Directed</a:t>
            </a:r>
            <a:r>
              <a:rPr sz="2400" b="1" spc="-45" dirty="0">
                <a:solidFill>
                  <a:srgbClr val="6F2F9F"/>
                </a:solidFill>
                <a:latin typeface="Times New Roman"/>
                <a:cs typeface="Times New Roman"/>
              </a:rPr>
              <a:t> </a:t>
            </a:r>
            <a:r>
              <a:rPr sz="2400" b="1" dirty="0">
                <a:solidFill>
                  <a:srgbClr val="6F2F9F"/>
                </a:solidFill>
                <a:latin typeface="Times New Roman"/>
                <a:cs typeface="Times New Roman"/>
              </a:rPr>
              <a:t>Graphs</a:t>
            </a:r>
            <a:r>
              <a:rPr sz="2400" b="1" spc="-50" dirty="0">
                <a:solidFill>
                  <a:srgbClr val="6F2F9F"/>
                </a:solidFill>
                <a:latin typeface="Times New Roman"/>
                <a:cs typeface="Times New Roman"/>
              </a:rPr>
              <a:t> </a:t>
            </a:r>
            <a:r>
              <a:rPr sz="2400" dirty="0">
                <a:solidFill>
                  <a:srgbClr val="404040"/>
                </a:solidFill>
                <a:latin typeface="Times New Roman"/>
                <a:cs typeface="Times New Roman"/>
              </a:rPr>
              <a:t>(consisting</a:t>
            </a:r>
            <a:r>
              <a:rPr sz="2400" spc="-35" dirty="0">
                <a:solidFill>
                  <a:srgbClr val="404040"/>
                </a:solidFill>
                <a:latin typeface="Times New Roman"/>
                <a:cs typeface="Times New Roman"/>
              </a:rPr>
              <a:t> </a:t>
            </a:r>
            <a:r>
              <a:rPr sz="2400" dirty="0">
                <a:solidFill>
                  <a:srgbClr val="404040"/>
                </a:solidFill>
                <a:latin typeface="Times New Roman"/>
                <a:cs typeface="Times New Roman"/>
              </a:rPr>
              <a:t>of</a:t>
            </a:r>
            <a:r>
              <a:rPr sz="2400" spc="-45" dirty="0">
                <a:solidFill>
                  <a:srgbClr val="404040"/>
                </a:solidFill>
                <a:latin typeface="Times New Roman"/>
                <a:cs typeface="Times New Roman"/>
              </a:rPr>
              <a:t> </a:t>
            </a:r>
            <a:r>
              <a:rPr sz="2400" dirty="0">
                <a:solidFill>
                  <a:srgbClr val="404040"/>
                </a:solidFill>
                <a:latin typeface="Times New Roman"/>
                <a:cs typeface="Times New Roman"/>
              </a:rPr>
              <a:t>vertices</a:t>
            </a:r>
            <a:r>
              <a:rPr sz="2400" spc="-35" dirty="0">
                <a:solidFill>
                  <a:srgbClr val="404040"/>
                </a:solidFill>
                <a:latin typeface="Times New Roman"/>
                <a:cs typeface="Times New Roman"/>
              </a:rPr>
              <a:t> </a:t>
            </a:r>
            <a:r>
              <a:rPr sz="2400" dirty="0">
                <a:solidFill>
                  <a:srgbClr val="404040"/>
                </a:solidFill>
                <a:latin typeface="Times New Roman"/>
                <a:cs typeface="Times New Roman"/>
              </a:rPr>
              <a:t>and</a:t>
            </a:r>
            <a:r>
              <a:rPr sz="2400" spc="-50" dirty="0">
                <a:solidFill>
                  <a:srgbClr val="404040"/>
                </a:solidFill>
                <a:latin typeface="Times New Roman"/>
                <a:cs typeface="Times New Roman"/>
              </a:rPr>
              <a:t> </a:t>
            </a:r>
            <a:r>
              <a:rPr sz="2400" dirty="0">
                <a:solidFill>
                  <a:srgbClr val="404040"/>
                </a:solidFill>
                <a:latin typeface="Times New Roman"/>
                <a:cs typeface="Times New Roman"/>
              </a:rPr>
              <a:t>directed</a:t>
            </a:r>
            <a:r>
              <a:rPr sz="2400" spc="-40" dirty="0">
                <a:solidFill>
                  <a:srgbClr val="404040"/>
                </a:solidFill>
                <a:latin typeface="Times New Roman"/>
                <a:cs typeface="Times New Roman"/>
              </a:rPr>
              <a:t> </a:t>
            </a:r>
            <a:r>
              <a:rPr sz="2400" spc="-10" dirty="0">
                <a:solidFill>
                  <a:srgbClr val="404040"/>
                </a:solidFill>
                <a:latin typeface="Times New Roman"/>
                <a:cs typeface="Times New Roman"/>
              </a:rPr>
              <a:t>edges)</a:t>
            </a:r>
            <a:endParaRPr sz="2400" dirty="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9452" y="19303"/>
            <a:ext cx="6456680" cy="1123315"/>
          </a:xfrm>
          <a:prstGeom prst="rect">
            <a:avLst/>
          </a:prstGeom>
        </p:spPr>
        <p:txBody>
          <a:bodyPr vert="horz" wrap="square" lIns="0" tIns="12700" rIns="0" bIns="0" rtlCol="0">
            <a:spAutoFit/>
          </a:bodyPr>
          <a:lstStyle/>
          <a:p>
            <a:pPr marL="1083310" marR="5080" indent="-1070610">
              <a:lnSpc>
                <a:spcPct val="100000"/>
              </a:lnSpc>
              <a:spcBef>
                <a:spcPts val="100"/>
              </a:spcBef>
            </a:pPr>
            <a:r>
              <a:rPr dirty="0"/>
              <a:t>REPRESENTING</a:t>
            </a:r>
            <a:r>
              <a:rPr spc="-60" dirty="0"/>
              <a:t> </a:t>
            </a:r>
            <a:r>
              <a:rPr spc="-45" dirty="0"/>
              <a:t>RELATIONS </a:t>
            </a:r>
            <a:r>
              <a:rPr dirty="0"/>
              <a:t>USING</a:t>
            </a:r>
            <a:r>
              <a:rPr spc="-25" dirty="0"/>
              <a:t> </a:t>
            </a:r>
            <a:r>
              <a:rPr spc="-10" dirty="0"/>
              <a:t>MATRICES</a:t>
            </a:r>
          </a:p>
        </p:txBody>
      </p:sp>
      <p:sp>
        <p:nvSpPr>
          <p:cNvPr id="3" name="object 3"/>
          <p:cNvSpPr txBox="1"/>
          <p:nvPr/>
        </p:nvSpPr>
        <p:spPr>
          <a:xfrm>
            <a:off x="340787" y="1226061"/>
            <a:ext cx="7888813" cy="4309513"/>
          </a:xfrm>
          <a:prstGeom prst="rect">
            <a:avLst/>
          </a:prstGeom>
          <a:solidFill>
            <a:schemeClr val="bg1"/>
          </a:solidFill>
        </p:spPr>
        <p:txBody>
          <a:bodyPr vert="horz" wrap="square" lIns="0" tIns="41275" rIns="0" bIns="0" rtlCol="0">
            <a:spAutoFit/>
          </a:bodyPr>
          <a:lstStyle/>
          <a:p>
            <a:r>
              <a:rPr lang="en-US" sz="2400" dirty="0">
                <a:solidFill>
                  <a:srgbClr val="002060"/>
                </a:solidFill>
                <a:latin typeface="+mn-lt"/>
              </a:rPr>
              <a:t>A relation between finite sets can be shown using a </a:t>
            </a:r>
            <a:r>
              <a:rPr lang="en-US" sz="2400" b="1" dirty="0">
                <a:solidFill>
                  <a:srgbClr val="002060"/>
                </a:solidFill>
                <a:latin typeface="+mn-lt"/>
              </a:rPr>
              <a:t>matrix of 0s and 1s</a:t>
            </a:r>
            <a:r>
              <a:rPr lang="en-US" sz="2400" dirty="0">
                <a:solidFill>
                  <a:srgbClr val="002060"/>
                </a:solidFill>
                <a:latin typeface="+mn-lt"/>
              </a:rPr>
              <a:t>.</a:t>
            </a:r>
          </a:p>
          <a:p>
            <a:r>
              <a:rPr lang="en-US" sz="2400" dirty="0">
                <a:latin typeface="+mn-lt"/>
              </a:rPr>
              <a:t>Suppose: </a:t>
            </a:r>
            <a:r>
              <a:rPr lang="en-US" sz="2400" b="1" dirty="0">
                <a:solidFill>
                  <a:srgbClr val="C00000"/>
                </a:solidFill>
                <a:latin typeface="+mn-lt"/>
              </a:rPr>
              <a:t>A = {a₁, a₂, …, aₘ}</a:t>
            </a:r>
            <a:r>
              <a:rPr lang="en-US" sz="2400" dirty="0">
                <a:solidFill>
                  <a:srgbClr val="C00000"/>
                </a:solidFill>
                <a:latin typeface="+mn-lt"/>
              </a:rPr>
              <a:t> &amp; </a:t>
            </a:r>
            <a:r>
              <a:rPr lang="en-US" sz="2400" b="1" dirty="0">
                <a:solidFill>
                  <a:srgbClr val="C00000"/>
                </a:solidFill>
                <a:latin typeface="+mn-lt"/>
              </a:rPr>
              <a:t>B = {b₁, b₂, …, bₙ}</a:t>
            </a:r>
            <a:endParaRPr lang="en-US" sz="2400" dirty="0">
              <a:solidFill>
                <a:srgbClr val="C00000"/>
              </a:solidFill>
              <a:latin typeface="+mn-lt"/>
            </a:endParaRPr>
          </a:p>
          <a:p>
            <a:pPr marL="25400">
              <a:lnSpc>
                <a:spcPct val="100000"/>
              </a:lnSpc>
              <a:spcBef>
                <a:spcPts val="755"/>
              </a:spcBef>
              <a:tabLst>
                <a:tab pos="367665" algn="l"/>
              </a:tabLst>
            </a:pPr>
            <a:r>
              <a:rPr sz="2400" spc="65" dirty="0">
                <a:solidFill>
                  <a:srgbClr val="90C225"/>
                </a:solidFill>
                <a:latin typeface="+mn-lt"/>
                <a:cs typeface="Lucida Sans Unicode"/>
              </a:rPr>
              <a:t>▶</a:t>
            </a:r>
            <a:r>
              <a:rPr sz="2400" dirty="0">
                <a:solidFill>
                  <a:srgbClr val="90C225"/>
                </a:solidFill>
                <a:latin typeface="+mn-lt"/>
                <a:cs typeface="Lucida Sans Unicode"/>
              </a:rPr>
              <a:t>	</a:t>
            </a:r>
            <a:r>
              <a:rPr sz="2400" dirty="0">
                <a:solidFill>
                  <a:srgbClr val="404040"/>
                </a:solidFill>
                <a:latin typeface="+mn-lt"/>
                <a:cs typeface="Times New Roman"/>
              </a:rPr>
              <a:t>The</a:t>
            </a:r>
            <a:r>
              <a:rPr sz="2400" spc="-20" dirty="0">
                <a:solidFill>
                  <a:srgbClr val="404040"/>
                </a:solidFill>
                <a:latin typeface="+mn-lt"/>
                <a:cs typeface="Times New Roman"/>
              </a:rPr>
              <a:t> </a:t>
            </a:r>
            <a:r>
              <a:rPr sz="2400" dirty="0">
                <a:solidFill>
                  <a:srgbClr val="404040"/>
                </a:solidFill>
                <a:latin typeface="+mn-lt"/>
                <a:cs typeface="Times New Roman"/>
              </a:rPr>
              <a:t>relation</a:t>
            </a:r>
            <a:r>
              <a:rPr sz="2400" spc="-5" dirty="0">
                <a:solidFill>
                  <a:srgbClr val="404040"/>
                </a:solidFill>
                <a:latin typeface="+mn-lt"/>
                <a:cs typeface="Times New Roman"/>
              </a:rPr>
              <a:t> </a:t>
            </a:r>
            <a:r>
              <a:rPr sz="2400" i="1" dirty="0">
                <a:solidFill>
                  <a:srgbClr val="404040"/>
                </a:solidFill>
                <a:latin typeface="+mn-lt"/>
                <a:cs typeface="Times New Roman"/>
              </a:rPr>
              <a:t>R</a:t>
            </a:r>
            <a:r>
              <a:rPr sz="2400" i="1" spc="-10" dirty="0">
                <a:solidFill>
                  <a:srgbClr val="404040"/>
                </a:solidFill>
                <a:latin typeface="+mn-lt"/>
                <a:cs typeface="Times New Roman"/>
              </a:rPr>
              <a:t> </a:t>
            </a:r>
            <a:r>
              <a:rPr sz="2400" dirty="0">
                <a:solidFill>
                  <a:srgbClr val="404040"/>
                </a:solidFill>
                <a:latin typeface="+mn-lt"/>
                <a:cs typeface="Times New Roman"/>
              </a:rPr>
              <a:t>can</a:t>
            </a:r>
            <a:r>
              <a:rPr sz="2400" spc="-20" dirty="0">
                <a:solidFill>
                  <a:srgbClr val="404040"/>
                </a:solidFill>
                <a:latin typeface="+mn-lt"/>
                <a:cs typeface="Times New Roman"/>
              </a:rPr>
              <a:t> </a:t>
            </a:r>
            <a:r>
              <a:rPr sz="2400" dirty="0">
                <a:solidFill>
                  <a:srgbClr val="404040"/>
                </a:solidFill>
                <a:latin typeface="+mn-lt"/>
                <a:cs typeface="Times New Roman"/>
              </a:rPr>
              <a:t>be</a:t>
            </a:r>
            <a:r>
              <a:rPr sz="2400" spc="-15" dirty="0">
                <a:solidFill>
                  <a:srgbClr val="404040"/>
                </a:solidFill>
                <a:latin typeface="+mn-lt"/>
                <a:cs typeface="Times New Roman"/>
              </a:rPr>
              <a:t> </a:t>
            </a:r>
            <a:r>
              <a:rPr sz="2400" dirty="0">
                <a:solidFill>
                  <a:srgbClr val="404040"/>
                </a:solidFill>
                <a:latin typeface="+mn-lt"/>
                <a:cs typeface="Times New Roman"/>
              </a:rPr>
              <a:t>represented</a:t>
            </a:r>
            <a:r>
              <a:rPr sz="2400" spc="-25" dirty="0">
                <a:solidFill>
                  <a:srgbClr val="404040"/>
                </a:solidFill>
                <a:latin typeface="+mn-lt"/>
                <a:cs typeface="Times New Roman"/>
              </a:rPr>
              <a:t> </a:t>
            </a:r>
            <a:r>
              <a:rPr sz="2400" dirty="0">
                <a:solidFill>
                  <a:srgbClr val="404040"/>
                </a:solidFill>
                <a:latin typeface="+mn-lt"/>
                <a:cs typeface="Times New Roman"/>
              </a:rPr>
              <a:t>by</a:t>
            </a:r>
            <a:r>
              <a:rPr sz="2400" spc="-10" dirty="0">
                <a:solidFill>
                  <a:srgbClr val="404040"/>
                </a:solidFill>
                <a:latin typeface="+mn-lt"/>
                <a:cs typeface="Times New Roman"/>
              </a:rPr>
              <a:t> </a:t>
            </a:r>
            <a:r>
              <a:rPr sz="2400" dirty="0">
                <a:solidFill>
                  <a:srgbClr val="404040"/>
                </a:solidFill>
                <a:latin typeface="+mn-lt"/>
                <a:cs typeface="Times New Roman"/>
              </a:rPr>
              <a:t>the</a:t>
            </a:r>
            <a:r>
              <a:rPr sz="2400" spc="-15" dirty="0">
                <a:solidFill>
                  <a:srgbClr val="404040"/>
                </a:solidFill>
                <a:latin typeface="+mn-lt"/>
                <a:cs typeface="Times New Roman"/>
              </a:rPr>
              <a:t> </a:t>
            </a:r>
            <a:r>
              <a:rPr sz="2400" dirty="0">
                <a:solidFill>
                  <a:srgbClr val="404040"/>
                </a:solidFill>
                <a:latin typeface="+mn-lt"/>
                <a:cs typeface="Times New Roman"/>
              </a:rPr>
              <a:t>matrix</a:t>
            </a:r>
            <a:r>
              <a:rPr sz="2400" spc="5" dirty="0">
                <a:solidFill>
                  <a:srgbClr val="404040"/>
                </a:solidFill>
                <a:latin typeface="+mn-lt"/>
                <a:cs typeface="Times New Roman"/>
              </a:rPr>
              <a:t> </a:t>
            </a:r>
            <a:r>
              <a:rPr sz="2400" b="1" dirty="0">
                <a:solidFill>
                  <a:srgbClr val="404040"/>
                </a:solidFill>
                <a:latin typeface="+mn-lt"/>
                <a:cs typeface="Times New Roman"/>
              </a:rPr>
              <a:t>M</a:t>
            </a:r>
            <a:r>
              <a:rPr sz="2400" i="1" baseline="-20202" dirty="0">
                <a:solidFill>
                  <a:srgbClr val="404040"/>
                </a:solidFill>
                <a:latin typeface="+mn-lt"/>
                <a:cs typeface="Times New Roman"/>
              </a:rPr>
              <a:t>R</a:t>
            </a:r>
            <a:r>
              <a:rPr sz="2400" i="1" spc="-7" baseline="-20202" dirty="0">
                <a:solidFill>
                  <a:srgbClr val="404040"/>
                </a:solidFill>
                <a:latin typeface="+mn-lt"/>
                <a:cs typeface="Times New Roman"/>
              </a:rPr>
              <a:t> </a:t>
            </a:r>
            <a:r>
              <a:rPr sz="2400" dirty="0">
                <a:solidFill>
                  <a:srgbClr val="404040"/>
                </a:solidFill>
                <a:latin typeface="+mn-lt"/>
                <a:cs typeface="Times New Roman"/>
              </a:rPr>
              <a:t>=</a:t>
            </a:r>
            <a:r>
              <a:rPr sz="2400" spc="-5" dirty="0">
                <a:solidFill>
                  <a:srgbClr val="404040"/>
                </a:solidFill>
                <a:latin typeface="+mn-lt"/>
                <a:cs typeface="Times New Roman"/>
              </a:rPr>
              <a:t> </a:t>
            </a:r>
            <a:r>
              <a:rPr sz="2400" dirty="0">
                <a:solidFill>
                  <a:srgbClr val="404040"/>
                </a:solidFill>
                <a:latin typeface="+mn-lt"/>
                <a:cs typeface="Times New Roman"/>
              </a:rPr>
              <a:t>[</a:t>
            </a:r>
            <a:r>
              <a:rPr sz="2400" i="1" dirty="0">
                <a:solidFill>
                  <a:srgbClr val="404040"/>
                </a:solidFill>
                <a:latin typeface="+mn-lt"/>
                <a:cs typeface="Times New Roman"/>
              </a:rPr>
              <a:t>m</a:t>
            </a:r>
            <a:r>
              <a:rPr sz="2400" i="1" baseline="-20202" dirty="0">
                <a:solidFill>
                  <a:srgbClr val="404040"/>
                </a:solidFill>
                <a:latin typeface="+mn-lt"/>
                <a:cs typeface="Times New Roman"/>
              </a:rPr>
              <a:t>ij</a:t>
            </a:r>
            <a:r>
              <a:rPr sz="2400" dirty="0">
                <a:solidFill>
                  <a:srgbClr val="404040"/>
                </a:solidFill>
                <a:latin typeface="+mn-lt"/>
                <a:cs typeface="Times New Roman"/>
              </a:rPr>
              <a:t>],</a:t>
            </a:r>
            <a:r>
              <a:rPr sz="2400" spc="-25" dirty="0">
                <a:solidFill>
                  <a:srgbClr val="404040"/>
                </a:solidFill>
                <a:latin typeface="+mn-lt"/>
                <a:cs typeface="Times New Roman"/>
              </a:rPr>
              <a:t> </a:t>
            </a:r>
            <a:r>
              <a:rPr sz="2400" spc="-10" dirty="0">
                <a:solidFill>
                  <a:srgbClr val="404040"/>
                </a:solidFill>
                <a:latin typeface="+mn-lt"/>
                <a:cs typeface="Times New Roman"/>
              </a:rPr>
              <a:t>where</a:t>
            </a:r>
            <a:endParaRPr lang="en-US" sz="2400" spc="-10" dirty="0">
              <a:solidFill>
                <a:srgbClr val="404040"/>
              </a:solidFill>
              <a:latin typeface="+mn-lt"/>
              <a:cs typeface="Times New Roman"/>
            </a:endParaRPr>
          </a:p>
          <a:p>
            <a:pPr lvl="3">
              <a:buFont typeface="Arial" panose="020B0604020202020204" pitchFamily="34" charset="0"/>
              <a:buChar char="•"/>
            </a:pPr>
            <a:r>
              <a:rPr lang="en-US" sz="2400" b="1" dirty="0">
                <a:solidFill>
                  <a:srgbClr val="7030A0"/>
                </a:solidFill>
                <a:latin typeface="+mn-lt"/>
              </a:rPr>
              <a:t>Rows</a:t>
            </a:r>
            <a:r>
              <a:rPr lang="en-US" sz="2400" dirty="0">
                <a:solidFill>
                  <a:srgbClr val="7030A0"/>
                </a:solidFill>
                <a:latin typeface="+mn-lt"/>
              </a:rPr>
              <a:t> → elements of A</a:t>
            </a:r>
          </a:p>
          <a:p>
            <a:pPr lvl="3">
              <a:buFont typeface="Arial" panose="020B0604020202020204" pitchFamily="34" charset="0"/>
              <a:buChar char="•"/>
            </a:pPr>
            <a:r>
              <a:rPr lang="en-US" sz="2400" b="1" dirty="0">
                <a:solidFill>
                  <a:srgbClr val="7030A0"/>
                </a:solidFill>
                <a:latin typeface="+mn-lt"/>
              </a:rPr>
              <a:t>Columns</a:t>
            </a:r>
            <a:r>
              <a:rPr lang="en-US" sz="2400" dirty="0">
                <a:solidFill>
                  <a:srgbClr val="7030A0"/>
                </a:solidFill>
                <a:latin typeface="+mn-lt"/>
              </a:rPr>
              <a:t> → elements of B</a:t>
            </a:r>
          </a:p>
          <a:p>
            <a:r>
              <a:rPr lang="en-US" sz="2400" dirty="0">
                <a:solidFill>
                  <a:srgbClr val="0070C0"/>
                </a:solidFill>
                <a:latin typeface="+mn-lt"/>
              </a:rPr>
              <a:t>For each position (</a:t>
            </a:r>
            <a:r>
              <a:rPr lang="en-US" sz="2400" dirty="0" err="1">
                <a:solidFill>
                  <a:srgbClr val="0070C0"/>
                </a:solidFill>
                <a:latin typeface="+mn-lt"/>
              </a:rPr>
              <a:t>i</a:t>
            </a:r>
            <a:r>
              <a:rPr lang="en-US" sz="2400" dirty="0">
                <a:solidFill>
                  <a:srgbClr val="0070C0"/>
                </a:solidFill>
                <a:latin typeface="+mn-lt"/>
              </a:rPr>
              <a:t>, j):</a:t>
            </a:r>
          </a:p>
          <a:p>
            <a:pPr>
              <a:buFont typeface="Arial" panose="020B0604020202020204" pitchFamily="34" charset="0"/>
              <a:buChar char="•"/>
            </a:pPr>
            <a:r>
              <a:rPr lang="en-US" sz="2400" b="1" dirty="0">
                <a:solidFill>
                  <a:srgbClr val="0070C0"/>
                </a:solidFill>
                <a:latin typeface="+mn-lt"/>
              </a:rPr>
              <a:t>Put 1 if aᵢ is related to bⱼ</a:t>
            </a:r>
          </a:p>
          <a:p>
            <a:pPr>
              <a:buFont typeface="Arial" panose="020B0604020202020204" pitchFamily="34" charset="0"/>
              <a:buChar char="•"/>
            </a:pPr>
            <a:r>
              <a:rPr lang="en-US" sz="2400" b="1" dirty="0">
                <a:solidFill>
                  <a:srgbClr val="0070C0"/>
                </a:solidFill>
                <a:latin typeface="+mn-lt"/>
              </a:rPr>
              <a:t>Put 0 if aᵢ is not related to bⱼ</a:t>
            </a:r>
          </a:p>
          <a:p>
            <a:pPr marL="25400">
              <a:lnSpc>
                <a:spcPct val="100000"/>
              </a:lnSpc>
              <a:spcBef>
                <a:spcPts val="755"/>
              </a:spcBef>
              <a:tabLst>
                <a:tab pos="367665" algn="l"/>
              </a:tabLst>
            </a:pPr>
            <a:endParaRPr sz="2400" dirty="0">
              <a:latin typeface="+mn-lt"/>
              <a:cs typeface="Times New Roman"/>
            </a:endParaRPr>
          </a:p>
        </p:txBody>
      </p:sp>
      <p:sp>
        <p:nvSpPr>
          <p:cNvPr id="4" name="object 4"/>
          <p:cNvSpPr txBox="1"/>
          <p:nvPr/>
        </p:nvSpPr>
        <p:spPr>
          <a:xfrm>
            <a:off x="1674670" y="5515282"/>
            <a:ext cx="1674669" cy="689291"/>
          </a:xfrm>
          <a:prstGeom prst="rect">
            <a:avLst/>
          </a:prstGeom>
        </p:spPr>
        <p:txBody>
          <a:bodyPr vert="horz" wrap="square" lIns="0" tIns="12065" rIns="0" bIns="0" rtlCol="0">
            <a:spAutoFit/>
          </a:bodyPr>
          <a:lstStyle/>
          <a:p>
            <a:pPr marL="38100">
              <a:lnSpc>
                <a:spcPct val="100000"/>
              </a:lnSpc>
              <a:spcBef>
                <a:spcPts val="95"/>
              </a:spcBef>
            </a:pPr>
            <a:r>
              <a:rPr sz="4400" i="1" dirty="0">
                <a:solidFill>
                  <a:srgbClr val="404040"/>
                </a:solidFill>
                <a:latin typeface="Times New Roman"/>
                <a:cs typeface="Times New Roman"/>
              </a:rPr>
              <a:t>m</a:t>
            </a:r>
            <a:r>
              <a:rPr sz="4400" i="1" baseline="-20202" dirty="0">
                <a:solidFill>
                  <a:srgbClr val="404040"/>
                </a:solidFill>
                <a:latin typeface="Times New Roman"/>
                <a:cs typeface="Times New Roman"/>
              </a:rPr>
              <a:t>ij</a:t>
            </a:r>
            <a:r>
              <a:rPr sz="4400" i="1" spc="247" baseline="-20202" dirty="0">
                <a:solidFill>
                  <a:srgbClr val="404040"/>
                </a:solidFill>
                <a:latin typeface="Times New Roman"/>
                <a:cs typeface="Times New Roman"/>
              </a:rPr>
              <a:t> </a:t>
            </a:r>
            <a:r>
              <a:rPr sz="4400" spc="-60" dirty="0">
                <a:solidFill>
                  <a:srgbClr val="404040"/>
                </a:solidFill>
                <a:latin typeface="Times New Roman"/>
                <a:cs typeface="Times New Roman"/>
              </a:rPr>
              <a:t>=</a:t>
            </a:r>
            <a:endParaRPr sz="4400" dirty="0">
              <a:latin typeface="Times New Roman"/>
              <a:cs typeface="Times New Roman"/>
            </a:endParaRPr>
          </a:p>
        </p:txBody>
      </p:sp>
      <p:sp>
        <p:nvSpPr>
          <p:cNvPr id="5" name="object 5"/>
          <p:cNvSpPr txBox="1"/>
          <p:nvPr/>
        </p:nvSpPr>
        <p:spPr>
          <a:xfrm>
            <a:off x="3886200" y="5163784"/>
            <a:ext cx="3810000" cy="1202252"/>
          </a:xfrm>
          <a:prstGeom prst="rect">
            <a:avLst/>
          </a:prstGeom>
        </p:spPr>
        <p:txBody>
          <a:bodyPr vert="horz" wrap="square" lIns="0" tIns="113665" rIns="0" bIns="0" rtlCol="0">
            <a:spAutoFit/>
          </a:bodyPr>
          <a:lstStyle/>
          <a:p>
            <a:pPr marL="38100">
              <a:lnSpc>
                <a:spcPct val="100000"/>
              </a:lnSpc>
              <a:spcBef>
                <a:spcPts val="895"/>
              </a:spcBef>
            </a:pPr>
            <a:r>
              <a:rPr sz="3200" dirty="0">
                <a:solidFill>
                  <a:srgbClr val="404040"/>
                </a:solidFill>
                <a:latin typeface="Times New Roman"/>
                <a:cs typeface="Times New Roman"/>
              </a:rPr>
              <a:t>1</a:t>
            </a:r>
            <a:r>
              <a:rPr sz="3200" spc="-10" dirty="0">
                <a:solidFill>
                  <a:srgbClr val="404040"/>
                </a:solidFill>
                <a:latin typeface="Times New Roman"/>
                <a:cs typeface="Times New Roman"/>
              </a:rPr>
              <a:t> </a:t>
            </a:r>
            <a:r>
              <a:rPr sz="3200" dirty="0">
                <a:solidFill>
                  <a:srgbClr val="404040"/>
                </a:solidFill>
                <a:latin typeface="Times New Roman"/>
                <a:cs typeface="Times New Roman"/>
              </a:rPr>
              <a:t>if</a:t>
            </a:r>
            <a:r>
              <a:rPr sz="3200" spc="-15" dirty="0">
                <a:solidFill>
                  <a:srgbClr val="404040"/>
                </a:solidFill>
                <a:latin typeface="Times New Roman"/>
                <a:cs typeface="Times New Roman"/>
              </a:rPr>
              <a:t> </a:t>
            </a:r>
            <a:r>
              <a:rPr sz="3200" dirty="0">
                <a:solidFill>
                  <a:srgbClr val="404040"/>
                </a:solidFill>
                <a:latin typeface="Times New Roman"/>
                <a:cs typeface="Times New Roman"/>
              </a:rPr>
              <a:t>(</a:t>
            </a:r>
            <a:r>
              <a:rPr sz="3200" i="1" dirty="0">
                <a:solidFill>
                  <a:srgbClr val="404040"/>
                </a:solidFill>
                <a:latin typeface="Times New Roman"/>
                <a:cs typeface="Times New Roman"/>
              </a:rPr>
              <a:t>a</a:t>
            </a:r>
            <a:r>
              <a:rPr sz="3200" i="1" baseline="-20202" dirty="0">
                <a:solidFill>
                  <a:srgbClr val="404040"/>
                </a:solidFill>
                <a:latin typeface="Times New Roman"/>
                <a:cs typeface="Times New Roman"/>
              </a:rPr>
              <a:t>i</a:t>
            </a:r>
            <a:r>
              <a:rPr sz="3200" i="1" dirty="0">
                <a:solidFill>
                  <a:srgbClr val="404040"/>
                </a:solidFill>
                <a:latin typeface="Times New Roman"/>
                <a:cs typeface="Times New Roman"/>
              </a:rPr>
              <a:t>,</a:t>
            </a:r>
            <a:r>
              <a:rPr sz="3200" i="1" spc="-10" dirty="0">
                <a:solidFill>
                  <a:srgbClr val="404040"/>
                </a:solidFill>
                <a:latin typeface="Times New Roman"/>
                <a:cs typeface="Times New Roman"/>
              </a:rPr>
              <a:t> </a:t>
            </a:r>
            <a:r>
              <a:rPr sz="3200" i="1" dirty="0">
                <a:solidFill>
                  <a:srgbClr val="404040"/>
                </a:solidFill>
                <a:latin typeface="Times New Roman"/>
                <a:cs typeface="Times New Roman"/>
              </a:rPr>
              <a:t>b</a:t>
            </a:r>
            <a:r>
              <a:rPr sz="3200" i="1" baseline="-20202" dirty="0">
                <a:solidFill>
                  <a:srgbClr val="404040"/>
                </a:solidFill>
                <a:latin typeface="Times New Roman"/>
                <a:cs typeface="Times New Roman"/>
              </a:rPr>
              <a:t>j</a:t>
            </a:r>
            <a:r>
              <a:rPr sz="3200" dirty="0">
                <a:solidFill>
                  <a:srgbClr val="404040"/>
                </a:solidFill>
                <a:latin typeface="Times New Roman"/>
                <a:cs typeface="Times New Roman"/>
              </a:rPr>
              <a:t>)</a:t>
            </a:r>
            <a:r>
              <a:rPr sz="3200" spc="-15" dirty="0">
                <a:solidFill>
                  <a:srgbClr val="404040"/>
                </a:solidFill>
                <a:latin typeface="Times New Roman"/>
                <a:cs typeface="Times New Roman"/>
              </a:rPr>
              <a:t> </a:t>
            </a:r>
            <a:r>
              <a:rPr sz="3200" dirty="0">
                <a:solidFill>
                  <a:srgbClr val="404040"/>
                </a:solidFill>
                <a:latin typeface="Cambria Math"/>
                <a:cs typeface="Cambria Math"/>
              </a:rPr>
              <a:t>∈</a:t>
            </a:r>
            <a:r>
              <a:rPr sz="3200" spc="50" dirty="0">
                <a:solidFill>
                  <a:srgbClr val="404040"/>
                </a:solidFill>
                <a:latin typeface="Cambria Math"/>
                <a:cs typeface="Cambria Math"/>
              </a:rPr>
              <a:t> </a:t>
            </a:r>
            <a:r>
              <a:rPr sz="3200" i="1" spc="-25" dirty="0">
                <a:solidFill>
                  <a:srgbClr val="404040"/>
                </a:solidFill>
                <a:latin typeface="Times New Roman"/>
                <a:cs typeface="Times New Roman"/>
              </a:rPr>
              <a:t>R,</a:t>
            </a:r>
            <a:endParaRPr sz="3200" dirty="0">
              <a:latin typeface="Times New Roman"/>
              <a:cs typeface="Times New Roman"/>
            </a:endParaRPr>
          </a:p>
          <a:p>
            <a:pPr marL="38100">
              <a:lnSpc>
                <a:spcPct val="100000"/>
              </a:lnSpc>
              <a:spcBef>
                <a:spcPts val="790"/>
              </a:spcBef>
            </a:pPr>
            <a:r>
              <a:rPr sz="3200" dirty="0">
                <a:solidFill>
                  <a:srgbClr val="404040"/>
                </a:solidFill>
                <a:latin typeface="Times New Roman"/>
                <a:cs typeface="Times New Roman"/>
              </a:rPr>
              <a:t>0</a:t>
            </a:r>
            <a:r>
              <a:rPr sz="3200" spc="-10" dirty="0">
                <a:solidFill>
                  <a:srgbClr val="404040"/>
                </a:solidFill>
                <a:latin typeface="Times New Roman"/>
                <a:cs typeface="Times New Roman"/>
              </a:rPr>
              <a:t> </a:t>
            </a:r>
            <a:r>
              <a:rPr sz="3200" dirty="0">
                <a:solidFill>
                  <a:srgbClr val="404040"/>
                </a:solidFill>
                <a:latin typeface="Times New Roman"/>
                <a:cs typeface="Times New Roman"/>
              </a:rPr>
              <a:t>if</a:t>
            </a:r>
            <a:r>
              <a:rPr sz="3200" spc="-15" dirty="0">
                <a:solidFill>
                  <a:srgbClr val="404040"/>
                </a:solidFill>
                <a:latin typeface="Times New Roman"/>
                <a:cs typeface="Times New Roman"/>
              </a:rPr>
              <a:t> </a:t>
            </a:r>
            <a:r>
              <a:rPr sz="3200" dirty="0">
                <a:solidFill>
                  <a:srgbClr val="404040"/>
                </a:solidFill>
                <a:latin typeface="Times New Roman"/>
                <a:cs typeface="Times New Roman"/>
              </a:rPr>
              <a:t>(</a:t>
            </a:r>
            <a:r>
              <a:rPr sz="3200" i="1" dirty="0">
                <a:solidFill>
                  <a:srgbClr val="404040"/>
                </a:solidFill>
                <a:latin typeface="Times New Roman"/>
                <a:cs typeface="Times New Roman"/>
              </a:rPr>
              <a:t>a</a:t>
            </a:r>
            <a:r>
              <a:rPr sz="3200" i="1" baseline="-20202" dirty="0">
                <a:solidFill>
                  <a:srgbClr val="404040"/>
                </a:solidFill>
                <a:latin typeface="Times New Roman"/>
                <a:cs typeface="Times New Roman"/>
              </a:rPr>
              <a:t>i</a:t>
            </a:r>
            <a:r>
              <a:rPr sz="3200" i="1" dirty="0">
                <a:solidFill>
                  <a:srgbClr val="404040"/>
                </a:solidFill>
                <a:latin typeface="Times New Roman"/>
                <a:cs typeface="Times New Roman"/>
              </a:rPr>
              <a:t>,</a:t>
            </a:r>
            <a:r>
              <a:rPr sz="3200" i="1" spc="-10" dirty="0">
                <a:solidFill>
                  <a:srgbClr val="404040"/>
                </a:solidFill>
                <a:latin typeface="Times New Roman"/>
                <a:cs typeface="Times New Roman"/>
              </a:rPr>
              <a:t> </a:t>
            </a:r>
            <a:r>
              <a:rPr sz="3200" i="1" dirty="0">
                <a:solidFill>
                  <a:srgbClr val="404040"/>
                </a:solidFill>
                <a:latin typeface="Times New Roman"/>
                <a:cs typeface="Times New Roman"/>
              </a:rPr>
              <a:t>b</a:t>
            </a:r>
            <a:r>
              <a:rPr sz="3200" i="1" baseline="-20202" dirty="0">
                <a:solidFill>
                  <a:srgbClr val="404040"/>
                </a:solidFill>
                <a:latin typeface="Times New Roman"/>
                <a:cs typeface="Times New Roman"/>
              </a:rPr>
              <a:t>j</a:t>
            </a:r>
            <a:r>
              <a:rPr sz="3200" dirty="0">
                <a:solidFill>
                  <a:srgbClr val="404040"/>
                </a:solidFill>
                <a:latin typeface="Times New Roman"/>
                <a:cs typeface="Times New Roman"/>
              </a:rPr>
              <a:t>)</a:t>
            </a:r>
            <a:r>
              <a:rPr sz="3200" spc="-15" dirty="0">
                <a:solidFill>
                  <a:srgbClr val="404040"/>
                </a:solidFill>
                <a:latin typeface="Times New Roman"/>
                <a:cs typeface="Times New Roman"/>
              </a:rPr>
              <a:t> </a:t>
            </a:r>
            <a:r>
              <a:rPr sz="3200" dirty="0">
                <a:solidFill>
                  <a:srgbClr val="404040"/>
                </a:solidFill>
                <a:latin typeface="Cambria Math"/>
                <a:cs typeface="Cambria Math"/>
              </a:rPr>
              <a:t>∉</a:t>
            </a:r>
            <a:r>
              <a:rPr sz="3200" spc="45" dirty="0">
                <a:solidFill>
                  <a:srgbClr val="404040"/>
                </a:solidFill>
                <a:latin typeface="Cambria Math"/>
                <a:cs typeface="Cambria Math"/>
              </a:rPr>
              <a:t> </a:t>
            </a:r>
            <a:r>
              <a:rPr sz="3200" i="1" spc="-25" dirty="0">
                <a:solidFill>
                  <a:srgbClr val="404040"/>
                </a:solidFill>
                <a:latin typeface="Times New Roman"/>
                <a:cs typeface="Times New Roman"/>
              </a:rPr>
              <a:t>R.</a:t>
            </a:r>
            <a:endParaRPr sz="3200" dirty="0">
              <a:latin typeface="Times New Roman"/>
              <a:cs typeface="Times New Roman"/>
            </a:endParaRPr>
          </a:p>
        </p:txBody>
      </p:sp>
      <p:grpSp>
        <p:nvGrpSpPr>
          <p:cNvPr id="7" name="object 7"/>
          <p:cNvGrpSpPr/>
          <p:nvPr/>
        </p:nvGrpSpPr>
        <p:grpSpPr>
          <a:xfrm>
            <a:off x="3122470" y="5174110"/>
            <a:ext cx="528146" cy="1455289"/>
            <a:chOff x="1257869" y="3668980"/>
            <a:chExt cx="297815" cy="996950"/>
          </a:xfrm>
        </p:grpSpPr>
        <p:pic>
          <p:nvPicPr>
            <p:cNvPr id="8" name="object 8"/>
            <p:cNvPicPr/>
            <p:nvPr/>
          </p:nvPicPr>
          <p:blipFill>
            <a:blip r:embed="rId2" cstate="print"/>
            <a:stretch>
              <a:fillRect/>
            </a:stretch>
          </p:blipFill>
          <p:spPr>
            <a:xfrm>
              <a:off x="1257869" y="3668980"/>
              <a:ext cx="297514" cy="996745"/>
            </a:xfrm>
            <a:prstGeom prst="rect">
              <a:avLst/>
            </a:prstGeom>
          </p:spPr>
        </p:pic>
        <p:sp>
          <p:nvSpPr>
            <p:cNvPr id="9" name="object 9"/>
            <p:cNvSpPr/>
            <p:nvPr/>
          </p:nvSpPr>
          <p:spPr>
            <a:xfrm>
              <a:off x="1295780" y="3681602"/>
              <a:ext cx="228600" cy="914400"/>
            </a:xfrm>
            <a:custGeom>
              <a:avLst/>
              <a:gdLst/>
              <a:ahLst/>
              <a:cxnLst/>
              <a:rect l="l" t="t" r="r" b="b"/>
              <a:pathLst>
                <a:path w="228600" h="914400">
                  <a:moveTo>
                    <a:pt x="228600" y="914400"/>
                  </a:moveTo>
                  <a:lnTo>
                    <a:pt x="184112" y="912905"/>
                  </a:lnTo>
                  <a:lnTo>
                    <a:pt x="147780" y="908827"/>
                  </a:lnTo>
                  <a:lnTo>
                    <a:pt x="123283" y="902773"/>
                  </a:lnTo>
                  <a:lnTo>
                    <a:pt x="114300" y="895350"/>
                  </a:lnTo>
                  <a:lnTo>
                    <a:pt x="114300" y="476250"/>
                  </a:lnTo>
                  <a:lnTo>
                    <a:pt x="105316" y="468826"/>
                  </a:lnTo>
                  <a:lnTo>
                    <a:pt x="80819" y="462772"/>
                  </a:lnTo>
                  <a:lnTo>
                    <a:pt x="44487" y="458694"/>
                  </a:lnTo>
                  <a:lnTo>
                    <a:pt x="0" y="457200"/>
                  </a:lnTo>
                  <a:lnTo>
                    <a:pt x="44487" y="455705"/>
                  </a:lnTo>
                  <a:lnTo>
                    <a:pt x="80819" y="451627"/>
                  </a:lnTo>
                  <a:lnTo>
                    <a:pt x="105316" y="445573"/>
                  </a:lnTo>
                  <a:lnTo>
                    <a:pt x="114300" y="438150"/>
                  </a:lnTo>
                  <a:lnTo>
                    <a:pt x="114300" y="19050"/>
                  </a:lnTo>
                  <a:lnTo>
                    <a:pt x="123283" y="11626"/>
                  </a:lnTo>
                  <a:lnTo>
                    <a:pt x="147780" y="5572"/>
                  </a:lnTo>
                  <a:lnTo>
                    <a:pt x="184112" y="1494"/>
                  </a:lnTo>
                  <a:lnTo>
                    <a:pt x="228600" y="0"/>
                  </a:lnTo>
                </a:path>
              </a:pathLst>
            </a:custGeom>
            <a:ln w="25146">
              <a:solidFill>
                <a:srgbClr val="90C225"/>
              </a:solidFill>
            </a:ln>
          </p:spPr>
          <p:txBody>
            <a:bodyPr wrap="square" lIns="0" tIns="0" rIns="0" bIns="0" rtlCol="0"/>
            <a:lstStyle/>
            <a:p>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462878-632F-1310-0569-F394A0057257}"/>
              </a:ext>
            </a:extLst>
          </p:cNvPr>
          <p:cNvPicPr>
            <a:picLocks noChangeAspect="1"/>
          </p:cNvPicPr>
          <p:nvPr/>
        </p:nvPicPr>
        <p:blipFill>
          <a:blip r:embed="rId2"/>
          <a:stretch>
            <a:fillRect/>
          </a:stretch>
        </p:blipFill>
        <p:spPr>
          <a:xfrm>
            <a:off x="0" y="884171"/>
            <a:ext cx="8910310" cy="5089657"/>
          </a:xfrm>
          <a:prstGeom prst="rect">
            <a:avLst/>
          </a:prstGeom>
        </p:spPr>
      </p:pic>
    </p:spTree>
    <p:extLst>
      <p:ext uri="{BB962C8B-B14F-4D97-AF65-F5344CB8AC3E}">
        <p14:creationId xmlns:p14="http://schemas.microsoft.com/office/powerpoint/2010/main" val="904683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E9E46DC-D41D-4CC6-9685-8C0D0B08365B}"/>
              </a:ext>
            </a:extLst>
          </p:cNvPr>
          <p:cNvSpPr>
            <a:spLocks noGrp="1"/>
          </p:cNvSpPr>
          <p:nvPr>
            <p:ph type="title"/>
          </p:nvPr>
        </p:nvSpPr>
        <p:spPr>
          <a:xfrm>
            <a:off x="457200" y="381000"/>
            <a:ext cx="8229600" cy="1143000"/>
          </a:xfrm>
        </p:spPr>
        <p:txBody>
          <a:bodyPr>
            <a:normAutofit fontScale="90000"/>
          </a:bodyPr>
          <a:lstStyle/>
          <a:p>
            <a:r>
              <a:rPr lang="en-US" dirty="0"/>
              <a:t>Examples of Representing Relations Using Matrices (</a:t>
            </a:r>
            <a:r>
              <a:rPr lang="en-US" i="1" dirty="0"/>
              <a:t>cont.</a:t>
            </a:r>
            <a:r>
              <a:rPr lang="en-US" dirty="0"/>
              <a:t>)</a:t>
            </a:r>
          </a:p>
        </p:txBody>
      </p:sp>
      <p:sp>
        <p:nvSpPr>
          <p:cNvPr id="13" name="Content Placeholder 2">
            <a:extLst>
              <a:ext uri="{FF2B5EF4-FFF2-40B4-BE49-F238E27FC236}">
                <a16:creationId xmlns:a16="http://schemas.microsoft.com/office/drawing/2014/main" id="{0C1784D8-AE3F-AF59-8478-4427C07985B9}"/>
              </a:ext>
            </a:extLst>
          </p:cNvPr>
          <p:cNvSpPr txBox="1">
            <a:spLocks/>
          </p:cNvSpPr>
          <p:nvPr/>
        </p:nvSpPr>
        <p:spPr>
          <a:xfrm>
            <a:off x="457200" y="1612392"/>
            <a:ext cx="8229600" cy="4389120"/>
          </a:xfrm>
          <a:prstGeom prst="rect">
            <a:avLst/>
          </a:prstGeom>
          <a:solidFill>
            <a:schemeClr val="bg1"/>
          </a:solidFill>
        </p:spPr>
        <p:txBody>
          <a:bodyPr wrap="square" lIns="0" tIns="0" rIns="0" bIns="0">
            <a:normAutofit/>
          </a:bodyPr>
          <a:lstStyle>
            <a:lvl1pPr marL="0">
              <a:defRPr sz="1800" b="0" i="0">
                <a:solidFill>
                  <a:srgbClr val="404040"/>
                </a:solidFill>
                <a:latin typeface="Trebuchet MS"/>
                <a:ea typeface="+mn-ea"/>
                <a:cs typeface="Trebuchet M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dirty="0"/>
              <a:t>   Example </a:t>
            </a:r>
            <a:r>
              <a:rPr lang="en-US" sz="2000" b="1" dirty="0">
                <a:latin typeface="Cambria Math" pitchFamily="18" charset="0"/>
                <a:ea typeface="Cambria Math" pitchFamily="18" charset="0"/>
              </a:rPr>
              <a:t>3</a:t>
            </a:r>
            <a:r>
              <a:rPr lang="en-US" sz="2000" dirty="0"/>
              <a:t>: </a:t>
            </a:r>
            <a:r>
              <a:rPr lang="en-US" sz="2000" b="1" dirty="0"/>
              <a:t>Let </a:t>
            </a:r>
            <a:r>
              <a:rPr lang="en-US" sz="2000" b="1" i="1" dirty="0"/>
              <a:t>A</a:t>
            </a:r>
            <a:r>
              <a:rPr lang="en-US" sz="2000" b="1" dirty="0"/>
              <a:t> = {</a:t>
            </a:r>
            <a:r>
              <a:rPr lang="en-US" sz="2000" b="1" i="1" dirty="0"/>
              <a:t>a</a:t>
            </a:r>
            <a:r>
              <a:rPr lang="en-US" sz="2000" b="1" baseline="-25000" dirty="0">
                <a:latin typeface="Cambria Math" pitchFamily="18" charset="0"/>
                <a:ea typeface="Cambria Math" pitchFamily="18" charset="0"/>
              </a:rPr>
              <a:t>1</a:t>
            </a:r>
            <a:r>
              <a:rPr lang="en-US" sz="2000" b="1" dirty="0">
                <a:latin typeface="Cambria Math" pitchFamily="18" charset="0"/>
                <a:ea typeface="Cambria Math" pitchFamily="18" charset="0"/>
              </a:rPr>
              <a:t>,</a:t>
            </a:r>
            <a:r>
              <a:rPr lang="en-US" sz="2000" b="1" i="1" dirty="0">
                <a:ea typeface="Cambria Math" pitchFamily="18" charset="0"/>
              </a:rPr>
              <a:t>a</a:t>
            </a:r>
            <a:r>
              <a:rPr lang="en-US" sz="2000" b="1" baseline="-25000" dirty="0">
                <a:latin typeface="Cambria Math" pitchFamily="18" charset="0"/>
                <a:ea typeface="Cambria Math" pitchFamily="18" charset="0"/>
              </a:rPr>
              <a:t>2</a:t>
            </a:r>
            <a:r>
              <a:rPr lang="en-US" sz="2000" b="1" dirty="0">
                <a:latin typeface="Cambria Math" pitchFamily="18" charset="0"/>
                <a:ea typeface="Cambria Math" pitchFamily="18" charset="0"/>
              </a:rPr>
              <a:t>, </a:t>
            </a:r>
            <a:r>
              <a:rPr lang="en-US" sz="2000" b="1" i="1" dirty="0">
                <a:ea typeface="Cambria Math" pitchFamily="18" charset="0"/>
              </a:rPr>
              <a:t>a</a:t>
            </a:r>
            <a:r>
              <a:rPr lang="en-US" sz="2000" b="1" baseline="-25000" dirty="0">
                <a:latin typeface="Cambria Math" pitchFamily="18" charset="0"/>
                <a:ea typeface="Cambria Math" pitchFamily="18" charset="0"/>
              </a:rPr>
              <a:t>3</a:t>
            </a:r>
            <a:r>
              <a:rPr lang="en-US" sz="2000" b="1" dirty="0"/>
              <a:t>} and </a:t>
            </a:r>
            <a:r>
              <a:rPr lang="en-US" sz="2000" b="1" i="1" dirty="0"/>
              <a:t>B</a:t>
            </a:r>
            <a:r>
              <a:rPr lang="en-US" sz="2000" b="1" dirty="0"/>
              <a:t> = {</a:t>
            </a:r>
            <a:r>
              <a:rPr lang="en-US" sz="2000" b="1" i="1" dirty="0"/>
              <a:t>b</a:t>
            </a:r>
            <a:r>
              <a:rPr lang="en-US" sz="2000" b="1" baseline="-25000" dirty="0">
                <a:latin typeface="Cambria Math" pitchFamily="18" charset="0"/>
                <a:ea typeface="Cambria Math" pitchFamily="18" charset="0"/>
              </a:rPr>
              <a:t>1</a:t>
            </a:r>
            <a:r>
              <a:rPr lang="en-US" sz="2000" b="1" dirty="0">
                <a:latin typeface="Cambria Math" pitchFamily="18" charset="0"/>
                <a:ea typeface="Cambria Math" pitchFamily="18" charset="0"/>
              </a:rPr>
              <a:t>,</a:t>
            </a:r>
            <a:r>
              <a:rPr lang="en-US" sz="2000" b="1" i="1" dirty="0">
                <a:ea typeface="Cambria Math" pitchFamily="18" charset="0"/>
              </a:rPr>
              <a:t>b</a:t>
            </a:r>
            <a:r>
              <a:rPr lang="en-US" sz="2000" b="1" baseline="-25000" dirty="0">
                <a:latin typeface="Cambria Math" pitchFamily="18" charset="0"/>
                <a:ea typeface="Cambria Math" pitchFamily="18" charset="0"/>
              </a:rPr>
              <a:t>2</a:t>
            </a:r>
            <a:r>
              <a:rPr lang="en-US" sz="2000" b="1" dirty="0">
                <a:latin typeface="Cambria Math" pitchFamily="18" charset="0"/>
                <a:ea typeface="Cambria Math" pitchFamily="18" charset="0"/>
              </a:rPr>
              <a:t>, </a:t>
            </a:r>
            <a:r>
              <a:rPr lang="en-US" sz="2000" b="1" i="1" dirty="0">
                <a:ea typeface="Cambria Math" pitchFamily="18" charset="0"/>
              </a:rPr>
              <a:t>b</a:t>
            </a:r>
            <a:r>
              <a:rPr lang="en-US" sz="2000" b="1" baseline="-25000" dirty="0">
                <a:latin typeface="Cambria Math" pitchFamily="18" charset="0"/>
                <a:ea typeface="Cambria Math" pitchFamily="18" charset="0"/>
              </a:rPr>
              <a:t>3</a:t>
            </a:r>
            <a:r>
              <a:rPr lang="en-US" sz="2000" b="1" dirty="0">
                <a:latin typeface="Cambria Math" pitchFamily="18" charset="0"/>
                <a:ea typeface="Cambria Math" pitchFamily="18" charset="0"/>
              </a:rPr>
              <a:t>,</a:t>
            </a:r>
            <a:r>
              <a:rPr lang="en-US" sz="2000" b="1" i="1" dirty="0">
                <a:ea typeface="Cambria Math" pitchFamily="18" charset="0"/>
              </a:rPr>
              <a:t>b</a:t>
            </a:r>
            <a:r>
              <a:rPr lang="en-US" sz="2000" b="1" baseline="-25000" dirty="0">
                <a:latin typeface="Cambria Math" pitchFamily="18" charset="0"/>
                <a:ea typeface="Cambria Math" pitchFamily="18" charset="0"/>
              </a:rPr>
              <a:t>4</a:t>
            </a:r>
            <a:r>
              <a:rPr lang="en-US" sz="2000" b="1" dirty="0">
                <a:latin typeface="Cambria Math" pitchFamily="18" charset="0"/>
                <a:ea typeface="Cambria Math" pitchFamily="18" charset="0"/>
              </a:rPr>
              <a:t>, </a:t>
            </a:r>
            <a:r>
              <a:rPr lang="en-US" sz="2000" b="1" i="1" dirty="0">
                <a:ea typeface="Cambria Math" pitchFamily="18" charset="0"/>
              </a:rPr>
              <a:t>b</a:t>
            </a:r>
            <a:r>
              <a:rPr lang="en-US" sz="2000" b="1" baseline="-25000" dirty="0">
                <a:latin typeface="Cambria Math" pitchFamily="18" charset="0"/>
                <a:ea typeface="Cambria Math" pitchFamily="18" charset="0"/>
              </a:rPr>
              <a:t>5</a:t>
            </a:r>
            <a:r>
              <a:rPr lang="en-US" sz="2000" b="1" dirty="0"/>
              <a:t>}. Which ordered pairs are in the relation </a:t>
            </a:r>
            <a:r>
              <a:rPr lang="en-US" sz="2000" b="1" i="1" dirty="0"/>
              <a:t>R</a:t>
            </a:r>
            <a:r>
              <a:rPr lang="en-US" sz="2000" b="1" dirty="0"/>
              <a:t> represented by the matrix</a:t>
            </a:r>
          </a:p>
          <a:p>
            <a:endParaRPr lang="en-US" sz="2000" dirty="0"/>
          </a:p>
          <a:p>
            <a:endParaRPr lang="en-US" sz="2000" dirty="0"/>
          </a:p>
          <a:p>
            <a:endParaRPr lang="en-US" sz="2000" dirty="0"/>
          </a:p>
          <a:p>
            <a:r>
              <a:rPr lang="en-US" sz="2000" b="1" dirty="0"/>
              <a:t>    </a:t>
            </a:r>
          </a:p>
          <a:p>
            <a:endParaRPr lang="en-US" sz="2000" b="1" dirty="0"/>
          </a:p>
          <a:p>
            <a:endParaRPr lang="en-US" sz="2000" b="1" dirty="0"/>
          </a:p>
          <a:p>
            <a:endParaRPr lang="en-US" sz="2000" b="1" dirty="0"/>
          </a:p>
          <a:p>
            <a:endParaRPr lang="en-US" sz="2000" b="1" dirty="0"/>
          </a:p>
        </p:txBody>
      </p:sp>
      <p:pic>
        <p:nvPicPr>
          <p:cNvPr id="14" name="Picture 13" descr="addin_tmp.png">
            <a:extLst>
              <a:ext uri="{FF2B5EF4-FFF2-40B4-BE49-F238E27FC236}">
                <a16:creationId xmlns:a16="http://schemas.microsoft.com/office/drawing/2014/main" id="{06026F39-7ADA-D2D9-5B2D-A6A2A740AAA1}"/>
              </a:ext>
            </a:extLst>
          </p:cNvPr>
          <p:cNvPicPr>
            <a:picLocks noChangeAspect="1"/>
          </p:cNvPicPr>
          <p:nvPr>
            <p:custDataLst>
              <p:tags r:id="rId1"/>
            </p:custDataLst>
          </p:nvPr>
        </p:nvPicPr>
        <p:blipFill>
          <a:blip r:embed="rId3" cstate="print"/>
          <a:stretch>
            <a:fillRect/>
          </a:stretch>
        </p:blipFill>
        <p:spPr>
          <a:xfrm>
            <a:off x="2150022" y="2801112"/>
            <a:ext cx="4437468" cy="1313688"/>
          </a:xfrm>
          <a:prstGeom prst="rect">
            <a:avLst/>
          </a:prstGeom>
        </p:spPr>
      </p:pic>
      <p:sp>
        <p:nvSpPr>
          <p:cNvPr id="16" name="TextBox 15">
            <a:extLst>
              <a:ext uri="{FF2B5EF4-FFF2-40B4-BE49-F238E27FC236}">
                <a16:creationId xmlns:a16="http://schemas.microsoft.com/office/drawing/2014/main" id="{7D062DC4-9F97-C8D8-802D-E602F325608F}"/>
              </a:ext>
            </a:extLst>
          </p:cNvPr>
          <p:cNvSpPr txBox="1"/>
          <p:nvPr/>
        </p:nvSpPr>
        <p:spPr>
          <a:xfrm>
            <a:off x="228600" y="4680809"/>
            <a:ext cx="8686800" cy="769441"/>
          </a:xfrm>
          <a:prstGeom prst="rect">
            <a:avLst/>
          </a:prstGeom>
          <a:noFill/>
        </p:spPr>
        <p:txBody>
          <a:bodyPr wrap="square">
            <a:spAutoFit/>
          </a:bodyPr>
          <a:lstStyle/>
          <a:p>
            <a:r>
              <a:rPr lang="en-US" sz="2200" b="1" dirty="0">
                <a:solidFill>
                  <a:srgbClr val="0070C0"/>
                </a:solidFill>
              </a:rPr>
              <a:t>Solution:</a:t>
            </a:r>
            <a:endParaRPr lang="en-US" sz="2200" dirty="0">
              <a:solidFill>
                <a:srgbClr val="0070C0"/>
              </a:solidFill>
            </a:endParaRPr>
          </a:p>
          <a:p>
            <a:r>
              <a:rPr lang="en-US" sz="2200" i="1" dirty="0">
                <a:solidFill>
                  <a:srgbClr val="0070C0"/>
                </a:solidFill>
              </a:rPr>
              <a:t>          R </a:t>
            </a:r>
            <a:r>
              <a:rPr lang="en-US" sz="2200" dirty="0">
                <a:solidFill>
                  <a:srgbClr val="0070C0"/>
                </a:solidFill>
              </a:rPr>
              <a:t>= {(</a:t>
            </a:r>
            <a:r>
              <a:rPr lang="en-US" sz="2200" i="1" dirty="0">
                <a:solidFill>
                  <a:srgbClr val="0070C0"/>
                </a:solidFill>
              </a:rPr>
              <a:t>a</a:t>
            </a:r>
            <a:r>
              <a:rPr lang="en-US" sz="2200" baseline="-25000" dirty="0">
                <a:solidFill>
                  <a:srgbClr val="0070C0"/>
                </a:solidFill>
                <a:latin typeface="Cambria Math" pitchFamily="18" charset="0"/>
                <a:ea typeface="Cambria Math" pitchFamily="18" charset="0"/>
              </a:rPr>
              <a:t>1</a:t>
            </a:r>
            <a:r>
              <a:rPr lang="en-US" sz="2200" dirty="0">
                <a:solidFill>
                  <a:srgbClr val="0070C0"/>
                </a:solidFill>
                <a:latin typeface="Cambria Math" pitchFamily="18" charset="0"/>
                <a:ea typeface="Cambria Math" pitchFamily="18" charset="0"/>
              </a:rPr>
              <a:t>,</a:t>
            </a:r>
            <a:r>
              <a:rPr lang="en-US" sz="2200" i="1" dirty="0">
                <a:solidFill>
                  <a:srgbClr val="0070C0"/>
                </a:solidFill>
                <a:ea typeface="Cambria Math" pitchFamily="18" charset="0"/>
              </a:rPr>
              <a:t> b</a:t>
            </a:r>
            <a:r>
              <a:rPr lang="en-US" sz="2200" baseline="-25000" dirty="0">
                <a:solidFill>
                  <a:srgbClr val="0070C0"/>
                </a:solidFill>
                <a:latin typeface="Cambria Math" pitchFamily="18" charset="0"/>
                <a:ea typeface="Cambria Math" pitchFamily="18" charset="0"/>
              </a:rPr>
              <a:t>2</a:t>
            </a:r>
            <a:r>
              <a:rPr lang="en-US" sz="2200" dirty="0">
                <a:solidFill>
                  <a:srgbClr val="0070C0"/>
                </a:solidFill>
              </a:rPr>
              <a:t>), (</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2</a:t>
            </a:r>
            <a:r>
              <a:rPr lang="en-US" sz="2200" dirty="0">
                <a:solidFill>
                  <a:srgbClr val="0070C0"/>
                </a:solidFill>
                <a:latin typeface="Cambria Math" pitchFamily="18" charset="0"/>
                <a:ea typeface="Cambria Math" pitchFamily="18" charset="0"/>
              </a:rPr>
              <a:t>,</a:t>
            </a:r>
            <a:r>
              <a:rPr lang="en-US" sz="2200" i="1" dirty="0">
                <a:solidFill>
                  <a:srgbClr val="0070C0"/>
                </a:solidFill>
              </a:rPr>
              <a:t> b</a:t>
            </a:r>
            <a:r>
              <a:rPr lang="en-US" sz="2200" baseline="-25000" dirty="0">
                <a:solidFill>
                  <a:srgbClr val="0070C0"/>
                </a:solidFill>
                <a:latin typeface="Cambria Math" pitchFamily="18" charset="0"/>
                <a:ea typeface="Cambria Math" pitchFamily="18" charset="0"/>
              </a:rPr>
              <a:t>1</a:t>
            </a:r>
            <a:r>
              <a:rPr lang="en-US" sz="2200" dirty="0">
                <a:solidFill>
                  <a:srgbClr val="0070C0"/>
                </a:solidFill>
              </a:rPr>
              <a:t>),(</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2</a:t>
            </a:r>
            <a:r>
              <a:rPr lang="en-US" sz="2200" dirty="0">
                <a:solidFill>
                  <a:srgbClr val="0070C0"/>
                </a:solidFill>
                <a:latin typeface="Cambria Math" pitchFamily="18" charset="0"/>
                <a:ea typeface="Cambria Math" pitchFamily="18" charset="0"/>
              </a:rPr>
              <a:t>,</a:t>
            </a:r>
            <a:r>
              <a:rPr lang="en-US" sz="2200" i="1" dirty="0">
                <a:solidFill>
                  <a:srgbClr val="0070C0"/>
                </a:solidFill>
                <a:ea typeface="Cambria Math" pitchFamily="18" charset="0"/>
              </a:rPr>
              <a:t> b</a:t>
            </a:r>
            <a:r>
              <a:rPr lang="en-US" sz="2200" baseline="-25000" dirty="0">
                <a:solidFill>
                  <a:srgbClr val="0070C0"/>
                </a:solidFill>
                <a:latin typeface="Cambria Math" pitchFamily="18" charset="0"/>
                <a:ea typeface="Cambria Math" pitchFamily="18" charset="0"/>
              </a:rPr>
              <a:t>3</a:t>
            </a:r>
            <a:r>
              <a:rPr lang="en-US" sz="2200" dirty="0">
                <a:solidFill>
                  <a:srgbClr val="0070C0"/>
                </a:solidFill>
              </a:rPr>
              <a:t>), (</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2</a:t>
            </a:r>
            <a:r>
              <a:rPr lang="en-US" sz="2200" dirty="0">
                <a:solidFill>
                  <a:srgbClr val="0070C0"/>
                </a:solidFill>
                <a:latin typeface="Cambria Math" pitchFamily="18" charset="0"/>
                <a:ea typeface="Cambria Math" pitchFamily="18" charset="0"/>
              </a:rPr>
              <a:t>,</a:t>
            </a:r>
            <a:r>
              <a:rPr lang="en-US" sz="2200" i="1" dirty="0">
                <a:solidFill>
                  <a:srgbClr val="0070C0"/>
                </a:solidFill>
              </a:rPr>
              <a:t> b</a:t>
            </a:r>
            <a:r>
              <a:rPr lang="en-US" sz="2200" baseline="-25000" dirty="0">
                <a:solidFill>
                  <a:srgbClr val="0070C0"/>
                </a:solidFill>
                <a:latin typeface="Cambria Math" pitchFamily="18" charset="0"/>
                <a:ea typeface="Cambria Math" pitchFamily="18" charset="0"/>
              </a:rPr>
              <a:t>4</a:t>
            </a:r>
            <a:r>
              <a:rPr lang="en-US" sz="2200" dirty="0">
                <a:solidFill>
                  <a:srgbClr val="0070C0"/>
                </a:solidFill>
              </a:rPr>
              <a:t>),(</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3</a:t>
            </a:r>
            <a:r>
              <a:rPr lang="en-US" sz="2200" dirty="0">
                <a:solidFill>
                  <a:srgbClr val="0070C0"/>
                </a:solidFill>
                <a:latin typeface="Cambria Math" pitchFamily="18" charset="0"/>
                <a:ea typeface="Cambria Math" pitchFamily="18" charset="0"/>
              </a:rPr>
              <a:t>,</a:t>
            </a:r>
            <a:r>
              <a:rPr lang="en-US" sz="2200" i="1" dirty="0">
                <a:solidFill>
                  <a:srgbClr val="0070C0"/>
                </a:solidFill>
                <a:ea typeface="Cambria Math" pitchFamily="18" charset="0"/>
              </a:rPr>
              <a:t> b</a:t>
            </a:r>
            <a:r>
              <a:rPr lang="en-US" sz="2200" baseline="-25000" dirty="0">
                <a:solidFill>
                  <a:srgbClr val="0070C0"/>
                </a:solidFill>
                <a:latin typeface="Cambria Math" pitchFamily="18" charset="0"/>
                <a:ea typeface="Cambria Math" pitchFamily="18" charset="0"/>
              </a:rPr>
              <a:t>1</a:t>
            </a:r>
            <a:r>
              <a:rPr lang="en-US" sz="2200" dirty="0">
                <a:solidFill>
                  <a:srgbClr val="0070C0"/>
                </a:solidFill>
              </a:rPr>
              <a:t>), {(</a:t>
            </a:r>
            <a:r>
              <a:rPr lang="en-US" sz="2200" i="1" dirty="0">
                <a:solidFill>
                  <a:srgbClr val="0070C0"/>
                </a:solidFill>
              </a:rPr>
              <a:t>a</a:t>
            </a:r>
            <a:r>
              <a:rPr lang="en-US" sz="2200" baseline="-25000" dirty="0">
                <a:solidFill>
                  <a:srgbClr val="0070C0"/>
                </a:solidFill>
                <a:latin typeface="Cambria Math" pitchFamily="18" charset="0"/>
                <a:ea typeface="Cambria Math" pitchFamily="18" charset="0"/>
              </a:rPr>
              <a:t>3</a:t>
            </a:r>
            <a:r>
              <a:rPr lang="en-US" sz="2200" dirty="0">
                <a:solidFill>
                  <a:srgbClr val="0070C0"/>
                </a:solidFill>
                <a:latin typeface="Cambria Math" pitchFamily="18" charset="0"/>
                <a:ea typeface="Cambria Math" pitchFamily="18" charset="0"/>
              </a:rPr>
              <a:t>,</a:t>
            </a:r>
            <a:r>
              <a:rPr lang="en-US" sz="2200" i="1" dirty="0">
                <a:solidFill>
                  <a:srgbClr val="0070C0"/>
                </a:solidFill>
                <a:ea typeface="Cambria Math" pitchFamily="18" charset="0"/>
              </a:rPr>
              <a:t> b</a:t>
            </a:r>
            <a:r>
              <a:rPr lang="en-US" sz="2200" baseline="-25000" dirty="0">
                <a:solidFill>
                  <a:srgbClr val="0070C0"/>
                </a:solidFill>
                <a:latin typeface="Cambria Math" pitchFamily="18" charset="0"/>
                <a:ea typeface="Cambria Math" pitchFamily="18" charset="0"/>
              </a:rPr>
              <a:t>3</a:t>
            </a:r>
            <a:r>
              <a:rPr lang="en-US" sz="2200" dirty="0">
                <a:solidFill>
                  <a:srgbClr val="0070C0"/>
                </a:solidFill>
              </a:rPr>
              <a:t>), (</a:t>
            </a:r>
            <a:r>
              <a:rPr lang="en-US" sz="2200" i="1" dirty="0">
                <a:solidFill>
                  <a:srgbClr val="0070C0"/>
                </a:solidFill>
                <a:ea typeface="Cambria Math" pitchFamily="18" charset="0"/>
              </a:rPr>
              <a:t>a</a:t>
            </a:r>
            <a:r>
              <a:rPr lang="en-US" sz="2200" baseline="-25000" dirty="0">
                <a:solidFill>
                  <a:srgbClr val="0070C0"/>
                </a:solidFill>
                <a:latin typeface="Cambria Math" pitchFamily="18" charset="0"/>
                <a:ea typeface="Cambria Math" pitchFamily="18" charset="0"/>
              </a:rPr>
              <a:t>3</a:t>
            </a:r>
            <a:r>
              <a:rPr lang="en-US" sz="2200" dirty="0">
                <a:solidFill>
                  <a:srgbClr val="0070C0"/>
                </a:solidFill>
                <a:latin typeface="Cambria Math" pitchFamily="18" charset="0"/>
                <a:ea typeface="Cambria Math" pitchFamily="18" charset="0"/>
              </a:rPr>
              <a:t>,</a:t>
            </a:r>
            <a:r>
              <a:rPr lang="en-US" sz="2200" i="1" dirty="0">
                <a:solidFill>
                  <a:srgbClr val="0070C0"/>
                </a:solidFill>
              </a:rPr>
              <a:t> b</a:t>
            </a:r>
            <a:r>
              <a:rPr lang="en-US" sz="2200" baseline="-25000" dirty="0">
                <a:solidFill>
                  <a:srgbClr val="0070C0"/>
                </a:solidFill>
                <a:latin typeface="Cambria Math" pitchFamily="18" charset="0"/>
                <a:ea typeface="Cambria Math" pitchFamily="18" charset="0"/>
              </a:rPr>
              <a:t>5</a:t>
            </a:r>
            <a:r>
              <a:rPr lang="en-US" sz="2200" dirty="0">
                <a:solidFill>
                  <a:srgbClr val="0070C0"/>
                </a:solidFill>
              </a:rPr>
              <a:t>)}. </a:t>
            </a:r>
          </a:p>
        </p:txBody>
      </p:sp>
    </p:spTree>
    <p:extLst>
      <p:ext uri="{BB962C8B-B14F-4D97-AF65-F5344CB8AC3E}">
        <p14:creationId xmlns:p14="http://schemas.microsoft.com/office/powerpoint/2010/main" val="213195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79C458-1D52-AFDF-E6AC-9BB82B8B83FF}"/>
              </a:ext>
            </a:extLst>
          </p:cNvPr>
          <p:cNvSpPr txBox="1">
            <a:spLocks/>
          </p:cNvSpPr>
          <p:nvPr/>
        </p:nvSpPr>
        <p:spPr>
          <a:xfrm>
            <a:off x="457200" y="704088"/>
            <a:ext cx="8229600" cy="1143000"/>
          </a:xfrm>
          <a:prstGeom prst="rect">
            <a:avLst/>
          </a:prstGeom>
        </p:spPr>
        <p:txBody>
          <a:bodyPr/>
          <a:lstStyle>
            <a:lvl1pPr>
              <a:defRPr>
                <a:latin typeface="+mj-lt"/>
                <a:ea typeface="+mj-ea"/>
                <a:cs typeface="+mj-cs"/>
              </a:defRPr>
            </a:lvl1pPr>
          </a:lstStyle>
          <a:p>
            <a:r>
              <a:rPr lang="en-US" sz="3200" b="1" dirty="0">
                <a:solidFill>
                  <a:srgbClr val="00B050"/>
                </a:solidFill>
              </a:rPr>
              <a:t>Matrices of Relations on Sets</a:t>
            </a:r>
          </a:p>
        </p:txBody>
      </p:sp>
      <p:sp>
        <p:nvSpPr>
          <p:cNvPr id="7" name="Content Placeholder 2">
            <a:extLst>
              <a:ext uri="{FF2B5EF4-FFF2-40B4-BE49-F238E27FC236}">
                <a16:creationId xmlns:a16="http://schemas.microsoft.com/office/drawing/2014/main" id="{86453701-8A9E-9368-9B52-608E537DEEE5}"/>
              </a:ext>
            </a:extLst>
          </p:cNvPr>
          <p:cNvSpPr txBox="1">
            <a:spLocks/>
          </p:cNvSpPr>
          <p:nvPr/>
        </p:nvSpPr>
        <p:spPr>
          <a:xfrm>
            <a:off x="434472" y="1471041"/>
            <a:ext cx="7337928" cy="4389120"/>
          </a:xfrm>
          <a:prstGeom prst="rect">
            <a:avLst/>
          </a:prstGeom>
          <a:solidFill>
            <a:schemeClr val="bg1"/>
          </a:solidFill>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3200" dirty="0">
                <a:solidFill>
                  <a:srgbClr val="CC0066"/>
                </a:solidFill>
              </a:rPr>
              <a:t>If </a:t>
            </a:r>
            <a:r>
              <a:rPr lang="en-US" sz="3200" b="1" i="1" dirty="0">
                <a:solidFill>
                  <a:srgbClr val="CC0066"/>
                </a:solidFill>
              </a:rPr>
              <a:t>R</a:t>
            </a:r>
            <a:r>
              <a:rPr lang="en-US" sz="3200" dirty="0">
                <a:solidFill>
                  <a:srgbClr val="CC0066"/>
                </a:solidFill>
              </a:rPr>
              <a:t> is a </a:t>
            </a:r>
            <a:r>
              <a:rPr lang="en-US" sz="3200" b="1" dirty="0">
                <a:solidFill>
                  <a:srgbClr val="CC0066"/>
                </a:solidFill>
              </a:rPr>
              <a:t>reflexive relation</a:t>
            </a:r>
            <a:r>
              <a:rPr lang="en-US" sz="3200" dirty="0">
                <a:solidFill>
                  <a:srgbClr val="CC0066"/>
                </a:solidFill>
              </a:rPr>
              <a:t>, all the elements on the main diagonal of </a:t>
            </a:r>
            <a:r>
              <a:rPr lang="en-US" sz="3200" b="1" i="1" dirty="0">
                <a:solidFill>
                  <a:srgbClr val="CC0066"/>
                </a:solidFill>
              </a:rPr>
              <a:t>M</a:t>
            </a:r>
            <a:r>
              <a:rPr lang="en-US" sz="3200" b="1" i="1" baseline="-25000" dirty="0">
                <a:solidFill>
                  <a:srgbClr val="CC0066"/>
                </a:solidFill>
              </a:rPr>
              <a:t>R</a:t>
            </a:r>
            <a:r>
              <a:rPr lang="en-US" sz="3200" dirty="0">
                <a:solidFill>
                  <a:srgbClr val="CC0066"/>
                </a:solidFill>
              </a:rPr>
              <a:t> are equal to </a:t>
            </a:r>
            <a:r>
              <a:rPr lang="en-US" sz="3200" b="1" dirty="0">
                <a:solidFill>
                  <a:srgbClr val="CC0066"/>
                </a:solidFill>
                <a:latin typeface="Cambria Math" pitchFamily="18" charset="0"/>
                <a:ea typeface="Cambria Math" pitchFamily="18" charset="0"/>
              </a:rPr>
              <a:t>1</a:t>
            </a:r>
            <a:r>
              <a:rPr lang="en-US" sz="3200" dirty="0">
                <a:solidFill>
                  <a:srgbClr val="CC0066"/>
                </a:solidFill>
              </a:rPr>
              <a:t>.</a:t>
            </a:r>
          </a:p>
          <a:p>
            <a:endParaRPr lang="en-US" sz="3200" dirty="0"/>
          </a:p>
          <a:p>
            <a:endParaRPr lang="en-US" sz="3200" dirty="0"/>
          </a:p>
        </p:txBody>
      </p:sp>
      <p:pic>
        <p:nvPicPr>
          <p:cNvPr id="11" name="Picture 10">
            <a:extLst>
              <a:ext uri="{FF2B5EF4-FFF2-40B4-BE49-F238E27FC236}">
                <a16:creationId xmlns:a16="http://schemas.microsoft.com/office/drawing/2014/main" id="{FEEF7ED4-91B3-1D96-BA94-62F59827DA4C}"/>
              </a:ext>
            </a:extLst>
          </p:cNvPr>
          <p:cNvPicPr>
            <a:picLocks noChangeAspect="1"/>
          </p:cNvPicPr>
          <p:nvPr/>
        </p:nvPicPr>
        <p:blipFill>
          <a:blip r:embed="rId2"/>
          <a:stretch>
            <a:fillRect/>
          </a:stretch>
        </p:blipFill>
        <p:spPr>
          <a:xfrm>
            <a:off x="3556699" y="2895600"/>
            <a:ext cx="4215701" cy="3559277"/>
          </a:xfrm>
          <a:prstGeom prst="rect">
            <a:avLst/>
          </a:prstGeom>
        </p:spPr>
      </p:pic>
    </p:spTree>
    <p:extLst>
      <p:ext uri="{BB962C8B-B14F-4D97-AF65-F5344CB8AC3E}">
        <p14:creationId xmlns:p14="http://schemas.microsoft.com/office/powerpoint/2010/main" val="2698078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79C458-1D52-AFDF-E6AC-9BB82B8B83FF}"/>
              </a:ext>
            </a:extLst>
          </p:cNvPr>
          <p:cNvSpPr txBox="1">
            <a:spLocks/>
          </p:cNvSpPr>
          <p:nvPr/>
        </p:nvSpPr>
        <p:spPr>
          <a:xfrm>
            <a:off x="457200" y="704088"/>
            <a:ext cx="8229600" cy="1143000"/>
          </a:xfrm>
          <a:prstGeom prst="rect">
            <a:avLst/>
          </a:prstGeom>
        </p:spPr>
        <p:txBody>
          <a:bodyPr/>
          <a:lstStyle>
            <a:lvl1pPr>
              <a:defRPr>
                <a:latin typeface="+mj-lt"/>
                <a:ea typeface="+mj-ea"/>
                <a:cs typeface="+mj-cs"/>
              </a:defRPr>
            </a:lvl1pPr>
          </a:lstStyle>
          <a:p>
            <a:r>
              <a:rPr lang="en-US" sz="3200" b="1" dirty="0">
                <a:solidFill>
                  <a:srgbClr val="00B050"/>
                </a:solidFill>
              </a:rPr>
              <a:t>Matrices of Relations on Sets</a:t>
            </a:r>
          </a:p>
        </p:txBody>
      </p:sp>
      <p:sp>
        <p:nvSpPr>
          <p:cNvPr id="7" name="Content Placeholder 2">
            <a:extLst>
              <a:ext uri="{FF2B5EF4-FFF2-40B4-BE49-F238E27FC236}">
                <a16:creationId xmlns:a16="http://schemas.microsoft.com/office/drawing/2014/main" id="{86453701-8A9E-9368-9B52-608E537DEEE5}"/>
              </a:ext>
            </a:extLst>
          </p:cNvPr>
          <p:cNvSpPr txBox="1">
            <a:spLocks/>
          </p:cNvSpPr>
          <p:nvPr/>
        </p:nvSpPr>
        <p:spPr>
          <a:xfrm>
            <a:off x="434472" y="1471041"/>
            <a:ext cx="8252328" cy="4389120"/>
          </a:xfrm>
          <a:prstGeom prst="rect">
            <a:avLst/>
          </a:prstGeom>
          <a:solidFill>
            <a:schemeClr val="bg1"/>
          </a:solidFill>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b="1" i="1" dirty="0">
                <a:solidFill>
                  <a:srgbClr val="0070C0"/>
                </a:solidFill>
              </a:rPr>
              <a:t>R</a:t>
            </a:r>
            <a:r>
              <a:rPr lang="en-US" sz="2800" dirty="0">
                <a:solidFill>
                  <a:srgbClr val="0070C0"/>
                </a:solidFill>
              </a:rPr>
              <a:t> is a </a:t>
            </a:r>
            <a:r>
              <a:rPr lang="en-US" sz="2800" b="1" dirty="0">
                <a:solidFill>
                  <a:srgbClr val="0070C0"/>
                </a:solidFill>
              </a:rPr>
              <a:t>symmetric relation </a:t>
            </a:r>
            <a:br>
              <a:rPr lang="en-US" sz="2800" b="1" dirty="0">
                <a:solidFill>
                  <a:srgbClr val="0070C0"/>
                </a:solidFill>
              </a:rPr>
            </a:br>
            <a:r>
              <a:rPr lang="en-US" sz="2800" b="1" dirty="0">
                <a:solidFill>
                  <a:srgbClr val="0070C0"/>
                </a:solidFill>
              </a:rPr>
              <a:t>If aᵢ is related to aⱼ, then aⱼ is related to aᵢ.</a:t>
            </a:r>
          </a:p>
          <a:p>
            <a:endParaRPr lang="en-US" sz="2800" b="1" dirty="0">
              <a:solidFill>
                <a:srgbClr val="7030A0"/>
              </a:solidFill>
            </a:endParaRPr>
          </a:p>
          <a:p>
            <a:r>
              <a:rPr lang="en-US" sz="2800" b="1" dirty="0">
                <a:solidFill>
                  <a:srgbClr val="7030A0"/>
                </a:solidFill>
              </a:rPr>
              <a:t>In the matrix:</a:t>
            </a:r>
            <a:br>
              <a:rPr lang="en-US" sz="2800" dirty="0">
                <a:solidFill>
                  <a:srgbClr val="7030A0"/>
                </a:solidFill>
              </a:rPr>
            </a:br>
            <a:r>
              <a:rPr lang="en-US" sz="2800" dirty="0">
                <a:solidFill>
                  <a:srgbClr val="7030A0"/>
                </a:solidFill>
              </a:rPr>
              <a:t>If position (</a:t>
            </a:r>
            <a:r>
              <a:rPr lang="en-US" sz="2800" dirty="0" err="1">
                <a:solidFill>
                  <a:srgbClr val="7030A0"/>
                </a:solidFill>
              </a:rPr>
              <a:t>i</a:t>
            </a:r>
            <a:r>
              <a:rPr lang="en-US" sz="2800" dirty="0">
                <a:solidFill>
                  <a:srgbClr val="7030A0"/>
                </a:solidFill>
              </a:rPr>
              <a:t>, j) is 1, then position (j, </a:t>
            </a:r>
            <a:r>
              <a:rPr lang="en-US" sz="2800" dirty="0" err="1">
                <a:solidFill>
                  <a:srgbClr val="7030A0"/>
                </a:solidFill>
              </a:rPr>
              <a:t>i</a:t>
            </a:r>
            <a:r>
              <a:rPr lang="en-US" sz="2800" dirty="0">
                <a:solidFill>
                  <a:srgbClr val="7030A0"/>
                </a:solidFill>
              </a:rPr>
              <a:t>) must also be 1.</a:t>
            </a:r>
          </a:p>
          <a:p>
            <a:r>
              <a:rPr lang="en-US" sz="2800" dirty="0">
                <a:solidFill>
                  <a:srgbClr val="7030A0"/>
                </a:solidFill>
              </a:rPr>
              <a:t>So the matrix looks mirrored across the diagonal.</a:t>
            </a:r>
          </a:p>
          <a:p>
            <a:endParaRPr lang="en-US" sz="2800" dirty="0"/>
          </a:p>
          <a:p>
            <a:r>
              <a:rPr lang="en-US" sz="2800" dirty="0">
                <a:solidFill>
                  <a:srgbClr val="CC0066"/>
                </a:solidFill>
              </a:rPr>
              <a:t> </a:t>
            </a:r>
            <a:r>
              <a:rPr lang="en-US" sz="2800" b="1" i="1" dirty="0">
                <a:solidFill>
                  <a:srgbClr val="CC0066"/>
                </a:solidFill>
              </a:rPr>
              <a:t>R</a:t>
            </a:r>
            <a:r>
              <a:rPr lang="en-US" sz="2800" dirty="0">
                <a:solidFill>
                  <a:srgbClr val="CC0066"/>
                </a:solidFill>
              </a:rPr>
              <a:t> is a </a:t>
            </a:r>
            <a:r>
              <a:rPr lang="en-US" sz="2800" b="1" dirty="0">
                <a:solidFill>
                  <a:srgbClr val="CC0066"/>
                </a:solidFill>
              </a:rPr>
              <a:t>symmetric relation</a:t>
            </a:r>
            <a:r>
              <a:rPr lang="en-US" sz="2800" dirty="0">
                <a:solidFill>
                  <a:srgbClr val="CC0066"/>
                </a:solidFill>
              </a:rPr>
              <a:t>, </a:t>
            </a:r>
          </a:p>
          <a:p>
            <a:r>
              <a:rPr lang="en-US" sz="2800" dirty="0">
                <a:solidFill>
                  <a:srgbClr val="CC0066"/>
                </a:solidFill>
              </a:rPr>
              <a:t>if and only if </a:t>
            </a:r>
            <a:r>
              <a:rPr lang="en-US" sz="2800" i="1" dirty="0" err="1">
                <a:solidFill>
                  <a:srgbClr val="CC0066"/>
                </a:solidFill>
              </a:rPr>
              <a:t>m</a:t>
            </a:r>
            <a:r>
              <a:rPr lang="en-US" sz="2800" i="1" baseline="-25000" dirty="0" err="1">
                <a:solidFill>
                  <a:srgbClr val="CC0066"/>
                </a:solidFill>
              </a:rPr>
              <a:t>ij</a:t>
            </a:r>
            <a:r>
              <a:rPr lang="en-US" sz="2800" dirty="0">
                <a:solidFill>
                  <a:srgbClr val="CC0066"/>
                </a:solidFill>
              </a:rPr>
              <a:t> = </a:t>
            </a:r>
            <a:r>
              <a:rPr lang="en-US" sz="2800" b="1" dirty="0">
                <a:solidFill>
                  <a:srgbClr val="CC0066"/>
                </a:solidFill>
                <a:latin typeface="Cambria Math" pitchFamily="18" charset="0"/>
                <a:ea typeface="Cambria Math" pitchFamily="18" charset="0"/>
              </a:rPr>
              <a:t>1</a:t>
            </a:r>
            <a:r>
              <a:rPr lang="en-US" sz="2800" dirty="0">
                <a:solidFill>
                  <a:srgbClr val="CC0066"/>
                </a:solidFill>
                <a:latin typeface="Cambria Math" pitchFamily="18" charset="0"/>
                <a:ea typeface="Cambria Math" pitchFamily="18" charset="0"/>
              </a:rPr>
              <a:t> </a:t>
            </a:r>
            <a:r>
              <a:rPr lang="en-US" sz="2800" dirty="0">
                <a:solidFill>
                  <a:srgbClr val="CC0066"/>
                </a:solidFill>
              </a:rPr>
              <a:t>whenever </a:t>
            </a:r>
            <a:r>
              <a:rPr lang="en-US" sz="2800" i="1" dirty="0" err="1">
                <a:solidFill>
                  <a:srgbClr val="CC0066"/>
                </a:solidFill>
              </a:rPr>
              <a:t>m</a:t>
            </a:r>
            <a:r>
              <a:rPr lang="en-US" sz="2800" i="1" baseline="-25000" dirty="0" err="1">
                <a:solidFill>
                  <a:srgbClr val="CC0066"/>
                </a:solidFill>
              </a:rPr>
              <a:t>ji</a:t>
            </a:r>
            <a:r>
              <a:rPr lang="en-US" sz="2800" dirty="0">
                <a:solidFill>
                  <a:srgbClr val="CC0066"/>
                </a:solidFill>
              </a:rPr>
              <a:t> = </a:t>
            </a:r>
            <a:r>
              <a:rPr lang="en-US" sz="2800" b="1" dirty="0">
                <a:solidFill>
                  <a:srgbClr val="CC0066"/>
                </a:solidFill>
                <a:latin typeface="Cambria Math" pitchFamily="18" charset="0"/>
                <a:ea typeface="Cambria Math" pitchFamily="18" charset="0"/>
              </a:rPr>
              <a:t>1</a:t>
            </a:r>
            <a:r>
              <a:rPr lang="en-US" sz="2800" dirty="0">
                <a:solidFill>
                  <a:srgbClr val="CC0066"/>
                </a:solidFill>
              </a:rPr>
              <a:t>. </a:t>
            </a:r>
          </a:p>
          <a:p>
            <a:endParaRPr lang="en-US" sz="2800" i="1" dirty="0"/>
          </a:p>
          <a:p>
            <a:endParaRPr lang="en-US" sz="2800" dirty="0"/>
          </a:p>
        </p:txBody>
      </p:sp>
      <p:pic>
        <p:nvPicPr>
          <p:cNvPr id="9" name="Content Placeholder 5" descr="0804.jpg">
            <a:extLst>
              <a:ext uri="{FF2B5EF4-FFF2-40B4-BE49-F238E27FC236}">
                <a16:creationId xmlns:a16="http://schemas.microsoft.com/office/drawing/2014/main" id="{0DD54CA0-F888-926E-2EC2-26675FF89835}"/>
              </a:ext>
            </a:extLst>
          </p:cNvPr>
          <p:cNvPicPr>
            <a:picLocks noChangeAspect="1"/>
          </p:cNvPicPr>
          <p:nvPr/>
        </p:nvPicPr>
        <p:blipFill rotWithShape="1">
          <a:blip r:embed="rId2" cstate="print"/>
          <a:srcRect r="49081"/>
          <a:stretch/>
        </p:blipFill>
        <p:spPr>
          <a:xfrm>
            <a:off x="6597807" y="4114800"/>
            <a:ext cx="2341280" cy="2317127"/>
          </a:xfrm>
          <a:prstGeom prst="rect">
            <a:avLst/>
          </a:prstGeom>
        </p:spPr>
      </p:pic>
    </p:spTree>
    <p:extLst>
      <p:ext uri="{BB962C8B-B14F-4D97-AF65-F5344CB8AC3E}">
        <p14:creationId xmlns:p14="http://schemas.microsoft.com/office/powerpoint/2010/main" val="2639422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79C458-1D52-AFDF-E6AC-9BB82B8B83FF}"/>
              </a:ext>
            </a:extLst>
          </p:cNvPr>
          <p:cNvSpPr txBox="1">
            <a:spLocks/>
          </p:cNvSpPr>
          <p:nvPr/>
        </p:nvSpPr>
        <p:spPr>
          <a:xfrm>
            <a:off x="457200" y="704088"/>
            <a:ext cx="8229600" cy="1143000"/>
          </a:xfrm>
          <a:prstGeom prst="rect">
            <a:avLst/>
          </a:prstGeom>
        </p:spPr>
        <p:txBody>
          <a:bodyPr/>
          <a:lstStyle>
            <a:lvl1pPr>
              <a:defRPr>
                <a:latin typeface="+mj-lt"/>
                <a:ea typeface="+mj-ea"/>
                <a:cs typeface="+mj-cs"/>
              </a:defRPr>
            </a:lvl1pPr>
          </a:lstStyle>
          <a:p>
            <a:r>
              <a:rPr lang="en-US" sz="3200" b="1" dirty="0">
                <a:solidFill>
                  <a:srgbClr val="00B050"/>
                </a:solidFill>
              </a:rPr>
              <a:t>Matrices of Relations on Sets</a:t>
            </a:r>
          </a:p>
        </p:txBody>
      </p:sp>
      <p:pic>
        <p:nvPicPr>
          <p:cNvPr id="9" name="Content Placeholder 5" descr="0804.jpg">
            <a:extLst>
              <a:ext uri="{FF2B5EF4-FFF2-40B4-BE49-F238E27FC236}">
                <a16:creationId xmlns:a16="http://schemas.microsoft.com/office/drawing/2014/main" id="{0DD54CA0-F888-926E-2EC2-26675FF89835}"/>
              </a:ext>
            </a:extLst>
          </p:cNvPr>
          <p:cNvPicPr>
            <a:picLocks noChangeAspect="1"/>
          </p:cNvPicPr>
          <p:nvPr/>
        </p:nvPicPr>
        <p:blipFill rotWithShape="1">
          <a:blip r:embed="rId2" cstate="print"/>
          <a:srcRect l="52756"/>
          <a:stretch/>
        </p:blipFill>
        <p:spPr>
          <a:xfrm>
            <a:off x="3200400" y="4114800"/>
            <a:ext cx="2428883" cy="2590800"/>
          </a:xfrm>
          <a:prstGeom prst="rect">
            <a:avLst/>
          </a:prstGeom>
        </p:spPr>
      </p:pic>
      <p:sp>
        <p:nvSpPr>
          <p:cNvPr id="3" name="Rectangle 2">
            <a:extLst>
              <a:ext uri="{FF2B5EF4-FFF2-40B4-BE49-F238E27FC236}">
                <a16:creationId xmlns:a16="http://schemas.microsoft.com/office/drawing/2014/main" id="{512EBCBA-3916-2D9A-7974-A1FE59F0056A}"/>
              </a:ext>
            </a:extLst>
          </p:cNvPr>
          <p:cNvSpPr>
            <a:spLocks noChangeArrowheads="1"/>
          </p:cNvSpPr>
          <p:nvPr/>
        </p:nvSpPr>
        <p:spPr bwMode="auto">
          <a:xfrm>
            <a:off x="457199" y="1275588"/>
            <a:ext cx="8534401"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800" b="0" i="0" u="none" strike="noStrike" cap="none" normalizeH="0" baseline="0" dirty="0">
                <a:ln>
                  <a:noFill/>
                </a:ln>
                <a:solidFill>
                  <a:srgbClr val="002060"/>
                </a:solidFill>
                <a:effectLst/>
                <a:latin typeface="+mn-lt"/>
              </a:rPr>
              <a:t>The </a:t>
            </a:r>
            <a:r>
              <a:rPr kumimoji="0" lang="en-US" altLang="en-US" sz="2800" b="1" i="0" u="none" strike="noStrike" cap="none" normalizeH="0" baseline="0" dirty="0">
                <a:ln>
                  <a:noFill/>
                </a:ln>
                <a:solidFill>
                  <a:srgbClr val="002060"/>
                </a:solidFill>
                <a:effectLst/>
                <a:latin typeface="+mn-lt"/>
              </a:rPr>
              <a:t>matrix of an antisymmetric relation</a:t>
            </a:r>
            <a:r>
              <a:rPr kumimoji="0" lang="en-US" altLang="en-US" sz="2800" b="0" i="0" u="none" strike="noStrike" cap="none" normalizeH="0" baseline="0" dirty="0">
                <a:ln>
                  <a:noFill/>
                </a:ln>
                <a:solidFill>
                  <a:srgbClr val="002060"/>
                </a:solidFill>
                <a:effectLst/>
                <a:latin typeface="+mn-lt"/>
              </a:rPr>
              <a:t> has the property that if 𝑚</a:t>
            </a:r>
            <a:r>
              <a:rPr kumimoji="0" lang="en-US" altLang="en-US" sz="2000" b="0" i="0" u="none" strike="noStrike" cap="none" normalizeH="0" baseline="0" dirty="0">
                <a:ln>
                  <a:noFill/>
                </a:ln>
                <a:solidFill>
                  <a:srgbClr val="002060"/>
                </a:solidFill>
                <a:effectLst/>
                <a:latin typeface="+mn-lt"/>
              </a:rPr>
              <a:t>𝑖𝑗</a:t>
            </a:r>
            <a:r>
              <a:rPr kumimoji="0" lang="en-US" altLang="en-US" sz="2800" b="0" i="0" u="none" strike="noStrike" cap="none" normalizeH="0" baseline="0" dirty="0">
                <a:ln>
                  <a:noFill/>
                </a:ln>
                <a:solidFill>
                  <a:srgbClr val="002060"/>
                </a:solidFill>
                <a:effectLst/>
                <a:latin typeface="+mn-lt"/>
              </a:rPr>
              <a:t>=1 with 𝑖≠𝑗, then 𝑚</a:t>
            </a:r>
            <a:r>
              <a:rPr kumimoji="0" lang="en-US" altLang="en-US" sz="2000" b="0" i="0" u="none" strike="noStrike" cap="none" normalizeH="0" baseline="0" dirty="0">
                <a:ln>
                  <a:noFill/>
                </a:ln>
                <a:solidFill>
                  <a:srgbClr val="002060"/>
                </a:solidFill>
                <a:effectLst/>
                <a:latin typeface="+mn-lt"/>
              </a:rPr>
              <a:t>𝑗𝑖</a:t>
            </a:r>
            <a:r>
              <a:rPr kumimoji="0" lang="en-US" altLang="en-US" sz="2800" b="0" i="0" u="none" strike="noStrike" cap="none" normalizeH="0" baseline="0" dirty="0">
                <a:ln>
                  <a:noFill/>
                </a:ln>
                <a:solidFill>
                  <a:srgbClr val="002060"/>
                </a:solidFill>
                <a:effectLst/>
                <a:latin typeface="+mn-lt"/>
              </a:rPr>
              <a:t>=0	​</a:t>
            </a:r>
            <a:endParaRPr lang="en-US" altLang="en-US" sz="2800" dirty="0">
              <a:solidFill>
                <a:srgbClr val="0070C0"/>
              </a:solidFill>
              <a:latin typeface="+mn-lt"/>
            </a:endParaRPr>
          </a:p>
          <a:p>
            <a:pPr eaLnBrk="0" fontAlgn="base" hangingPunct="0">
              <a:spcBef>
                <a:spcPct val="0"/>
              </a:spcBef>
              <a:spcAft>
                <a:spcPct val="0"/>
              </a:spcAft>
            </a:pPr>
            <a:r>
              <a:rPr kumimoji="0" lang="en-US" altLang="en-US" sz="2800" b="0" i="0" u="none" strike="noStrike" cap="none" normalizeH="0" baseline="0" dirty="0">
                <a:ln>
                  <a:noFill/>
                </a:ln>
                <a:solidFill>
                  <a:srgbClr val="7030A0"/>
                </a:solidFill>
                <a:effectLst/>
                <a:latin typeface="+mn-lt"/>
              </a:rPr>
              <a:t>OR Either 𝑚</a:t>
            </a:r>
            <a:r>
              <a:rPr kumimoji="0" lang="en-US" altLang="en-US" sz="2000" b="0" i="0" u="none" strike="noStrike" cap="none" normalizeH="0" baseline="0" dirty="0">
                <a:ln>
                  <a:noFill/>
                </a:ln>
                <a:solidFill>
                  <a:srgbClr val="7030A0"/>
                </a:solidFill>
                <a:effectLst/>
                <a:latin typeface="+mn-lt"/>
              </a:rPr>
              <a:t>𝑖𝑗</a:t>
            </a:r>
            <a:r>
              <a:rPr kumimoji="0" lang="en-US" altLang="en-US" sz="2800" b="0" i="0" u="none" strike="noStrike" cap="none" normalizeH="0" baseline="0" dirty="0">
                <a:ln>
                  <a:noFill/>
                </a:ln>
                <a:solidFill>
                  <a:srgbClr val="7030A0"/>
                </a:solidFill>
                <a:effectLst/>
                <a:latin typeface="+mn-lt"/>
              </a:rPr>
              <a:t>=0 or 𝑚</a:t>
            </a:r>
            <a:r>
              <a:rPr kumimoji="0" lang="en-US" altLang="en-US" sz="2000" b="0" i="0" u="none" strike="noStrike" cap="none" normalizeH="0" baseline="0" dirty="0">
                <a:ln>
                  <a:noFill/>
                </a:ln>
                <a:solidFill>
                  <a:srgbClr val="7030A0"/>
                </a:solidFill>
                <a:effectLst/>
                <a:latin typeface="+mn-lt"/>
              </a:rPr>
              <a:t>𝑗𝑖</a:t>
            </a:r>
            <a:r>
              <a:rPr kumimoji="0" lang="en-US" altLang="en-US" sz="2800" b="0" i="0" u="none" strike="noStrike" cap="none" normalizeH="0" baseline="0" dirty="0">
                <a:ln>
                  <a:noFill/>
                </a:ln>
                <a:solidFill>
                  <a:srgbClr val="7030A0"/>
                </a:solidFill>
                <a:effectLst/>
                <a:latin typeface="+mn-lt"/>
              </a:rPr>
              <a:t>=0 when 𝑖≠𝑗</a:t>
            </a:r>
          </a:p>
          <a:p>
            <a:pPr lvl="2" algn="l" rtl="0" eaLnBrk="0" fontAlgn="base" hangingPunct="0">
              <a:spcBef>
                <a:spcPct val="0"/>
              </a:spcBef>
              <a:spcAft>
                <a:spcPct val="0"/>
              </a:spcAft>
            </a:pPr>
            <a:endParaRPr lang="en-US" altLang="en-US" sz="2800" dirty="0">
              <a:solidFill>
                <a:srgbClr val="7030A0"/>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CC0066"/>
                </a:solidFill>
                <a:effectLst/>
                <a:latin typeface="+mn-lt"/>
              </a:rPr>
              <a:t>In other words: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CC0066"/>
                </a:solidFill>
                <a:effectLst/>
                <a:latin typeface="+mn-lt"/>
              </a:rPr>
              <a:t>If </a:t>
            </a:r>
            <a:r>
              <a:rPr kumimoji="0" lang="en-US" altLang="en-US" sz="2800" b="0" i="0" u="none" strike="noStrike" cap="none" normalizeH="0" baseline="0" dirty="0" err="1">
                <a:ln>
                  <a:noFill/>
                </a:ln>
                <a:solidFill>
                  <a:srgbClr val="CC0066"/>
                </a:solidFill>
                <a:effectLst/>
                <a:latin typeface="+mn-lt"/>
              </a:rPr>
              <a:t>i</a:t>
            </a:r>
            <a:r>
              <a:rPr kumimoji="0" lang="en-US" altLang="en-US" sz="2800" b="0" i="0" u="none" strike="noStrike" cap="none" normalizeH="0" baseline="0" dirty="0">
                <a:ln>
                  <a:noFill/>
                </a:ln>
                <a:solidFill>
                  <a:srgbClr val="CC0066"/>
                </a:solidFill>
                <a:effectLst/>
                <a:latin typeface="+mn-lt"/>
              </a:rPr>
              <a:t> ≠ j, at least </a:t>
            </a:r>
            <a:r>
              <a:rPr kumimoji="0" lang="en-US" altLang="en-US" sz="2800" b="1" i="0" u="none" strike="noStrike" cap="none" normalizeH="0" baseline="0" dirty="0">
                <a:ln>
                  <a:noFill/>
                </a:ln>
                <a:solidFill>
                  <a:srgbClr val="CC0066"/>
                </a:solidFill>
                <a:effectLst/>
                <a:latin typeface="+mn-lt"/>
              </a:rPr>
              <a:t>one of the two entries must be 0</a:t>
            </a:r>
            <a:r>
              <a:rPr kumimoji="0" lang="en-US" altLang="en-US" sz="2800" b="0" i="0" u="none" strike="noStrike" cap="none" normalizeH="0" baseline="0" dirty="0">
                <a:ln>
                  <a:noFill/>
                </a:ln>
                <a:solidFill>
                  <a:srgbClr val="CC0066"/>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408624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79C458-1D52-AFDF-E6AC-9BB82B8B83FF}"/>
              </a:ext>
            </a:extLst>
          </p:cNvPr>
          <p:cNvSpPr txBox="1">
            <a:spLocks/>
          </p:cNvSpPr>
          <p:nvPr/>
        </p:nvSpPr>
        <p:spPr>
          <a:xfrm>
            <a:off x="457200" y="704088"/>
            <a:ext cx="8229600" cy="1143000"/>
          </a:xfrm>
          <a:prstGeom prst="rect">
            <a:avLst/>
          </a:prstGeom>
        </p:spPr>
        <p:txBody>
          <a:bodyPr/>
          <a:lstStyle>
            <a:lvl1pPr>
              <a:defRPr>
                <a:latin typeface="+mj-lt"/>
                <a:ea typeface="+mj-ea"/>
                <a:cs typeface="+mj-cs"/>
              </a:defRPr>
            </a:lvl1pPr>
          </a:lstStyle>
          <a:p>
            <a:r>
              <a:rPr lang="en-US" sz="3200" b="1" dirty="0">
                <a:solidFill>
                  <a:srgbClr val="00B050"/>
                </a:solidFill>
              </a:rPr>
              <a:t>Matrices of Relations on Sets</a:t>
            </a:r>
          </a:p>
        </p:txBody>
      </p:sp>
      <p:sp>
        <p:nvSpPr>
          <p:cNvPr id="3" name="Rectangle 2">
            <a:extLst>
              <a:ext uri="{FF2B5EF4-FFF2-40B4-BE49-F238E27FC236}">
                <a16:creationId xmlns:a16="http://schemas.microsoft.com/office/drawing/2014/main" id="{512EBCBA-3916-2D9A-7974-A1FE59F0056A}"/>
              </a:ext>
            </a:extLst>
          </p:cNvPr>
          <p:cNvSpPr>
            <a:spLocks noChangeArrowheads="1"/>
          </p:cNvSpPr>
          <p:nvPr/>
        </p:nvSpPr>
        <p:spPr bwMode="auto">
          <a:xfrm>
            <a:off x="467032" y="1504501"/>
            <a:ext cx="75438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2800" dirty="0">
                <a:solidFill>
                  <a:srgbClr val="002060"/>
                </a:solidFill>
              </a:rPr>
              <a:t>Suppose that the relation R on a set is represented by the matrix </a:t>
            </a:r>
          </a:p>
          <a:p>
            <a:pPr eaLnBrk="0" fontAlgn="base" hangingPunct="0">
              <a:spcBef>
                <a:spcPct val="0"/>
              </a:spcBef>
              <a:spcAft>
                <a:spcPct val="0"/>
              </a:spcAft>
            </a:pPr>
            <a:endParaRPr lang="en-US" sz="2800" dirty="0">
              <a:solidFill>
                <a:srgbClr val="002060"/>
              </a:solidFill>
            </a:endParaRPr>
          </a:p>
          <a:p>
            <a:pPr eaLnBrk="0" fontAlgn="base" hangingPunct="0">
              <a:spcBef>
                <a:spcPct val="0"/>
              </a:spcBef>
              <a:spcAft>
                <a:spcPct val="0"/>
              </a:spcAft>
            </a:pPr>
            <a:endParaRPr lang="en-US" sz="2800" dirty="0">
              <a:solidFill>
                <a:srgbClr val="002060"/>
              </a:solidFill>
            </a:endParaRPr>
          </a:p>
          <a:p>
            <a:pPr eaLnBrk="0" fontAlgn="base" hangingPunct="0">
              <a:spcBef>
                <a:spcPct val="0"/>
              </a:spcBef>
              <a:spcAft>
                <a:spcPct val="0"/>
              </a:spcAft>
            </a:pPr>
            <a:endParaRPr lang="en-US" sz="2800" dirty="0">
              <a:solidFill>
                <a:srgbClr val="002060"/>
              </a:solidFill>
            </a:endParaRPr>
          </a:p>
          <a:p>
            <a:pPr eaLnBrk="0" fontAlgn="base" hangingPunct="0">
              <a:spcBef>
                <a:spcPct val="0"/>
              </a:spcBef>
              <a:spcAft>
                <a:spcPct val="0"/>
              </a:spcAft>
            </a:pPr>
            <a:endParaRPr lang="en-US" sz="2800" dirty="0">
              <a:solidFill>
                <a:srgbClr val="002060"/>
              </a:solidFill>
            </a:endParaRPr>
          </a:p>
          <a:p>
            <a:pPr eaLnBrk="0" fontAlgn="base" hangingPunct="0">
              <a:spcBef>
                <a:spcPct val="0"/>
              </a:spcBef>
              <a:spcAft>
                <a:spcPct val="0"/>
              </a:spcAft>
            </a:pPr>
            <a:r>
              <a:rPr lang="en-US" sz="2800" dirty="0">
                <a:solidFill>
                  <a:srgbClr val="002060"/>
                </a:solidFill>
              </a:rPr>
              <a:t>Is R reflexive, symmetric, and/or antisymmetric?</a:t>
            </a:r>
            <a:endParaRPr kumimoji="0" lang="en-US" altLang="en-US" sz="2800" b="0" i="0" u="none" strike="noStrike" cap="none" normalizeH="0" baseline="0" dirty="0">
              <a:ln>
                <a:noFill/>
              </a:ln>
              <a:solidFill>
                <a:srgbClr val="002060"/>
              </a:solidFill>
              <a:effectLst/>
              <a:latin typeface="+mn-lt"/>
            </a:endParaRPr>
          </a:p>
        </p:txBody>
      </p:sp>
      <p:pic>
        <p:nvPicPr>
          <p:cNvPr id="4" name="Picture 3">
            <a:extLst>
              <a:ext uri="{FF2B5EF4-FFF2-40B4-BE49-F238E27FC236}">
                <a16:creationId xmlns:a16="http://schemas.microsoft.com/office/drawing/2014/main" id="{0BAF920D-57B1-DE8E-371C-099D99893775}"/>
              </a:ext>
            </a:extLst>
          </p:cNvPr>
          <p:cNvPicPr>
            <a:picLocks noChangeAspect="1"/>
          </p:cNvPicPr>
          <p:nvPr/>
        </p:nvPicPr>
        <p:blipFill>
          <a:blip r:embed="rId2"/>
          <a:stretch>
            <a:fillRect/>
          </a:stretch>
        </p:blipFill>
        <p:spPr>
          <a:xfrm>
            <a:off x="2438400" y="2418588"/>
            <a:ext cx="3576807" cy="1711256"/>
          </a:xfrm>
          <a:prstGeom prst="rect">
            <a:avLst/>
          </a:prstGeom>
        </p:spPr>
      </p:pic>
      <p:sp>
        <p:nvSpPr>
          <p:cNvPr id="5" name="TextBox 4">
            <a:extLst>
              <a:ext uri="{FF2B5EF4-FFF2-40B4-BE49-F238E27FC236}">
                <a16:creationId xmlns:a16="http://schemas.microsoft.com/office/drawing/2014/main" id="{C8B0D75C-2980-49F2-8EEE-EB4A6415B075}"/>
              </a:ext>
            </a:extLst>
          </p:cNvPr>
          <p:cNvSpPr txBox="1"/>
          <p:nvPr/>
        </p:nvSpPr>
        <p:spPr>
          <a:xfrm>
            <a:off x="439994" y="5043931"/>
            <a:ext cx="8001000" cy="1200329"/>
          </a:xfrm>
          <a:prstGeom prst="rect">
            <a:avLst/>
          </a:prstGeom>
          <a:noFill/>
        </p:spPr>
        <p:txBody>
          <a:bodyPr wrap="square">
            <a:spAutoFit/>
          </a:bodyPr>
          <a:lstStyle/>
          <a:p>
            <a:r>
              <a:rPr lang="en-US" b="1" dirty="0"/>
              <a:t>Solution: </a:t>
            </a:r>
          </a:p>
          <a:p>
            <a:r>
              <a:rPr lang="en-US" b="1" dirty="0">
                <a:solidFill>
                  <a:srgbClr val="7030A0"/>
                </a:solidFill>
              </a:rPr>
              <a:t>Because all the diagonal elements are equal to 1, R is reflexive. </a:t>
            </a:r>
          </a:p>
          <a:p>
            <a:r>
              <a:rPr lang="en-US" b="1" dirty="0">
                <a:solidFill>
                  <a:srgbClr val="0070C0"/>
                </a:solidFill>
              </a:rPr>
              <a:t>Because M</a:t>
            </a:r>
            <a:r>
              <a:rPr lang="en-US" sz="1400" b="1" dirty="0">
                <a:solidFill>
                  <a:srgbClr val="0070C0"/>
                </a:solidFill>
              </a:rPr>
              <a:t>R</a:t>
            </a:r>
            <a:r>
              <a:rPr lang="en-US" b="1" dirty="0">
                <a:solidFill>
                  <a:srgbClr val="0070C0"/>
                </a:solidFill>
              </a:rPr>
              <a:t> is symmetric, R is symmetric </a:t>
            </a:r>
            <a:r>
              <a:rPr lang="en-US" dirty="0"/>
              <a:t>and </a:t>
            </a:r>
            <a:r>
              <a:rPr lang="en-US" b="1" dirty="0">
                <a:solidFill>
                  <a:srgbClr val="00B050"/>
                </a:solidFill>
              </a:rPr>
              <a:t>not antisymmetric because both m</a:t>
            </a:r>
            <a:r>
              <a:rPr lang="en-US" sz="1400" b="1" dirty="0">
                <a:solidFill>
                  <a:srgbClr val="00B050"/>
                </a:solidFill>
              </a:rPr>
              <a:t>1,2</a:t>
            </a:r>
            <a:r>
              <a:rPr lang="en-US" b="1" dirty="0">
                <a:solidFill>
                  <a:srgbClr val="00B050"/>
                </a:solidFill>
              </a:rPr>
              <a:t> and m</a:t>
            </a:r>
            <a:r>
              <a:rPr lang="en-US" sz="1400" b="1" dirty="0">
                <a:solidFill>
                  <a:srgbClr val="00B050"/>
                </a:solidFill>
              </a:rPr>
              <a:t>2,1 </a:t>
            </a:r>
            <a:r>
              <a:rPr lang="en-US" b="1" dirty="0">
                <a:solidFill>
                  <a:srgbClr val="00B050"/>
                </a:solidFill>
              </a:rPr>
              <a:t>are 1. </a:t>
            </a:r>
          </a:p>
        </p:txBody>
      </p:sp>
    </p:spTree>
    <p:extLst>
      <p:ext uri="{BB962C8B-B14F-4D97-AF65-F5344CB8AC3E}">
        <p14:creationId xmlns:p14="http://schemas.microsoft.com/office/powerpoint/2010/main" val="244273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1E2820B-BB96-57FE-F702-4449B0F1276A}"/>
              </a:ext>
            </a:extLst>
          </p:cNvPr>
          <p:cNvSpPr txBox="1">
            <a:spLocks/>
          </p:cNvSpPr>
          <p:nvPr/>
        </p:nvSpPr>
        <p:spPr>
          <a:xfrm>
            <a:off x="304800" y="152400"/>
            <a:ext cx="6456680" cy="997709"/>
          </a:xfrm>
          <a:prstGeom prst="rect">
            <a:avLst/>
          </a:prstGeom>
        </p:spPr>
        <p:txBody>
          <a:bodyPr vert="horz" wrap="square" lIns="0" tIns="12700" rIns="0" bIns="0" rtlCol="0">
            <a:spAutoFit/>
          </a:bodyPr>
          <a:lstStyle>
            <a:lvl1pPr>
              <a:defRPr>
                <a:latin typeface="+mj-lt"/>
                <a:ea typeface="+mj-ea"/>
                <a:cs typeface="+mj-cs"/>
              </a:defRPr>
            </a:lvl1pPr>
          </a:lstStyle>
          <a:p>
            <a:pPr marL="1083310" marR="5080" indent="-1070610">
              <a:spcBef>
                <a:spcPts val="100"/>
              </a:spcBef>
            </a:pPr>
            <a:r>
              <a:rPr lang="en-US" sz="3200" b="1" dirty="0">
                <a:solidFill>
                  <a:srgbClr val="00B050"/>
                </a:solidFill>
              </a:rPr>
              <a:t>REPRESENTING</a:t>
            </a:r>
            <a:r>
              <a:rPr lang="en-US" sz="3200" b="1" spc="-60" dirty="0">
                <a:solidFill>
                  <a:srgbClr val="00B050"/>
                </a:solidFill>
              </a:rPr>
              <a:t> </a:t>
            </a:r>
            <a:r>
              <a:rPr lang="en-US" sz="3200" b="1" spc="-45" dirty="0">
                <a:solidFill>
                  <a:srgbClr val="00B050"/>
                </a:solidFill>
              </a:rPr>
              <a:t>RELATIONS </a:t>
            </a:r>
            <a:r>
              <a:rPr lang="en-US" sz="3200" b="1" dirty="0">
                <a:solidFill>
                  <a:srgbClr val="00B050"/>
                </a:solidFill>
              </a:rPr>
              <a:t>USING</a:t>
            </a:r>
            <a:r>
              <a:rPr lang="en-US" sz="3200" b="1" spc="-25" dirty="0">
                <a:solidFill>
                  <a:srgbClr val="00B050"/>
                </a:solidFill>
              </a:rPr>
              <a:t> </a:t>
            </a:r>
            <a:r>
              <a:rPr lang="en-US" sz="3200" b="1" spc="-10" dirty="0">
                <a:solidFill>
                  <a:srgbClr val="00B050"/>
                </a:solidFill>
              </a:rPr>
              <a:t>Directed Graph (Digraph)</a:t>
            </a:r>
          </a:p>
        </p:txBody>
      </p:sp>
      <p:sp>
        <p:nvSpPr>
          <p:cNvPr id="3" name="Rectangle 1">
            <a:extLst>
              <a:ext uri="{FF2B5EF4-FFF2-40B4-BE49-F238E27FC236}">
                <a16:creationId xmlns:a16="http://schemas.microsoft.com/office/drawing/2014/main" id="{0193C32C-AF3D-18D8-2F3C-3D1D4961E874}"/>
              </a:ext>
            </a:extLst>
          </p:cNvPr>
          <p:cNvSpPr>
            <a:spLocks noChangeArrowheads="1"/>
          </p:cNvSpPr>
          <p:nvPr/>
        </p:nvSpPr>
        <p:spPr bwMode="auto">
          <a:xfrm>
            <a:off x="304800" y="1426228"/>
            <a:ext cx="8458200" cy="3416320"/>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CC0066"/>
                </a:solidFill>
                <a:effectLst/>
                <a:latin typeface="+mn-lt"/>
              </a:rPr>
              <a:t>A </a:t>
            </a:r>
            <a:r>
              <a:rPr kumimoji="0" lang="en-US" altLang="en-US" sz="2400" b="1" i="0" u="none" strike="noStrike" cap="none" normalizeH="0" baseline="0" dirty="0">
                <a:ln>
                  <a:noFill/>
                </a:ln>
                <a:solidFill>
                  <a:srgbClr val="CC0066"/>
                </a:solidFill>
                <a:effectLst/>
                <a:latin typeface="+mn-lt"/>
              </a:rPr>
              <a:t>directed graph</a:t>
            </a:r>
            <a:r>
              <a:rPr kumimoji="0" lang="en-US" altLang="en-US" sz="2400" b="0" i="0" u="none" strike="noStrike" cap="none" normalizeH="0" baseline="0" dirty="0">
                <a:ln>
                  <a:noFill/>
                </a:ln>
                <a:solidFill>
                  <a:srgbClr val="CC0066"/>
                </a:solidFill>
                <a:effectLst/>
                <a:latin typeface="+mn-lt"/>
              </a:rPr>
              <a:t> (or </a:t>
            </a:r>
            <a:r>
              <a:rPr kumimoji="0" lang="en-US" altLang="en-US" sz="2400" b="1" i="0" u="none" strike="noStrike" cap="none" normalizeH="0" baseline="0" dirty="0">
                <a:ln>
                  <a:noFill/>
                </a:ln>
                <a:solidFill>
                  <a:srgbClr val="CC0066"/>
                </a:solidFill>
                <a:effectLst/>
                <a:latin typeface="+mn-lt"/>
              </a:rPr>
              <a:t>digraph</a:t>
            </a:r>
            <a:r>
              <a:rPr kumimoji="0" lang="en-US" altLang="en-US" sz="2400" b="0" i="0" u="none" strike="noStrike" cap="none" normalizeH="0" baseline="0" dirty="0">
                <a:ln>
                  <a:noFill/>
                </a:ln>
                <a:solidFill>
                  <a:srgbClr val="CC0066"/>
                </a:solidFill>
                <a:effectLst/>
                <a:latin typeface="+mn-lt"/>
              </a:rPr>
              <a:t>) has:</a:t>
            </a:r>
          </a:p>
          <a:p>
            <a:pPr marL="457200" lvl="8" indent="-457200" algn="l" rtl="0" eaLnBrk="0" fontAlgn="base" hangingPunct="0">
              <a:spcBef>
                <a:spcPct val="0"/>
              </a:spcBef>
              <a:spcAft>
                <a:spcPct val="0"/>
              </a:spcAft>
              <a:buFont typeface="Courier New" panose="02070309020205020404" pitchFamily="49" charset="0"/>
              <a:buChar char="o"/>
            </a:pPr>
            <a:r>
              <a:rPr kumimoji="0" lang="en-US" altLang="en-US" sz="2400" b="0" i="0" u="none" strike="noStrike" cap="none" normalizeH="0" baseline="0" dirty="0">
                <a:ln>
                  <a:noFill/>
                </a:ln>
                <a:solidFill>
                  <a:srgbClr val="CC0066"/>
                </a:solidFill>
                <a:effectLst/>
                <a:latin typeface="+mn-lt"/>
              </a:rPr>
              <a:t>A set of </a:t>
            </a:r>
            <a:r>
              <a:rPr kumimoji="0" lang="en-US" altLang="en-US" sz="2400" b="1" i="0" u="none" strike="noStrike" cap="none" normalizeH="0" baseline="0" dirty="0">
                <a:ln>
                  <a:noFill/>
                </a:ln>
                <a:solidFill>
                  <a:srgbClr val="CC0066"/>
                </a:solidFill>
                <a:effectLst/>
                <a:latin typeface="+mn-lt"/>
              </a:rPr>
              <a:t>vertices</a:t>
            </a:r>
            <a:r>
              <a:rPr kumimoji="0" lang="en-US" altLang="en-US" sz="2400" b="0" i="0" u="none" strike="noStrike" cap="none" normalizeH="0" baseline="0" dirty="0">
                <a:ln>
                  <a:noFill/>
                </a:ln>
                <a:solidFill>
                  <a:srgbClr val="CC0066"/>
                </a:solidFill>
                <a:effectLst/>
                <a:latin typeface="+mn-lt"/>
              </a:rPr>
              <a:t> (points or nodes) called </a:t>
            </a:r>
            <a:r>
              <a:rPr kumimoji="0" lang="en-US" altLang="en-US" sz="2400" b="1" i="0" u="none" strike="noStrike" cap="none" normalizeH="0" baseline="0" dirty="0">
                <a:ln>
                  <a:noFill/>
                </a:ln>
                <a:solidFill>
                  <a:srgbClr val="CC0066"/>
                </a:solidFill>
                <a:effectLst/>
                <a:latin typeface="+mn-lt"/>
              </a:rPr>
              <a:t>V</a:t>
            </a:r>
            <a:r>
              <a:rPr kumimoji="0" lang="en-US" altLang="en-US" sz="2400" b="0" i="0" u="none" strike="noStrike" cap="none" normalizeH="0" baseline="0" dirty="0">
                <a:ln>
                  <a:noFill/>
                </a:ln>
                <a:solidFill>
                  <a:srgbClr val="CC0066"/>
                </a:solidFill>
                <a:effectLst/>
                <a:latin typeface="+mn-lt"/>
              </a:rPr>
              <a:t>.</a:t>
            </a:r>
          </a:p>
          <a:p>
            <a:pPr marL="457200" lvl="8" indent="-457200" algn="l" rtl="0" eaLnBrk="0" fontAlgn="base" hangingPunct="0">
              <a:spcBef>
                <a:spcPct val="0"/>
              </a:spcBef>
              <a:spcAft>
                <a:spcPct val="0"/>
              </a:spcAft>
              <a:buFont typeface="Courier New" panose="02070309020205020404" pitchFamily="49" charset="0"/>
              <a:buChar char="o"/>
            </a:pPr>
            <a:r>
              <a:rPr kumimoji="0" lang="en-US" altLang="en-US" sz="2400" b="0" i="0" u="none" strike="noStrike" cap="none" normalizeH="0" baseline="0" dirty="0">
                <a:ln>
                  <a:noFill/>
                </a:ln>
                <a:solidFill>
                  <a:srgbClr val="CC0066"/>
                </a:solidFill>
                <a:effectLst/>
                <a:latin typeface="+mn-lt"/>
              </a:rPr>
              <a:t>A set of </a:t>
            </a:r>
            <a:r>
              <a:rPr kumimoji="0" lang="en-US" altLang="en-US" sz="2400" b="1" i="0" u="none" strike="noStrike" cap="none" normalizeH="0" baseline="0" dirty="0">
                <a:ln>
                  <a:noFill/>
                </a:ln>
                <a:solidFill>
                  <a:srgbClr val="CC0066"/>
                </a:solidFill>
                <a:effectLst/>
                <a:latin typeface="+mn-lt"/>
              </a:rPr>
              <a:t>edges</a:t>
            </a:r>
            <a:r>
              <a:rPr kumimoji="0" lang="en-US" altLang="en-US" sz="2400" b="0" i="0" u="none" strike="noStrike" cap="none" normalizeH="0" baseline="0" dirty="0">
                <a:ln>
                  <a:noFill/>
                </a:ln>
                <a:solidFill>
                  <a:srgbClr val="CC0066"/>
                </a:solidFill>
                <a:effectLst/>
                <a:latin typeface="+mn-lt"/>
              </a:rPr>
              <a:t> (arrows) called </a:t>
            </a:r>
            <a:r>
              <a:rPr kumimoji="0" lang="en-US" altLang="en-US" sz="2400" b="1" i="0" u="none" strike="noStrike" cap="none" normalizeH="0" baseline="0" dirty="0">
                <a:ln>
                  <a:noFill/>
                </a:ln>
                <a:solidFill>
                  <a:srgbClr val="CC0066"/>
                </a:solidFill>
                <a:effectLst/>
                <a:latin typeface="+mn-lt"/>
              </a:rPr>
              <a:t>E</a:t>
            </a:r>
            <a:r>
              <a:rPr kumimoji="0" lang="en-US" altLang="en-US" sz="2400" b="0" i="0" u="none" strike="noStrike" cap="none" normalizeH="0" baseline="0" dirty="0">
                <a:ln>
                  <a:noFill/>
                </a:ln>
                <a:solidFill>
                  <a:srgbClr val="CC0066"/>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2060"/>
                </a:solidFill>
                <a:effectLst/>
                <a:latin typeface="+mn-lt"/>
              </a:rPr>
              <a:t>Each edge is an </a:t>
            </a:r>
            <a:r>
              <a:rPr kumimoji="0" lang="en-US" altLang="en-US" sz="2400" b="1" i="0" u="none" strike="noStrike" cap="none" normalizeH="0" baseline="0" dirty="0">
                <a:ln>
                  <a:noFill/>
                </a:ln>
                <a:solidFill>
                  <a:srgbClr val="002060"/>
                </a:solidFill>
                <a:effectLst/>
                <a:latin typeface="+mn-lt"/>
              </a:rPr>
              <a:t>ordered pair</a:t>
            </a:r>
            <a:r>
              <a:rPr kumimoji="0" lang="en-US" altLang="en-US" sz="2400" b="0" i="0" u="none" strike="noStrike" cap="none" normalizeH="0" baseline="0" dirty="0">
                <a:ln>
                  <a:noFill/>
                </a:ln>
                <a:solidFill>
                  <a:srgbClr val="002060"/>
                </a:solidFill>
                <a:effectLst/>
                <a:latin typeface="+mn-lt"/>
              </a:rPr>
              <a:t> like (a, b), meaning an arrow from </a:t>
            </a:r>
            <a:r>
              <a:rPr kumimoji="0" lang="en-US" altLang="en-US" sz="2400" b="1" i="0" u="none" strike="noStrike" cap="none" normalizeH="0" baseline="0" dirty="0">
                <a:ln>
                  <a:noFill/>
                </a:ln>
                <a:solidFill>
                  <a:srgbClr val="002060"/>
                </a:solidFill>
                <a:effectLst/>
                <a:latin typeface="+mn-lt"/>
              </a:rPr>
              <a:t>a</a:t>
            </a:r>
            <a:r>
              <a:rPr kumimoji="0" lang="en-US" altLang="en-US" sz="2400" b="0" i="0" u="none" strike="noStrike" cap="none" normalizeH="0" baseline="0" dirty="0">
                <a:ln>
                  <a:noFill/>
                </a:ln>
                <a:solidFill>
                  <a:srgbClr val="002060"/>
                </a:solidFill>
                <a:effectLst/>
                <a:latin typeface="+mn-lt"/>
              </a:rPr>
              <a:t> to </a:t>
            </a:r>
            <a:r>
              <a:rPr kumimoji="0" lang="en-US" altLang="en-US" sz="2400" b="1" i="0" u="none" strike="noStrike" cap="none" normalizeH="0" baseline="0" dirty="0">
                <a:ln>
                  <a:noFill/>
                </a:ln>
                <a:solidFill>
                  <a:srgbClr val="002060"/>
                </a:solidFill>
                <a:effectLst/>
                <a:latin typeface="+mn-lt"/>
              </a:rPr>
              <a:t>b</a:t>
            </a:r>
            <a:r>
              <a:rPr kumimoji="0" lang="en-US" altLang="en-US" sz="2400" b="0" i="0" u="none" strike="noStrike" cap="none" normalizeH="0" baseline="0" dirty="0">
                <a:ln>
                  <a:noFill/>
                </a:ln>
                <a:solidFill>
                  <a:srgbClr val="002060"/>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2060"/>
                </a:solidFill>
                <a:effectLst/>
                <a:latin typeface="+mn-lt"/>
              </a:rPr>
              <a:t>The vertex </a:t>
            </a:r>
            <a:r>
              <a:rPr kumimoji="0" lang="en-US" altLang="en-US" sz="2400" b="1" i="0" u="none" strike="noStrike" cap="none" normalizeH="0" baseline="0" dirty="0">
                <a:ln>
                  <a:noFill/>
                </a:ln>
                <a:solidFill>
                  <a:srgbClr val="002060"/>
                </a:solidFill>
                <a:effectLst/>
                <a:latin typeface="+mn-lt"/>
              </a:rPr>
              <a:t>a</a:t>
            </a:r>
            <a:r>
              <a:rPr kumimoji="0" lang="en-US" altLang="en-US" sz="2400" b="0" i="0" u="none" strike="noStrike" cap="none" normalizeH="0" baseline="0" dirty="0">
                <a:ln>
                  <a:noFill/>
                </a:ln>
                <a:solidFill>
                  <a:srgbClr val="002060"/>
                </a:solidFill>
                <a:effectLst/>
                <a:latin typeface="+mn-lt"/>
              </a:rPr>
              <a:t> is the </a:t>
            </a:r>
            <a:r>
              <a:rPr kumimoji="0" lang="en-US" altLang="en-US" sz="2400" b="1" i="0" u="none" strike="noStrike" cap="none" normalizeH="0" baseline="0" dirty="0">
                <a:ln>
                  <a:noFill/>
                </a:ln>
                <a:solidFill>
                  <a:srgbClr val="002060"/>
                </a:solidFill>
                <a:effectLst/>
                <a:latin typeface="+mn-lt"/>
              </a:rPr>
              <a:t>start</a:t>
            </a:r>
            <a:r>
              <a:rPr kumimoji="0" lang="en-US" altLang="en-US" sz="2400" b="0" i="0" u="none" strike="noStrike" cap="none" normalizeH="0" baseline="0" dirty="0">
                <a:ln>
                  <a:noFill/>
                </a:ln>
                <a:solidFill>
                  <a:srgbClr val="002060"/>
                </a:solidFill>
                <a:effectLst/>
                <a:latin typeface="+mn-lt"/>
              </a:rPr>
              <a:t> (initial vertex) of the arrow.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2060"/>
                </a:solidFill>
                <a:effectLst/>
                <a:latin typeface="+mn-lt"/>
              </a:rPr>
              <a:t>The vertex </a:t>
            </a:r>
            <a:r>
              <a:rPr kumimoji="0" lang="en-US" altLang="en-US" sz="2400" b="1" i="0" u="none" strike="noStrike" cap="none" normalizeH="0" baseline="0" dirty="0">
                <a:ln>
                  <a:noFill/>
                </a:ln>
                <a:solidFill>
                  <a:srgbClr val="002060"/>
                </a:solidFill>
                <a:effectLst/>
                <a:latin typeface="+mn-lt"/>
              </a:rPr>
              <a:t>b</a:t>
            </a:r>
            <a:r>
              <a:rPr kumimoji="0" lang="en-US" altLang="en-US" sz="2400" b="0" i="0" u="none" strike="noStrike" cap="none" normalizeH="0" baseline="0" dirty="0">
                <a:ln>
                  <a:noFill/>
                </a:ln>
                <a:solidFill>
                  <a:srgbClr val="002060"/>
                </a:solidFill>
                <a:effectLst/>
                <a:latin typeface="+mn-lt"/>
              </a:rPr>
              <a:t> is the </a:t>
            </a:r>
            <a:r>
              <a:rPr kumimoji="0" lang="en-US" altLang="en-US" sz="2400" b="1" i="0" u="none" strike="noStrike" cap="none" normalizeH="0" baseline="0" dirty="0">
                <a:ln>
                  <a:noFill/>
                </a:ln>
                <a:solidFill>
                  <a:srgbClr val="002060"/>
                </a:solidFill>
                <a:effectLst/>
                <a:latin typeface="+mn-lt"/>
              </a:rPr>
              <a:t>end</a:t>
            </a:r>
            <a:r>
              <a:rPr kumimoji="0" lang="en-US" altLang="en-US" sz="2400" b="0" i="0" u="none" strike="noStrike" cap="none" normalizeH="0" baseline="0" dirty="0">
                <a:ln>
                  <a:noFill/>
                </a:ln>
                <a:solidFill>
                  <a:srgbClr val="002060"/>
                </a:solidFill>
                <a:effectLst/>
                <a:latin typeface="+mn-lt"/>
              </a:rPr>
              <a:t> (terminal vertex) of the arrow.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2060"/>
                </a:solidFill>
                <a:effectLst/>
                <a:latin typeface="+mn-lt"/>
              </a:rPr>
              <a:t>If an edge goes from a vertex back to itself, like (a, a), it’s called a </a:t>
            </a:r>
            <a:r>
              <a:rPr kumimoji="0" lang="en-US" altLang="en-US" sz="2400" b="1" i="0" u="none" strike="noStrike" cap="none" normalizeH="0" baseline="0" dirty="0">
                <a:ln>
                  <a:noFill/>
                </a:ln>
                <a:solidFill>
                  <a:srgbClr val="002060"/>
                </a:solidFill>
                <a:effectLst/>
                <a:latin typeface="+mn-lt"/>
              </a:rPr>
              <a:t>loop</a:t>
            </a:r>
            <a:r>
              <a:rPr kumimoji="0" lang="en-US" altLang="en-US" sz="2400" b="0" i="0" u="none" strike="noStrike" cap="none" normalizeH="0" baseline="0" dirty="0">
                <a:ln>
                  <a:noFill/>
                </a:ln>
                <a:solidFill>
                  <a:srgbClr val="002060"/>
                </a:solidFill>
                <a:effectLst/>
                <a:latin typeface="+mn-lt"/>
              </a:rPr>
              <a:t>.</a:t>
            </a:r>
          </a:p>
        </p:txBody>
      </p:sp>
      <p:sp>
        <p:nvSpPr>
          <p:cNvPr id="5" name="TextBox 4">
            <a:extLst>
              <a:ext uri="{FF2B5EF4-FFF2-40B4-BE49-F238E27FC236}">
                <a16:creationId xmlns:a16="http://schemas.microsoft.com/office/drawing/2014/main" id="{6977E898-1AFE-FB17-EDD1-44401A26D15B}"/>
              </a:ext>
            </a:extLst>
          </p:cNvPr>
          <p:cNvSpPr txBox="1"/>
          <p:nvPr/>
        </p:nvSpPr>
        <p:spPr>
          <a:xfrm>
            <a:off x="349619" y="5118667"/>
            <a:ext cx="6411861" cy="1200329"/>
          </a:xfrm>
          <a:prstGeom prst="rect">
            <a:avLst/>
          </a:prstGeom>
          <a:noFill/>
        </p:spPr>
        <p:txBody>
          <a:bodyPr wrap="square">
            <a:spAutoFit/>
          </a:bodyPr>
          <a:lstStyle/>
          <a:p>
            <a:r>
              <a:rPr lang="en-US" b="1" dirty="0">
                <a:solidFill>
                  <a:srgbClr val="7030A0"/>
                </a:solidFill>
              </a:rPr>
              <a:t>In short:</a:t>
            </a:r>
          </a:p>
          <a:p>
            <a:pPr>
              <a:buFont typeface="Arial" panose="020B0604020202020204" pitchFamily="34" charset="0"/>
              <a:buChar char="•"/>
            </a:pPr>
            <a:r>
              <a:rPr lang="en-US" dirty="0">
                <a:solidFill>
                  <a:srgbClr val="7030A0"/>
                </a:solidFill>
              </a:rPr>
              <a:t>Vertices = points</a:t>
            </a:r>
          </a:p>
          <a:p>
            <a:pPr>
              <a:buFont typeface="Arial" panose="020B0604020202020204" pitchFamily="34" charset="0"/>
              <a:buChar char="•"/>
            </a:pPr>
            <a:r>
              <a:rPr lang="en-US" dirty="0">
                <a:solidFill>
                  <a:srgbClr val="7030A0"/>
                </a:solidFill>
              </a:rPr>
              <a:t>Edges = arrows between points</a:t>
            </a:r>
          </a:p>
          <a:p>
            <a:pPr>
              <a:buFont typeface="Arial" panose="020B0604020202020204" pitchFamily="34" charset="0"/>
              <a:buChar char="•"/>
            </a:pPr>
            <a:r>
              <a:rPr lang="en-US" dirty="0">
                <a:solidFill>
                  <a:srgbClr val="7030A0"/>
                </a:solidFill>
              </a:rPr>
              <a:t>Loop = arrow that starts and ends at the same point</a:t>
            </a:r>
          </a:p>
        </p:txBody>
      </p:sp>
    </p:spTree>
    <p:extLst>
      <p:ext uri="{BB962C8B-B14F-4D97-AF65-F5344CB8AC3E}">
        <p14:creationId xmlns:p14="http://schemas.microsoft.com/office/powerpoint/2010/main" val="3716247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1E2820B-BB96-57FE-F702-4449B0F1276A}"/>
              </a:ext>
            </a:extLst>
          </p:cNvPr>
          <p:cNvSpPr txBox="1">
            <a:spLocks/>
          </p:cNvSpPr>
          <p:nvPr/>
        </p:nvSpPr>
        <p:spPr>
          <a:xfrm>
            <a:off x="304800" y="152400"/>
            <a:ext cx="6456680" cy="997709"/>
          </a:xfrm>
          <a:prstGeom prst="rect">
            <a:avLst/>
          </a:prstGeom>
        </p:spPr>
        <p:txBody>
          <a:bodyPr vert="horz" wrap="square" lIns="0" tIns="12700" rIns="0" bIns="0" rtlCol="0">
            <a:spAutoFit/>
          </a:bodyPr>
          <a:lstStyle>
            <a:lvl1pPr>
              <a:defRPr>
                <a:latin typeface="+mj-lt"/>
                <a:ea typeface="+mj-ea"/>
                <a:cs typeface="+mj-cs"/>
              </a:defRPr>
            </a:lvl1pPr>
          </a:lstStyle>
          <a:p>
            <a:pPr marL="1083310" marR="5080" indent="-1070610">
              <a:spcBef>
                <a:spcPts val="100"/>
              </a:spcBef>
            </a:pPr>
            <a:r>
              <a:rPr lang="en-US" sz="3200" b="1" dirty="0">
                <a:solidFill>
                  <a:srgbClr val="00B050"/>
                </a:solidFill>
              </a:rPr>
              <a:t>REPRESENTING</a:t>
            </a:r>
            <a:r>
              <a:rPr lang="en-US" sz="3200" b="1" spc="-60" dirty="0">
                <a:solidFill>
                  <a:srgbClr val="00B050"/>
                </a:solidFill>
              </a:rPr>
              <a:t> </a:t>
            </a:r>
            <a:r>
              <a:rPr lang="en-US" sz="3200" b="1" spc="-45" dirty="0">
                <a:solidFill>
                  <a:srgbClr val="00B050"/>
                </a:solidFill>
              </a:rPr>
              <a:t>RELATIONS </a:t>
            </a:r>
            <a:r>
              <a:rPr lang="en-US" sz="3200" b="1" dirty="0">
                <a:solidFill>
                  <a:srgbClr val="00B050"/>
                </a:solidFill>
              </a:rPr>
              <a:t>USING</a:t>
            </a:r>
            <a:r>
              <a:rPr lang="en-US" sz="3200" b="1" spc="-25" dirty="0">
                <a:solidFill>
                  <a:srgbClr val="00B050"/>
                </a:solidFill>
              </a:rPr>
              <a:t> </a:t>
            </a:r>
            <a:r>
              <a:rPr lang="en-US" sz="3200" b="1" spc="-10" dirty="0">
                <a:solidFill>
                  <a:srgbClr val="00B050"/>
                </a:solidFill>
              </a:rPr>
              <a:t>Directed Graph (Digraph)</a:t>
            </a:r>
          </a:p>
        </p:txBody>
      </p:sp>
      <p:sp>
        <p:nvSpPr>
          <p:cNvPr id="3" name="Rectangle 1">
            <a:extLst>
              <a:ext uri="{FF2B5EF4-FFF2-40B4-BE49-F238E27FC236}">
                <a16:creationId xmlns:a16="http://schemas.microsoft.com/office/drawing/2014/main" id="{0193C32C-AF3D-18D8-2F3C-3D1D4961E874}"/>
              </a:ext>
            </a:extLst>
          </p:cNvPr>
          <p:cNvSpPr>
            <a:spLocks noChangeArrowheads="1"/>
          </p:cNvSpPr>
          <p:nvPr/>
        </p:nvSpPr>
        <p:spPr bwMode="auto">
          <a:xfrm>
            <a:off x="304800" y="1578705"/>
            <a:ext cx="8458200" cy="181588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t>A drawing of the directed graph with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solidFill>
                  <a:srgbClr val="7030A0"/>
                </a:solidFill>
              </a:rPr>
              <a:t>vertices a, b, c, and d, and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solidFill>
                  <a:srgbClr val="7030A0"/>
                </a:solidFill>
              </a:rPr>
              <a:t>edges (a, b), (a, d), (b, b), (b, d), (c, a), (c, b), (d, b) is shown here.</a:t>
            </a:r>
            <a:endParaRPr kumimoji="0" lang="en-US" altLang="en-US" sz="2800" b="0" i="0" u="none" strike="noStrike" cap="none" normalizeH="0" baseline="0" dirty="0">
              <a:ln>
                <a:noFill/>
              </a:ln>
              <a:solidFill>
                <a:srgbClr val="7030A0"/>
              </a:solidFill>
              <a:effectLst/>
              <a:latin typeface="+mn-lt"/>
            </a:endParaRPr>
          </a:p>
        </p:txBody>
      </p:sp>
      <p:pic>
        <p:nvPicPr>
          <p:cNvPr id="6" name="Picture 5">
            <a:extLst>
              <a:ext uri="{FF2B5EF4-FFF2-40B4-BE49-F238E27FC236}">
                <a16:creationId xmlns:a16="http://schemas.microsoft.com/office/drawing/2014/main" id="{73015E67-7F41-768F-04D8-4B1D359BDA07}"/>
              </a:ext>
            </a:extLst>
          </p:cNvPr>
          <p:cNvPicPr>
            <a:picLocks noChangeAspect="1"/>
          </p:cNvPicPr>
          <p:nvPr/>
        </p:nvPicPr>
        <p:blipFill>
          <a:blip r:embed="rId2"/>
          <a:stretch>
            <a:fillRect/>
          </a:stretch>
        </p:blipFill>
        <p:spPr>
          <a:xfrm>
            <a:off x="3124200" y="3463414"/>
            <a:ext cx="3535680" cy="2971800"/>
          </a:xfrm>
          <a:prstGeom prst="rect">
            <a:avLst/>
          </a:prstGeom>
        </p:spPr>
      </p:pic>
    </p:spTree>
    <p:extLst>
      <p:ext uri="{BB962C8B-B14F-4D97-AF65-F5344CB8AC3E}">
        <p14:creationId xmlns:p14="http://schemas.microsoft.com/office/powerpoint/2010/main" val="3937890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1E2820B-BB96-57FE-F702-4449B0F1276A}"/>
              </a:ext>
            </a:extLst>
          </p:cNvPr>
          <p:cNvSpPr txBox="1">
            <a:spLocks/>
          </p:cNvSpPr>
          <p:nvPr/>
        </p:nvSpPr>
        <p:spPr>
          <a:xfrm>
            <a:off x="304800" y="152400"/>
            <a:ext cx="6456680" cy="997709"/>
          </a:xfrm>
          <a:prstGeom prst="rect">
            <a:avLst/>
          </a:prstGeom>
        </p:spPr>
        <p:txBody>
          <a:bodyPr vert="horz" wrap="square" lIns="0" tIns="12700" rIns="0" bIns="0" rtlCol="0">
            <a:spAutoFit/>
          </a:bodyPr>
          <a:lstStyle>
            <a:lvl1pPr>
              <a:defRPr>
                <a:latin typeface="+mj-lt"/>
                <a:ea typeface="+mj-ea"/>
                <a:cs typeface="+mj-cs"/>
              </a:defRPr>
            </a:lvl1pPr>
          </a:lstStyle>
          <a:p>
            <a:pPr marL="1083310" marR="5080" indent="-1070610">
              <a:spcBef>
                <a:spcPts val="100"/>
              </a:spcBef>
            </a:pPr>
            <a:r>
              <a:rPr lang="en-US" sz="3200" b="1" dirty="0">
                <a:solidFill>
                  <a:srgbClr val="00B050"/>
                </a:solidFill>
              </a:rPr>
              <a:t>REPRESENTING</a:t>
            </a:r>
            <a:r>
              <a:rPr lang="en-US" sz="3200" b="1" spc="-60" dirty="0">
                <a:solidFill>
                  <a:srgbClr val="00B050"/>
                </a:solidFill>
              </a:rPr>
              <a:t> </a:t>
            </a:r>
            <a:r>
              <a:rPr lang="en-US" sz="3200" b="1" spc="-45" dirty="0">
                <a:solidFill>
                  <a:srgbClr val="00B050"/>
                </a:solidFill>
              </a:rPr>
              <a:t>RELATIONS </a:t>
            </a:r>
            <a:r>
              <a:rPr lang="en-US" sz="3200" b="1" dirty="0">
                <a:solidFill>
                  <a:srgbClr val="00B050"/>
                </a:solidFill>
              </a:rPr>
              <a:t>USING</a:t>
            </a:r>
            <a:r>
              <a:rPr lang="en-US" sz="3200" b="1" spc="-25" dirty="0">
                <a:solidFill>
                  <a:srgbClr val="00B050"/>
                </a:solidFill>
              </a:rPr>
              <a:t> </a:t>
            </a:r>
            <a:r>
              <a:rPr lang="en-US" sz="3200" b="1" spc="-10" dirty="0">
                <a:solidFill>
                  <a:srgbClr val="00B050"/>
                </a:solidFill>
              </a:rPr>
              <a:t>Directed Graph (Digraph)</a:t>
            </a:r>
          </a:p>
        </p:txBody>
      </p:sp>
      <p:sp>
        <p:nvSpPr>
          <p:cNvPr id="4" name="Content Placeholder 2">
            <a:extLst>
              <a:ext uri="{FF2B5EF4-FFF2-40B4-BE49-F238E27FC236}">
                <a16:creationId xmlns:a16="http://schemas.microsoft.com/office/drawing/2014/main" id="{0DF467B6-E800-B135-C6DD-F9C319238C9A}"/>
              </a:ext>
            </a:extLst>
          </p:cNvPr>
          <p:cNvSpPr txBox="1">
            <a:spLocks/>
          </p:cNvSpPr>
          <p:nvPr/>
        </p:nvSpPr>
        <p:spPr>
          <a:xfrm>
            <a:off x="292510" y="1275526"/>
            <a:ext cx="5193890" cy="4389120"/>
          </a:xfrm>
          <a:prstGeom prst="rect">
            <a:avLst/>
          </a:prstGeom>
          <a:solidFill>
            <a:schemeClr val="bg1"/>
          </a:solidFill>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b="1" dirty="0">
                <a:solidFill>
                  <a:srgbClr val="C00000"/>
                </a:solidFill>
              </a:rPr>
              <a:t>  Example </a:t>
            </a:r>
            <a:r>
              <a:rPr lang="en-US" sz="2800" dirty="0">
                <a:solidFill>
                  <a:srgbClr val="C00000"/>
                </a:solidFill>
              </a:rPr>
              <a:t>: What are the ordered pairs in the relation represented by this directed graph?</a:t>
            </a:r>
          </a:p>
          <a:p>
            <a:endParaRPr lang="en-US" sz="2800" dirty="0"/>
          </a:p>
          <a:p>
            <a:endParaRPr lang="en-US" sz="2800" dirty="0"/>
          </a:p>
          <a:p>
            <a:endParaRPr lang="en-US" sz="2800" dirty="0"/>
          </a:p>
          <a:p>
            <a:endParaRPr lang="en-US" sz="2800" dirty="0"/>
          </a:p>
        </p:txBody>
      </p:sp>
      <p:sp>
        <p:nvSpPr>
          <p:cNvPr id="7" name="TextBox 6">
            <a:extLst>
              <a:ext uri="{FF2B5EF4-FFF2-40B4-BE49-F238E27FC236}">
                <a16:creationId xmlns:a16="http://schemas.microsoft.com/office/drawing/2014/main" id="{92150B3C-7834-CAC8-B193-8EF52054CB5B}"/>
              </a:ext>
            </a:extLst>
          </p:cNvPr>
          <p:cNvSpPr txBox="1"/>
          <p:nvPr/>
        </p:nvSpPr>
        <p:spPr>
          <a:xfrm>
            <a:off x="381000" y="4625825"/>
            <a:ext cx="8546690" cy="1569660"/>
          </a:xfrm>
          <a:prstGeom prst="rect">
            <a:avLst/>
          </a:prstGeom>
          <a:solidFill>
            <a:schemeClr val="bg1"/>
          </a:solidFill>
        </p:spPr>
        <p:txBody>
          <a:bodyPr wrap="square">
            <a:spAutoFit/>
          </a:bodyPr>
          <a:lstStyle/>
          <a:p>
            <a:r>
              <a:rPr lang="en-US" sz="3200" b="1" dirty="0"/>
              <a:t>Solution</a:t>
            </a:r>
            <a:r>
              <a:rPr lang="en-US" sz="3200" dirty="0"/>
              <a:t>: The ordered pairs in the relation are</a:t>
            </a:r>
          </a:p>
          <a:p>
            <a:r>
              <a:rPr lang="en-US" sz="3200" b="1" dirty="0">
                <a:solidFill>
                  <a:srgbClr val="0070C0"/>
                </a:solidFill>
              </a:rPr>
              <a:t>(</a:t>
            </a:r>
            <a:r>
              <a:rPr lang="en-US" sz="3200" b="1" dirty="0">
                <a:solidFill>
                  <a:srgbClr val="0070C0"/>
                </a:solidFill>
                <a:ea typeface="Cambria Math" pitchFamily="18" charset="0"/>
              </a:rPr>
              <a:t>1, 3</a:t>
            </a:r>
            <a:r>
              <a:rPr lang="en-US" sz="3200" b="1" dirty="0">
                <a:solidFill>
                  <a:srgbClr val="0070C0"/>
                </a:solidFill>
              </a:rPr>
              <a:t>), (</a:t>
            </a:r>
            <a:r>
              <a:rPr lang="en-US" sz="3200" b="1" dirty="0">
                <a:solidFill>
                  <a:srgbClr val="0070C0"/>
                </a:solidFill>
                <a:ea typeface="Cambria Math" pitchFamily="18" charset="0"/>
              </a:rPr>
              <a:t>1, 4</a:t>
            </a:r>
            <a:r>
              <a:rPr lang="en-US" sz="3200" b="1" dirty="0">
                <a:solidFill>
                  <a:srgbClr val="0070C0"/>
                </a:solidFill>
              </a:rPr>
              <a:t>), (</a:t>
            </a:r>
            <a:r>
              <a:rPr lang="en-US" sz="3200" b="1" dirty="0">
                <a:solidFill>
                  <a:srgbClr val="0070C0"/>
                </a:solidFill>
                <a:ea typeface="Cambria Math" pitchFamily="18" charset="0"/>
              </a:rPr>
              <a:t>2, 1</a:t>
            </a:r>
            <a:r>
              <a:rPr lang="en-US" sz="3200" b="1" dirty="0">
                <a:solidFill>
                  <a:srgbClr val="0070C0"/>
                </a:solidFill>
              </a:rPr>
              <a:t>), (</a:t>
            </a:r>
            <a:r>
              <a:rPr lang="en-US" sz="3200" b="1" dirty="0">
                <a:solidFill>
                  <a:srgbClr val="0070C0"/>
                </a:solidFill>
                <a:ea typeface="Cambria Math" pitchFamily="18" charset="0"/>
              </a:rPr>
              <a:t>2, 2</a:t>
            </a:r>
            <a:r>
              <a:rPr lang="en-US" sz="3200" b="1" dirty="0">
                <a:solidFill>
                  <a:srgbClr val="0070C0"/>
                </a:solidFill>
              </a:rPr>
              <a:t>), (</a:t>
            </a:r>
            <a:r>
              <a:rPr lang="en-US" sz="3200" b="1" dirty="0">
                <a:solidFill>
                  <a:srgbClr val="0070C0"/>
                </a:solidFill>
                <a:ea typeface="Cambria Math" pitchFamily="18" charset="0"/>
              </a:rPr>
              <a:t>2, 3</a:t>
            </a:r>
            <a:r>
              <a:rPr lang="en-US" sz="3200" b="1" dirty="0">
                <a:solidFill>
                  <a:srgbClr val="0070C0"/>
                </a:solidFill>
              </a:rPr>
              <a:t>), (</a:t>
            </a:r>
            <a:r>
              <a:rPr lang="en-US" sz="3200" b="1" dirty="0">
                <a:solidFill>
                  <a:srgbClr val="0070C0"/>
                </a:solidFill>
                <a:ea typeface="Cambria Math" pitchFamily="18" charset="0"/>
              </a:rPr>
              <a:t>3, 1</a:t>
            </a:r>
            <a:r>
              <a:rPr lang="en-US" sz="3200" b="1" dirty="0">
                <a:solidFill>
                  <a:srgbClr val="0070C0"/>
                </a:solidFill>
              </a:rPr>
              <a:t>), (</a:t>
            </a:r>
            <a:r>
              <a:rPr lang="en-US" sz="3200" b="1" dirty="0">
                <a:solidFill>
                  <a:srgbClr val="0070C0"/>
                </a:solidFill>
                <a:ea typeface="Cambria Math" pitchFamily="18" charset="0"/>
              </a:rPr>
              <a:t>3, 3</a:t>
            </a:r>
            <a:r>
              <a:rPr lang="en-US" sz="3200" b="1" dirty="0">
                <a:solidFill>
                  <a:srgbClr val="0070C0"/>
                </a:solidFill>
              </a:rPr>
              <a:t>), (</a:t>
            </a:r>
            <a:r>
              <a:rPr lang="en-US" sz="3200" b="1" dirty="0">
                <a:solidFill>
                  <a:srgbClr val="0070C0"/>
                </a:solidFill>
                <a:ea typeface="Cambria Math" pitchFamily="18" charset="0"/>
              </a:rPr>
              <a:t>4, 1</a:t>
            </a:r>
            <a:r>
              <a:rPr lang="en-US" sz="3200" b="1" dirty="0">
                <a:solidFill>
                  <a:srgbClr val="0070C0"/>
                </a:solidFill>
              </a:rPr>
              <a:t>),  </a:t>
            </a:r>
            <a:r>
              <a:rPr lang="en-US" sz="3200" b="1" dirty="0"/>
              <a:t>and</a:t>
            </a:r>
            <a:r>
              <a:rPr lang="en-US" sz="3200" b="1" dirty="0">
                <a:solidFill>
                  <a:srgbClr val="0070C0"/>
                </a:solidFill>
              </a:rPr>
              <a:t> (</a:t>
            </a:r>
            <a:r>
              <a:rPr lang="en-US" sz="3200" b="1" dirty="0">
                <a:solidFill>
                  <a:srgbClr val="0070C0"/>
                </a:solidFill>
                <a:ea typeface="Cambria Math" pitchFamily="18" charset="0"/>
              </a:rPr>
              <a:t>4, 3</a:t>
            </a:r>
            <a:r>
              <a:rPr lang="en-US" sz="3200" b="1" dirty="0">
                <a:solidFill>
                  <a:srgbClr val="0070C0"/>
                </a:solidFill>
              </a:rPr>
              <a:t>)</a:t>
            </a:r>
          </a:p>
        </p:txBody>
      </p:sp>
      <p:pic>
        <p:nvPicPr>
          <p:cNvPr id="8" name="Content Placeholder 5" descr="0807.jpg">
            <a:extLst>
              <a:ext uri="{FF2B5EF4-FFF2-40B4-BE49-F238E27FC236}">
                <a16:creationId xmlns:a16="http://schemas.microsoft.com/office/drawing/2014/main" id="{CBFF22A0-D17F-6F07-6DAF-68F4D2A3F73F}"/>
              </a:ext>
            </a:extLst>
          </p:cNvPr>
          <p:cNvPicPr>
            <a:picLocks noChangeAspect="1"/>
          </p:cNvPicPr>
          <p:nvPr/>
        </p:nvPicPr>
        <p:blipFill>
          <a:blip r:embed="rId2" cstate="print"/>
          <a:stretch>
            <a:fillRect/>
          </a:stretch>
        </p:blipFill>
        <p:spPr>
          <a:xfrm>
            <a:off x="5737122" y="1290274"/>
            <a:ext cx="2971800" cy="3185861"/>
          </a:xfrm>
          <a:prstGeom prst="rect">
            <a:avLst/>
          </a:prstGeom>
        </p:spPr>
      </p:pic>
    </p:spTree>
    <p:extLst>
      <p:ext uri="{BB962C8B-B14F-4D97-AF65-F5344CB8AC3E}">
        <p14:creationId xmlns:p14="http://schemas.microsoft.com/office/powerpoint/2010/main" val="46284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9329" y="0"/>
            <a:ext cx="9104671" cy="942082"/>
          </a:xfrm>
          <a:solidFill>
            <a:schemeClr val="bg1"/>
          </a:solidFill>
        </p:spPr>
        <p:txBody>
          <a:bodyPr>
            <a:noAutofit/>
          </a:bodyPr>
          <a:lstStyle/>
          <a:p>
            <a:pPr algn="ctr"/>
            <a:r>
              <a:rPr lang="en-US" sz="3600" b="1" dirty="0"/>
              <a:t>Determining which Properties a Relation has from its Digraph</a:t>
            </a:r>
          </a:p>
        </p:txBody>
      </p:sp>
      <p:sp>
        <p:nvSpPr>
          <p:cNvPr id="3" name="Content Placeholder 2"/>
          <p:cNvSpPr>
            <a:spLocks noGrp="1"/>
          </p:cNvSpPr>
          <p:nvPr>
            <p:ph idx="1"/>
          </p:nvPr>
        </p:nvSpPr>
        <p:spPr>
          <a:xfrm>
            <a:off x="39329" y="1109003"/>
            <a:ext cx="4572000" cy="5444197"/>
          </a:xfrm>
          <a:solidFill>
            <a:schemeClr val="bg1"/>
          </a:solidFill>
        </p:spPr>
        <p:txBody>
          <a:bodyPr>
            <a:noAutofit/>
          </a:bodyPr>
          <a:lstStyle/>
          <a:p>
            <a:r>
              <a:rPr lang="en-US" b="1" dirty="0">
                <a:solidFill>
                  <a:srgbClr val="C00000"/>
                </a:solidFill>
              </a:rPr>
              <a:t>1. Reflexive: </a:t>
            </a:r>
            <a:r>
              <a:rPr lang="en-US" sz="1700" dirty="0"/>
              <a:t>Every vertex must have a </a:t>
            </a:r>
            <a:r>
              <a:rPr lang="en-US" sz="1700" b="1" dirty="0"/>
              <a:t>loop</a:t>
            </a:r>
            <a:r>
              <a:rPr lang="en-US" sz="1700" dirty="0"/>
              <a:t>.</a:t>
            </a:r>
          </a:p>
          <a:p>
            <a:r>
              <a:rPr lang="en-US" sz="1700" dirty="0"/>
              <a:t>That means:</a:t>
            </a:r>
          </a:p>
          <a:p>
            <a:r>
              <a:rPr lang="en-US" sz="1700" dirty="0"/>
              <a:t>For every element </a:t>
            </a:r>
            <a:r>
              <a:rPr lang="en-US" sz="1700" b="1" dirty="0"/>
              <a:t>x</a:t>
            </a:r>
          </a:p>
          <a:p>
            <a:r>
              <a:rPr lang="en-US" sz="1700" dirty="0"/>
              <a:t>The pair </a:t>
            </a:r>
            <a:r>
              <a:rPr lang="en-US" sz="1700" b="1" dirty="0">
                <a:solidFill>
                  <a:srgbClr val="0070C0"/>
                </a:solidFill>
              </a:rPr>
              <a:t>(x, x) </a:t>
            </a:r>
            <a:r>
              <a:rPr lang="en-US" sz="1700" dirty="0"/>
              <a:t>must exist</a:t>
            </a:r>
          </a:p>
          <a:p>
            <a:r>
              <a:rPr lang="en-US" sz="1700" dirty="0"/>
              <a:t>In the graph: Every vertex must have a </a:t>
            </a:r>
            <a:r>
              <a:rPr lang="en-US" sz="1700" b="1" dirty="0"/>
              <a:t>small circle (loop) </a:t>
            </a:r>
            <a:r>
              <a:rPr lang="en-US" sz="1700" dirty="0"/>
              <a:t>on itself.</a:t>
            </a:r>
          </a:p>
          <a:p>
            <a:r>
              <a:rPr lang="en-US" sz="1700" dirty="0"/>
              <a:t>If even </a:t>
            </a:r>
            <a:r>
              <a:rPr lang="en-US" sz="1700" b="1" dirty="0"/>
              <a:t>one vertex</a:t>
            </a:r>
            <a:r>
              <a:rPr lang="en-US" sz="1700" dirty="0"/>
              <a:t> does not have a loop, Then it is </a:t>
            </a:r>
            <a:r>
              <a:rPr lang="en-US" sz="1700" b="1" dirty="0"/>
              <a:t>NOT reflexive</a:t>
            </a:r>
            <a:r>
              <a:rPr lang="en-US" sz="1700" dirty="0"/>
              <a:t>.</a:t>
            </a:r>
          </a:p>
          <a:p>
            <a:endParaRPr lang="en-US" sz="1700" dirty="0"/>
          </a:p>
          <a:p>
            <a:r>
              <a:rPr lang="en-US" b="1" dirty="0">
                <a:solidFill>
                  <a:srgbClr val="C00000"/>
                </a:solidFill>
              </a:rPr>
              <a:t>2. Symmetric</a:t>
            </a:r>
          </a:p>
          <a:p>
            <a:r>
              <a:rPr lang="en-US" sz="1700" dirty="0"/>
              <a:t>If there is an arrow from </a:t>
            </a:r>
            <a:r>
              <a:rPr lang="en-US" sz="1700" b="1" dirty="0">
                <a:solidFill>
                  <a:srgbClr val="0070C0"/>
                </a:solidFill>
              </a:rPr>
              <a:t>x to y</a:t>
            </a:r>
            <a:r>
              <a:rPr lang="en-US" sz="1700" dirty="0"/>
              <a:t>,</a:t>
            </a:r>
            <a:br>
              <a:rPr lang="en-US" sz="1700" dirty="0"/>
            </a:br>
            <a:r>
              <a:rPr lang="en-US" sz="1700" dirty="0"/>
              <a:t>there must also be an arrow from </a:t>
            </a:r>
            <a:r>
              <a:rPr lang="en-US" sz="1700" b="1" dirty="0">
                <a:solidFill>
                  <a:srgbClr val="0070C0"/>
                </a:solidFill>
              </a:rPr>
              <a:t>y to x</a:t>
            </a:r>
            <a:r>
              <a:rPr lang="en-US" sz="1700" dirty="0"/>
              <a:t>.</a:t>
            </a:r>
          </a:p>
          <a:p>
            <a:r>
              <a:rPr lang="en-US" sz="1700" dirty="0"/>
              <a:t>So If </a:t>
            </a:r>
            <a:r>
              <a:rPr lang="en-US" sz="1700" b="1" dirty="0">
                <a:solidFill>
                  <a:srgbClr val="0070C0"/>
                </a:solidFill>
              </a:rPr>
              <a:t>(x, y) </a:t>
            </a:r>
            <a:r>
              <a:rPr lang="en-US" sz="1700" dirty="0"/>
              <a:t>exists, then </a:t>
            </a:r>
            <a:r>
              <a:rPr lang="en-US" sz="1700" b="1" dirty="0">
                <a:solidFill>
                  <a:srgbClr val="0070C0"/>
                </a:solidFill>
              </a:rPr>
              <a:t>(y, x) </a:t>
            </a:r>
            <a:r>
              <a:rPr lang="en-US" sz="1700" dirty="0"/>
              <a:t>must also exist.</a:t>
            </a:r>
          </a:p>
          <a:p>
            <a:r>
              <a:rPr lang="en-US" sz="1700" dirty="0"/>
              <a:t>In the graph: Every arrow must have a matching arrow going back.</a:t>
            </a:r>
          </a:p>
          <a:p>
            <a:r>
              <a:rPr lang="en-US" sz="1700" dirty="0"/>
              <a:t>Example:</a:t>
            </a:r>
            <a:br>
              <a:rPr lang="en-US" sz="1700" dirty="0"/>
            </a:br>
            <a:r>
              <a:rPr lang="en-US" sz="1700" b="1" dirty="0">
                <a:solidFill>
                  <a:srgbClr val="0070C0"/>
                </a:solidFill>
              </a:rPr>
              <a:t>x → y</a:t>
            </a:r>
            <a:br>
              <a:rPr lang="en-US" sz="1700" b="1" dirty="0">
                <a:solidFill>
                  <a:srgbClr val="0070C0"/>
                </a:solidFill>
              </a:rPr>
            </a:br>
            <a:r>
              <a:rPr lang="en-US" sz="1700" b="1" dirty="0" err="1">
                <a:solidFill>
                  <a:srgbClr val="0070C0"/>
                </a:solidFill>
              </a:rPr>
              <a:t>y</a:t>
            </a:r>
            <a:r>
              <a:rPr lang="en-US" sz="1700" b="1" dirty="0">
                <a:solidFill>
                  <a:srgbClr val="0070C0"/>
                </a:solidFill>
              </a:rPr>
              <a:t> → x</a:t>
            </a:r>
          </a:p>
          <a:p>
            <a:r>
              <a:rPr lang="en-US" sz="1700" dirty="0"/>
              <a:t>If one direction is missing, Then it is </a:t>
            </a:r>
            <a:r>
              <a:rPr lang="en-US" sz="1700" b="1" dirty="0"/>
              <a:t>NOT symmetric</a:t>
            </a:r>
            <a:r>
              <a:rPr lang="en-US" sz="1700" dirty="0"/>
              <a:t>.</a:t>
            </a:r>
          </a:p>
        </p:txBody>
      </p:sp>
      <p:sp>
        <p:nvSpPr>
          <p:cNvPr id="4" name="TextBox 3"/>
          <p:cNvSpPr txBox="1"/>
          <p:nvPr/>
        </p:nvSpPr>
        <p:spPr>
          <a:xfrm>
            <a:off x="4611329" y="1332046"/>
            <a:ext cx="4532671" cy="2185214"/>
          </a:xfrm>
          <a:prstGeom prst="rect">
            <a:avLst/>
          </a:prstGeom>
          <a:solidFill>
            <a:schemeClr val="bg1"/>
          </a:solidFill>
        </p:spPr>
        <p:txBody>
          <a:bodyPr wrap="square" rtlCol="0">
            <a:spAutoFit/>
          </a:bodyPr>
          <a:lstStyle/>
          <a:p>
            <a:r>
              <a:rPr lang="en-US" b="1" dirty="0">
                <a:solidFill>
                  <a:srgbClr val="C00000"/>
                </a:solidFill>
              </a:rPr>
              <a:t>3. Antisymmetric</a:t>
            </a:r>
            <a:endParaRPr lang="en-US" dirty="0">
              <a:solidFill>
                <a:srgbClr val="C00000"/>
              </a:solidFill>
            </a:endParaRPr>
          </a:p>
          <a:p>
            <a:pPr marL="285750" indent="-285750">
              <a:buClr>
                <a:schemeClr val="accent1"/>
              </a:buClr>
              <a:buFont typeface="Arial" panose="020B0604020202020204" pitchFamily="34" charset="0"/>
              <a:buChar char="•"/>
            </a:pPr>
            <a:r>
              <a:rPr lang="en-US" sz="1700" dirty="0"/>
              <a:t>If </a:t>
            </a:r>
            <a:r>
              <a:rPr lang="en-US" sz="1700" b="1" dirty="0">
                <a:solidFill>
                  <a:srgbClr val="0070C0"/>
                </a:solidFill>
              </a:rPr>
              <a:t>x → y</a:t>
            </a:r>
            <a:r>
              <a:rPr lang="en-US" sz="1700" dirty="0"/>
              <a:t> exists (and x ≠ y),</a:t>
            </a:r>
            <a:br>
              <a:rPr lang="en-US" sz="1700" dirty="0"/>
            </a:br>
            <a:r>
              <a:rPr lang="en-US" sz="1700" dirty="0"/>
              <a:t>then </a:t>
            </a:r>
            <a:r>
              <a:rPr lang="en-US" sz="1700" b="1" dirty="0">
                <a:solidFill>
                  <a:srgbClr val="0070C0"/>
                </a:solidFill>
              </a:rPr>
              <a:t>y → x </a:t>
            </a:r>
            <a:r>
              <a:rPr lang="en-US" sz="1700" dirty="0"/>
              <a:t>must NOT exist.</a:t>
            </a:r>
          </a:p>
          <a:p>
            <a:r>
              <a:rPr lang="en-US" sz="1700" dirty="0"/>
              <a:t>So you cannot have arrows both ways </a:t>
            </a:r>
          </a:p>
          <a:p>
            <a:r>
              <a:rPr lang="en-US" sz="1700" dirty="0"/>
              <a:t>between two different vertices.</a:t>
            </a:r>
          </a:p>
          <a:p>
            <a:r>
              <a:rPr lang="en-US" sz="1700" dirty="0"/>
              <a:t>If you see: </a:t>
            </a:r>
            <a:r>
              <a:rPr lang="en-US" sz="1700" b="1" dirty="0">
                <a:solidFill>
                  <a:srgbClr val="0070C0"/>
                </a:solidFill>
              </a:rPr>
              <a:t>x → y</a:t>
            </a:r>
            <a:br>
              <a:rPr lang="en-US" sz="1700" b="1" dirty="0">
                <a:solidFill>
                  <a:srgbClr val="0070C0"/>
                </a:solidFill>
              </a:rPr>
            </a:br>
            <a:r>
              <a:rPr lang="en-US" sz="1700" dirty="0"/>
              <a:t>and </a:t>
            </a:r>
            <a:r>
              <a:rPr lang="en-US" sz="1700" b="1" dirty="0">
                <a:solidFill>
                  <a:srgbClr val="0070C0"/>
                </a:solidFill>
              </a:rPr>
              <a:t>y → x</a:t>
            </a:r>
          </a:p>
          <a:p>
            <a:r>
              <a:rPr lang="en-US" sz="1700" dirty="0"/>
              <a:t>and </a:t>
            </a:r>
            <a:r>
              <a:rPr lang="en-US" sz="1700" b="1" dirty="0">
                <a:solidFill>
                  <a:srgbClr val="0070C0"/>
                </a:solidFill>
              </a:rPr>
              <a:t>x ≠ y, </a:t>
            </a:r>
            <a:r>
              <a:rPr lang="en-US" sz="1700" dirty="0"/>
              <a:t>then it is NOT antisymmetric.</a:t>
            </a:r>
          </a:p>
        </p:txBody>
      </p:sp>
      <p:sp>
        <p:nvSpPr>
          <p:cNvPr id="5" name="TextBox 4"/>
          <p:cNvSpPr txBox="1"/>
          <p:nvPr/>
        </p:nvSpPr>
        <p:spPr>
          <a:xfrm>
            <a:off x="4495801" y="3879415"/>
            <a:ext cx="4572000" cy="2446824"/>
          </a:xfrm>
          <a:prstGeom prst="rect">
            <a:avLst/>
          </a:prstGeom>
          <a:solidFill>
            <a:schemeClr val="bg1"/>
          </a:solidFill>
        </p:spPr>
        <p:txBody>
          <a:bodyPr wrap="square" rtlCol="0">
            <a:spAutoFit/>
          </a:bodyPr>
          <a:lstStyle/>
          <a:p>
            <a:r>
              <a:rPr lang="en-US" b="1" dirty="0">
                <a:solidFill>
                  <a:srgbClr val="C00000"/>
                </a:solidFill>
              </a:rPr>
              <a:t>4. Transitive: </a:t>
            </a:r>
            <a:r>
              <a:rPr lang="en-US" sz="1700" dirty="0"/>
              <a:t>This means:</a:t>
            </a:r>
          </a:p>
          <a:p>
            <a:r>
              <a:rPr lang="en-US" sz="1700" dirty="0"/>
              <a:t>If you can go from </a:t>
            </a:r>
            <a:r>
              <a:rPr lang="en-US" sz="1700" b="1" dirty="0">
                <a:solidFill>
                  <a:srgbClr val="0070C0"/>
                </a:solidFill>
              </a:rPr>
              <a:t>x → y</a:t>
            </a:r>
            <a:br>
              <a:rPr lang="en-US" sz="1700" b="1" dirty="0">
                <a:solidFill>
                  <a:srgbClr val="0070C0"/>
                </a:solidFill>
              </a:rPr>
            </a:br>
            <a:r>
              <a:rPr lang="en-US" sz="1700" dirty="0"/>
              <a:t>and from </a:t>
            </a:r>
            <a:r>
              <a:rPr lang="en-US" sz="1700" b="1" dirty="0">
                <a:solidFill>
                  <a:srgbClr val="0070C0"/>
                </a:solidFill>
              </a:rPr>
              <a:t>y → z</a:t>
            </a:r>
            <a:br>
              <a:rPr lang="en-US" sz="1700" b="1" dirty="0">
                <a:solidFill>
                  <a:srgbClr val="0070C0"/>
                </a:solidFill>
              </a:rPr>
            </a:br>
            <a:r>
              <a:rPr lang="en-US" sz="1700" dirty="0"/>
              <a:t>then you must also be able to go from </a:t>
            </a:r>
            <a:r>
              <a:rPr lang="en-US" sz="1700" b="1" dirty="0">
                <a:solidFill>
                  <a:srgbClr val="0070C0"/>
                </a:solidFill>
              </a:rPr>
              <a:t>x → z</a:t>
            </a:r>
            <a:r>
              <a:rPr lang="en-US" sz="1700" dirty="0"/>
              <a:t>.</a:t>
            </a:r>
          </a:p>
          <a:p>
            <a:r>
              <a:rPr lang="en-US" sz="1700" dirty="0"/>
              <a:t>So if: </a:t>
            </a:r>
            <a:r>
              <a:rPr lang="en-US" sz="1700" b="1" dirty="0">
                <a:solidFill>
                  <a:srgbClr val="0070C0"/>
                </a:solidFill>
              </a:rPr>
              <a:t>x → y</a:t>
            </a:r>
            <a:br>
              <a:rPr lang="en-US" sz="1700" b="1" dirty="0">
                <a:solidFill>
                  <a:srgbClr val="0070C0"/>
                </a:solidFill>
              </a:rPr>
            </a:br>
            <a:r>
              <a:rPr lang="en-US" sz="1700" b="1" dirty="0">
                <a:solidFill>
                  <a:srgbClr val="0070C0"/>
                </a:solidFill>
              </a:rPr>
              <a:t>          </a:t>
            </a:r>
            <a:r>
              <a:rPr lang="en-US" sz="1700" b="1" dirty="0" err="1">
                <a:solidFill>
                  <a:srgbClr val="0070C0"/>
                </a:solidFill>
              </a:rPr>
              <a:t>y</a:t>
            </a:r>
            <a:r>
              <a:rPr lang="en-US" sz="1700" b="1" dirty="0">
                <a:solidFill>
                  <a:srgbClr val="0070C0"/>
                </a:solidFill>
              </a:rPr>
              <a:t> → z</a:t>
            </a:r>
          </a:p>
          <a:p>
            <a:r>
              <a:rPr lang="en-US" sz="1700" dirty="0"/>
              <a:t>Then </a:t>
            </a:r>
            <a:r>
              <a:rPr lang="en-US" sz="1700" b="1" dirty="0">
                <a:solidFill>
                  <a:srgbClr val="0070C0"/>
                </a:solidFill>
              </a:rPr>
              <a:t>(x → z</a:t>
            </a:r>
            <a:r>
              <a:rPr lang="en-US" sz="1700" dirty="0"/>
              <a:t>) must also be present.</a:t>
            </a:r>
          </a:p>
          <a:p>
            <a:r>
              <a:rPr lang="en-US" sz="1700" dirty="0"/>
              <a:t>If that direct arrow is missing </a:t>
            </a:r>
            <a:br>
              <a:rPr lang="en-US" sz="1700" dirty="0"/>
            </a:br>
            <a:r>
              <a:rPr lang="en-US" sz="1700" dirty="0"/>
              <a:t>Then it is NOT transitive.</a:t>
            </a:r>
          </a:p>
        </p:txBody>
      </p:sp>
    </p:spTree>
    <p:extLst>
      <p:ext uri="{BB962C8B-B14F-4D97-AF65-F5344CB8AC3E}">
        <p14:creationId xmlns:p14="http://schemas.microsoft.com/office/powerpoint/2010/main" val="713707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68300">
              <a:lnSpc>
                <a:spcPct val="100000"/>
              </a:lnSpc>
              <a:spcBef>
                <a:spcPts val="100"/>
              </a:spcBef>
            </a:pPr>
            <a:r>
              <a:rPr sz="2400" dirty="0"/>
              <a:t>DIRECTED</a:t>
            </a:r>
            <a:r>
              <a:rPr sz="2400" spc="-55" dirty="0"/>
              <a:t> </a:t>
            </a:r>
            <a:r>
              <a:rPr sz="2400" dirty="0"/>
              <a:t>GRAPH</a:t>
            </a:r>
            <a:r>
              <a:rPr sz="2400" spc="-20" dirty="0"/>
              <a:t> </a:t>
            </a:r>
            <a:r>
              <a:rPr sz="2400" dirty="0"/>
              <a:t>OF</a:t>
            </a:r>
            <a:r>
              <a:rPr sz="2400" spc="-160" dirty="0"/>
              <a:t> </a:t>
            </a:r>
            <a:r>
              <a:rPr sz="2400" dirty="0"/>
              <a:t>A</a:t>
            </a:r>
            <a:r>
              <a:rPr sz="2400" spc="-150" dirty="0"/>
              <a:t> </a:t>
            </a:r>
            <a:r>
              <a:rPr sz="2400" dirty="0"/>
              <a:t>REFLEXIVE</a:t>
            </a:r>
            <a:r>
              <a:rPr sz="2400" spc="-50" dirty="0"/>
              <a:t> </a:t>
            </a:r>
            <a:r>
              <a:rPr sz="2400" spc="-10" dirty="0"/>
              <a:t>RELATION</a:t>
            </a:r>
            <a:endParaRPr sz="2400"/>
          </a:p>
        </p:txBody>
      </p:sp>
      <p:sp>
        <p:nvSpPr>
          <p:cNvPr id="3" name="object 3"/>
          <p:cNvSpPr txBox="1"/>
          <p:nvPr/>
        </p:nvSpPr>
        <p:spPr>
          <a:xfrm>
            <a:off x="231140" y="1113535"/>
            <a:ext cx="6250305" cy="1064394"/>
          </a:xfrm>
          <a:prstGeom prst="rect">
            <a:avLst/>
          </a:prstGeom>
        </p:spPr>
        <p:txBody>
          <a:bodyPr vert="horz" wrap="square" lIns="0" tIns="12700" rIns="0" bIns="0" rtlCol="0">
            <a:spAutoFit/>
          </a:bodyPr>
          <a:lstStyle/>
          <a:p>
            <a:pPr marL="12700" marR="5080">
              <a:lnSpc>
                <a:spcPct val="100000"/>
              </a:lnSpc>
              <a:spcBef>
                <a:spcPts val="100"/>
              </a:spcBef>
              <a:tabLst>
                <a:tab pos="1841500" algn="l"/>
              </a:tabLst>
            </a:pPr>
            <a:r>
              <a:rPr sz="2000" b="1" dirty="0">
                <a:solidFill>
                  <a:srgbClr val="00AFEF"/>
                </a:solidFill>
                <a:latin typeface="Times New Roman"/>
                <a:cs typeface="Times New Roman"/>
              </a:rPr>
              <a:t>The</a:t>
            </a:r>
            <a:r>
              <a:rPr sz="2000" b="1" spc="-40" dirty="0">
                <a:solidFill>
                  <a:srgbClr val="00AFEF"/>
                </a:solidFill>
                <a:latin typeface="Times New Roman"/>
                <a:cs typeface="Times New Roman"/>
              </a:rPr>
              <a:t> </a:t>
            </a:r>
            <a:r>
              <a:rPr sz="2000" b="1" dirty="0">
                <a:solidFill>
                  <a:srgbClr val="00AFEF"/>
                </a:solidFill>
                <a:latin typeface="Times New Roman"/>
                <a:cs typeface="Times New Roman"/>
              </a:rPr>
              <a:t>directed</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graph</a:t>
            </a:r>
            <a:r>
              <a:rPr sz="2000" b="1" spc="-40" dirty="0">
                <a:solidFill>
                  <a:srgbClr val="00AFEF"/>
                </a:solidFill>
                <a:latin typeface="Times New Roman"/>
                <a:cs typeface="Times New Roman"/>
              </a:rPr>
              <a:t> </a:t>
            </a:r>
            <a:r>
              <a:rPr sz="2000" b="1" dirty="0">
                <a:solidFill>
                  <a:srgbClr val="00AFEF"/>
                </a:solidFill>
                <a:latin typeface="Times New Roman"/>
                <a:cs typeface="Times New Roman"/>
              </a:rPr>
              <a:t>of</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every</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reflexive</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relation</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includes</a:t>
            </a:r>
            <a:r>
              <a:rPr sz="2000" b="1" spc="-35" dirty="0">
                <a:solidFill>
                  <a:srgbClr val="00AFEF"/>
                </a:solidFill>
                <a:latin typeface="Times New Roman"/>
                <a:cs typeface="Times New Roman"/>
              </a:rPr>
              <a:t> </a:t>
            </a:r>
            <a:r>
              <a:rPr sz="2000" b="1" dirty="0">
                <a:solidFill>
                  <a:srgbClr val="00AFEF"/>
                </a:solidFill>
                <a:latin typeface="Times New Roman"/>
                <a:cs typeface="Times New Roman"/>
              </a:rPr>
              <a:t>an</a:t>
            </a:r>
            <a:r>
              <a:rPr sz="2000" b="1" spc="-35" dirty="0">
                <a:solidFill>
                  <a:srgbClr val="00AFEF"/>
                </a:solidFill>
                <a:latin typeface="Times New Roman"/>
                <a:cs typeface="Times New Roman"/>
              </a:rPr>
              <a:t> </a:t>
            </a:r>
            <a:r>
              <a:rPr sz="2000" b="1" spc="-10" dirty="0">
                <a:solidFill>
                  <a:srgbClr val="00AFEF"/>
                </a:solidFill>
                <a:latin typeface="Times New Roman"/>
                <a:cs typeface="Times New Roman"/>
              </a:rPr>
              <a:t>arrow </a:t>
            </a:r>
            <a:r>
              <a:rPr sz="2000" b="1" dirty="0">
                <a:solidFill>
                  <a:srgbClr val="00AFEF"/>
                </a:solidFill>
                <a:latin typeface="Times New Roman"/>
                <a:cs typeface="Times New Roman"/>
              </a:rPr>
              <a:t>from</a:t>
            </a:r>
            <a:r>
              <a:rPr sz="2000" b="1" spc="-70" dirty="0">
                <a:solidFill>
                  <a:srgbClr val="00AFEF"/>
                </a:solidFill>
                <a:latin typeface="Times New Roman"/>
                <a:cs typeface="Times New Roman"/>
              </a:rPr>
              <a:t> </a:t>
            </a:r>
            <a:r>
              <a:rPr sz="2000" b="1" dirty="0">
                <a:solidFill>
                  <a:srgbClr val="00AFEF"/>
                </a:solidFill>
                <a:latin typeface="Times New Roman"/>
                <a:cs typeface="Times New Roman"/>
              </a:rPr>
              <a:t>every</a:t>
            </a:r>
            <a:r>
              <a:rPr sz="2000" b="1" spc="-55" dirty="0">
                <a:solidFill>
                  <a:srgbClr val="00AFEF"/>
                </a:solidFill>
                <a:latin typeface="Times New Roman"/>
                <a:cs typeface="Times New Roman"/>
              </a:rPr>
              <a:t> </a:t>
            </a:r>
            <a:r>
              <a:rPr sz="2000" b="1" spc="-20" dirty="0">
                <a:solidFill>
                  <a:srgbClr val="00AFEF"/>
                </a:solidFill>
                <a:latin typeface="Times New Roman"/>
                <a:cs typeface="Times New Roman"/>
              </a:rPr>
              <a:t>point</a:t>
            </a:r>
            <a:r>
              <a:rPr lang="en-US" sz="2000" b="1" spc="-20" dirty="0">
                <a:solidFill>
                  <a:srgbClr val="00AFEF"/>
                </a:solidFill>
                <a:latin typeface="Times New Roman"/>
                <a:cs typeface="Times New Roman"/>
              </a:rPr>
              <a:t> </a:t>
            </a:r>
            <a:r>
              <a:rPr sz="2000" b="1" dirty="0">
                <a:solidFill>
                  <a:srgbClr val="00AFEF"/>
                </a:solidFill>
                <a:latin typeface="Times New Roman"/>
                <a:cs typeface="Times New Roman"/>
              </a:rPr>
              <a:t>to</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the</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point</a:t>
            </a:r>
            <a:r>
              <a:rPr sz="2000" b="1" spc="-15" dirty="0">
                <a:solidFill>
                  <a:srgbClr val="00AFEF"/>
                </a:solidFill>
                <a:latin typeface="Times New Roman"/>
                <a:cs typeface="Times New Roman"/>
              </a:rPr>
              <a:t> </a:t>
            </a:r>
            <a:r>
              <a:rPr sz="2000" b="1" dirty="0">
                <a:solidFill>
                  <a:srgbClr val="00AFEF"/>
                </a:solidFill>
                <a:latin typeface="Times New Roman"/>
                <a:cs typeface="Times New Roman"/>
              </a:rPr>
              <a:t>itself</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(i.e.,</a:t>
            </a:r>
            <a:r>
              <a:rPr sz="2000" b="1" spc="-20" dirty="0">
                <a:solidFill>
                  <a:srgbClr val="00AFEF"/>
                </a:solidFill>
                <a:latin typeface="Times New Roman"/>
                <a:cs typeface="Times New Roman"/>
              </a:rPr>
              <a:t> </a:t>
            </a:r>
            <a:r>
              <a:rPr sz="2000" b="1" dirty="0">
                <a:solidFill>
                  <a:srgbClr val="00AFEF"/>
                </a:solidFill>
                <a:latin typeface="Times New Roman"/>
                <a:cs typeface="Times New Roman"/>
              </a:rPr>
              <a:t>a</a:t>
            </a:r>
            <a:r>
              <a:rPr sz="2000" b="1" spc="-15" dirty="0">
                <a:solidFill>
                  <a:srgbClr val="00AFEF"/>
                </a:solidFill>
                <a:latin typeface="Times New Roman"/>
                <a:cs typeface="Times New Roman"/>
              </a:rPr>
              <a:t> </a:t>
            </a:r>
            <a:r>
              <a:rPr sz="2000" b="1" spc="-10" dirty="0">
                <a:solidFill>
                  <a:srgbClr val="00AFEF"/>
                </a:solidFill>
                <a:latin typeface="Times New Roman"/>
                <a:cs typeface="Times New Roman"/>
              </a:rPr>
              <a:t>loop).</a:t>
            </a:r>
            <a:endParaRPr sz="2000" dirty="0">
              <a:latin typeface="Times New Roman"/>
              <a:cs typeface="Times New Roman"/>
            </a:endParaRPr>
          </a:p>
          <a:p>
            <a:pPr marL="12700">
              <a:lnSpc>
                <a:spcPct val="100000"/>
              </a:lnSpc>
              <a:spcBef>
                <a:spcPts val="994"/>
              </a:spcBef>
            </a:pPr>
            <a:r>
              <a:rPr sz="2000" b="1" dirty="0">
                <a:solidFill>
                  <a:srgbClr val="90C225"/>
                </a:solidFill>
                <a:latin typeface="Times New Roman"/>
                <a:cs typeface="Times New Roman"/>
              </a:rPr>
              <a:t>EXAMPLE </a:t>
            </a:r>
            <a:r>
              <a:rPr sz="2000" b="1" spc="-50" dirty="0">
                <a:solidFill>
                  <a:srgbClr val="90C225"/>
                </a:solidFill>
                <a:latin typeface="Times New Roman"/>
                <a:cs typeface="Times New Roman"/>
              </a:rPr>
              <a:t>Q</a:t>
            </a:r>
            <a:endParaRPr sz="2000" dirty="0">
              <a:latin typeface="Times New Roman"/>
              <a:cs typeface="Times New Roman"/>
            </a:endParaRPr>
          </a:p>
        </p:txBody>
      </p:sp>
      <p:sp>
        <p:nvSpPr>
          <p:cNvPr id="4" name="object 4"/>
          <p:cNvSpPr txBox="1"/>
          <p:nvPr/>
        </p:nvSpPr>
        <p:spPr>
          <a:xfrm>
            <a:off x="205740" y="2190241"/>
            <a:ext cx="4285615" cy="2580640"/>
          </a:xfrm>
          <a:prstGeom prst="rect">
            <a:avLst/>
          </a:prstGeom>
        </p:spPr>
        <p:txBody>
          <a:bodyPr vert="horz" wrap="square" lIns="0" tIns="12700" rIns="0" bIns="0" rtlCol="0">
            <a:spAutoFit/>
          </a:bodyPr>
          <a:lstStyle/>
          <a:p>
            <a:pPr marL="38100" marR="147320">
              <a:lnSpc>
                <a:spcPct val="100000"/>
              </a:lnSpc>
              <a:spcBef>
                <a:spcPts val="100"/>
              </a:spcBef>
            </a:pPr>
            <a:r>
              <a:rPr sz="1800" b="1" spc="-10" dirty="0">
                <a:solidFill>
                  <a:srgbClr val="404040"/>
                </a:solidFill>
                <a:latin typeface="Times New Roman"/>
                <a:cs typeface="Times New Roman"/>
              </a:rPr>
              <a:t>Let</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3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define</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relations</a:t>
            </a:r>
            <a:r>
              <a:rPr sz="1800" b="1" spc="-20" dirty="0">
                <a:solidFill>
                  <a:srgbClr val="404040"/>
                </a:solidFill>
                <a:latin typeface="Times New Roman"/>
                <a:cs typeface="Times New Roman"/>
              </a:rPr>
              <a:t> </a:t>
            </a:r>
            <a:r>
              <a:rPr sz="1800" b="1" spc="-25" dirty="0">
                <a:solidFill>
                  <a:srgbClr val="404040"/>
                </a:solidFill>
                <a:latin typeface="Times New Roman"/>
                <a:cs typeface="Times New Roman"/>
              </a:rPr>
              <a:t>R</a:t>
            </a:r>
            <a:r>
              <a:rPr sz="1800" b="1" spc="-37" baseline="-20833" dirty="0">
                <a:solidFill>
                  <a:srgbClr val="404040"/>
                </a:solidFill>
                <a:latin typeface="Times New Roman"/>
                <a:cs typeface="Times New Roman"/>
              </a:rPr>
              <a:t>1</a:t>
            </a:r>
            <a:r>
              <a:rPr sz="1800" b="1" spc="-2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00" dirty="0">
                <a:solidFill>
                  <a:srgbClr val="404040"/>
                </a:solidFill>
                <a:latin typeface="Times New Roman"/>
                <a:cs typeface="Times New Roman"/>
              </a:rPr>
              <a:t> </a:t>
            </a:r>
            <a:r>
              <a:rPr sz="1800" b="1" spc="-25" dirty="0">
                <a:solidFill>
                  <a:srgbClr val="404040"/>
                </a:solidFill>
                <a:latin typeface="Times New Roman"/>
                <a:cs typeface="Times New Roman"/>
              </a:rPr>
              <a:t>by</a:t>
            </a:r>
            <a:endParaRPr sz="1800">
              <a:latin typeface="Times New Roman"/>
              <a:cs typeface="Times New Roman"/>
            </a:endParaRPr>
          </a:p>
          <a:p>
            <a:pPr marL="381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0"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a:latin typeface="Times New Roman"/>
              <a:cs typeface="Times New Roman"/>
            </a:endParaRPr>
          </a:p>
          <a:p>
            <a:pPr marL="38100">
              <a:lnSpc>
                <a:spcPct val="100000"/>
              </a:lnSpc>
              <a:spcBef>
                <a:spcPts val="994"/>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3)}</a:t>
            </a:r>
            <a:endParaRPr sz="1800">
              <a:latin typeface="Times New Roman"/>
              <a:cs typeface="Times New Roman"/>
            </a:endParaRPr>
          </a:p>
          <a:p>
            <a:pPr marL="38100">
              <a:lnSpc>
                <a:spcPct val="100000"/>
              </a:lnSpc>
              <a:spcBef>
                <a:spcPts val="1000"/>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a:latin typeface="Times New Roman"/>
              <a:cs typeface="Times New Roman"/>
            </a:endParaRPr>
          </a:p>
          <a:p>
            <a:pPr marL="381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4</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3)}</a:t>
            </a:r>
            <a:endParaRPr sz="1800">
              <a:latin typeface="Times New Roman"/>
              <a:cs typeface="Times New Roman"/>
            </a:endParaRPr>
          </a:p>
          <a:p>
            <a:pPr marL="38100">
              <a:lnSpc>
                <a:spcPct val="100000"/>
              </a:lnSpc>
              <a:spcBef>
                <a:spcPts val="994"/>
              </a:spcBef>
            </a:pPr>
            <a:r>
              <a:rPr sz="1800" b="1" dirty="0">
                <a:solidFill>
                  <a:srgbClr val="404040"/>
                </a:solidFill>
                <a:latin typeface="Times New Roman"/>
                <a:cs typeface="Times New Roman"/>
              </a:rPr>
              <a:t>Then</a:t>
            </a:r>
            <a:r>
              <a:rPr sz="1800" b="1" spc="-30" dirty="0">
                <a:solidFill>
                  <a:srgbClr val="404040"/>
                </a:solidFill>
                <a:latin typeface="Times New Roman"/>
                <a:cs typeface="Times New Roman"/>
              </a:rPr>
              <a:t> </a:t>
            </a:r>
            <a:r>
              <a:rPr sz="1800" b="1" dirty="0">
                <a:solidFill>
                  <a:srgbClr val="404040"/>
                </a:solidFill>
                <a:latin typeface="Times New Roman"/>
                <a:cs typeface="Times New Roman"/>
              </a:rPr>
              <a:t>their</a:t>
            </a:r>
            <a:r>
              <a:rPr sz="1800" b="1" spc="-60" dirty="0">
                <a:solidFill>
                  <a:srgbClr val="404040"/>
                </a:solidFill>
                <a:latin typeface="Times New Roman"/>
                <a:cs typeface="Times New Roman"/>
              </a:rPr>
              <a:t> </a:t>
            </a:r>
            <a:r>
              <a:rPr sz="1800" b="1" dirty="0">
                <a:solidFill>
                  <a:srgbClr val="404040"/>
                </a:solidFill>
                <a:latin typeface="Times New Roman"/>
                <a:cs typeface="Times New Roman"/>
              </a:rPr>
              <a:t>directed</a:t>
            </a:r>
            <a:r>
              <a:rPr sz="1800" b="1" spc="-30" dirty="0">
                <a:solidFill>
                  <a:srgbClr val="404040"/>
                </a:solidFill>
                <a:latin typeface="Times New Roman"/>
                <a:cs typeface="Times New Roman"/>
              </a:rPr>
              <a:t> </a:t>
            </a:r>
            <a:r>
              <a:rPr sz="1800" b="1" dirty="0">
                <a:solidFill>
                  <a:srgbClr val="404040"/>
                </a:solidFill>
                <a:latin typeface="Times New Roman"/>
                <a:cs typeface="Times New Roman"/>
              </a:rPr>
              <a:t>graphs</a:t>
            </a:r>
            <a:r>
              <a:rPr sz="1800" b="1" spc="-30" dirty="0">
                <a:solidFill>
                  <a:srgbClr val="404040"/>
                </a:solidFill>
                <a:latin typeface="Times New Roman"/>
                <a:cs typeface="Times New Roman"/>
              </a:rPr>
              <a:t> </a:t>
            </a:r>
            <a:r>
              <a:rPr sz="1800" b="1" spc="-20" dirty="0">
                <a:solidFill>
                  <a:srgbClr val="404040"/>
                </a:solidFill>
                <a:latin typeface="Times New Roman"/>
                <a:cs typeface="Times New Roman"/>
              </a:rPr>
              <a:t>are:</a:t>
            </a:r>
            <a:endParaRPr sz="1800">
              <a:latin typeface="Times New Roman"/>
              <a:cs typeface="Times New Roman"/>
            </a:endParaRPr>
          </a:p>
        </p:txBody>
      </p:sp>
      <p:sp>
        <p:nvSpPr>
          <p:cNvPr id="5" name="object 5"/>
          <p:cNvSpPr txBox="1"/>
          <p:nvPr/>
        </p:nvSpPr>
        <p:spPr>
          <a:xfrm>
            <a:off x="4467225" y="2190241"/>
            <a:ext cx="2014220" cy="299720"/>
          </a:xfrm>
          <a:prstGeom prst="rect">
            <a:avLst/>
          </a:prstGeom>
        </p:spPr>
        <p:txBody>
          <a:bodyPr vert="horz" wrap="square" lIns="0" tIns="12700" rIns="0" bIns="0" rtlCol="0">
            <a:spAutoFit/>
          </a:bodyPr>
          <a:lstStyle/>
          <a:p>
            <a:pPr marL="50800">
              <a:lnSpc>
                <a:spcPct val="100000"/>
              </a:lnSpc>
              <a:spcBef>
                <a:spcPts val="100"/>
              </a:spcBef>
              <a:tabLst>
                <a:tab pos="1422400" algn="l"/>
              </a:tabLst>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dirty="0">
                <a:solidFill>
                  <a:srgbClr val="404040"/>
                </a:solidFill>
                <a:latin typeface="Times New Roman"/>
                <a:cs typeface="Times New Roman"/>
              </a:rPr>
              <a:t>,</a:t>
            </a:r>
            <a:r>
              <a:rPr sz="1800" b="1" spc="-3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dirty="0">
                <a:solidFill>
                  <a:srgbClr val="404040"/>
                </a:solidFill>
                <a:latin typeface="Times New Roman"/>
                <a:cs typeface="Times New Roman"/>
              </a:rPr>
              <a:t>,</a:t>
            </a:r>
            <a:r>
              <a:rPr sz="1800" b="1" spc="-40" dirty="0">
                <a:solidFill>
                  <a:srgbClr val="404040"/>
                </a:solidFill>
                <a:latin typeface="Times New Roman"/>
                <a:cs typeface="Times New Roman"/>
              </a:rPr>
              <a:t> </a:t>
            </a:r>
            <a:r>
              <a:rPr sz="1800" b="1" spc="-25" dirty="0">
                <a:solidFill>
                  <a:srgbClr val="404040"/>
                </a:solidFill>
                <a:latin typeface="Times New Roman"/>
                <a:cs typeface="Times New Roman"/>
              </a:rPr>
              <a:t>and</a:t>
            </a:r>
            <a:r>
              <a:rPr lang="en-US" b="1" spc="-25"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4</a:t>
            </a:r>
            <a:r>
              <a:rPr sz="1800" b="1" spc="225" baseline="-20833" dirty="0">
                <a:solidFill>
                  <a:srgbClr val="404040"/>
                </a:solidFill>
                <a:latin typeface="Times New Roman"/>
                <a:cs typeface="Times New Roman"/>
              </a:rPr>
              <a:t> </a:t>
            </a:r>
            <a:r>
              <a:rPr sz="1800" b="1" spc="-25" dirty="0">
                <a:solidFill>
                  <a:srgbClr val="404040"/>
                </a:solidFill>
                <a:latin typeface="Times New Roman"/>
                <a:cs typeface="Times New Roman"/>
              </a:rPr>
              <a:t>on</a:t>
            </a:r>
            <a:endParaRPr sz="1800" dirty="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19760" y="78509"/>
            <a:ext cx="217170" cy="265430"/>
            <a:chOff x="619760" y="78509"/>
            <a:chExt cx="217170" cy="265430"/>
          </a:xfrm>
        </p:grpSpPr>
        <p:sp>
          <p:nvSpPr>
            <p:cNvPr id="3" name="object 3"/>
            <p:cNvSpPr/>
            <p:nvPr/>
          </p:nvSpPr>
          <p:spPr>
            <a:xfrm>
              <a:off x="619760" y="78511"/>
              <a:ext cx="217170" cy="265430"/>
            </a:xfrm>
            <a:custGeom>
              <a:avLst/>
              <a:gdLst/>
              <a:ahLst/>
              <a:cxnLst/>
              <a:rect l="l" t="t" r="r" b="b"/>
              <a:pathLst>
                <a:path w="217169" h="265430">
                  <a:moveTo>
                    <a:pt x="217131" y="89712"/>
                  </a:moveTo>
                  <a:lnTo>
                    <a:pt x="204927" y="40640"/>
                  </a:lnTo>
                  <a:lnTo>
                    <a:pt x="175374" y="12128"/>
                  </a:lnTo>
                  <a:lnTo>
                    <a:pt x="129755" y="0"/>
                  </a:lnTo>
                  <a:lnTo>
                    <a:pt x="108559" y="0"/>
                  </a:lnTo>
                  <a:lnTo>
                    <a:pt x="62306" y="12128"/>
                  </a:lnTo>
                  <a:lnTo>
                    <a:pt x="20548" y="44843"/>
                  </a:lnTo>
                  <a:lnTo>
                    <a:pt x="0" y="93408"/>
                  </a:lnTo>
                  <a:lnTo>
                    <a:pt x="0" y="121907"/>
                  </a:lnTo>
                  <a:lnTo>
                    <a:pt x="41744" y="195262"/>
                  </a:lnTo>
                  <a:lnTo>
                    <a:pt x="83502" y="223774"/>
                  </a:lnTo>
                  <a:lnTo>
                    <a:pt x="94843" y="228447"/>
                  </a:lnTo>
                  <a:lnTo>
                    <a:pt x="41744" y="248577"/>
                  </a:lnTo>
                  <a:lnTo>
                    <a:pt x="41744" y="256489"/>
                  </a:lnTo>
                  <a:lnTo>
                    <a:pt x="45605" y="264934"/>
                  </a:lnTo>
                  <a:lnTo>
                    <a:pt x="125260" y="232219"/>
                  </a:lnTo>
                  <a:lnTo>
                    <a:pt x="138112" y="227977"/>
                  </a:lnTo>
                  <a:lnTo>
                    <a:pt x="125260" y="220065"/>
                  </a:lnTo>
                  <a:lnTo>
                    <a:pt x="66802" y="163068"/>
                  </a:lnTo>
                  <a:lnTo>
                    <a:pt x="53949" y="175221"/>
                  </a:lnTo>
                  <a:lnTo>
                    <a:pt x="84493" y="205016"/>
                  </a:lnTo>
                  <a:lnTo>
                    <a:pt x="37249" y="163068"/>
                  </a:lnTo>
                  <a:lnTo>
                    <a:pt x="16700" y="118224"/>
                  </a:lnTo>
                  <a:lnTo>
                    <a:pt x="16700" y="97637"/>
                  </a:lnTo>
                  <a:lnTo>
                    <a:pt x="37249" y="56997"/>
                  </a:lnTo>
                  <a:lnTo>
                    <a:pt x="70662" y="28486"/>
                  </a:lnTo>
                  <a:lnTo>
                    <a:pt x="108559" y="16357"/>
                  </a:lnTo>
                  <a:lnTo>
                    <a:pt x="129755" y="16357"/>
                  </a:lnTo>
                  <a:lnTo>
                    <a:pt x="167017" y="24282"/>
                  </a:lnTo>
                  <a:lnTo>
                    <a:pt x="192074" y="48564"/>
                  </a:lnTo>
                  <a:lnTo>
                    <a:pt x="196570" y="69126"/>
                  </a:lnTo>
                  <a:lnTo>
                    <a:pt x="200418" y="89712"/>
                  </a:lnTo>
                  <a:lnTo>
                    <a:pt x="196570" y="113995"/>
                  </a:lnTo>
                  <a:lnTo>
                    <a:pt x="183718" y="146710"/>
                  </a:lnTo>
                  <a:lnTo>
                    <a:pt x="167017" y="178904"/>
                  </a:lnTo>
                  <a:lnTo>
                    <a:pt x="150126" y="203809"/>
                  </a:lnTo>
                  <a:lnTo>
                    <a:pt x="141960" y="207937"/>
                  </a:lnTo>
                  <a:lnTo>
                    <a:pt x="138112" y="220065"/>
                  </a:lnTo>
                  <a:lnTo>
                    <a:pt x="141960" y="227977"/>
                  </a:lnTo>
                  <a:lnTo>
                    <a:pt x="150317" y="232219"/>
                  </a:lnTo>
                  <a:lnTo>
                    <a:pt x="158661" y="227977"/>
                  </a:lnTo>
                  <a:lnTo>
                    <a:pt x="163169" y="220065"/>
                  </a:lnTo>
                  <a:lnTo>
                    <a:pt x="162229" y="217551"/>
                  </a:lnTo>
                  <a:lnTo>
                    <a:pt x="183718" y="187350"/>
                  </a:lnTo>
                  <a:lnTo>
                    <a:pt x="200418" y="150393"/>
                  </a:lnTo>
                  <a:lnTo>
                    <a:pt x="213271" y="118224"/>
                  </a:lnTo>
                  <a:lnTo>
                    <a:pt x="217131" y="89712"/>
                  </a:lnTo>
                  <a:close/>
                </a:path>
              </a:pathLst>
            </a:custGeom>
            <a:solidFill>
              <a:srgbClr val="1F1A17"/>
            </a:solidFill>
          </p:spPr>
          <p:txBody>
            <a:bodyPr wrap="square" lIns="0" tIns="0" rIns="0" bIns="0" rtlCol="0"/>
            <a:lstStyle/>
            <a:p>
              <a:endParaRPr/>
            </a:p>
          </p:txBody>
        </p:sp>
        <p:sp>
          <p:nvSpPr>
            <p:cNvPr id="4" name="object 4"/>
            <p:cNvSpPr/>
            <p:nvPr/>
          </p:nvSpPr>
          <p:spPr>
            <a:xfrm>
              <a:off x="766869" y="289608"/>
              <a:ext cx="25400" cy="28575"/>
            </a:xfrm>
            <a:custGeom>
              <a:avLst/>
              <a:gdLst/>
              <a:ahLst/>
              <a:cxnLst/>
              <a:rect l="l" t="t" r="r" b="b"/>
              <a:pathLst>
                <a:path w="25400" h="28575">
                  <a:moveTo>
                    <a:pt x="12207" y="0"/>
                  </a:moveTo>
                  <a:lnTo>
                    <a:pt x="20558" y="4208"/>
                  </a:lnTo>
                  <a:lnTo>
                    <a:pt x="25055" y="16358"/>
                  </a:lnTo>
                  <a:lnTo>
                    <a:pt x="20558" y="24277"/>
                  </a:lnTo>
                  <a:lnTo>
                    <a:pt x="12207" y="28486"/>
                  </a:lnTo>
                  <a:lnTo>
                    <a:pt x="3855" y="24277"/>
                  </a:lnTo>
                  <a:lnTo>
                    <a:pt x="0" y="16358"/>
                  </a:lnTo>
                  <a:lnTo>
                    <a:pt x="3855" y="4208"/>
                  </a:lnTo>
                  <a:lnTo>
                    <a:pt x="12207" y="0"/>
                  </a:lnTo>
                </a:path>
              </a:pathLst>
            </a:custGeom>
            <a:ln w="4149">
              <a:solidFill>
                <a:srgbClr val="1F1A17"/>
              </a:solidFill>
            </a:ln>
          </p:spPr>
          <p:txBody>
            <a:bodyPr wrap="square" lIns="0" tIns="0" rIns="0" bIns="0" rtlCol="0"/>
            <a:lstStyle/>
            <a:p>
              <a:endParaRPr/>
            </a:p>
          </p:txBody>
        </p:sp>
      </p:grpSp>
      <p:grpSp>
        <p:nvGrpSpPr>
          <p:cNvPr id="5" name="object 5"/>
          <p:cNvGrpSpPr/>
          <p:nvPr/>
        </p:nvGrpSpPr>
        <p:grpSpPr>
          <a:xfrm>
            <a:off x="603057" y="1349856"/>
            <a:ext cx="217170" cy="265430"/>
            <a:chOff x="603057" y="1349856"/>
            <a:chExt cx="217170" cy="265430"/>
          </a:xfrm>
        </p:grpSpPr>
        <p:sp>
          <p:nvSpPr>
            <p:cNvPr id="6" name="object 6"/>
            <p:cNvSpPr/>
            <p:nvPr/>
          </p:nvSpPr>
          <p:spPr>
            <a:xfrm>
              <a:off x="603046" y="1349857"/>
              <a:ext cx="217170" cy="265430"/>
            </a:xfrm>
            <a:custGeom>
              <a:avLst/>
              <a:gdLst/>
              <a:ahLst/>
              <a:cxnLst/>
              <a:rect l="l" t="t" r="r" b="b"/>
              <a:pathLst>
                <a:path w="217169" h="265430">
                  <a:moveTo>
                    <a:pt x="217131" y="93941"/>
                  </a:moveTo>
                  <a:lnTo>
                    <a:pt x="204927" y="44856"/>
                  </a:lnTo>
                  <a:lnTo>
                    <a:pt x="150329" y="4216"/>
                  </a:lnTo>
                  <a:lnTo>
                    <a:pt x="129133" y="0"/>
                  </a:lnTo>
                  <a:lnTo>
                    <a:pt x="104076" y="0"/>
                  </a:lnTo>
                  <a:lnTo>
                    <a:pt x="83515" y="8445"/>
                  </a:lnTo>
                  <a:lnTo>
                    <a:pt x="58458" y="16370"/>
                  </a:lnTo>
                  <a:lnTo>
                    <a:pt x="37261" y="28486"/>
                  </a:lnTo>
                  <a:lnTo>
                    <a:pt x="20561" y="49085"/>
                  </a:lnTo>
                  <a:lnTo>
                    <a:pt x="3860" y="73355"/>
                  </a:lnTo>
                  <a:lnTo>
                    <a:pt x="0" y="98158"/>
                  </a:lnTo>
                  <a:lnTo>
                    <a:pt x="0" y="126657"/>
                  </a:lnTo>
                  <a:lnTo>
                    <a:pt x="8356" y="150939"/>
                  </a:lnTo>
                  <a:lnTo>
                    <a:pt x="20561" y="175221"/>
                  </a:lnTo>
                  <a:lnTo>
                    <a:pt x="41757" y="195795"/>
                  </a:lnTo>
                  <a:lnTo>
                    <a:pt x="58458" y="215849"/>
                  </a:lnTo>
                  <a:lnTo>
                    <a:pt x="83515" y="228523"/>
                  </a:lnTo>
                  <a:lnTo>
                    <a:pt x="88226" y="230352"/>
                  </a:lnTo>
                  <a:lnTo>
                    <a:pt x="37261" y="248577"/>
                  </a:lnTo>
                  <a:lnTo>
                    <a:pt x="41757" y="257022"/>
                  </a:lnTo>
                  <a:lnTo>
                    <a:pt x="45618" y="264934"/>
                  </a:lnTo>
                  <a:lnTo>
                    <a:pt x="120777" y="236435"/>
                  </a:lnTo>
                  <a:lnTo>
                    <a:pt x="133629" y="232206"/>
                  </a:lnTo>
                  <a:lnTo>
                    <a:pt x="125272" y="224294"/>
                  </a:lnTo>
                  <a:lnTo>
                    <a:pt x="66814" y="167297"/>
                  </a:lnTo>
                  <a:lnTo>
                    <a:pt x="53962" y="179438"/>
                  </a:lnTo>
                  <a:lnTo>
                    <a:pt x="87591" y="212242"/>
                  </a:lnTo>
                  <a:lnTo>
                    <a:pt x="87376" y="212153"/>
                  </a:lnTo>
                  <a:lnTo>
                    <a:pt x="70662" y="200025"/>
                  </a:lnTo>
                  <a:lnTo>
                    <a:pt x="37261" y="167297"/>
                  </a:lnTo>
                  <a:lnTo>
                    <a:pt x="25057" y="142494"/>
                  </a:lnTo>
                  <a:lnTo>
                    <a:pt x="16713" y="122440"/>
                  </a:lnTo>
                  <a:lnTo>
                    <a:pt x="16713" y="101854"/>
                  </a:lnTo>
                  <a:lnTo>
                    <a:pt x="33413" y="56997"/>
                  </a:lnTo>
                  <a:lnTo>
                    <a:pt x="66814" y="32727"/>
                  </a:lnTo>
                  <a:lnTo>
                    <a:pt x="129133" y="16370"/>
                  </a:lnTo>
                  <a:lnTo>
                    <a:pt x="146469" y="20599"/>
                  </a:lnTo>
                  <a:lnTo>
                    <a:pt x="163169" y="28486"/>
                  </a:lnTo>
                  <a:lnTo>
                    <a:pt x="179882" y="40640"/>
                  </a:lnTo>
                  <a:lnTo>
                    <a:pt x="188226" y="53314"/>
                  </a:lnTo>
                  <a:lnTo>
                    <a:pt x="196583" y="73355"/>
                  </a:lnTo>
                  <a:lnTo>
                    <a:pt x="196583" y="118224"/>
                  </a:lnTo>
                  <a:lnTo>
                    <a:pt x="167030" y="183654"/>
                  </a:lnTo>
                  <a:lnTo>
                    <a:pt x="137477" y="220078"/>
                  </a:lnTo>
                  <a:lnTo>
                    <a:pt x="150329" y="228523"/>
                  </a:lnTo>
                  <a:lnTo>
                    <a:pt x="179882" y="191579"/>
                  </a:lnTo>
                  <a:lnTo>
                    <a:pt x="200431" y="155155"/>
                  </a:lnTo>
                  <a:lnTo>
                    <a:pt x="213283" y="122440"/>
                  </a:lnTo>
                  <a:lnTo>
                    <a:pt x="217131" y="93941"/>
                  </a:lnTo>
                  <a:close/>
                </a:path>
              </a:pathLst>
            </a:custGeom>
            <a:solidFill>
              <a:srgbClr val="1F1A17"/>
            </a:solidFill>
          </p:spPr>
          <p:txBody>
            <a:bodyPr wrap="square" lIns="0" tIns="0" rIns="0" bIns="0" rtlCol="0"/>
            <a:lstStyle/>
            <a:p>
              <a:endParaRPr/>
            </a:p>
          </p:txBody>
        </p:sp>
        <p:sp>
          <p:nvSpPr>
            <p:cNvPr id="7" name="object 7"/>
            <p:cNvSpPr/>
            <p:nvPr/>
          </p:nvSpPr>
          <p:spPr>
            <a:xfrm>
              <a:off x="740532" y="1557786"/>
              <a:ext cx="26034" cy="28575"/>
            </a:xfrm>
            <a:custGeom>
              <a:avLst/>
              <a:gdLst/>
              <a:ahLst/>
              <a:cxnLst/>
              <a:rect l="l" t="t" r="r" b="b"/>
              <a:pathLst>
                <a:path w="26034" h="28575">
                  <a:moveTo>
                    <a:pt x="12848" y="0"/>
                  </a:moveTo>
                  <a:lnTo>
                    <a:pt x="4496" y="4221"/>
                  </a:lnTo>
                  <a:lnTo>
                    <a:pt x="0" y="16360"/>
                  </a:lnTo>
                  <a:lnTo>
                    <a:pt x="4496" y="24277"/>
                  </a:lnTo>
                  <a:lnTo>
                    <a:pt x="12848" y="28499"/>
                  </a:lnTo>
                  <a:lnTo>
                    <a:pt x="21199" y="24277"/>
                  </a:lnTo>
                  <a:lnTo>
                    <a:pt x="25696" y="16360"/>
                  </a:lnTo>
                  <a:lnTo>
                    <a:pt x="21199" y="4221"/>
                  </a:lnTo>
                  <a:lnTo>
                    <a:pt x="12848" y="0"/>
                  </a:lnTo>
                  <a:close/>
                </a:path>
              </a:pathLst>
            </a:custGeom>
            <a:solidFill>
              <a:srgbClr val="1F1A17"/>
            </a:solidFill>
          </p:spPr>
          <p:txBody>
            <a:bodyPr wrap="square" lIns="0" tIns="0" rIns="0" bIns="0" rtlCol="0"/>
            <a:lstStyle/>
            <a:p>
              <a:endParaRPr/>
            </a:p>
          </p:txBody>
        </p:sp>
        <p:sp>
          <p:nvSpPr>
            <p:cNvPr id="8" name="object 8"/>
            <p:cNvSpPr/>
            <p:nvPr/>
          </p:nvSpPr>
          <p:spPr>
            <a:xfrm>
              <a:off x="749525" y="1565176"/>
              <a:ext cx="26034" cy="28575"/>
            </a:xfrm>
            <a:custGeom>
              <a:avLst/>
              <a:gdLst/>
              <a:ahLst/>
              <a:cxnLst/>
              <a:rect l="l" t="t" r="r" b="b"/>
              <a:pathLst>
                <a:path w="26034" h="28575">
                  <a:moveTo>
                    <a:pt x="12848" y="0"/>
                  </a:moveTo>
                  <a:lnTo>
                    <a:pt x="21199" y="4221"/>
                  </a:lnTo>
                  <a:lnTo>
                    <a:pt x="25696" y="16360"/>
                  </a:lnTo>
                  <a:lnTo>
                    <a:pt x="21199" y="24275"/>
                  </a:lnTo>
                  <a:lnTo>
                    <a:pt x="12848" y="28499"/>
                  </a:lnTo>
                  <a:lnTo>
                    <a:pt x="4496" y="24275"/>
                  </a:lnTo>
                  <a:lnTo>
                    <a:pt x="0" y="16360"/>
                  </a:lnTo>
                  <a:lnTo>
                    <a:pt x="4496" y="4221"/>
                  </a:lnTo>
                  <a:lnTo>
                    <a:pt x="12848" y="0"/>
                  </a:lnTo>
                </a:path>
              </a:pathLst>
            </a:custGeom>
            <a:ln w="4139">
              <a:solidFill>
                <a:srgbClr val="1F1A17"/>
              </a:solidFill>
            </a:ln>
          </p:spPr>
          <p:txBody>
            <a:bodyPr wrap="square" lIns="0" tIns="0" rIns="0" bIns="0" rtlCol="0"/>
            <a:lstStyle/>
            <a:p>
              <a:endParaRPr/>
            </a:p>
          </p:txBody>
        </p:sp>
      </p:grpSp>
      <p:grpSp>
        <p:nvGrpSpPr>
          <p:cNvPr id="9" name="object 9"/>
          <p:cNvGrpSpPr/>
          <p:nvPr/>
        </p:nvGrpSpPr>
        <p:grpSpPr>
          <a:xfrm>
            <a:off x="2275885" y="86428"/>
            <a:ext cx="217804" cy="265430"/>
            <a:chOff x="2275885" y="86428"/>
            <a:chExt cx="217804" cy="265430"/>
          </a:xfrm>
        </p:grpSpPr>
        <p:sp>
          <p:nvSpPr>
            <p:cNvPr id="10" name="object 10"/>
            <p:cNvSpPr/>
            <p:nvPr/>
          </p:nvSpPr>
          <p:spPr>
            <a:xfrm>
              <a:off x="2275878" y="86435"/>
              <a:ext cx="217804" cy="265430"/>
            </a:xfrm>
            <a:custGeom>
              <a:avLst/>
              <a:gdLst/>
              <a:ahLst/>
              <a:cxnLst/>
              <a:rect l="l" t="t" r="r" b="b"/>
              <a:pathLst>
                <a:path w="217805" h="265430">
                  <a:moveTo>
                    <a:pt x="217779" y="65430"/>
                  </a:moveTo>
                  <a:lnTo>
                    <a:pt x="192722" y="24282"/>
                  </a:lnTo>
                  <a:lnTo>
                    <a:pt x="154825" y="4203"/>
                  </a:lnTo>
                  <a:lnTo>
                    <a:pt x="134251" y="0"/>
                  </a:lnTo>
                  <a:lnTo>
                    <a:pt x="109207" y="0"/>
                  </a:lnTo>
                  <a:lnTo>
                    <a:pt x="62953" y="12128"/>
                  </a:lnTo>
                  <a:lnTo>
                    <a:pt x="25057" y="44843"/>
                  </a:lnTo>
                  <a:lnTo>
                    <a:pt x="0" y="93916"/>
                  </a:lnTo>
                  <a:lnTo>
                    <a:pt x="4483" y="122428"/>
                  </a:lnTo>
                  <a:lnTo>
                    <a:pt x="25057" y="170980"/>
                  </a:lnTo>
                  <a:lnTo>
                    <a:pt x="62953" y="212140"/>
                  </a:lnTo>
                  <a:lnTo>
                    <a:pt x="98640" y="228269"/>
                  </a:lnTo>
                  <a:lnTo>
                    <a:pt x="42405" y="248564"/>
                  </a:lnTo>
                  <a:lnTo>
                    <a:pt x="46253" y="257009"/>
                  </a:lnTo>
                  <a:lnTo>
                    <a:pt x="50736" y="264922"/>
                  </a:lnTo>
                  <a:lnTo>
                    <a:pt x="125920" y="236423"/>
                  </a:lnTo>
                  <a:lnTo>
                    <a:pt x="138112" y="228498"/>
                  </a:lnTo>
                  <a:lnTo>
                    <a:pt x="129768" y="220052"/>
                  </a:lnTo>
                  <a:lnTo>
                    <a:pt x="71310" y="163068"/>
                  </a:lnTo>
                  <a:lnTo>
                    <a:pt x="59093" y="175209"/>
                  </a:lnTo>
                  <a:lnTo>
                    <a:pt x="92748" y="208026"/>
                  </a:lnTo>
                  <a:lnTo>
                    <a:pt x="92506" y="207924"/>
                  </a:lnTo>
                  <a:lnTo>
                    <a:pt x="75793" y="200012"/>
                  </a:lnTo>
                  <a:lnTo>
                    <a:pt x="54610" y="183654"/>
                  </a:lnTo>
                  <a:lnTo>
                    <a:pt x="42405" y="163068"/>
                  </a:lnTo>
                  <a:lnTo>
                    <a:pt x="29565" y="142468"/>
                  </a:lnTo>
                  <a:lnTo>
                    <a:pt x="21209" y="118198"/>
                  </a:lnTo>
                  <a:lnTo>
                    <a:pt x="21209" y="97624"/>
                  </a:lnTo>
                  <a:lnTo>
                    <a:pt x="37896" y="56997"/>
                  </a:lnTo>
                  <a:lnTo>
                    <a:pt x="71310" y="28486"/>
                  </a:lnTo>
                  <a:lnTo>
                    <a:pt x="113055" y="16357"/>
                  </a:lnTo>
                  <a:lnTo>
                    <a:pt x="134251" y="16357"/>
                  </a:lnTo>
                  <a:lnTo>
                    <a:pt x="150977" y="20561"/>
                  </a:lnTo>
                  <a:lnTo>
                    <a:pt x="167665" y="24282"/>
                  </a:lnTo>
                  <a:lnTo>
                    <a:pt x="184365" y="36918"/>
                  </a:lnTo>
                  <a:lnTo>
                    <a:pt x="201079" y="69126"/>
                  </a:lnTo>
                  <a:lnTo>
                    <a:pt x="201079" y="113982"/>
                  </a:lnTo>
                  <a:lnTo>
                    <a:pt x="188239" y="146710"/>
                  </a:lnTo>
                  <a:lnTo>
                    <a:pt x="171513" y="179425"/>
                  </a:lnTo>
                  <a:lnTo>
                    <a:pt x="142621" y="215849"/>
                  </a:lnTo>
                  <a:lnTo>
                    <a:pt x="154825" y="228498"/>
                  </a:lnTo>
                  <a:lnTo>
                    <a:pt x="184365" y="187337"/>
                  </a:lnTo>
                  <a:lnTo>
                    <a:pt x="204927" y="150939"/>
                  </a:lnTo>
                  <a:lnTo>
                    <a:pt x="217779" y="118198"/>
                  </a:lnTo>
                  <a:lnTo>
                    <a:pt x="217779" y="65430"/>
                  </a:lnTo>
                  <a:close/>
                </a:path>
              </a:pathLst>
            </a:custGeom>
            <a:solidFill>
              <a:srgbClr val="1F1A17"/>
            </a:solidFill>
          </p:spPr>
          <p:txBody>
            <a:bodyPr wrap="square" lIns="0" tIns="0" rIns="0" bIns="0" rtlCol="0"/>
            <a:lstStyle/>
            <a:p>
              <a:endParaRPr/>
            </a:p>
          </p:txBody>
        </p:sp>
        <p:sp>
          <p:nvSpPr>
            <p:cNvPr id="11" name="object 11"/>
            <p:cNvSpPr/>
            <p:nvPr/>
          </p:nvSpPr>
          <p:spPr>
            <a:xfrm>
              <a:off x="2418500" y="294360"/>
              <a:ext cx="25400" cy="24765"/>
            </a:xfrm>
            <a:custGeom>
              <a:avLst/>
              <a:gdLst/>
              <a:ahLst/>
              <a:cxnLst/>
              <a:rect l="l" t="t" r="r" b="b"/>
              <a:pathLst>
                <a:path w="25400" h="24764">
                  <a:moveTo>
                    <a:pt x="12209" y="0"/>
                  </a:moveTo>
                  <a:lnTo>
                    <a:pt x="0" y="4208"/>
                  </a:lnTo>
                  <a:lnTo>
                    <a:pt x="0" y="20567"/>
                  </a:lnTo>
                  <a:lnTo>
                    <a:pt x="12209" y="24277"/>
                  </a:lnTo>
                  <a:lnTo>
                    <a:pt x="20543" y="20567"/>
                  </a:lnTo>
                  <a:lnTo>
                    <a:pt x="25052" y="12127"/>
                  </a:lnTo>
                  <a:lnTo>
                    <a:pt x="20543" y="4208"/>
                  </a:lnTo>
                  <a:lnTo>
                    <a:pt x="12209" y="0"/>
                  </a:lnTo>
                  <a:close/>
                </a:path>
              </a:pathLst>
            </a:custGeom>
            <a:solidFill>
              <a:srgbClr val="1F1A17"/>
            </a:solidFill>
          </p:spPr>
          <p:txBody>
            <a:bodyPr wrap="square" lIns="0" tIns="0" rIns="0" bIns="0" rtlCol="0"/>
            <a:lstStyle/>
            <a:p>
              <a:endParaRPr/>
            </a:p>
          </p:txBody>
        </p:sp>
        <p:sp>
          <p:nvSpPr>
            <p:cNvPr id="12" name="object 12"/>
            <p:cNvSpPr/>
            <p:nvPr/>
          </p:nvSpPr>
          <p:spPr>
            <a:xfrm>
              <a:off x="2427493" y="301737"/>
              <a:ext cx="25400" cy="24765"/>
            </a:xfrm>
            <a:custGeom>
              <a:avLst/>
              <a:gdLst/>
              <a:ahLst/>
              <a:cxnLst/>
              <a:rect l="l" t="t" r="r" b="b"/>
              <a:pathLst>
                <a:path w="25400" h="24764">
                  <a:moveTo>
                    <a:pt x="12209" y="0"/>
                  </a:moveTo>
                  <a:lnTo>
                    <a:pt x="20543" y="4230"/>
                  </a:lnTo>
                  <a:lnTo>
                    <a:pt x="25052" y="12149"/>
                  </a:lnTo>
                  <a:lnTo>
                    <a:pt x="20543" y="20589"/>
                  </a:lnTo>
                  <a:lnTo>
                    <a:pt x="12209" y="24277"/>
                  </a:lnTo>
                  <a:lnTo>
                    <a:pt x="0" y="20589"/>
                  </a:lnTo>
                  <a:lnTo>
                    <a:pt x="0" y="12149"/>
                  </a:lnTo>
                  <a:lnTo>
                    <a:pt x="0" y="4230"/>
                  </a:lnTo>
                  <a:lnTo>
                    <a:pt x="12209" y="0"/>
                  </a:lnTo>
                </a:path>
              </a:pathLst>
            </a:custGeom>
            <a:ln w="4085">
              <a:solidFill>
                <a:srgbClr val="1F1A17"/>
              </a:solidFill>
            </a:ln>
          </p:spPr>
          <p:txBody>
            <a:bodyPr wrap="square" lIns="0" tIns="0" rIns="0" bIns="0" rtlCol="0"/>
            <a:lstStyle/>
            <a:p>
              <a:endParaRPr/>
            </a:p>
          </p:txBody>
        </p:sp>
      </p:grpSp>
      <p:grpSp>
        <p:nvGrpSpPr>
          <p:cNvPr id="13" name="object 13"/>
          <p:cNvGrpSpPr/>
          <p:nvPr/>
        </p:nvGrpSpPr>
        <p:grpSpPr>
          <a:xfrm>
            <a:off x="2259192" y="1358296"/>
            <a:ext cx="217804" cy="265430"/>
            <a:chOff x="2259192" y="1358296"/>
            <a:chExt cx="217804" cy="265430"/>
          </a:xfrm>
        </p:grpSpPr>
        <p:sp>
          <p:nvSpPr>
            <p:cNvPr id="14" name="object 14"/>
            <p:cNvSpPr/>
            <p:nvPr/>
          </p:nvSpPr>
          <p:spPr>
            <a:xfrm>
              <a:off x="2259190" y="1358302"/>
              <a:ext cx="217804" cy="265430"/>
            </a:xfrm>
            <a:custGeom>
              <a:avLst/>
              <a:gdLst/>
              <a:ahLst/>
              <a:cxnLst/>
              <a:rect l="l" t="t" r="r" b="b"/>
              <a:pathLst>
                <a:path w="217805" h="265430">
                  <a:moveTo>
                    <a:pt x="217766" y="69138"/>
                  </a:moveTo>
                  <a:lnTo>
                    <a:pt x="192722" y="28511"/>
                  </a:lnTo>
                  <a:lnTo>
                    <a:pt x="154800" y="3683"/>
                  </a:lnTo>
                  <a:lnTo>
                    <a:pt x="134251" y="0"/>
                  </a:lnTo>
                  <a:lnTo>
                    <a:pt x="109194" y="3683"/>
                  </a:lnTo>
                  <a:lnTo>
                    <a:pt x="62941" y="16357"/>
                  </a:lnTo>
                  <a:lnTo>
                    <a:pt x="25044" y="48552"/>
                  </a:lnTo>
                  <a:lnTo>
                    <a:pt x="0" y="97637"/>
                  </a:lnTo>
                  <a:lnTo>
                    <a:pt x="0" y="126136"/>
                  </a:lnTo>
                  <a:lnTo>
                    <a:pt x="12839" y="150406"/>
                  </a:lnTo>
                  <a:lnTo>
                    <a:pt x="25044" y="175209"/>
                  </a:lnTo>
                  <a:lnTo>
                    <a:pt x="41744" y="195262"/>
                  </a:lnTo>
                  <a:lnTo>
                    <a:pt x="62941" y="215849"/>
                  </a:lnTo>
                  <a:lnTo>
                    <a:pt x="84150" y="227990"/>
                  </a:lnTo>
                  <a:lnTo>
                    <a:pt x="91643" y="231076"/>
                  </a:lnTo>
                  <a:lnTo>
                    <a:pt x="41744" y="252260"/>
                  </a:lnTo>
                  <a:lnTo>
                    <a:pt x="46253" y="260705"/>
                  </a:lnTo>
                  <a:lnTo>
                    <a:pt x="46253" y="264934"/>
                  </a:lnTo>
                  <a:lnTo>
                    <a:pt x="125895" y="236435"/>
                  </a:lnTo>
                  <a:lnTo>
                    <a:pt x="138099" y="232206"/>
                  </a:lnTo>
                  <a:lnTo>
                    <a:pt x="129743" y="223761"/>
                  </a:lnTo>
                  <a:lnTo>
                    <a:pt x="71297" y="166776"/>
                  </a:lnTo>
                  <a:lnTo>
                    <a:pt x="59093" y="178904"/>
                  </a:lnTo>
                  <a:lnTo>
                    <a:pt x="91998" y="211289"/>
                  </a:lnTo>
                  <a:lnTo>
                    <a:pt x="75780" y="199491"/>
                  </a:lnTo>
                  <a:lnTo>
                    <a:pt x="54584" y="183134"/>
                  </a:lnTo>
                  <a:lnTo>
                    <a:pt x="37896" y="166776"/>
                  </a:lnTo>
                  <a:lnTo>
                    <a:pt x="25044" y="146710"/>
                  </a:lnTo>
                  <a:lnTo>
                    <a:pt x="21170" y="121907"/>
                  </a:lnTo>
                  <a:lnTo>
                    <a:pt x="16687" y="101854"/>
                  </a:lnTo>
                  <a:lnTo>
                    <a:pt x="37896" y="56997"/>
                  </a:lnTo>
                  <a:lnTo>
                    <a:pt x="71297" y="32194"/>
                  </a:lnTo>
                  <a:lnTo>
                    <a:pt x="109194" y="20053"/>
                  </a:lnTo>
                  <a:lnTo>
                    <a:pt x="150939" y="20053"/>
                  </a:lnTo>
                  <a:lnTo>
                    <a:pt x="167665" y="28511"/>
                  </a:lnTo>
                  <a:lnTo>
                    <a:pt x="192722" y="52781"/>
                  </a:lnTo>
                  <a:lnTo>
                    <a:pt x="201053" y="73355"/>
                  </a:lnTo>
                  <a:lnTo>
                    <a:pt x="201053" y="93408"/>
                  </a:lnTo>
                  <a:lnTo>
                    <a:pt x="196570" y="118224"/>
                  </a:lnTo>
                  <a:lnTo>
                    <a:pt x="188201" y="146710"/>
                  </a:lnTo>
                  <a:lnTo>
                    <a:pt x="167665" y="183134"/>
                  </a:lnTo>
                  <a:lnTo>
                    <a:pt x="142608" y="220078"/>
                  </a:lnTo>
                  <a:lnTo>
                    <a:pt x="154800" y="232206"/>
                  </a:lnTo>
                  <a:lnTo>
                    <a:pt x="184353" y="191579"/>
                  </a:lnTo>
                  <a:lnTo>
                    <a:pt x="204927" y="154635"/>
                  </a:lnTo>
                  <a:lnTo>
                    <a:pt x="213258" y="121907"/>
                  </a:lnTo>
                  <a:lnTo>
                    <a:pt x="217766" y="93408"/>
                  </a:lnTo>
                  <a:lnTo>
                    <a:pt x="217766" y="69138"/>
                  </a:lnTo>
                  <a:close/>
                </a:path>
              </a:pathLst>
            </a:custGeom>
            <a:solidFill>
              <a:srgbClr val="1F1A17"/>
            </a:solidFill>
          </p:spPr>
          <p:txBody>
            <a:bodyPr wrap="square" lIns="0" tIns="0" rIns="0" bIns="0" rtlCol="0"/>
            <a:lstStyle/>
            <a:p>
              <a:endParaRPr/>
            </a:p>
          </p:txBody>
        </p:sp>
        <p:sp>
          <p:nvSpPr>
            <p:cNvPr id="15" name="object 15"/>
            <p:cNvSpPr/>
            <p:nvPr/>
          </p:nvSpPr>
          <p:spPr>
            <a:xfrm>
              <a:off x="2397298" y="1565703"/>
              <a:ext cx="25400" cy="29209"/>
            </a:xfrm>
            <a:custGeom>
              <a:avLst/>
              <a:gdLst/>
              <a:ahLst/>
              <a:cxnLst/>
              <a:rect l="l" t="t" r="r" b="b"/>
              <a:pathLst>
                <a:path w="25400" h="29209">
                  <a:moveTo>
                    <a:pt x="12842" y="0"/>
                  </a:moveTo>
                  <a:lnTo>
                    <a:pt x="4509" y="4221"/>
                  </a:lnTo>
                  <a:lnTo>
                    <a:pt x="0" y="16360"/>
                  </a:lnTo>
                  <a:lnTo>
                    <a:pt x="4509" y="24804"/>
                  </a:lnTo>
                  <a:lnTo>
                    <a:pt x="12842" y="29026"/>
                  </a:lnTo>
                  <a:lnTo>
                    <a:pt x="21202" y="24804"/>
                  </a:lnTo>
                  <a:lnTo>
                    <a:pt x="25052" y="16360"/>
                  </a:lnTo>
                  <a:lnTo>
                    <a:pt x="21202" y="4221"/>
                  </a:lnTo>
                  <a:lnTo>
                    <a:pt x="12842" y="0"/>
                  </a:lnTo>
                  <a:close/>
                </a:path>
              </a:pathLst>
            </a:custGeom>
            <a:solidFill>
              <a:srgbClr val="1F1A17"/>
            </a:solidFill>
          </p:spPr>
          <p:txBody>
            <a:bodyPr wrap="square" lIns="0" tIns="0" rIns="0" bIns="0" rtlCol="0"/>
            <a:lstStyle/>
            <a:p>
              <a:endParaRPr/>
            </a:p>
          </p:txBody>
        </p:sp>
        <p:sp>
          <p:nvSpPr>
            <p:cNvPr id="16" name="object 16"/>
            <p:cNvSpPr/>
            <p:nvPr/>
          </p:nvSpPr>
          <p:spPr>
            <a:xfrm>
              <a:off x="2406290" y="1573093"/>
              <a:ext cx="25400" cy="29209"/>
            </a:xfrm>
            <a:custGeom>
              <a:avLst/>
              <a:gdLst/>
              <a:ahLst/>
              <a:cxnLst/>
              <a:rect l="l" t="t" r="r" b="b"/>
              <a:pathLst>
                <a:path w="25400" h="29209">
                  <a:moveTo>
                    <a:pt x="12842" y="0"/>
                  </a:moveTo>
                  <a:lnTo>
                    <a:pt x="21202" y="4221"/>
                  </a:lnTo>
                  <a:lnTo>
                    <a:pt x="25052" y="16358"/>
                  </a:lnTo>
                  <a:lnTo>
                    <a:pt x="21202" y="24802"/>
                  </a:lnTo>
                  <a:lnTo>
                    <a:pt x="12842" y="29024"/>
                  </a:lnTo>
                  <a:lnTo>
                    <a:pt x="4509" y="24802"/>
                  </a:lnTo>
                  <a:lnTo>
                    <a:pt x="0" y="16358"/>
                  </a:lnTo>
                  <a:lnTo>
                    <a:pt x="4509" y="4221"/>
                  </a:lnTo>
                  <a:lnTo>
                    <a:pt x="12842" y="0"/>
                  </a:lnTo>
                </a:path>
              </a:pathLst>
            </a:custGeom>
            <a:ln w="4156">
              <a:solidFill>
                <a:srgbClr val="1F1A17"/>
              </a:solidFill>
            </a:ln>
          </p:spPr>
          <p:txBody>
            <a:bodyPr wrap="square" lIns="0" tIns="0" rIns="0" bIns="0" rtlCol="0"/>
            <a:lstStyle/>
            <a:p>
              <a:endParaRPr/>
            </a:p>
          </p:txBody>
        </p:sp>
      </p:grpSp>
      <p:sp>
        <p:nvSpPr>
          <p:cNvPr id="17" name="object 17"/>
          <p:cNvSpPr txBox="1"/>
          <p:nvPr/>
        </p:nvSpPr>
        <p:spPr>
          <a:xfrm>
            <a:off x="190498" y="1461198"/>
            <a:ext cx="2883535" cy="1470660"/>
          </a:xfrm>
          <a:prstGeom prst="rect">
            <a:avLst/>
          </a:prstGeom>
        </p:spPr>
        <p:txBody>
          <a:bodyPr vert="horz" wrap="square" lIns="0" tIns="137160" rIns="0" bIns="0" rtlCol="0">
            <a:spAutoFit/>
          </a:bodyPr>
          <a:lstStyle/>
          <a:p>
            <a:pPr marL="435609">
              <a:lnSpc>
                <a:spcPct val="100000"/>
              </a:lnSpc>
              <a:spcBef>
                <a:spcPts val="1080"/>
              </a:spcBef>
              <a:tabLst>
                <a:tab pos="2168525" algn="l"/>
              </a:tabLst>
            </a:pPr>
            <a:r>
              <a:rPr sz="1950" spc="-50" dirty="0">
                <a:latin typeface="Times New Roman"/>
                <a:cs typeface="Times New Roman"/>
              </a:rPr>
              <a:t>4</a:t>
            </a:r>
            <a:r>
              <a:rPr sz="1950" dirty="0">
                <a:latin typeface="Times New Roman"/>
                <a:cs typeface="Times New Roman"/>
              </a:rPr>
              <a:t>	</a:t>
            </a:r>
            <a:r>
              <a:rPr sz="1950" spc="-50" dirty="0">
                <a:latin typeface="Times New Roman"/>
                <a:cs typeface="Times New Roman"/>
              </a:rPr>
              <a:t>3</a:t>
            </a:r>
            <a:endParaRPr sz="1950">
              <a:latin typeface="Times New Roman"/>
              <a:cs typeface="Times New Roman"/>
            </a:endParaRPr>
          </a:p>
          <a:p>
            <a:pPr marL="50800" marR="43180">
              <a:lnSpc>
                <a:spcPct val="101000"/>
              </a:lnSpc>
              <a:spcBef>
                <a:spcPts val="960"/>
              </a:spcBef>
            </a:pPr>
            <a:r>
              <a:rPr sz="1950" dirty="0">
                <a:latin typeface="Times New Roman"/>
                <a:cs typeface="Times New Roman"/>
              </a:rPr>
              <a:t>R</a:t>
            </a:r>
            <a:r>
              <a:rPr sz="2025" baseline="-20576" dirty="0">
                <a:latin typeface="Times New Roman"/>
                <a:cs typeface="Times New Roman"/>
              </a:rPr>
              <a:t>1</a:t>
            </a:r>
            <a:r>
              <a:rPr sz="2025" spc="434" baseline="-20576" dirty="0">
                <a:latin typeface="Times New Roman"/>
                <a:cs typeface="Times New Roman"/>
              </a:rPr>
              <a:t> </a:t>
            </a:r>
            <a:r>
              <a:rPr sz="1950" dirty="0">
                <a:latin typeface="Times New Roman"/>
                <a:cs typeface="Times New Roman"/>
              </a:rPr>
              <a:t>is</a:t>
            </a:r>
            <a:r>
              <a:rPr sz="1950" spc="145" dirty="0">
                <a:latin typeface="Times New Roman"/>
                <a:cs typeface="Times New Roman"/>
              </a:rPr>
              <a:t> </a:t>
            </a:r>
            <a:r>
              <a:rPr sz="1950" dirty="0">
                <a:latin typeface="Times New Roman"/>
                <a:cs typeface="Times New Roman"/>
              </a:rPr>
              <a:t>reflexive</a:t>
            </a:r>
            <a:r>
              <a:rPr sz="1950" spc="145" dirty="0">
                <a:latin typeface="Times New Roman"/>
                <a:cs typeface="Times New Roman"/>
              </a:rPr>
              <a:t> </a:t>
            </a:r>
            <a:r>
              <a:rPr sz="1950" dirty="0">
                <a:latin typeface="Times New Roman"/>
                <a:cs typeface="Times New Roman"/>
              </a:rPr>
              <a:t>because</a:t>
            </a:r>
            <a:r>
              <a:rPr sz="1950" spc="145" dirty="0">
                <a:latin typeface="Times New Roman"/>
                <a:cs typeface="Times New Roman"/>
              </a:rPr>
              <a:t> </a:t>
            </a:r>
            <a:r>
              <a:rPr sz="1950" spc="-25" dirty="0">
                <a:latin typeface="Times New Roman"/>
                <a:cs typeface="Times New Roman"/>
              </a:rPr>
              <a:t>at </a:t>
            </a:r>
            <a:r>
              <a:rPr sz="1950" dirty="0">
                <a:latin typeface="Times New Roman"/>
                <a:cs typeface="Times New Roman"/>
              </a:rPr>
              <a:t>every</a:t>
            </a:r>
            <a:r>
              <a:rPr sz="1950" spc="80" dirty="0">
                <a:latin typeface="Times New Roman"/>
                <a:cs typeface="Times New Roman"/>
              </a:rPr>
              <a:t> </a:t>
            </a:r>
            <a:r>
              <a:rPr sz="1950" dirty="0">
                <a:latin typeface="Times New Roman"/>
                <a:cs typeface="Times New Roman"/>
              </a:rPr>
              <a:t>point</a:t>
            </a:r>
            <a:r>
              <a:rPr sz="1950" spc="120" dirty="0">
                <a:latin typeface="Times New Roman"/>
                <a:cs typeface="Times New Roman"/>
              </a:rPr>
              <a:t> </a:t>
            </a:r>
            <a:r>
              <a:rPr sz="1950" dirty="0">
                <a:latin typeface="Times New Roman"/>
                <a:cs typeface="Times New Roman"/>
              </a:rPr>
              <a:t>of</a:t>
            </a:r>
            <a:r>
              <a:rPr sz="1950" spc="110" dirty="0">
                <a:latin typeface="Times New Roman"/>
                <a:cs typeface="Times New Roman"/>
              </a:rPr>
              <a:t> </a:t>
            </a:r>
            <a:r>
              <a:rPr sz="1950" dirty="0">
                <a:latin typeface="Times New Roman"/>
                <a:cs typeface="Times New Roman"/>
              </a:rPr>
              <a:t>the</a:t>
            </a:r>
            <a:r>
              <a:rPr sz="1950" spc="110" dirty="0">
                <a:latin typeface="Times New Roman"/>
                <a:cs typeface="Times New Roman"/>
              </a:rPr>
              <a:t> </a:t>
            </a:r>
            <a:r>
              <a:rPr sz="1950" dirty="0">
                <a:latin typeface="Times New Roman"/>
                <a:cs typeface="Times New Roman"/>
              </a:rPr>
              <a:t>set</a:t>
            </a:r>
            <a:r>
              <a:rPr sz="1950" spc="95" dirty="0">
                <a:latin typeface="Times New Roman"/>
                <a:cs typeface="Times New Roman"/>
              </a:rPr>
              <a:t> </a:t>
            </a:r>
            <a:r>
              <a:rPr sz="1950" dirty="0">
                <a:latin typeface="Times New Roman"/>
                <a:cs typeface="Times New Roman"/>
              </a:rPr>
              <a:t>A</a:t>
            </a:r>
            <a:r>
              <a:rPr sz="1950" spc="90" dirty="0">
                <a:latin typeface="Times New Roman"/>
                <a:cs typeface="Times New Roman"/>
              </a:rPr>
              <a:t> </a:t>
            </a:r>
            <a:r>
              <a:rPr sz="1950" spc="-25" dirty="0">
                <a:latin typeface="Times New Roman"/>
                <a:cs typeface="Times New Roman"/>
              </a:rPr>
              <a:t>we </a:t>
            </a:r>
            <a:r>
              <a:rPr sz="1950" dirty="0">
                <a:latin typeface="Times New Roman"/>
                <a:cs typeface="Times New Roman"/>
              </a:rPr>
              <a:t>have</a:t>
            </a:r>
            <a:r>
              <a:rPr sz="1950" spc="85" dirty="0">
                <a:latin typeface="Times New Roman"/>
                <a:cs typeface="Times New Roman"/>
              </a:rPr>
              <a:t> </a:t>
            </a:r>
            <a:r>
              <a:rPr sz="1950" dirty="0">
                <a:latin typeface="Times New Roman"/>
                <a:cs typeface="Times New Roman"/>
              </a:rPr>
              <a:t>a</a:t>
            </a:r>
            <a:r>
              <a:rPr sz="1950" spc="90" dirty="0">
                <a:latin typeface="Times New Roman"/>
                <a:cs typeface="Times New Roman"/>
              </a:rPr>
              <a:t> </a:t>
            </a:r>
            <a:r>
              <a:rPr sz="1950" dirty="0">
                <a:latin typeface="Times New Roman"/>
                <a:cs typeface="Times New Roman"/>
              </a:rPr>
              <a:t>loop</a:t>
            </a:r>
            <a:r>
              <a:rPr sz="1950" spc="90" dirty="0">
                <a:latin typeface="Times New Roman"/>
                <a:cs typeface="Times New Roman"/>
              </a:rPr>
              <a:t> </a:t>
            </a:r>
            <a:r>
              <a:rPr sz="1950" dirty="0">
                <a:latin typeface="Times New Roman"/>
                <a:cs typeface="Times New Roman"/>
              </a:rPr>
              <a:t>in</a:t>
            </a:r>
            <a:r>
              <a:rPr sz="1950" spc="90" dirty="0">
                <a:latin typeface="Times New Roman"/>
                <a:cs typeface="Times New Roman"/>
              </a:rPr>
              <a:t> </a:t>
            </a:r>
            <a:r>
              <a:rPr sz="1950" dirty="0">
                <a:latin typeface="Times New Roman"/>
                <a:cs typeface="Times New Roman"/>
              </a:rPr>
              <a:t>the</a:t>
            </a:r>
            <a:r>
              <a:rPr sz="1950" spc="100" dirty="0">
                <a:latin typeface="Times New Roman"/>
                <a:cs typeface="Times New Roman"/>
              </a:rPr>
              <a:t> </a:t>
            </a:r>
            <a:r>
              <a:rPr sz="1950" spc="-10" dirty="0">
                <a:latin typeface="Times New Roman"/>
                <a:cs typeface="Times New Roman"/>
              </a:rPr>
              <a:t>graph.</a:t>
            </a:r>
            <a:endParaRPr sz="1950">
              <a:latin typeface="Times New Roman"/>
              <a:cs typeface="Times New Roman"/>
            </a:endParaRPr>
          </a:p>
        </p:txBody>
      </p:sp>
      <p:sp>
        <p:nvSpPr>
          <p:cNvPr id="18" name="object 18"/>
          <p:cNvSpPr txBox="1"/>
          <p:nvPr/>
        </p:nvSpPr>
        <p:spPr>
          <a:xfrm>
            <a:off x="684730" y="269588"/>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1</a:t>
            </a:r>
            <a:endParaRPr sz="1950">
              <a:latin typeface="Times New Roman"/>
              <a:cs typeface="Times New Roman"/>
            </a:endParaRPr>
          </a:p>
        </p:txBody>
      </p:sp>
      <p:sp>
        <p:nvSpPr>
          <p:cNvPr id="19" name="object 19"/>
          <p:cNvSpPr txBox="1"/>
          <p:nvPr/>
        </p:nvSpPr>
        <p:spPr>
          <a:xfrm>
            <a:off x="2346468" y="269588"/>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2</a:t>
            </a:r>
            <a:endParaRPr sz="1950">
              <a:latin typeface="Times New Roman"/>
              <a:cs typeface="Times New Roman"/>
            </a:endParaRPr>
          </a:p>
        </p:txBody>
      </p:sp>
      <p:sp>
        <p:nvSpPr>
          <p:cNvPr id="20" name="object 20"/>
          <p:cNvSpPr txBox="1"/>
          <p:nvPr/>
        </p:nvSpPr>
        <p:spPr>
          <a:xfrm>
            <a:off x="4294491" y="42558"/>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1</a:t>
            </a:r>
            <a:endParaRPr sz="1950">
              <a:latin typeface="Times New Roman"/>
              <a:cs typeface="Times New Roman"/>
            </a:endParaRPr>
          </a:p>
        </p:txBody>
      </p:sp>
      <p:sp>
        <p:nvSpPr>
          <p:cNvPr id="21" name="object 21"/>
          <p:cNvSpPr txBox="1"/>
          <p:nvPr/>
        </p:nvSpPr>
        <p:spPr>
          <a:xfrm>
            <a:off x="6389265" y="42558"/>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2</a:t>
            </a:r>
            <a:endParaRPr sz="1950">
              <a:latin typeface="Times New Roman"/>
              <a:cs typeface="Times New Roman"/>
            </a:endParaRPr>
          </a:p>
        </p:txBody>
      </p:sp>
      <p:sp>
        <p:nvSpPr>
          <p:cNvPr id="22" name="object 22"/>
          <p:cNvSpPr txBox="1"/>
          <p:nvPr/>
        </p:nvSpPr>
        <p:spPr>
          <a:xfrm>
            <a:off x="4040835" y="2294411"/>
            <a:ext cx="2888615" cy="1170305"/>
          </a:xfrm>
          <a:prstGeom prst="rect">
            <a:avLst/>
          </a:prstGeom>
        </p:spPr>
        <p:txBody>
          <a:bodyPr vert="horz" wrap="square" lIns="0" tIns="14604" rIns="0" bIns="0" rtlCol="0">
            <a:spAutoFit/>
          </a:bodyPr>
          <a:lstStyle/>
          <a:p>
            <a:pPr marL="410209">
              <a:lnSpc>
                <a:spcPct val="100000"/>
              </a:lnSpc>
              <a:spcBef>
                <a:spcPts val="114"/>
              </a:spcBef>
              <a:tabLst>
                <a:tab pos="2287905" algn="l"/>
              </a:tabLst>
            </a:pPr>
            <a:r>
              <a:rPr sz="1950" spc="-50" dirty="0">
                <a:latin typeface="Times New Roman"/>
                <a:cs typeface="Times New Roman"/>
              </a:rPr>
              <a:t>4</a:t>
            </a:r>
            <a:r>
              <a:rPr sz="1950" dirty="0">
                <a:latin typeface="Times New Roman"/>
                <a:cs typeface="Times New Roman"/>
              </a:rPr>
              <a:t>	</a:t>
            </a:r>
            <a:r>
              <a:rPr sz="1950" spc="-50" dirty="0">
                <a:latin typeface="Times New Roman"/>
                <a:cs typeface="Times New Roman"/>
              </a:rPr>
              <a:t>3</a:t>
            </a:r>
            <a:endParaRPr sz="1950">
              <a:latin typeface="Times New Roman"/>
              <a:cs typeface="Times New Roman"/>
            </a:endParaRPr>
          </a:p>
          <a:p>
            <a:pPr marL="50800" marR="43180">
              <a:lnSpc>
                <a:spcPct val="101600"/>
              </a:lnSpc>
              <a:spcBef>
                <a:spcPts val="1895"/>
              </a:spcBef>
            </a:pPr>
            <a:r>
              <a:rPr sz="1950" dirty="0">
                <a:latin typeface="Times New Roman"/>
                <a:cs typeface="Times New Roman"/>
              </a:rPr>
              <a:t>R</a:t>
            </a:r>
            <a:r>
              <a:rPr sz="2025" baseline="-20576" dirty="0">
                <a:latin typeface="Times New Roman"/>
                <a:cs typeface="Times New Roman"/>
              </a:rPr>
              <a:t>2</a:t>
            </a:r>
            <a:r>
              <a:rPr sz="2025" spc="375" baseline="-20576" dirty="0">
                <a:latin typeface="Times New Roman"/>
                <a:cs typeface="Times New Roman"/>
              </a:rPr>
              <a:t> </a:t>
            </a:r>
            <a:r>
              <a:rPr sz="1950" dirty="0">
                <a:latin typeface="Times New Roman"/>
                <a:cs typeface="Times New Roman"/>
              </a:rPr>
              <a:t>is</a:t>
            </a:r>
            <a:r>
              <a:rPr sz="1950" spc="105" dirty="0">
                <a:latin typeface="Times New Roman"/>
                <a:cs typeface="Times New Roman"/>
              </a:rPr>
              <a:t> </a:t>
            </a:r>
            <a:r>
              <a:rPr sz="1950" dirty="0">
                <a:latin typeface="Times New Roman"/>
                <a:cs typeface="Times New Roman"/>
              </a:rPr>
              <a:t>not</a:t>
            </a:r>
            <a:r>
              <a:rPr sz="1950" spc="114" dirty="0">
                <a:latin typeface="Times New Roman"/>
                <a:cs typeface="Times New Roman"/>
              </a:rPr>
              <a:t> </a:t>
            </a:r>
            <a:r>
              <a:rPr sz="1950" dirty="0">
                <a:latin typeface="Times New Roman"/>
                <a:cs typeface="Times New Roman"/>
              </a:rPr>
              <a:t>reflexive,</a:t>
            </a:r>
            <a:r>
              <a:rPr sz="1950" spc="114" dirty="0">
                <a:latin typeface="Times New Roman"/>
                <a:cs typeface="Times New Roman"/>
              </a:rPr>
              <a:t> </a:t>
            </a:r>
            <a:r>
              <a:rPr sz="1950" dirty="0">
                <a:latin typeface="Times New Roman"/>
                <a:cs typeface="Times New Roman"/>
              </a:rPr>
              <a:t>as</a:t>
            </a:r>
            <a:r>
              <a:rPr sz="1950" spc="114" dirty="0">
                <a:latin typeface="Times New Roman"/>
                <a:cs typeface="Times New Roman"/>
              </a:rPr>
              <a:t> </a:t>
            </a:r>
            <a:r>
              <a:rPr sz="1950" spc="-10" dirty="0">
                <a:latin typeface="Times New Roman"/>
                <a:cs typeface="Times New Roman"/>
              </a:rPr>
              <a:t>there </a:t>
            </a:r>
            <a:r>
              <a:rPr sz="1950" dirty="0">
                <a:latin typeface="Times New Roman"/>
                <a:cs typeface="Times New Roman"/>
              </a:rPr>
              <a:t>is</a:t>
            </a:r>
            <a:r>
              <a:rPr sz="1950" spc="75" dirty="0">
                <a:latin typeface="Times New Roman"/>
                <a:cs typeface="Times New Roman"/>
              </a:rPr>
              <a:t> </a:t>
            </a:r>
            <a:r>
              <a:rPr sz="1950" dirty="0">
                <a:latin typeface="Times New Roman"/>
                <a:cs typeface="Times New Roman"/>
              </a:rPr>
              <a:t>no</a:t>
            </a:r>
            <a:r>
              <a:rPr sz="1950" spc="85" dirty="0">
                <a:latin typeface="Times New Roman"/>
                <a:cs typeface="Times New Roman"/>
              </a:rPr>
              <a:t> </a:t>
            </a:r>
            <a:r>
              <a:rPr sz="1950" dirty="0">
                <a:latin typeface="Times New Roman"/>
                <a:cs typeface="Times New Roman"/>
              </a:rPr>
              <a:t>loop</a:t>
            </a:r>
            <a:r>
              <a:rPr sz="1950" spc="80" dirty="0">
                <a:latin typeface="Times New Roman"/>
                <a:cs typeface="Times New Roman"/>
              </a:rPr>
              <a:t> </a:t>
            </a:r>
            <a:r>
              <a:rPr sz="1950" dirty="0">
                <a:latin typeface="Times New Roman"/>
                <a:cs typeface="Times New Roman"/>
              </a:rPr>
              <a:t>at</a:t>
            </a:r>
            <a:r>
              <a:rPr sz="1950" spc="85" dirty="0">
                <a:latin typeface="Times New Roman"/>
                <a:cs typeface="Times New Roman"/>
              </a:rPr>
              <a:t> </a:t>
            </a:r>
            <a:r>
              <a:rPr sz="1950" spc="-25" dirty="0">
                <a:latin typeface="Times New Roman"/>
                <a:cs typeface="Times New Roman"/>
              </a:rPr>
              <a:t>4.</a:t>
            </a:r>
            <a:endParaRPr sz="1950">
              <a:latin typeface="Times New Roman"/>
              <a:cs typeface="Times New Roman"/>
            </a:endParaRPr>
          </a:p>
        </p:txBody>
      </p:sp>
      <p:grpSp>
        <p:nvGrpSpPr>
          <p:cNvPr id="23" name="object 23"/>
          <p:cNvGrpSpPr/>
          <p:nvPr/>
        </p:nvGrpSpPr>
        <p:grpSpPr>
          <a:xfrm>
            <a:off x="6128889" y="178449"/>
            <a:ext cx="214629" cy="391795"/>
            <a:chOff x="6128889" y="178449"/>
            <a:chExt cx="214629" cy="391795"/>
          </a:xfrm>
        </p:grpSpPr>
        <p:sp>
          <p:nvSpPr>
            <p:cNvPr id="24" name="object 24"/>
            <p:cNvSpPr/>
            <p:nvPr/>
          </p:nvSpPr>
          <p:spPr>
            <a:xfrm>
              <a:off x="6137040" y="178449"/>
              <a:ext cx="206375" cy="337185"/>
            </a:xfrm>
            <a:custGeom>
              <a:avLst/>
              <a:gdLst/>
              <a:ahLst/>
              <a:cxnLst/>
              <a:rect l="l" t="t" r="r" b="b"/>
              <a:pathLst>
                <a:path w="206375" h="337184">
                  <a:moveTo>
                    <a:pt x="123388" y="0"/>
                  </a:moveTo>
                  <a:lnTo>
                    <a:pt x="98937" y="0"/>
                  </a:lnTo>
                  <a:lnTo>
                    <a:pt x="78290" y="5817"/>
                  </a:lnTo>
                  <a:lnTo>
                    <a:pt x="53865" y="17452"/>
                  </a:lnTo>
                  <a:lnTo>
                    <a:pt x="33193" y="41611"/>
                  </a:lnTo>
                  <a:lnTo>
                    <a:pt x="16892" y="65737"/>
                  </a:lnTo>
                  <a:lnTo>
                    <a:pt x="0" y="102387"/>
                  </a:lnTo>
                  <a:lnTo>
                    <a:pt x="16892" y="114022"/>
                  </a:lnTo>
                  <a:lnTo>
                    <a:pt x="28796" y="84045"/>
                  </a:lnTo>
                  <a:lnTo>
                    <a:pt x="45714" y="59919"/>
                  </a:lnTo>
                  <a:lnTo>
                    <a:pt x="61989" y="41611"/>
                  </a:lnTo>
                  <a:lnTo>
                    <a:pt x="82661" y="29942"/>
                  </a:lnTo>
                  <a:lnTo>
                    <a:pt x="102716" y="24125"/>
                  </a:lnTo>
                  <a:lnTo>
                    <a:pt x="123388" y="24125"/>
                  </a:lnTo>
                  <a:lnTo>
                    <a:pt x="156581" y="35794"/>
                  </a:lnTo>
                  <a:lnTo>
                    <a:pt x="172857" y="54102"/>
                  </a:lnTo>
                  <a:lnTo>
                    <a:pt x="189132" y="102387"/>
                  </a:lnTo>
                  <a:lnTo>
                    <a:pt x="189132" y="132330"/>
                  </a:lnTo>
                  <a:lnTo>
                    <a:pt x="185378" y="168124"/>
                  </a:lnTo>
                  <a:lnTo>
                    <a:pt x="177253" y="216409"/>
                  </a:lnTo>
                  <a:lnTo>
                    <a:pt x="160335" y="264694"/>
                  </a:lnTo>
                  <a:lnTo>
                    <a:pt x="131513" y="318797"/>
                  </a:lnTo>
                  <a:lnTo>
                    <a:pt x="144034" y="337104"/>
                  </a:lnTo>
                  <a:lnTo>
                    <a:pt x="172857" y="277185"/>
                  </a:lnTo>
                  <a:lnTo>
                    <a:pt x="193529" y="223082"/>
                  </a:lnTo>
                  <a:lnTo>
                    <a:pt x="206050" y="174797"/>
                  </a:lnTo>
                  <a:lnTo>
                    <a:pt x="206050" y="96535"/>
                  </a:lnTo>
                  <a:lnTo>
                    <a:pt x="197900" y="65737"/>
                  </a:lnTo>
                  <a:lnTo>
                    <a:pt x="181007" y="35794"/>
                  </a:lnTo>
                  <a:lnTo>
                    <a:pt x="164706" y="17452"/>
                  </a:lnTo>
                  <a:lnTo>
                    <a:pt x="144034" y="5817"/>
                  </a:lnTo>
                  <a:lnTo>
                    <a:pt x="123388" y="0"/>
                  </a:lnTo>
                  <a:close/>
                </a:path>
              </a:pathLst>
            </a:custGeom>
            <a:solidFill>
              <a:srgbClr val="1F1A17"/>
            </a:solidFill>
          </p:spPr>
          <p:txBody>
            <a:bodyPr wrap="square" lIns="0" tIns="0" rIns="0" bIns="0" rtlCol="0"/>
            <a:lstStyle/>
            <a:p>
              <a:endParaRPr/>
            </a:p>
          </p:txBody>
        </p:sp>
        <p:pic>
          <p:nvPicPr>
            <p:cNvPr id="25" name="object 25"/>
            <p:cNvPicPr/>
            <p:nvPr/>
          </p:nvPicPr>
          <p:blipFill>
            <a:blip r:embed="rId2" cstate="print"/>
            <a:stretch>
              <a:fillRect/>
            </a:stretch>
          </p:blipFill>
          <p:spPr>
            <a:xfrm>
              <a:off x="6128889" y="280837"/>
              <a:ext cx="135910" cy="288820"/>
            </a:xfrm>
            <a:prstGeom prst="rect">
              <a:avLst/>
            </a:prstGeom>
          </p:spPr>
        </p:pic>
        <p:sp>
          <p:nvSpPr>
            <p:cNvPr id="26" name="object 26"/>
            <p:cNvSpPr/>
            <p:nvPr/>
          </p:nvSpPr>
          <p:spPr>
            <a:xfrm>
              <a:off x="6268553" y="479760"/>
              <a:ext cx="25400" cy="41910"/>
            </a:xfrm>
            <a:custGeom>
              <a:avLst/>
              <a:gdLst/>
              <a:ahLst/>
              <a:cxnLst/>
              <a:rect l="l" t="t" r="r" b="b"/>
              <a:pathLst>
                <a:path w="25400" h="41909">
                  <a:moveTo>
                    <a:pt x="12521" y="0"/>
                  </a:moveTo>
                  <a:lnTo>
                    <a:pt x="0" y="11669"/>
                  </a:lnTo>
                  <a:lnTo>
                    <a:pt x="0" y="35794"/>
                  </a:lnTo>
                  <a:lnTo>
                    <a:pt x="12521" y="41646"/>
                  </a:lnTo>
                  <a:lnTo>
                    <a:pt x="20671" y="35794"/>
                  </a:lnTo>
                  <a:lnTo>
                    <a:pt x="25068" y="24159"/>
                  </a:lnTo>
                  <a:lnTo>
                    <a:pt x="20671" y="11669"/>
                  </a:lnTo>
                  <a:lnTo>
                    <a:pt x="12521" y="0"/>
                  </a:lnTo>
                  <a:close/>
                </a:path>
              </a:pathLst>
            </a:custGeom>
            <a:solidFill>
              <a:srgbClr val="1F1A17"/>
            </a:solidFill>
          </p:spPr>
          <p:txBody>
            <a:bodyPr wrap="square" lIns="0" tIns="0" rIns="0" bIns="0" rtlCol="0"/>
            <a:lstStyle/>
            <a:p>
              <a:endParaRPr/>
            </a:p>
          </p:txBody>
        </p:sp>
        <p:sp>
          <p:nvSpPr>
            <p:cNvPr id="27" name="object 27"/>
            <p:cNvSpPr/>
            <p:nvPr/>
          </p:nvSpPr>
          <p:spPr>
            <a:xfrm>
              <a:off x="6277321" y="491429"/>
              <a:ext cx="25400" cy="41910"/>
            </a:xfrm>
            <a:custGeom>
              <a:avLst/>
              <a:gdLst/>
              <a:ahLst/>
              <a:cxnLst/>
              <a:rect l="l" t="t" r="r" b="b"/>
              <a:pathLst>
                <a:path w="25400" h="41909">
                  <a:moveTo>
                    <a:pt x="12521" y="0"/>
                  </a:moveTo>
                  <a:lnTo>
                    <a:pt x="20671" y="11634"/>
                  </a:lnTo>
                  <a:lnTo>
                    <a:pt x="25068" y="24125"/>
                  </a:lnTo>
                  <a:lnTo>
                    <a:pt x="20671" y="35794"/>
                  </a:lnTo>
                  <a:lnTo>
                    <a:pt x="12521" y="41611"/>
                  </a:lnTo>
                  <a:lnTo>
                    <a:pt x="0" y="35794"/>
                  </a:lnTo>
                  <a:lnTo>
                    <a:pt x="0" y="24125"/>
                  </a:lnTo>
                  <a:lnTo>
                    <a:pt x="0" y="11634"/>
                  </a:lnTo>
                  <a:lnTo>
                    <a:pt x="12521" y="0"/>
                  </a:lnTo>
                </a:path>
              </a:pathLst>
            </a:custGeom>
            <a:ln w="4770">
              <a:solidFill>
                <a:srgbClr val="1F1A17"/>
              </a:solidFill>
            </a:ln>
          </p:spPr>
          <p:txBody>
            <a:bodyPr wrap="square" lIns="0" tIns="0" rIns="0" bIns="0" rtlCol="0"/>
            <a:lstStyle/>
            <a:p>
              <a:endParaRPr/>
            </a:p>
          </p:txBody>
        </p:sp>
      </p:grpSp>
      <p:grpSp>
        <p:nvGrpSpPr>
          <p:cNvPr id="28" name="object 28"/>
          <p:cNvGrpSpPr/>
          <p:nvPr/>
        </p:nvGrpSpPr>
        <p:grpSpPr>
          <a:xfrm>
            <a:off x="4499791" y="165959"/>
            <a:ext cx="1826895" cy="2446655"/>
            <a:chOff x="4499791" y="165959"/>
            <a:chExt cx="1826895" cy="2446655"/>
          </a:xfrm>
        </p:grpSpPr>
        <p:sp>
          <p:nvSpPr>
            <p:cNvPr id="29" name="object 29"/>
            <p:cNvSpPr/>
            <p:nvPr/>
          </p:nvSpPr>
          <p:spPr>
            <a:xfrm>
              <a:off x="4503549" y="165959"/>
              <a:ext cx="210185" cy="338455"/>
            </a:xfrm>
            <a:custGeom>
              <a:avLst/>
              <a:gdLst/>
              <a:ahLst/>
              <a:cxnLst/>
              <a:rect l="l" t="t" r="r" b="b"/>
              <a:pathLst>
                <a:path w="210185" h="338455">
                  <a:moveTo>
                    <a:pt x="124014" y="0"/>
                  </a:moveTo>
                  <a:lnTo>
                    <a:pt x="98961" y="0"/>
                  </a:lnTo>
                  <a:lnTo>
                    <a:pt x="78292" y="5817"/>
                  </a:lnTo>
                  <a:lnTo>
                    <a:pt x="53863" y="18307"/>
                  </a:lnTo>
                  <a:lnTo>
                    <a:pt x="33194" y="42433"/>
                  </a:lnTo>
                  <a:lnTo>
                    <a:pt x="16911" y="66592"/>
                  </a:lnTo>
                  <a:lnTo>
                    <a:pt x="0" y="102387"/>
                  </a:lnTo>
                  <a:lnTo>
                    <a:pt x="16911" y="114877"/>
                  </a:lnTo>
                  <a:lnTo>
                    <a:pt x="28810" y="84900"/>
                  </a:lnTo>
                  <a:lnTo>
                    <a:pt x="45721" y="60741"/>
                  </a:lnTo>
                  <a:lnTo>
                    <a:pt x="62006" y="42433"/>
                  </a:lnTo>
                  <a:lnTo>
                    <a:pt x="82676" y="29942"/>
                  </a:lnTo>
                  <a:lnTo>
                    <a:pt x="103345" y="24125"/>
                  </a:lnTo>
                  <a:lnTo>
                    <a:pt x="124014" y="24125"/>
                  </a:lnTo>
                  <a:lnTo>
                    <a:pt x="172868" y="54102"/>
                  </a:lnTo>
                  <a:lnTo>
                    <a:pt x="189779" y="102387"/>
                  </a:lnTo>
                  <a:lnTo>
                    <a:pt x="189779" y="168980"/>
                  </a:lnTo>
                  <a:lnTo>
                    <a:pt x="177252" y="217265"/>
                  </a:lnTo>
                  <a:lnTo>
                    <a:pt x="160967" y="265515"/>
                  </a:lnTo>
                  <a:lnTo>
                    <a:pt x="132157" y="319652"/>
                  </a:lnTo>
                  <a:lnTo>
                    <a:pt x="148440" y="337960"/>
                  </a:lnTo>
                  <a:lnTo>
                    <a:pt x="172868" y="277185"/>
                  </a:lnTo>
                  <a:lnTo>
                    <a:pt x="193538" y="223082"/>
                  </a:lnTo>
                  <a:lnTo>
                    <a:pt x="206064" y="174797"/>
                  </a:lnTo>
                  <a:lnTo>
                    <a:pt x="209821" y="132330"/>
                  </a:lnTo>
                  <a:lnTo>
                    <a:pt x="206064" y="96535"/>
                  </a:lnTo>
                  <a:lnTo>
                    <a:pt x="197921" y="60741"/>
                  </a:lnTo>
                  <a:lnTo>
                    <a:pt x="185395" y="36615"/>
                  </a:lnTo>
                  <a:lnTo>
                    <a:pt x="164726" y="18307"/>
                  </a:lnTo>
                  <a:lnTo>
                    <a:pt x="144056" y="5817"/>
                  </a:lnTo>
                  <a:lnTo>
                    <a:pt x="124014" y="0"/>
                  </a:lnTo>
                  <a:close/>
                </a:path>
              </a:pathLst>
            </a:custGeom>
            <a:solidFill>
              <a:srgbClr val="1F1A17"/>
            </a:solidFill>
          </p:spPr>
          <p:txBody>
            <a:bodyPr wrap="square" lIns="0" tIns="0" rIns="0" bIns="0" rtlCol="0"/>
            <a:lstStyle/>
            <a:p>
              <a:endParaRPr/>
            </a:p>
          </p:txBody>
        </p:sp>
        <p:pic>
          <p:nvPicPr>
            <p:cNvPr id="30" name="object 30"/>
            <p:cNvPicPr/>
            <p:nvPr/>
          </p:nvPicPr>
          <p:blipFill>
            <a:blip r:embed="rId3" cstate="print"/>
            <a:stretch>
              <a:fillRect/>
            </a:stretch>
          </p:blipFill>
          <p:spPr>
            <a:xfrm>
              <a:off x="4499791" y="268346"/>
              <a:ext cx="131529" cy="289675"/>
            </a:xfrm>
            <a:prstGeom prst="rect">
              <a:avLst/>
            </a:prstGeom>
          </p:spPr>
        </p:pic>
        <p:sp>
          <p:nvSpPr>
            <p:cNvPr id="31" name="object 31"/>
            <p:cNvSpPr/>
            <p:nvPr/>
          </p:nvSpPr>
          <p:spPr>
            <a:xfrm>
              <a:off x="4635703" y="467270"/>
              <a:ext cx="1691005" cy="1983105"/>
            </a:xfrm>
            <a:custGeom>
              <a:avLst/>
              <a:gdLst/>
              <a:ahLst/>
              <a:cxnLst/>
              <a:rect l="l" t="t" r="r" b="b"/>
              <a:pathLst>
                <a:path w="1691004" h="1983105">
                  <a:moveTo>
                    <a:pt x="24422" y="24168"/>
                  </a:moveTo>
                  <a:lnTo>
                    <a:pt x="20040" y="5854"/>
                  </a:lnTo>
                  <a:lnTo>
                    <a:pt x="11899" y="0"/>
                  </a:lnTo>
                  <a:lnTo>
                    <a:pt x="3759" y="5854"/>
                  </a:lnTo>
                  <a:lnTo>
                    <a:pt x="0" y="24168"/>
                  </a:lnTo>
                  <a:lnTo>
                    <a:pt x="3759" y="36652"/>
                  </a:lnTo>
                  <a:lnTo>
                    <a:pt x="11899" y="42468"/>
                  </a:lnTo>
                  <a:lnTo>
                    <a:pt x="20040" y="36652"/>
                  </a:lnTo>
                  <a:lnTo>
                    <a:pt x="24422" y="24168"/>
                  </a:lnTo>
                  <a:close/>
                </a:path>
                <a:path w="1691004" h="1983105">
                  <a:moveTo>
                    <a:pt x="1690458" y="1693164"/>
                  </a:moveTo>
                  <a:lnTo>
                    <a:pt x="1666036" y="1633207"/>
                  </a:lnTo>
                  <a:lnTo>
                    <a:pt x="1629092" y="1597406"/>
                  </a:lnTo>
                  <a:lnTo>
                    <a:pt x="1608416" y="1590776"/>
                  </a:lnTo>
                  <a:lnTo>
                    <a:pt x="1583994" y="1590776"/>
                  </a:lnTo>
                  <a:lnTo>
                    <a:pt x="1538274" y="1614893"/>
                  </a:lnTo>
                  <a:lnTo>
                    <a:pt x="1501330" y="1663179"/>
                  </a:lnTo>
                  <a:lnTo>
                    <a:pt x="1485036" y="1699793"/>
                  </a:lnTo>
                  <a:lnTo>
                    <a:pt x="1476908" y="1735594"/>
                  </a:lnTo>
                  <a:lnTo>
                    <a:pt x="1476908" y="1778063"/>
                  </a:lnTo>
                  <a:lnTo>
                    <a:pt x="1501330" y="1850478"/>
                  </a:lnTo>
                  <a:lnTo>
                    <a:pt x="1538274" y="1910410"/>
                  </a:lnTo>
                  <a:lnTo>
                    <a:pt x="1566506" y="1932990"/>
                  </a:lnTo>
                  <a:lnTo>
                    <a:pt x="1518221" y="1964512"/>
                  </a:lnTo>
                  <a:lnTo>
                    <a:pt x="1521980" y="1976996"/>
                  </a:lnTo>
                  <a:lnTo>
                    <a:pt x="1521980" y="1982825"/>
                  </a:lnTo>
                  <a:lnTo>
                    <a:pt x="1600263" y="1940369"/>
                  </a:lnTo>
                  <a:lnTo>
                    <a:pt x="1612811" y="1934552"/>
                  </a:lnTo>
                  <a:lnTo>
                    <a:pt x="1604048" y="1922068"/>
                  </a:lnTo>
                  <a:lnTo>
                    <a:pt x="1542643" y="1837982"/>
                  </a:lnTo>
                  <a:lnTo>
                    <a:pt x="1534528" y="1856308"/>
                  </a:lnTo>
                  <a:lnTo>
                    <a:pt x="1568094" y="1905292"/>
                  </a:lnTo>
                  <a:lnTo>
                    <a:pt x="1567078" y="1904580"/>
                  </a:lnTo>
                  <a:lnTo>
                    <a:pt x="1530134" y="1862124"/>
                  </a:lnTo>
                  <a:lnTo>
                    <a:pt x="1501330" y="1808035"/>
                  </a:lnTo>
                  <a:lnTo>
                    <a:pt x="1497545" y="1771383"/>
                  </a:lnTo>
                  <a:lnTo>
                    <a:pt x="1493177" y="1741449"/>
                  </a:lnTo>
                  <a:lnTo>
                    <a:pt x="1513852" y="1675676"/>
                  </a:lnTo>
                  <a:lnTo>
                    <a:pt x="1547050" y="1639062"/>
                  </a:lnTo>
                  <a:lnTo>
                    <a:pt x="1583994" y="1620710"/>
                  </a:lnTo>
                  <a:lnTo>
                    <a:pt x="1624723" y="1620710"/>
                  </a:lnTo>
                  <a:lnTo>
                    <a:pt x="1641614" y="1633207"/>
                  </a:lnTo>
                  <a:lnTo>
                    <a:pt x="1653514" y="1651520"/>
                  </a:lnTo>
                  <a:lnTo>
                    <a:pt x="1666036" y="1668995"/>
                  </a:lnTo>
                  <a:lnTo>
                    <a:pt x="1670431" y="1699793"/>
                  </a:lnTo>
                  <a:lnTo>
                    <a:pt x="1674190" y="1729778"/>
                  </a:lnTo>
                  <a:lnTo>
                    <a:pt x="1670431" y="1765566"/>
                  </a:lnTo>
                  <a:lnTo>
                    <a:pt x="1661668" y="1808035"/>
                  </a:lnTo>
                  <a:lnTo>
                    <a:pt x="1641614" y="1862124"/>
                  </a:lnTo>
                  <a:lnTo>
                    <a:pt x="1616570" y="1916239"/>
                  </a:lnTo>
                  <a:lnTo>
                    <a:pt x="1629092" y="1928723"/>
                  </a:lnTo>
                  <a:lnTo>
                    <a:pt x="1657908" y="1874608"/>
                  </a:lnTo>
                  <a:lnTo>
                    <a:pt x="1678584" y="1819668"/>
                  </a:lnTo>
                  <a:lnTo>
                    <a:pt x="1686712" y="1771383"/>
                  </a:lnTo>
                  <a:lnTo>
                    <a:pt x="1690458" y="1729778"/>
                  </a:lnTo>
                  <a:lnTo>
                    <a:pt x="1690458" y="1693164"/>
                  </a:lnTo>
                  <a:close/>
                </a:path>
              </a:pathLst>
            </a:custGeom>
            <a:solidFill>
              <a:srgbClr val="1F1A17"/>
            </a:solidFill>
          </p:spPr>
          <p:txBody>
            <a:bodyPr wrap="square" lIns="0" tIns="0" rIns="0" bIns="0" rtlCol="0"/>
            <a:lstStyle/>
            <a:p>
              <a:endParaRPr/>
            </a:p>
          </p:txBody>
        </p:sp>
        <p:sp>
          <p:nvSpPr>
            <p:cNvPr id="32" name="object 32"/>
            <p:cNvSpPr/>
            <p:nvPr/>
          </p:nvSpPr>
          <p:spPr>
            <a:xfrm>
              <a:off x="4644474" y="478938"/>
              <a:ext cx="24765" cy="42545"/>
            </a:xfrm>
            <a:custGeom>
              <a:avLst/>
              <a:gdLst/>
              <a:ahLst/>
              <a:cxnLst/>
              <a:rect l="l" t="t" r="r" b="b"/>
              <a:pathLst>
                <a:path w="24764" h="42545">
                  <a:moveTo>
                    <a:pt x="11899" y="0"/>
                  </a:moveTo>
                  <a:lnTo>
                    <a:pt x="20041" y="5817"/>
                  </a:lnTo>
                  <a:lnTo>
                    <a:pt x="24428" y="24125"/>
                  </a:lnTo>
                  <a:lnTo>
                    <a:pt x="20041" y="36615"/>
                  </a:lnTo>
                  <a:lnTo>
                    <a:pt x="11899" y="42467"/>
                  </a:lnTo>
                  <a:lnTo>
                    <a:pt x="3758" y="36615"/>
                  </a:lnTo>
                  <a:lnTo>
                    <a:pt x="0" y="24125"/>
                  </a:lnTo>
                  <a:lnTo>
                    <a:pt x="3758" y="5817"/>
                  </a:lnTo>
                  <a:lnTo>
                    <a:pt x="11899" y="0"/>
                  </a:lnTo>
                </a:path>
              </a:pathLst>
            </a:custGeom>
            <a:ln w="4745">
              <a:solidFill>
                <a:srgbClr val="1F1A17"/>
              </a:solidFill>
            </a:ln>
          </p:spPr>
          <p:txBody>
            <a:bodyPr wrap="square" lIns="0" tIns="0" rIns="0" bIns="0" rtlCol="0"/>
            <a:lstStyle/>
            <a:p>
              <a:endParaRPr/>
            </a:p>
          </p:txBody>
        </p:sp>
        <p:sp>
          <p:nvSpPr>
            <p:cNvPr id="33" name="object 33"/>
            <p:cNvSpPr/>
            <p:nvPr/>
          </p:nvSpPr>
          <p:spPr>
            <a:xfrm>
              <a:off x="6248524" y="2365186"/>
              <a:ext cx="24765" cy="42545"/>
            </a:xfrm>
            <a:custGeom>
              <a:avLst/>
              <a:gdLst/>
              <a:ahLst/>
              <a:cxnLst/>
              <a:rect l="l" t="t" r="r" b="b"/>
              <a:pathLst>
                <a:path w="24764" h="42544">
                  <a:moveTo>
                    <a:pt x="11904" y="0"/>
                  </a:moveTo>
                  <a:lnTo>
                    <a:pt x="3753" y="6659"/>
                  </a:lnTo>
                  <a:lnTo>
                    <a:pt x="0" y="24142"/>
                  </a:lnTo>
                  <a:lnTo>
                    <a:pt x="3753" y="36626"/>
                  </a:lnTo>
                  <a:lnTo>
                    <a:pt x="11904" y="42453"/>
                  </a:lnTo>
                  <a:lnTo>
                    <a:pt x="20029" y="36626"/>
                  </a:lnTo>
                  <a:lnTo>
                    <a:pt x="24425" y="24142"/>
                  </a:lnTo>
                  <a:lnTo>
                    <a:pt x="20029" y="6659"/>
                  </a:lnTo>
                  <a:lnTo>
                    <a:pt x="11904" y="0"/>
                  </a:lnTo>
                  <a:close/>
                </a:path>
              </a:pathLst>
            </a:custGeom>
            <a:solidFill>
              <a:srgbClr val="1F1A17"/>
            </a:solidFill>
          </p:spPr>
          <p:txBody>
            <a:bodyPr wrap="square" lIns="0" tIns="0" rIns="0" bIns="0" rtlCol="0"/>
            <a:lstStyle/>
            <a:p>
              <a:endParaRPr/>
            </a:p>
          </p:txBody>
        </p:sp>
        <p:sp>
          <p:nvSpPr>
            <p:cNvPr id="34" name="object 34"/>
            <p:cNvSpPr/>
            <p:nvPr/>
          </p:nvSpPr>
          <p:spPr>
            <a:xfrm>
              <a:off x="6257292" y="2376842"/>
              <a:ext cx="24765" cy="42545"/>
            </a:xfrm>
            <a:custGeom>
              <a:avLst/>
              <a:gdLst/>
              <a:ahLst/>
              <a:cxnLst/>
              <a:rect l="l" t="t" r="r" b="b"/>
              <a:pathLst>
                <a:path w="24764" h="42544">
                  <a:moveTo>
                    <a:pt x="11904" y="0"/>
                  </a:moveTo>
                  <a:lnTo>
                    <a:pt x="20029" y="6659"/>
                  </a:lnTo>
                  <a:lnTo>
                    <a:pt x="24425" y="24139"/>
                  </a:lnTo>
                  <a:lnTo>
                    <a:pt x="20029" y="36626"/>
                  </a:lnTo>
                  <a:lnTo>
                    <a:pt x="11904" y="42453"/>
                  </a:lnTo>
                  <a:lnTo>
                    <a:pt x="3753" y="36626"/>
                  </a:lnTo>
                  <a:lnTo>
                    <a:pt x="0" y="24139"/>
                  </a:lnTo>
                  <a:lnTo>
                    <a:pt x="3753" y="6659"/>
                  </a:lnTo>
                  <a:lnTo>
                    <a:pt x="11904" y="0"/>
                  </a:lnTo>
                </a:path>
              </a:pathLst>
            </a:custGeom>
            <a:ln w="4745">
              <a:solidFill>
                <a:srgbClr val="1F1A17"/>
              </a:solidFill>
            </a:ln>
          </p:spPr>
          <p:txBody>
            <a:bodyPr wrap="square" lIns="0" tIns="0" rIns="0" bIns="0" rtlCol="0"/>
            <a:lstStyle/>
            <a:p>
              <a:endParaRPr/>
            </a:p>
          </p:txBody>
        </p:sp>
        <p:sp>
          <p:nvSpPr>
            <p:cNvPr id="35" name="object 35"/>
            <p:cNvSpPr/>
            <p:nvPr/>
          </p:nvSpPr>
          <p:spPr>
            <a:xfrm>
              <a:off x="4713370" y="407349"/>
              <a:ext cx="206375" cy="1873885"/>
            </a:xfrm>
            <a:custGeom>
              <a:avLst/>
              <a:gdLst/>
              <a:ahLst/>
              <a:cxnLst/>
              <a:rect l="l" t="t" r="r" b="b"/>
              <a:pathLst>
                <a:path w="206375" h="1873885">
                  <a:moveTo>
                    <a:pt x="12526" y="0"/>
                  </a:moveTo>
                  <a:lnTo>
                    <a:pt x="0" y="18307"/>
                  </a:lnTo>
                  <a:lnTo>
                    <a:pt x="37571" y="89896"/>
                  </a:lnTo>
                  <a:lnTo>
                    <a:pt x="95191" y="247242"/>
                  </a:lnTo>
                  <a:lnTo>
                    <a:pt x="115245" y="318831"/>
                  </a:lnTo>
                  <a:lnTo>
                    <a:pt x="135917" y="397880"/>
                  </a:lnTo>
                  <a:lnTo>
                    <a:pt x="152835" y="476142"/>
                  </a:lnTo>
                  <a:lnTo>
                    <a:pt x="177261" y="626814"/>
                  </a:lnTo>
                  <a:lnTo>
                    <a:pt x="181015" y="699225"/>
                  </a:lnTo>
                  <a:lnTo>
                    <a:pt x="189783" y="843224"/>
                  </a:lnTo>
                  <a:lnTo>
                    <a:pt x="189783" y="915668"/>
                  </a:lnTo>
                  <a:lnTo>
                    <a:pt x="181015" y="1054672"/>
                  </a:lnTo>
                  <a:lnTo>
                    <a:pt x="169111" y="1187036"/>
                  </a:lnTo>
                  <a:lnTo>
                    <a:pt x="152836" y="1313549"/>
                  </a:lnTo>
                  <a:lnTo>
                    <a:pt x="127767" y="1427605"/>
                  </a:lnTo>
                  <a:lnTo>
                    <a:pt x="103341" y="1529993"/>
                  </a:lnTo>
                  <a:lnTo>
                    <a:pt x="78298" y="1626528"/>
                  </a:lnTo>
                  <a:lnTo>
                    <a:pt x="33201" y="1777201"/>
                  </a:lnTo>
                  <a:lnTo>
                    <a:pt x="0" y="1862101"/>
                  </a:lnTo>
                  <a:lnTo>
                    <a:pt x="12526" y="1873771"/>
                  </a:lnTo>
                  <a:lnTo>
                    <a:pt x="45722" y="1783874"/>
                  </a:lnTo>
                  <a:lnTo>
                    <a:pt x="95191" y="1639019"/>
                  </a:lnTo>
                  <a:lnTo>
                    <a:pt x="119642" y="1542449"/>
                  </a:lnTo>
                  <a:lnTo>
                    <a:pt x="144068" y="1434244"/>
                  </a:lnTo>
                  <a:lnTo>
                    <a:pt x="169111" y="1319366"/>
                  </a:lnTo>
                  <a:lnTo>
                    <a:pt x="185386" y="1192853"/>
                  </a:lnTo>
                  <a:lnTo>
                    <a:pt x="197933" y="1060489"/>
                  </a:lnTo>
                  <a:lnTo>
                    <a:pt x="206058" y="915668"/>
                  </a:lnTo>
                  <a:lnTo>
                    <a:pt x="206058" y="770814"/>
                  </a:lnTo>
                  <a:lnTo>
                    <a:pt x="197933" y="692552"/>
                  </a:lnTo>
                  <a:lnTo>
                    <a:pt x="193536" y="620141"/>
                  </a:lnTo>
                  <a:lnTo>
                    <a:pt x="181015" y="541913"/>
                  </a:lnTo>
                  <a:lnTo>
                    <a:pt x="169111" y="463651"/>
                  </a:lnTo>
                  <a:lnTo>
                    <a:pt x="152835" y="391241"/>
                  </a:lnTo>
                  <a:lnTo>
                    <a:pt x="132163" y="312979"/>
                  </a:lnTo>
                  <a:lnTo>
                    <a:pt x="107095" y="234751"/>
                  </a:lnTo>
                  <a:lnTo>
                    <a:pt x="82669" y="156489"/>
                  </a:lnTo>
                  <a:lnTo>
                    <a:pt x="49476" y="78262"/>
                  </a:lnTo>
                  <a:lnTo>
                    <a:pt x="12526" y="0"/>
                  </a:lnTo>
                  <a:close/>
                </a:path>
              </a:pathLst>
            </a:custGeom>
            <a:solidFill>
              <a:srgbClr val="1F1A17"/>
            </a:solidFill>
          </p:spPr>
          <p:txBody>
            <a:bodyPr wrap="square" lIns="0" tIns="0" rIns="0" bIns="0" rtlCol="0"/>
            <a:lstStyle/>
            <a:p>
              <a:endParaRPr/>
            </a:p>
          </p:txBody>
        </p:sp>
        <p:pic>
          <p:nvPicPr>
            <p:cNvPr id="36" name="object 36"/>
            <p:cNvPicPr/>
            <p:nvPr/>
          </p:nvPicPr>
          <p:blipFill>
            <a:blip r:embed="rId4" cstate="print"/>
            <a:stretch>
              <a:fillRect/>
            </a:stretch>
          </p:blipFill>
          <p:spPr>
            <a:xfrm>
              <a:off x="4701471" y="2172916"/>
              <a:ext cx="90197" cy="138164"/>
            </a:xfrm>
            <a:prstGeom prst="rect">
              <a:avLst/>
            </a:prstGeom>
          </p:spPr>
        </p:pic>
        <p:sp>
          <p:nvSpPr>
            <p:cNvPr id="37" name="object 37"/>
            <p:cNvSpPr/>
            <p:nvPr/>
          </p:nvSpPr>
          <p:spPr>
            <a:xfrm>
              <a:off x="4725897" y="2305253"/>
              <a:ext cx="1366520" cy="307340"/>
            </a:xfrm>
            <a:custGeom>
              <a:avLst/>
              <a:gdLst/>
              <a:ahLst/>
              <a:cxnLst/>
              <a:rect l="l" t="t" r="r" b="b"/>
              <a:pathLst>
                <a:path w="1366520" h="307339">
                  <a:moveTo>
                    <a:pt x="1361648" y="0"/>
                  </a:moveTo>
                  <a:lnTo>
                    <a:pt x="1295879" y="48281"/>
                  </a:lnTo>
                  <a:lnTo>
                    <a:pt x="1201312" y="120702"/>
                  </a:lnTo>
                  <a:lnTo>
                    <a:pt x="1143693" y="156493"/>
                  </a:lnTo>
                  <a:lnTo>
                    <a:pt x="1074170" y="193119"/>
                  </a:lnTo>
                  <a:lnTo>
                    <a:pt x="999633" y="228913"/>
                  </a:lnTo>
                  <a:lnTo>
                    <a:pt x="917588" y="253052"/>
                  </a:lnTo>
                  <a:lnTo>
                    <a:pt x="831146" y="271367"/>
                  </a:lnTo>
                  <a:lnTo>
                    <a:pt x="732184" y="277195"/>
                  </a:lnTo>
                  <a:lnTo>
                    <a:pt x="629467" y="277195"/>
                  </a:lnTo>
                  <a:lnTo>
                    <a:pt x="576219" y="271367"/>
                  </a:lnTo>
                  <a:lnTo>
                    <a:pt x="518600" y="258880"/>
                  </a:lnTo>
                  <a:lnTo>
                    <a:pt x="460980" y="241400"/>
                  </a:lnTo>
                  <a:lnTo>
                    <a:pt x="403361" y="223086"/>
                  </a:lnTo>
                  <a:lnTo>
                    <a:pt x="341346" y="198947"/>
                  </a:lnTo>
                  <a:lnTo>
                    <a:pt x="275576" y="168980"/>
                  </a:lnTo>
                  <a:lnTo>
                    <a:pt x="214203" y="132354"/>
                  </a:lnTo>
                  <a:lnTo>
                    <a:pt x="144063" y="96559"/>
                  </a:lnTo>
                  <a:lnTo>
                    <a:pt x="78293" y="48281"/>
                  </a:lnTo>
                  <a:lnTo>
                    <a:pt x="8142" y="0"/>
                  </a:lnTo>
                  <a:lnTo>
                    <a:pt x="0" y="18314"/>
                  </a:lnTo>
                  <a:lnTo>
                    <a:pt x="70143" y="72420"/>
                  </a:lnTo>
                  <a:lnTo>
                    <a:pt x="140309" y="120702"/>
                  </a:lnTo>
                  <a:lnTo>
                    <a:pt x="206053" y="156493"/>
                  </a:lnTo>
                  <a:lnTo>
                    <a:pt x="271822" y="193119"/>
                  </a:lnTo>
                  <a:lnTo>
                    <a:pt x="333221" y="223086"/>
                  </a:lnTo>
                  <a:lnTo>
                    <a:pt x="398965" y="247228"/>
                  </a:lnTo>
                  <a:lnTo>
                    <a:pt x="456610" y="265539"/>
                  </a:lnTo>
                  <a:lnTo>
                    <a:pt x="518600" y="283019"/>
                  </a:lnTo>
                  <a:lnTo>
                    <a:pt x="571848" y="295507"/>
                  </a:lnTo>
                  <a:lnTo>
                    <a:pt x="629467" y="301334"/>
                  </a:lnTo>
                  <a:lnTo>
                    <a:pt x="683332" y="301334"/>
                  </a:lnTo>
                  <a:lnTo>
                    <a:pt x="732184" y="307161"/>
                  </a:lnTo>
                  <a:lnTo>
                    <a:pt x="831146" y="295507"/>
                  </a:lnTo>
                  <a:lnTo>
                    <a:pt x="921959" y="277195"/>
                  </a:lnTo>
                  <a:lnTo>
                    <a:pt x="1004004" y="253052"/>
                  </a:lnTo>
                  <a:lnTo>
                    <a:pt x="1082295" y="217261"/>
                  </a:lnTo>
                  <a:lnTo>
                    <a:pt x="1148064" y="180635"/>
                  </a:lnTo>
                  <a:lnTo>
                    <a:pt x="1209463" y="144841"/>
                  </a:lnTo>
                  <a:lnTo>
                    <a:pt x="1304029" y="72420"/>
                  </a:lnTo>
                  <a:lnTo>
                    <a:pt x="1366045" y="18314"/>
                  </a:lnTo>
                  <a:lnTo>
                    <a:pt x="1361648" y="0"/>
                  </a:lnTo>
                  <a:close/>
                </a:path>
              </a:pathLst>
            </a:custGeom>
            <a:solidFill>
              <a:srgbClr val="1F1A17"/>
            </a:solidFill>
          </p:spPr>
          <p:txBody>
            <a:bodyPr wrap="square" lIns="0" tIns="0" rIns="0" bIns="0" rtlCol="0"/>
            <a:lstStyle/>
            <a:p>
              <a:endParaRPr/>
            </a:p>
          </p:txBody>
        </p:sp>
        <p:pic>
          <p:nvPicPr>
            <p:cNvPr id="38" name="object 38"/>
            <p:cNvPicPr/>
            <p:nvPr/>
          </p:nvPicPr>
          <p:blipFill>
            <a:blip r:embed="rId5" cstate="print"/>
            <a:stretch>
              <a:fillRect/>
            </a:stretch>
          </p:blipFill>
          <p:spPr>
            <a:xfrm>
              <a:off x="6021776" y="2281120"/>
              <a:ext cx="94591" cy="132347"/>
            </a:xfrm>
            <a:prstGeom prst="rect">
              <a:avLst/>
            </a:prstGeom>
          </p:spPr>
        </p:pic>
        <p:sp>
          <p:nvSpPr>
            <p:cNvPr id="39" name="object 39"/>
            <p:cNvSpPr/>
            <p:nvPr/>
          </p:nvSpPr>
          <p:spPr>
            <a:xfrm>
              <a:off x="4709614" y="2286938"/>
              <a:ext cx="29209" cy="55244"/>
            </a:xfrm>
            <a:custGeom>
              <a:avLst/>
              <a:gdLst/>
              <a:ahLst/>
              <a:cxnLst/>
              <a:rect l="l" t="t" r="r" b="b"/>
              <a:pathLst>
                <a:path w="29210" h="55244">
                  <a:moveTo>
                    <a:pt x="20669" y="0"/>
                  </a:moveTo>
                  <a:lnTo>
                    <a:pt x="16282" y="0"/>
                  </a:lnTo>
                  <a:lnTo>
                    <a:pt x="8142" y="0"/>
                  </a:lnTo>
                  <a:lnTo>
                    <a:pt x="3756" y="6662"/>
                  </a:lnTo>
                  <a:lnTo>
                    <a:pt x="3756" y="18314"/>
                  </a:lnTo>
                  <a:lnTo>
                    <a:pt x="0" y="24142"/>
                  </a:lnTo>
                  <a:lnTo>
                    <a:pt x="3756" y="36629"/>
                  </a:lnTo>
                  <a:lnTo>
                    <a:pt x="3756" y="48281"/>
                  </a:lnTo>
                  <a:lnTo>
                    <a:pt x="8142" y="48281"/>
                  </a:lnTo>
                  <a:lnTo>
                    <a:pt x="16282" y="54940"/>
                  </a:lnTo>
                  <a:lnTo>
                    <a:pt x="20669" y="48281"/>
                  </a:lnTo>
                  <a:lnTo>
                    <a:pt x="24425" y="48281"/>
                  </a:lnTo>
                  <a:lnTo>
                    <a:pt x="28806" y="36629"/>
                  </a:lnTo>
                  <a:lnTo>
                    <a:pt x="28806" y="18314"/>
                  </a:lnTo>
                  <a:lnTo>
                    <a:pt x="24425" y="6662"/>
                  </a:lnTo>
                  <a:lnTo>
                    <a:pt x="20669" y="0"/>
                  </a:lnTo>
                  <a:close/>
                </a:path>
              </a:pathLst>
            </a:custGeom>
            <a:solidFill>
              <a:srgbClr val="1F1A17"/>
            </a:solidFill>
          </p:spPr>
          <p:txBody>
            <a:bodyPr wrap="square" lIns="0" tIns="0" rIns="0" bIns="0" rtlCol="0"/>
            <a:lstStyle/>
            <a:p>
              <a:endParaRPr/>
            </a:p>
          </p:txBody>
        </p:sp>
        <p:sp>
          <p:nvSpPr>
            <p:cNvPr id="40" name="object 40"/>
            <p:cNvSpPr/>
            <p:nvPr/>
          </p:nvSpPr>
          <p:spPr>
            <a:xfrm>
              <a:off x="4718382" y="2298593"/>
              <a:ext cx="29209" cy="55244"/>
            </a:xfrm>
            <a:custGeom>
              <a:avLst/>
              <a:gdLst/>
              <a:ahLst/>
              <a:cxnLst/>
              <a:rect l="l" t="t" r="r" b="b"/>
              <a:pathLst>
                <a:path w="29210" h="55244">
                  <a:moveTo>
                    <a:pt x="16285" y="0"/>
                  </a:moveTo>
                  <a:lnTo>
                    <a:pt x="20656" y="0"/>
                  </a:lnTo>
                  <a:lnTo>
                    <a:pt x="24436" y="6659"/>
                  </a:lnTo>
                  <a:lnTo>
                    <a:pt x="28806" y="18314"/>
                  </a:lnTo>
                  <a:lnTo>
                    <a:pt x="28806" y="24139"/>
                  </a:lnTo>
                  <a:lnTo>
                    <a:pt x="28806" y="36626"/>
                  </a:lnTo>
                  <a:lnTo>
                    <a:pt x="24436" y="48281"/>
                  </a:lnTo>
                  <a:lnTo>
                    <a:pt x="20656" y="48281"/>
                  </a:lnTo>
                  <a:lnTo>
                    <a:pt x="16285" y="54940"/>
                  </a:lnTo>
                  <a:lnTo>
                    <a:pt x="8142" y="48281"/>
                  </a:lnTo>
                  <a:lnTo>
                    <a:pt x="3759" y="48281"/>
                  </a:lnTo>
                  <a:lnTo>
                    <a:pt x="3758" y="36626"/>
                  </a:lnTo>
                  <a:lnTo>
                    <a:pt x="0" y="24139"/>
                  </a:lnTo>
                  <a:lnTo>
                    <a:pt x="3758" y="18314"/>
                  </a:lnTo>
                  <a:lnTo>
                    <a:pt x="3758" y="6659"/>
                  </a:lnTo>
                  <a:lnTo>
                    <a:pt x="8142" y="0"/>
                  </a:lnTo>
                  <a:lnTo>
                    <a:pt x="16285" y="0"/>
                  </a:lnTo>
                </a:path>
              </a:pathLst>
            </a:custGeom>
            <a:ln w="4697">
              <a:solidFill>
                <a:srgbClr val="1F1A17"/>
              </a:solidFill>
            </a:ln>
          </p:spPr>
          <p:txBody>
            <a:bodyPr wrap="square" lIns="0" tIns="0" rIns="0" bIns="0" rtlCol="0"/>
            <a:lstStyle/>
            <a:p>
              <a:endParaRPr/>
            </a:p>
          </p:txBody>
        </p:sp>
        <p:sp>
          <p:nvSpPr>
            <p:cNvPr id="41" name="object 41"/>
            <p:cNvSpPr/>
            <p:nvPr/>
          </p:nvSpPr>
          <p:spPr>
            <a:xfrm>
              <a:off x="4705227" y="383224"/>
              <a:ext cx="29209" cy="54610"/>
            </a:xfrm>
            <a:custGeom>
              <a:avLst/>
              <a:gdLst/>
              <a:ahLst/>
              <a:cxnLst/>
              <a:rect l="l" t="t" r="r" b="b"/>
              <a:pathLst>
                <a:path w="29210" h="54609">
                  <a:moveTo>
                    <a:pt x="20669" y="0"/>
                  </a:moveTo>
                  <a:lnTo>
                    <a:pt x="12529" y="0"/>
                  </a:lnTo>
                  <a:lnTo>
                    <a:pt x="8142" y="0"/>
                  </a:lnTo>
                  <a:lnTo>
                    <a:pt x="4386" y="5817"/>
                  </a:lnTo>
                  <a:lnTo>
                    <a:pt x="0" y="18307"/>
                  </a:lnTo>
                  <a:lnTo>
                    <a:pt x="0" y="35794"/>
                  </a:lnTo>
                  <a:lnTo>
                    <a:pt x="8142" y="48250"/>
                  </a:lnTo>
                  <a:lnTo>
                    <a:pt x="12529" y="54102"/>
                  </a:lnTo>
                  <a:lnTo>
                    <a:pt x="20669" y="48250"/>
                  </a:lnTo>
                  <a:lnTo>
                    <a:pt x="25055" y="42433"/>
                  </a:lnTo>
                  <a:lnTo>
                    <a:pt x="25055" y="35794"/>
                  </a:lnTo>
                  <a:lnTo>
                    <a:pt x="28812" y="24125"/>
                  </a:lnTo>
                  <a:lnTo>
                    <a:pt x="25055" y="18307"/>
                  </a:lnTo>
                  <a:lnTo>
                    <a:pt x="25055" y="5817"/>
                  </a:lnTo>
                  <a:lnTo>
                    <a:pt x="20669" y="0"/>
                  </a:lnTo>
                  <a:close/>
                </a:path>
              </a:pathLst>
            </a:custGeom>
            <a:solidFill>
              <a:srgbClr val="1F1A17"/>
            </a:solidFill>
          </p:spPr>
          <p:txBody>
            <a:bodyPr wrap="square" lIns="0" tIns="0" rIns="0" bIns="0" rtlCol="0"/>
            <a:lstStyle/>
            <a:p>
              <a:endParaRPr/>
            </a:p>
          </p:txBody>
        </p:sp>
        <p:sp>
          <p:nvSpPr>
            <p:cNvPr id="42" name="object 42"/>
            <p:cNvSpPr/>
            <p:nvPr/>
          </p:nvSpPr>
          <p:spPr>
            <a:xfrm>
              <a:off x="4713998" y="394859"/>
              <a:ext cx="29209" cy="54610"/>
            </a:xfrm>
            <a:custGeom>
              <a:avLst/>
              <a:gdLst/>
              <a:ahLst/>
              <a:cxnLst/>
              <a:rect l="l" t="t" r="r" b="b"/>
              <a:pathLst>
                <a:path w="29210" h="54609">
                  <a:moveTo>
                    <a:pt x="12526" y="0"/>
                  </a:moveTo>
                  <a:lnTo>
                    <a:pt x="20669" y="0"/>
                  </a:lnTo>
                  <a:lnTo>
                    <a:pt x="25040" y="5817"/>
                  </a:lnTo>
                  <a:lnTo>
                    <a:pt x="25040" y="18307"/>
                  </a:lnTo>
                  <a:lnTo>
                    <a:pt x="28819" y="24159"/>
                  </a:lnTo>
                  <a:lnTo>
                    <a:pt x="25040" y="35794"/>
                  </a:lnTo>
                  <a:lnTo>
                    <a:pt x="25040" y="42467"/>
                  </a:lnTo>
                  <a:lnTo>
                    <a:pt x="20669" y="48284"/>
                  </a:lnTo>
                  <a:lnTo>
                    <a:pt x="12526" y="54102"/>
                  </a:lnTo>
                  <a:lnTo>
                    <a:pt x="8142" y="48284"/>
                  </a:lnTo>
                  <a:lnTo>
                    <a:pt x="4383" y="42467"/>
                  </a:lnTo>
                  <a:lnTo>
                    <a:pt x="0" y="35794"/>
                  </a:lnTo>
                  <a:lnTo>
                    <a:pt x="0" y="24159"/>
                  </a:lnTo>
                  <a:lnTo>
                    <a:pt x="0" y="18307"/>
                  </a:lnTo>
                  <a:lnTo>
                    <a:pt x="4383" y="5817"/>
                  </a:lnTo>
                  <a:lnTo>
                    <a:pt x="8142" y="0"/>
                  </a:lnTo>
                  <a:lnTo>
                    <a:pt x="12526" y="0"/>
                  </a:lnTo>
                </a:path>
              </a:pathLst>
            </a:custGeom>
            <a:ln w="4705">
              <a:solidFill>
                <a:srgbClr val="1F1A17"/>
              </a:solidFill>
            </a:ln>
          </p:spPr>
          <p:txBody>
            <a:bodyPr wrap="square" lIns="0" tIns="0" rIns="0" bIns="0" rtlCol="0"/>
            <a:lstStyle/>
            <a:p>
              <a:endParaRPr/>
            </a:p>
          </p:txBody>
        </p:sp>
      </p:grpSp>
      <p:sp>
        <p:nvSpPr>
          <p:cNvPr id="43" name="object 43"/>
          <p:cNvSpPr txBox="1"/>
          <p:nvPr/>
        </p:nvSpPr>
        <p:spPr>
          <a:xfrm>
            <a:off x="925311" y="6369027"/>
            <a:ext cx="1549400" cy="325755"/>
          </a:xfrm>
          <a:prstGeom prst="rect">
            <a:avLst/>
          </a:prstGeom>
        </p:spPr>
        <p:txBody>
          <a:bodyPr vert="horz" wrap="square" lIns="0" tIns="14604" rIns="0" bIns="0" rtlCol="0">
            <a:spAutoFit/>
          </a:bodyPr>
          <a:lstStyle/>
          <a:p>
            <a:pPr marL="38100">
              <a:lnSpc>
                <a:spcPct val="100000"/>
              </a:lnSpc>
              <a:spcBef>
                <a:spcPts val="114"/>
              </a:spcBef>
            </a:pPr>
            <a:r>
              <a:rPr sz="1950" dirty="0">
                <a:latin typeface="Times New Roman"/>
                <a:cs typeface="Times New Roman"/>
              </a:rPr>
              <a:t>R</a:t>
            </a:r>
            <a:r>
              <a:rPr sz="2025" baseline="-20576" dirty="0">
                <a:latin typeface="Times New Roman"/>
                <a:cs typeface="Times New Roman"/>
              </a:rPr>
              <a:t>3</a:t>
            </a:r>
            <a:r>
              <a:rPr sz="2025" spc="307" baseline="-20576" dirty="0">
                <a:latin typeface="Times New Roman"/>
                <a:cs typeface="Times New Roman"/>
              </a:rPr>
              <a:t> </a:t>
            </a:r>
            <a:r>
              <a:rPr sz="1950" dirty="0">
                <a:latin typeface="Times New Roman"/>
                <a:cs typeface="Times New Roman"/>
              </a:rPr>
              <a:t>is</a:t>
            </a:r>
            <a:r>
              <a:rPr sz="1950" spc="65" dirty="0">
                <a:latin typeface="Times New Roman"/>
                <a:cs typeface="Times New Roman"/>
              </a:rPr>
              <a:t> </a:t>
            </a:r>
            <a:r>
              <a:rPr sz="1950" spc="-10" dirty="0">
                <a:latin typeface="Times New Roman"/>
                <a:cs typeface="Times New Roman"/>
              </a:rPr>
              <a:t>reflexive</a:t>
            </a:r>
            <a:endParaRPr sz="1950">
              <a:latin typeface="Times New Roman"/>
              <a:cs typeface="Times New Roman"/>
            </a:endParaRPr>
          </a:p>
        </p:txBody>
      </p:sp>
      <p:sp>
        <p:nvSpPr>
          <p:cNvPr id="44" name="object 44"/>
          <p:cNvSpPr txBox="1"/>
          <p:nvPr/>
        </p:nvSpPr>
        <p:spPr>
          <a:xfrm>
            <a:off x="3739824" y="6087585"/>
            <a:ext cx="3241675" cy="325755"/>
          </a:xfrm>
          <a:prstGeom prst="rect">
            <a:avLst/>
          </a:prstGeom>
        </p:spPr>
        <p:txBody>
          <a:bodyPr vert="horz" wrap="square" lIns="0" tIns="14604" rIns="0" bIns="0" rtlCol="0">
            <a:spAutoFit/>
          </a:bodyPr>
          <a:lstStyle/>
          <a:p>
            <a:pPr marL="38100">
              <a:lnSpc>
                <a:spcPct val="100000"/>
              </a:lnSpc>
              <a:spcBef>
                <a:spcPts val="114"/>
              </a:spcBef>
            </a:pPr>
            <a:r>
              <a:rPr sz="1950" dirty="0">
                <a:latin typeface="Times New Roman"/>
                <a:cs typeface="Times New Roman"/>
              </a:rPr>
              <a:t>R</a:t>
            </a:r>
            <a:r>
              <a:rPr sz="2025" baseline="-20576" dirty="0">
                <a:latin typeface="Times New Roman"/>
                <a:cs typeface="Times New Roman"/>
              </a:rPr>
              <a:t>4</a:t>
            </a:r>
            <a:r>
              <a:rPr sz="2025" spc="382" baseline="-20576" dirty="0">
                <a:latin typeface="Times New Roman"/>
                <a:cs typeface="Times New Roman"/>
              </a:rPr>
              <a:t> </a:t>
            </a:r>
            <a:r>
              <a:rPr sz="1950" dirty="0">
                <a:latin typeface="Times New Roman"/>
                <a:cs typeface="Times New Roman"/>
              </a:rPr>
              <a:t>is</a:t>
            </a:r>
            <a:r>
              <a:rPr sz="1950" spc="110" dirty="0">
                <a:latin typeface="Times New Roman"/>
                <a:cs typeface="Times New Roman"/>
              </a:rPr>
              <a:t> </a:t>
            </a:r>
            <a:r>
              <a:rPr sz="1950" dirty="0">
                <a:latin typeface="Times New Roman"/>
                <a:cs typeface="Times New Roman"/>
              </a:rPr>
              <a:t>not</a:t>
            </a:r>
            <a:r>
              <a:rPr sz="1950" spc="125" dirty="0">
                <a:latin typeface="Times New Roman"/>
                <a:cs typeface="Times New Roman"/>
              </a:rPr>
              <a:t> </a:t>
            </a:r>
            <a:r>
              <a:rPr sz="1950" dirty="0">
                <a:latin typeface="Times New Roman"/>
                <a:cs typeface="Times New Roman"/>
              </a:rPr>
              <a:t>reflexive,</a:t>
            </a:r>
            <a:r>
              <a:rPr sz="1950" spc="114" dirty="0">
                <a:latin typeface="Times New Roman"/>
                <a:cs typeface="Times New Roman"/>
              </a:rPr>
              <a:t> </a:t>
            </a:r>
            <a:r>
              <a:rPr sz="1950" dirty="0">
                <a:latin typeface="Times New Roman"/>
                <a:cs typeface="Times New Roman"/>
              </a:rPr>
              <a:t>as</a:t>
            </a:r>
            <a:r>
              <a:rPr sz="1950" spc="125" dirty="0">
                <a:latin typeface="Times New Roman"/>
                <a:cs typeface="Times New Roman"/>
              </a:rPr>
              <a:t> </a:t>
            </a:r>
            <a:r>
              <a:rPr sz="1950" dirty="0">
                <a:latin typeface="Times New Roman"/>
                <a:cs typeface="Times New Roman"/>
              </a:rPr>
              <a:t>there</a:t>
            </a:r>
            <a:r>
              <a:rPr sz="1950" spc="120" dirty="0">
                <a:latin typeface="Times New Roman"/>
                <a:cs typeface="Times New Roman"/>
              </a:rPr>
              <a:t> </a:t>
            </a:r>
            <a:r>
              <a:rPr sz="1950" spc="-25" dirty="0">
                <a:latin typeface="Times New Roman"/>
                <a:cs typeface="Times New Roman"/>
              </a:rPr>
              <a:t>are</a:t>
            </a:r>
            <a:endParaRPr sz="1950">
              <a:latin typeface="Times New Roman"/>
              <a:cs typeface="Times New Roman"/>
            </a:endParaRPr>
          </a:p>
        </p:txBody>
      </p:sp>
      <p:sp>
        <p:nvSpPr>
          <p:cNvPr id="45" name="object 45"/>
          <p:cNvSpPr txBox="1"/>
          <p:nvPr/>
        </p:nvSpPr>
        <p:spPr>
          <a:xfrm>
            <a:off x="3765224" y="6387791"/>
            <a:ext cx="1972310" cy="325755"/>
          </a:xfrm>
          <a:prstGeom prst="rect">
            <a:avLst/>
          </a:prstGeom>
        </p:spPr>
        <p:txBody>
          <a:bodyPr vert="horz" wrap="square" lIns="0" tIns="14604" rIns="0" bIns="0" rtlCol="0">
            <a:spAutoFit/>
          </a:bodyPr>
          <a:lstStyle/>
          <a:p>
            <a:pPr marL="12700">
              <a:lnSpc>
                <a:spcPct val="100000"/>
              </a:lnSpc>
              <a:spcBef>
                <a:spcPts val="114"/>
              </a:spcBef>
            </a:pPr>
            <a:r>
              <a:rPr sz="1950" dirty="0">
                <a:latin typeface="Times New Roman"/>
                <a:cs typeface="Times New Roman"/>
              </a:rPr>
              <a:t>no</a:t>
            </a:r>
            <a:r>
              <a:rPr sz="1950" spc="110" dirty="0">
                <a:latin typeface="Times New Roman"/>
                <a:cs typeface="Times New Roman"/>
              </a:rPr>
              <a:t> </a:t>
            </a:r>
            <a:r>
              <a:rPr sz="1950" dirty="0">
                <a:latin typeface="Times New Roman"/>
                <a:cs typeface="Times New Roman"/>
              </a:rPr>
              <a:t>loops</a:t>
            </a:r>
            <a:r>
              <a:rPr sz="1950" spc="105" dirty="0">
                <a:latin typeface="Times New Roman"/>
                <a:cs typeface="Times New Roman"/>
              </a:rPr>
              <a:t> </a:t>
            </a:r>
            <a:r>
              <a:rPr sz="1950" dirty="0">
                <a:latin typeface="Times New Roman"/>
                <a:cs typeface="Times New Roman"/>
              </a:rPr>
              <a:t>at</a:t>
            </a:r>
            <a:r>
              <a:rPr sz="1950" spc="90" dirty="0">
                <a:latin typeface="Times New Roman"/>
                <a:cs typeface="Times New Roman"/>
              </a:rPr>
              <a:t> </a:t>
            </a:r>
            <a:r>
              <a:rPr sz="1950" dirty="0">
                <a:latin typeface="Times New Roman"/>
                <a:cs typeface="Times New Roman"/>
              </a:rPr>
              <a:t>1and</a:t>
            </a:r>
            <a:r>
              <a:rPr sz="1950" spc="114" dirty="0">
                <a:latin typeface="Times New Roman"/>
                <a:cs typeface="Times New Roman"/>
              </a:rPr>
              <a:t> </a:t>
            </a:r>
            <a:r>
              <a:rPr sz="1950" spc="-25" dirty="0">
                <a:latin typeface="Times New Roman"/>
                <a:cs typeface="Times New Roman"/>
              </a:rPr>
              <a:t>3.</a:t>
            </a:r>
            <a:endParaRPr sz="1950">
              <a:latin typeface="Times New Roman"/>
              <a:cs typeface="Times New Roman"/>
            </a:endParaRPr>
          </a:p>
        </p:txBody>
      </p:sp>
      <p:sp>
        <p:nvSpPr>
          <p:cNvPr id="46" name="object 46"/>
          <p:cNvSpPr txBox="1"/>
          <p:nvPr/>
        </p:nvSpPr>
        <p:spPr>
          <a:xfrm>
            <a:off x="684730" y="3983536"/>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1</a:t>
            </a:r>
            <a:endParaRPr sz="1950">
              <a:latin typeface="Times New Roman"/>
              <a:cs typeface="Times New Roman"/>
            </a:endParaRPr>
          </a:p>
        </p:txBody>
      </p:sp>
      <p:sp>
        <p:nvSpPr>
          <p:cNvPr id="47" name="object 47"/>
          <p:cNvSpPr txBox="1"/>
          <p:nvPr/>
        </p:nvSpPr>
        <p:spPr>
          <a:xfrm>
            <a:off x="2635159" y="3983536"/>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2</a:t>
            </a:r>
            <a:endParaRPr sz="1950">
              <a:latin typeface="Times New Roman"/>
              <a:cs typeface="Times New Roman"/>
            </a:endParaRPr>
          </a:p>
        </p:txBody>
      </p:sp>
      <p:sp>
        <p:nvSpPr>
          <p:cNvPr id="48" name="object 48"/>
          <p:cNvSpPr txBox="1"/>
          <p:nvPr/>
        </p:nvSpPr>
        <p:spPr>
          <a:xfrm>
            <a:off x="2754484" y="5734844"/>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3</a:t>
            </a:r>
            <a:endParaRPr sz="1950">
              <a:latin typeface="Times New Roman"/>
              <a:cs typeface="Times New Roman"/>
            </a:endParaRPr>
          </a:p>
        </p:txBody>
      </p:sp>
      <p:sp>
        <p:nvSpPr>
          <p:cNvPr id="49" name="object 49"/>
          <p:cNvSpPr txBox="1"/>
          <p:nvPr/>
        </p:nvSpPr>
        <p:spPr>
          <a:xfrm>
            <a:off x="709750" y="5766741"/>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4</a:t>
            </a:r>
            <a:endParaRPr sz="1950">
              <a:latin typeface="Times New Roman"/>
              <a:cs typeface="Times New Roman"/>
            </a:endParaRPr>
          </a:p>
        </p:txBody>
      </p:sp>
      <p:sp>
        <p:nvSpPr>
          <p:cNvPr id="50" name="object 50"/>
          <p:cNvSpPr txBox="1"/>
          <p:nvPr/>
        </p:nvSpPr>
        <p:spPr>
          <a:xfrm>
            <a:off x="4824239" y="3608279"/>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1</a:t>
            </a:r>
            <a:endParaRPr sz="1950">
              <a:latin typeface="Times New Roman"/>
              <a:cs typeface="Times New Roman"/>
            </a:endParaRPr>
          </a:p>
        </p:txBody>
      </p:sp>
      <p:sp>
        <p:nvSpPr>
          <p:cNvPr id="51" name="object 51"/>
          <p:cNvSpPr txBox="1"/>
          <p:nvPr/>
        </p:nvSpPr>
        <p:spPr>
          <a:xfrm>
            <a:off x="5907793" y="3702093"/>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2</a:t>
            </a:r>
            <a:endParaRPr sz="1950">
              <a:latin typeface="Times New Roman"/>
              <a:cs typeface="Times New Roman"/>
            </a:endParaRPr>
          </a:p>
        </p:txBody>
      </p:sp>
      <p:sp>
        <p:nvSpPr>
          <p:cNvPr id="52" name="object 52"/>
          <p:cNvSpPr txBox="1"/>
          <p:nvPr/>
        </p:nvSpPr>
        <p:spPr>
          <a:xfrm>
            <a:off x="4438837" y="5526576"/>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3</a:t>
            </a:r>
            <a:endParaRPr sz="1950">
              <a:latin typeface="Times New Roman"/>
              <a:cs typeface="Times New Roman"/>
            </a:endParaRPr>
          </a:p>
        </p:txBody>
      </p:sp>
      <p:sp>
        <p:nvSpPr>
          <p:cNvPr id="53" name="object 53"/>
          <p:cNvSpPr txBox="1"/>
          <p:nvPr/>
        </p:nvSpPr>
        <p:spPr>
          <a:xfrm>
            <a:off x="6268015" y="5336696"/>
            <a:ext cx="153670" cy="325755"/>
          </a:xfrm>
          <a:prstGeom prst="rect">
            <a:avLst/>
          </a:prstGeom>
        </p:spPr>
        <p:txBody>
          <a:bodyPr vert="horz" wrap="square" lIns="0" tIns="14604" rIns="0" bIns="0" rtlCol="0">
            <a:spAutoFit/>
          </a:bodyPr>
          <a:lstStyle/>
          <a:p>
            <a:pPr marL="12700">
              <a:lnSpc>
                <a:spcPct val="100000"/>
              </a:lnSpc>
              <a:spcBef>
                <a:spcPts val="114"/>
              </a:spcBef>
            </a:pPr>
            <a:r>
              <a:rPr sz="1950" spc="-50" dirty="0">
                <a:latin typeface="Times New Roman"/>
                <a:cs typeface="Times New Roman"/>
              </a:rPr>
              <a:t>4</a:t>
            </a:r>
            <a:endParaRPr sz="1950">
              <a:latin typeface="Times New Roman"/>
              <a:cs typeface="Times New Roman"/>
            </a:endParaRPr>
          </a:p>
        </p:txBody>
      </p:sp>
      <p:pic>
        <p:nvPicPr>
          <p:cNvPr id="54" name="object 54"/>
          <p:cNvPicPr/>
          <p:nvPr/>
        </p:nvPicPr>
        <p:blipFill>
          <a:blip r:embed="rId6" cstate="print"/>
          <a:stretch>
            <a:fillRect/>
          </a:stretch>
        </p:blipFill>
        <p:spPr>
          <a:xfrm>
            <a:off x="6178147" y="5381296"/>
            <a:ext cx="81544" cy="132748"/>
          </a:xfrm>
          <a:prstGeom prst="rect">
            <a:avLst/>
          </a:prstGeom>
        </p:spPr>
      </p:pic>
      <p:pic>
        <p:nvPicPr>
          <p:cNvPr id="55" name="object 55"/>
          <p:cNvPicPr/>
          <p:nvPr/>
        </p:nvPicPr>
        <p:blipFill>
          <a:blip r:embed="rId7" cstate="print"/>
          <a:stretch>
            <a:fillRect/>
          </a:stretch>
        </p:blipFill>
        <p:spPr>
          <a:xfrm>
            <a:off x="4910613" y="3907374"/>
            <a:ext cx="81547" cy="132748"/>
          </a:xfrm>
          <a:prstGeom prst="rect">
            <a:avLst/>
          </a:prstGeom>
        </p:spPr>
      </p:pic>
      <p:grpSp>
        <p:nvGrpSpPr>
          <p:cNvPr id="56" name="object 56"/>
          <p:cNvGrpSpPr/>
          <p:nvPr/>
        </p:nvGrpSpPr>
        <p:grpSpPr>
          <a:xfrm>
            <a:off x="4807433" y="5479589"/>
            <a:ext cx="170815" cy="358140"/>
            <a:chOff x="4807433" y="5479589"/>
            <a:chExt cx="170815" cy="358140"/>
          </a:xfrm>
        </p:grpSpPr>
        <p:pic>
          <p:nvPicPr>
            <p:cNvPr id="57" name="object 57"/>
            <p:cNvPicPr/>
            <p:nvPr/>
          </p:nvPicPr>
          <p:blipFill>
            <a:blip r:embed="rId8" cstate="print"/>
            <a:stretch>
              <a:fillRect/>
            </a:stretch>
          </p:blipFill>
          <p:spPr>
            <a:xfrm>
              <a:off x="4807433" y="5595130"/>
              <a:ext cx="145332" cy="242543"/>
            </a:xfrm>
            <a:prstGeom prst="rect">
              <a:avLst/>
            </a:prstGeom>
          </p:spPr>
        </p:pic>
        <p:pic>
          <p:nvPicPr>
            <p:cNvPr id="58" name="object 58"/>
            <p:cNvPicPr/>
            <p:nvPr/>
          </p:nvPicPr>
          <p:blipFill>
            <a:blip r:embed="rId9" cstate="print"/>
            <a:stretch>
              <a:fillRect/>
            </a:stretch>
          </p:blipFill>
          <p:spPr>
            <a:xfrm>
              <a:off x="4896189" y="5479589"/>
              <a:ext cx="81533" cy="127022"/>
            </a:xfrm>
            <a:prstGeom prst="rect">
              <a:avLst/>
            </a:prstGeom>
          </p:spPr>
        </p:pic>
      </p:grpSp>
      <p:grpSp>
        <p:nvGrpSpPr>
          <p:cNvPr id="59" name="object 59"/>
          <p:cNvGrpSpPr/>
          <p:nvPr/>
        </p:nvGrpSpPr>
        <p:grpSpPr>
          <a:xfrm>
            <a:off x="3621785" y="3657600"/>
            <a:ext cx="3312795" cy="2985135"/>
            <a:chOff x="3621785" y="3657600"/>
            <a:chExt cx="3312795" cy="2985135"/>
          </a:xfrm>
        </p:grpSpPr>
        <p:sp>
          <p:nvSpPr>
            <p:cNvPr id="60" name="object 60"/>
            <p:cNvSpPr/>
            <p:nvPr/>
          </p:nvSpPr>
          <p:spPr>
            <a:xfrm>
              <a:off x="4708131" y="3739464"/>
              <a:ext cx="1640839" cy="2098675"/>
            </a:xfrm>
            <a:custGeom>
              <a:avLst/>
              <a:gdLst/>
              <a:ahLst/>
              <a:cxnLst/>
              <a:rect l="l" t="t" r="r" b="b"/>
              <a:pathLst>
                <a:path w="1640839" h="2098675">
                  <a:moveTo>
                    <a:pt x="184175" y="1831987"/>
                  </a:moveTo>
                  <a:lnTo>
                    <a:pt x="145338" y="1814766"/>
                  </a:lnTo>
                  <a:lnTo>
                    <a:pt x="109842" y="1809038"/>
                  </a:lnTo>
                  <a:lnTo>
                    <a:pt x="81546" y="1809038"/>
                  </a:lnTo>
                  <a:lnTo>
                    <a:pt x="35509" y="1831987"/>
                  </a:lnTo>
                  <a:lnTo>
                    <a:pt x="6654" y="1884375"/>
                  </a:lnTo>
                  <a:lnTo>
                    <a:pt x="0" y="1941779"/>
                  </a:lnTo>
                  <a:lnTo>
                    <a:pt x="3327" y="1971205"/>
                  </a:lnTo>
                  <a:lnTo>
                    <a:pt x="21082" y="2034349"/>
                  </a:lnTo>
                  <a:lnTo>
                    <a:pt x="53251" y="2075256"/>
                  </a:lnTo>
                  <a:lnTo>
                    <a:pt x="99301" y="2098217"/>
                  </a:lnTo>
                  <a:lnTo>
                    <a:pt x="99301" y="2075256"/>
                  </a:lnTo>
                  <a:lnTo>
                    <a:pt x="77660" y="2069515"/>
                  </a:lnTo>
                  <a:lnTo>
                    <a:pt x="59905" y="2058035"/>
                  </a:lnTo>
                  <a:lnTo>
                    <a:pt x="46050" y="2040089"/>
                  </a:lnTo>
                  <a:lnTo>
                    <a:pt x="35509" y="2017128"/>
                  </a:lnTo>
                  <a:lnTo>
                    <a:pt x="24409" y="1994166"/>
                  </a:lnTo>
                  <a:lnTo>
                    <a:pt x="17754" y="1965464"/>
                  </a:lnTo>
                  <a:lnTo>
                    <a:pt x="17754" y="1913077"/>
                  </a:lnTo>
                  <a:lnTo>
                    <a:pt x="21082" y="1890115"/>
                  </a:lnTo>
                  <a:lnTo>
                    <a:pt x="42164" y="1855673"/>
                  </a:lnTo>
                  <a:lnTo>
                    <a:pt x="59905" y="1838452"/>
                  </a:lnTo>
                  <a:lnTo>
                    <a:pt x="81546" y="1831987"/>
                  </a:lnTo>
                  <a:lnTo>
                    <a:pt x="109842" y="1831987"/>
                  </a:lnTo>
                  <a:lnTo>
                    <a:pt x="142011" y="1838452"/>
                  </a:lnTo>
                  <a:lnTo>
                    <a:pt x="180835" y="1855673"/>
                  </a:lnTo>
                  <a:lnTo>
                    <a:pt x="184175" y="1831987"/>
                  </a:lnTo>
                  <a:close/>
                </a:path>
                <a:path w="1640839" h="2098675">
                  <a:moveTo>
                    <a:pt x="297891" y="213842"/>
                  </a:moveTo>
                  <a:lnTo>
                    <a:pt x="294563" y="202374"/>
                  </a:lnTo>
                  <a:lnTo>
                    <a:pt x="287350" y="196621"/>
                  </a:lnTo>
                  <a:lnTo>
                    <a:pt x="280123" y="202374"/>
                  </a:lnTo>
                  <a:lnTo>
                    <a:pt x="276809" y="213842"/>
                  </a:lnTo>
                  <a:lnTo>
                    <a:pt x="280123" y="231076"/>
                  </a:lnTo>
                  <a:lnTo>
                    <a:pt x="287350" y="237540"/>
                  </a:lnTo>
                  <a:lnTo>
                    <a:pt x="294563" y="231076"/>
                  </a:lnTo>
                  <a:lnTo>
                    <a:pt x="297891" y="213842"/>
                  </a:lnTo>
                  <a:close/>
                </a:path>
                <a:path w="1640839" h="2098675">
                  <a:moveTo>
                    <a:pt x="1640319" y="173672"/>
                  </a:moveTo>
                  <a:lnTo>
                    <a:pt x="1633093" y="104051"/>
                  </a:lnTo>
                  <a:lnTo>
                    <a:pt x="1608137" y="46647"/>
                  </a:lnTo>
                  <a:lnTo>
                    <a:pt x="1572641" y="5753"/>
                  </a:lnTo>
                  <a:lnTo>
                    <a:pt x="1548231" y="0"/>
                  </a:lnTo>
                  <a:lnTo>
                    <a:pt x="1523276" y="0"/>
                  </a:lnTo>
                  <a:lnTo>
                    <a:pt x="1483880" y="35166"/>
                  </a:lnTo>
                  <a:lnTo>
                    <a:pt x="1452245" y="92570"/>
                  </a:lnTo>
                  <a:lnTo>
                    <a:pt x="1438478" y="135394"/>
                  </a:lnTo>
                  <a:lnTo>
                    <a:pt x="1416748" y="63868"/>
                  </a:lnTo>
                  <a:lnTo>
                    <a:pt x="1409547" y="69621"/>
                  </a:lnTo>
                  <a:lnTo>
                    <a:pt x="1405661" y="75349"/>
                  </a:lnTo>
                  <a:lnTo>
                    <a:pt x="1434503" y="179387"/>
                  </a:lnTo>
                  <a:lnTo>
                    <a:pt x="1437830" y="196621"/>
                  </a:lnTo>
                  <a:lnTo>
                    <a:pt x="1445056" y="185140"/>
                  </a:lnTo>
                  <a:lnTo>
                    <a:pt x="1491094" y="98323"/>
                  </a:lnTo>
                  <a:lnTo>
                    <a:pt x="1480553" y="81102"/>
                  </a:lnTo>
                  <a:lnTo>
                    <a:pt x="1451991" y="134937"/>
                  </a:lnTo>
                  <a:lnTo>
                    <a:pt x="1452245" y="133489"/>
                  </a:lnTo>
                  <a:lnTo>
                    <a:pt x="1462786" y="104051"/>
                  </a:lnTo>
                  <a:lnTo>
                    <a:pt x="1477225" y="81102"/>
                  </a:lnTo>
                  <a:lnTo>
                    <a:pt x="1491094" y="52400"/>
                  </a:lnTo>
                  <a:lnTo>
                    <a:pt x="1508836" y="35166"/>
                  </a:lnTo>
                  <a:lnTo>
                    <a:pt x="1526590" y="23698"/>
                  </a:lnTo>
                  <a:lnTo>
                    <a:pt x="1548231" y="23698"/>
                  </a:lnTo>
                  <a:lnTo>
                    <a:pt x="1583728" y="46647"/>
                  </a:lnTo>
                  <a:lnTo>
                    <a:pt x="1612011" y="86817"/>
                  </a:lnTo>
                  <a:lnTo>
                    <a:pt x="1622552" y="144970"/>
                  </a:lnTo>
                  <a:lnTo>
                    <a:pt x="1622552" y="196621"/>
                  </a:lnTo>
                  <a:lnTo>
                    <a:pt x="1608137" y="243255"/>
                  </a:lnTo>
                  <a:lnTo>
                    <a:pt x="1594269" y="260489"/>
                  </a:lnTo>
                  <a:lnTo>
                    <a:pt x="1579841" y="266242"/>
                  </a:lnTo>
                  <a:lnTo>
                    <a:pt x="1562100" y="271957"/>
                  </a:lnTo>
                  <a:lnTo>
                    <a:pt x="1541005" y="271957"/>
                  </a:lnTo>
                  <a:lnTo>
                    <a:pt x="1512735" y="260489"/>
                  </a:lnTo>
                  <a:lnTo>
                    <a:pt x="1483880" y="237540"/>
                  </a:lnTo>
                  <a:lnTo>
                    <a:pt x="1448371" y="202374"/>
                  </a:lnTo>
                  <a:lnTo>
                    <a:pt x="1441157" y="219595"/>
                  </a:lnTo>
                  <a:lnTo>
                    <a:pt x="1477225" y="254736"/>
                  </a:lnTo>
                  <a:lnTo>
                    <a:pt x="1508836" y="283438"/>
                  </a:lnTo>
                  <a:lnTo>
                    <a:pt x="1537144" y="294944"/>
                  </a:lnTo>
                  <a:lnTo>
                    <a:pt x="1562100" y="294944"/>
                  </a:lnTo>
                  <a:lnTo>
                    <a:pt x="1604822" y="277710"/>
                  </a:lnTo>
                  <a:lnTo>
                    <a:pt x="1629778" y="231076"/>
                  </a:lnTo>
                  <a:lnTo>
                    <a:pt x="1636966" y="202374"/>
                  </a:lnTo>
                  <a:lnTo>
                    <a:pt x="1640319" y="173672"/>
                  </a:lnTo>
                  <a:close/>
                </a:path>
              </a:pathLst>
            </a:custGeom>
            <a:solidFill>
              <a:srgbClr val="1F1A17"/>
            </a:solidFill>
          </p:spPr>
          <p:txBody>
            <a:bodyPr wrap="square" lIns="0" tIns="0" rIns="0" bIns="0" rtlCol="0"/>
            <a:lstStyle/>
            <a:p>
              <a:endParaRPr/>
            </a:p>
          </p:txBody>
        </p:sp>
        <p:sp>
          <p:nvSpPr>
            <p:cNvPr id="61" name="object 61"/>
            <p:cNvSpPr/>
            <p:nvPr/>
          </p:nvSpPr>
          <p:spPr>
            <a:xfrm>
              <a:off x="4992706" y="3946136"/>
              <a:ext cx="21590" cy="41275"/>
            </a:xfrm>
            <a:custGeom>
              <a:avLst/>
              <a:gdLst/>
              <a:ahLst/>
              <a:cxnLst/>
              <a:rect l="l" t="t" r="r" b="b"/>
              <a:pathLst>
                <a:path w="21589" h="41275">
                  <a:moveTo>
                    <a:pt x="10543" y="0"/>
                  </a:moveTo>
                  <a:lnTo>
                    <a:pt x="17761" y="5722"/>
                  </a:lnTo>
                  <a:lnTo>
                    <a:pt x="21086" y="17198"/>
                  </a:lnTo>
                  <a:lnTo>
                    <a:pt x="17761" y="34426"/>
                  </a:lnTo>
                  <a:lnTo>
                    <a:pt x="10543" y="40886"/>
                  </a:lnTo>
                  <a:lnTo>
                    <a:pt x="3324" y="34426"/>
                  </a:lnTo>
                  <a:lnTo>
                    <a:pt x="0" y="17198"/>
                  </a:lnTo>
                  <a:lnTo>
                    <a:pt x="3324" y="5722"/>
                  </a:lnTo>
                  <a:lnTo>
                    <a:pt x="10543" y="0"/>
                  </a:lnTo>
                </a:path>
              </a:pathLst>
            </a:custGeom>
            <a:ln w="3534">
              <a:solidFill>
                <a:srgbClr val="1F1A17"/>
              </a:solidFill>
            </a:ln>
          </p:spPr>
          <p:txBody>
            <a:bodyPr wrap="square" lIns="0" tIns="0" rIns="0" bIns="0" rtlCol="0"/>
            <a:lstStyle/>
            <a:p>
              <a:endParaRPr/>
            </a:p>
          </p:txBody>
        </p:sp>
        <p:sp>
          <p:nvSpPr>
            <p:cNvPr id="62" name="object 62"/>
            <p:cNvSpPr/>
            <p:nvPr/>
          </p:nvSpPr>
          <p:spPr>
            <a:xfrm>
              <a:off x="4874554" y="5565711"/>
              <a:ext cx="25400" cy="29845"/>
            </a:xfrm>
            <a:custGeom>
              <a:avLst/>
              <a:gdLst/>
              <a:ahLst/>
              <a:cxnLst/>
              <a:rect l="l" t="t" r="r" b="b"/>
              <a:pathLst>
                <a:path w="25400" h="29845">
                  <a:moveTo>
                    <a:pt x="17752" y="0"/>
                  </a:moveTo>
                  <a:lnTo>
                    <a:pt x="11094" y="0"/>
                  </a:lnTo>
                  <a:lnTo>
                    <a:pt x="3884" y="12198"/>
                  </a:lnTo>
                  <a:lnTo>
                    <a:pt x="0" y="23679"/>
                  </a:lnTo>
                  <a:lnTo>
                    <a:pt x="7211" y="29420"/>
                  </a:lnTo>
                  <a:lnTo>
                    <a:pt x="17752" y="29420"/>
                  </a:lnTo>
                  <a:lnTo>
                    <a:pt x="24962" y="23679"/>
                  </a:lnTo>
                  <a:lnTo>
                    <a:pt x="24962" y="12198"/>
                  </a:lnTo>
                  <a:lnTo>
                    <a:pt x="17752" y="0"/>
                  </a:lnTo>
                  <a:close/>
                </a:path>
              </a:pathLst>
            </a:custGeom>
            <a:solidFill>
              <a:srgbClr val="1F1A17"/>
            </a:solidFill>
          </p:spPr>
          <p:txBody>
            <a:bodyPr wrap="square" lIns="0" tIns="0" rIns="0" bIns="0" rtlCol="0"/>
            <a:lstStyle/>
            <a:p>
              <a:endParaRPr/>
            </a:p>
          </p:txBody>
        </p:sp>
        <p:sp>
          <p:nvSpPr>
            <p:cNvPr id="63" name="object 63"/>
            <p:cNvSpPr/>
            <p:nvPr/>
          </p:nvSpPr>
          <p:spPr>
            <a:xfrm>
              <a:off x="4882321" y="5575755"/>
              <a:ext cx="25400" cy="29845"/>
            </a:xfrm>
            <a:custGeom>
              <a:avLst/>
              <a:gdLst/>
              <a:ahLst/>
              <a:cxnLst/>
              <a:rect l="l" t="t" r="r" b="b"/>
              <a:pathLst>
                <a:path w="25400" h="29845">
                  <a:moveTo>
                    <a:pt x="0" y="23682"/>
                  </a:moveTo>
                  <a:lnTo>
                    <a:pt x="3882" y="12201"/>
                  </a:lnTo>
                  <a:lnTo>
                    <a:pt x="11094" y="0"/>
                  </a:lnTo>
                  <a:lnTo>
                    <a:pt x="17750" y="0"/>
                  </a:lnTo>
                  <a:lnTo>
                    <a:pt x="24962" y="12201"/>
                  </a:lnTo>
                  <a:lnTo>
                    <a:pt x="24962" y="23682"/>
                  </a:lnTo>
                  <a:lnTo>
                    <a:pt x="17750" y="29422"/>
                  </a:lnTo>
                  <a:lnTo>
                    <a:pt x="7211" y="29422"/>
                  </a:lnTo>
                  <a:lnTo>
                    <a:pt x="0" y="23682"/>
                  </a:lnTo>
                </a:path>
              </a:pathLst>
            </a:custGeom>
            <a:ln w="3739">
              <a:solidFill>
                <a:srgbClr val="1F1A17"/>
              </a:solidFill>
            </a:ln>
          </p:spPr>
          <p:txBody>
            <a:bodyPr wrap="square" lIns="0" tIns="0" rIns="0" bIns="0" rtlCol="0"/>
            <a:lstStyle/>
            <a:p>
              <a:endParaRPr/>
            </a:p>
          </p:txBody>
        </p:sp>
        <p:sp>
          <p:nvSpPr>
            <p:cNvPr id="64" name="object 64"/>
            <p:cNvSpPr/>
            <p:nvPr/>
          </p:nvSpPr>
          <p:spPr>
            <a:xfrm>
              <a:off x="6142646" y="3936077"/>
              <a:ext cx="25400" cy="34925"/>
            </a:xfrm>
            <a:custGeom>
              <a:avLst/>
              <a:gdLst/>
              <a:ahLst/>
              <a:cxnLst/>
              <a:rect l="l" t="t" r="r" b="b"/>
              <a:pathLst>
                <a:path w="25400" h="34925">
                  <a:moveTo>
                    <a:pt x="13867" y="0"/>
                  </a:moveTo>
                  <a:lnTo>
                    <a:pt x="3324" y="5752"/>
                  </a:lnTo>
                  <a:lnTo>
                    <a:pt x="0" y="17227"/>
                  </a:lnTo>
                  <a:lnTo>
                    <a:pt x="3324" y="28703"/>
                  </a:lnTo>
                  <a:lnTo>
                    <a:pt x="13867" y="34455"/>
                  </a:lnTo>
                  <a:lnTo>
                    <a:pt x="21086" y="28703"/>
                  </a:lnTo>
                  <a:lnTo>
                    <a:pt x="24957" y="17227"/>
                  </a:lnTo>
                  <a:lnTo>
                    <a:pt x="21086" y="5752"/>
                  </a:lnTo>
                  <a:lnTo>
                    <a:pt x="13867" y="0"/>
                  </a:lnTo>
                  <a:close/>
                </a:path>
              </a:pathLst>
            </a:custGeom>
            <a:solidFill>
              <a:srgbClr val="1F1A17"/>
            </a:solidFill>
          </p:spPr>
          <p:txBody>
            <a:bodyPr wrap="square" lIns="0" tIns="0" rIns="0" bIns="0" rtlCol="0"/>
            <a:lstStyle/>
            <a:p>
              <a:endParaRPr/>
            </a:p>
          </p:txBody>
        </p:sp>
        <p:sp>
          <p:nvSpPr>
            <p:cNvPr id="65" name="object 65"/>
            <p:cNvSpPr/>
            <p:nvPr/>
          </p:nvSpPr>
          <p:spPr>
            <a:xfrm>
              <a:off x="6150411" y="3946136"/>
              <a:ext cx="25400" cy="34925"/>
            </a:xfrm>
            <a:custGeom>
              <a:avLst/>
              <a:gdLst/>
              <a:ahLst/>
              <a:cxnLst/>
              <a:rect l="l" t="t" r="r" b="b"/>
              <a:pathLst>
                <a:path w="25400" h="34925">
                  <a:moveTo>
                    <a:pt x="24957" y="17198"/>
                  </a:moveTo>
                  <a:lnTo>
                    <a:pt x="21086" y="28703"/>
                  </a:lnTo>
                  <a:lnTo>
                    <a:pt x="13867" y="34426"/>
                  </a:lnTo>
                  <a:lnTo>
                    <a:pt x="3324" y="28703"/>
                  </a:lnTo>
                  <a:lnTo>
                    <a:pt x="0" y="17198"/>
                  </a:lnTo>
                  <a:lnTo>
                    <a:pt x="3324" y="5722"/>
                  </a:lnTo>
                  <a:lnTo>
                    <a:pt x="13867" y="0"/>
                  </a:lnTo>
                  <a:lnTo>
                    <a:pt x="21086" y="5722"/>
                  </a:lnTo>
                  <a:lnTo>
                    <a:pt x="24957" y="17198"/>
                  </a:lnTo>
                </a:path>
              </a:pathLst>
            </a:custGeom>
            <a:ln w="3667">
              <a:solidFill>
                <a:srgbClr val="1F1A17"/>
              </a:solidFill>
            </a:ln>
          </p:spPr>
          <p:txBody>
            <a:bodyPr wrap="square" lIns="0" tIns="0" rIns="0" bIns="0" rtlCol="0"/>
            <a:lstStyle/>
            <a:p>
              <a:endParaRPr/>
            </a:p>
          </p:txBody>
        </p:sp>
        <p:sp>
          <p:nvSpPr>
            <p:cNvPr id="66" name="object 66"/>
            <p:cNvSpPr/>
            <p:nvPr/>
          </p:nvSpPr>
          <p:spPr>
            <a:xfrm>
              <a:off x="4913934" y="3941838"/>
              <a:ext cx="1328420" cy="1647825"/>
            </a:xfrm>
            <a:custGeom>
              <a:avLst/>
              <a:gdLst/>
              <a:ahLst/>
              <a:cxnLst/>
              <a:rect l="l" t="t" r="r" b="b"/>
              <a:pathLst>
                <a:path w="1328420" h="1647825">
                  <a:moveTo>
                    <a:pt x="1327988" y="1532039"/>
                  </a:moveTo>
                  <a:lnTo>
                    <a:pt x="1292491" y="1410055"/>
                  </a:lnTo>
                  <a:lnTo>
                    <a:pt x="1228699" y="1219873"/>
                  </a:lnTo>
                  <a:lnTo>
                    <a:pt x="1182116" y="1097889"/>
                  </a:lnTo>
                  <a:lnTo>
                    <a:pt x="1128852" y="976617"/>
                  </a:lnTo>
                  <a:lnTo>
                    <a:pt x="1065072" y="843864"/>
                  </a:lnTo>
                  <a:lnTo>
                    <a:pt x="955217" y="647255"/>
                  </a:lnTo>
                  <a:lnTo>
                    <a:pt x="915847" y="584085"/>
                  </a:lnTo>
                  <a:lnTo>
                    <a:pt x="875665" y="528370"/>
                  </a:lnTo>
                  <a:lnTo>
                    <a:pt x="1253667" y="40881"/>
                  </a:lnTo>
                  <a:lnTo>
                    <a:pt x="1242568" y="22948"/>
                  </a:lnTo>
                  <a:lnTo>
                    <a:pt x="863904" y="512051"/>
                  </a:lnTo>
                  <a:lnTo>
                    <a:pt x="823760" y="456361"/>
                  </a:lnTo>
                  <a:lnTo>
                    <a:pt x="777709" y="398945"/>
                  </a:lnTo>
                  <a:lnTo>
                    <a:pt x="727798" y="340842"/>
                  </a:lnTo>
                  <a:lnTo>
                    <a:pt x="674535" y="289179"/>
                  </a:lnTo>
                  <a:lnTo>
                    <a:pt x="617943" y="236791"/>
                  </a:lnTo>
                  <a:lnTo>
                    <a:pt x="560819" y="190855"/>
                  </a:lnTo>
                  <a:lnTo>
                    <a:pt x="497027" y="144932"/>
                  </a:lnTo>
                  <a:lnTo>
                    <a:pt x="436575" y="109766"/>
                  </a:lnTo>
                  <a:lnTo>
                    <a:pt x="369443" y="75336"/>
                  </a:lnTo>
                  <a:lnTo>
                    <a:pt x="301764" y="46634"/>
                  </a:lnTo>
                  <a:lnTo>
                    <a:pt x="230771" y="28702"/>
                  </a:lnTo>
                  <a:lnTo>
                    <a:pt x="156438" y="11468"/>
                  </a:lnTo>
                  <a:lnTo>
                    <a:pt x="78219" y="0"/>
                  </a:lnTo>
                  <a:lnTo>
                    <a:pt x="78219" y="28702"/>
                  </a:lnTo>
                  <a:lnTo>
                    <a:pt x="156438" y="35166"/>
                  </a:lnTo>
                  <a:lnTo>
                    <a:pt x="298437" y="69583"/>
                  </a:lnTo>
                  <a:lnTo>
                    <a:pt x="365544" y="98285"/>
                  </a:lnTo>
                  <a:lnTo>
                    <a:pt x="493712" y="167906"/>
                  </a:lnTo>
                  <a:lnTo>
                    <a:pt x="553618" y="213842"/>
                  </a:lnTo>
                  <a:lnTo>
                    <a:pt x="610755" y="260477"/>
                  </a:lnTo>
                  <a:lnTo>
                    <a:pt x="663994" y="306412"/>
                  </a:lnTo>
                  <a:lnTo>
                    <a:pt x="717257" y="364528"/>
                  </a:lnTo>
                  <a:lnTo>
                    <a:pt x="767168" y="416179"/>
                  </a:lnTo>
                  <a:lnTo>
                    <a:pt x="816546" y="480047"/>
                  </a:lnTo>
                  <a:lnTo>
                    <a:pt x="853236" y="525818"/>
                  </a:lnTo>
                  <a:lnTo>
                    <a:pt x="521995" y="953668"/>
                  </a:lnTo>
                  <a:lnTo>
                    <a:pt x="478167" y="1010069"/>
                  </a:lnTo>
                  <a:lnTo>
                    <a:pt x="433222" y="953668"/>
                  </a:lnTo>
                  <a:lnTo>
                    <a:pt x="393852" y="896251"/>
                  </a:lnTo>
                  <a:lnTo>
                    <a:pt x="355028" y="832396"/>
                  </a:lnTo>
                  <a:lnTo>
                    <a:pt x="316179" y="774242"/>
                  </a:lnTo>
                  <a:lnTo>
                    <a:pt x="251853" y="647255"/>
                  </a:lnTo>
                  <a:lnTo>
                    <a:pt x="198589" y="531723"/>
                  </a:lnTo>
                  <a:lnTo>
                    <a:pt x="152539" y="416179"/>
                  </a:lnTo>
                  <a:lnTo>
                    <a:pt x="117043" y="306412"/>
                  </a:lnTo>
                  <a:lnTo>
                    <a:pt x="60452" y="127000"/>
                  </a:lnTo>
                  <a:lnTo>
                    <a:pt x="28282" y="0"/>
                  </a:lnTo>
                  <a:lnTo>
                    <a:pt x="14414" y="5715"/>
                  </a:lnTo>
                  <a:lnTo>
                    <a:pt x="46037" y="132740"/>
                  </a:lnTo>
                  <a:lnTo>
                    <a:pt x="103174" y="317881"/>
                  </a:lnTo>
                  <a:lnTo>
                    <a:pt x="141998" y="427659"/>
                  </a:lnTo>
                  <a:lnTo>
                    <a:pt x="188048" y="543204"/>
                  </a:lnTo>
                  <a:lnTo>
                    <a:pt x="241312" y="664476"/>
                  </a:lnTo>
                  <a:lnTo>
                    <a:pt x="305092" y="786460"/>
                  </a:lnTo>
                  <a:lnTo>
                    <a:pt x="344487" y="849617"/>
                  </a:lnTo>
                  <a:lnTo>
                    <a:pt x="383311" y="913485"/>
                  </a:lnTo>
                  <a:lnTo>
                    <a:pt x="426034" y="970889"/>
                  </a:lnTo>
                  <a:lnTo>
                    <a:pt x="464223" y="1028014"/>
                  </a:lnTo>
                  <a:lnTo>
                    <a:pt x="301764" y="1237094"/>
                  </a:lnTo>
                  <a:lnTo>
                    <a:pt x="152539" y="1427988"/>
                  </a:lnTo>
                  <a:lnTo>
                    <a:pt x="63779" y="1543507"/>
                  </a:lnTo>
                  <a:lnTo>
                    <a:pt x="17754" y="1606664"/>
                  </a:lnTo>
                  <a:lnTo>
                    <a:pt x="0" y="1629613"/>
                  </a:lnTo>
                  <a:lnTo>
                    <a:pt x="0" y="1641817"/>
                  </a:lnTo>
                  <a:lnTo>
                    <a:pt x="7213" y="1647558"/>
                  </a:lnTo>
                  <a:lnTo>
                    <a:pt x="24955" y="1623872"/>
                  </a:lnTo>
                  <a:lnTo>
                    <a:pt x="71005" y="1566456"/>
                  </a:lnTo>
                  <a:lnTo>
                    <a:pt x="159766" y="1450936"/>
                  </a:lnTo>
                  <a:lnTo>
                    <a:pt x="308991" y="1260081"/>
                  </a:lnTo>
                  <a:lnTo>
                    <a:pt x="476338" y="1043597"/>
                  </a:lnTo>
                  <a:lnTo>
                    <a:pt x="518096" y="1092161"/>
                  </a:lnTo>
                  <a:lnTo>
                    <a:pt x="571360" y="1150277"/>
                  </a:lnTo>
                  <a:lnTo>
                    <a:pt x="685076" y="1260081"/>
                  </a:lnTo>
                  <a:lnTo>
                    <a:pt x="745540" y="1311732"/>
                  </a:lnTo>
                  <a:lnTo>
                    <a:pt x="813219" y="1358366"/>
                  </a:lnTo>
                  <a:lnTo>
                    <a:pt x="884212" y="1404302"/>
                  </a:lnTo>
                  <a:lnTo>
                    <a:pt x="955217" y="1445183"/>
                  </a:lnTo>
                  <a:lnTo>
                    <a:pt x="1033437" y="1485392"/>
                  </a:lnTo>
                  <a:lnTo>
                    <a:pt x="1203744" y="1554988"/>
                  </a:lnTo>
                  <a:lnTo>
                    <a:pt x="1295831" y="1577962"/>
                  </a:lnTo>
                  <a:lnTo>
                    <a:pt x="1295831" y="1554988"/>
                  </a:lnTo>
                  <a:lnTo>
                    <a:pt x="1122197" y="1496872"/>
                  </a:lnTo>
                  <a:lnTo>
                    <a:pt x="1040091" y="1462417"/>
                  </a:lnTo>
                  <a:lnTo>
                    <a:pt x="962444" y="1422234"/>
                  </a:lnTo>
                  <a:lnTo>
                    <a:pt x="887539" y="1381353"/>
                  </a:lnTo>
                  <a:lnTo>
                    <a:pt x="752754" y="1288783"/>
                  </a:lnTo>
                  <a:lnTo>
                    <a:pt x="631812" y="1184706"/>
                  </a:lnTo>
                  <a:lnTo>
                    <a:pt x="525310" y="1069187"/>
                  </a:lnTo>
                  <a:lnTo>
                    <a:pt x="490397" y="1025398"/>
                  </a:lnTo>
                  <a:lnTo>
                    <a:pt x="532536" y="970889"/>
                  </a:lnTo>
                  <a:lnTo>
                    <a:pt x="865378" y="541642"/>
                  </a:lnTo>
                  <a:lnTo>
                    <a:pt x="905306" y="601319"/>
                  </a:lnTo>
                  <a:lnTo>
                    <a:pt x="944702" y="664476"/>
                  </a:lnTo>
                  <a:lnTo>
                    <a:pt x="983526" y="728345"/>
                  </a:lnTo>
                  <a:lnTo>
                    <a:pt x="1054531" y="861098"/>
                  </a:lnTo>
                  <a:lnTo>
                    <a:pt x="1114983" y="988085"/>
                  </a:lnTo>
                  <a:lnTo>
                    <a:pt x="1168247" y="1115822"/>
                  </a:lnTo>
                  <a:lnTo>
                    <a:pt x="1214285" y="1231379"/>
                  </a:lnTo>
                  <a:lnTo>
                    <a:pt x="1278077" y="1422234"/>
                  </a:lnTo>
                  <a:lnTo>
                    <a:pt x="1313573" y="1543507"/>
                  </a:lnTo>
                  <a:lnTo>
                    <a:pt x="1327988" y="1532039"/>
                  </a:lnTo>
                  <a:close/>
                </a:path>
              </a:pathLst>
            </a:custGeom>
            <a:solidFill>
              <a:srgbClr val="1F1A17"/>
            </a:solidFill>
          </p:spPr>
          <p:txBody>
            <a:bodyPr wrap="square" lIns="0" tIns="0" rIns="0" bIns="0" rtlCol="0"/>
            <a:lstStyle/>
            <a:p>
              <a:endParaRPr/>
            </a:p>
          </p:txBody>
        </p:sp>
        <p:pic>
          <p:nvPicPr>
            <p:cNvPr id="67" name="object 67"/>
            <p:cNvPicPr/>
            <p:nvPr/>
          </p:nvPicPr>
          <p:blipFill>
            <a:blip r:embed="rId10" cstate="print"/>
            <a:stretch>
              <a:fillRect/>
            </a:stretch>
          </p:blipFill>
          <p:spPr>
            <a:xfrm>
              <a:off x="3621785" y="3657600"/>
              <a:ext cx="3160014" cy="2984754"/>
            </a:xfrm>
            <a:prstGeom prst="rect">
              <a:avLst/>
            </a:prstGeom>
          </p:spPr>
        </p:pic>
        <p:sp>
          <p:nvSpPr>
            <p:cNvPr id="68" name="object 68"/>
            <p:cNvSpPr/>
            <p:nvPr/>
          </p:nvSpPr>
          <p:spPr>
            <a:xfrm>
              <a:off x="6762750" y="5715000"/>
              <a:ext cx="171450" cy="762000"/>
            </a:xfrm>
            <a:custGeom>
              <a:avLst/>
              <a:gdLst/>
              <a:ahLst/>
              <a:cxnLst/>
              <a:rect l="l" t="t" r="r" b="b"/>
              <a:pathLst>
                <a:path w="171450" h="762000">
                  <a:moveTo>
                    <a:pt x="171450" y="0"/>
                  </a:moveTo>
                  <a:lnTo>
                    <a:pt x="0" y="0"/>
                  </a:lnTo>
                  <a:lnTo>
                    <a:pt x="0" y="762000"/>
                  </a:lnTo>
                  <a:lnTo>
                    <a:pt x="171450" y="762000"/>
                  </a:lnTo>
                  <a:lnTo>
                    <a:pt x="171450" y="0"/>
                  </a:lnTo>
                  <a:close/>
                </a:path>
              </a:pathLst>
            </a:custGeom>
            <a:solidFill>
              <a:srgbClr val="FFFFFF"/>
            </a:solidFill>
          </p:spPr>
          <p:txBody>
            <a:bodyPr wrap="square" lIns="0" tIns="0" rIns="0" bIns="0" rtlCol="0"/>
            <a:lstStyle/>
            <a:p>
              <a:endParaRPr/>
            </a:p>
          </p:txBody>
        </p:sp>
      </p:grpSp>
      <p:grpSp>
        <p:nvGrpSpPr>
          <p:cNvPr id="69" name="object 69"/>
          <p:cNvGrpSpPr/>
          <p:nvPr/>
        </p:nvGrpSpPr>
        <p:grpSpPr>
          <a:xfrm>
            <a:off x="418175" y="4383795"/>
            <a:ext cx="465455" cy="1962150"/>
            <a:chOff x="418175" y="4383795"/>
            <a:chExt cx="465455" cy="1962150"/>
          </a:xfrm>
        </p:grpSpPr>
        <p:pic>
          <p:nvPicPr>
            <p:cNvPr id="70" name="object 70"/>
            <p:cNvPicPr/>
            <p:nvPr/>
          </p:nvPicPr>
          <p:blipFill>
            <a:blip r:embed="rId11" cstate="print"/>
            <a:stretch>
              <a:fillRect/>
            </a:stretch>
          </p:blipFill>
          <p:spPr>
            <a:xfrm>
              <a:off x="511707" y="4411658"/>
              <a:ext cx="284197" cy="158616"/>
            </a:xfrm>
            <a:prstGeom prst="rect">
              <a:avLst/>
            </a:prstGeom>
          </p:spPr>
        </p:pic>
        <p:sp>
          <p:nvSpPr>
            <p:cNvPr id="71" name="object 71"/>
            <p:cNvSpPr/>
            <p:nvPr/>
          </p:nvSpPr>
          <p:spPr>
            <a:xfrm>
              <a:off x="418172" y="6057302"/>
              <a:ext cx="394970" cy="288925"/>
            </a:xfrm>
            <a:custGeom>
              <a:avLst/>
              <a:gdLst/>
              <a:ahLst/>
              <a:cxnLst/>
              <a:rect l="l" t="t" r="r" b="b"/>
              <a:pathLst>
                <a:path w="394969" h="288925">
                  <a:moveTo>
                    <a:pt x="394817" y="164007"/>
                  </a:moveTo>
                  <a:lnTo>
                    <a:pt x="325551" y="73494"/>
                  </a:lnTo>
                  <a:lnTo>
                    <a:pt x="318757" y="63601"/>
                  </a:lnTo>
                  <a:lnTo>
                    <a:pt x="318757" y="99529"/>
                  </a:lnTo>
                  <a:lnTo>
                    <a:pt x="317550" y="99809"/>
                  </a:lnTo>
                  <a:lnTo>
                    <a:pt x="318135" y="98729"/>
                  </a:lnTo>
                  <a:lnTo>
                    <a:pt x="318757" y="99529"/>
                  </a:lnTo>
                  <a:lnTo>
                    <a:pt x="318757" y="63601"/>
                  </a:lnTo>
                  <a:lnTo>
                    <a:pt x="313867" y="56464"/>
                  </a:lnTo>
                  <a:lnTo>
                    <a:pt x="307568" y="73494"/>
                  </a:lnTo>
                  <a:lnTo>
                    <a:pt x="250012" y="170205"/>
                  </a:lnTo>
                  <a:lnTo>
                    <a:pt x="273392" y="181038"/>
                  </a:lnTo>
                  <a:lnTo>
                    <a:pt x="301142" y="129997"/>
                  </a:lnTo>
                  <a:lnTo>
                    <a:pt x="296773" y="153174"/>
                  </a:lnTo>
                  <a:lnTo>
                    <a:pt x="278790" y="181038"/>
                  </a:lnTo>
                  <a:lnTo>
                    <a:pt x="261708" y="209651"/>
                  </a:lnTo>
                  <a:lnTo>
                    <a:pt x="238315" y="237515"/>
                  </a:lnTo>
                  <a:lnTo>
                    <a:pt x="209550" y="254533"/>
                  </a:lnTo>
                  <a:lnTo>
                    <a:pt x="179870" y="266141"/>
                  </a:lnTo>
                  <a:lnTo>
                    <a:pt x="145694" y="266141"/>
                  </a:lnTo>
                  <a:lnTo>
                    <a:pt x="87236" y="237515"/>
                  </a:lnTo>
                  <a:lnTo>
                    <a:pt x="29679" y="175615"/>
                  </a:lnTo>
                  <a:lnTo>
                    <a:pt x="23380" y="146989"/>
                  </a:lnTo>
                  <a:lnTo>
                    <a:pt x="23380" y="96697"/>
                  </a:lnTo>
                  <a:lnTo>
                    <a:pt x="46761" y="56464"/>
                  </a:lnTo>
                  <a:lnTo>
                    <a:pt x="98920" y="28613"/>
                  </a:lnTo>
                  <a:lnTo>
                    <a:pt x="133997" y="23202"/>
                  </a:lnTo>
                  <a:lnTo>
                    <a:pt x="179870" y="28613"/>
                  </a:lnTo>
                  <a:lnTo>
                    <a:pt x="232918" y="40220"/>
                  </a:lnTo>
                  <a:lnTo>
                    <a:pt x="296773" y="56464"/>
                  </a:lnTo>
                  <a:lnTo>
                    <a:pt x="302171" y="34036"/>
                  </a:lnTo>
                  <a:lnTo>
                    <a:pt x="238315" y="17018"/>
                  </a:lnTo>
                  <a:lnTo>
                    <a:pt x="186156" y="0"/>
                  </a:lnTo>
                  <a:lnTo>
                    <a:pt x="133997" y="0"/>
                  </a:lnTo>
                  <a:lnTo>
                    <a:pt x="93522" y="6172"/>
                  </a:lnTo>
                  <a:lnTo>
                    <a:pt x="29679" y="40220"/>
                  </a:lnTo>
                  <a:lnTo>
                    <a:pt x="0" y="90512"/>
                  </a:lnTo>
                  <a:lnTo>
                    <a:pt x="0" y="153174"/>
                  </a:lnTo>
                  <a:lnTo>
                    <a:pt x="23380" y="209651"/>
                  </a:lnTo>
                  <a:lnTo>
                    <a:pt x="75539" y="260718"/>
                  </a:lnTo>
                  <a:lnTo>
                    <a:pt x="145694" y="288569"/>
                  </a:lnTo>
                  <a:lnTo>
                    <a:pt x="179870" y="288569"/>
                  </a:lnTo>
                  <a:lnTo>
                    <a:pt x="221234" y="277736"/>
                  </a:lnTo>
                  <a:lnTo>
                    <a:pt x="278790" y="226682"/>
                  </a:lnTo>
                  <a:lnTo>
                    <a:pt x="319265" y="164007"/>
                  </a:lnTo>
                  <a:lnTo>
                    <a:pt x="328447" y="112052"/>
                  </a:lnTo>
                  <a:lnTo>
                    <a:pt x="377723" y="175615"/>
                  </a:lnTo>
                  <a:lnTo>
                    <a:pt x="383120" y="170205"/>
                  </a:lnTo>
                  <a:lnTo>
                    <a:pt x="394817" y="164007"/>
                  </a:lnTo>
                  <a:close/>
                </a:path>
              </a:pathLst>
            </a:custGeom>
            <a:solidFill>
              <a:srgbClr val="1F1A17"/>
            </a:solidFill>
          </p:spPr>
          <p:txBody>
            <a:bodyPr wrap="square" lIns="0" tIns="0" rIns="0" bIns="0" rtlCol="0"/>
            <a:lstStyle/>
            <a:p>
              <a:endParaRPr/>
            </a:p>
          </p:txBody>
        </p:sp>
        <p:sp>
          <p:nvSpPr>
            <p:cNvPr id="72" name="object 72"/>
            <p:cNvSpPr/>
            <p:nvPr/>
          </p:nvSpPr>
          <p:spPr>
            <a:xfrm>
              <a:off x="696970" y="6085911"/>
              <a:ext cx="35560" cy="34290"/>
            </a:xfrm>
            <a:custGeom>
              <a:avLst/>
              <a:gdLst/>
              <a:ahLst/>
              <a:cxnLst/>
              <a:rect l="l" t="t" r="r" b="b"/>
              <a:pathLst>
                <a:path w="35559" h="34289">
                  <a:moveTo>
                    <a:pt x="28777" y="0"/>
                  </a:moveTo>
                  <a:lnTo>
                    <a:pt x="11692" y="0"/>
                  </a:lnTo>
                  <a:lnTo>
                    <a:pt x="0" y="5416"/>
                  </a:lnTo>
                  <a:lnTo>
                    <a:pt x="0" y="22439"/>
                  </a:lnTo>
                  <a:lnTo>
                    <a:pt x="6294" y="27852"/>
                  </a:lnTo>
                  <a:lnTo>
                    <a:pt x="23384" y="34041"/>
                  </a:lnTo>
                  <a:lnTo>
                    <a:pt x="35076" y="22439"/>
                  </a:lnTo>
                  <a:lnTo>
                    <a:pt x="35076" y="11605"/>
                  </a:lnTo>
                  <a:lnTo>
                    <a:pt x="28777" y="0"/>
                  </a:lnTo>
                  <a:close/>
                </a:path>
              </a:pathLst>
            </a:custGeom>
            <a:solidFill>
              <a:srgbClr val="1F1A17"/>
            </a:solidFill>
          </p:spPr>
          <p:txBody>
            <a:bodyPr wrap="square" lIns="0" tIns="0" rIns="0" bIns="0" rtlCol="0"/>
            <a:lstStyle/>
            <a:p>
              <a:endParaRPr/>
            </a:p>
          </p:txBody>
        </p:sp>
        <p:sp>
          <p:nvSpPr>
            <p:cNvPr id="73" name="object 73"/>
            <p:cNvSpPr/>
            <p:nvPr/>
          </p:nvSpPr>
          <p:spPr>
            <a:xfrm>
              <a:off x="709559" y="6096744"/>
              <a:ext cx="35560" cy="34290"/>
            </a:xfrm>
            <a:custGeom>
              <a:avLst/>
              <a:gdLst/>
              <a:ahLst/>
              <a:cxnLst/>
              <a:rect l="l" t="t" r="r" b="b"/>
              <a:pathLst>
                <a:path w="35559" h="34289">
                  <a:moveTo>
                    <a:pt x="0" y="22435"/>
                  </a:moveTo>
                  <a:lnTo>
                    <a:pt x="0" y="5416"/>
                  </a:lnTo>
                  <a:lnTo>
                    <a:pt x="11692" y="0"/>
                  </a:lnTo>
                  <a:lnTo>
                    <a:pt x="28781" y="0"/>
                  </a:lnTo>
                  <a:lnTo>
                    <a:pt x="35076" y="11605"/>
                  </a:lnTo>
                  <a:lnTo>
                    <a:pt x="35076" y="22435"/>
                  </a:lnTo>
                  <a:lnTo>
                    <a:pt x="23384" y="34041"/>
                  </a:lnTo>
                  <a:lnTo>
                    <a:pt x="6298" y="27852"/>
                  </a:lnTo>
                  <a:lnTo>
                    <a:pt x="0" y="22435"/>
                  </a:lnTo>
                </a:path>
              </a:pathLst>
            </a:custGeom>
            <a:ln w="5011">
              <a:solidFill>
                <a:srgbClr val="1F1A17"/>
              </a:solidFill>
            </a:ln>
          </p:spPr>
          <p:txBody>
            <a:bodyPr wrap="square" lIns="0" tIns="0" rIns="0" bIns="0" rtlCol="0"/>
            <a:lstStyle/>
            <a:p>
              <a:endParaRPr/>
            </a:p>
          </p:txBody>
        </p:sp>
        <p:pic>
          <p:nvPicPr>
            <p:cNvPr id="74" name="object 74"/>
            <p:cNvPicPr/>
            <p:nvPr/>
          </p:nvPicPr>
          <p:blipFill>
            <a:blip r:embed="rId12" cstate="print"/>
            <a:stretch>
              <a:fillRect/>
            </a:stretch>
          </p:blipFill>
          <p:spPr>
            <a:xfrm>
              <a:off x="749132" y="4383795"/>
              <a:ext cx="134009" cy="124583"/>
            </a:xfrm>
            <a:prstGeom prst="rect">
              <a:avLst/>
            </a:prstGeom>
          </p:spPr>
        </p:pic>
      </p:grpSp>
      <p:grpSp>
        <p:nvGrpSpPr>
          <p:cNvPr id="75" name="object 75"/>
          <p:cNvGrpSpPr/>
          <p:nvPr/>
        </p:nvGrpSpPr>
        <p:grpSpPr>
          <a:xfrm>
            <a:off x="2613466" y="4247634"/>
            <a:ext cx="279400" cy="158750"/>
            <a:chOff x="2613466" y="4247634"/>
            <a:chExt cx="279400" cy="158750"/>
          </a:xfrm>
        </p:grpSpPr>
        <p:pic>
          <p:nvPicPr>
            <p:cNvPr id="76" name="object 76"/>
            <p:cNvPicPr/>
            <p:nvPr/>
          </p:nvPicPr>
          <p:blipFill>
            <a:blip r:embed="rId13" cstate="print"/>
            <a:stretch>
              <a:fillRect/>
            </a:stretch>
          </p:blipFill>
          <p:spPr>
            <a:xfrm>
              <a:off x="2613466" y="4281698"/>
              <a:ext cx="139403" cy="124552"/>
            </a:xfrm>
            <a:prstGeom prst="rect">
              <a:avLst/>
            </a:prstGeom>
          </p:spPr>
        </p:pic>
        <p:pic>
          <p:nvPicPr>
            <p:cNvPr id="77" name="object 77"/>
            <p:cNvPicPr/>
            <p:nvPr/>
          </p:nvPicPr>
          <p:blipFill>
            <a:blip r:embed="rId14" cstate="print"/>
            <a:stretch>
              <a:fillRect/>
            </a:stretch>
          </p:blipFill>
          <p:spPr>
            <a:xfrm>
              <a:off x="2758259" y="4247634"/>
              <a:ext cx="134013" cy="124583"/>
            </a:xfrm>
            <a:prstGeom prst="rect">
              <a:avLst/>
            </a:prstGeom>
          </p:spPr>
        </p:pic>
      </p:grpSp>
      <p:grpSp>
        <p:nvGrpSpPr>
          <p:cNvPr id="78" name="object 78"/>
          <p:cNvGrpSpPr/>
          <p:nvPr/>
        </p:nvGrpSpPr>
        <p:grpSpPr>
          <a:xfrm>
            <a:off x="436161" y="4100627"/>
            <a:ext cx="2630170" cy="588645"/>
            <a:chOff x="436161" y="4100627"/>
            <a:chExt cx="2630170" cy="588645"/>
          </a:xfrm>
        </p:grpSpPr>
        <p:sp>
          <p:nvSpPr>
            <p:cNvPr id="79" name="object 79"/>
            <p:cNvSpPr/>
            <p:nvPr/>
          </p:nvSpPr>
          <p:spPr>
            <a:xfrm>
              <a:off x="436156" y="4270857"/>
              <a:ext cx="336550" cy="277495"/>
            </a:xfrm>
            <a:custGeom>
              <a:avLst/>
              <a:gdLst/>
              <a:ahLst/>
              <a:cxnLst/>
              <a:rect l="l" t="t" r="r" b="b"/>
              <a:pathLst>
                <a:path w="336550" h="277495">
                  <a:moveTo>
                    <a:pt x="336334" y="123786"/>
                  </a:moveTo>
                  <a:lnTo>
                    <a:pt x="330949" y="106768"/>
                  </a:lnTo>
                  <a:lnTo>
                    <a:pt x="319265" y="101371"/>
                  </a:lnTo>
                  <a:lnTo>
                    <a:pt x="318249" y="101841"/>
                  </a:lnTo>
                  <a:lnTo>
                    <a:pt x="278790" y="67297"/>
                  </a:lnTo>
                  <a:lnTo>
                    <a:pt x="232029" y="39471"/>
                  </a:lnTo>
                  <a:lnTo>
                    <a:pt x="191566" y="16256"/>
                  </a:lnTo>
                  <a:lnTo>
                    <a:pt x="151091" y="5410"/>
                  </a:lnTo>
                  <a:lnTo>
                    <a:pt x="109715" y="0"/>
                  </a:lnTo>
                  <a:lnTo>
                    <a:pt x="80937" y="10845"/>
                  </a:lnTo>
                  <a:lnTo>
                    <a:pt x="28778" y="44881"/>
                  </a:lnTo>
                  <a:lnTo>
                    <a:pt x="5397" y="101371"/>
                  </a:lnTo>
                  <a:lnTo>
                    <a:pt x="0" y="129997"/>
                  </a:lnTo>
                  <a:lnTo>
                    <a:pt x="0" y="164020"/>
                  </a:lnTo>
                  <a:lnTo>
                    <a:pt x="11696" y="197294"/>
                  </a:lnTo>
                  <a:lnTo>
                    <a:pt x="23380" y="225920"/>
                  </a:lnTo>
                  <a:lnTo>
                    <a:pt x="45872" y="253784"/>
                  </a:lnTo>
                  <a:lnTo>
                    <a:pt x="75539" y="276974"/>
                  </a:lnTo>
                  <a:lnTo>
                    <a:pt x="92633" y="259956"/>
                  </a:lnTo>
                  <a:lnTo>
                    <a:pt x="63855" y="237528"/>
                  </a:lnTo>
                  <a:lnTo>
                    <a:pt x="45872" y="214312"/>
                  </a:lnTo>
                  <a:lnTo>
                    <a:pt x="28778" y="186448"/>
                  </a:lnTo>
                  <a:lnTo>
                    <a:pt x="23380" y="157822"/>
                  </a:lnTo>
                  <a:lnTo>
                    <a:pt x="23380" y="129997"/>
                  </a:lnTo>
                  <a:lnTo>
                    <a:pt x="28778" y="106768"/>
                  </a:lnTo>
                  <a:lnTo>
                    <a:pt x="34175" y="78917"/>
                  </a:lnTo>
                  <a:lnTo>
                    <a:pt x="45872" y="61899"/>
                  </a:lnTo>
                  <a:lnTo>
                    <a:pt x="63855" y="44881"/>
                  </a:lnTo>
                  <a:lnTo>
                    <a:pt x="87236" y="33274"/>
                  </a:lnTo>
                  <a:lnTo>
                    <a:pt x="116014" y="27863"/>
                  </a:lnTo>
                  <a:lnTo>
                    <a:pt x="144792" y="27863"/>
                  </a:lnTo>
                  <a:lnTo>
                    <a:pt x="179870" y="39471"/>
                  </a:lnTo>
                  <a:lnTo>
                    <a:pt x="220332" y="56489"/>
                  </a:lnTo>
                  <a:lnTo>
                    <a:pt x="267106" y="90525"/>
                  </a:lnTo>
                  <a:lnTo>
                    <a:pt x="297548" y="116738"/>
                  </a:lnTo>
                  <a:lnTo>
                    <a:pt x="295884" y="118389"/>
                  </a:lnTo>
                  <a:lnTo>
                    <a:pt x="301282" y="129997"/>
                  </a:lnTo>
                  <a:lnTo>
                    <a:pt x="312966" y="135394"/>
                  </a:lnTo>
                  <a:lnTo>
                    <a:pt x="330949" y="135394"/>
                  </a:lnTo>
                  <a:lnTo>
                    <a:pt x="336334" y="123786"/>
                  </a:lnTo>
                  <a:close/>
                </a:path>
              </a:pathLst>
            </a:custGeom>
            <a:solidFill>
              <a:srgbClr val="1F1A17"/>
            </a:solidFill>
          </p:spPr>
          <p:txBody>
            <a:bodyPr wrap="square" lIns="0" tIns="0" rIns="0" bIns="0" rtlCol="0"/>
            <a:lstStyle/>
            <a:p>
              <a:endParaRPr/>
            </a:p>
          </p:txBody>
        </p:sp>
        <p:sp>
          <p:nvSpPr>
            <p:cNvPr id="80" name="object 80"/>
            <p:cNvSpPr/>
            <p:nvPr/>
          </p:nvSpPr>
          <p:spPr>
            <a:xfrm>
              <a:off x="744636" y="4383032"/>
              <a:ext cx="40640" cy="34290"/>
            </a:xfrm>
            <a:custGeom>
              <a:avLst/>
              <a:gdLst/>
              <a:ahLst/>
              <a:cxnLst/>
              <a:rect l="l" t="t" r="r" b="b"/>
              <a:pathLst>
                <a:path w="40640" h="34289">
                  <a:moveTo>
                    <a:pt x="0" y="17016"/>
                  </a:moveTo>
                  <a:lnTo>
                    <a:pt x="11692" y="5407"/>
                  </a:lnTo>
                  <a:lnTo>
                    <a:pt x="23395" y="0"/>
                  </a:lnTo>
                  <a:lnTo>
                    <a:pt x="35061" y="5407"/>
                  </a:lnTo>
                  <a:lnTo>
                    <a:pt x="40488" y="22455"/>
                  </a:lnTo>
                  <a:lnTo>
                    <a:pt x="35061" y="34032"/>
                  </a:lnTo>
                  <a:lnTo>
                    <a:pt x="17082" y="34032"/>
                  </a:lnTo>
                  <a:lnTo>
                    <a:pt x="5397" y="28625"/>
                  </a:lnTo>
                  <a:lnTo>
                    <a:pt x="0" y="17016"/>
                  </a:lnTo>
                </a:path>
              </a:pathLst>
            </a:custGeom>
            <a:ln w="4958">
              <a:solidFill>
                <a:srgbClr val="1F1A17"/>
              </a:solidFill>
            </a:ln>
          </p:spPr>
          <p:txBody>
            <a:bodyPr wrap="square" lIns="0" tIns="0" rIns="0" bIns="0" rtlCol="0"/>
            <a:lstStyle/>
            <a:p>
              <a:endParaRPr/>
            </a:p>
          </p:txBody>
        </p:sp>
        <p:sp>
          <p:nvSpPr>
            <p:cNvPr id="81" name="object 81"/>
            <p:cNvSpPr/>
            <p:nvPr/>
          </p:nvSpPr>
          <p:spPr>
            <a:xfrm>
              <a:off x="778802" y="4100639"/>
              <a:ext cx="2287270" cy="588645"/>
            </a:xfrm>
            <a:custGeom>
              <a:avLst/>
              <a:gdLst/>
              <a:ahLst/>
              <a:cxnLst/>
              <a:rect l="l" t="t" r="r" b="b"/>
              <a:pathLst>
                <a:path w="2287270" h="588645">
                  <a:moveTo>
                    <a:pt x="1927288" y="322630"/>
                  </a:moveTo>
                  <a:lnTo>
                    <a:pt x="1915579" y="300215"/>
                  </a:lnTo>
                  <a:lnTo>
                    <a:pt x="1822958" y="350494"/>
                  </a:lnTo>
                  <a:lnTo>
                    <a:pt x="1724050" y="390728"/>
                  </a:lnTo>
                  <a:lnTo>
                    <a:pt x="1631391" y="430174"/>
                  </a:lnTo>
                  <a:lnTo>
                    <a:pt x="1537868" y="464235"/>
                  </a:lnTo>
                  <a:lnTo>
                    <a:pt x="1277086" y="531533"/>
                  </a:lnTo>
                  <a:lnTo>
                    <a:pt x="1196124" y="543140"/>
                  </a:lnTo>
                  <a:lnTo>
                    <a:pt x="1120584" y="554748"/>
                  </a:lnTo>
                  <a:lnTo>
                    <a:pt x="1038733" y="560158"/>
                  </a:lnTo>
                  <a:lnTo>
                    <a:pt x="969479" y="565569"/>
                  </a:lnTo>
                  <a:lnTo>
                    <a:pt x="893940" y="565569"/>
                  </a:lnTo>
                  <a:lnTo>
                    <a:pt x="759929" y="554748"/>
                  </a:lnTo>
                  <a:lnTo>
                    <a:pt x="632231" y="537705"/>
                  </a:lnTo>
                  <a:lnTo>
                    <a:pt x="516229" y="514515"/>
                  </a:lnTo>
                  <a:lnTo>
                    <a:pt x="411899" y="486651"/>
                  </a:lnTo>
                  <a:lnTo>
                    <a:pt x="319278" y="452628"/>
                  </a:lnTo>
                  <a:lnTo>
                    <a:pt x="237426" y="418566"/>
                  </a:lnTo>
                  <a:lnTo>
                    <a:pt x="98018" y="350494"/>
                  </a:lnTo>
                  <a:lnTo>
                    <a:pt x="11709" y="300215"/>
                  </a:lnTo>
                  <a:lnTo>
                    <a:pt x="0" y="322630"/>
                  </a:lnTo>
                  <a:lnTo>
                    <a:pt x="92633" y="367512"/>
                  </a:lnTo>
                  <a:lnTo>
                    <a:pt x="225717" y="435571"/>
                  </a:lnTo>
                  <a:lnTo>
                    <a:pt x="307568" y="475043"/>
                  </a:lnTo>
                  <a:lnTo>
                    <a:pt x="406514" y="509079"/>
                  </a:lnTo>
                  <a:lnTo>
                    <a:pt x="510844" y="537705"/>
                  </a:lnTo>
                  <a:lnTo>
                    <a:pt x="626833" y="560158"/>
                  </a:lnTo>
                  <a:lnTo>
                    <a:pt x="754545" y="582587"/>
                  </a:lnTo>
                  <a:lnTo>
                    <a:pt x="893940" y="588022"/>
                  </a:lnTo>
                  <a:lnTo>
                    <a:pt x="969479" y="588022"/>
                  </a:lnTo>
                  <a:lnTo>
                    <a:pt x="1120584" y="577176"/>
                  </a:lnTo>
                  <a:lnTo>
                    <a:pt x="1201508" y="565569"/>
                  </a:lnTo>
                  <a:lnTo>
                    <a:pt x="1282471" y="554748"/>
                  </a:lnTo>
                  <a:lnTo>
                    <a:pt x="1369707" y="531533"/>
                  </a:lnTo>
                  <a:lnTo>
                    <a:pt x="1456944" y="509079"/>
                  </a:lnTo>
                  <a:lnTo>
                    <a:pt x="1544180" y="481253"/>
                  </a:lnTo>
                  <a:lnTo>
                    <a:pt x="1636814" y="452628"/>
                  </a:lnTo>
                  <a:lnTo>
                    <a:pt x="1735721" y="413156"/>
                  </a:lnTo>
                  <a:lnTo>
                    <a:pt x="1828342" y="367512"/>
                  </a:lnTo>
                  <a:lnTo>
                    <a:pt x="1927288" y="322630"/>
                  </a:lnTo>
                  <a:close/>
                </a:path>
                <a:path w="2287270" h="588645">
                  <a:moveTo>
                    <a:pt x="1938985" y="266141"/>
                  </a:moveTo>
                  <a:lnTo>
                    <a:pt x="1851748" y="220510"/>
                  </a:lnTo>
                  <a:lnTo>
                    <a:pt x="1706956" y="158610"/>
                  </a:lnTo>
                  <a:lnTo>
                    <a:pt x="1608010" y="119176"/>
                  </a:lnTo>
                  <a:lnTo>
                    <a:pt x="1503680" y="85102"/>
                  </a:lnTo>
                  <a:lnTo>
                    <a:pt x="1387690" y="56476"/>
                  </a:lnTo>
                  <a:lnTo>
                    <a:pt x="1259992" y="28625"/>
                  </a:lnTo>
                  <a:lnTo>
                    <a:pt x="1120584" y="11607"/>
                  </a:lnTo>
                  <a:lnTo>
                    <a:pt x="981176" y="6197"/>
                  </a:lnTo>
                  <a:lnTo>
                    <a:pt x="911034" y="0"/>
                  </a:lnTo>
                  <a:lnTo>
                    <a:pt x="835494" y="6197"/>
                  </a:lnTo>
                  <a:lnTo>
                    <a:pt x="759929" y="11607"/>
                  </a:lnTo>
                  <a:lnTo>
                    <a:pt x="684390" y="23215"/>
                  </a:lnTo>
                  <a:lnTo>
                    <a:pt x="608863" y="34061"/>
                  </a:lnTo>
                  <a:lnTo>
                    <a:pt x="527900" y="56476"/>
                  </a:lnTo>
                  <a:lnTo>
                    <a:pt x="452361" y="79705"/>
                  </a:lnTo>
                  <a:lnTo>
                    <a:pt x="371436" y="102120"/>
                  </a:lnTo>
                  <a:lnTo>
                    <a:pt x="295897" y="136182"/>
                  </a:lnTo>
                  <a:lnTo>
                    <a:pt x="214058" y="175628"/>
                  </a:lnTo>
                  <a:lnTo>
                    <a:pt x="139407" y="215099"/>
                  </a:lnTo>
                  <a:lnTo>
                    <a:pt x="63868" y="266141"/>
                  </a:lnTo>
                  <a:lnTo>
                    <a:pt x="75539" y="283159"/>
                  </a:lnTo>
                  <a:lnTo>
                    <a:pt x="150190" y="237515"/>
                  </a:lnTo>
                  <a:lnTo>
                    <a:pt x="225717" y="192646"/>
                  </a:lnTo>
                  <a:lnTo>
                    <a:pt x="307568" y="158610"/>
                  </a:lnTo>
                  <a:lnTo>
                    <a:pt x="383108" y="124574"/>
                  </a:lnTo>
                  <a:lnTo>
                    <a:pt x="534212" y="79705"/>
                  </a:lnTo>
                  <a:lnTo>
                    <a:pt x="608863" y="56476"/>
                  </a:lnTo>
                  <a:lnTo>
                    <a:pt x="684390" y="45669"/>
                  </a:lnTo>
                  <a:lnTo>
                    <a:pt x="759929" y="34061"/>
                  </a:lnTo>
                  <a:lnTo>
                    <a:pt x="835494" y="28625"/>
                  </a:lnTo>
                  <a:lnTo>
                    <a:pt x="981176" y="28625"/>
                  </a:lnTo>
                  <a:lnTo>
                    <a:pt x="1120584" y="34061"/>
                  </a:lnTo>
                  <a:lnTo>
                    <a:pt x="1253680" y="51079"/>
                  </a:lnTo>
                  <a:lnTo>
                    <a:pt x="1381379" y="79705"/>
                  </a:lnTo>
                  <a:lnTo>
                    <a:pt x="1497406" y="107556"/>
                  </a:lnTo>
                  <a:lnTo>
                    <a:pt x="1601736" y="141592"/>
                  </a:lnTo>
                  <a:lnTo>
                    <a:pt x="1695259" y="175628"/>
                  </a:lnTo>
                  <a:lnTo>
                    <a:pt x="1846364" y="243725"/>
                  </a:lnTo>
                  <a:lnTo>
                    <a:pt x="1927288" y="288607"/>
                  </a:lnTo>
                  <a:lnTo>
                    <a:pt x="1938985" y="266141"/>
                  </a:lnTo>
                  <a:close/>
                </a:path>
                <a:path w="2287270" h="588645">
                  <a:moveTo>
                    <a:pt x="2287016" y="311023"/>
                  </a:moveTo>
                  <a:lnTo>
                    <a:pt x="2252827" y="243725"/>
                  </a:lnTo>
                  <a:lnTo>
                    <a:pt x="2217763" y="220510"/>
                  </a:lnTo>
                  <a:lnTo>
                    <a:pt x="2142223" y="203492"/>
                  </a:lnTo>
                  <a:lnTo>
                    <a:pt x="2107146" y="203492"/>
                  </a:lnTo>
                  <a:lnTo>
                    <a:pt x="2066683" y="209689"/>
                  </a:lnTo>
                  <a:lnTo>
                    <a:pt x="2031619" y="220510"/>
                  </a:lnTo>
                  <a:lnTo>
                    <a:pt x="2008212" y="237515"/>
                  </a:lnTo>
                  <a:lnTo>
                    <a:pt x="2019909" y="254533"/>
                  </a:lnTo>
                  <a:lnTo>
                    <a:pt x="2043277" y="243725"/>
                  </a:lnTo>
                  <a:lnTo>
                    <a:pt x="2072081" y="232117"/>
                  </a:lnTo>
                  <a:lnTo>
                    <a:pt x="2107146" y="226707"/>
                  </a:lnTo>
                  <a:lnTo>
                    <a:pt x="2142223" y="226707"/>
                  </a:lnTo>
                  <a:lnTo>
                    <a:pt x="2206091" y="243725"/>
                  </a:lnTo>
                  <a:lnTo>
                    <a:pt x="2252827" y="288607"/>
                  </a:lnTo>
                  <a:lnTo>
                    <a:pt x="2263648" y="317233"/>
                  </a:lnTo>
                  <a:lnTo>
                    <a:pt x="2263648" y="379120"/>
                  </a:lnTo>
                  <a:lnTo>
                    <a:pt x="2241169" y="430174"/>
                  </a:lnTo>
                  <a:lnTo>
                    <a:pt x="2206091" y="469646"/>
                  </a:lnTo>
                  <a:lnTo>
                    <a:pt x="2159317" y="486651"/>
                  </a:lnTo>
                  <a:lnTo>
                    <a:pt x="2130526" y="486651"/>
                  </a:lnTo>
                  <a:lnTo>
                    <a:pt x="2078393" y="458038"/>
                  </a:lnTo>
                  <a:lnTo>
                    <a:pt x="2031619" y="396138"/>
                  </a:lnTo>
                  <a:lnTo>
                    <a:pt x="2008212" y="345059"/>
                  </a:lnTo>
                  <a:lnTo>
                    <a:pt x="1996325" y="305727"/>
                  </a:lnTo>
                  <a:lnTo>
                    <a:pt x="1996541" y="305612"/>
                  </a:lnTo>
                  <a:lnTo>
                    <a:pt x="2002815" y="294005"/>
                  </a:lnTo>
                  <a:lnTo>
                    <a:pt x="1991156" y="283159"/>
                  </a:lnTo>
                  <a:lnTo>
                    <a:pt x="1979447" y="276987"/>
                  </a:lnTo>
                  <a:lnTo>
                    <a:pt x="1967750" y="283159"/>
                  </a:lnTo>
                  <a:lnTo>
                    <a:pt x="1962353" y="294005"/>
                  </a:lnTo>
                  <a:lnTo>
                    <a:pt x="1967750" y="305612"/>
                  </a:lnTo>
                  <a:lnTo>
                    <a:pt x="1972627" y="307086"/>
                  </a:lnTo>
                  <a:lnTo>
                    <a:pt x="1985721" y="356666"/>
                  </a:lnTo>
                  <a:lnTo>
                    <a:pt x="2008212" y="407746"/>
                  </a:lnTo>
                  <a:lnTo>
                    <a:pt x="2037892" y="447192"/>
                  </a:lnTo>
                  <a:lnTo>
                    <a:pt x="2066683" y="475043"/>
                  </a:lnTo>
                  <a:lnTo>
                    <a:pt x="2125129" y="509079"/>
                  </a:lnTo>
                  <a:lnTo>
                    <a:pt x="2159317" y="509079"/>
                  </a:lnTo>
                  <a:lnTo>
                    <a:pt x="2217763" y="486651"/>
                  </a:lnTo>
                  <a:lnTo>
                    <a:pt x="2263648" y="441020"/>
                  </a:lnTo>
                  <a:lnTo>
                    <a:pt x="2287016" y="384530"/>
                  </a:lnTo>
                  <a:lnTo>
                    <a:pt x="2287016" y="311023"/>
                  </a:lnTo>
                  <a:close/>
                </a:path>
              </a:pathLst>
            </a:custGeom>
            <a:solidFill>
              <a:srgbClr val="1F1A17"/>
            </a:solidFill>
          </p:spPr>
          <p:txBody>
            <a:bodyPr wrap="square" lIns="0" tIns="0" rIns="0" bIns="0" rtlCol="0"/>
            <a:lstStyle/>
            <a:p>
              <a:endParaRPr/>
            </a:p>
          </p:txBody>
        </p:sp>
        <p:sp>
          <p:nvSpPr>
            <p:cNvPr id="82" name="object 82"/>
            <p:cNvSpPr/>
            <p:nvPr/>
          </p:nvSpPr>
          <p:spPr>
            <a:xfrm>
              <a:off x="2753755" y="4388439"/>
              <a:ext cx="40640" cy="34290"/>
            </a:xfrm>
            <a:custGeom>
              <a:avLst/>
              <a:gdLst/>
              <a:ahLst/>
              <a:cxnLst/>
              <a:rect l="l" t="t" r="r" b="b"/>
              <a:pathLst>
                <a:path w="40639" h="34289">
                  <a:moveTo>
                    <a:pt x="34186" y="28625"/>
                  </a:moveTo>
                  <a:lnTo>
                    <a:pt x="23369" y="34064"/>
                  </a:lnTo>
                  <a:lnTo>
                    <a:pt x="5390" y="28625"/>
                  </a:lnTo>
                  <a:lnTo>
                    <a:pt x="0" y="17048"/>
                  </a:lnTo>
                  <a:lnTo>
                    <a:pt x="5390" y="6202"/>
                  </a:lnTo>
                  <a:lnTo>
                    <a:pt x="17093" y="0"/>
                  </a:lnTo>
                  <a:lnTo>
                    <a:pt x="28796" y="6202"/>
                  </a:lnTo>
                  <a:lnTo>
                    <a:pt x="40462" y="17048"/>
                  </a:lnTo>
                  <a:lnTo>
                    <a:pt x="34186" y="28625"/>
                  </a:lnTo>
                </a:path>
              </a:pathLst>
            </a:custGeom>
            <a:ln w="4958">
              <a:solidFill>
                <a:srgbClr val="1F1A17"/>
              </a:solidFill>
            </a:ln>
          </p:spPr>
          <p:txBody>
            <a:bodyPr wrap="square" lIns="0" tIns="0" rIns="0" bIns="0" rtlCol="0"/>
            <a:lstStyle/>
            <a:p>
              <a:endParaRPr/>
            </a:p>
          </p:txBody>
        </p:sp>
      </p:grpSp>
      <p:grpSp>
        <p:nvGrpSpPr>
          <p:cNvPr id="83" name="object 83"/>
          <p:cNvGrpSpPr/>
          <p:nvPr/>
        </p:nvGrpSpPr>
        <p:grpSpPr>
          <a:xfrm>
            <a:off x="2723187" y="6000811"/>
            <a:ext cx="319405" cy="379095"/>
            <a:chOff x="2723187" y="6000811"/>
            <a:chExt cx="319405" cy="379095"/>
          </a:xfrm>
        </p:grpSpPr>
        <p:sp>
          <p:nvSpPr>
            <p:cNvPr id="84" name="object 84"/>
            <p:cNvSpPr/>
            <p:nvPr/>
          </p:nvSpPr>
          <p:spPr>
            <a:xfrm>
              <a:off x="2723184" y="6000813"/>
              <a:ext cx="319405" cy="379730"/>
            </a:xfrm>
            <a:custGeom>
              <a:avLst/>
              <a:gdLst/>
              <a:ahLst/>
              <a:cxnLst/>
              <a:rect l="l" t="t" r="r" b="b"/>
              <a:pathLst>
                <a:path w="319405" h="379729">
                  <a:moveTo>
                    <a:pt x="319265" y="198069"/>
                  </a:moveTo>
                  <a:lnTo>
                    <a:pt x="290474" y="129984"/>
                  </a:lnTo>
                  <a:lnTo>
                    <a:pt x="232918" y="85102"/>
                  </a:lnTo>
                  <a:lnTo>
                    <a:pt x="157378" y="68072"/>
                  </a:lnTo>
                  <a:lnTo>
                    <a:pt x="115989" y="68072"/>
                  </a:lnTo>
                  <a:lnTo>
                    <a:pt x="81838" y="73507"/>
                  </a:lnTo>
                  <a:lnTo>
                    <a:pt x="67983" y="78917"/>
                  </a:lnTo>
                  <a:lnTo>
                    <a:pt x="105219" y="11607"/>
                  </a:lnTo>
                  <a:lnTo>
                    <a:pt x="93510" y="6172"/>
                  </a:lnTo>
                  <a:lnTo>
                    <a:pt x="81838" y="0"/>
                  </a:lnTo>
                  <a:lnTo>
                    <a:pt x="35064" y="102133"/>
                  </a:lnTo>
                  <a:lnTo>
                    <a:pt x="23368" y="112953"/>
                  </a:lnTo>
                  <a:lnTo>
                    <a:pt x="41338" y="119151"/>
                  </a:lnTo>
                  <a:lnTo>
                    <a:pt x="157378" y="119151"/>
                  </a:lnTo>
                  <a:lnTo>
                    <a:pt x="157378" y="96710"/>
                  </a:lnTo>
                  <a:lnTo>
                    <a:pt x="106692" y="93878"/>
                  </a:lnTo>
                  <a:lnTo>
                    <a:pt x="122301" y="90525"/>
                  </a:lnTo>
                  <a:lnTo>
                    <a:pt x="157378" y="90525"/>
                  </a:lnTo>
                  <a:lnTo>
                    <a:pt x="191566" y="96710"/>
                  </a:lnTo>
                  <a:lnTo>
                    <a:pt x="250012" y="119151"/>
                  </a:lnTo>
                  <a:lnTo>
                    <a:pt x="290474" y="170205"/>
                  </a:lnTo>
                  <a:lnTo>
                    <a:pt x="296786" y="203479"/>
                  </a:lnTo>
                  <a:lnTo>
                    <a:pt x="290474" y="232105"/>
                  </a:lnTo>
                  <a:lnTo>
                    <a:pt x="285076" y="259956"/>
                  </a:lnTo>
                  <a:lnTo>
                    <a:pt x="255397" y="311023"/>
                  </a:lnTo>
                  <a:lnTo>
                    <a:pt x="214934" y="345059"/>
                  </a:lnTo>
                  <a:lnTo>
                    <a:pt x="191566" y="350481"/>
                  </a:lnTo>
                  <a:lnTo>
                    <a:pt x="139395" y="350481"/>
                  </a:lnTo>
                  <a:lnTo>
                    <a:pt x="93510" y="317207"/>
                  </a:lnTo>
                  <a:lnTo>
                    <a:pt x="52158" y="249123"/>
                  </a:lnTo>
                  <a:lnTo>
                    <a:pt x="41338" y="198069"/>
                  </a:lnTo>
                  <a:lnTo>
                    <a:pt x="36880" y="149809"/>
                  </a:lnTo>
                  <a:lnTo>
                    <a:pt x="41338" y="141579"/>
                  </a:lnTo>
                  <a:lnTo>
                    <a:pt x="35064" y="129984"/>
                  </a:lnTo>
                  <a:lnTo>
                    <a:pt x="17970" y="119151"/>
                  </a:lnTo>
                  <a:lnTo>
                    <a:pt x="6273" y="124561"/>
                  </a:lnTo>
                  <a:lnTo>
                    <a:pt x="0" y="136169"/>
                  </a:lnTo>
                  <a:lnTo>
                    <a:pt x="6273" y="153187"/>
                  </a:lnTo>
                  <a:lnTo>
                    <a:pt x="13766" y="156667"/>
                  </a:lnTo>
                  <a:lnTo>
                    <a:pt x="17970" y="198069"/>
                  </a:lnTo>
                  <a:lnTo>
                    <a:pt x="29679" y="254546"/>
                  </a:lnTo>
                  <a:lnTo>
                    <a:pt x="52158" y="300189"/>
                  </a:lnTo>
                  <a:lnTo>
                    <a:pt x="75526" y="334225"/>
                  </a:lnTo>
                  <a:lnTo>
                    <a:pt x="134010" y="373684"/>
                  </a:lnTo>
                  <a:lnTo>
                    <a:pt x="162763" y="379107"/>
                  </a:lnTo>
                  <a:lnTo>
                    <a:pt x="197840" y="373684"/>
                  </a:lnTo>
                  <a:lnTo>
                    <a:pt x="273380" y="328041"/>
                  </a:lnTo>
                  <a:lnTo>
                    <a:pt x="308444" y="271564"/>
                  </a:lnTo>
                  <a:lnTo>
                    <a:pt x="319265" y="237528"/>
                  </a:lnTo>
                  <a:lnTo>
                    <a:pt x="319265" y="198069"/>
                  </a:lnTo>
                  <a:close/>
                </a:path>
              </a:pathLst>
            </a:custGeom>
            <a:solidFill>
              <a:srgbClr val="1F1A17"/>
            </a:solidFill>
          </p:spPr>
          <p:txBody>
            <a:bodyPr wrap="square" lIns="0" tIns="0" rIns="0" bIns="0" rtlCol="0"/>
            <a:lstStyle/>
            <a:p>
              <a:endParaRPr/>
            </a:p>
          </p:txBody>
        </p:sp>
        <p:sp>
          <p:nvSpPr>
            <p:cNvPr id="85" name="object 85"/>
            <p:cNvSpPr/>
            <p:nvPr/>
          </p:nvSpPr>
          <p:spPr>
            <a:xfrm>
              <a:off x="2735776" y="6130786"/>
              <a:ext cx="41910" cy="40005"/>
            </a:xfrm>
            <a:custGeom>
              <a:avLst/>
              <a:gdLst/>
              <a:ahLst/>
              <a:cxnLst/>
              <a:rect l="l" t="t" r="r" b="b"/>
              <a:pathLst>
                <a:path w="41910" h="40004">
                  <a:moveTo>
                    <a:pt x="35072" y="34041"/>
                  </a:moveTo>
                  <a:lnTo>
                    <a:pt x="17979" y="39458"/>
                  </a:lnTo>
                  <a:lnTo>
                    <a:pt x="6276" y="34041"/>
                  </a:lnTo>
                  <a:lnTo>
                    <a:pt x="0" y="17022"/>
                  </a:lnTo>
                  <a:lnTo>
                    <a:pt x="6276" y="5416"/>
                  </a:lnTo>
                  <a:lnTo>
                    <a:pt x="17979" y="0"/>
                  </a:lnTo>
                  <a:lnTo>
                    <a:pt x="35072" y="10829"/>
                  </a:lnTo>
                  <a:lnTo>
                    <a:pt x="41348" y="22435"/>
                  </a:lnTo>
                  <a:lnTo>
                    <a:pt x="35072" y="34041"/>
                  </a:lnTo>
                </a:path>
              </a:pathLst>
            </a:custGeom>
            <a:ln w="5004">
              <a:solidFill>
                <a:srgbClr val="1F1A17"/>
              </a:solidFill>
            </a:ln>
          </p:spPr>
          <p:txBody>
            <a:bodyPr wrap="square" lIns="0" tIns="0" rIns="0" bIns="0" rtlCol="0"/>
            <a:lstStyle/>
            <a:p>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0570" y="304800"/>
            <a:ext cx="6347713" cy="1320800"/>
          </a:xfrm>
          <a:prstGeom prst="rect">
            <a:avLst/>
          </a:prstGeom>
        </p:spPr>
        <p:txBody>
          <a:bodyPr vert="horz" wrap="square" lIns="0" tIns="12065" rIns="0" bIns="0" rtlCol="0">
            <a:spAutoFit/>
          </a:bodyPr>
          <a:lstStyle/>
          <a:p>
            <a:pPr marL="57785">
              <a:lnSpc>
                <a:spcPct val="100000"/>
              </a:lnSpc>
              <a:spcBef>
                <a:spcPts val="95"/>
              </a:spcBef>
            </a:pPr>
            <a:r>
              <a:rPr sz="3200" dirty="0"/>
              <a:t>GRAPH</a:t>
            </a:r>
            <a:r>
              <a:rPr sz="3200" spc="-60" dirty="0"/>
              <a:t> </a:t>
            </a:r>
            <a:r>
              <a:rPr sz="3200" dirty="0"/>
              <a:t>OF</a:t>
            </a:r>
            <a:r>
              <a:rPr sz="3200" spc="-220" dirty="0"/>
              <a:t> </a:t>
            </a:r>
            <a:r>
              <a:rPr sz="3200" dirty="0"/>
              <a:t>A</a:t>
            </a:r>
            <a:r>
              <a:rPr sz="3200" spc="-220" dirty="0"/>
              <a:t> </a:t>
            </a:r>
            <a:r>
              <a:rPr sz="3200" dirty="0"/>
              <a:t>SYMMETRIC</a:t>
            </a:r>
            <a:r>
              <a:rPr sz="3200" spc="-25" dirty="0"/>
              <a:t> </a:t>
            </a:r>
            <a:r>
              <a:rPr sz="3200" spc="-20" dirty="0"/>
              <a:t>RELATION</a:t>
            </a:r>
            <a:endParaRPr sz="3200" dirty="0"/>
          </a:p>
        </p:txBody>
      </p:sp>
      <p:sp>
        <p:nvSpPr>
          <p:cNvPr id="3" name="object 3"/>
          <p:cNvSpPr txBox="1"/>
          <p:nvPr/>
        </p:nvSpPr>
        <p:spPr>
          <a:xfrm>
            <a:off x="269240" y="863600"/>
            <a:ext cx="6810375" cy="3978012"/>
          </a:xfrm>
          <a:prstGeom prst="rect">
            <a:avLst/>
          </a:prstGeom>
        </p:spPr>
        <p:txBody>
          <a:bodyPr vert="horz" wrap="square" lIns="0" tIns="12700" rIns="0" bIns="0" rtlCol="0">
            <a:spAutoFit/>
          </a:bodyPr>
          <a:lstStyle/>
          <a:p>
            <a:pPr marL="50800" marR="17780">
              <a:lnSpc>
                <a:spcPct val="100000"/>
              </a:lnSpc>
              <a:spcBef>
                <a:spcPts val="100"/>
              </a:spcBef>
            </a:pPr>
            <a:r>
              <a:rPr sz="1800" b="1" dirty="0">
                <a:solidFill>
                  <a:srgbClr val="00AFEF"/>
                </a:solidFill>
                <a:latin typeface="Times New Roman"/>
                <a:cs typeface="Times New Roman"/>
              </a:rPr>
              <a:t>For</a:t>
            </a:r>
            <a:r>
              <a:rPr sz="1800" b="1" spc="-70"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30" dirty="0">
                <a:solidFill>
                  <a:srgbClr val="00AFEF"/>
                </a:solidFill>
                <a:latin typeface="Times New Roman"/>
                <a:cs typeface="Times New Roman"/>
              </a:rPr>
              <a:t> </a:t>
            </a:r>
            <a:r>
              <a:rPr sz="1800" b="1" dirty="0">
                <a:solidFill>
                  <a:srgbClr val="00AFEF"/>
                </a:solidFill>
                <a:latin typeface="Times New Roman"/>
                <a:cs typeface="Times New Roman"/>
              </a:rPr>
              <a:t>symmetric</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directed</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graph</a:t>
            </a:r>
            <a:r>
              <a:rPr sz="1800" b="1" spc="-35" dirty="0">
                <a:solidFill>
                  <a:srgbClr val="00AFEF"/>
                </a:solidFill>
                <a:latin typeface="Times New Roman"/>
                <a:cs typeface="Times New Roman"/>
              </a:rPr>
              <a:t> </a:t>
            </a:r>
            <a:r>
              <a:rPr sz="1800" b="1" spc="-10" dirty="0">
                <a:solidFill>
                  <a:srgbClr val="00AFEF"/>
                </a:solidFill>
                <a:latin typeface="Times New Roman"/>
                <a:cs typeface="Times New Roman"/>
              </a:rPr>
              <a:t>whenever</a:t>
            </a:r>
            <a:r>
              <a:rPr sz="1800" b="1" spc="-70" dirty="0">
                <a:solidFill>
                  <a:srgbClr val="00AFEF"/>
                </a:solidFill>
                <a:latin typeface="Times New Roman"/>
                <a:cs typeface="Times New Roman"/>
              </a:rPr>
              <a:t> </a:t>
            </a:r>
            <a:r>
              <a:rPr sz="1800" b="1" dirty="0">
                <a:solidFill>
                  <a:srgbClr val="00AFEF"/>
                </a:solidFill>
                <a:latin typeface="Times New Roman"/>
                <a:cs typeface="Times New Roman"/>
              </a:rPr>
              <a:t>there</a:t>
            </a:r>
            <a:r>
              <a:rPr sz="1800" b="1" spc="-30" dirty="0">
                <a:solidFill>
                  <a:srgbClr val="00AFEF"/>
                </a:solidFill>
                <a:latin typeface="Times New Roman"/>
                <a:cs typeface="Times New Roman"/>
              </a:rPr>
              <a:t> </a:t>
            </a:r>
            <a:r>
              <a:rPr sz="1800" b="1" dirty="0">
                <a:solidFill>
                  <a:srgbClr val="00AFEF"/>
                </a:solidFill>
                <a:latin typeface="Times New Roman"/>
                <a:cs typeface="Times New Roman"/>
              </a:rPr>
              <a:t>is</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an</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arrow</a:t>
            </a:r>
            <a:r>
              <a:rPr sz="1800" b="1" spc="-35" dirty="0">
                <a:solidFill>
                  <a:srgbClr val="00AFEF"/>
                </a:solidFill>
                <a:latin typeface="Times New Roman"/>
                <a:cs typeface="Times New Roman"/>
              </a:rPr>
              <a:t> </a:t>
            </a:r>
            <a:r>
              <a:rPr sz="1800" b="1" spc="-10" dirty="0">
                <a:solidFill>
                  <a:srgbClr val="00AFEF"/>
                </a:solidFill>
                <a:latin typeface="Times New Roman"/>
                <a:cs typeface="Times New Roman"/>
              </a:rPr>
              <a:t>going </a:t>
            </a:r>
            <a:r>
              <a:rPr sz="1800" b="1" dirty="0">
                <a:solidFill>
                  <a:srgbClr val="00AFEF"/>
                </a:solidFill>
                <a:latin typeface="Times New Roman"/>
                <a:cs typeface="Times New Roman"/>
              </a:rPr>
              <a:t>from</a:t>
            </a:r>
            <a:r>
              <a:rPr sz="1800" b="1" spc="-25" dirty="0">
                <a:solidFill>
                  <a:srgbClr val="00AFEF"/>
                </a:solidFill>
                <a:latin typeface="Times New Roman"/>
                <a:cs typeface="Times New Roman"/>
              </a:rPr>
              <a:t> </a:t>
            </a:r>
            <a:r>
              <a:rPr sz="1800" b="1" dirty="0">
                <a:solidFill>
                  <a:srgbClr val="C00000"/>
                </a:solidFill>
                <a:latin typeface="Times New Roman"/>
                <a:cs typeface="Times New Roman"/>
              </a:rPr>
              <a:t>one</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point</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of</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the</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graph</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to</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a</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second,</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there</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is</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an</a:t>
            </a:r>
            <a:r>
              <a:rPr sz="1800" b="1" spc="-20" dirty="0">
                <a:solidFill>
                  <a:srgbClr val="C00000"/>
                </a:solidFill>
                <a:latin typeface="Times New Roman"/>
                <a:cs typeface="Times New Roman"/>
              </a:rPr>
              <a:t> </a:t>
            </a:r>
            <a:r>
              <a:rPr sz="1800" b="1" dirty="0">
                <a:solidFill>
                  <a:srgbClr val="C00000"/>
                </a:solidFill>
                <a:latin typeface="Times New Roman"/>
                <a:cs typeface="Times New Roman"/>
              </a:rPr>
              <a:t>arrow</a:t>
            </a:r>
            <a:r>
              <a:rPr sz="1800" b="1" spc="-25" dirty="0">
                <a:solidFill>
                  <a:srgbClr val="C00000"/>
                </a:solidFill>
                <a:latin typeface="Times New Roman"/>
                <a:cs typeface="Times New Roman"/>
              </a:rPr>
              <a:t> </a:t>
            </a:r>
            <a:r>
              <a:rPr sz="1800" b="1" dirty="0">
                <a:solidFill>
                  <a:srgbClr val="C00000"/>
                </a:solidFill>
                <a:latin typeface="Times New Roman"/>
                <a:cs typeface="Times New Roman"/>
              </a:rPr>
              <a:t>going</a:t>
            </a:r>
            <a:r>
              <a:rPr sz="1800" b="1" spc="-20" dirty="0">
                <a:solidFill>
                  <a:srgbClr val="C00000"/>
                </a:solidFill>
                <a:latin typeface="Times New Roman"/>
                <a:cs typeface="Times New Roman"/>
              </a:rPr>
              <a:t> from </a:t>
            </a:r>
            <a:r>
              <a:rPr sz="1800" b="1" dirty="0">
                <a:solidFill>
                  <a:srgbClr val="C00000"/>
                </a:solidFill>
                <a:latin typeface="Times New Roman"/>
                <a:cs typeface="Times New Roman"/>
              </a:rPr>
              <a:t>the</a:t>
            </a:r>
            <a:r>
              <a:rPr sz="1800" b="1" spc="-15" dirty="0">
                <a:solidFill>
                  <a:srgbClr val="C00000"/>
                </a:solidFill>
                <a:latin typeface="Times New Roman"/>
                <a:cs typeface="Times New Roman"/>
              </a:rPr>
              <a:t> </a:t>
            </a:r>
            <a:r>
              <a:rPr sz="1800" b="1" dirty="0">
                <a:solidFill>
                  <a:srgbClr val="C00000"/>
                </a:solidFill>
                <a:latin typeface="Times New Roman"/>
                <a:cs typeface="Times New Roman"/>
              </a:rPr>
              <a:t>second</a:t>
            </a:r>
            <a:r>
              <a:rPr sz="1800" b="1" spc="-10" dirty="0">
                <a:solidFill>
                  <a:srgbClr val="C00000"/>
                </a:solidFill>
                <a:latin typeface="Times New Roman"/>
                <a:cs typeface="Times New Roman"/>
              </a:rPr>
              <a:t> </a:t>
            </a:r>
            <a:r>
              <a:rPr sz="1800" b="1" dirty="0">
                <a:solidFill>
                  <a:srgbClr val="C00000"/>
                </a:solidFill>
                <a:latin typeface="Times New Roman"/>
                <a:cs typeface="Times New Roman"/>
              </a:rPr>
              <a:t>point</a:t>
            </a:r>
            <a:r>
              <a:rPr sz="1800" b="1" spc="-10" dirty="0">
                <a:solidFill>
                  <a:srgbClr val="C00000"/>
                </a:solidFill>
                <a:latin typeface="Times New Roman"/>
                <a:cs typeface="Times New Roman"/>
              </a:rPr>
              <a:t> </a:t>
            </a:r>
            <a:r>
              <a:rPr sz="1800" b="1" dirty="0">
                <a:solidFill>
                  <a:srgbClr val="C00000"/>
                </a:solidFill>
                <a:latin typeface="Times New Roman"/>
                <a:cs typeface="Times New Roman"/>
              </a:rPr>
              <a:t>back</a:t>
            </a:r>
            <a:r>
              <a:rPr sz="1800" b="1" spc="-10" dirty="0">
                <a:solidFill>
                  <a:srgbClr val="C00000"/>
                </a:solidFill>
                <a:latin typeface="Times New Roman"/>
                <a:cs typeface="Times New Roman"/>
              </a:rPr>
              <a:t> </a:t>
            </a:r>
            <a:r>
              <a:rPr sz="1800" b="1" dirty="0">
                <a:solidFill>
                  <a:srgbClr val="C00000"/>
                </a:solidFill>
                <a:latin typeface="Times New Roman"/>
                <a:cs typeface="Times New Roman"/>
              </a:rPr>
              <a:t>to</a:t>
            </a:r>
            <a:r>
              <a:rPr sz="1800" b="1" spc="-10" dirty="0">
                <a:solidFill>
                  <a:srgbClr val="C00000"/>
                </a:solidFill>
                <a:latin typeface="Times New Roman"/>
                <a:cs typeface="Times New Roman"/>
              </a:rPr>
              <a:t> </a:t>
            </a:r>
            <a:r>
              <a:rPr sz="1800" b="1" dirty="0">
                <a:solidFill>
                  <a:srgbClr val="C00000"/>
                </a:solidFill>
                <a:latin typeface="Times New Roman"/>
                <a:cs typeface="Times New Roman"/>
              </a:rPr>
              <a:t>the</a:t>
            </a:r>
            <a:r>
              <a:rPr sz="1800" b="1" spc="-10" dirty="0">
                <a:solidFill>
                  <a:srgbClr val="C00000"/>
                </a:solidFill>
                <a:latin typeface="Times New Roman"/>
                <a:cs typeface="Times New Roman"/>
              </a:rPr>
              <a:t> first.</a:t>
            </a:r>
            <a:endParaRPr sz="1800" dirty="0">
              <a:solidFill>
                <a:srgbClr val="C00000"/>
              </a:solidFill>
              <a:latin typeface="Times New Roman"/>
              <a:cs typeface="Times New Roman"/>
            </a:endParaRPr>
          </a:p>
          <a:p>
            <a:pPr>
              <a:lnSpc>
                <a:spcPct val="100000"/>
              </a:lnSpc>
            </a:pPr>
            <a:endParaRPr sz="1800" dirty="0">
              <a:latin typeface="Times New Roman"/>
              <a:cs typeface="Times New Roman"/>
            </a:endParaRPr>
          </a:p>
          <a:p>
            <a:pPr>
              <a:lnSpc>
                <a:spcPct val="100000"/>
              </a:lnSpc>
              <a:spcBef>
                <a:spcPts val="20"/>
              </a:spcBef>
            </a:pPr>
            <a:endParaRPr sz="1800" dirty="0">
              <a:latin typeface="Times New Roman"/>
              <a:cs typeface="Times New Roman"/>
            </a:endParaRPr>
          </a:p>
          <a:p>
            <a:pPr marL="50800">
              <a:lnSpc>
                <a:spcPct val="100000"/>
              </a:lnSpc>
            </a:pPr>
            <a:r>
              <a:rPr sz="1800" b="1" dirty="0">
                <a:solidFill>
                  <a:srgbClr val="90C225"/>
                </a:solidFill>
                <a:latin typeface="Times New Roman"/>
                <a:cs typeface="Times New Roman"/>
              </a:rPr>
              <a:t>EXAMPLE </a:t>
            </a:r>
            <a:r>
              <a:rPr sz="1800" b="1" spc="-50" dirty="0">
                <a:solidFill>
                  <a:srgbClr val="90C225"/>
                </a:solidFill>
                <a:latin typeface="Times New Roman"/>
                <a:cs typeface="Times New Roman"/>
              </a:rPr>
              <a:t>S</a:t>
            </a:r>
            <a:endParaRPr sz="1800" dirty="0">
              <a:latin typeface="Times New Roman"/>
              <a:cs typeface="Times New Roman"/>
            </a:endParaRPr>
          </a:p>
          <a:p>
            <a:pPr marL="50800" marR="125095">
              <a:lnSpc>
                <a:spcPct val="100000"/>
              </a:lnSpc>
              <a:spcBef>
                <a:spcPts val="1000"/>
              </a:spcBef>
            </a:pPr>
            <a:r>
              <a:rPr sz="1800" b="1" spc="-10" dirty="0">
                <a:solidFill>
                  <a:srgbClr val="404040"/>
                </a:solidFill>
                <a:latin typeface="Times New Roman"/>
                <a:cs typeface="Times New Roman"/>
              </a:rPr>
              <a:t>Let</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define</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relations</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5"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4</a:t>
            </a:r>
            <a:r>
              <a:rPr sz="1800" b="1" dirty="0">
                <a:solidFill>
                  <a:srgbClr val="404040"/>
                </a:solidFill>
                <a:latin typeface="Times New Roman"/>
                <a:cs typeface="Times New Roman"/>
              </a:rPr>
              <a:t>on</a:t>
            </a:r>
            <a:r>
              <a:rPr sz="1800" b="1" spc="-114"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by</a:t>
            </a:r>
            <a:r>
              <a:rPr sz="1800" b="1" spc="-10" dirty="0">
                <a:solidFill>
                  <a:srgbClr val="404040"/>
                </a:solidFill>
                <a:latin typeface="Times New Roman"/>
                <a:cs typeface="Times New Roman"/>
              </a:rPr>
              <a:t> </a:t>
            </a:r>
            <a:r>
              <a:rPr sz="1800" b="1" spc="-25" dirty="0">
                <a:solidFill>
                  <a:srgbClr val="404040"/>
                </a:solidFill>
                <a:latin typeface="Times New Roman"/>
                <a:cs typeface="Times New Roman"/>
              </a:rPr>
              <a:t>the </a:t>
            </a:r>
            <a:r>
              <a:rPr sz="1800" b="1" dirty="0">
                <a:solidFill>
                  <a:srgbClr val="404040"/>
                </a:solidFill>
                <a:latin typeface="Times New Roman"/>
                <a:cs typeface="Times New Roman"/>
              </a:rPr>
              <a:t>directed</a:t>
            </a:r>
            <a:r>
              <a:rPr sz="1800" b="1" spc="-75" dirty="0">
                <a:solidFill>
                  <a:srgbClr val="404040"/>
                </a:solidFill>
                <a:latin typeface="Times New Roman"/>
                <a:cs typeface="Times New Roman"/>
              </a:rPr>
              <a:t> </a:t>
            </a:r>
            <a:r>
              <a:rPr sz="1800" b="1" spc="-10" dirty="0">
                <a:solidFill>
                  <a:srgbClr val="404040"/>
                </a:solidFill>
                <a:latin typeface="Times New Roman"/>
                <a:cs typeface="Times New Roman"/>
              </a:rPr>
              <a:t>graphs:</a:t>
            </a:r>
            <a:endParaRPr sz="1800" dirty="0">
              <a:latin typeface="Times New Roman"/>
              <a:cs typeface="Times New Roman"/>
            </a:endParaRPr>
          </a:p>
          <a:p>
            <a:pPr marL="50800">
              <a:lnSpc>
                <a:spcPct val="100000"/>
              </a:lnSpc>
              <a:spcBef>
                <a:spcPts val="994"/>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spc="195"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spc="-10" dirty="0">
                <a:solidFill>
                  <a:srgbClr val="404040"/>
                </a:solidFill>
                <a:latin typeface="Times New Roman"/>
                <a:cs typeface="Times New Roman"/>
              </a:rPr>
              <a:t>(4,2)}</a:t>
            </a:r>
            <a:endParaRPr sz="1800" dirty="0">
              <a:latin typeface="Times New Roman"/>
              <a:cs typeface="Times New Roman"/>
            </a:endParaRPr>
          </a:p>
          <a:p>
            <a:pPr marL="508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spc="195"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5"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dirty="0">
              <a:latin typeface="Times New Roman"/>
              <a:cs typeface="Times New Roman"/>
            </a:endParaRPr>
          </a:p>
          <a:p>
            <a:pPr marL="508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spc="195"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dirty="0">
              <a:latin typeface="Times New Roman"/>
              <a:cs typeface="Times New Roman"/>
            </a:endParaRPr>
          </a:p>
          <a:p>
            <a:pPr marL="50800">
              <a:lnSpc>
                <a:spcPct val="100000"/>
              </a:lnSpc>
              <a:spcBef>
                <a:spcPts val="994"/>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4</a:t>
            </a:r>
            <a:r>
              <a:rPr sz="1800" b="1" dirty="0">
                <a:solidFill>
                  <a:srgbClr val="404040"/>
                </a:solidFill>
                <a:latin typeface="Times New Roman"/>
                <a:cs typeface="Times New Roman"/>
              </a:rPr>
              <a:t>=</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spc="-25" dirty="0">
                <a:solidFill>
                  <a:srgbClr val="404040"/>
                </a:solidFill>
                <a:latin typeface="Times New Roman"/>
                <a:cs typeface="Times New Roman"/>
              </a:rPr>
              <a:t>4)}</a:t>
            </a:r>
            <a:endParaRPr sz="1800" dirty="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39148" y="3433851"/>
            <a:ext cx="255270" cy="274955"/>
          </a:xfrm>
          <a:custGeom>
            <a:avLst/>
            <a:gdLst/>
            <a:ahLst/>
            <a:cxnLst/>
            <a:rect l="l" t="t" r="r" b="b"/>
            <a:pathLst>
              <a:path w="255269" h="274954">
                <a:moveTo>
                  <a:pt x="254939" y="92989"/>
                </a:moveTo>
                <a:lnTo>
                  <a:pt x="240258" y="42278"/>
                </a:lnTo>
                <a:lnTo>
                  <a:pt x="200875" y="12687"/>
                </a:lnTo>
                <a:lnTo>
                  <a:pt x="152196" y="0"/>
                </a:lnTo>
                <a:lnTo>
                  <a:pt x="127457" y="0"/>
                </a:lnTo>
                <a:lnTo>
                  <a:pt x="73380" y="12687"/>
                </a:lnTo>
                <a:lnTo>
                  <a:pt x="24739" y="46494"/>
                </a:lnTo>
                <a:lnTo>
                  <a:pt x="0" y="97243"/>
                </a:lnTo>
                <a:lnTo>
                  <a:pt x="0" y="126834"/>
                </a:lnTo>
                <a:lnTo>
                  <a:pt x="24739" y="177546"/>
                </a:lnTo>
                <a:lnTo>
                  <a:pt x="73380" y="219824"/>
                </a:lnTo>
                <a:lnTo>
                  <a:pt x="110617" y="236791"/>
                </a:lnTo>
                <a:lnTo>
                  <a:pt x="44043" y="257860"/>
                </a:lnTo>
                <a:lnTo>
                  <a:pt x="48679" y="266331"/>
                </a:lnTo>
                <a:lnTo>
                  <a:pt x="54063" y="274764"/>
                </a:lnTo>
                <a:lnTo>
                  <a:pt x="142138" y="245173"/>
                </a:lnTo>
                <a:lnTo>
                  <a:pt x="156819" y="236740"/>
                </a:lnTo>
                <a:lnTo>
                  <a:pt x="146773" y="228269"/>
                </a:lnTo>
                <a:lnTo>
                  <a:pt x="78016" y="169087"/>
                </a:lnTo>
                <a:lnTo>
                  <a:pt x="63360" y="181775"/>
                </a:lnTo>
                <a:lnTo>
                  <a:pt x="99009" y="212471"/>
                </a:lnTo>
                <a:lnTo>
                  <a:pt x="83439" y="207149"/>
                </a:lnTo>
                <a:lnTo>
                  <a:pt x="63360" y="190233"/>
                </a:lnTo>
                <a:lnTo>
                  <a:pt x="44043" y="169087"/>
                </a:lnTo>
                <a:lnTo>
                  <a:pt x="29362" y="147955"/>
                </a:lnTo>
                <a:lnTo>
                  <a:pt x="19316" y="122593"/>
                </a:lnTo>
                <a:lnTo>
                  <a:pt x="19316" y="101460"/>
                </a:lnTo>
                <a:lnTo>
                  <a:pt x="39382" y="59182"/>
                </a:lnTo>
                <a:lnTo>
                  <a:pt x="83439" y="29591"/>
                </a:lnTo>
                <a:lnTo>
                  <a:pt x="127457" y="16929"/>
                </a:lnTo>
                <a:lnTo>
                  <a:pt x="152196" y="16929"/>
                </a:lnTo>
                <a:lnTo>
                  <a:pt x="190817" y="25374"/>
                </a:lnTo>
                <a:lnTo>
                  <a:pt x="220954" y="50736"/>
                </a:lnTo>
                <a:lnTo>
                  <a:pt x="235635" y="92989"/>
                </a:lnTo>
                <a:lnTo>
                  <a:pt x="230212" y="118364"/>
                </a:lnTo>
                <a:lnTo>
                  <a:pt x="215557" y="152184"/>
                </a:lnTo>
                <a:lnTo>
                  <a:pt x="196240" y="186016"/>
                </a:lnTo>
                <a:lnTo>
                  <a:pt x="161455" y="224053"/>
                </a:lnTo>
                <a:lnTo>
                  <a:pt x="181559" y="236740"/>
                </a:lnTo>
                <a:lnTo>
                  <a:pt x="210896" y="194462"/>
                </a:lnTo>
                <a:lnTo>
                  <a:pt x="235635" y="156425"/>
                </a:lnTo>
                <a:lnTo>
                  <a:pt x="250317" y="122593"/>
                </a:lnTo>
                <a:lnTo>
                  <a:pt x="254939" y="92989"/>
                </a:lnTo>
                <a:close/>
              </a:path>
            </a:pathLst>
          </a:custGeom>
          <a:solidFill>
            <a:srgbClr val="1F1A17"/>
          </a:solidFill>
        </p:spPr>
        <p:txBody>
          <a:bodyPr wrap="square" lIns="0" tIns="0" rIns="0" bIns="0" rtlCol="0"/>
          <a:lstStyle/>
          <a:p>
            <a:endParaRPr/>
          </a:p>
        </p:txBody>
      </p:sp>
      <p:grpSp>
        <p:nvGrpSpPr>
          <p:cNvPr id="3" name="object 3"/>
          <p:cNvGrpSpPr/>
          <p:nvPr/>
        </p:nvGrpSpPr>
        <p:grpSpPr>
          <a:xfrm>
            <a:off x="819783" y="3471900"/>
            <a:ext cx="42545" cy="40640"/>
            <a:chOff x="819783" y="3471900"/>
            <a:chExt cx="42545" cy="40640"/>
          </a:xfrm>
        </p:grpSpPr>
        <p:sp>
          <p:nvSpPr>
            <p:cNvPr id="4" name="object 4"/>
            <p:cNvSpPr/>
            <p:nvPr/>
          </p:nvSpPr>
          <p:spPr>
            <a:xfrm>
              <a:off x="819783" y="3471900"/>
              <a:ext cx="29845" cy="29845"/>
            </a:xfrm>
            <a:custGeom>
              <a:avLst/>
              <a:gdLst/>
              <a:ahLst/>
              <a:cxnLst/>
              <a:rect l="l" t="t" r="r" b="b"/>
              <a:pathLst>
                <a:path w="29844" h="29845">
                  <a:moveTo>
                    <a:pt x="14677" y="0"/>
                  </a:moveTo>
                  <a:lnTo>
                    <a:pt x="0" y="4220"/>
                  </a:lnTo>
                  <a:lnTo>
                    <a:pt x="0" y="25371"/>
                  </a:lnTo>
                  <a:lnTo>
                    <a:pt x="14677" y="29592"/>
                  </a:lnTo>
                  <a:lnTo>
                    <a:pt x="24721" y="25371"/>
                  </a:lnTo>
                  <a:lnTo>
                    <a:pt x="29357" y="16906"/>
                  </a:lnTo>
                  <a:lnTo>
                    <a:pt x="24721" y="4220"/>
                  </a:lnTo>
                  <a:lnTo>
                    <a:pt x="14677" y="0"/>
                  </a:lnTo>
                  <a:close/>
                </a:path>
              </a:pathLst>
            </a:custGeom>
            <a:solidFill>
              <a:srgbClr val="1F1A17"/>
            </a:solidFill>
          </p:spPr>
          <p:txBody>
            <a:bodyPr wrap="square" lIns="0" tIns="0" rIns="0" bIns="0" rtlCol="0"/>
            <a:lstStyle/>
            <a:p>
              <a:endParaRPr/>
            </a:p>
          </p:txBody>
        </p:sp>
        <p:sp>
          <p:nvSpPr>
            <p:cNvPr id="5" name="object 5"/>
            <p:cNvSpPr/>
            <p:nvPr/>
          </p:nvSpPr>
          <p:spPr>
            <a:xfrm>
              <a:off x="830597" y="3480341"/>
              <a:ext cx="29845" cy="29845"/>
            </a:xfrm>
            <a:custGeom>
              <a:avLst/>
              <a:gdLst/>
              <a:ahLst/>
              <a:cxnLst/>
              <a:rect l="l" t="t" r="r" b="b"/>
              <a:pathLst>
                <a:path w="29844" h="29845">
                  <a:moveTo>
                    <a:pt x="14680" y="0"/>
                  </a:moveTo>
                  <a:lnTo>
                    <a:pt x="24724" y="4245"/>
                  </a:lnTo>
                  <a:lnTo>
                    <a:pt x="29357" y="16931"/>
                  </a:lnTo>
                  <a:lnTo>
                    <a:pt x="24724" y="25371"/>
                  </a:lnTo>
                  <a:lnTo>
                    <a:pt x="14680" y="29592"/>
                  </a:lnTo>
                  <a:lnTo>
                    <a:pt x="0" y="25371"/>
                  </a:lnTo>
                  <a:lnTo>
                    <a:pt x="0" y="16931"/>
                  </a:lnTo>
                  <a:lnTo>
                    <a:pt x="0" y="4245"/>
                  </a:lnTo>
                  <a:lnTo>
                    <a:pt x="14680" y="0"/>
                  </a:lnTo>
                </a:path>
              </a:pathLst>
            </a:custGeom>
            <a:ln w="4135">
              <a:solidFill>
                <a:srgbClr val="1F1A17"/>
              </a:solidFill>
            </a:ln>
          </p:spPr>
          <p:txBody>
            <a:bodyPr wrap="square" lIns="0" tIns="0" rIns="0" bIns="0" rtlCol="0"/>
            <a:lstStyle/>
            <a:p>
              <a:endParaRPr/>
            </a:p>
          </p:txBody>
        </p:sp>
      </p:grpSp>
      <p:grpSp>
        <p:nvGrpSpPr>
          <p:cNvPr id="6" name="object 6"/>
          <p:cNvGrpSpPr/>
          <p:nvPr/>
        </p:nvGrpSpPr>
        <p:grpSpPr>
          <a:xfrm>
            <a:off x="815147" y="4960474"/>
            <a:ext cx="42545" cy="40640"/>
            <a:chOff x="815147" y="4960474"/>
            <a:chExt cx="42545" cy="40640"/>
          </a:xfrm>
        </p:grpSpPr>
        <p:sp>
          <p:nvSpPr>
            <p:cNvPr id="7" name="object 7"/>
            <p:cNvSpPr/>
            <p:nvPr/>
          </p:nvSpPr>
          <p:spPr>
            <a:xfrm>
              <a:off x="815147" y="4960474"/>
              <a:ext cx="29845" cy="29845"/>
            </a:xfrm>
            <a:custGeom>
              <a:avLst/>
              <a:gdLst/>
              <a:ahLst/>
              <a:cxnLst/>
              <a:rect l="l" t="t" r="r" b="b"/>
              <a:pathLst>
                <a:path w="29844" h="29845">
                  <a:moveTo>
                    <a:pt x="14679" y="0"/>
                  </a:moveTo>
                  <a:lnTo>
                    <a:pt x="4635" y="4245"/>
                  </a:lnTo>
                  <a:lnTo>
                    <a:pt x="0" y="16913"/>
                  </a:lnTo>
                  <a:lnTo>
                    <a:pt x="4635" y="25369"/>
                  </a:lnTo>
                  <a:lnTo>
                    <a:pt x="14679" y="29597"/>
                  </a:lnTo>
                  <a:lnTo>
                    <a:pt x="24723" y="25369"/>
                  </a:lnTo>
                  <a:lnTo>
                    <a:pt x="29356" y="16913"/>
                  </a:lnTo>
                  <a:lnTo>
                    <a:pt x="24723" y="4245"/>
                  </a:lnTo>
                  <a:lnTo>
                    <a:pt x="14679" y="0"/>
                  </a:lnTo>
                  <a:close/>
                </a:path>
              </a:pathLst>
            </a:custGeom>
            <a:solidFill>
              <a:srgbClr val="1F1A17"/>
            </a:solidFill>
          </p:spPr>
          <p:txBody>
            <a:bodyPr wrap="square" lIns="0" tIns="0" rIns="0" bIns="0" rtlCol="0"/>
            <a:lstStyle/>
            <a:p>
              <a:endParaRPr/>
            </a:p>
          </p:txBody>
        </p:sp>
        <p:sp>
          <p:nvSpPr>
            <p:cNvPr id="8" name="object 8"/>
            <p:cNvSpPr/>
            <p:nvPr/>
          </p:nvSpPr>
          <p:spPr>
            <a:xfrm>
              <a:off x="825964" y="4968939"/>
              <a:ext cx="29845" cy="29845"/>
            </a:xfrm>
            <a:custGeom>
              <a:avLst/>
              <a:gdLst/>
              <a:ahLst/>
              <a:cxnLst/>
              <a:rect l="l" t="t" r="r" b="b"/>
              <a:pathLst>
                <a:path w="29844" h="29845">
                  <a:moveTo>
                    <a:pt x="14677" y="0"/>
                  </a:moveTo>
                  <a:lnTo>
                    <a:pt x="24720" y="4220"/>
                  </a:lnTo>
                  <a:lnTo>
                    <a:pt x="29357" y="16903"/>
                  </a:lnTo>
                  <a:lnTo>
                    <a:pt x="24720" y="25356"/>
                  </a:lnTo>
                  <a:lnTo>
                    <a:pt x="14677" y="29584"/>
                  </a:lnTo>
                  <a:lnTo>
                    <a:pt x="4633" y="25356"/>
                  </a:lnTo>
                  <a:lnTo>
                    <a:pt x="0" y="16903"/>
                  </a:lnTo>
                  <a:lnTo>
                    <a:pt x="4633" y="4220"/>
                  </a:lnTo>
                  <a:lnTo>
                    <a:pt x="14677" y="0"/>
                  </a:lnTo>
                </a:path>
              </a:pathLst>
            </a:custGeom>
            <a:ln w="4135">
              <a:solidFill>
                <a:srgbClr val="1F1A17"/>
              </a:solidFill>
            </a:ln>
          </p:spPr>
          <p:txBody>
            <a:bodyPr wrap="square" lIns="0" tIns="0" rIns="0" bIns="0" rtlCol="0"/>
            <a:lstStyle/>
            <a:p>
              <a:endParaRPr/>
            </a:p>
          </p:txBody>
        </p:sp>
      </p:grpSp>
      <p:grpSp>
        <p:nvGrpSpPr>
          <p:cNvPr id="9" name="object 9"/>
          <p:cNvGrpSpPr/>
          <p:nvPr/>
        </p:nvGrpSpPr>
        <p:grpSpPr>
          <a:xfrm>
            <a:off x="2800608" y="3645208"/>
            <a:ext cx="42545" cy="40640"/>
            <a:chOff x="2800608" y="3645208"/>
            <a:chExt cx="42545" cy="40640"/>
          </a:xfrm>
        </p:grpSpPr>
        <p:sp>
          <p:nvSpPr>
            <p:cNvPr id="10" name="object 10"/>
            <p:cNvSpPr/>
            <p:nvPr/>
          </p:nvSpPr>
          <p:spPr>
            <a:xfrm>
              <a:off x="2800608" y="3645208"/>
              <a:ext cx="29845" cy="29845"/>
            </a:xfrm>
            <a:custGeom>
              <a:avLst/>
              <a:gdLst/>
              <a:ahLst/>
              <a:cxnLst/>
              <a:rect l="l" t="t" r="r" b="b"/>
              <a:pathLst>
                <a:path w="29844" h="29845">
                  <a:moveTo>
                    <a:pt x="14683" y="0"/>
                  </a:moveTo>
                  <a:lnTo>
                    <a:pt x="5423" y="4220"/>
                  </a:lnTo>
                  <a:lnTo>
                    <a:pt x="0" y="16906"/>
                  </a:lnTo>
                  <a:lnTo>
                    <a:pt x="5423" y="25371"/>
                  </a:lnTo>
                  <a:lnTo>
                    <a:pt x="14683" y="29592"/>
                  </a:lnTo>
                  <a:lnTo>
                    <a:pt x="24736" y="25371"/>
                  </a:lnTo>
                  <a:lnTo>
                    <a:pt x="29367" y="16906"/>
                  </a:lnTo>
                  <a:lnTo>
                    <a:pt x="24736" y="4220"/>
                  </a:lnTo>
                  <a:lnTo>
                    <a:pt x="14683" y="0"/>
                  </a:lnTo>
                  <a:close/>
                </a:path>
              </a:pathLst>
            </a:custGeom>
            <a:solidFill>
              <a:srgbClr val="1F1A17"/>
            </a:solidFill>
          </p:spPr>
          <p:txBody>
            <a:bodyPr wrap="square" lIns="0" tIns="0" rIns="0" bIns="0" rtlCol="0"/>
            <a:lstStyle/>
            <a:p>
              <a:endParaRPr/>
            </a:p>
          </p:txBody>
        </p:sp>
        <p:sp>
          <p:nvSpPr>
            <p:cNvPr id="11" name="object 11"/>
            <p:cNvSpPr/>
            <p:nvPr/>
          </p:nvSpPr>
          <p:spPr>
            <a:xfrm>
              <a:off x="2811422" y="3653674"/>
              <a:ext cx="29845" cy="29845"/>
            </a:xfrm>
            <a:custGeom>
              <a:avLst/>
              <a:gdLst/>
              <a:ahLst/>
              <a:cxnLst/>
              <a:rect l="l" t="t" r="r" b="b"/>
              <a:pathLst>
                <a:path w="29844" h="29845">
                  <a:moveTo>
                    <a:pt x="14683" y="0"/>
                  </a:moveTo>
                  <a:lnTo>
                    <a:pt x="24736" y="4220"/>
                  </a:lnTo>
                  <a:lnTo>
                    <a:pt x="29367" y="16906"/>
                  </a:lnTo>
                  <a:lnTo>
                    <a:pt x="24736" y="25347"/>
                  </a:lnTo>
                  <a:lnTo>
                    <a:pt x="14683" y="29592"/>
                  </a:lnTo>
                  <a:lnTo>
                    <a:pt x="5423" y="25347"/>
                  </a:lnTo>
                  <a:lnTo>
                    <a:pt x="0" y="16906"/>
                  </a:lnTo>
                  <a:lnTo>
                    <a:pt x="5423" y="4220"/>
                  </a:lnTo>
                  <a:lnTo>
                    <a:pt x="14683" y="0"/>
                  </a:lnTo>
                </a:path>
              </a:pathLst>
            </a:custGeom>
            <a:ln w="4135">
              <a:solidFill>
                <a:srgbClr val="1F1A17"/>
              </a:solidFill>
            </a:ln>
          </p:spPr>
          <p:txBody>
            <a:bodyPr wrap="square" lIns="0" tIns="0" rIns="0" bIns="0" rtlCol="0"/>
            <a:lstStyle/>
            <a:p>
              <a:endParaRPr/>
            </a:p>
          </p:txBody>
        </p:sp>
      </p:grpSp>
      <p:grpSp>
        <p:nvGrpSpPr>
          <p:cNvPr id="12" name="object 12"/>
          <p:cNvGrpSpPr/>
          <p:nvPr/>
        </p:nvGrpSpPr>
        <p:grpSpPr>
          <a:xfrm>
            <a:off x="815147" y="3649429"/>
            <a:ext cx="2275205" cy="1560830"/>
            <a:chOff x="815147" y="3649429"/>
            <a:chExt cx="2275205" cy="1560830"/>
          </a:xfrm>
        </p:grpSpPr>
        <p:sp>
          <p:nvSpPr>
            <p:cNvPr id="13" name="object 13"/>
            <p:cNvSpPr/>
            <p:nvPr/>
          </p:nvSpPr>
          <p:spPr>
            <a:xfrm>
              <a:off x="2776664" y="4968939"/>
              <a:ext cx="29845" cy="29845"/>
            </a:xfrm>
            <a:custGeom>
              <a:avLst/>
              <a:gdLst/>
              <a:ahLst/>
              <a:cxnLst/>
              <a:rect l="l" t="t" r="r" b="b"/>
              <a:pathLst>
                <a:path w="29844" h="29845">
                  <a:moveTo>
                    <a:pt x="14683" y="0"/>
                  </a:moveTo>
                  <a:lnTo>
                    <a:pt x="4630" y="4220"/>
                  </a:lnTo>
                  <a:lnTo>
                    <a:pt x="0" y="16903"/>
                  </a:lnTo>
                  <a:lnTo>
                    <a:pt x="4630" y="25356"/>
                  </a:lnTo>
                  <a:lnTo>
                    <a:pt x="14683" y="29584"/>
                  </a:lnTo>
                  <a:lnTo>
                    <a:pt x="29367" y="25356"/>
                  </a:lnTo>
                  <a:lnTo>
                    <a:pt x="29367" y="4220"/>
                  </a:lnTo>
                  <a:lnTo>
                    <a:pt x="14683" y="0"/>
                  </a:lnTo>
                  <a:close/>
                </a:path>
              </a:pathLst>
            </a:custGeom>
            <a:solidFill>
              <a:srgbClr val="1F1A17"/>
            </a:solidFill>
          </p:spPr>
          <p:txBody>
            <a:bodyPr wrap="square" lIns="0" tIns="0" rIns="0" bIns="0" rtlCol="0"/>
            <a:lstStyle/>
            <a:p>
              <a:endParaRPr/>
            </a:p>
          </p:txBody>
        </p:sp>
        <p:sp>
          <p:nvSpPr>
            <p:cNvPr id="14" name="object 14"/>
            <p:cNvSpPr/>
            <p:nvPr/>
          </p:nvSpPr>
          <p:spPr>
            <a:xfrm>
              <a:off x="2787479" y="4977388"/>
              <a:ext cx="29845" cy="29845"/>
            </a:xfrm>
            <a:custGeom>
              <a:avLst/>
              <a:gdLst/>
              <a:ahLst/>
              <a:cxnLst/>
              <a:rect l="l" t="t" r="r" b="b"/>
              <a:pathLst>
                <a:path w="29844" h="29845">
                  <a:moveTo>
                    <a:pt x="14683" y="0"/>
                  </a:moveTo>
                  <a:lnTo>
                    <a:pt x="29367" y="4227"/>
                  </a:lnTo>
                  <a:lnTo>
                    <a:pt x="29367" y="16908"/>
                  </a:lnTo>
                  <a:lnTo>
                    <a:pt x="29367" y="25364"/>
                  </a:lnTo>
                  <a:lnTo>
                    <a:pt x="14683" y="29592"/>
                  </a:lnTo>
                  <a:lnTo>
                    <a:pt x="4630" y="25364"/>
                  </a:lnTo>
                  <a:lnTo>
                    <a:pt x="0" y="16908"/>
                  </a:lnTo>
                  <a:lnTo>
                    <a:pt x="4630" y="4227"/>
                  </a:lnTo>
                  <a:lnTo>
                    <a:pt x="14683" y="0"/>
                  </a:lnTo>
                </a:path>
              </a:pathLst>
            </a:custGeom>
            <a:ln w="4135">
              <a:solidFill>
                <a:srgbClr val="1F1A17"/>
              </a:solidFill>
            </a:ln>
          </p:spPr>
          <p:txBody>
            <a:bodyPr wrap="square" lIns="0" tIns="0" rIns="0" bIns="0" rtlCol="0"/>
            <a:lstStyle/>
            <a:p>
              <a:endParaRPr/>
            </a:p>
          </p:txBody>
        </p:sp>
        <p:sp>
          <p:nvSpPr>
            <p:cNvPr id="15" name="object 15"/>
            <p:cNvSpPr/>
            <p:nvPr/>
          </p:nvSpPr>
          <p:spPr>
            <a:xfrm>
              <a:off x="844504" y="4994296"/>
              <a:ext cx="1932305" cy="215900"/>
            </a:xfrm>
            <a:custGeom>
              <a:avLst/>
              <a:gdLst/>
              <a:ahLst/>
              <a:cxnLst/>
              <a:rect l="l" t="t" r="r" b="b"/>
              <a:pathLst>
                <a:path w="1932305" h="215900">
                  <a:moveTo>
                    <a:pt x="1922106" y="0"/>
                  </a:moveTo>
                  <a:lnTo>
                    <a:pt x="1843329" y="38045"/>
                  </a:lnTo>
                  <a:lnTo>
                    <a:pt x="1686504" y="97227"/>
                  </a:lnTo>
                  <a:lnTo>
                    <a:pt x="1608456" y="122589"/>
                  </a:lnTo>
                  <a:lnTo>
                    <a:pt x="1525017" y="139498"/>
                  </a:lnTo>
                  <a:lnTo>
                    <a:pt x="1368192" y="173315"/>
                  </a:lnTo>
                  <a:lnTo>
                    <a:pt x="1289383" y="181771"/>
                  </a:lnTo>
                  <a:lnTo>
                    <a:pt x="1215997" y="190224"/>
                  </a:lnTo>
                  <a:lnTo>
                    <a:pt x="1137188" y="194452"/>
                  </a:lnTo>
                  <a:lnTo>
                    <a:pt x="985787" y="194452"/>
                  </a:lnTo>
                  <a:lnTo>
                    <a:pt x="843645" y="190224"/>
                  </a:lnTo>
                  <a:lnTo>
                    <a:pt x="706102" y="177543"/>
                  </a:lnTo>
                  <a:lnTo>
                    <a:pt x="573253" y="156406"/>
                  </a:lnTo>
                  <a:lnTo>
                    <a:pt x="455816" y="135272"/>
                  </a:lnTo>
                  <a:lnTo>
                    <a:pt x="347640" y="109908"/>
                  </a:lnTo>
                  <a:lnTo>
                    <a:pt x="98116" y="33820"/>
                  </a:lnTo>
                  <a:lnTo>
                    <a:pt x="4636" y="0"/>
                  </a:lnTo>
                  <a:lnTo>
                    <a:pt x="0" y="16908"/>
                  </a:lnTo>
                  <a:lnTo>
                    <a:pt x="88072" y="50726"/>
                  </a:lnTo>
                  <a:lnTo>
                    <a:pt x="244900" y="97227"/>
                  </a:lnTo>
                  <a:lnTo>
                    <a:pt x="343010" y="126817"/>
                  </a:lnTo>
                  <a:lnTo>
                    <a:pt x="451186" y="152181"/>
                  </a:lnTo>
                  <a:lnTo>
                    <a:pt x="573253" y="173315"/>
                  </a:lnTo>
                  <a:lnTo>
                    <a:pt x="700711" y="194452"/>
                  </a:lnTo>
                  <a:lnTo>
                    <a:pt x="843645" y="207134"/>
                  </a:lnTo>
                  <a:lnTo>
                    <a:pt x="985787" y="211361"/>
                  </a:lnTo>
                  <a:lnTo>
                    <a:pt x="1063803" y="215588"/>
                  </a:lnTo>
                  <a:lnTo>
                    <a:pt x="1215997" y="207134"/>
                  </a:lnTo>
                  <a:lnTo>
                    <a:pt x="1372822" y="190224"/>
                  </a:lnTo>
                  <a:lnTo>
                    <a:pt x="1451631" y="173315"/>
                  </a:lnTo>
                  <a:lnTo>
                    <a:pt x="1534309" y="156406"/>
                  </a:lnTo>
                  <a:lnTo>
                    <a:pt x="1613087" y="139498"/>
                  </a:lnTo>
                  <a:lnTo>
                    <a:pt x="1691895" y="114136"/>
                  </a:lnTo>
                  <a:lnTo>
                    <a:pt x="1775335" y="84546"/>
                  </a:lnTo>
                  <a:lnTo>
                    <a:pt x="1853351" y="54954"/>
                  </a:lnTo>
                  <a:lnTo>
                    <a:pt x="1932160" y="16908"/>
                  </a:lnTo>
                  <a:lnTo>
                    <a:pt x="1922106" y="0"/>
                  </a:lnTo>
                  <a:close/>
                </a:path>
              </a:pathLst>
            </a:custGeom>
            <a:solidFill>
              <a:srgbClr val="1F1A17"/>
            </a:solidFill>
          </p:spPr>
          <p:txBody>
            <a:bodyPr wrap="square" lIns="0" tIns="0" rIns="0" bIns="0" rtlCol="0"/>
            <a:lstStyle/>
            <a:p>
              <a:endParaRPr/>
            </a:p>
          </p:txBody>
        </p:sp>
        <p:pic>
          <p:nvPicPr>
            <p:cNvPr id="16" name="object 16"/>
            <p:cNvPicPr/>
            <p:nvPr/>
          </p:nvPicPr>
          <p:blipFill>
            <a:blip r:embed="rId2" cstate="print"/>
            <a:stretch>
              <a:fillRect/>
            </a:stretch>
          </p:blipFill>
          <p:spPr>
            <a:xfrm>
              <a:off x="815147" y="4977388"/>
              <a:ext cx="112792" cy="97227"/>
            </a:xfrm>
            <a:prstGeom prst="rect">
              <a:avLst/>
            </a:prstGeom>
          </p:spPr>
        </p:pic>
        <p:sp>
          <p:nvSpPr>
            <p:cNvPr id="17" name="object 17"/>
            <p:cNvSpPr/>
            <p:nvPr/>
          </p:nvSpPr>
          <p:spPr>
            <a:xfrm>
              <a:off x="2825345" y="3649429"/>
              <a:ext cx="265430" cy="1323975"/>
            </a:xfrm>
            <a:custGeom>
              <a:avLst/>
              <a:gdLst/>
              <a:ahLst/>
              <a:cxnLst/>
              <a:rect l="l" t="t" r="r" b="b"/>
              <a:pathLst>
                <a:path w="265430" h="1323975">
                  <a:moveTo>
                    <a:pt x="39388" y="0"/>
                  </a:moveTo>
                  <a:lnTo>
                    <a:pt x="19313" y="8465"/>
                  </a:lnTo>
                  <a:lnTo>
                    <a:pt x="64125" y="76090"/>
                  </a:lnTo>
                  <a:lnTo>
                    <a:pt x="98122" y="143740"/>
                  </a:lnTo>
                  <a:lnTo>
                    <a:pt x="132088" y="207145"/>
                  </a:lnTo>
                  <a:lnTo>
                    <a:pt x="162248" y="270550"/>
                  </a:lnTo>
                  <a:lnTo>
                    <a:pt x="186191" y="329734"/>
                  </a:lnTo>
                  <a:lnTo>
                    <a:pt x="200875" y="388919"/>
                  </a:lnTo>
                  <a:lnTo>
                    <a:pt x="220950" y="448103"/>
                  </a:lnTo>
                  <a:lnTo>
                    <a:pt x="230210" y="503663"/>
                  </a:lnTo>
                  <a:lnTo>
                    <a:pt x="240264" y="558603"/>
                  </a:lnTo>
                  <a:lnTo>
                    <a:pt x="244894" y="609321"/>
                  </a:lnTo>
                  <a:lnTo>
                    <a:pt x="244894" y="710784"/>
                  </a:lnTo>
                  <a:lnTo>
                    <a:pt x="240264" y="803781"/>
                  </a:lnTo>
                  <a:lnTo>
                    <a:pt x="220950" y="892558"/>
                  </a:lnTo>
                  <a:lnTo>
                    <a:pt x="196213" y="968649"/>
                  </a:lnTo>
                  <a:lnTo>
                    <a:pt x="171508" y="1040519"/>
                  </a:lnTo>
                  <a:lnTo>
                    <a:pt x="137511" y="1103924"/>
                  </a:lnTo>
                  <a:lnTo>
                    <a:pt x="108144" y="1163108"/>
                  </a:lnTo>
                  <a:lnTo>
                    <a:pt x="44018" y="1256105"/>
                  </a:lnTo>
                  <a:lnTo>
                    <a:pt x="0" y="1315290"/>
                  </a:lnTo>
                  <a:lnTo>
                    <a:pt x="19313" y="1323731"/>
                  </a:lnTo>
                  <a:lnTo>
                    <a:pt x="64125" y="1264546"/>
                  </a:lnTo>
                  <a:lnTo>
                    <a:pt x="122827" y="1171549"/>
                  </a:lnTo>
                  <a:lnTo>
                    <a:pt x="156824" y="1112365"/>
                  </a:lnTo>
                  <a:lnTo>
                    <a:pt x="186192" y="1048960"/>
                  </a:lnTo>
                  <a:lnTo>
                    <a:pt x="215527" y="972869"/>
                  </a:lnTo>
                  <a:lnTo>
                    <a:pt x="240264" y="892558"/>
                  </a:lnTo>
                  <a:lnTo>
                    <a:pt x="259577" y="808001"/>
                  </a:lnTo>
                  <a:lnTo>
                    <a:pt x="264969" y="710784"/>
                  </a:lnTo>
                  <a:lnTo>
                    <a:pt x="264969" y="609321"/>
                  </a:lnTo>
                  <a:lnTo>
                    <a:pt x="259577" y="558603"/>
                  </a:lnTo>
                  <a:lnTo>
                    <a:pt x="240264" y="443858"/>
                  </a:lnTo>
                  <a:lnTo>
                    <a:pt x="225580" y="384699"/>
                  </a:lnTo>
                  <a:lnTo>
                    <a:pt x="200875" y="325514"/>
                  </a:lnTo>
                  <a:lnTo>
                    <a:pt x="181561" y="262109"/>
                  </a:lnTo>
                  <a:lnTo>
                    <a:pt x="152194" y="198680"/>
                  </a:lnTo>
                  <a:lnTo>
                    <a:pt x="117436" y="135275"/>
                  </a:lnTo>
                  <a:lnTo>
                    <a:pt x="78808" y="67650"/>
                  </a:lnTo>
                  <a:lnTo>
                    <a:pt x="39388" y="0"/>
                  </a:lnTo>
                  <a:close/>
                </a:path>
              </a:pathLst>
            </a:custGeom>
            <a:solidFill>
              <a:srgbClr val="1F1A17"/>
            </a:solidFill>
          </p:spPr>
          <p:txBody>
            <a:bodyPr wrap="square" lIns="0" tIns="0" rIns="0" bIns="0" rtlCol="0"/>
            <a:lstStyle/>
            <a:p>
              <a:endParaRPr/>
            </a:p>
          </p:txBody>
        </p:sp>
        <p:pic>
          <p:nvPicPr>
            <p:cNvPr id="18" name="object 18"/>
            <p:cNvPicPr/>
            <p:nvPr/>
          </p:nvPicPr>
          <p:blipFill>
            <a:blip r:embed="rId3" cstate="print"/>
            <a:stretch>
              <a:fillRect/>
            </a:stretch>
          </p:blipFill>
          <p:spPr>
            <a:xfrm>
              <a:off x="2810661" y="4897069"/>
              <a:ext cx="108144" cy="97227"/>
            </a:xfrm>
            <a:prstGeom prst="rect">
              <a:avLst/>
            </a:prstGeom>
          </p:spPr>
        </p:pic>
      </p:grpSp>
      <p:grpSp>
        <p:nvGrpSpPr>
          <p:cNvPr id="19" name="object 19"/>
          <p:cNvGrpSpPr/>
          <p:nvPr/>
        </p:nvGrpSpPr>
        <p:grpSpPr>
          <a:xfrm>
            <a:off x="4110374" y="3222859"/>
            <a:ext cx="268605" cy="290195"/>
            <a:chOff x="4110374" y="3222859"/>
            <a:chExt cx="268605" cy="290195"/>
          </a:xfrm>
        </p:grpSpPr>
        <p:sp>
          <p:nvSpPr>
            <p:cNvPr id="20" name="object 20"/>
            <p:cNvSpPr/>
            <p:nvPr/>
          </p:nvSpPr>
          <p:spPr>
            <a:xfrm>
              <a:off x="4120681" y="3222859"/>
              <a:ext cx="257810" cy="249554"/>
            </a:xfrm>
            <a:custGeom>
              <a:avLst/>
              <a:gdLst/>
              <a:ahLst/>
              <a:cxnLst/>
              <a:rect l="l" t="t" r="r" b="b"/>
              <a:pathLst>
                <a:path w="257810" h="249554">
                  <a:moveTo>
                    <a:pt x="149887" y="0"/>
                  </a:moveTo>
                  <a:lnTo>
                    <a:pt x="123716" y="0"/>
                  </a:lnTo>
                  <a:lnTo>
                    <a:pt x="92788" y="4483"/>
                  </a:lnTo>
                  <a:lnTo>
                    <a:pt x="66617" y="13398"/>
                  </a:lnTo>
                  <a:lnTo>
                    <a:pt x="15069" y="49111"/>
                  </a:lnTo>
                  <a:lnTo>
                    <a:pt x="0" y="75909"/>
                  </a:lnTo>
                  <a:lnTo>
                    <a:pt x="20620" y="84850"/>
                  </a:lnTo>
                  <a:lnTo>
                    <a:pt x="35687" y="62510"/>
                  </a:lnTo>
                  <a:lnTo>
                    <a:pt x="51551" y="44653"/>
                  </a:lnTo>
                  <a:lnTo>
                    <a:pt x="76927" y="31255"/>
                  </a:lnTo>
                  <a:lnTo>
                    <a:pt x="97545" y="22340"/>
                  </a:lnTo>
                  <a:lnTo>
                    <a:pt x="123716" y="17882"/>
                  </a:lnTo>
                  <a:lnTo>
                    <a:pt x="149887" y="17882"/>
                  </a:lnTo>
                  <a:lnTo>
                    <a:pt x="170507" y="22340"/>
                  </a:lnTo>
                  <a:lnTo>
                    <a:pt x="195884" y="26797"/>
                  </a:lnTo>
                  <a:lnTo>
                    <a:pt x="226815" y="53595"/>
                  </a:lnTo>
                  <a:lnTo>
                    <a:pt x="232365" y="75909"/>
                  </a:lnTo>
                  <a:lnTo>
                    <a:pt x="237122" y="98222"/>
                  </a:lnTo>
                  <a:lnTo>
                    <a:pt x="232365" y="125020"/>
                  </a:lnTo>
                  <a:lnTo>
                    <a:pt x="216505" y="160103"/>
                  </a:lnTo>
                  <a:lnTo>
                    <a:pt x="195884" y="195816"/>
                  </a:lnTo>
                  <a:lnTo>
                    <a:pt x="164957" y="236012"/>
                  </a:lnTo>
                  <a:lnTo>
                    <a:pt x="180818" y="249411"/>
                  </a:lnTo>
                  <a:lnTo>
                    <a:pt x="216505" y="204757"/>
                  </a:lnTo>
                  <a:lnTo>
                    <a:pt x="237122" y="164561"/>
                  </a:lnTo>
                  <a:lnTo>
                    <a:pt x="252986" y="129478"/>
                  </a:lnTo>
                  <a:lnTo>
                    <a:pt x="257742" y="98222"/>
                  </a:lnTo>
                  <a:lnTo>
                    <a:pt x="252986" y="71451"/>
                  </a:lnTo>
                  <a:lnTo>
                    <a:pt x="242676" y="44653"/>
                  </a:lnTo>
                  <a:lnTo>
                    <a:pt x="226815" y="26797"/>
                  </a:lnTo>
                  <a:lnTo>
                    <a:pt x="206194" y="13398"/>
                  </a:lnTo>
                  <a:lnTo>
                    <a:pt x="180818" y="4483"/>
                  </a:lnTo>
                  <a:lnTo>
                    <a:pt x="149887" y="0"/>
                  </a:lnTo>
                  <a:close/>
                </a:path>
              </a:pathLst>
            </a:custGeom>
            <a:solidFill>
              <a:srgbClr val="1F1A17"/>
            </a:solidFill>
          </p:spPr>
          <p:txBody>
            <a:bodyPr wrap="square" lIns="0" tIns="0" rIns="0" bIns="0" rtlCol="0"/>
            <a:lstStyle/>
            <a:p>
              <a:endParaRPr/>
            </a:p>
          </p:txBody>
        </p:sp>
        <p:pic>
          <p:nvPicPr>
            <p:cNvPr id="21" name="object 21"/>
            <p:cNvPicPr/>
            <p:nvPr/>
          </p:nvPicPr>
          <p:blipFill>
            <a:blip r:embed="rId4" cstate="print"/>
            <a:stretch>
              <a:fillRect/>
            </a:stretch>
          </p:blipFill>
          <p:spPr>
            <a:xfrm>
              <a:off x="4110374" y="3298768"/>
              <a:ext cx="170504" cy="213672"/>
            </a:xfrm>
            <a:prstGeom prst="rect">
              <a:avLst/>
            </a:prstGeom>
          </p:spPr>
        </p:pic>
      </p:grpSp>
      <p:grpSp>
        <p:nvGrpSpPr>
          <p:cNvPr id="22" name="object 22"/>
          <p:cNvGrpSpPr/>
          <p:nvPr/>
        </p:nvGrpSpPr>
        <p:grpSpPr>
          <a:xfrm>
            <a:off x="4089753" y="4613319"/>
            <a:ext cx="268605" cy="290195"/>
            <a:chOff x="4089753" y="4613319"/>
            <a:chExt cx="268605" cy="290195"/>
          </a:xfrm>
        </p:grpSpPr>
        <p:sp>
          <p:nvSpPr>
            <p:cNvPr id="23" name="object 23"/>
            <p:cNvSpPr/>
            <p:nvPr/>
          </p:nvSpPr>
          <p:spPr>
            <a:xfrm>
              <a:off x="4094512" y="4613319"/>
              <a:ext cx="263525" cy="249554"/>
            </a:xfrm>
            <a:custGeom>
              <a:avLst/>
              <a:gdLst/>
              <a:ahLst/>
              <a:cxnLst/>
              <a:rect l="l" t="t" r="r" b="b"/>
              <a:pathLst>
                <a:path w="263525" h="249554">
                  <a:moveTo>
                    <a:pt x="154645" y="0"/>
                  </a:moveTo>
                  <a:lnTo>
                    <a:pt x="123714" y="0"/>
                  </a:lnTo>
                  <a:lnTo>
                    <a:pt x="98337" y="4457"/>
                  </a:lnTo>
                  <a:lnTo>
                    <a:pt x="67410" y="17856"/>
                  </a:lnTo>
                  <a:lnTo>
                    <a:pt x="41239" y="31255"/>
                  </a:lnTo>
                  <a:lnTo>
                    <a:pt x="0" y="75909"/>
                  </a:lnTo>
                  <a:lnTo>
                    <a:pt x="20618" y="84194"/>
                  </a:lnTo>
                  <a:lnTo>
                    <a:pt x="36479" y="62510"/>
                  </a:lnTo>
                  <a:lnTo>
                    <a:pt x="57100" y="44653"/>
                  </a:lnTo>
                  <a:lnTo>
                    <a:pt x="77720" y="31255"/>
                  </a:lnTo>
                  <a:lnTo>
                    <a:pt x="103097" y="22313"/>
                  </a:lnTo>
                  <a:lnTo>
                    <a:pt x="129268" y="17856"/>
                  </a:lnTo>
                  <a:lnTo>
                    <a:pt x="154645" y="17856"/>
                  </a:lnTo>
                  <a:lnTo>
                    <a:pt x="176056" y="22313"/>
                  </a:lnTo>
                  <a:lnTo>
                    <a:pt x="217297" y="40196"/>
                  </a:lnTo>
                  <a:lnTo>
                    <a:pt x="237914" y="75909"/>
                  </a:lnTo>
                  <a:lnTo>
                    <a:pt x="237915" y="128848"/>
                  </a:lnTo>
                  <a:lnTo>
                    <a:pt x="222054" y="160103"/>
                  </a:lnTo>
                  <a:lnTo>
                    <a:pt x="201436" y="195816"/>
                  </a:lnTo>
                  <a:lnTo>
                    <a:pt x="164955" y="240462"/>
                  </a:lnTo>
                  <a:lnTo>
                    <a:pt x="180816" y="249390"/>
                  </a:lnTo>
                  <a:lnTo>
                    <a:pt x="217297" y="209215"/>
                  </a:lnTo>
                  <a:lnTo>
                    <a:pt x="242674" y="169018"/>
                  </a:lnTo>
                  <a:lnTo>
                    <a:pt x="258535" y="133306"/>
                  </a:lnTo>
                  <a:lnTo>
                    <a:pt x="263291" y="102051"/>
                  </a:lnTo>
                  <a:lnTo>
                    <a:pt x="258535" y="71451"/>
                  </a:lnTo>
                  <a:lnTo>
                    <a:pt x="248225" y="49111"/>
                  </a:lnTo>
                  <a:lnTo>
                    <a:pt x="232364" y="31255"/>
                  </a:lnTo>
                  <a:lnTo>
                    <a:pt x="206987" y="13398"/>
                  </a:lnTo>
                  <a:lnTo>
                    <a:pt x="180816" y="4457"/>
                  </a:lnTo>
                  <a:lnTo>
                    <a:pt x="154645" y="0"/>
                  </a:lnTo>
                  <a:close/>
                </a:path>
              </a:pathLst>
            </a:custGeom>
            <a:solidFill>
              <a:srgbClr val="1F1A17"/>
            </a:solidFill>
          </p:spPr>
          <p:txBody>
            <a:bodyPr wrap="square" lIns="0" tIns="0" rIns="0" bIns="0" rtlCol="0"/>
            <a:lstStyle/>
            <a:p>
              <a:endParaRPr/>
            </a:p>
          </p:txBody>
        </p:sp>
        <p:pic>
          <p:nvPicPr>
            <p:cNvPr id="24" name="object 24"/>
            <p:cNvPicPr/>
            <p:nvPr/>
          </p:nvPicPr>
          <p:blipFill>
            <a:blip r:embed="rId5" cstate="print"/>
            <a:stretch>
              <a:fillRect/>
            </a:stretch>
          </p:blipFill>
          <p:spPr>
            <a:xfrm>
              <a:off x="4089753" y="4689228"/>
              <a:ext cx="164954" cy="213665"/>
            </a:xfrm>
            <a:prstGeom prst="rect">
              <a:avLst/>
            </a:prstGeom>
          </p:spPr>
        </p:pic>
      </p:grpSp>
      <p:grpSp>
        <p:nvGrpSpPr>
          <p:cNvPr id="25" name="object 25"/>
          <p:cNvGrpSpPr/>
          <p:nvPr/>
        </p:nvGrpSpPr>
        <p:grpSpPr>
          <a:xfrm>
            <a:off x="6154863" y="3231800"/>
            <a:ext cx="269240" cy="290195"/>
            <a:chOff x="6154863" y="3231800"/>
            <a:chExt cx="269240" cy="290195"/>
          </a:xfrm>
        </p:grpSpPr>
        <p:sp>
          <p:nvSpPr>
            <p:cNvPr id="26" name="object 26"/>
            <p:cNvSpPr/>
            <p:nvPr/>
          </p:nvSpPr>
          <p:spPr>
            <a:xfrm>
              <a:off x="6165183" y="3231800"/>
              <a:ext cx="259079" cy="249554"/>
            </a:xfrm>
            <a:custGeom>
              <a:avLst/>
              <a:gdLst/>
              <a:ahLst/>
              <a:cxnLst/>
              <a:rect l="l" t="t" r="r" b="b"/>
              <a:pathLst>
                <a:path w="259079" h="249554">
                  <a:moveTo>
                    <a:pt x="155418" y="0"/>
                  </a:moveTo>
                  <a:lnTo>
                    <a:pt x="124491" y="0"/>
                  </a:lnTo>
                  <a:lnTo>
                    <a:pt x="98316" y="4457"/>
                  </a:lnTo>
                  <a:lnTo>
                    <a:pt x="67389" y="13398"/>
                  </a:lnTo>
                  <a:lnTo>
                    <a:pt x="42028" y="31255"/>
                  </a:lnTo>
                  <a:lnTo>
                    <a:pt x="20607" y="49111"/>
                  </a:lnTo>
                  <a:lnTo>
                    <a:pt x="0" y="75909"/>
                  </a:lnTo>
                  <a:lnTo>
                    <a:pt x="20607" y="84824"/>
                  </a:lnTo>
                  <a:lnTo>
                    <a:pt x="36461" y="62510"/>
                  </a:lnTo>
                  <a:lnTo>
                    <a:pt x="57101" y="44653"/>
                  </a:lnTo>
                  <a:lnTo>
                    <a:pt x="77709" y="31255"/>
                  </a:lnTo>
                  <a:lnTo>
                    <a:pt x="103883" y="22313"/>
                  </a:lnTo>
                  <a:lnTo>
                    <a:pt x="129244" y="17856"/>
                  </a:lnTo>
                  <a:lnTo>
                    <a:pt x="155418" y="17856"/>
                  </a:lnTo>
                  <a:lnTo>
                    <a:pt x="196665" y="26797"/>
                  </a:lnTo>
                  <a:lnTo>
                    <a:pt x="217273" y="40170"/>
                  </a:lnTo>
                  <a:lnTo>
                    <a:pt x="237913" y="75909"/>
                  </a:lnTo>
                  <a:lnTo>
                    <a:pt x="237913" y="125020"/>
                  </a:lnTo>
                  <a:lnTo>
                    <a:pt x="222059" y="160103"/>
                  </a:lnTo>
                  <a:lnTo>
                    <a:pt x="201419" y="195816"/>
                  </a:lnTo>
                  <a:lnTo>
                    <a:pt x="165738" y="235986"/>
                  </a:lnTo>
                  <a:lnTo>
                    <a:pt x="180811" y="249385"/>
                  </a:lnTo>
                  <a:lnTo>
                    <a:pt x="217273" y="204731"/>
                  </a:lnTo>
                  <a:lnTo>
                    <a:pt x="242666" y="164561"/>
                  </a:lnTo>
                  <a:lnTo>
                    <a:pt x="258520" y="129478"/>
                  </a:lnTo>
                  <a:lnTo>
                    <a:pt x="258520" y="71425"/>
                  </a:lnTo>
                  <a:lnTo>
                    <a:pt x="248200" y="49111"/>
                  </a:lnTo>
                  <a:lnTo>
                    <a:pt x="227593" y="26797"/>
                  </a:lnTo>
                  <a:lnTo>
                    <a:pt x="206985" y="13398"/>
                  </a:lnTo>
                  <a:lnTo>
                    <a:pt x="180811" y="4457"/>
                  </a:lnTo>
                  <a:lnTo>
                    <a:pt x="155418" y="0"/>
                  </a:lnTo>
                  <a:close/>
                </a:path>
              </a:pathLst>
            </a:custGeom>
            <a:solidFill>
              <a:srgbClr val="1F1A17"/>
            </a:solidFill>
          </p:spPr>
          <p:txBody>
            <a:bodyPr wrap="square" lIns="0" tIns="0" rIns="0" bIns="0" rtlCol="0"/>
            <a:lstStyle/>
            <a:p>
              <a:endParaRPr/>
            </a:p>
          </p:txBody>
        </p:sp>
        <p:pic>
          <p:nvPicPr>
            <p:cNvPr id="27" name="object 27"/>
            <p:cNvPicPr/>
            <p:nvPr/>
          </p:nvPicPr>
          <p:blipFill>
            <a:blip r:embed="rId6" cstate="print"/>
            <a:stretch>
              <a:fillRect/>
            </a:stretch>
          </p:blipFill>
          <p:spPr>
            <a:xfrm>
              <a:off x="6154863" y="3307709"/>
              <a:ext cx="170491" cy="213672"/>
            </a:xfrm>
            <a:prstGeom prst="rect">
              <a:avLst/>
            </a:prstGeom>
          </p:spPr>
        </p:pic>
      </p:grpSp>
      <p:sp>
        <p:nvSpPr>
          <p:cNvPr id="28" name="object 28"/>
          <p:cNvSpPr/>
          <p:nvPr/>
        </p:nvSpPr>
        <p:spPr>
          <a:xfrm>
            <a:off x="6134252" y="4622266"/>
            <a:ext cx="269240" cy="289560"/>
          </a:xfrm>
          <a:custGeom>
            <a:avLst/>
            <a:gdLst/>
            <a:ahLst/>
            <a:cxnLst/>
            <a:rect l="l" t="t" r="r" b="b"/>
            <a:pathLst>
              <a:path w="269239" h="289560">
                <a:moveTo>
                  <a:pt x="268833" y="71424"/>
                </a:moveTo>
                <a:lnTo>
                  <a:pt x="237909" y="31254"/>
                </a:lnTo>
                <a:lnTo>
                  <a:pt x="191096" y="4457"/>
                </a:lnTo>
                <a:lnTo>
                  <a:pt x="165735" y="0"/>
                </a:lnTo>
                <a:lnTo>
                  <a:pt x="134810" y="0"/>
                </a:lnTo>
                <a:lnTo>
                  <a:pt x="103886" y="4457"/>
                </a:lnTo>
                <a:lnTo>
                  <a:pt x="51536" y="31254"/>
                </a:lnTo>
                <a:lnTo>
                  <a:pt x="10287" y="75260"/>
                </a:lnTo>
                <a:lnTo>
                  <a:pt x="0" y="106514"/>
                </a:lnTo>
                <a:lnTo>
                  <a:pt x="0" y="137769"/>
                </a:lnTo>
                <a:lnTo>
                  <a:pt x="15849" y="164566"/>
                </a:lnTo>
                <a:lnTo>
                  <a:pt x="30924" y="191338"/>
                </a:lnTo>
                <a:lnTo>
                  <a:pt x="51536" y="213677"/>
                </a:lnTo>
                <a:lnTo>
                  <a:pt x="103886" y="249377"/>
                </a:lnTo>
                <a:lnTo>
                  <a:pt x="113372" y="251053"/>
                </a:lnTo>
                <a:lnTo>
                  <a:pt x="51536" y="271703"/>
                </a:lnTo>
                <a:lnTo>
                  <a:pt x="57099" y="280631"/>
                </a:lnTo>
                <a:lnTo>
                  <a:pt x="57099" y="289560"/>
                </a:lnTo>
                <a:lnTo>
                  <a:pt x="155409" y="258305"/>
                </a:lnTo>
                <a:lnTo>
                  <a:pt x="170484" y="253847"/>
                </a:lnTo>
                <a:lnTo>
                  <a:pt x="160172" y="244919"/>
                </a:lnTo>
                <a:lnTo>
                  <a:pt x="88023" y="182422"/>
                </a:lnTo>
                <a:lnTo>
                  <a:pt x="72948" y="195795"/>
                </a:lnTo>
                <a:lnTo>
                  <a:pt x="114173" y="231521"/>
                </a:lnTo>
                <a:lnTo>
                  <a:pt x="93560" y="218135"/>
                </a:lnTo>
                <a:lnTo>
                  <a:pt x="67386" y="200279"/>
                </a:lnTo>
                <a:lnTo>
                  <a:pt x="46774" y="182422"/>
                </a:lnTo>
                <a:lnTo>
                  <a:pt x="30924" y="155625"/>
                </a:lnTo>
                <a:lnTo>
                  <a:pt x="20599" y="106514"/>
                </a:lnTo>
                <a:lnTo>
                  <a:pt x="30924" y="84201"/>
                </a:lnTo>
                <a:lnTo>
                  <a:pt x="67386" y="44627"/>
                </a:lnTo>
                <a:lnTo>
                  <a:pt x="114173" y="22313"/>
                </a:lnTo>
                <a:lnTo>
                  <a:pt x="134810" y="17856"/>
                </a:lnTo>
                <a:lnTo>
                  <a:pt x="160172" y="17856"/>
                </a:lnTo>
                <a:lnTo>
                  <a:pt x="186347" y="22313"/>
                </a:lnTo>
                <a:lnTo>
                  <a:pt x="206984" y="31254"/>
                </a:lnTo>
                <a:lnTo>
                  <a:pt x="237909" y="58026"/>
                </a:lnTo>
                <a:lnTo>
                  <a:pt x="248196" y="75260"/>
                </a:lnTo>
                <a:lnTo>
                  <a:pt x="248196" y="102057"/>
                </a:lnTo>
                <a:lnTo>
                  <a:pt x="242658" y="128828"/>
                </a:lnTo>
                <a:lnTo>
                  <a:pt x="232346" y="160083"/>
                </a:lnTo>
                <a:lnTo>
                  <a:pt x="176060" y="240449"/>
                </a:lnTo>
                <a:lnTo>
                  <a:pt x="191096" y="249377"/>
                </a:lnTo>
                <a:lnTo>
                  <a:pt x="227596" y="209194"/>
                </a:lnTo>
                <a:lnTo>
                  <a:pt x="252984" y="169024"/>
                </a:lnTo>
                <a:lnTo>
                  <a:pt x="263271" y="133311"/>
                </a:lnTo>
                <a:lnTo>
                  <a:pt x="268833" y="102057"/>
                </a:lnTo>
                <a:lnTo>
                  <a:pt x="268833" y="71424"/>
                </a:lnTo>
                <a:close/>
              </a:path>
            </a:pathLst>
          </a:custGeom>
          <a:solidFill>
            <a:srgbClr val="1F1A17"/>
          </a:solidFill>
        </p:spPr>
        <p:txBody>
          <a:bodyPr wrap="square" lIns="0" tIns="0" rIns="0" bIns="0" rtlCol="0"/>
          <a:lstStyle/>
          <a:p>
            <a:endParaRPr/>
          </a:p>
        </p:txBody>
      </p:sp>
      <p:grpSp>
        <p:nvGrpSpPr>
          <p:cNvPr id="29" name="object 29"/>
          <p:cNvGrpSpPr/>
          <p:nvPr/>
        </p:nvGrpSpPr>
        <p:grpSpPr>
          <a:xfrm>
            <a:off x="4280879" y="3445473"/>
            <a:ext cx="45085" cy="43180"/>
            <a:chOff x="4280879" y="3445473"/>
            <a:chExt cx="45085" cy="43180"/>
          </a:xfrm>
        </p:grpSpPr>
        <p:sp>
          <p:nvSpPr>
            <p:cNvPr id="30" name="object 30"/>
            <p:cNvSpPr/>
            <p:nvPr/>
          </p:nvSpPr>
          <p:spPr>
            <a:xfrm>
              <a:off x="4280879" y="3445473"/>
              <a:ext cx="31115" cy="31750"/>
            </a:xfrm>
            <a:custGeom>
              <a:avLst/>
              <a:gdLst/>
              <a:ahLst/>
              <a:cxnLst/>
              <a:rect l="l" t="t" r="r" b="b"/>
              <a:pathLst>
                <a:path w="31114" h="31750">
                  <a:moveTo>
                    <a:pt x="15069" y="0"/>
                  </a:moveTo>
                  <a:lnTo>
                    <a:pt x="4759" y="4457"/>
                  </a:lnTo>
                  <a:lnTo>
                    <a:pt x="0" y="17856"/>
                  </a:lnTo>
                  <a:lnTo>
                    <a:pt x="4759" y="26797"/>
                  </a:lnTo>
                  <a:lnTo>
                    <a:pt x="15069" y="31255"/>
                  </a:lnTo>
                  <a:lnTo>
                    <a:pt x="25376" y="26797"/>
                  </a:lnTo>
                  <a:lnTo>
                    <a:pt x="30930" y="17856"/>
                  </a:lnTo>
                  <a:lnTo>
                    <a:pt x="25376" y="4457"/>
                  </a:lnTo>
                  <a:lnTo>
                    <a:pt x="15069" y="0"/>
                  </a:lnTo>
                  <a:close/>
                </a:path>
              </a:pathLst>
            </a:custGeom>
            <a:solidFill>
              <a:srgbClr val="1F1A17"/>
            </a:solidFill>
          </p:spPr>
          <p:txBody>
            <a:bodyPr wrap="square" lIns="0" tIns="0" rIns="0" bIns="0" rtlCol="0"/>
            <a:lstStyle/>
            <a:p>
              <a:endParaRPr/>
            </a:p>
          </p:txBody>
        </p:sp>
        <p:sp>
          <p:nvSpPr>
            <p:cNvPr id="31" name="object 31"/>
            <p:cNvSpPr/>
            <p:nvPr/>
          </p:nvSpPr>
          <p:spPr>
            <a:xfrm>
              <a:off x="4291980" y="3454388"/>
              <a:ext cx="31115" cy="31750"/>
            </a:xfrm>
            <a:custGeom>
              <a:avLst/>
              <a:gdLst/>
              <a:ahLst/>
              <a:cxnLst/>
              <a:rect l="l" t="t" r="r" b="b"/>
              <a:pathLst>
                <a:path w="31114" h="31750">
                  <a:moveTo>
                    <a:pt x="15069" y="0"/>
                  </a:moveTo>
                  <a:lnTo>
                    <a:pt x="25380" y="4483"/>
                  </a:lnTo>
                  <a:lnTo>
                    <a:pt x="30930" y="17882"/>
                  </a:lnTo>
                  <a:lnTo>
                    <a:pt x="25380" y="26797"/>
                  </a:lnTo>
                  <a:lnTo>
                    <a:pt x="15069" y="31255"/>
                  </a:lnTo>
                  <a:lnTo>
                    <a:pt x="4759" y="26797"/>
                  </a:lnTo>
                  <a:lnTo>
                    <a:pt x="0" y="17882"/>
                  </a:lnTo>
                  <a:lnTo>
                    <a:pt x="4759" y="4483"/>
                  </a:lnTo>
                  <a:lnTo>
                    <a:pt x="15069" y="0"/>
                  </a:lnTo>
                </a:path>
              </a:pathLst>
            </a:custGeom>
            <a:ln w="5016">
              <a:solidFill>
                <a:srgbClr val="1F1A17"/>
              </a:solidFill>
            </a:ln>
          </p:spPr>
          <p:txBody>
            <a:bodyPr wrap="square" lIns="0" tIns="0" rIns="0" bIns="0" rtlCol="0"/>
            <a:lstStyle/>
            <a:p>
              <a:endParaRPr/>
            </a:p>
          </p:txBody>
        </p:sp>
      </p:grpSp>
      <p:grpSp>
        <p:nvGrpSpPr>
          <p:cNvPr id="32" name="object 32"/>
          <p:cNvGrpSpPr/>
          <p:nvPr/>
        </p:nvGrpSpPr>
        <p:grpSpPr>
          <a:xfrm>
            <a:off x="4259467" y="4840391"/>
            <a:ext cx="45720" cy="43180"/>
            <a:chOff x="4259467" y="4840391"/>
            <a:chExt cx="45720" cy="43180"/>
          </a:xfrm>
        </p:grpSpPr>
        <p:sp>
          <p:nvSpPr>
            <p:cNvPr id="33" name="object 33"/>
            <p:cNvSpPr/>
            <p:nvPr/>
          </p:nvSpPr>
          <p:spPr>
            <a:xfrm>
              <a:off x="4259467" y="4840391"/>
              <a:ext cx="31750" cy="31750"/>
            </a:xfrm>
            <a:custGeom>
              <a:avLst/>
              <a:gdLst/>
              <a:ahLst/>
              <a:cxnLst/>
              <a:rect l="l" t="t" r="r" b="b"/>
              <a:pathLst>
                <a:path w="31750" h="31750">
                  <a:moveTo>
                    <a:pt x="15860" y="0"/>
                  </a:moveTo>
                  <a:lnTo>
                    <a:pt x="5550" y="4457"/>
                  </a:lnTo>
                  <a:lnTo>
                    <a:pt x="0" y="13390"/>
                  </a:lnTo>
                  <a:lnTo>
                    <a:pt x="5550" y="26784"/>
                  </a:lnTo>
                  <a:lnTo>
                    <a:pt x="15860" y="31249"/>
                  </a:lnTo>
                  <a:lnTo>
                    <a:pt x="26171" y="26784"/>
                  </a:lnTo>
                  <a:lnTo>
                    <a:pt x="31721" y="13390"/>
                  </a:lnTo>
                  <a:lnTo>
                    <a:pt x="26171" y="4457"/>
                  </a:lnTo>
                  <a:lnTo>
                    <a:pt x="15860" y="0"/>
                  </a:lnTo>
                  <a:close/>
                </a:path>
              </a:pathLst>
            </a:custGeom>
            <a:solidFill>
              <a:srgbClr val="1F1A17"/>
            </a:solidFill>
          </p:spPr>
          <p:txBody>
            <a:bodyPr wrap="square" lIns="0" tIns="0" rIns="0" bIns="0" rtlCol="0"/>
            <a:lstStyle/>
            <a:p>
              <a:endParaRPr/>
            </a:p>
          </p:txBody>
        </p:sp>
        <p:sp>
          <p:nvSpPr>
            <p:cNvPr id="34" name="object 34"/>
            <p:cNvSpPr/>
            <p:nvPr/>
          </p:nvSpPr>
          <p:spPr>
            <a:xfrm>
              <a:off x="4270569" y="4849316"/>
              <a:ext cx="31750" cy="31750"/>
            </a:xfrm>
            <a:custGeom>
              <a:avLst/>
              <a:gdLst/>
              <a:ahLst/>
              <a:cxnLst/>
              <a:rect l="l" t="t" r="r" b="b"/>
              <a:pathLst>
                <a:path w="31750" h="31750">
                  <a:moveTo>
                    <a:pt x="15860" y="0"/>
                  </a:moveTo>
                  <a:lnTo>
                    <a:pt x="26171" y="4465"/>
                  </a:lnTo>
                  <a:lnTo>
                    <a:pt x="31721" y="13393"/>
                  </a:lnTo>
                  <a:lnTo>
                    <a:pt x="26171" y="26787"/>
                  </a:lnTo>
                  <a:lnTo>
                    <a:pt x="15860" y="31252"/>
                  </a:lnTo>
                  <a:lnTo>
                    <a:pt x="5550" y="26787"/>
                  </a:lnTo>
                  <a:lnTo>
                    <a:pt x="0" y="13393"/>
                  </a:lnTo>
                  <a:lnTo>
                    <a:pt x="5550" y="4465"/>
                  </a:lnTo>
                  <a:lnTo>
                    <a:pt x="15860" y="0"/>
                  </a:lnTo>
                </a:path>
              </a:pathLst>
            </a:custGeom>
            <a:ln w="5003">
              <a:solidFill>
                <a:srgbClr val="1F1A17"/>
              </a:solidFill>
            </a:ln>
          </p:spPr>
          <p:txBody>
            <a:bodyPr wrap="square" lIns="0" tIns="0" rIns="0" bIns="0" rtlCol="0"/>
            <a:lstStyle/>
            <a:p>
              <a:endParaRPr/>
            </a:p>
          </p:txBody>
        </p:sp>
      </p:grpSp>
      <p:grpSp>
        <p:nvGrpSpPr>
          <p:cNvPr id="35" name="object 35"/>
          <p:cNvGrpSpPr/>
          <p:nvPr/>
        </p:nvGrpSpPr>
        <p:grpSpPr>
          <a:xfrm>
            <a:off x="6330922" y="3454388"/>
            <a:ext cx="45085" cy="43180"/>
            <a:chOff x="6330922" y="3454388"/>
            <a:chExt cx="45085" cy="43180"/>
          </a:xfrm>
        </p:grpSpPr>
        <p:sp>
          <p:nvSpPr>
            <p:cNvPr id="36" name="object 36"/>
            <p:cNvSpPr/>
            <p:nvPr/>
          </p:nvSpPr>
          <p:spPr>
            <a:xfrm>
              <a:off x="6330922" y="3454388"/>
              <a:ext cx="31115" cy="31750"/>
            </a:xfrm>
            <a:custGeom>
              <a:avLst/>
              <a:gdLst/>
              <a:ahLst/>
              <a:cxnLst/>
              <a:rect l="l" t="t" r="r" b="b"/>
              <a:pathLst>
                <a:path w="31114" h="31750">
                  <a:moveTo>
                    <a:pt x="15073" y="0"/>
                  </a:moveTo>
                  <a:lnTo>
                    <a:pt x="0" y="4483"/>
                  </a:lnTo>
                  <a:lnTo>
                    <a:pt x="0" y="26797"/>
                  </a:lnTo>
                  <a:lnTo>
                    <a:pt x="15073" y="31255"/>
                  </a:lnTo>
                  <a:lnTo>
                    <a:pt x="25360" y="26797"/>
                  </a:lnTo>
                  <a:lnTo>
                    <a:pt x="30927" y="17882"/>
                  </a:lnTo>
                  <a:lnTo>
                    <a:pt x="25360" y="4483"/>
                  </a:lnTo>
                  <a:lnTo>
                    <a:pt x="15073" y="0"/>
                  </a:lnTo>
                  <a:close/>
                </a:path>
              </a:pathLst>
            </a:custGeom>
            <a:solidFill>
              <a:srgbClr val="1F1A17"/>
            </a:solidFill>
          </p:spPr>
          <p:txBody>
            <a:bodyPr wrap="square" lIns="0" tIns="0" rIns="0" bIns="0" rtlCol="0"/>
            <a:lstStyle/>
            <a:p>
              <a:endParaRPr/>
            </a:p>
          </p:txBody>
        </p:sp>
        <p:sp>
          <p:nvSpPr>
            <p:cNvPr id="37" name="object 37"/>
            <p:cNvSpPr/>
            <p:nvPr/>
          </p:nvSpPr>
          <p:spPr>
            <a:xfrm>
              <a:off x="6342023" y="3463329"/>
              <a:ext cx="31115" cy="31750"/>
            </a:xfrm>
            <a:custGeom>
              <a:avLst/>
              <a:gdLst/>
              <a:ahLst/>
              <a:cxnLst/>
              <a:rect l="l" t="t" r="r" b="b"/>
              <a:pathLst>
                <a:path w="31114" h="31750">
                  <a:moveTo>
                    <a:pt x="15073" y="0"/>
                  </a:moveTo>
                  <a:lnTo>
                    <a:pt x="25360" y="4457"/>
                  </a:lnTo>
                  <a:lnTo>
                    <a:pt x="30927" y="17856"/>
                  </a:lnTo>
                  <a:lnTo>
                    <a:pt x="25360" y="26797"/>
                  </a:lnTo>
                  <a:lnTo>
                    <a:pt x="15073" y="31255"/>
                  </a:lnTo>
                  <a:lnTo>
                    <a:pt x="0" y="26797"/>
                  </a:lnTo>
                  <a:lnTo>
                    <a:pt x="0" y="17856"/>
                  </a:lnTo>
                  <a:lnTo>
                    <a:pt x="0" y="4457"/>
                  </a:lnTo>
                  <a:lnTo>
                    <a:pt x="15073" y="0"/>
                  </a:lnTo>
                </a:path>
              </a:pathLst>
            </a:custGeom>
            <a:ln w="5016">
              <a:solidFill>
                <a:srgbClr val="1F1A17"/>
              </a:solidFill>
            </a:ln>
          </p:spPr>
          <p:txBody>
            <a:bodyPr wrap="square" lIns="0" tIns="0" rIns="0" bIns="0" rtlCol="0"/>
            <a:lstStyle/>
            <a:p>
              <a:endParaRPr/>
            </a:p>
          </p:txBody>
        </p:sp>
      </p:grpSp>
      <p:grpSp>
        <p:nvGrpSpPr>
          <p:cNvPr id="38" name="object 38"/>
          <p:cNvGrpSpPr/>
          <p:nvPr/>
        </p:nvGrpSpPr>
        <p:grpSpPr>
          <a:xfrm>
            <a:off x="6304747" y="4849316"/>
            <a:ext cx="45085" cy="43180"/>
            <a:chOff x="6304747" y="4849316"/>
            <a:chExt cx="45085" cy="43180"/>
          </a:xfrm>
        </p:grpSpPr>
        <p:sp>
          <p:nvSpPr>
            <p:cNvPr id="39" name="object 39"/>
            <p:cNvSpPr/>
            <p:nvPr/>
          </p:nvSpPr>
          <p:spPr>
            <a:xfrm>
              <a:off x="6304747" y="4849316"/>
              <a:ext cx="31115" cy="31750"/>
            </a:xfrm>
            <a:custGeom>
              <a:avLst/>
              <a:gdLst/>
              <a:ahLst/>
              <a:cxnLst/>
              <a:rect l="l" t="t" r="r" b="b"/>
              <a:pathLst>
                <a:path w="31114" h="31750">
                  <a:moveTo>
                    <a:pt x="15854" y="0"/>
                  </a:moveTo>
                  <a:lnTo>
                    <a:pt x="5566" y="4465"/>
                  </a:lnTo>
                  <a:lnTo>
                    <a:pt x="0" y="13393"/>
                  </a:lnTo>
                  <a:lnTo>
                    <a:pt x="5566" y="26787"/>
                  </a:lnTo>
                  <a:lnTo>
                    <a:pt x="15854" y="31252"/>
                  </a:lnTo>
                  <a:lnTo>
                    <a:pt x="26174" y="26787"/>
                  </a:lnTo>
                  <a:lnTo>
                    <a:pt x="30927" y="13393"/>
                  </a:lnTo>
                  <a:lnTo>
                    <a:pt x="26174" y="4465"/>
                  </a:lnTo>
                  <a:lnTo>
                    <a:pt x="15854" y="0"/>
                  </a:lnTo>
                  <a:close/>
                </a:path>
              </a:pathLst>
            </a:custGeom>
            <a:solidFill>
              <a:srgbClr val="1F1A17"/>
            </a:solidFill>
          </p:spPr>
          <p:txBody>
            <a:bodyPr wrap="square" lIns="0" tIns="0" rIns="0" bIns="0" rtlCol="0"/>
            <a:lstStyle/>
            <a:p>
              <a:endParaRPr/>
            </a:p>
          </p:txBody>
        </p:sp>
        <p:sp>
          <p:nvSpPr>
            <p:cNvPr id="40" name="object 40"/>
            <p:cNvSpPr/>
            <p:nvPr/>
          </p:nvSpPr>
          <p:spPr>
            <a:xfrm>
              <a:off x="6315849" y="4858244"/>
              <a:ext cx="31115" cy="31750"/>
            </a:xfrm>
            <a:custGeom>
              <a:avLst/>
              <a:gdLst/>
              <a:ahLst/>
              <a:cxnLst/>
              <a:rect l="l" t="t" r="r" b="b"/>
              <a:pathLst>
                <a:path w="31114" h="31750">
                  <a:moveTo>
                    <a:pt x="15854" y="0"/>
                  </a:moveTo>
                  <a:lnTo>
                    <a:pt x="26174" y="4465"/>
                  </a:lnTo>
                  <a:lnTo>
                    <a:pt x="30927" y="13396"/>
                  </a:lnTo>
                  <a:lnTo>
                    <a:pt x="26174" y="26789"/>
                  </a:lnTo>
                  <a:lnTo>
                    <a:pt x="15854" y="31255"/>
                  </a:lnTo>
                  <a:lnTo>
                    <a:pt x="5566" y="26789"/>
                  </a:lnTo>
                  <a:lnTo>
                    <a:pt x="0" y="13396"/>
                  </a:lnTo>
                  <a:lnTo>
                    <a:pt x="5566" y="4465"/>
                  </a:lnTo>
                  <a:lnTo>
                    <a:pt x="15854" y="0"/>
                  </a:lnTo>
                </a:path>
              </a:pathLst>
            </a:custGeom>
            <a:ln w="5016">
              <a:solidFill>
                <a:srgbClr val="1F1A17"/>
              </a:solidFill>
            </a:ln>
          </p:spPr>
          <p:txBody>
            <a:bodyPr wrap="square" lIns="0" tIns="0" rIns="0" bIns="0" rtlCol="0"/>
            <a:lstStyle/>
            <a:p>
              <a:endParaRPr/>
            </a:p>
          </p:txBody>
        </p:sp>
      </p:grpSp>
      <p:grpSp>
        <p:nvGrpSpPr>
          <p:cNvPr id="41" name="object 41"/>
          <p:cNvGrpSpPr/>
          <p:nvPr/>
        </p:nvGrpSpPr>
        <p:grpSpPr>
          <a:xfrm>
            <a:off x="4306256" y="4853782"/>
            <a:ext cx="1864995" cy="245110"/>
            <a:chOff x="4306256" y="4853782"/>
            <a:chExt cx="1864995" cy="245110"/>
          </a:xfrm>
        </p:grpSpPr>
        <p:sp>
          <p:nvSpPr>
            <p:cNvPr id="42" name="object 42"/>
            <p:cNvSpPr/>
            <p:nvPr/>
          </p:nvSpPr>
          <p:spPr>
            <a:xfrm>
              <a:off x="4306256" y="4871640"/>
              <a:ext cx="1833880" cy="227329"/>
            </a:xfrm>
            <a:custGeom>
              <a:avLst/>
              <a:gdLst/>
              <a:ahLst/>
              <a:cxnLst/>
              <a:rect l="l" t="t" r="r" b="b"/>
              <a:pathLst>
                <a:path w="1833879" h="227329">
                  <a:moveTo>
                    <a:pt x="1828000" y="0"/>
                  </a:moveTo>
                  <a:lnTo>
                    <a:pt x="1740752" y="35717"/>
                  </a:lnTo>
                  <a:lnTo>
                    <a:pt x="1595621" y="89294"/>
                  </a:lnTo>
                  <a:lnTo>
                    <a:pt x="1502839" y="116081"/>
                  </a:lnTo>
                  <a:lnTo>
                    <a:pt x="1399736" y="142871"/>
                  </a:lnTo>
                  <a:lnTo>
                    <a:pt x="1167390" y="186880"/>
                  </a:lnTo>
                  <a:lnTo>
                    <a:pt x="1032546" y="200274"/>
                  </a:lnTo>
                  <a:lnTo>
                    <a:pt x="898516" y="204739"/>
                  </a:lnTo>
                  <a:lnTo>
                    <a:pt x="754199" y="204739"/>
                  </a:lnTo>
                  <a:lnTo>
                    <a:pt x="682024" y="200274"/>
                  </a:lnTo>
                  <a:lnTo>
                    <a:pt x="536893" y="182415"/>
                  </a:lnTo>
                  <a:lnTo>
                    <a:pt x="310081" y="129478"/>
                  </a:lnTo>
                  <a:lnTo>
                    <a:pt x="237906" y="102688"/>
                  </a:lnTo>
                  <a:lnTo>
                    <a:pt x="160197" y="71435"/>
                  </a:lnTo>
                  <a:lnTo>
                    <a:pt x="88022" y="40183"/>
                  </a:lnTo>
                  <a:lnTo>
                    <a:pt x="10310" y="0"/>
                  </a:lnTo>
                  <a:lnTo>
                    <a:pt x="0" y="17858"/>
                  </a:lnTo>
                  <a:lnTo>
                    <a:pt x="77719" y="58042"/>
                  </a:lnTo>
                  <a:lnTo>
                    <a:pt x="149877" y="89294"/>
                  </a:lnTo>
                  <a:lnTo>
                    <a:pt x="227619" y="120547"/>
                  </a:lnTo>
                  <a:lnTo>
                    <a:pt x="304547" y="147337"/>
                  </a:lnTo>
                  <a:lnTo>
                    <a:pt x="382256" y="164556"/>
                  </a:lnTo>
                  <a:lnTo>
                    <a:pt x="454431" y="182415"/>
                  </a:lnTo>
                  <a:lnTo>
                    <a:pt x="532140" y="200274"/>
                  </a:lnTo>
                  <a:lnTo>
                    <a:pt x="609850" y="209204"/>
                  </a:lnTo>
                  <a:lnTo>
                    <a:pt x="682024" y="218134"/>
                  </a:lnTo>
                  <a:lnTo>
                    <a:pt x="826374" y="227063"/>
                  </a:lnTo>
                  <a:lnTo>
                    <a:pt x="898516" y="222598"/>
                  </a:lnTo>
                  <a:lnTo>
                    <a:pt x="1038113" y="218134"/>
                  </a:lnTo>
                  <a:lnTo>
                    <a:pt x="1167390" y="204739"/>
                  </a:lnTo>
                  <a:lnTo>
                    <a:pt x="1291100" y="182415"/>
                  </a:lnTo>
                  <a:lnTo>
                    <a:pt x="1404489" y="160093"/>
                  </a:lnTo>
                  <a:lnTo>
                    <a:pt x="1513159" y="133940"/>
                  </a:lnTo>
                  <a:lnTo>
                    <a:pt x="1751072" y="53576"/>
                  </a:lnTo>
                  <a:lnTo>
                    <a:pt x="1833534" y="17858"/>
                  </a:lnTo>
                  <a:lnTo>
                    <a:pt x="1828000" y="0"/>
                  </a:lnTo>
                  <a:close/>
                </a:path>
              </a:pathLst>
            </a:custGeom>
            <a:solidFill>
              <a:srgbClr val="1F1A17"/>
            </a:solidFill>
          </p:spPr>
          <p:txBody>
            <a:bodyPr wrap="square" lIns="0" tIns="0" rIns="0" bIns="0" rtlCol="0"/>
            <a:lstStyle/>
            <a:p>
              <a:endParaRPr/>
            </a:p>
          </p:txBody>
        </p:sp>
        <p:pic>
          <p:nvPicPr>
            <p:cNvPr id="43" name="object 43"/>
            <p:cNvPicPr/>
            <p:nvPr/>
          </p:nvPicPr>
          <p:blipFill>
            <a:blip r:embed="rId7" cstate="print"/>
            <a:stretch>
              <a:fillRect/>
            </a:stretch>
          </p:blipFill>
          <p:spPr>
            <a:xfrm>
              <a:off x="6051761" y="4853782"/>
              <a:ext cx="118956" cy="102688"/>
            </a:xfrm>
            <a:prstGeom prst="rect">
              <a:avLst/>
            </a:prstGeom>
          </p:spPr>
        </p:pic>
      </p:grpSp>
      <p:sp>
        <p:nvSpPr>
          <p:cNvPr id="44" name="object 44"/>
          <p:cNvSpPr txBox="1"/>
          <p:nvPr/>
        </p:nvSpPr>
        <p:spPr>
          <a:xfrm>
            <a:off x="441145" y="5419388"/>
            <a:ext cx="2875915" cy="1135760"/>
          </a:xfrm>
          <a:prstGeom prst="rect">
            <a:avLst/>
          </a:prstGeom>
        </p:spPr>
        <p:txBody>
          <a:bodyPr vert="horz" wrap="square" lIns="0" tIns="10795" rIns="0" bIns="0" rtlCol="0">
            <a:spAutoFit/>
          </a:bodyPr>
          <a:lstStyle/>
          <a:p>
            <a:pPr marL="38100" marR="30480">
              <a:lnSpc>
                <a:spcPct val="102499"/>
              </a:lnSpc>
              <a:spcBef>
                <a:spcPts val="85"/>
              </a:spcBef>
            </a:pPr>
            <a:r>
              <a:rPr sz="1450" spc="130" dirty="0">
                <a:solidFill>
                  <a:srgbClr val="0070C0"/>
                </a:solidFill>
                <a:latin typeface="Times New Roman"/>
                <a:cs typeface="Times New Roman"/>
              </a:rPr>
              <a:t>R</a:t>
            </a:r>
            <a:r>
              <a:rPr sz="1500" spc="195" baseline="-19444" dirty="0">
                <a:solidFill>
                  <a:srgbClr val="0070C0"/>
                </a:solidFill>
                <a:latin typeface="Times New Roman"/>
                <a:cs typeface="Times New Roman"/>
              </a:rPr>
              <a:t>3</a:t>
            </a:r>
            <a:r>
              <a:rPr sz="1500" spc="270" baseline="-19444" dirty="0">
                <a:solidFill>
                  <a:srgbClr val="0070C0"/>
                </a:solidFill>
                <a:latin typeface="Times New Roman"/>
                <a:cs typeface="Times New Roman"/>
              </a:rPr>
              <a:t> </a:t>
            </a:r>
            <a:r>
              <a:rPr sz="1450" spc="85" dirty="0">
                <a:solidFill>
                  <a:srgbClr val="0070C0"/>
                </a:solidFill>
                <a:latin typeface="Times New Roman"/>
                <a:cs typeface="Times New Roman"/>
              </a:rPr>
              <a:t>is</a:t>
            </a:r>
            <a:r>
              <a:rPr sz="1450" spc="75" dirty="0">
                <a:solidFill>
                  <a:srgbClr val="0070C0"/>
                </a:solidFill>
                <a:latin typeface="Times New Roman"/>
                <a:cs typeface="Times New Roman"/>
              </a:rPr>
              <a:t> </a:t>
            </a:r>
            <a:r>
              <a:rPr sz="1450" spc="114" dirty="0">
                <a:solidFill>
                  <a:srgbClr val="0070C0"/>
                </a:solidFill>
                <a:latin typeface="Times New Roman"/>
                <a:cs typeface="Times New Roman"/>
              </a:rPr>
              <a:t>not</a:t>
            </a:r>
            <a:r>
              <a:rPr sz="1450" spc="70" dirty="0">
                <a:solidFill>
                  <a:srgbClr val="0070C0"/>
                </a:solidFill>
                <a:latin typeface="Times New Roman"/>
                <a:cs typeface="Times New Roman"/>
              </a:rPr>
              <a:t> </a:t>
            </a:r>
            <a:r>
              <a:rPr sz="1450" spc="125" dirty="0">
                <a:solidFill>
                  <a:srgbClr val="0070C0"/>
                </a:solidFill>
                <a:latin typeface="Times New Roman"/>
                <a:cs typeface="Times New Roman"/>
              </a:rPr>
              <a:t>symmetric</a:t>
            </a:r>
            <a:r>
              <a:rPr sz="1450" spc="75" dirty="0">
                <a:solidFill>
                  <a:srgbClr val="0070C0"/>
                </a:solidFill>
                <a:latin typeface="Times New Roman"/>
                <a:cs typeface="Times New Roman"/>
              </a:rPr>
              <a:t> </a:t>
            </a:r>
            <a:r>
              <a:rPr sz="1450" spc="110" dirty="0">
                <a:latin typeface="Times New Roman"/>
                <a:cs typeface="Times New Roman"/>
              </a:rPr>
              <a:t>since</a:t>
            </a:r>
            <a:r>
              <a:rPr sz="1450" spc="75" dirty="0">
                <a:latin typeface="Times New Roman"/>
                <a:cs typeface="Times New Roman"/>
              </a:rPr>
              <a:t> </a:t>
            </a:r>
            <a:r>
              <a:rPr sz="1450" spc="95" dirty="0">
                <a:latin typeface="Times New Roman"/>
                <a:cs typeface="Times New Roman"/>
              </a:rPr>
              <a:t>there </a:t>
            </a:r>
            <a:r>
              <a:rPr sz="1450" spc="105" dirty="0">
                <a:latin typeface="Times New Roman"/>
                <a:cs typeface="Times New Roman"/>
              </a:rPr>
              <a:t>are</a:t>
            </a:r>
            <a:r>
              <a:rPr sz="1450" spc="70" dirty="0">
                <a:latin typeface="Times New Roman"/>
                <a:cs typeface="Times New Roman"/>
              </a:rPr>
              <a:t> </a:t>
            </a:r>
            <a:r>
              <a:rPr sz="1450" spc="120" dirty="0">
                <a:latin typeface="Times New Roman"/>
                <a:cs typeface="Times New Roman"/>
              </a:rPr>
              <a:t>arrows</a:t>
            </a:r>
            <a:r>
              <a:rPr sz="1450" spc="70" dirty="0">
                <a:latin typeface="Times New Roman"/>
                <a:cs typeface="Times New Roman"/>
              </a:rPr>
              <a:t> </a:t>
            </a:r>
            <a:r>
              <a:rPr sz="1450" spc="125" dirty="0">
                <a:latin typeface="Times New Roman"/>
                <a:cs typeface="Times New Roman"/>
              </a:rPr>
              <a:t>from</a:t>
            </a:r>
            <a:r>
              <a:rPr sz="1450" spc="50" dirty="0">
                <a:latin typeface="Times New Roman"/>
                <a:cs typeface="Times New Roman"/>
              </a:rPr>
              <a:t> </a:t>
            </a:r>
            <a:r>
              <a:rPr sz="1450" spc="130" dirty="0">
                <a:latin typeface="Times New Roman"/>
                <a:cs typeface="Times New Roman"/>
              </a:rPr>
              <a:t>2</a:t>
            </a:r>
            <a:r>
              <a:rPr sz="1450" spc="80" dirty="0">
                <a:latin typeface="Times New Roman"/>
                <a:cs typeface="Times New Roman"/>
              </a:rPr>
              <a:t> </a:t>
            </a:r>
            <a:r>
              <a:rPr sz="1450" spc="100" dirty="0">
                <a:latin typeface="Times New Roman"/>
                <a:cs typeface="Times New Roman"/>
              </a:rPr>
              <a:t>to</a:t>
            </a:r>
            <a:r>
              <a:rPr sz="1450" spc="75" dirty="0">
                <a:latin typeface="Times New Roman"/>
                <a:cs typeface="Times New Roman"/>
              </a:rPr>
              <a:t> </a:t>
            </a:r>
            <a:r>
              <a:rPr sz="1450" spc="130" dirty="0">
                <a:latin typeface="Times New Roman"/>
                <a:cs typeface="Times New Roman"/>
              </a:rPr>
              <a:t>3</a:t>
            </a:r>
            <a:r>
              <a:rPr sz="1450" spc="70" dirty="0">
                <a:latin typeface="Times New Roman"/>
                <a:cs typeface="Times New Roman"/>
              </a:rPr>
              <a:t> </a:t>
            </a:r>
            <a:r>
              <a:rPr sz="1450" spc="125" dirty="0">
                <a:latin typeface="Times New Roman"/>
                <a:cs typeface="Times New Roman"/>
              </a:rPr>
              <a:t>and</a:t>
            </a:r>
            <a:r>
              <a:rPr sz="1450" spc="75" dirty="0">
                <a:latin typeface="Times New Roman"/>
                <a:cs typeface="Times New Roman"/>
              </a:rPr>
              <a:t> </a:t>
            </a:r>
            <a:r>
              <a:rPr sz="1450" spc="105" dirty="0">
                <a:latin typeface="Times New Roman"/>
                <a:cs typeface="Times New Roman"/>
              </a:rPr>
              <a:t>from </a:t>
            </a:r>
            <a:r>
              <a:rPr sz="1450" spc="130" dirty="0">
                <a:latin typeface="Times New Roman"/>
                <a:cs typeface="Times New Roman"/>
              </a:rPr>
              <a:t>3</a:t>
            </a:r>
            <a:r>
              <a:rPr sz="1450" spc="75" dirty="0">
                <a:latin typeface="Times New Roman"/>
                <a:cs typeface="Times New Roman"/>
              </a:rPr>
              <a:t> </a:t>
            </a:r>
            <a:r>
              <a:rPr sz="1450" spc="100" dirty="0">
                <a:latin typeface="Times New Roman"/>
                <a:cs typeface="Times New Roman"/>
              </a:rPr>
              <a:t>to</a:t>
            </a:r>
            <a:r>
              <a:rPr sz="1450" spc="70" dirty="0">
                <a:latin typeface="Times New Roman"/>
                <a:cs typeface="Times New Roman"/>
              </a:rPr>
              <a:t> </a:t>
            </a:r>
            <a:r>
              <a:rPr sz="1450" spc="130" dirty="0">
                <a:latin typeface="Times New Roman"/>
                <a:cs typeface="Times New Roman"/>
              </a:rPr>
              <a:t>4</a:t>
            </a:r>
            <a:r>
              <a:rPr sz="1450" spc="75" dirty="0">
                <a:latin typeface="Times New Roman"/>
                <a:cs typeface="Times New Roman"/>
              </a:rPr>
              <a:t> </a:t>
            </a:r>
            <a:r>
              <a:rPr sz="1450" spc="110" dirty="0">
                <a:latin typeface="Times New Roman"/>
                <a:cs typeface="Times New Roman"/>
              </a:rPr>
              <a:t>but</a:t>
            </a:r>
            <a:r>
              <a:rPr sz="1450" spc="70" dirty="0">
                <a:latin typeface="Times New Roman"/>
                <a:cs typeface="Times New Roman"/>
              </a:rPr>
              <a:t> </a:t>
            </a:r>
            <a:r>
              <a:rPr sz="1450" spc="110" dirty="0">
                <a:latin typeface="Times New Roman"/>
                <a:cs typeface="Times New Roman"/>
              </a:rPr>
              <a:t>not</a:t>
            </a:r>
            <a:r>
              <a:rPr sz="1450" spc="70" dirty="0">
                <a:latin typeface="Times New Roman"/>
                <a:cs typeface="Times New Roman"/>
              </a:rPr>
              <a:t> </a:t>
            </a:r>
            <a:r>
              <a:rPr sz="1450" spc="105" dirty="0">
                <a:latin typeface="Times New Roman"/>
                <a:cs typeface="Times New Roman"/>
              </a:rPr>
              <a:t>conversely</a:t>
            </a:r>
            <a:br>
              <a:rPr lang="en-US" sz="1450" spc="105" dirty="0">
                <a:latin typeface="Times New Roman"/>
                <a:cs typeface="Times New Roman"/>
              </a:rPr>
            </a:br>
            <a:br>
              <a:rPr lang="en-US" sz="1450" spc="105" dirty="0">
                <a:latin typeface="Times New Roman"/>
                <a:cs typeface="Times New Roman"/>
              </a:rPr>
            </a:br>
            <a:r>
              <a:rPr lang="en-US" sz="1450" spc="105" dirty="0">
                <a:latin typeface="Times New Roman"/>
                <a:cs typeface="Times New Roman"/>
              </a:rPr>
              <a:t>But </a:t>
            </a:r>
            <a:r>
              <a:rPr lang="en-US" sz="1450" spc="105" dirty="0">
                <a:solidFill>
                  <a:srgbClr val="C00000"/>
                </a:solidFill>
                <a:latin typeface="Times New Roman"/>
                <a:cs typeface="Times New Roman"/>
              </a:rPr>
              <a:t>R3 is antisymmetric.</a:t>
            </a:r>
            <a:endParaRPr sz="1450" dirty="0">
              <a:solidFill>
                <a:srgbClr val="C00000"/>
              </a:solidFill>
              <a:latin typeface="Times New Roman"/>
              <a:cs typeface="Times New Roman"/>
            </a:endParaRPr>
          </a:p>
        </p:txBody>
      </p:sp>
      <p:sp>
        <p:nvSpPr>
          <p:cNvPr id="45" name="object 45"/>
          <p:cNvSpPr txBox="1"/>
          <p:nvPr/>
        </p:nvSpPr>
        <p:spPr>
          <a:xfrm>
            <a:off x="897517" y="3296932"/>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1</a:t>
            </a:r>
            <a:endParaRPr sz="1450">
              <a:latin typeface="Times New Roman"/>
              <a:cs typeface="Times New Roman"/>
            </a:endParaRPr>
          </a:p>
        </p:txBody>
      </p:sp>
      <p:sp>
        <p:nvSpPr>
          <p:cNvPr id="46" name="object 46"/>
          <p:cNvSpPr txBox="1"/>
          <p:nvPr/>
        </p:nvSpPr>
        <p:spPr>
          <a:xfrm>
            <a:off x="2699047" y="3686136"/>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2</a:t>
            </a:r>
            <a:endParaRPr sz="1450">
              <a:latin typeface="Times New Roman"/>
              <a:cs typeface="Times New Roman"/>
            </a:endParaRPr>
          </a:p>
        </p:txBody>
      </p:sp>
      <p:sp>
        <p:nvSpPr>
          <p:cNvPr id="47" name="object 47"/>
          <p:cNvSpPr txBox="1"/>
          <p:nvPr/>
        </p:nvSpPr>
        <p:spPr>
          <a:xfrm>
            <a:off x="651575" y="4782554"/>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4</a:t>
            </a:r>
            <a:endParaRPr sz="1450">
              <a:latin typeface="Times New Roman"/>
              <a:cs typeface="Times New Roman"/>
            </a:endParaRPr>
          </a:p>
        </p:txBody>
      </p:sp>
      <p:sp>
        <p:nvSpPr>
          <p:cNvPr id="48" name="object 48"/>
          <p:cNvSpPr txBox="1"/>
          <p:nvPr/>
        </p:nvSpPr>
        <p:spPr>
          <a:xfrm>
            <a:off x="2903726" y="4924055"/>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3</a:t>
            </a:r>
            <a:endParaRPr sz="1450">
              <a:latin typeface="Times New Roman"/>
              <a:cs typeface="Times New Roman"/>
            </a:endParaRPr>
          </a:p>
        </p:txBody>
      </p:sp>
      <p:sp>
        <p:nvSpPr>
          <p:cNvPr id="49" name="object 49"/>
          <p:cNvSpPr txBox="1"/>
          <p:nvPr/>
        </p:nvSpPr>
        <p:spPr>
          <a:xfrm>
            <a:off x="4213943" y="3575575"/>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1</a:t>
            </a:r>
            <a:endParaRPr sz="1450">
              <a:latin typeface="Times New Roman"/>
              <a:cs typeface="Times New Roman"/>
            </a:endParaRPr>
          </a:p>
        </p:txBody>
      </p:sp>
      <p:sp>
        <p:nvSpPr>
          <p:cNvPr id="50" name="object 50"/>
          <p:cNvSpPr txBox="1"/>
          <p:nvPr/>
        </p:nvSpPr>
        <p:spPr>
          <a:xfrm>
            <a:off x="6240128" y="3480808"/>
            <a:ext cx="134620" cy="251460"/>
          </a:xfrm>
          <a:prstGeom prst="rect">
            <a:avLst/>
          </a:prstGeom>
        </p:spPr>
        <p:txBody>
          <a:bodyPr vert="horz" wrap="square" lIns="0" tIns="16510" rIns="0" bIns="0" rtlCol="0">
            <a:spAutoFit/>
          </a:bodyPr>
          <a:lstStyle/>
          <a:p>
            <a:pPr marL="12700">
              <a:lnSpc>
                <a:spcPct val="100000"/>
              </a:lnSpc>
              <a:spcBef>
                <a:spcPts val="130"/>
              </a:spcBef>
            </a:pPr>
            <a:r>
              <a:rPr sz="1450" spc="80" dirty="0">
                <a:latin typeface="Times New Roman"/>
                <a:cs typeface="Times New Roman"/>
              </a:rPr>
              <a:t>2</a:t>
            </a:r>
            <a:endParaRPr sz="1450">
              <a:latin typeface="Times New Roman"/>
              <a:cs typeface="Times New Roman"/>
            </a:endParaRPr>
          </a:p>
        </p:txBody>
      </p:sp>
      <p:sp>
        <p:nvSpPr>
          <p:cNvPr id="51" name="object 51"/>
          <p:cNvSpPr txBox="1"/>
          <p:nvPr/>
        </p:nvSpPr>
        <p:spPr>
          <a:xfrm>
            <a:off x="3990814" y="4924055"/>
            <a:ext cx="2597785" cy="1651927"/>
          </a:xfrm>
          <a:prstGeom prst="rect">
            <a:avLst/>
          </a:prstGeom>
        </p:spPr>
        <p:txBody>
          <a:bodyPr vert="horz" wrap="square" lIns="0" tIns="16510" rIns="0" bIns="0" rtlCol="0">
            <a:spAutoFit/>
          </a:bodyPr>
          <a:lstStyle/>
          <a:p>
            <a:pPr marL="173355">
              <a:lnSpc>
                <a:spcPct val="100000"/>
              </a:lnSpc>
              <a:spcBef>
                <a:spcPts val="130"/>
              </a:spcBef>
              <a:tabLst>
                <a:tab pos="2302510" algn="l"/>
              </a:tabLst>
            </a:pPr>
            <a:r>
              <a:rPr sz="1450" spc="80" dirty="0">
                <a:latin typeface="Times New Roman"/>
                <a:cs typeface="Times New Roman"/>
              </a:rPr>
              <a:t>4</a:t>
            </a:r>
            <a:r>
              <a:rPr sz="1450" dirty="0">
                <a:latin typeface="Times New Roman"/>
                <a:cs typeface="Times New Roman"/>
              </a:rPr>
              <a:t>	</a:t>
            </a:r>
            <a:r>
              <a:rPr sz="1450" spc="70" dirty="0">
                <a:latin typeface="Times New Roman"/>
                <a:cs typeface="Times New Roman"/>
              </a:rPr>
              <a:t>3</a:t>
            </a:r>
            <a:endParaRPr sz="1450" dirty="0">
              <a:latin typeface="Times New Roman"/>
              <a:cs typeface="Times New Roman"/>
            </a:endParaRPr>
          </a:p>
          <a:p>
            <a:pPr>
              <a:lnSpc>
                <a:spcPct val="100000"/>
              </a:lnSpc>
              <a:spcBef>
                <a:spcPts val="450"/>
              </a:spcBef>
            </a:pPr>
            <a:endParaRPr sz="1450" dirty="0">
              <a:latin typeface="Times New Roman"/>
              <a:cs typeface="Times New Roman"/>
            </a:endParaRPr>
          </a:p>
          <a:p>
            <a:pPr marL="50800" marR="43180">
              <a:lnSpc>
                <a:spcPct val="102499"/>
              </a:lnSpc>
            </a:pPr>
            <a:r>
              <a:rPr sz="1450" spc="130" dirty="0">
                <a:solidFill>
                  <a:srgbClr val="0070C0"/>
                </a:solidFill>
                <a:latin typeface="Times New Roman"/>
                <a:cs typeface="Times New Roman"/>
              </a:rPr>
              <a:t>R</a:t>
            </a:r>
            <a:r>
              <a:rPr sz="1500" spc="195" baseline="-19444" dirty="0">
                <a:solidFill>
                  <a:srgbClr val="0070C0"/>
                </a:solidFill>
                <a:latin typeface="Times New Roman"/>
                <a:cs typeface="Times New Roman"/>
              </a:rPr>
              <a:t>4</a:t>
            </a:r>
            <a:r>
              <a:rPr sz="1500" spc="270" baseline="-19444" dirty="0">
                <a:solidFill>
                  <a:srgbClr val="0070C0"/>
                </a:solidFill>
                <a:latin typeface="Times New Roman"/>
                <a:cs typeface="Times New Roman"/>
              </a:rPr>
              <a:t> </a:t>
            </a:r>
            <a:r>
              <a:rPr sz="1450" spc="85" dirty="0">
                <a:solidFill>
                  <a:srgbClr val="0070C0"/>
                </a:solidFill>
                <a:latin typeface="Times New Roman"/>
                <a:cs typeface="Times New Roman"/>
              </a:rPr>
              <a:t>is</a:t>
            </a:r>
            <a:r>
              <a:rPr sz="1450" spc="70" dirty="0">
                <a:solidFill>
                  <a:srgbClr val="0070C0"/>
                </a:solidFill>
                <a:latin typeface="Times New Roman"/>
                <a:cs typeface="Times New Roman"/>
              </a:rPr>
              <a:t> </a:t>
            </a:r>
            <a:r>
              <a:rPr sz="1450" spc="114" dirty="0">
                <a:solidFill>
                  <a:srgbClr val="0070C0"/>
                </a:solidFill>
                <a:latin typeface="Times New Roman"/>
                <a:cs typeface="Times New Roman"/>
              </a:rPr>
              <a:t>not</a:t>
            </a:r>
            <a:r>
              <a:rPr sz="1450" spc="75" dirty="0">
                <a:solidFill>
                  <a:srgbClr val="0070C0"/>
                </a:solidFill>
                <a:latin typeface="Times New Roman"/>
                <a:cs typeface="Times New Roman"/>
              </a:rPr>
              <a:t> </a:t>
            </a:r>
            <a:r>
              <a:rPr sz="1450" spc="125" dirty="0">
                <a:solidFill>
                  <a:srgbClr val="0070C0"/>
                </a:solidFill>
                <a:latin typeface="Times New Roman"/>
                <a:cs typeface="Times New Roman"/>
              </a:rPr>
              <a:t>symmetric</a:t>
            </a:r>
            <a:r>
              <a:rPr sz="1450" spc="70" dirty="0">
                <a:solidFill>
                  <a:srgbClr val="0070C0"/>
                </a:solidFill>
                <a:latin typeface="Times New Roman"/>
                <a:cs typeface="Times New Roman"/>
              </a:rPr>
              <a:t> </a:t>
            </a:r>
            <a:r>
              <a:rPr sz="1450" spc="90" dirty="0">
                <a:latin typeface="Times New Roman"/>
                <a:cs typeface="Times New Roman"/>
              </a:rPr>
              <a:t>since </a:t>
            </a:r>
            <a:r>
              <a:rPr sz="1450" spc="105" dirty="0">
                <a:latin typeface="Times New Roman"/>
                <a:cs typeface="Times New Roman"/>
              </a:rPr>
              <a:t>there</a:t>
            </a:r>
            <a:r>
              <a:rPr sz="1450" spc="75" dirty="0">
                <a:latin typeface="Times New Roman"/>
                <a:cs typeface="Times New Roman"/>
              </a:rPr>
              <a:t> </a:t>
            </a:r>
            <a:r>
              <a:rPr sz="1450" spc="85" dirty="0">
                <a:latin typeface="Times New Roman"/>
                <a:cs typeface="Times New Roman"/>
              </a:rPr>
              <a:t>is</a:t>
            </a:r>
            <a:r>
              <a:rPr sz="1450" spc="75" dirty="0">
                <a:latin typeface="Times New Roman"/>
                <a:cs typeface="Times New Roman"/>
              </a:rPr>
              <a:t> </a:t>
            </a:r>
            <a:r>
              <a:rPr sz="1450" spc="120" dirty="0">
                <a:latin typeface="Times New Roman"/>
                <a:cs typeface="Times New Roman"/>
              </a:rPr>
              <a:t>an</a:t>
            </a:r>
            <a:r>
              <a:rPr sz="1450" spc="80" dirty="0">
                <a:latin typeface="Times New Roman"/>
                <a:cs typeface="Times New Roman"/>
              </a:rPr>
              <a:t> </a:t>
            </a:r>
            <a:r>
              <a:rPr sz="1450" spc="114" dirty="0">
                <a:latin typeface="Times New Roman"/>
                <a:cs typeface="Times New Roman"/>
              </a:rPr>
              <a:t>arrow</a:t>
            </a:r>
            <a:r>
              <a:rPr sz="1450" spc="75" dirty="0">
                <a:latin typeface="Times New Roman"/>
                <a:cs typeface="Times New Roman"/>
              </a:rPr>
              <a:t> </a:t>
            </a:r>
            <a:r>
              <a:rPr sz="1450" spc="130" dirty="0">
                <a:latin typeface="Times New Roman"/>
                <a:cs typeface="Times New Roman"/>
              </a:rPr>
              <a:t>from</a:t>
            </a:r>
            <a:r>
              <a:rPr sz="1450" spc="50" dirty="0">
                <a:latin typeface="Times New Roman"/>
                <a:cs typeface="Times New Roman"/>
              </a:rPr>
              <a:t> </a:t>
            </a:r>
            <a:r>
              <a:rPr sz="1450" spc="130" dirty="0">
                <a:latin typeface="Times New Roman"/>
                <a:cs typeface="Times New Roman"/>
              </a:rPr>
              <a:t>4</a:t>
            </a:r>
            <a:r>
              <a:rPr sz="1450" spc="85" dirty="0">
                <a:latin typeface="Times New Roman"/>
                <a:cs typeface="Times New Roman"/>
              </a:rPr>
              <a:t> </a:t>
            </a:r>
            <a:r>
              <a:rPr sz="1450" spc="100" dirty="0">
                <a:latin typeface="Times New Roman"/>
                <a:cs typeface="Times New Roman"/>
              </a:rPr>
              <a:t>to</a:t>
            </a:r>
            <a:r>
              <a:rPr sz="1450" spc="75" dirty="0">
                <a:latin typeface="Times New Roman"/>
                <a:cs typeface="Times New Roman"/>
              </a:rPr>
              <a:t> </a:t>
            </a:r>
            <a:r>
              <a:rPr sz="1450" spc="80" dirty="0">
                <a:latin typeface="Times New Roman"/>
                <a:cs typeface="Times New Roman"/>
              </a:rPr>
              <a:t>3 </a:t>
            </a:r>
            <a:r>
              <a:rPr sz="1450" spc="114" dirty="0">
                <a:latin typeface="Times New Roman"/>
                <a:cs typeface="Times New Roman"/>
              </a:rPr>
              <a:t>but</a:t>
            </a:r>
            <a:r>
              <a:rPr sz="1450" spc="65" dirty="0">
                <a:latin typeface="Times New Roman"/>
                <a:cs typeface="Times New Roman"/>
              </a:rPr>
              <a:t> </a:t>
            </a:r>
            <a:r>
              <a:rPr sz="1450" spc="130" dirty="0">
                <a:latin typeface="Times New Roman"/>
                <a:cs typeface="Times New Roman"/>
              </a:rPr>
              <a:t>no</a:t>
            </a:r>
            <a:r>
              <a:rPr sz="1450" spc="75" dirty="0">
                <a:latin typeface="Times New Roman"/>
                <a:cs typeface="Times New Roman"/>
              </a:rPr>
              <a:t> </a:t>
            </a:r>
            <a:r>
              <a:rPr sz="1450" spc="114" dirty="0">
                <a:latin typeface="Times New Roman"/>
                <a:cs typeface="Times New Roman"/>
              </a:rPr>
              <a:t>arrow</a:t>
            </a:r>
            <a:r>
              <a:rPr sz="1450" spc="65" dirty="0">
                <a:latin typeface="Times New Roman"/>
                <a:cs typeface="Times New Roman"/>
              </a:rPr>
              <a:t> </a:t>
            </a:r>
            <a:r>
              <a:rPr sz="1450" spc="130" dirty="0">
                <a:latin typeface="Times New Roman"/>
                <a:cs typeface="Times New Roman"/>
              </a:rPr>
              <a:t>from</a:t>
            </a:r>
            <a:r>
              <a:rPr sz="1450" spc="60" dirty="0">
                <a:latin typeface="Times New Roman"/>
                <a:cs typeface="Times New Roman"/>
              </a:rPr>
              <a:t> </a:t>
            </a:r>
            <a:r>
              <a:rPr sz="1450" spc="130" dirty="0">
                <a:latin typeface="Times New Roman"/>
                <a:cs typeface="Times New Roman"/>
              </a:rPr>
              <a:t>3</a:t>
            </a:r>
            <a:r>
              <a:rPr sz="1450" spc="75" dirty="0">
                <a:latin typeface="Times New Roman"/>
                <a:cs typeface="Times New Roman"/>
              </a:rPr>
              <a:t> </a:t>
            </a:r>
            <a:r>
              <a:rPr sz="1450" spc="100" dirty="0">
                <a:latin typeface="Times New Roman"/>
                <a:cs typeface="Times New Roman"/>
              </a:rPr>
              <a:t>to</a:t>
            </a:r>
            <a:r>
              <a:rPr sz="1450" spc="65" dirty="0">
                <a:latin typeface="Times New Roman"/>
                <a:cs typeface="Times New Roman"/>
              </a:rPr>
              <a:t> </a:t>
            </a:r>
            <a:r>
              <a:rPr sz="1450" spc="80" dirty="0">
                <a:latin typeface="Times New Roman"/>
                <a:cs typeface="Times New Roman"/>
              </a:rPr>
              <a:t>4</a:t>
            </a:r>
            <a:br>
              <a:rPr lang="en-US" sz="1450" spc="80" dirty="0">
                <a:latin typeface="Times New Roman"/>
                <a:cs typeface="Times New Roman"/>
              </a:rPr>
            </a:br>
            <a:br>
              <a:rPr lang="en-US" sz="1450" spc="80" dirty="0">
                <a:latin typeface="Times New Roman"/>
                <a:cs typeface="Times New Roman"/>
              </a:rPr>
            </a:br>
            <a:r>
              <a:rPr lang="en-US" sz="1450" spc="80" dirty="0">
                <a:latin typeface="Times New Roman"/>
                <a:cs typeface="Times New Roman"/>
              </a:rPr>
              <a:t>But </a:t>
            </a:r>
            <a:r>
              <a:rPr lang="en-US" sz="1450" spc="80" dirty="0">
                <a:solidFill>
                  <a:srgbClr val="C00000"/>
                </a:solidFill>
                <a:latin typeface="Times New Roman"/>
                <a:cs typeface="Times New Roman"/>
              </a:rPr>
              <a:t>R4 is antisymmetric.</a:t>
            </a:r>
            <a:endParaRPr sz="1450" dirty="0">
              <a:solidFill>
                <a:srgbClr val="C00000"/>
              </a:solidFill>
              <a:latin typeface="Times New Roman"/>
              <a:cs typeface="Times New Roman"/>
            </a:endParaRPr>
          </a:p>
        </p:txBody>
      </p:sp>
      <p:grpSp>
        <p:nvGrpSpPr>
          <p:cNvPr id="52" name="object 52"/>
          <p:cNvGrpSpPr/>
          <p:nvPr/>
        </p:nvGrpSpPr>
        <p:grpSpPr>
          <a:xfrm>
            <a:off x="506182" y="103577"/>
            <a:ext cx="2312670" cy="1934210"/>
            <a:chOff x="506182" y="103577"/>
            <a:chExt cx="2312670" cy="1934210"/>
          </a:xfrm>
        </p:grpSpPr>
        <p:sp>
          <p:nvSpPr>
            <p:cNvPr id="53" name="object 53"/>
            <p:cNvSpPr/>
            <p:nvPr/>
          </p:nvSpPr>
          <p:spPr>
            <a:xfrm>
              <a:off x="511694" y="103577"/>
              <a:ext cx="297180" cy="303530"/>
            </a:xfrm>
            <a:custGeom>
              <a:avLst/>
              <a:gdLst/>
              <a:ahLst/>
              <a:cxnLst/>
              <a:rect l="l" t="t" r="r" b="b"/>
              <a:pathLst>
                <a:path w="297180" h="303530">
                  <a:moveTo>
                    <a:pt x="174769" y="0"/>
                  </a:moveTo>
                  <a:lnTo>
                    <a:pt x="111000" y="5272"/>
                  </a:lnTo>
                  <a:lnTo>
                    <a:pt x="47235" y="38154"/>
                  </a:lnTo>
                  <a:lnTo>
                    <a:pt x="0" y="92101"/>
                  </a:lnTo>
                  <a:lnTo>
                    <a:pt x="23617" y="103269"/>
                  </a:lnTo>
                  <a:lnTo>
                    <a:pt x="40936" y="75660"/>
                  </a:lnTo>
                  <a:lnTo>
                    <a:pt x="64554" y="53946"/>
                  </a:lnTo>
                  <a:lnTo>
                    <a:pt x="87383" y="38154"/>
                  </a:lnTo>
                  <a:lnTo>
                    <a:pt x="116514" y="26986"/>
                  </a:lnTo>
                  <a:lnTo>
                    <a:pt x="145642" y="21713"/>
                  </a:lnTo>
                  <a:lnTo>
                    <a:pt x="174769" y="21713"/>
                  </a:lnTo>
                  <a:lnTo>
                    <a:pt x="221219" y="32908"/>
                  </a:lnTo>
                  <a:lnTo>
                    <a:pt x="256646" y="65141"/>
                  </a:lnTo>
                  <a:lnTo>
                    <a:pt x="267666" y="151943"/>
                  </a:lnTo>
                  <a:lnTo>
                    <a:pt x="250347" y="194722"/>
                  </a:lnTo>
                  <a:lnTo>
                    <a:pt x="227518" y="238123"/>
                  </a:lnTo>
                  <a:lnTo>
                    <a:pt x="186578" y="286797"/>
                  </a:lnTo>
                  <a:lnTo>
                    <a:pt x="203900" y="303237"/>
                  </a:lnTo>
                  <a:lnTo>
                    <a:pt x="244837" y="249318"/>
                  </a:lnTo>
                  <a:lnTo>
                    <a:pt x="273965" y="200644"/>
                  </a:lnTo>
                  <a:lnTo>
                    <a:pt x="291280" y="157216"/>
                  </a:lnTo>
                  <a:lnTo>
                    <a:pt x="296807" y="119061"/>
                  </a:lnTo>
                  <a:lnTo>
                    <a:pt x="291280" y="86828"/>
                  </a:lnTo>
                  <a:lnTo>
                    <a:pt x="279475" y="53946"/>
                  </a:lnTo>
                  <a:lnTo>
                    <a:pt x="262156" y="32908"/>
                  </a:lnTo>
                  <a:lnTo>
                    <a:pt x="233028" y="16440"/>
                  </a:lnTo>
                  <a:lnTo>
                    <a:pt x="203900" y="5273"/>
                  </a:lnTo>
                  <a:lnTo>
                    <a:pt x="174769" y="0"/>
                  </a:lnTo>
                  <a:close/>
                </a:path>
              </a:pathLst>
            </a:custGeom>
            <a:solidFill>
              <a:srgbClr val="1F1A17"/>
            </a:solidFill>
          </p:spPr>
          <p:txBody>
            <a:bodyPr wrap="square" lIns="0" tIns="0" rIns="0" bIns="0" rtlCol="0"/>
            <a:lstStyle/>
            <a:p>
              <a:endParaRPr/>
            </a:p>
          </p:txBody>
        </p:sp>
        <p:pic>
          <p:nvPicPr>
            <p:cNvPr id="54" name="object 54"/>
            <p:cNvPicPr/>
            <p:nvPr/>
          </p:nvPicPr>
          <p:blipFill>
            <a:blip r:embed="rId8" cstate="print"/>
            <a:stretch>
              <a:fillRect/>
            </a:stretch>
          </p:blipFill>
          <p:spPr>
            <a:xfrm>
              <a:off x="506182" y="195678"/>
              <a:ext cx="240339" cy="259810"/>
            </a:xfrm>
            <a:prstGeom prst="rect">
              <a:avLst/>
            </a:prstGeom>
          </p:spPr>
        </p:pic>
        <p:sp>
          <p:nvSpPr>
            <p:cNvPr id="55" name="object 55"/>
            <p:cNvSpPr/>
            <p:nvPr/>
          </p:nvSpPr>
          <p:spPr>
            <a:xfrm>
              <a:off x="581759" y="1787491"/>
              <a:ext cx="34925" cy="38735"/>
            </a:xfrm>
            <a:custGeom>
              <a:avLst/>
              <a:gdLst/>
              <a:ahLst/>
              <a:cxnLst/>
              <a:rect l="l" t="t" r="r" b="b"/>
              <a:pathLst>
                <a:path w="34925" h="38735">
                  <a:moveTo>
                    <a:pt x="17318" y="0"/>
                  </a:moveTo>
                  <a:lnTo>
                    <a:pt x="5510" y="5262"/>
                  </a:lnTo>
                  <a:lnTo>
                    <a:pt x="0" y="16443"/>
                  </a:lnTo>
                  <a:lnTo>
                    <a:pt x="5510" y="32230"/>
                  </a:lnTo>
                  <a:lnTo>
                    <a:pt x="17318" y="38149"/>
                  </a:lnTo>
                  <a:lnTo>
                    <a:pt x="29127" y="32230"/>
                  </a:lnTo>
                  <a:lnTo>
                    <a:pt x="34641" y="16443"/>
                  </a:lnTo>
                  <a:lnTo>
                    <a:pt x="29127" y="5262"/>
                  </a:lnTo>
                  <a:lnTo>
                    <a:pt x="17318" y="0"/>
                  </a:lnTo>
                  <a:close/>
                </a:path>
              </a:pathLst>
            </a:custGeom>
            <a:solidFill>
              <a:srgbClr val="1F1A17"/>
            </a:solidFill>
          </p:spPr>
          <p:txBody>
            <a:bodyPr wrap="square" lIns="0" tIns="0" rIns="0" bIns="0" rtlCol="0"/>
            <a:lstStyle/>
            <a:p>
              <a:endParaRPr/>
            </a:p>
          </p:txBody>
        </p:sp>
        <p:sp>
          <p:nvSpPr>
            <p:cNvPr id="56" name="object 56"/>
            <p:cNvSpPr/>
            <p:nvPr/>
          </p:nvSpPr>
          <p:spPr>
            <a:xfrm>
              <a:off x="592782" y="1796699"/>
              <a:ext cx="34925" cy="38735"/>
            </a:xfrm>
            <a:custGeom>
              <a:avLst/>
              <a:gdLst/>
              <a:ahLst/>
              <a:cxnLst/>
              <a:rect l="l" t="t" r="r" b="b"/>
              <a:pathLst>
                <a:path w="34925" h="38735">
                  <a:moveTo>
                    <a:pt x="17318" y="0"/>
                  </a:moveTo>
                  <a:lnTo>
                    <a:pt x="29127" y="5262"/>
                  </a:lnTo>
                  <a:lnTo>
                    <a:pt x="34637" y="16446"/>
                  </a:lnTo>
                  <a:lnTo>
                    <a:pt x="29127" y="32232"/>
                  </a:lnTo>
                  <a:lnTo>
                    <a:pt x="17318" y="38152"/>
                  </a:lnTo>
                  <a:lnTo>
                    <a:pt x="5510" y="32232"/>
                  </a:lnTo>
                  <a:lnTo>
                    <a:pt x="0" y="16446"/>
                  </a:lnTo>
                  <a:lnTo>
                    <a:pt x="5510" y="5262"/>
                  </a:lnTo>
                  <a:lnTo>
                    <a:pt x="17318" y="0"/>
                  </a:lnTo>
                </a:path>
              </a:pathLst>
            </a:custGeom>
            <a:ln w="5104">
              <a:solidFill>
                <a:srgbClr val="1F1A17"/>
              </a:solidFill>
            </a:ln>
          </p:spPr>
          <p:txBody>
            <a:bodyPr wrap="square" lIns="0" tIns="0" rIns="0" bIns="0" rtlCol="0"/>
            <a:lstStyle/>
            <a:p>
              <a:endParaRPr/>
            </a:p>
          </p:txBody>
        </p:sp>
        <p:sp>
          <p:nvSpPr>
            <p:cNvPr id="57" name="object 57"/>
            <p:cNvSpPr/>
            <p:nvPr/>
          </p:nvSpPr>
          <p:spPr>
            <a:xfrm>
              <a:off x="2769560" y="444970"/>
              <a:ext cx="35560" cy="38100"/>
            </a:xfrm>
            <a:custGeom>
              <a:avLst/>
              <a:gdLst/>
              <a:ahLst/>
              <a:cxnLst/>
              <a:rect l="l" t="t" r="r" b="b"/>
              <a:pathLst>
                <a:path w="35560" h="38100">
                  <a:moveTo>
                    <a:pt x="18097" y="0"/>
                  </a:moveTo>
                  <a:lnTo>
                    <a:pt x="6301" y="5272"/>
                  </a:lnTo>
                  <a:lnTo>
                    <a:pt x="0" y="21713"/>
                  </a:lnTo>
                  <a:lnTo>
                    <a:pt x="6301" y="32232"/>
                  </a:lnTo>
                  <a:lnTo>
                    <a:pt x="18097" y="37505"/>
                  </a:lnTo>
                  <a:lnTo>
                    <a:pt x="29118" y="32232"/>
                  </a:lnTo>
                  <a:lnTo>
                    <a:pt x="35419" y="21713"/>
                  </a:lnTo>
                  <a:lnTo>
                    <a:pt x="29118" y="5272"/>
                  </a:lnTo>
                  <a:lnTo>
                    <a:pt x="18097" y="0"/>
                  </a:lnTo>
                  <a:close/>
                </a:path>
              </a:pathLst>
            </a:custGeom>
            <a:solidFill>
              <a:srgbClr val="1F1A17"/>
            </a:solidFill>
          </p:spPr>
          <p:txBody>
            <a:bodyPr wrap="square" lIns="0" tIns="0" rIns="0" bIns="0" rtlCol="0"/>
            <a:lstStyle/>
            <a:p>
              <a:endParaRPr/>
            </a:p>
          </p:txBody>
        </p:sp>
        <p:sp>
          <p:nvSpPr>
            <p:cNvPr id="58" name="object 58"/>
            <p:cNvSpPr/>
            <p:nvPr/>
          </p:nvSpPr>
          <p:spPr>
            <a:xfrm>
              <a:off x="2780580" y="454191"/>
              <a:ext cx="35560" cy="38100"/>
            </a:xfrm>
            <a:custGeom>
              <a:avLst/>
              <a:gdLst/>
              <a:ahLst/>
              <a:cxnLst/>
              <a:rect l="l" t="t" r="r" b="b"/>
              <a:pathLst>
                <a:path w="35560" h="38100">
                  <a:moveTo>
                    <a:pt x="18097" y="0"/>
                  </a:moveTo>
                  <a:lnTo>
                    <a:pt x="29118" y="5245"/>
                  </a:lnTo>
                  <a:lnTo>
                    <a:pt x="35419" y="21686"/>
                  </a:lnTo>
                  <a:lnTo>
                    <a:pt x="29118" y="32232"/>
                  </a:lnTo>
                  <a:lnTo>
                    <a:pt x="18097" y="37478"/>
                  </a:lnTo>
                  <a:lnTo>
                    <a:pt x="6301" y="32232"/>
                  </a:lnTo>
                  <a:lnTo>
                    <a:pt x="0" y="21686"/>
                  </a:lnTo>
                  <a:lnTo>
                    <a:pt x="6301" y="5245"/>
                  </a:lnTo>
                  <a:lnTo>
                    <a:pt x="18097" y="0"/>
                  </a:lnTo>
                </a:path>
              </a:pathLst>
            </a:custGeom>
            <a:ln w="5086">
              <a:solidFill>
                <a:srgbClr val="1F1A17"/>
              </a:solidFill>
            </a:ln>
          </p:spPr>
          <p:txBody>
            <a:bodyPr wrap="square" lIns="0" tIns="0" rIns="0" bIns="0" rtlCol="0"/>
            <a:lstStyle/>
            <a:p>
              <a:endParaRPr/>
            </a:p>
          </p:txBody>
        </p:sp>
        <p:sp>
          <p:nvSpPr>
            <p:cNvPr id="59" name="object 59"/>
            <p:cNvSpPr/>
            <p:nvPr/>
          </p:nvSpPr>
          <p:spPr>
            <a:xfrm>
              <a:off x="2647529" y="1987454"/>
              <a:ext cx="35560" cy="38735"/>
            </a:xfrm>
            <a:custGeom>
              <a:avLst/>
              <a:gdLst/>
              <a:ahLst/>
              <a:cxnLst/>
              <a:rect l="l" t="t" r="r" b="b"/>
              <a:pathLst>
                <a:path w="35560" h="38735">
                  <a:moveTo>
                    <a:pt x="17322" y="0"/>
                  </a:moveTo>
                  <a:lnTo>
                    <a:pt x="6301" y="5919"/>
                  </a:lnTo>
                  <a:lnTo>
                    <a:pt x="0" y="21705"/>
                  </a:lnTo>
                  <a:lnTo>
                    <a:pt x="6301" y="32889"/>
                  </a:lnTo>
                  <a:lnTo>
                    <a:pt x="17322" y="38151"/>
                  </a:lnTo>
                  <a:lnTo>
                    <a:pt x="29150" y="32889"/>
                  </a:lnTo>
                  <a:lnTo>
                    <a:pt x="35419" y="21705"/>
                  </a:lnTo>
                  <a:lnTo>
                    <a:pt x="29150" y="5919"/>
                  </a:lnTo>
                  <a:lnTo>
                    <a:pt x="17322" y="0"/>
                  </a:lnTo>
                  <a:close/>
                </a:path>
              </a:pathLst>
            </a:custGeom>
            <a:solidFill>
              <a:srgbClr val="1F1A17"/>
            </a:solidFill>
          </p:spPr>
          <p:txBody>
            <a:bodyPr wrap="square" lIns="0" tIns="0" rIns="0" bIns="0" rtlCol="0"/>
            <a:lstStyle/>
            <a:p>
              <a:endParaRPr/>
            </a:p>
          </p:txBody>
        </p:sp>
        <p:sp>
          <p:nvSpPr>
            <p:cNvPr id="60" name="object 60"/>
            <p:cNvSpPr/>
            <p:nvPr/>
          </p:nvSpPr>
          <p:spPr>
            <a:xfrm>
              <a:off x="2658549" y="1996664"/>
              <a:ext cx="35560" cy="38735"/>
            </a:xfrm>
            <a:custGeom>
              <a:avLst/>
              <a:gdLst/>
              <a:ahLst/>
              <a:cxnLst/>
              <a:rect l="l" t="t" r="r" b="b"/>
              <a:pathLst>
                <a:path w="35560" h="38735">
                  <a:moveTo>
                    <a:pt x="17322" y="0"/>
                  </a:moveTo>
                  <a:lnTo>
                    <a:pt x="29150" y="5919"/>
                  </a:lnTo>
                  <a:lnTo>
                    <a:pt x="35419" y="21705"/>
                  </a:lnTo>
                  <a:lnTo>
                    <a:pt x="29150" y="32887"/>
                  </a:lnTo>
                  <a:lnTo>
                    <a:pt x="17322" y="38150"/>
                  </a:lnTo>
                  <a:lnTo>
                    <a:pt x="6301" y="32887"/>
                  </a:lnTo>
                  <a:lnTo>
                    <a:pt x="0" y="21705"/>
                  </a:lnTo>
                  <a:lnTo>
                    <a:pt x="6301" y="5919"/>
                  </a:lnTo>
                  <a:lnTo>
                    <a:pt x="17322" y="0"/>
                  </a:lnTo>
                </a:path>
              </a:pathLst>
            </a:custGeom>
            <a:ln w="5094">
              <a:solidFill>
                <a:srgbClr val="1F1A17"/>
              </a:solidFill>
            </a:ln>
          </p:spPr>
          <p:txBody>
            <a:bodyPr wrap="square" lIns="0" tIns="0" rIns="0" bIns="0" rtlCol="0"/>
            <a:lstStyle/>
            <a:p>
              <a:endParaRPr/>
            </a:p>
          </p:txBody>
        </p:sp>
        <p:sp>
          <p:nvSpPr>
            <p:cNvPr id="61" name="object 61"/>
            <p:cNvSpPr/>
            <p:nvPr/>
          </p:nvSpPr>
          <p:spPr>
            <a:xfrm>
              <a:off x="925006" y="331181"/>
              <a:ext cx="1804670" cy="1656714"/>
            </a:xfrm>
            <a:custGeom>
              <a:avLst/>
              <a:gdLst/>
              <a:ahLst/>
              <a:cxnLst/>
              <a:rect l="l" t="t" r="r" b="b"/>
              <a:pathLst>
                <a:path w="1804670" h="1656714">
                  <a:moveTo>
                    <a:pt x="6301" y="0"/>
                  </a:moveTo>
                  <a:lnTo>
                    <a:pt x="0" y="21713"/>
                  </a:lnTo>
                  <a:lnTo>
                    <a:pt x="122030" y="43400"/>
                  </a:lnTo>
                  <a:lnTo>
                    <a:pt x="238535" y="70387"/>
                  </a:lnTo>
                  <a:lnTo>
                    <a:pt x="349546" y="107866"/>
                  </a:lnTo>
                  <a:lnTo>
                    <a:pt x="454254" y="146021"/>
                  </a:lnTo>
                  <a:lnTo>
                    <a:pt x="552661" y="189422"/>
                  </a:lnTo>
                  <a:lnTo>
                    <a:pt x="646350" y="232850"/>
                  </a:lnTo>
                  <a:lnTo>
                    <a:pt x="739230" y="286797"/>
                  </a:lnTo>
                  <a:lnTo>
                    <a:pt x="826617" y="340716"/>
                  </a:lnTo>
                  <a:lnTo>
                    <a:pt x="907701" y="395312"/>
                  </a:lnTo>
                  <a:lnTo>
                    <a:pt x="983292" y="454505"/>
                  </a:lnTo>
                  <a:lnTo>
                    <a:pt x="1123421" y="584762"/>
                  </a:lnTo>
                  <a:lnTo>
                    <a:pt x="1250945" y="714342"/>
                  </a:lnTo>
                  <a:lnTo>
                    <a:pt x="1303720" y="779457"/>
                  </a:lnTo>
                  <a:lnTo>
                    <a:pt x="1361956" y="849845"/>
                  </a:lnTo>
                  <a:lnTo>
                    <a:pt x="1454869" y="980074"/>
                  </a:lnTo>
                  <a:lnTo>
                    <a:pt x="1536729" y="1109655"/>
                  </a:lnTo>
                  <a:lnTo>
                    <a:pt x="1606018" y="1233989"/>
                  </a:lnTo>
                  <a:lnTo>
                    <a:pt x="1658760" y="1347778"/>
                  </a:lnTo>
                  <a:lnTo>
                    <a:pt x="1739845" y="1543136"/>
                  </a:lnTo>
                  <a:lnTo>
                    <a:pt x="1780791" y="1656273"/>
                  </a:lnTo>
                  <a:lnTo>
                    <a:pt x="1804415" y="1651011"/>
                  </a:lnTo>
                  <a:lnTo>
                    <a:pt x="1763469" y="1531954"/>
                  </a:lnTo>
                  <a:lnTo>
                    <a:pt x="1681576" y="1342505"/>
                  </a:lnTo>
                  <a:lnTo>
                    <a:pt x="1624116" y="1223470"/>
                  </a:lnTo>
                  <a:lnTo>
                    <a:pt x="1559578" y="1099136"/>
                  </a:lnTo>
                  <a:lnTo>
                    <a:pt x="1472191" y="968906"/>
                  </a:lnTo>
                  <a:lnTo>
                    <a:pt x="1379278" y="833404"/>
                  </a:lnTo>
                  <a:lnTo>
                    <a:pt x="1327312" y="768938"/>
                  </a:lnTo>
                  <a:lnTo>
                    <a:pt x="1269076" y="698550"/>
                  </a:lnTo>
                  <a:lnTo>
                    <a:pt x="1140743" y="568321"/>
                  </a:lnTo>
                  <a:lnTo>
                    <a:pt x="1001390" y="438740"/>
                  </a:lnTo>
                  <a:lnTo>
                    <a:pt x="838445" y="319029"/>
                  </a:lnTo>
                  <a:lnTo>
                    <a:pt x="751058" y="265083"/>
                  </a:lnTo>
                  <a:lnTo>
                    <a:pt x="564457" y="167735"/>
                  </a:lnTo>
                  <a:lnTo>
                    <a:pt x="459748" y="124307"/>
                  </a:lnTo>
                  <a:lnTo>
                    <a:pt x="355040" y="86828"/>
                  </a:lnTo>
                  <a:lnTo>
                    <a:pt x="244837" y="48673"/>
                  </a:lnTo>
                  <a:lnTo>
                    <a:pt x="128332" y="21713"/>
                  </a:lnTo>
                  <a:lnTo>
                    <a:pt x="6301" y="0"/>
                  </a:lnTo>
                  <a:close/>
                </a:path>
              </a:pathLst>
            </a:custGeom>
            <a:solidFill>
              <a:srgbClr val="1F1A17"/>
            </a:solidFill>
          </p:spPr>
          <p:txBody>
            <a:bodyPr wrap="square" lIns="0" tIns="0" rIns="0" bIns="0" rtlCol="0"/>
            <a:lstStyle/>
            <a:p>
              <a:endParaRPr/>
            </a:p>
          </p:txBody>
        </p:sp>
        <p:pic>
          <p:nvPicPr>
            <p:cNvPr id="62" name="object 62"/>
            <p:cNvPicPr/>
            <p:nvPr/>
          </p:nvPicPr>
          <p:blipFill>
            <a:blip r:embed="rId9" cstate="print"/>
            <a:stretch>
              <a:fillRect/>
            </a:stretch>
          </p:blipFill>
          <p:spPr>
            <a:xfrm>
              <a:off x="2624713" y="1896023"/>
              <a:ext cx="139320" cy="124320"/>
            </a:xfrm>
            <a:prstGeom prst="rect">
              <a:avLst/>
            </a:prstGeom>
          </p:spPr>
        </p:pic>
        <p:sp>
          <p:nvSpPr>
            <p:cNvPr id="63" name="object 63"/>
            <p:cNvSpPr/>
            <p:nvPr/>
          </p:nvSpPr>
          <p:spPr>
            <a:xfrm>
              <a:off x="581759" y="406815"/>
              <a:ext cx="2199640" cy="1419225"/>
            </a:xfrm>
            <a:custGeom>
              <a:avLst/>
              <a:gdLst/>
              <a:ahLst/>
              <a:cxnLst/>
              <a:rect l="l" t="t" r="r" b="b"/>
              <a:pathLst>
                <a:path w="2199640" h="1419225">
                  <a:moveTo>
                    <a:pt x="2194103" y="0"/>
                  </a:moveTo>
                  <a:lnTo>
                    <a:pt x="2053974" y="16440"/>
                  </a:lnTo>
                  <a:lnTo>
                    <a:pt x="1827234" y="53946"/>
                  </a:lnTo>
                  <a:lnTo>
                    <a:pt x="1687881" y="86828"/>
                  </a:lnTo>
                  <a:lnTo>
                    <a:pt x="1536732" y="130256"/>
                  </a:lnTo>
                  <a:lnTo>
                    <a:pt x="1373787" y="184176"/>
                  </a:lnTo>
                  <a:lnTo>
                    <a:pt x="1204508" y="249291"/>
                  </a:lnTo>
                  <a:lnTo>
                    <a:pt x="1117122" y="286796"/>
                  </a:lnTo>
                  <a:lnTo>
                    <a:pt x="1029735" y="330197"/>
                  </a:lnTo>
                  <a:lnTo>
                    <a:pt x="855738" y="427572"/>
                  </a:lnTo>
                  <a:lnTo>
                    <a:pt x="773878" y="482168"/>
                  </a:lnTo>
                  <a:lnTo>
                    <a:pt x="686491" y="541361"/>
                  </a:lnTo>
                  <a:lnTo>
                    <a:pt x="523514" y="671590"/>
                  </a:lnTo>
                  <a:lnTo>
                    <a:pt x="372365" y="822885"/>
                  </a:lnTo>
                  <a:lnTo>
                    <a:pt x="296807" y="909713"/>
                  </a:lnTo>
                  <a:lnTo>
                    <a:pt x="233044" y="996542"/>
                  </a:lnTo>
                  <a:lnTo>
                    <a:pt x="168474" y="1093890"/>
                  </a:lnTo>
                  <a:lnTo>
                    <a:pt x="104705" y="1191237"/>
                  </a:lnTo>
                  <a:lnTo>
                    <a:pt x="52745" y="1299104"/>
                  </a:lnTo>
                  <a:lnTo>
                    <a:pt x="0" y="1412906"/>
                  </a:lnTo>
                  <a:lnTo>
                    <a:pt x="23617" y="1418825"/>
                  </a:lnTo>
                  <a:lnTo>
                    <a:pt x="75577" y="1305026"/>
                  </a:lnTo>
                  <a:lnTo>
                    <a:pt x="128323" y="1201756"/>
                  </a:lnTo>
                  <a:lnTo>
                    <a:pt x="186581" y="1104409"/>
                  </a:lnTo>
                  <a:lnTo>
                    <a:pt x="250334" y="1007061"/>
                  </a:lnTo>
                  <a:lnTo>
                    <a:pt x="320431" y="920232"/>
                  </a:lnTo>
                  <a:lnTo>
                    <a:pt x="389687" y="839326"/>
                  </a:lnTo>
                  <a:lnTo>
                    <a:pt x="541644" y="687382"/>
                  </a:lnTo>
                  <a:lnTo>
                    <a:pt x="704589" y="557802"/>
                  </a:lnTo>
                  <a:lnTo>
                    <a:pt x="785674" y="497933"/>
                  </a:lnTo>
                  <a:lnTo>
                    <a:pt x="866790" y="444013"/>
                  </a:lnTo>
                  <a:lnTo>
                    <a:pt x="954177" y="395339"/>
                  </a:lnTo>
                  <a:lnTo>
                    <a:pt x="1128918" y="308510"/>
                  </a:lnTo>
                  <a:lnTo>
                    <a:pt x="1210810" y="271005"/>
                  </a:lnTo>
                  <a:lnTo>
                    <a:pt x="1379281" y="205890"/>
                  </a:lnTo>
                  <a:lnTo>
                    <a:pt x="1542259" y="151943"/>
                  </a:lnTo>
                  <a:lnTo>
                    <a:pt x="1693408" y="108542"/>
                  </a:lnTo>
                  <a:lnTo>
                    <a:pt x="1833536" y="75660"/>
                  </a:lnTo>
                  <a:lnTo>
                    <a:pt x="2060276" y="38154"/>
                  </a:lnTo>
                  <a:lnTo>
                    <a:pt x="2199597" y="21713"/>
                  </a:lnTo>
                  <a:lnTo>
                    <a:pt x="2194103" y="0"/>
                  </a:lnTo>
                  <a:close/>
                </a:path>
              </a:pathLst>
            </a:custGeom>
            <a:solidFill>
              <a:srgbClr val="1F1A17"/>
            </a:solidFill>
          </p:spPr>
          <p:txBody>
            <a:bodyPr wrap="square" lIns="0" tIns="0" rIns="0" bIns="0" rtlCol="0"/>
            <a:lstStyle/>
            <a:p>
              <a:endParaRPr/>
            </a:p>
          </p:txBody>
        </p:sp>
        <p:pic>
          <p:nvPicPr>
            <p:cNvPr id="64" name="object 64"/>
            <p:cNvPicPr/>
            <p:nvPr/>
          </p:nvPicPr>
          <p:blipFill>
            <a:blip r:embed="rId10" cstate="print"/>
            <a:stretch>
              <a:fillRect/>
            </a:stretch>
          </p:blipFill>
          <p:spPr>
            <a:xfrm>
              <a:off x="2688475" y="358141"/>
              <a:ext cx="128332" cy="135502"/>
            </a:xfrm>
            <a:prstGeom prst="rect">
              <a:avLst/>
            </a:prstGeom>
          </p:spPr>
        </p:pic>
        <p:sp>
          <p:nvSpPr>
            <p:cNvPr id="65" name="object 65"/>
            <p:cNvSpPr/>
            <p:nvPr/>
          </p:nvSpPr>
          <p:spPr>
            <a:xfrm>
              <a:off x="826599" y="314740"/>
              <a:ext cx="1850389" cy="1700530"/>
            </a:xfrm>
            <a:custGeom>
              <a:avLst/>
              <a:gdLst/>
              <a:ahLst/>
              <a:cxnLst/>
              <a:rect l="l" t="t" r="r" b="b"/>
              <a:pathLst>
                <a:path w="1850389" h="1700530">
                  <a:moveTo>
                    <a:pt x="22816" y="0"/>
                  </a:moveTo>
                  <a:lnTo>
                    <a:pt x="34644" y="130229"/>
                  </a:lnTo>
                  <a:lnTo>
                    <a:pt x="98406" y="308483"/>
                  </a:lnTo>
                  <a:lnTo>
                    <a:pt x="144847" y="417026"/>
                  </a:lnTo>
                  <a:lnTo>
                    <a:pt x="203115" y="530815"/>
                  </a:lnTo>
                  <a:lnTo>
                    <a:pt x="278673" y="655149"/>
                  </a:lnTo>
                  <a:lnTo>
                    <a:pt x="366060" y="779457"/>
                  </a:lnTo>
                  <a:lnTo>
                    <a:pt x="412532" y="844572"/>
                  </a:lnTo>
                  <a:lnTo>
                    <a:pt x="470769" y="904440"/>
                  </a:lnTo>
                  <a:lnTo>
                    <a:pt x="529037" y="968906"/>
                  </a:lnTo>
                  <a:lnTo>
                    <a:pt x="593607" y="1034021"/>
                  </a:lnTo>
                  <a:lnTo>
                    <a:pt x="662864" y="1099136"/>
                  </a:lnTo>
                  <a:lnTo>
                    <a:pt x="738454" y="1164251"/>
                  </a:lnTo>
                  <a:lnTo>
                    <a:pt x="820315" y="1223443"/>
                  </a:lnTo>
                  <a:lnTo>
                    <a:pt x="907701" y="1283312"/>
                  </a:lnTo>
                  <a:lnTo>
                    <a:pt x="1000614" y="1342505"/>
                  </a:lnTo>
                  <a:lnTo>
                    <a:pt x="1099797" y="1402374"/>
                  </a:lnTo>
                  <a:lnTo>
                    <a:pt x="1204505" y="1461567"/>
                  </a:lnTo>
                  <a:lnTo>
                    <a:pt x="1314740" y="1516162"/>
                  </a:lnTo>
                  <a:lnTo>
                    <a:pt x="1436739" y="1564839"/>
                  </a:lnTo>
                  <a:lnTo>
                    <a:pt x="1565072" y="1613516"/>
                  </a:lnTo>
                  <a:lnTo>
                    <a:pt x="1698898" y="1662189"/>
                  </a:lnTo>
                  <a:lnTo>
                    <a:pt x="1838251" y="1700342"/>
                  </a:lnTo>
                  <a:lnTo>
                    <a:pt x="1850080" y="1683895"/>
                  </a:lnTo>
                  <a:lnTo>
                    <a:pt x="1704425" y="1640484"/>
                  </a:lnTo>
                  <a:lnTo>
                    <a:pt x="1570598" y="1591807"/>
                  </a:lnTo>
                  <a:lnTo>
                    <a:pt x="1326536" y="1494457"/>
                  </a:lnTo>
                  <a:lnTo>
                    <a:pt x="1215525" y="1440529"/>
                  </a:lnTo>
                  <a:lnTo>
                    <a:pt x="1110817" y="1385933"/>
                  </a:lnTo>
                  <a:lnTo>
                    <a:pt x="1012410" y="1326713"/>
                  </a:lnTo>
                  <a:lnTo>
                    <a:pt x="918722" y="1266871"/>
                  </a:lnTo>
                  <a:lnTo>
                    <a:pt x="832143" y="1207678"/>
                  </a:lnTo>
                  <a:lnTo>
                    <a:pt x="756552" y="1147810"/>
                  </a:lnTo>
                  <a:lnTo>
                    <a:pt x="680186" y="1082695"/>
                  </a:lnTo>
                  <a:lnTo>
                    <a:pt x="546359" y="958360"/>
                  </a:lnTo>
                  <a:lnTo>
                    <a:pt x="488091" y="893245"/>
                  </a:lnTo>
                  <a:lnTo>
                    <a:pt x="430630" y="828131"/>
                  </a:lnTo>
                  <a:lnTo>
                    <a:pt x="383382" y="763665"/>
                  </a:lnTo>
                  <a:lnTo>
                    <a:pt x="296803" y="638681"/>
                  </a:lnTo>
                  <a:lnTo>
                    <a:pt x="226739" y="519647"/>
                  </a:lnTo>
                  <a:lnTo>
                    <a:pt x="168471" y="405831"/>
                  </a:lnTo>
                  <a:lnTo>
                    <a:pt x="122030" y="303237"/>
                  </a:lnTo>
                  <a:lnTo>
                    <a:pt x="57460" y="124307"/>
                  </a:lnTo>
                  <a:lnTo>
                    <a:pt x="22816" y="0"/>
                  </a:lnTo>
                  <a:close/>
                </a:path>
              </a:pathLst>
            </a:custGeom>
            <a:solidFill>
              <a:srgbClr val="1F1A17"/>
            </a:solidFill>
          </p:spPr>
          <p:txBody>
            <a:bodyPr wrap="square" lIns="0" tIns="0" rIns="0" bIns="0" rtlCol="0"/>
            <a:lstStyle/>
            <a:p>
              <a:endParaRPr/>
            </a:p>
          </p:txBody>
        </p:sp>
        <p:pic>
          <p:nvPicPr>
            <p:cNvPr id="66" name="object 66"/>
            <p:cNvPicPr/>
            <p:nvPr/>
          </p:nvPicPr>
          <p:blipFill>
            <a:blip r:embed="rId11" cstate="print"/>
            <a:stretch>
              <a:fillRect/>
            </a:stretch>
          </p:blipFill>
          <p:spPr>
            <a:xfrm>
              <a:off x="785660" y="282507"/>
              <a:ext cx="139346" cy="124307"/>
            </a:xfrm>
            <a:prstGeom prst="rect">
              <a:avLst/>
            </a:prstGeom>
          </p:spPr>
        </p:pic>
        <p:sp>
          <p:nvSpPr>
            <p:cNvPr id="67" name="object 67"/>
            <p:cNvSpPr/>
            <p:nvPr/>
          </p:nvSpPr>
          <p:spPr>
            <a:xfrm>
              <a:off x="547121" y="460762"/>
              <a:ext cx="2258060" cy="1456690"/>
            </a:xfrm>
            <a:custGeom>
              <a:avLst/>
              <a:gdLst/>
              <a:ahLst/>
              <a:cxnLst/>
              <a:rect l="l" t="t" r="r" b="b"/>
              <a:pathLst>
                <a:path w="2258060" h="1456689">
                  <a:moveTo>
                    <a:pt x="2234235" y="0"/>
                  </a:moveTo>
                  <a:lnTo>
                    <a:pt x="2158676" y="130229"/>
                  </a:lnTo>
                  <a:lnTo>
                    <a:pt x="2083086" y="249291"/>
                  </a:lnTo>
                  <a:lnTo>
                    <a:pt x="2007527" y="363079"/>
                  </a:lnTo>
                  <a:lnTo>
                    <a:pt x="1925635" y="465700"/>
                  </a:lnTo>
                  <a:lnTo>
                    <a:pt x="1844550" y="563048"/>
                  </a:lnTo>
                  <a:lnTo>
                    <a:pt x="1763465" y="655149"/>
                  </a:lnTo>
                  <a:lnTo>
                    <a:pt x="1594219" y="812339"/>
                  </a:lnTo>
                  <a:lnTo>
                    <a:pt x="1506832" y="887999"/>
                  </a:lnTo>
                  <a:lnTo>
                    <a:pt x="1425715" y="953114"/>
                  </a:lnTo>
                  <a:lnTo>
                    <a:pt x="1338329" y="1012983"/>
                  </a:lnTo>
                  <a:lnTo>
                    <a:pt x="1256469" y="1066903"/>
                  </a:lnTo>
                  <a:lnTo>
                    <a:pt x="1175384" y="1115577"/>
                  </a:lnTo>
                  <a:lnTo>
                    <a:pt x="1087997" y="1159005"/>
                  </a:lnTo>
                  <a:lnTo>
                    <a:pt x="1006913" y="1196483"/>
                  </a:lnTo>
                  <a:lnTo>
                    <a:pt x="930546" y="1234638"/>
                  </a:lnTo>
                  <a:lnTo>
                    <a:pt x="773871" y="1294507"/>
                  </a:lnTo>
                  <a:lnTo>
                    <a:pt x="488895" y="1375406"/>
                  </a:lnTo>
                  <a:lnTo>
                    <a:pt x="360563" y="1397111"/>
                  </a:lnTo>
                  <a:lnTo>
                    <a:pt x="145642" y="1424079"/>
                  </a:lnTo>
                  <a:lnTo>
                    <a:pt x="0" y="1435261"/>
                  </a:lnTo>
                  <a:lnTo>
                    <a:pt x="5510" y="1456310"/>
                  </a:lnTo>
                  <a:lnTo>
                    <a:pt x="151152" y="1445785"/>
                  </a:lnTo>
                  <a:lnTo>
                    <a:pt x="360563" y="1418817"/>
                  </a:lnTo>
                  <a:lnTo>
                    <a:pt x="488895" y="1397111"/>
                  </a:lnTo>
                  <a:lnTo>
                    <a:pt x="633743" y="1358959"/>
                  </a:lnTo>
                  <a:lnTo>
                    <a:pt x="779398" y="1315545"/>
                  </a:lnTo>
                  <a:lnTo>
                    <a:pt x="936848" y="1256352"/>
                  </a:lnTo>
                  <a:lnTo>
                    <a:pt x="1017933" y="1218197"/>
                  </a:lnTo>
                  <a:lnTo>
                    <a:pt x="1099793" y="1180691"/>
                  </a:lnTo>
                  <a:lnTo>
                    <a:pt x="1187180" y="1132018"/>
                  </a:lnTo>
                  <a:lnTo>
                    <a:pt x="1268264" y="1083344"/>
                  </a:lnTo>
                  <a:lnTo>
                    <a:pt x="1355651" y="1028748"/>
                  </a:lnTo>
                  <a:lnTo>
                    <a:pt x="1437543" y="969555"/>
                  </a:lnTo>
                  <a:lnTo>
                    <a:pt x="1524122" y="904440"/>
                  </a:lnTo>
                  <a:lnTo>
                    <a:pt x="1611509" y="834053"/>
                  </a:lnTo>
                  <a:lnTo>
                    <a:pt x="1780788" y="666317"/>
                  </a:lnTo>
                  <a:lnTo>
                    <a:pt x="1861872" y="579488"/>
                  </a:lnTo>
                  <a:lnTo>
                    <a:pt x="1943733" y="476895"/>
                  </a:lnTo>
                  <a:lnTo>
                    <a:pt x="2024849" y="373625"/>
                  </a:lnTo>
                  <a:lnTo>
                    <a:pt x="2106710" y="259810"/>
                  </a:lnTo>
                  <a:lnTo>
                    <a:pt x="2182300" y="140748"/>
                  </a:lnTo>
                  <a:lnTo>
                    <a:pt x="2257859" y="11167"/>
                  </a:lnTo>
                  <a:lnTo>
                    <a:pt x="2234235" y="0"/>
                  </a:lnTo>
                  <a:close/>
                </a:path>
              </a:pathLst>
            </a:custGeom>
            <a:solidFill>
              <a:srgbClr val="1F1A17"/>
            </a:solidFill>
          </p:spPr>
          <p:txBody>
            <a:bodyPr wrap="square" lIns="0" tIns="0" rIns="0" bIns="0" rtlCol="0"/>
            <a:lstStyle/>
            <a:p>
              <a:endParaRPr/>
            </a:p>
          </p:txBody>
        </p:sp>
        <p:pic>
          <p:nvPicPr>
            <p:cNvPr id="68" name="object 68"/>
            <p:cNvPicPr/>
            <p:nvPr/>
          </p:nvPicPr>
          <p:blipFill>
            <a:blip r:embed="rId12" cstate="print"/>
            <a:stretch>
              <a:fillRect/>
            </a:stretch>
          </p:blipFill>
          <p:spPr>
            <a:xfrm>
              <a:off x="511694" y="1830903"/>
              <a:ext cx="128323" cy="135502"/>
            </a:xfrm>
            <a:prstGeom prst="rect">
              <a:avLst/>
            </a:prstGeom>
          </p:spPr>
        </p:pic>
      </p:grpSp>
      <p:sp>
        <p:nvSpPr>
          <p:cNvPr id="69" name="object 69"/>
          <p:cNvSpPr txBox="1"/>
          <p:nvPr/>
        </p:nvSpPr>
        <p:spPr>
          <a:xfrm>
            <a:off x="687618" y="411830"/>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1</a:t>
            </a:r>
            <a:endParaRPr sz="1750">
              <a:latin typeface="Times New Roman"/>
              <a:cs typeface="Times New Roman"/>
            </a:endParaRPr>
          </a:p>
        </p:txBody>
      </p:sp>
      <p:sp>
        <p:nvSpPr>
          <p:cNvPr id="70" name="object 70"/>
          <p:cNvSpPr txBox="1"/>
          <p:nvPr/>
        </p:nvSpPr>
        <p:spPr>
          <a:xfrm>
            <a:off x="2841953" y="215882"/>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2</a:t>
            </a:r>
            <a:endParaRPr sz="1750">
              <a:latin typeface="Times New Roman"/>
              <a:cs typeface="Times New Roman"/>
            </a:endParaRPr>
          </a:p>
        </p:txBody>
      </p:sp>
      <p:sp>
        <p:nvSpPr>
          <p:cNvPr id="71" name="object 71"/>
          <p:cNvSpPr txBox="1"/>
          <p:nvPr/>
        </p:nvSpPr>
        <p:spPr>
          <a:xfrm>
            <a:off x="2684108" y="2017551"/>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3</a:t>
            </a:r>
            <a:endParaRPr sz="1750">
              <a:latin typeface="Times New Roman"/>
              <a:cs typeface="Times New Roman"/>
            </a:endParaRPr>
          </a:p>
        </p:txBody>
      </p:sp>
      <p:sp>
        <p:nvSpPr>
          <p:cNvPr id="72" name="object 72"/>
          <p:cNvSpPr txBox="1"/>
          <p:nvPr/>
        </p:nvSpPr>
        <p:spPr>
          <a:xfrm>
            <a:off x="324758" y="1799643"/>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4</a:t>
            </a:r>
            <a:endParaRPr sz="1750">
              <a:latin typeface="Times New Roman"/>
              <a:cs typeface="Times New Roman"/>
            </a:endParaRPr>
          </a:p>
        </p:txBody>
      </p:sp>
      <p:sp>
        <p:nvSpPr>
          <p:cNvPr id="73" name="object 73"/>
          <p:cNvSpPr txBox="1"/>
          <p:nvPr/>
        </p:nvSpPr>
        <p:spPr>
          <a:xfrm>
            <a:off x="560617" y="2306410"/>
            <a:ext cx="1626235" cy="295275"/>
          </a:xfrm>
          <a:prstGeom prst="rect">
            <a:avLst/>
          </a:prstGeom>
        </p:spPr>
        <p:txBody>
          <a:bodyPr vert="horz" wrap="square" lIns="0" tIns="15240" rIns="0" bIns="0" rtlCol="0">
            <a:spAutoFit/>
          </a:bodyPr>
          <a:lstStyle/>
          <a:p>
            <a:pPr marL="38100">
              <a:lnSpc>
                <a:spcPct val="100000"/>
              </a:lnSpc>
              <a:spcBef>
                <a:spcPts val="120"/>
              </a:spcBef>
            </a:pPr>
            <a:r>
              <a:rPr sz="1750" spc="75" dirty="0">
                <a:solidFill>
                  <a:srgbClr val="0070C0"/>
                </a:solidFill>
                <a:latin typeface="Times New Roman"/>
                <a:cs typeface="Times New Roman"/>
              </a:rPr>
              <a:t>R</a:t>
            </a:r>
            <a:r>
              <a:rPr sz="1800" spc="112" baseline="-20833" dirty="0">
                <a:solidFill>
                  <a:srgbClr val="0070C0"/>
                </a:solidFill>
                <a:latin typeface="Times New Roman"/>
                <a:cs typeface="Times New Roman"/>
              </a:rPr>
              <a:t>1</a:t>
            </a:r>
            <a:r>
              <a:rPr sz="1800" spc="262" baseline="-20833" dirty="0">
                <a:solidFill>
                  <a:srgbClr val="0070C0"/>
                </a:solidFill>
                <a:latin typeface="Times New Roman"/>
                <a:cs typeface="Times New Roman"/>
              </a:rPr>
              <a:t> </a:t>
            </a:r>
            <a:r>
              <a:rPr sz="1750" spc="50" dirty="0">
                <a:solidFill>
                  <a:srgbClr val="0070C0"/>
                </a:solidFill>
                <a:latin typeface="Times New Roman"/>
                <a:cs typeface="Times New Roman"/>
              </a:rPr>
              <a:t>is</a:t>
            </a:r>
            <a:r>
              <a:rPr sz="1750" spc="40" dirty="0">
                <a:solidFill>
                  <a:srgbClr val="0070C0"/>
                </a:solidFill>
                <a:latin typeface="Times New Roman"/>
                <a:cs typeface="Times New Roman"/>
              </a:rPr>
              <a:t> </a:t>
            </a:r>
            <a:r>
              <a:rPr sz="1750" spc="55" dirty="0">
                <a:solidFill>
                  <a:srgbClr val="0070C0"/>
                </a:solidFill>
                <a:latin typeface="Times New Roman"/>
                <a:cs typeface="Times New Roman"/>
              </a:rPr>
              <a:t>symmetric</a:t>
            </a:r>
            <a:endParaRPr sz="1750" dirty="0">
              <a:solidFill>
                <a:srgbClr val="0070C0"/>
              </a:solidFill>
              <a:latin typeface="Times New Roman"/>
              <a:cs typeface="Times New Roman"/>
            </a:endParaRPr>
          </a:p>
        </p:txBody>
      </p:sp>
      <p:grpSp>
        <p:nvGrpSpPr>
          <p:cNvPr id="74" name="object 74"/>
          <p:cNvGrpSpPr/>
          <p:nvPr/>
        </p:nvGrpSpPr>
        <p:grpSpPr>
          <a:xfrm>
            <a:off x="4278046" y="324569"/>
            <a:ext cx="252095" cy="293370"/>
            <a:chOff x="4278046" y="324569"/>
            <a:chExt cx="252095" cy="293370"/>
          </a:xfrm>
        </p:grpSpPr>
        <p:pic>
          <p:nvPicPr>
            <p:cNvPr id="75" name="object 75"/>
            <p:cNvPicPr/>
            <p:nvPr/>
          </p:nvPicPr>
          <p:blipFill>
            <a:blip r:embed="rId13" cstate="print"/>
            <a:stretch>
              <a:fillRect/>
            </a:stretch>
          </p:blipFill>
          <p:spPr>
            <a:xfrm>
              <a:off x="4278046" y="324569"/>
              <a:ext cx="251588" cy="293058"/>
            </a:xfrm>
            <a:prstGeom prst="rect">
              <a:avLst/>
            </a:prstGeom>
          </p:spPr>
        </p:pic>
        <p:sp>
          <p:nvSpPr>
            <p:cNvPr id="76" name="object 76"/>
            <p:cNvSpPr/>
            <p:nvPr/>
          </p:nvSpPr>
          <p:spPr>
            <a:xfrm>
              <a:off x="4438080" y="549901"/>
              <a:ext cx="29209" cy="31750"/>
            </a:xfrm>
            <a:custGeom>
              <a:avLst/>
              <a:gdLst/>
              <a:ahLst/>
              <a:cxnLst/>
              <a:rect l="l" t="t" r="r" b="b"/>
              <a:pathLst>
                <a:path w="29210" h="31750">
                  <a:moveTo>
                    <a:pt x="14144" y="0"/>
                  </a:moveTo>
                  <a:lnTo>
                    <a:pt x="4467" y="4679"/>
                  </a:lnTo>
                  <a:lnTo>
                    <a:pt x="0" y="18095"/>
                  </a:lnTo>
                  <a:lnTo>
                    <a:pt x="4467" y="26855"/>
                  </a:lnTo>
                  <a:lnTo>
                    <a:pt x="14144" y="31535"/>
                  </a:lnTo>
                  <a:lnTo>
                    <a:pt x="23818" y="26855"/>
                  </a:lnTo>
                  <a:lnTo>
                    <a:pt x="29031" y="18095"/>
                  </a:lnTo>
                  <a:lnTo>
                    <a:pt x="23818" y="4679"/>
                  </a:lnTo>
                  <a:lnTo>
                    <a:pt x="14144" y="0"/>
                  </a:lnTo>
                  <a:close/>
                </a:path>
              </a:pathLst>
            </a:custGeom>
            <a:solidFill>
              <a:srgbClr val="1F1A17"/>
            </a:solidFill>
          </p:spPr>
          <p:txBody>
            <a:bodyPr wrap="square" lIns="0" tIns="0" rIns="0" bIns="0" rtlCol="0"/>
            <a:lstStyle/>
            <a:p>
              <a:endParaRPr/>
            </a:p>
          </p:txBody>
        </p:sp>
        <p:sp>
          <p:nvSpPr>
            <p:cNvPr id="77" name="object 77"/>
            <p:cNvSpPr/>
            <p:nvPr/>
          </p:nvSpPr>
          <p:spPr>
            <a:xfrm>
              <a:off x="4448500" y="558085"/>
              <a:ext cx="29209" cy="31750"/>
            </a:xfrm>
            <a:custGeom>
              <a:avLst/>
              <a:gdLst/>
              <a:ahLst/>
              <a:cxnLst/>
              <a:rect l="l" t="t" r="r" b="b"/>
              <a:pathLst>
                <a:path w="29210" h="31750">
                  <a:moveTo>
                    <a:pt x="14144" y="0"/>
                  </a:moveTo>
                  <a:lnTo>
                    <a:pt x="23821" y="4655"/>
                  </a:lnTo>
                  <a:lnTo>
                    <a:pt x="29031" y="18095"/>
                  </a:lnTo>
                  <a:lnTo>
                    <a:pt x="23821" y="26855"/>
                  </a:lnTo>
                  <a:lnTo>
                    <a:pt x="14144" y="31511"/>
                  </a:lnTo>
                  <a:lnTo>
                    <a:pt x="4467" y="26855"/>
                  </a:lnTo>
                  <a:lnTo>
                    <a:pt x="0" y="18095"/>
                  </a:lnTo>
                  <a:lnTo>
                    <a:pt x="4467" y="4655"/>
                  </a:lnTo>
                  <a:lnTo>
                    <a:pt x="14144" y="0"/>
                  </a:lnTo>
                </a:path>
              </a:pathLst>
            </a:custGeom>
            <a:ln w="4697">
              <a:solidFill>
                <a:srgbClr val="1F1A17"/>
              </a:solidFill>
            </a:ln>
          </p:spPr>
          <p:txBody>
            <a:bodyPr wrap="square" lIns="0" tIns="0" rIns="0" bIns="0" rtlCol="0"/>
            <a:lstStyle/>
            <a:p>
              <a:endParaRPr/>
            </a:p>
          </p:txBody>
        </p:sp>
      </p:grpSp>
      <p:grpSp>
        <p:nvGrpSpPr>
          <p:cNvPr id="78" name="object 78"/>
          <p:cNvGrpSpPr/>
          <p:nvPr/>
        </p:nvGrpSpPr>
        <p:grpSpPr>
          <a:xfrm>
            <a:off x="4258692" y="1730918"/>
            <a:ext cx="252095" cy="293370"/>
            <a:chOff x="4258692" y="1730918"/>
            <a:chExt cx="252095" cy="293370"/>
          </a:xfrm>
        </p:grpSpPr>
        <p:pic>
          <p:nvPicPr>
            <p:cNvPr id="79" name="object 79"/>
            <p:cNvPicPr/>
            <p:nvPr/>
          </p:nvPicPr>
          <p:blipFill>
            <a:blip r:embed="rId14" cstate="print"/>
            <a:stretch>
              <a:fillRect/>
            </a:stretch>
          </p:blipFill>
          <p:spPr>
            <a:xfrm>
              <a:off x="4258692" y="1730918"/>
              <a:ext cx="251589" cy="293060"/>
            </a:xfrm>
            <a:prstGeom prst="rect">
              <a:avLst/>
            </a:prstGeom>
          </p:spPr>
        </p:pic>
        <p:sp>
          <p:nvSpPr>
            <p:cNvPr id="80" name="object 80"/>
            <p:cNvSpPr/>
            <p:nvPr/>
          </p:nvSpPr>
          <p:spPr>
            <a:xfrm>
              <a:off x="4417984" y="1960927"/>
              <a:ext cx="29845" cy="31750"/>
            </a:xfrm>
            <a:custGeom>
              <a:avLst/>
              <a:gdLst/>
              <a:ahLst/>
              <a:cxnLst/>
              <a:rect l="l" t="t" r="r" b="b"/>
              <a:pathLst>
                <a:path w="29845" h="31750">
                  <a:moveTo>
                    <a:pt x="14886" y="0"/>
                  </a:moveTo>
                  <a:lnTo>
                    <a:pt x="5209" y="4670"/>
                  </a:lnTo>
                  <a:lnTo>
                    <a:pt x="0" y="18098"/>
                  </a:lnTo>
                  <a:lnTo>
                    <a:pt x="5209" y="26855"/>
                  </a:lnTo>
                  <a:lnTo>
                    <a:pt x="14886" y="31525"/>
                  </a:lnTo>
                  <a:lnTo>
                    <a:pt x="24563" y="26855"/>
                  </a:lnTo>
                  <a:lnTo>
                    <a:pt x="29773" y="18098"/>
                  </a:lnTo>
                  <a:lnTo>
                    <a:pt x="24563" y="4670"/>
                  </a:lnTo>
                  <a:lnTo>
                    <a:pt x="14886" y="0"/>
                  </a:lnTo>
                  <a:close/>
                </a:path>
              </a:pathLst>
            </a:custGeom>
            <a:solidFill>
              <a:srgbClr val="1F1A17"/>
            </a:solidFill>
          </p:spPr>
          <p:txBody>
            <a:bodyPr wrap="square" lIns="0" tIns="0" rIns="0" bIns="0" rtlCol="0"/>
            <a:lstStyle/>
            <a:p>
              <a:endParaRPr/>
            </a:p>
          </p:txBody>
        </p:sp>
        <p:sp>
          <p:nvSpPr>
            <p:cNvPr id="81" name="object 81"/>
            <p:cNvSpPr/>
            <p:nvPr/>
          </p:nvSpPr>
          <p:spPr>
            <a:xfrm>
              <a:off x="4428403" y="1969101"/>
              <a:ext cx="29845" cy="31750"/>
            </a:xfrm>
            <a:custGeom>
              <a:avLst/>
              <a:gdLst/>
              <a:ahLst/>
              <a:cxnLst/>
              <a:rect l="l" t="t" r="r" b="b"/>
              <a:pathLst>
                <a:path w="29845" h="31750">
                  <a:moveTo>
                    <a:pt x="14886" y="0"/>
                  </a:moveTo>
                  <a:lnTo>
                    <a:pt x="24563" y="4670"/>
                  </a:lnTo>
                  <a:lnTo>
                    <a:pt x="29773" y="18098"/>
                  </a:lnTo>
                  <a:lnTo>
                    <a:pt x="24563" y="26853"/>
                  </a:lnTo>
                  <a:lnTo>
                    <a:pt x="14886" y="31525"/>
                  </a:lnTo>
                  <a:lnTo>
                    <a:pt x="5209" y="26853"/>
                  </a:lnTo>
                  <a:lnTo>
                    <a:pt x="0" y="18098"/>
                  </a:lnTo>
                  <a:lnTo>
                    <a:pt x="5209" y="4670"/>
                  </a:lnTo>
                  <a:lnTo>
                    <a:pt x="14886" y="0"/>
                  </a:lnTo>
                </a:path>
              </a:pathLst>
            </a:custGeom>
            <a:ln w="4683">
              <a:solidFill>
                <a:srgbClr val="1F1A17"/>
              </a:solidFill>
            </a:ln>
          </p:spPr>
          <p:txBody>
            <a:bodyPr wrap="square" lIns="0" tIns="0" rIns="0" bIns="0" rtlCol="0"/>
            <a:lstStyle/>
            <a:p>
              <a:endParaRPr/>
            </a:p>
          </p:txBody>
        </p:sp>
      </p:grpSp>
      <p:grpSp>
        <p:nvGrpSpPr>
          <p:cNvPr id="82" name="object 82"/>
          <p:cNvGrpSpPr/>
          <p:nvPr/>
        </p:nvGrpSpPr>
        <p:grpSpPr>
          <a:xfrm>
            <a:off x="6196983" y="333329"/>
            <a:ext cx="252729" cy="293370"/>
            <a:chOff x="6196983" y="333329"/>
            <a:chExt cx="252729" cy="293370"/>
          </a:xfrm>
        </p:grpSpPr>
        <p:pic>
          <p:nvPicPr>
            <p:cNvPr id="83" name="object 83"/>
            <p:cNvPicPr/>
            <p:nvPr/>
          </p:nvPicPr>
          <p:blipFill>
            <a:blip r:embed="rId15" cstate="print"/>
            <a:stretch>
              <a:fillRect/>
            </a:stretch>
          </p:blipFill>
          <p:spPr>
            <a:xfrm>
              <a:off x="6196983" y="333329"/>
              <a:ext cx="252331" cy="293058"/>
            </a:xfrm>
            <a:prstGeom prst="rect">
              <a:avLst/>
            </a:prstGeom>
          </p:spPr>
        </p:pic>
        <p:sp>
          <p:nvSpPr>
            <p:cNvPr id="84" name="object 84"/>
            <p:cNvSpPr/>
            <p:nvPr/>
          </p:nvSpPr>
          <p:spPr>
            <a:xfrm>
              <a:off x="6362230" y="563341"/>
              <a:ext cx="29209" cy="27305"/>
            </a:xfrm>
            <a:custGeom>
              <a:avLst/>
              <a:gdLst/>
              <a:ahLst/>
              <a:cxnLst/>
              <a:rect l="l" t="t" r="r" b="b"/>
              <a:pathLst>
                <a:path w="29210" h="27304">
                  <a:moveTo>
                    <a:pt x="14147" y="0"/>
                  </a:moveTo>
                  <a:lnTo>
                    <a:pt x="0" y="4655"/>
                  </a:lnTo>
                  <a:lnTo>
                    <a:pt x="0" y="22751"/>
                  </a:lnTo>
                  <a:lnTo>
                    <a:pt x="14147" y="26855"/>
                  </a:lnTo>
                  <a:lnTo>
                    <a:pt x="23803" y="22751"/>
                  </a:lnTo>
                  <a:lnTo>
                    <a:pt x="29028" y="13415"/>
                  </a:lnTo>
                  <a:lnTo>
                    <a:pt x="23803" y="4655"/>
                  </a:lnTo>
                  <a:lnTo>
                    <a:pt x="14147" y="0"/>
                  </a:lnTo>
                  <a:close/>
                </a:path>
              </a:pathLst>
            </a:custGeom>
            <a:solidFill>
              <a:srgbClr val="1F1A17"/>
            </a:solidFill>
          </p:spPr>
          <p:txBody>
            <a:bodyPr wrap="square" lIns="0" tIns="0" rIns="0" bIns="0" rtlCol="0"/>
            <a:lstStyle/>
            <a:p>
              <a:endParaRPr/>
            </a:p>
          </p:txBody>
        </p:sp>
        <p:sp>
          <p:nvSpPr>
            <p:cNvPr id="85" name="object 85"/>
            <p:cNvSpPr/>
            <p:nvPr/>
          </p:nvSpPr>
          <p:spPr>
            <a:xfrm>
              <a:off x="6372649" y="571501"/>
              <a:ext cx="29209" cy="27305"/>
            </a:xfrm>
            <a:custGeom>
              <a:avLst/>
              <a:gdLst/>
              <a:ahLst/>
              <a:cxnLst/>
              <a:rect l="l" t="t" r="r" b="b"/>
              <a:pathLst>
                <a:path w="29210" h="27304">
                  <a:moveTo>
                    <a:pt x="14147" y="0"/>
                  </a:moveTo>
                  <a:lnTo>
                    <a:pt x="23803" y="4679"/>
                  </a:lnTo>
                  <a:lnTo>
                    <a:pt x="29028" y="13439"/>
                  </a:lnTo>
                  <a:lnTo>
                    <a:pt x="23803" y="22775"/>
                  </a:lnTo>
                  <a:lnTo>
                    <a:pt x="14147" y="26855"/>
                  </a:lnTo>
                  <a:lnTo>
                    <a:pt x="0" y="22775"/>
                  </a:lnTo>
                  <a:lnTo>
                    <a:pt x="0" y="13439"/>
                  </a:lnTo>
                  <a:lnTo>
                    <a:pt x="0" y="4679"/>
                  </a:lnTo>
                  <a:lnTo>
                    <a:pt x="14147" y="0"/>
                  </a:lnTo>
                </a:path>
              </a:pathLst>
            </a:custGeom>
            <a:ln w="4608">
              <a:solidFill>
                <a:srgbClr val="1F1A17"/>
              </a:solidFill>
            </a:ln>
          </p:spPr>
          <p:txBody>
            <a:bodyPr wrap="square" lIns="0" tIns="0" rIns="0" bIns="0" rtlCol="0"/>
            <a:lstStyle/>
            <a:p>
              <a:endParaRPr/>
            </a:p>
          </p:txBody>
        </p:sp>
      </p:grpSp>
      <p:grpSp>
        <p:nvGrpSpPr>
          <p:cNvPr id="86" name="object 86"/>
          <p:cNvGrpSpPr/>
          <p:nvPr/>
        </p:nvGrpSpPr>
        <p:grpSpPr>
          <a:xfrm>
            <a:off x="6177641" y="1740254"/>
            <a:ext cx="252729" cy="293370"/>
            <a:chOff x="6177641" y="1740254"/>
            <a:chExt cx="252729" cy="293370"/>
          </a:xfrm>
        </p:grpSpPr>
        <p:sp>
          <p:nvSpPr>
            <p:cNvPr id="87" name="object 87"/>
            <p:cNvSpPr/>
            <p:nvPr/>
          </p:nvSpPr>
          <p:spPr>
            <a:xfrm>
              <a:off x="6177635" y="1740255"/>
              <a:ext cx="252729" cy="293370"/>
            </a:xfrm>
            <a:custGeom>
              <a:avLst/>
              <a:gdLst/>
              <a:ahLst/>
              <a:cxnLst/>
              <a:rect l="l" t="t" r="r" b="b"/>
              <a:pathLst>
                <a:path w="252729" h="293369">
                  <a:moveTo>
                    <a:pt x="252336" y="76479"/>
                  </a:moveTo>
                  <a:lnTo>
                    <a:pt x="223304" y="31534"/>
                  </a:lnTo>
                  <a:lnTo>
                    <a:pt x="179362" y="4089"/>
                  </a:lnTo>
                  <a:lnTo>
                    <a:pt x="155562" y="0"/>
                  </a:lnTo>
                  <a:lnTo>
                    <a:pt x="126530" y="4089"/>
                  </a:lnTo>
                  <a:lnTo>
                    <a:pt x="72936" y="18097"/>
                  </a:lnTo>
                  <a:lnTo>
                    <a:pt x="29032" y="53721"/>
                  </a:lnTo>
                  <a:lnTo>
                    <a:pt x="0" y="108013"/>
                  </a:lnTo>
                  <a:lnTo>
                    <a:pt x="0" y="139534"/>
                  </a:lnTo>
                  <a:lnTo>
                    <a:pt x="14884" y="166382"/>
                  </a:lnTo>
                  <a:lnTo>
                    <a:pt x="29032" y="193827"/>
                  </a:lnTo>
                  <a:lnTo>
                    <a:pt x="48374" y="216001"/>
                  </a:lnTo>
                  <a:lnTo>
                    <a:pt x="72936" y="238772"/>
                  </a:lnTo>
                  <a:lnTo>
                    <a:pt x="97497" y="252209"/>
                  </a:lnTo>
                  <a:lnTo>
                    <a:pt x="106184" y="255625"/>
                  </a:lnTo>
                  <a:lnTo>
                    <a:pt x="48374" y="279057"/>
                  </a:lnTo>
                  <a:lnTo>
                    <a:pt x="53594" y="288404"/>
                  </a:lnTo>
                  <a:lnTo>
                    <a:pt x="53594" y="293065"/>
                  </a:lnTo>
                  <a:lnTo>
                    <a:pt x="145872" y="261543"/>
                  </a:lnTo>
                  <a:lnTo>
                    <a:pt x="160020" y="256870"/>
                  </a:lnTo>
                  <a:lnTo>
                    <a:pt x="150329" y="247535"/>
                  </a:lnTo>
                  <a:lnTo>
                    <a:pt x="82626" y="184480"/>
                  </a:lnTo>
                  <a:lnTo>
                    <a:pt x="68478" y="197916"/>
                  </a:lnTo>
                  <a:lnTo>
                    <a:pt x="106591" y="233718"/>
                  </a:lnTo>
                  <a:lnTo>
                    <a:pt x="87820" y="220675"/>
                  </a:lnTo>
                  <a:lnTo>
                    <a:pt x="63246" y="202577"/>
                  </a:lnTo>
                  <a:lnTo>
                    <a:pt x="43903" y="184480"/>
                  </a:lnTo>
                  <a:lnTo>
                    <a:pt x="29032" y="162293"/>
                  </a:lnTo>
                  <a:lnTo>
                    <a:pt x="24536" y="134861"/>
                  </a:lnTo>
                  <a:lnTo>
                    <a:pt x="19342" y="112674"/>
                  </a:lnTo>
                  <a:lnTo>
                    <a:pt x="43903" y="63055"/>
                  </a:lnTo>
                  <a:lnTo>
                    <a:pt x="82626" y="35623"/>
                  </a:lnTo>
                  <a:lnTo>
                    <a:pt x="126530" y="22174"/>
                  </a:lnTo>
                  <a:lnTo>
                    <a:pt x="174904" y="22174"/>
                  </a:lnTo>
                  <a:lnTo>
                    <a:pt x="194271" y="31534"/>
                  </a:lnTo>
                  <a:lnTo>
                    <a:pt x="223304" y="58394"/>
                  </a:lnTo>
                  <a:lnTo>
                    <a:pt x="232956" y="81153"/>
                  </a:lnTo>
                  <a:lnTo>
                    <a:pt x="232956" y="103339"/>
                  </a:lnTo>
                  <a:lnTo>
                    <a:pt x="227761" y="130771"/>
                  </a:lnTo>
                  <a:lnTo>
                    <a:pt x="218071" y="162293"/>
                  </a:lnTo>
                  <a:lnTo>
                    <a:pt x="194271" y="202577"/>
                  </a:lnTo>
                  <a:lnTo>
                    <a:pt x="165252" y="243446"/>
                  </a:lnTo>
                  <a:lnTo>
                    <a:pt x="179362" y="256870"/>
                  </a:lnTo>
                  <a:lnTo>
                    <a:pt x="213614" y="211924"/>
                  </a:lnTo>
                  <a:lnTo>
                    <a:pt x="237451" y="171056"/>
                  </a:lnTo>
                  <a:lnTo>
                    <a:pt x="247103" y="134861"/>
                  </a:lnTo>
                  <a:lnTo>
                    <a:pt x="252336" y="103339"/>
                  </a:lnTo>
                  <a:lnTo>
                    <a:pt x="252336" y="76479"/>
                  </a:lnTo>
                  <a:close/>
                </a:path>
              </a:pathLst>
            </a:custGeom>
            <a:solidFill>
              <a:srgbClr val="1F1A17"/>
            </a:solidFill>
          </p:spPr>
          <p:txBody>
            <a:bodyPr wrap="square" lIns="0" tIns="0" rIns="0" bIns="0" rtlCol="0"/>
            <a:lstStyle/>
            <a:p>
              <a:endParaRPr/>
            </a:p>
          </p:txBody>
        </p:sp>
        <p:sp>
          <p:nvSpPr>
            <p:cNvPr id="88" name="object 88"/>
            <p:cNvSpPr/>
            <p:nvPr/>
          </p:nvSpPr>
          <p:spPr>
            <a:xfrm>
              <a:off x="6337663" y="1969684"/>
              <a:ext cx="29209" cy="32384"/>
            </a:xfrm>
            <a:custGeom>
              <a:avLst/>
              <a:gdLst/>
              <a:ahLst/>
              <a:cxnLst/>
              <a:rect l="l" t="t" r="r" b="b"/>
              <a:pathLst>
                <a:path w="29210" h="32385">
                  <a:moveTo>
                    <a:pt x="14880" y="0"/>
                  </a:moveTo>
                  <a:lnTo>
                    <a:pt x="5225" y="4670"/>
                  </a:lnTo>
                  <a:lnTo>
                    <a:pt x="0" y="18098"/>
                  </a:lnTo>
                  <a:lnTo>
                    <a:pt x="5225" y="27438"/>
                  </a:lnTo>
                  <a:lnTo>
                    <a:pt x="14880" y="32108"/>
                  </a:lnTo>
                  <a:lnTo>
                    <a:pt x="24567" y="27438"/>
                  </a:lnTo>
                  <a:lnTo>
                    <a:pt x="29028" y="18098"/>
                  </a:lnTo>
                  <a:lnTo>
                    <a:pt x="24567" y="4670"/>
                  </a:lnTo>
                  <a:lnTo>
                    <a:pt x="14880" y="0"/>
                  </a:lnTo>
                  <a:close/>
                </a:path>
              </a:pathLst>
            </a:custGeom>
            <a:solidFill>
              <a:srgbClr val="1F1A17"/>
            </a:solidFill>
          </p:spPr>
          <p:txBody>
            <a:bodyPr wrap="square" lIns="0" tIns="0" rIns="0" bIns="0" rtlCol="0"/>
            <a:lstStyle/>
            <a:p>
              <a:endParaRPr/>
            </a:p>
          </p:txBody>
        </p:sp>
        <p:sp>
          <p:nvSpPr>
            <p:cNvPr id="89" name="object 89"/>
            <p:cNvSpPr/>
            <p:nvPr/>
          </p:nvSpPr>
          <p:spPr>
            <a:xfrm>
              <a:off x="6348082" y="1977858"/>
              <a:ext cx="29209" cy="32384"/>
            </a:xfrm>
            <a:custGeom>
              <a:avLst/>
              <a:gdLst/>
              <a:ahLst/>
              <a:cxnLst/>
              <a:rect l="l" t="t" r="r" b="b"/>
              <a:pathLst>
                <a:path w="29210" h="32385">
                  <a:moveTo>
                    <a:pt x="14880" y="0"/>
                  </a:moveTo>
                  <a:lnTo>
                    <a:pt x="24567" y="4670"/>
                  </a:lnTo>
                  <a:lnTo>
                    <a:pt x="29028" y="18095"/>
                  </a:lnTo>
                  <a:lnTo>
                    <a:pt x="24567" y="27436"/>
                  </a:lnTo>
                  <a:lnTo>
                    <a:pt x="14880" y="32106"/>
                  </a:lnTo>
                  <a:lnTo>
                    <a:pt x="5225" y="27436"/>
                  </a:lnTo>
                  <a:lnTo>
                    <a:pt x="0" y="18095"/>
                  </a:lnTo>
                  <a:lnTo>
                    <a:pt x="5225" y="4670"/>
                  </a:lnTo>
                  <a:lnTo>
                    <a:pt x="14880" y="0"/>
                  </a:lnTo>
                </a:path>
              </a:pathLst>
            </a:custGeom>
            <a:ln w="4707">
              <a:solidFill>
                <a:srgbClr val="1F1A17"/>
              </a:solidFill>
            </a:ln>
          </p:spPr>
          <p:txBody>
            <a:bodyPr wrap="square" lIns="0" tIns="0" rIns="0" bIns="0" rtlCol="0"/>
            <a:lstStyle/>
            <a:p>
              <a:endParaRPr/>
            </a:p>
          </p:txBody>
        </p:sp>
      </p:grpSp>
      <p:sp>
        <p:nvSpPr>
          <p:cNvPr id="90" name="object 90"/>
          <p:cNvSpPr txBox="1"/>
          <p:nvPr/>
        </p:nvSpPr>
        <p:spPr>
          <a:xfrm>
            <a:off x="4520486" y="484466"/>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1</a:t>
            </a:r>
            <a:endParaRPr sz="1750">
              <a:latin typeface="Times New Roman"/>
              <a:cs typeface="Times New Roman"/>
            </a:endParaRPr>
          </a:p>
        </p:txBody>
      </p:sp>
      <p:sp>
        <p:nvSpPr>
          <p:cNvPr id="91" name="object 91"/>
          <p:cNvSpPr txBox="1"/>
          <p:nvPr/>
        </p:nvSpPr>
        <p:spPr>
          <a:xfrm>
            <a:off x="6415375" y="516561"/>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2</a:t>
            </a:r>
            <a:endParaRPr sz="1750">
              <a:latin typeface="Times New Roman"/>
              <a:cs typeface="Times New Roman"/>
            </a:endParaRPr>
          </a:p>
        </p:txBody>
      </p:sp>
      <p:sp>
        <p:nvSpPr>
          <p:cNvPr id="92" name="object 92"/>
          <p:cNvSpPr txBox="1"/>
          <p:nvPr/>
        </p:nvSpPr>
        <p:spPr>
          <a:xfrm>
            <a:off x="6393603" y="1968564"/>
            <a:ext cx="146050" cy="295275"/>
          </a:xfrm>
          <a:prstGeom prst="rect">
            <a:avLst/>
          </a:prstGeom>
        </p:spPr>
        <p:txBody>
          <a:bodyPr vert="horz" wrap="square" lIns="0" tIns="15240" rIns="0" bIns="0" rtlCol="0">
            <a:spAutoFit/>
          </a:bodyPr>
          <a:lstStyle/>
          <a:p>
            <a:pPr marL="12700">
              <a:lnSpc>
                <a:spcPct val="100000"/>
              </a:lnSpc>
              <a:spcBef>
                <a:spcPts val="120"/>
              </a:spcBef>
            </a:pPr>
            <a:r>
              <a:rPr sz="1750" spc="20" dirty="0">
                <a:latin typeface="Times New Roman"/>
                <a:cs typeface="Times New Roman"/>
              </a:rPr>
              <a:t>3</a:t>
            </a:r>
            <a:endParaRPr sz="1750">
              <a:latin typeface="Times New Roman"/>
              <a:cs typeface="Times New Roman"/>
            </a:endParaRPr>
          </a:p>
        </p:txBody>
      </p:sp>
      <p:sp>
        <p:nvSpPr>
          <p:cNvPr id="93" name="object 93"/>
          <p:cNvSpPr txBox="1"/>
          <p:nvPr/>
        </p:nvSpPr>
        <p:spPr>
          <a:xfrm>
            <a:off x="4427956" y="1900316"/>
            <a:ext cx="3206011" cy="1345881"/>
          </a:xfrm>
          <a:prstGeom prst="rect">
            <a:avLst/>
          </a:prstGeom>
        </p:spPr>
        <p:txBody>
          <a:bodyPr vert="horz" wrap="square" lIns="0" tIns="83185" rIns="0" bIns="0" rtlCol="0">
            <a:spAutoFit/>
          </a:bodyPr>
          <a:lstStyle/>
          <a:p>
            <a:pPr marL="38100">
              <a:lnSpc>
                <a:spcPct val="100000"/>
              </a:lnSpc>
              <a:spcBef>
                <a:spcPts val="655"/>
              </a:spcBef>
            </a:pPr>
            <a:r>
              <a:rPr sz="1750" spc="20" dirty="0">
                <a:latin typeface="Times New Roman"/>
                <a:cs typeface="Times New Roman"/>
              </a:rPr>
              <a:t>4</a:t>
            </a:r>
            <a:endParaRPr sz="1750" dirty="0">
              <a:latin typeface="Times New Roman"/>
              <a:cs typeface="Times New Roman"/>
            </a:endParaRPr>
          </a:p>
          <a:p>
            <a:pPr marL="150495">
              <a:lnSpc>
                <a:spcPct val="100000"/>
              </a:lnSpc>
              <a:spcBef>
                <a:spcPts val="560"/>
              </a:spcBef>
            </a:pPr>
            <a:r>
              <a:rPr sz="1750" spc="75" dirty="0">
                <a:solidFill>
                  <a:srgbClr val="0070C0"/>
                </a:solidFill>
                <a:latin typeface="Times New Roman"/>
                <a:cs typeface="Times New Roman"/>
              </a:rPr>
              <a:t>R</a:t>
            </a:r>
            <a:r>
              <a:rPr sz="1800" spc="112" baseline="-20833" dirty="0">
                <a:solidFill>
                  <a:srgbClr val="0070C0"/>
                </a:solidFill>
                <a:latin typeface="Times New Roman"/>
                <a:cs typeface="Times New Roman"/>
              </a:rPr>
              <a:t>2</a:t>
            </a:r>
            <a:r>
              <a:rPr sz="1800" spc="262" baseline="-20833" dirty="0">
                <a:solidFill>
                  <a:srgbClr val="0070C0"/>
                </a:solidFill>
                <a:latin typeface="Times New Roman"/>
                <a:cs typeface="Times New Roman"/>
              </a:rPr>
              <a:t> </a:t>
            </a:r>
            <a:r>
              <a:rPr sz="1750" spc="50" dirty="0">
                <a:solidFill>
                  <a:srgbClr val="0070C0"/>
                </a:solidFill>
                <a:latin typeface="Times New Roman"/>
                <a:cs typeface="Times New Roman"/>
              </a:rPr>
              <a:t>is</a:t>
            </a:r>
            <a:r>
              <a:rPr sz="1750" spc="40" dirty="0">
                <a:solidFill>
                  <a:srgbClr val="0070C0"/>
                </a:solidFill>
                <a:latin typeface="Times New Roman"/>
                <a:cs typeface="Times New Roman"/>
              </a:rPr>
              <a:t> </a:t>
            </a:r>
            <a:r>
              <a:rPr sz="1750" spc="55" dirty="0">
                <a:solidFill>
                  <a:srgbClr val="0070C0"/>
                </a:solidFill>
                <a:latin typeface="Times New Roman"/>
                <a:cs typeface="Times New Roman"/>
              </a:rPr>
              <a:t>symmetric</a:t>
            </a:r>
            <a:br>
              <a:rPr lang="en-US" sz="1750" spc="55" dirty="0">
                <a:latin typeface="Times New Roman"/>
                <a:cs typeface="Times New Roman"/>
              </a:rPr>
            </a:br>
            <a:r>
              <a:rPr lang="en-US" sz="1400" spc="55" dirty="0">
                <a:latin typeface="Times New Roman"/>
                <a:cs typeface="Times New Roman"/>
              </a:rPr>
              <a:t>Because reversing any pair gives the same pair, which is already in the relation.</a:t>
            </a:r>
            <a:endParaRPr sz="1400" dirty="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0274" y="29463"/>
            <a:ext cx="4290695" cy="1000760"/>
          </a:xfrm>
          <a:prstGeom prst="rect">
            <a:avLst/>
          </a:prstGeom>
        </p:spPr>
        <p:txBody>
          <a:bodyPr vert="horz" wrap="square" lIns="0" tIns="12065" rIns="0" bIns="0" rtlCol="0">
            <a:spAutoFit/>
          </a:bodyPr>
          <a:lstStyle/>
          <a:p>
            <a:pPr marL="55880" marR="5080" indent="-43815">
              <a:lnSpc>
                <a:spcPct val="100000"/>
              </a:lnSpc>
              <a:spcBef>
                <a:spcPts val="95"/>
              </a:spcBef>
            </a:pPr>
            <a:r>
              <a:rPr sz="3200" dirty="0"/>
              <a:t>DIRECTED</a:t>
            </a:r>
            <a:r>
              <a:rPr sz="3200" spc="-35" dirty="0"/>
              <a:t> </a:t>
            </a:r>
            <a:r>
              <a:rPr sz="3200" dirty="0"/>
              <a:t>GRAPH</a:t>
            </a:r>
            <a:r>
              <a:rPr sz="3200" spc="-60" dirty="0"/>
              <a:t> </a:t>
            </a:r>
            <a:r>
              <a:rPr sz="3200" dirty="0"/>
              <a:t>OF</a:t>
            </a:r>
            <a:r>
              <a:rPr sz="3200" spc="-225" dirty="0"/>
              <a:t> </a:t>
            </a:r>
            <a:r>
              <a:rPr sz="3200" spc="-50" dirty="0"/>
              <a:t>A </a:t>
            </a:r>
            <a:r>
              <a:rPr sz="3200" dirty="0"/>
              <a:t>TRANSITIVE</a:t>
            </a:r>
            <a:r>
              <a:rPr sz="3200" spc="-160" dirty="0"/>
              <a:t> </a:t>
            </a:r>
            <a:r>
              <a:rPr sz="3200" spc="-10" dirty="0"/>
              <a:t>RELATION</a:t>
            </a:r>
            <a:endParaRPr sz="3200"/>
          </a:p>
        </p:txBody>
      </p:sp>
      <p:sp>
        <p:nvSpPr>
          <p:cNvPr id="3" name="object 3"/>
          <p:cNvSpPr txBox="1"/>
          <p:nvPr/>
        </p:nvSpPr>
        <p:spPr>
          <a:xfrm>
            <a:off x="269240" y="1354073"/>
            <a:ext cx="7263130" cy="3531235"/>
          </a:xfrm>
          <a:prstGeom prst="rect">
            <a:avLst/>
          </a:prstGeom>
        </p:spPr>
        <p:txBody>
          <a:bodyPr vert="horz" wrap="square" lIns="0" tIns="12700" rIns="0" bIns="0" rtlCol="0">
            <a:spAutoFit/>
          </a:bodyPr>
          <a:lstStyle/>
          <a:p>
            <a:pPr marL="50800" marR="307975">
              <a:lnSpc>
                <a:spcPct val="100000"/>
              </a:lnSpc>
              <a:spcBef>
                <a:spcPts val="100"/>
              </a:spcBef>
            </a:pPr>
            <a:r>
              <a:rPr sz="1800" b="1" dirty="0">
                <a:solidFill>
                  <a:srgbClr val="00AFEF"/>
                </a:solidFill>
                <a:latin typeface="Times New Roman"/>
                <a:cs typeface="Times New Roman"/>
              </a:rPr>
              <a:t>For</a:t>
            </a:r>
            <a:r>
              <a:rPr sz="1800" b="1" spc="-70" dirty="0">
                <a:solidFill>
                  <a:srgbClr val="00AFEF"/>
                </a:solidFill>
                <a:latin typeface="Times New Roman"/>
                <a:cs typeface="Times New Roman"/>
              </a:rPr>
              <a:t> </a:t>
            </a:r>
            <a:r>
              <a:rPr sz="1800" b="1" dirty="0">
                <a:solidFill>
                  <a:srgbClr val="00AFEF"/>
                </a:solidFill>
                <a:latin typeface="Times New Roman"/>
                <a:cs typeface="Times New Roman"/>
              </a:rPr>
              <a:t>a</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transitive</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directed</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graph,</a:t>
            </a:r>
            <a:r>
              <a:rPr sz="1800" b="1" spc="-45" dirty="0">
                <a:solidFill>
                  <a:srgbClr val="00AFEF"/>
                </a:solidFill>
                <a:latin typeface="Times New Roman"/>
                <a:cs typeface="Times New Roman"/>
              </a:rPr>
              <a:t> </a:t>
            </a:r>
            <a:r>
              <a:rPr sz="1800" b="1" dirty="0">
                <a:solidFill>
                  <a:srgbClr val="00AFEF"/>
                </a:solidFill>
                <a:latin typeface="Times New Roman"/>
                <a:cs typeface="Times New Roman"/>
              </a:rPr>
              <a:t>whenever</a:t>
            </a:r>
            <a:r>
              <a:rPr sz="1800" b="1" spc="-70" dirty="0">
                <a:solidFill>
                  <a:srgbClr val="00AFEF"/>
                </a:solidFill>
                <a:latin typeface="Times New Roman"/>
                <a:cs typeface="Times New Roman"/>
              </a:rPr>
              <a:t> </a:t>
            </a:r>
            <a:r>
              <a:rPr sz="1800" b="1" dirty="0">
                <a:solidFill>
                  <a:srgbClr val="00AFEF"/>
                </a:solidFill>
                <a:latin typeface="Times New Roman"/>
                <a:cs typeface="Times New Roman"/>
              </a:rPr>
              <a:t>there</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is</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an</a:t>
            </a:r>
            <a:r>
              <a:rPr sz="1800" b="1" spc="-35" dirty="0">
                <a:solidFill>
                  <a:srgbClr val="00AFEF"/>
                </a:solidFill>
                <a:latin typeface="Times New Roman"/>
                <a:cs typeface="Times New Roman"/>
              </a:rPr>
              <a:t> </a:t>
            </a:r>
            <a:r>
              <a:rPr sz="1800" b="1" dirty="0">
                <a:solidFill>
                  <a:srgbClr val="00AFEF"/>
                </a:solidFill>
                <a:latin typeface="Times New Roman"/>
                <a:cs typeface="Times New Roman"/>
              </a:rPr>
              <a:t>arrow</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going</a:t>
            </a:r>
            <a:r>
              <a:rPr sz="1800" b="1" spc="-40" dirty="0">
                <a:solidFill>
                  <a:srgbClr val="00AFEF"/>
                </a:solidFill>
                <a:latin typeface="Times New Roman"/>
                <a:cs typeface="Times New Roman"/>
              </a:rPr>
              <a:t> </a:t>
            </a:r>
            <a:r>
              <a:rPr sz="1800" b="1" spc="-20" dirty="0">
                <a:solidFill>
                  <a:srgbClr val="00AFEF"/>
                </a:solidFill>
                <a:latin typeface="Times New Roman"/>
                <a:cs typeface="Times New Roman"/>
              </a:rPr>
              <a:t>from </a:t>
            </a:r>
            <a:r>
              <a:rPr sz="1800" b="1" dirty="0">
                <a:solidFill>
                  <a:srgbClr val="00AFEF"/>
                </a:solidFill>
                <a:latin typeface="Times New Roman"/>
                <a:cs typeface="Times New Roman"/>
              </a:rPr>
              <a:t>one</a:t>
            </a:r>
            <a:r>
              <a:rPr sz="1800" b="1" spc="-30" dirty="0">
                <a:solidFill>
                  <a:srgbClr val="00AFEF"/>
                </a:solidFill>
                <a:latin typeface="Times New Roman"/>
                <a:cs typeface="Times New Roman"/>
              </a:rPr>
              <a:t> </a:t>
            </a:r>
            <a:r>
              <a:rPr sz="1800" b="1" dirty="0">
                <a:solidFill>
                  <a:srgbClr val="00AFEF"/>
                </a:solidFill>
                <a:latin typeface="Times New Roman"/>
                <a:cs typeface="Times New Roman"/>
              </a:rPr>
              <a:t>point</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to</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second,</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and</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from</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second</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to</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third,</a:t>
            </a:r>
            <a:r>
              <a:rPr sz="1800" b="1" spc="-15" dirty="0">
                <a:solidFill>
                  <a:srgbClr val="00AFEF"/>
                </a:solidFill>
                <a:latin typeface="Times New Roman"/>
                <a:cs typeface="Times New Roman"/>
              </a:rPr>
              <a:t> </a:t>
            </a:r>
            <a:r>
              <a:rPr sz="1800" b="1" dirty="0">
                <a:solidFill>
                  <a:srgbClr val="00AFEF"/>
                </a:solidFill>
                <a:latin typeface="Times New Roman"/>
                <a:cs typeface="Times New Roman"/>
              </a:rPr>
              <a:t>there</a:t>
            </a:r>
            <a:r>
              <a:rPr sz="1800" b="1" spc="-20" dirty="0">
                <a:solidFill>
                  <a:srgbClr val="00AFEF"/>
                </a:solidFill>
                <a:latin typeface="Times New Roman"/>
                <a:cs typeface="Times New Roman"/>
              </a:rPr>
              <a:t> </a:t>
            </a:r>
            <a:r>
              <a:rPr sz="1800" b="1" dirty="0">
                <a:solidFill>
                  <a:srgbClr val="00AFEF"/>
                </a:solidFill>
                <a:latin typeface="Times New Roman"/>
                <a:cs typeface="Times New Roman"/>
              </a:rPr>
              <a:t>is</a:t>
            </a:r>
            <a:r>
              <a:rPr sz="1800" b="1" spc="-15" dirty="0">
                <a:solidFill>
                  <a:srgbClr val="00AFEF"/>
                </a:solidFill>
                <a:latin typeface="Times New Roman"/>
                <a:cs typeface="Times New Roman"/>
              </a:rPr>
              <a:t> </a:t>
            </a:r>
            <a:r>
              <a:rPr sz="1800" b="1" spc="-25" dirty="0">
                <a:solidFill>
                  <a:srgbClr val="00AFEF"/>
                </a:solidFill>
                <a:latin typeface="Times New Roman"/>
                <a:cs typeface="Times New Roman"/>
              </a:rPr>
              <a:t>an </a:t>
            </a:r>
            <a:r>
              <a:rPr sz="1800" b="1" dirty="0">
                <a:solidFill>
                  <a:srgbClr val="00AFEF"/>
                </a:solidFill>
                <a:latin typeface="Times New Roman"/>
                <a:cs typeface="Times New Roman"/>
              </a:rPr>
              <a:t>arrow</a:t>
            </a:r>
            <a:r>
              <a:rPr sz="1800" b="1" spc="-45" dirty="0">
                <a:solidFill>
                  <a:srgbClr val="00AFEF"/>
                </a:solidFill>
                <a:latin typeface="Times New Roman"/>
                <a:cs typeface="Times New Roman"/>
              </a:rPr>
              <a:t> </a:t>
            </a:r>
            <a:r>
              <a:rPr sz="1800" b="1" dirty="0">
                <a:solidFill>
                  <a:srgbClr val="00AFEF"/>
                </a:solidFill>
                <a:latin typeface="Times New Roman"/>
                <a:cs typeface="Times New Roman"/>
              </a:rPr>
              <a:t>going</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directly</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from</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first</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to</a:t>
            </a:r>
            <a:r>
              <a:rPr sz="1800" b="1" spc="-40" dirty="0">
                <a:solidFill>
                  <a:srgbClr val="00AFEF"/>
                </a:solidFill>
                <a:latin typeface="Times New Roman"/>
                <a:cs typeface="Times New Roman"/>
              </a:rPr>
              <a:t> </a:t>
            </a:r>
            <a:r>
              <a:rPr sz="1800" b="1" dirty="0">
                <a:solidFill>
                  <a:srgbClr val="00AFEF"/>
                </a:solidFill>
                <a:latin typeface="Times New Roman"/>
                <a:cs typeface="Times New Roman"/>
              </a:rPr>
              <a:t>the</a:t>
            </a:r>
            <a:r>
              <a:rPr sz="1800" b="1" spc="-40" dirty="0">
                <a:solidFill>
                  <a:srgbClr val="00AFEF"/>
                </a:solidFill>
                <a:latin typeface="Times New Roman"/>
                <a:cs typeface="Times New Roman"/>
              </a:rPr>
              <a:t> </a:t>
            </a:r>
            <a:r>
              <a:rPr sz="1800" b="1" spc="-10" dirty="0">
                <a:solidFill>
                  <a:srgbClr val="00AFEF"/>
                </a:solidFill>
                <a:latin typeface="Times New Roman"/>
                <a:cs typeface="Times New Roman"/>
              </a:rPr>
              <a:t>third.</a:t>
            </a: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5"/>
              </a:spcBef>
            </a:pPr>
            <a:endParaRPr sz="1800">
              <a:latin typeface="Times New Roman"/>
              <a:cs typeface="Times New Roman"/>
            </a:endParaRPr>
          </a:p>
          <a:p>
            <a:pPr marL="50800">
              <a:lnSpc>
                <a:spcPct val="100000"/>
              </a:lnSpc>
            </a:pPr>
            <a:r>
              <a:rPr sz="1800" b="1" dirty="0">
                <a:solidFill>
                  <a:srgbClr val="90C225"/>
                </a:solidFill>
                <a:latin typeface="Times New Roman"/>
                <a:cs typeface="Times New Roman"/>
              </a:rPr>
              <a:t>EXAMPLE</a:t>
            </a:r>
            <a:r>
              <a:rPr sz="1800" b="1" spc="-45" dirty="0">
                <a:solidFill>
                  <a:srgbClr val="90C225"/>
                </a:solidFill>
                <a:latin typeface="Times New Roman"/>
                <a:cs typeface="Times New Roman"/>
              </a:rPr>
              <a:t> </a:t>
            </a:r>
            <a:r>
              <a:rPr sz="1800" b="1" spc="-50" dirty="0">
                <a:solidFill>
                  <a:srgbClr val="90C225"/>
                </a:solidFill>
                <a:latin typeface="Times New Roman"/>
                <a:cs typeface="Times New Roman"/>
              </a:rPr>
              <a:t>W</a:t>
            </a:r>
            <a:endParaRPr sz="1800">
              <a:latin typeface="Times New Roman"/>
              <a:cs typeface="Times New Roman"/>
            </a:endParaRPr>
          </a:p>
          <a:p>
            <a:pPr marL="50800" marR="43180">
              <a:lnSpc>
                <a:spcPct val="100000"/>
              </a:lnSpc>
              <a:spcBef>
                <a:spcPts val="1005"/>
              </a:spcBef>
            </a:pPr>
            <a:r>
              <a:rPr sz="1800" b="1" spc="-10" dirty="0">
                <a:solidFill>
                  <a:srgbClr val="404040"/>
                </a:solidFill>
                <a:latin typeface="Times New Roman"/>
                <a:cs typeface="Times New Roman"/>
              </a:rPr>
              <a:t>Let</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10"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define</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relations</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dirty="0">
                <a:solidFill>
                  <a:srgbClr val="404040"/>
                </a:solidFill>
                <a:latin typeface="Times New Roman"/>
                <a:cs typeface="Times New Roman"/>
              </a:rPr>
              <a:t>,</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spc="202" baseline="-20833" dirty="0">
                <a:solidFill>
                  <a:srgbClr val="404040"/>
                </a:solidFill>
                <a:latin typeface="Times New Roman"/>
                <a:cs typeface="Times New Roman"/>
              </a:rPr>
              <a:t>  </a:t>
            </a:r>
            <a:r>
              <a:rPr sz="1800" b="1" dirty="0">
                <a:solidFill>
                  <a:srgbClr val="404040"/>
                </a:solidFill>
                <a:latin typeface="Times New Roman"/>
                <a:cs typeface="Times New Roman"/>
              </a:rPr>
              <a:t>and</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spc="-22" baseline="-20833" dirty="0">
                <a:solidFill>
                  <a:srgbClr val="404040"/>
                </a:solidFill>
                <a:latin typeface="Times New Roman"/>
                <a:cs typeface="Times New Roman"/>
              </a:rPr>
              <a:t> </a:t>
            </a:r>
            <a:r>
              <a:rPr sz="1800" b="1" dirty="0">
                <a:solidFill>
                  <a:srgbClr val="404040"/>
                </a:solidFill>
                <a:latin typeface="Times New Roman"/>
                <a:cs typeface="Times New Roman"/>
              </a:rPr>
              <a:t>on</a:t>
            </a:r>
            <a:r>
              <a:rPr sz="1800" b="1" spc="-110" dirty="0">
                <a:solidFill>
                  <a:srgbClr val="404040"/>
                </a:solidFill>
                <a:latin typeface="Times New Roman"/>
                <a:cs typeface="Times New Roman"/>
              </a:rPr>
              <a:t> </a:t>
            </a:r>
            <a:r>
              <a:rPr sz="1800" b="1" dirty="0">
                <a:solidFill>
                  <a:srgbClr val="404040"/>
                </a:solidFill>
                <a:latin typeface="Times New Roman"/>
                <a:cs typeface="Times New Roman"/>
              </a:rPr>
              <a:t>A</a:t>
            </a:r>
            <a:r>
              <a:rPr sz="1800" b="1" spc="-105" dirty="0">
                <a:solidFill>
                  <a:srgbClr val="404040"/>
                </a:solidFill>
                <a:latin typeface="Times New Roman"/>
                <a:cs typeface="Times New Roman"/>
              </a:rPr>
              <a:t> </a:t>
            </a:r>
            <a:r>
              <a:rPr sz="1800" b="1" dirty="0">
                <a:solidFill>
                  <a:srgbClr val="404040"/>
                </a:solidFill>
                <a:latin typeface="Times New Roman"/>
                <a:cs typeface="Times New Roman"/>
              </a:rPr>
              <a:t>by</a:t>
            </a:r>
            <a:r>
              <a:rPr sz="1800" b="1" spc="-10" dirty="0">
                <a:solidFill>
                  <a:srgbClr val="404040"/>
                </a:solidFill>
                <a:latin typeface="Times New Roman"/>
                <a:cs typeface="Times New Roman"/>
              </a:rPr>
              <a:t> </a:t>
            </a:r>
            <a:r>
              <a:rPr sz="1800" b="1" dirty="0">
                <a:solidFill>
                  <a:srgbClr val="404040"/>
                </a:solidFill>
                <a:latin typeface="Times New Roman"/>
                <a:cs typeface="Times New Roman"/>
              </a:rPr>
              <a:t>the</a:t>
            </a:r>
            <a:r>
              <a:rPr sz="1800" b="1" spc="-10" dirty="0">
                <a:solidFill>
                  <a:srgbClr val="404040"/>
                </a:solidFill>
                <a:latin typeface="Times New Roman"/>
                <a:cs typeface="Times New Roman"/>
              </a:rPr>
              <a:t> directed graphs:</a:t>
            </a:r>
            <a:endParaRPr sz="1800">
              <a:latin typeface="Times New Roman"/>
              <a:cs typeface="Times New Roman"/>
            </a:endParaRPr>
          </a:p>
          <a:p>
            <a:pPr marL="50800">
              <a:lnSpc>
                <a:spcPct val="100000"/>
              </a:lnSpc>
              <a:spcBef>
                <a:spcPts val="994"/>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1</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spc="-25" dirty="0">
                <a:solidFill>
                  <a:srgbClr val="404040"/>
                </a:solidFill>
                <a:latin typeface="Times New Roman"/>
                <a:cs typeface="Times New Roman"/>
              </a:rPr>
              <a:t>3)}</a:t>
            </a:r>
            <a:endParaRPr sz="1800">
              <a:latin typeface="Times New Roman"/>
              <a:cs typeface="Times New Roman"/>
            </a:endParaRPr>
          </a:p>
          <a:p>
            <a:pPr marL="50800">
              <a:lnSpc>
                <a:spcPct val="100000"/>
              </a:lnSpc>
              <a:spcBef>
                <a:spcPts val="1005"/>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2</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5" dirty="0">
                <a:solidFill>
                  <a:srgbClr val="404040"/>
                </a:solidFill>
                <a:latin typeface="Times New Roman"/>
                <a:cs typeface="Times New Roman"/>
              </a:rPr>
              <a:t> 3)}</a:t>
            </a:r>
            <a:endParaRPr sz="1800">
              <a:latin typeface="Times New Roman"/>
              <a:cs typeface="Times New Roman"/>
            </a:endParaRPr>
          </a:p>
          <a:p>
            <a:pPr marL="50800">
              <a:lnSpc>
                <a:spcPct val="100000"/>
              </a:lnSpc>
              <a:spcBef>
                <a:spcPts val="1000"/>
              </a:spcBef>
            </a:pPr>
            <a:r>
              <a:rPr sz="1800" b="1" dirty="0">
                <a:solidFill>
                  <a:srgbClr val="404040"/>
                </a:solidFill>
                <a:latin typeface="Times New Roman"/>
                <a:cs typeface="Times New Roman"/>
              </a:rPr>
              <a:t>R</a:t>
            </a:r>
            <a:r>
              <a:rPr sz="1800" b="1" baseline="-20833" dirty="0">
                <a:solidFill>
                  <a:srgbClr val="404040"/>
                </a:solidFill>
                <a:latin typeface="Times New Roman"/>
                <a:cs typeface="Times New Roman"/>
              </a:rPr>
              <a:t>3</a:t>
            </a:r>
            <a:r>
              <a:rPr sz="1800" b="1" spc="187" baseline="-20833" dirty="0">
                <a:solidFill>
                  <a:srgbClr val="404040"/>
                </a:solidFill>
                <a:latin typeface="Times New Roman"/>
                <a:cs typeface="Times New Roman"/>
              </a:rPr>
              <a:t> </a:t>
            </a:r>
            <a:r>
              <a:rPr sz="1800" b="1" dirty="0">
                <a:solidFill>
                  <a:srgbClr val="404040"/>
                </a:solidFill>
                <a:latin typeface="Times New Roman"/>
                <a:cs typeface="Times New Roman"/>
              </a:rPr>
              <a:t>=</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1),</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4),</a:t>
            </a:r>
            <a:r>
              <a:rPr sz="1800" b="1" spc="-20" dirty="0">
                <a:solidFill>
                  <a:srgbClr val="404040"/>
                </a:solidFill>
                <a:latin typeface="Times New Roman"/>
                <a:cs typeface="Times New Roman"/>
              </a:rPr>
              <a:t> </a:t>
            </a:r>
            <a:r>
              <a:rPr sz="1800" b="1" dirty="0">
                <a:solidFill>
                  <a:srgbClr val="404040"/>
                </a:solidFill>
                <a:latin typeface="Times New Roman"/>
                <a:cs typeface="Times New Roman"/>
              </a:rPr>
              <a:t>(2,</a:t>
            </a:r>
            <a:r>
              <a:rPr sz="1800" b="1" spc="-15" dirty="0">
                <a:solidFill>
                  <a:srgbClr val="404040"/>
                </a:solidFill>
                <a:latin typeface="Times New Roman"/>
                <a:cs typeface="Times New Roman"/>
              </a:rPr>
              <a:t> </a:t>
            </a:r>
            <a:r>
              <a:rPr sz="1800" b="1" dirty="0">
                <a:solidFill>
                  <a:srgbClr val="404040"/>
                </a:solidFill>
                <a:latin typeface="Times New Roman"/>
                <a:cs typeface="Times New Roman"/>
              </a:rPr>
              <a:t>3),</a:t>
            </a:r>
            <a:r>
              <a:rPr sz="1800" b="1" spc="-20" dirty="0">
                <a:solidFill>
                  <a:srgbClr val="404040"/>
                </a:solidFill>
                <a:latin typeface="Times New Roman"/>
                <a:cs typeface="Times New Roman"/>
              </a:rPr>
              <a:t> </a:t>
            </a:r>
            <a:r>
              <a:rPr sz="1800" b="1" spc="-10" dirty="0">
                <a:solidFill>
                  <a:srgbClr val="404040"/>
                </a:solidFill>
                <a:latin typeface="Times New Roman"/>
                <a:cs typeface="Times New Roman"/>
              </a:rPr>
              <a:t>(4,3)}</a:t>
            </a:r>
            <a:endParaRPr sz="180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7850" y="606933"/>
            <a:ext cx="41275" cy="43815"/>
            <a:chOff x="277850" y="606933"/>
            <a:chExt cx="41275" cy="43815"/>
          </a:xfrm>
        </p:grpSpPr>
        <p:sp>
          <p:nvSpPr>
            <p:cNvPr id="3" name="object 3"/>
            <p:cNvSpPr/>
            <p:nvPr/>
          </p:nvSpPr>
          <p:spPr>
            <a:xfrm>
              <a:off x="277850" y="606933"/>
              <a:ext cx="27940" cy="31750"/>
            </a:xfrm>
            <a:custGeom>
              <a:avLst/>
              <a:gdLst/>
              <a:ahLst/>
              <a:cxnLst/>
              <a:rect l="l" t="t" r="r" b="b"/>
              <a:pathLst>
                <a:path w="27939" h="31750">
                  <a:moveTo>
                    <a:pt x="13837" y="0"/>
                  </a:moveTo>
                  <a:lnTo>
                    <a:pt x="4613" y="5061"/>
                  </a:lnTo>
                  <a:lnTo>
                    <a:pt x="0" y="15213"/>
                  </a:lnTo>
                  <a:lnTo>
                    <a:pt x="4613" y="25335"/>
                  </a:lnTo>
                  <a:lnTo>
                    <a:pt x="13837" y="31141"/>
                  </a:lnTo>
                  <a:lnTo>
                    <a:pt x="23061" y="25335"/>
                  </a:lnTo>
                  <a:lnTo>
                    <a:pt x="27675" y="15213"/>
                  </a:lnTo>
                  <a:lnTo>
                    <a:pt x="23061" y="5061"/>
                  </a:lnTo>
                  <a:lnTo>
                    <a:pt x="13837" y="0"/>
                  </a:lnTo>
                  <a:close/>
                </a:path>
              </a:pathLst>
            </a:custGeom>
            <a:solidFill>
              <a:srgbClr val="1F1A17"/>
            </a:solidFill>
          </p:spPr>
          <p:txBody>
            <a:bodyPr wrap="square" lIns="0" tIns="0" rIns="0" bIns="0" rtlCol="0"/>
            <a:lstStyle/>
            <a:p>
              <a:endParaRPr/>
            </a:p>
          </p:txBody>
        </p:sp>
        <p:sp>
          <p:nvSpPr>
            <p:cNvPr id="4" name="object 4"/>
            <p:cNvSpPr/>
            <p:nvPr/>
          </p:nvSpPr>
          <p:spPr>
            <a:xfrm>
              <a:off x="288611" y="617055"/>
              <a:ext cx="27940" cy="31750"/>
            </a:xfrm>
            <a:custGeom>
              <a:avLst/>
              <a:gdLst/>
              <a:ahLst/>
              <a:cxnLst/>
              <a:rect l="l" t="t" r="r" b="b"/>
              <a:pathLst>
                <a:path w="27939" h="31750">
                  <a:moveTo>
                    <a:pt x="13837" y="0"/>
                  </a:moveTo>
                  <a:lnTo>
                    <a:pt x="23061" y="5090"/>
                  </a:lnTo>
                  <a:lnTo>
                    <a:pt x="27675" y="15213"/>
                  </a:lnTo>
                  <a:lnTo>
                    <a:pt x="23061" y="25365"/>
                  </a:lnTo>
                  <a:lnTo>
                    <a:pt x="13837" y="31141"/>
                  </a:lnTo>
                  <a:lnTo>
                    <a:pt x="4613" y="25365"/>
                  </a:lnTo>
                  <a:lnTo>
                    <a:pt x="0" y="15213"/>
                  </a:lnTo>
                  <a:lnTo>
                    <a:pt x="4613" y="5090"/>
                  </a:lnTo>
                  <a:lnTo>
                    <a:pt x="13837" y="0"/>
                  </a:lnTo>
                </a:path>
              </a:pathLst>
            </a:custGeom>
            <a:ln w="4497">
              <a:solidFill>
                <a:srgbClr val="1F1A17"/>
              </a:solidFill>
            </a:ln>
          </p:spPr>
          <p:txBody>
            <a:bodyPr wrap="square" lIns="0" tIns="0" rIns="0" bIns="0" rtlCol="0"/>
            <a:lstStyle/>
            <a:p>
              <a:endParaRPr/>
            </a:p>
          </p:txBody>
        </p:sp>
      </p:grpSp>
      <p:grpSp>
        <p:nvGrpSpPr>
          <p:cNvPr id="5" name="object 5"/>
          <p:cNvGrpSpPr/>
          <p:nvPr/>
        </p:nvGrpSpPr>
        <p:grpSpPr>
          <a:xfrm>
            <a:off x="277850" y="2403662"/>
            <a:ext cx="41275" cy="48895"/>
            <a:chOff x="277850" y="2403662"/>
            <a:chExt cx="41275" cy="48895"/>
          </a:xfrm>
        </p:grpSpPr>
        <p:sp>
          <p:nvSpPr>
            <p:cNvPr id="6" name="object 6"/>
            <p:cNvSpPr/>
            <p:nvPr/>
          </p:nvSpPr>
          <p:spPr>
            <a:xfrm>
              <a:off x="277850" y="2403662"/>
              <a:ext cx="27940" cy="36830"/>
            </a:xfrm>
            <a:custGeom>
              <a:avLst/>
              <a:gdLst/>
              <a:ahLst/>
              <a:cxnLst/>
              <a:rect l="l" t="t" r="r" b="b"/>
              <a:pathLst>
                <a:path w="27939" h="36830">
                  <a:moveTo>
                    <a:pt x="13837" y="0"/>
                  </a:moveTo>
                  <a:lnTo>
                    <a:pt x="0" y="5070"/>
                  </a:lnTo>
                  <a:lnTo>
                    <a:pt x="0" y="31141"/>
                  </a:lnTo>
                  <a:lnTo>
                    <a:pt x="13837" y="36210"/>
                  </a:lnTo>
                  <a:lnTo>
                    <a:pt x="23061" y="31141"/>
                  </a:lnTo>
                  <a:lnTo>
                    <a:pt x="27675" y="21000"/>
                  </a:lnTo>
                  <a:lnTo>
                    <a:pt x="23061" y="5070"/>
                  </a:lnTo>
                  <a:lnTo>
                    <a:pt x="13837" y="0"/>
                  </a:lnTo>
                  <a:close/>
                </a:path>
              </a:pathLst>
            </a:custGeom>
            <a:solidFill>
              <a:srgbClr val="1F1A17"/>
            </a:solidFill>
          </p:spPr>
          <p:txBody>
            <a:bodyPr wrap="square" lIns="0" tIns="0" rIns="0" bIns="0" rtlCol="0"/>
            <a:lstStyle/>
            <a:p>
              <a:endParaRPr/>
            </a:p>
          </p:txBody>
        </p:sp>
        <p:sp>
          <p:nvSpPr>
            <p:cNvPr id="7" name="object 7"/>
            <p:cNvSpPr/>
            <p:nvPr/>
          </p:nvSpPr>
          <p:spPr>
            <a:xfrm>
              <a:off x="288611" y="2413802"/>
              <a:ext cx="27940" cy="36830"/>
            </a:xfrm>
            <a:custGeom>
              <a:avLst/>
              <a:gdLst/>
              <a:ahLst/>
              <a:cxnLst/>
              <a:rect l="l" t="t" r="r" b="b"/>
              <a:pathLst>
                <a:path w="27939" h="36830">
                  <a:moveTo>
                    <a:pt x="13837" y="0"/>
                  </a:moveTo>
                  <a:lnTo>
                    <a:pt x="23061" y="5067"/>
                  </a:lnTo>
                  <a:lnTo>
                    <a:pt x="27675" y="21000"/>
                  </a:lnTo>
                  <a:lnTo>
                    <a:pt x="23061" y="31139"/>
                  </a:lnTo>
                  <a:lnTo>
                    <a:pt x="13837" y="36208"/>
                  </a:lnTo>
                  <a:lnTo>
                    <a:pt x="0" y="31139"/>
                  </a:lnTo>
                  <a:lnTo>
                    <a:pt x="0" y="21000"/>
                  </a:lnTo>
                  <a:lnTo>
                    <a:pt x="0" y="5067"/>
                  </a:lnTo>
                  <a:lnTo>
                    <a:pt x="13837" y="0"/>
                  </a:lnTo>
                </a:path>
              </a:pathLst>
            </a:custGeom>
            <a:ln w="4516">
              <a:solidFill>
                <a:srgbClr val="1F1A17"/>
              </a:solidFill>
            </a:ln>
          </p:spPr>
          <p:txBody>
            <a:bodyPr wrap="square" lIns="0" tIns="0" rIns="0" bIns="0" rtlCol="0"/>
            <a:lstStyle/>
            <a:p>
              <a:endParaRPr/>
            </a:p>
          </p:txBody>
        </p:sp>
      </p:grpSp>
      <p:grpSp>
        <p:nvGrpSpPr>
          <p:cNvPr id="8" name="object 8"/>
          <p:cNvGrpSpPr/>
          <p:nvPr/>
        </p:nvGrpSpPr>
        <p:grpSpPr>
          <a:xfrm>
            <a:off x="140248" y="325204"/>
            <a:ext cx="239395" cy="333375"/>
            <a:chOff x="140248" y="325204"/>
            <a:chExt cx="239395" cy="333375"/>
          </a:xfrm>
        </p:grpSpPr>
        <p:sp>
          <p:nvSpPr>
            <p:cNvPr id="9" name="object 9"/>
            <p:cNvSpPr/>
            <p:nvPr/>
          </p:nvSpPr>
          <p:spPr>
            <a:xfrm>
              <a:off x="144860" y="325204"/>
              <a:ext cx="234950" cy="287020"/>
            </a:xfrm>
            <a:custGeom>
              <a:avLst/>
              <a:gdLst/>
              <a:ahLst/>
              <a:cxnLst/>
              <a:rect l="l" t="t" r="r" b="b"/>
              <a:pathLst>
                <a:path w="234950" h="287020">
                  <a:moveTo>
                    <a:pt x="137603" y="0"/>
                  </a:moveTo>
                  <a:lnTo>
                    <a:pt x="87633" y="5090"/>
                  </a:lnTo>
                  <a:lnTo>
                    <a:pt x="36900" y="36232"/>
                  </a:lnTo>
                  <a:lnTo>
                    <a:pt x="0" y="87647"/>
                  </a:lnTo>
                  <a:lnTo>
                    <a:pt x="18448" y="97769"/>
                  </a:lnTo>
                  <a:lnTo>
                    <a:pt x="32286" y="71719"/>
                  </a:lnTo>
                  <a:lnTo>
                    <a:pt x="50734" y="51415"/>
                  </a:lnTo>
                  <a:lnTo>
                    <a:pt x="69185" y="36232"/>
                  </a:lnTo>
                  <a:lnTo>
                    <a:pt x="92247" y="26079"/>
                  </a:lnTo>
                  <a:lnTo>
                    <a:pt x="114538" y="21018"/>
                  </a:lnTo>
                  <a:lnTo>
                    <a:pt x="137603" y="21018"/>
                  </a:lnTo>
                  <a:lnTo>
                    <a:pt x="174499" y="31141"/>
                  </a:lnTo>
                  <a:lnTo>
                    <a:pt x="202174" y="61567"/>
                  </a:lnTo>
                  <a:lnTo>
                    <a:pt x="211398" y="143409"/>
                  </a:lnTo>
                  <a:lnTo>
                    <a:pt x="197564" y="184673"/>
                  </a:lnTo>
                  <a:lnTo>
                    <a:pt x="179113" y="225252"/>
                  </a:lnTo>
                  <a:lnTo>
                    <a:pt x="146827" y="271576"/>
                  </a:lnTo>
                  <a:lnTo>
                    <a:pt x="160665" y="286790"/>
                  </a:lnTo>
                  <a:lnTo>
                    <a:pt x="192950" y="236088"/>
                  </a:lnTo>
                  <a:lnTo>
                    <a:pt x="216012" y="189764"/>
                  </a:lnTo>
                  <a:lnTo>
                    <a:pt x="229850" y="148471"/>
                  </a:lnTo>
                  <a:lnTo>
                    <a:pt x="234460" y="112983"/>
                  </a:lnTo>
                  <a:lnTo>
                    <a:pt x="229850" y="81842"/>
                  </a:lnTo>
                  <a:lnTo>
                    <a:pt x="220626" y="51415"/>
                  </a:lnTo>
                  <a:lnTo>
                    <a:pt x="206788" y="31141"/>
                  </a:lnTo>
                  <a:lnTo>
                    <a:pt x="183726" y="15957"/>
                  </a:lnTo>
                  <a:lnTo>
                    <a:pt x="160665" y="5090"/>
                  </a:lnTo>
                  <a:lnTo>
                    <a:pt x="137603" y="0"/>
                  </a:lnTo>
                  <a:close/>
                </a:path>
              </a:pathLst>
            </a:custGeom>
            <a:solidFill>
              <a:srgbClr val="1F1A17"/>
            </a:solidFill>
          </p:spPr>
          <p:txBody>
            <a:bodyPr wrap="square" lIns="0" tIns="0" rIns="0" bIns="0" rtlCol="0"/>
            <a:lstStyle/>
            <a:p>
              <a:endParaRPr/>
            </a:p>
          </p:txBody>
        </p:sp>
        <p:pic>
          <p:nvPicPr>
            <p:cNvPr id="10" name="object 10"/>
            <p:cNvPicPr/>
            <p:nvPr/>
          </p:nvPicPr>
          <p:blipFill>
            <a:blip r:embed="rId2" cstate="print"/>
            <a:stretch>
              <a:fillRect/>
            </a:stretch>
          </p:blipFill>
          <p:spPr>
            <a:xfrm>
              <a:off x="140248" y="412852"/>
              <a:ext cx="146826" cy="245496"/>
            </a:xfrm>
            <a:prstGeom prst="rect">
              <a:avLst/>
            </a:prstGeom>
          </p:spPr>
        </p:pic>
      </p:grpSp>
      <p:grpSp>
        <p:nvGrpSpPr>
          <p:cNvPr id="11" name="object 11"/>
          <p:cNvGrpSpPr/>
          <p:nvPr/>
        </p:nvGrpSpPr>
        <p:grpSpPr>
          <a:xfrm>
            <a:off x="2168147" y="601872"/>
            <a:ext cx="41275" cy="48895"/>
            <a:chOff x="2168147" y="601872"/>
            <a:chExt cx="41275" cy="48895"/>
          </a:xfrm>
        </p:grpSpPr>
        <p:sp>
          <p:nvSpPr>
            <p:cNvPr id="12" name="object 12"/>
            <p:cNvSpPr/>
            <p:nvPr/>
          </p:nvSpPr>
          <p:spPr>
            <a:xfrm>
              <a:off x="2168147" y="601872"/>
              <a:ext cx="27940" cy="36830"/>
            </a:xfrm>
            <a:custGeom>
              <a:avLst/>
              <a:gdLst/>
              <a:ahLst/>
              <a:cxnLst/>
              <a:rect l="l" t="t" r="r" b="b"/>
              <a:pathLst>
                <a:path w="27939" h="36829">
                  <a:moveTo>
                    <a:pt x="13853" y="0"/>
                  </a:moveTo>
                  <a:lnTo>
                    <a:pt x="4607" y="5061"/>
                  </a:lnTo>
                  <a:lnTo>
                    <a:pt x="0" y="15183"/>
                  </a:lnTo>
                  <a:lnTo>
                    <a:pt x="4607" y="30396"/>
                  </a:lnTo>
                  <a:lnTo>
                    <a:pt x="13853" y="36202"/>
                  </a:lnTo>
                  <a:lnTo>
                    <a:pt x="23067" y="30396"/>
                  </a:lnTo>
                  <a:lnTo>
                    <a:pt x="27675" y="15183"/>
                  </a:lnTo>
                  <a:lnTo>
                    <a:pt x="23067" y="5061"/>
                  </a:lnTo>
                  <a:lnTo>
                    <a:pt x="13853" y="0"/>
                  </a:lnTo>
                  <a:close/>
                </a:path>
              </a:pathLst>
            </a:custGeom>
            <a:solidFill>
              <a:srgbClr val="1F1A17"/>
            </a:solidFill>
          </p:spPr>
          <p:txBody>
            <a:bodyPr wrap="square" lIns="0" tIns="0" rIns="0" bIns="0" rtlCol="0"/>
            <a:lstStyle/>
            <a:p>
              <a:endParaRPr/>
            </a:p>
          </p:txBody>
        </p:sp>
        <p:sp>
          <p:nvSpPr>
            <p:cNvPr id="13" name="object 13"/>
            <p:cNvSpPr/>
            <p:nvPr/>
          </p:nvSpPr>
          <p:spPr>
            <a:xfrm>
              <a:off x="2178908" y="611995"/>
              <a:ext cx="27940" cy="36830"/>
            </a:xfrm>
            <a:custGeom>
              <a:avLst/>
              <a:gdLst/>
              <a:ahLst/>
              <a:cxnLst/>
              <a:rect l="l" t="t" r="r" b="b"/>
              <a:pathLst>
                <a:path w="27939" h="36829">
                  <a:moveTo>
                    <a:pt x="13853" y="0"/>
                  </a:moveTo>
                  <a:lnTo>
                    <a:pt x="23067" y="5061"/>
                  </a:lnTo>
                  <a:lnTo>
                    <a:pt x="27675" y="15213"/>
                  </a:lnTo>
                  <a:lnTo>
                    <a:pt x="23067" y="30426"/>
                  </a:lnTo>
                  <a:lnTo>
                    <a:pt x="13853" y="36202"/>
                  </a:lnTo>
                  <a:lnTo>
                    <a:pt x="4607" y="30426"/>
                  </a:lnTo>
                  <a:lnTo>
                    <a:pt x="0" y="15213"/>
                  </a:lnTo>
                  <a:lnTo>
                    <a:pt x="4607" y="5061"/>
                  </a:lnTo>
                  <a:lnTo>
                    <a:pt x="13853" y="0"/>
                  </a:lnTo>
                </a:path>
              </a:pathLst>
            </a:custGeom>
            <a:ln w="4516">
              <a:solidFill>
                <a:srgbClr val="1F1A17"/>
              </a:solidFill>
            </a:ln>
          </p:spPr>
          <p:txBody>
            <a:bodyPr wrap="square" lIns="0" tIns="0" rIns="0" bIns="0" rtlCol="0"/>
            <a:lstStyle/>
            <a:p>
              <a:endParaRPr/>
            </a:p>
          </p:txBody>
        </p:sp>
      </p:grpSp>
      <p:grpSp>
        <p:nvGrpSpPr>
          <p:cNvPr id="14" name="object 14"/>
          <p:cNvGrpSpPr/>
          <p:nvPr/>
        </p:nvGrpSpPr>
        <p:grpSpPr>
          <a:xfrm>
            <a:off x="2140472" y="2413803"/>
            <a:ext cx="41275" cy="48895"/>
            <a:chOff x="2140472" y="2413803"/>
            <a:chExt cx="41275" cy="48895"/>
          </a:xfrm>
        </p:grpSpPr>
        <p:sp>
          <p:nvSpPr>
            <p:cNvPr id="15" name="object 15"/>
            <p:cNvSpPr/>
            <p:nvPr/>
          </p:nvSpPr>
          <p:spPr>
            <a:xfrm>
              <a:off x="2140472" y="2413803"/>
              <a:ext cx="27940" cy="36830"/>
            </a:xfrm>
            <a:custGeom>
              <a:avLst/>
              <a:gdLst/>
              <a:ahLst/>
              <a:cxnLst/>
              <a:rect l="l" t="t" r="r" b="b"/>
              <a:pathLst>
                <a:path w="27939" h="36830">
                  <a:moveTo>
                    <a:pt x="13853" y="0"/>
                  </a:moveTo>
                  <a:lnTo>
                    <a:pt x="4607" y="5067"/>
                  </a:lnTo>
                  <a:lnTo>
                    <a:pt x="0" y="21000"/>
                  </a:lnTo>
                  <a:lnTo>
                    <a:pt x="4607" y="31139"/>
                  </a:lnTo>
                  <a:lnTo>
                    <a:pt x="13853" y="36208"/>
                  </a:lnTo>
                  <a:lnTo>
                    <a:pt x="23067" y="31139"/>
                  </a:lnTo>
                  <a:lnTo>
                    <a:pt x="27675" y="21000"/>
                  </a:lnTo>
                  <a:lnTo>
                    <a:pt x="23067" y="5067"/>
                  </a:lnTo>
                  <a:lnTo>
                    <a:pt x="13853" y="0"/>
                  </a:lnTo>
                  <a:close/>
                </a:path>
              </a:pathLst>
            </a:custGeom>
            <a:solidFill>
              <a:srgbClr val="1F1A17"/>
            </a:solidFill>
          </p:spPr>
          <p:txBody>
            <a:bodyPr wrap="square" lIns="0" tIns="0" rIns="0" bIns="0" rtlCol="0"/>
            <a:lstStyle/>
            <a:p>
              <a:endParaRPr/>
            </a:p>
          </p:txBody>
        </p:sp>
        <p:sp>
          <p:nvSpPr>
            <p:cNvPr id="16" name="object 16"/>
            <p:cNvSpPr/>
            <p:nvPr/>
          </p:nvSpPr>
          <p:spPr>
            <a:xfrm>
              <a:off x="2151232" y="2423940"/>
              <a:ext cx="27940" cy="36830"/>
            </a:xfrm>
            <a:custGeom>
              <a:avLst/>
              <a:gdLst/>
              <a:ahLst/>
              <a:cxnLst/>
              <a:rect l="l" t="t" r="r" b="b"/>
              <a:pathLst>
                <a:path w="27939" h="36830">
                  <a:moveTo>
                    <a:pt x="13853" y="0"/>
                  </a:moveTo>
                  <a:lnTo>
                    <a:pt x="23067" y="5070"/>
                  </a:lnTo>
                  <a:lnTo>
                    <a:pt x="27675" y="21002"/>
                  </a:lnTo>
                  <a:lnTo>
                    <a:pt x="23067" y="31141"/>
                  </a:lnTo>
                  <a:lnTo>
                    <a:pt x="13853" y="36210"/>
                  </a:lnTo>
                  <a:lnTo>
                    <a:pt x="4607" y="31141"/>
                  </a:lnTo>
                  <a:lnTo>
                    <a:pt x="0" y="21002"/>
                  </a:lnTo>
                  <a:lnTo>
                    <a:pt x="4607" y="5070"/>
                  </a:lnTo>
                  <a:lnTo>
                    <a:pt x="13853" y="0"/>
                  </a:lnTo>
                </a:path>
              </a:pathLst>
            </a:custGeom>
            <a:ln w="4516">
              <a:solidFill>
                <a:srgbClr val="1F1A17"/>
              </a:solidFill>
            </a:ln>
          </p:spPr>
          <p:txBody>
            <a:bodyPr wrap="square" lIns="0" tIns="0" rIns="0" bIns="0" rtlCol="0"/>
            <a:lstStyle/>
            <a:p>
              <a:endParaRPr/>
            </a:p>
          </p:txBody>
        </p:sp>
      </p:grpSp>
      <p:grpSp>
        <p:nvGrpSpPr>
          <p:cNvPr id="17" name="object 17"/>
          <p:cNvGrpSpPr/>
          <p:nvPr/>
        </p:nvGrpSpPr>
        <p:grpSpPr>
          <a:xfrm>
            <a:off x="310136" y="361436"/>
            <a:ext cx="2097405" cy="2084070"/>
            <a:chOff x="310136" y="361436"/>
            <a:chExt cx="2097405" cy="2084070"/>
          </a:xfrm>
        </p:grpSpPr>
        <p:sp>
          <p:nvSpPr>
            <p:cNvPr id="18" name="object 18"/>
            <p:cNvSpPr/>
            <p:nvPr/>
          </p:nvSpPr>
          <p:spPr>
            <a:xfrm>
              <a:off x="310136" y="361436"/>
              <a:ext cx="1849120" cy="260985"/>
            </a:xfrm>
            <a:custGeom>
              <a:avLst/>
              <a:gdLst/>
              <a:ahLst/>
              <a:cxnLst/>
              <a:rect l="l" t="t" r="r" b="b"/>
              <a:pathLst>
                <a:path w="1849120" h="260984">
                  <a:moveTo>
                    <a:pt x="906325" y="0"/>
                  </a:moveTo>
                  <a:lnTo>
                    <a:pt x="832546" y="0"/>
                  </a:lnTo>
                  <a:lnTo>
                    <a:pt x="684924" y="10122"/>
                  </a:lnTo>
                  <a:lnTo>
                    <a:pt x="611902" y="20274"/>
                  </a:lnTo>
                  <a:lnTo>
                    <a:pt x="533484" y="30396"/>
                  </a:lnTo>
                  <a:lnTo>
                    <a:pt x="459704" y="45610"/>
                  </a:lnTo>
                  <a:lnTo>
                    <a:pt x="382043" y="66628"/>
                  </a:lnTo>
                  <a:lnTo>
                    <a:pt x="308264" y="91964"/>
                  </a:lnTo>
                  <a:lnTo>
                    <a:pt x="229845" y="123105"/>
                  </a:lnTo>
                  <a:lnTo>
                    <a:pt x="73798" y="194081"/>
                  </a:lnTo>
                  <a:lnTo>
                    <a:pt x="0" y="240435"/>
                  </a:lnTo>
                  <a:lnTo>
                    <a:pt x="9224" y="260709"/>
                  </a:lnTo>
                  <a:lnTo>
                    <a:pt x="83022" y="215070"/>
                  </a:lnTo>
                  <a:lnTo>
                    <a:pt x="161431" y="173806"/>
                  </a:lnTo>
                  <a:lnTo>
                    <a:pt x="234453" y="143380"/>
                  </a:lnTo>
                  <a:lnTo>
                    <a:pt x="312871" y="112238"/>
                  </a:lnTo>
                  <a:lnTo>
                    <a:pt x="386682" y="86903"/>
                  </a:lnTo>
                  <a:lnTo>
                    <a:pt x="464311" y="71689"/>
                  </a:lnTo>
                  <a:lnTo>
                    <a:pt x="538122" y="51415"/>
                  </a:lnTo>
                  <a:lnTo>
                    <a:pt x="611902" y="40548"/>
                  </a:lnTo>
                  <a:lnTo>
                    <a:pt x="689563" y="30396"/>
                  </a:lnTo>
                  <a:lnTo>
                    <a:pt x="758735" y="25335"/>
                  </a:lnTo>
                  <a:lnTo>
                    <a:pt x="906325" y="25335"/>
                  </a:lnTo>
                  <a:lnTo>
                    <a:pt x="1043944" y="30396"/>
                  </a:lnTo>
                  <a:lnTo>
                    <a:pt x="1172316" y="45610"/>
                  </a:lnTo>
                  <a:lnTo>
                    <a:pt x="1296839" y="71690"/>
                  </a:lnTo>
                  <a:lnTo>
                    <a:pt x="1411389" y="97025"/>
                  </a:lnTo>
                  <a:lnTo>
                    <a:pt x="1517483" y="128166"/>
                  </a:lnTo>
                  <a:lnTo>
                    <a:pt x="1609723" y="158593"/>
                  </a:lnTo>
                  <a:lnTo>
                    <a:pt x="1756556" y="220131"/>
                  </a:lnTo>
                  <a:lnTo>
                    <a:pt x="1844189" y="260710"/>
                  </a:lnTo>
                  <a:lnTo>
                    <a:pt x="1848796" y="240435"/>
                  </a:lnTo>
                  <a:lnTo>
                    <a:pt x="1765771" y="199857"/>
                  </a:lnTo>
                  <a:lnTo>
                    <a:pt x="1614330" y="138319"/>
                  </a:lnTo>
                  <a:lnTo>
                    <a:pt x="1522090" y="107177"/>
                  </a:lnTo>
                  <a:lnTo>
                    <a:pt x="1415997" y="76751"/>
                  </a:lnTo>
                  <a:lnTo>
                    <a:pt x="1301446" y="51415"/>
                  </a:lnTo>
                  <a:lnTo>
                    <a:pt x="1176924" y="25335"/>
                  </a:lnTo>
                  <a:lnTo>
                    <a:pt x="1043944" y="10122"/>
                  </a:lnTo>
                  <a:lnTo>
                    <a:pt x="906325" y="0"/>
                  </a:lnTo>
                  <a:close/>
                </a:path>
              </a:pathLst>
            </a:custGeom>
            <a:solidFill>
              <a:srgbClr val="1F1A17"/>
            </a:solidFill>
          </p:spPr>
          <p:txBody>
            <a:bodyPr wrap="square" lIns="0" tIns="0" rIns="0" bIns="0" rtlCol="0"/>
            <a:lstStyle/>
            <a:p>
              <a:endParaRPr/>
            </a:p>
          </p:txBody>
        </p:sp>
        <p:pic>
          <p:nvPicPr>
            <p:cNvPr id="19" name="object 19"/>
            <p:cNvPicPr/>
            <p:nvPr/>
          </p:nvPicPr>
          <p:blipFill>
            <a:blip r:embed="rId3" cstate="print"/>
            <a:stretch>
              <a:fillRect/>
            </a:stretch>
          </p:blipFill>
          <p:spPr>
            <a:xfrm>
              <a:off x="2080514" y="525091"/>
              <a:ext cx="106093" cy="118044"/>
            </a:xfrm>
            <a:prstGeom prst="rect">
              <a:avLst/>
            </a:prstGeom>
          </p:spPr>
        </p:pic>
        <p:sp>
          <p:nvSpPr>
            <p:cNvPr id="20" name="object 20"/>
            <p:cNvSpPr/>
            <p:nvPr/>
          </p:nvSpPr>
          <p:spPr>
            <a:xfrm>
              <a:off x="2158932" y="627208"/>
              <a:ext cx="248285" cy="1791970"/>
            </a:xfrm>
            <a:custGeom>
              <a:avLst/>
              <a:gdLst/>
              <a:ahLst/>
              <a:cxnLst/>
              <a:rect l="l" t="t" r="r" b="b"/>
              <a:pathLst>
                <a:path w="248285" h="1791970">
                  <a:moveTo>
                    <a:pt x="36889" y="0"/>
                  </a:moveTo>
                  <a:lnTo>
                    <a:pt x="18429" y="10866"/>
                  </a:lnTo>
                  <a:lnTo>
                    <a:pt x="59200" y="102831"/>
                  </a:lnTo>
                  <a:lnTo>
                    <a:pt x="123765" y="276637"/>
                  </a:lnTo>
                  <a:lnTo>
                    <a:pt x="151440" y="363541"/>
                  </a:lnTo>
                  <a:lnTo>
                    <a:pt x="174508" y="445383"/>
                  </a:lnTo>
                  <a:lnTo>
                    <a:pt x="188330" y="527940"/>
                  </a:lnTo>
                  <a:lnTo>
                    <a:pt x="206790" y="604691"/>
                  </a:lnTo>
                  <a:lnTo>
                    <a:pt x="225219" y="753162"/>
                  </a:lnTo>
                  <a:lnTo>
                    <a:pt x="229858" y="824138"/>
                  </a:lnTo>
                  <a:lnTo>
                    <a:pt x="229858" y="962456"/>
                  </a:lnTo>
                  <a:lnTo>
                    <a:pt x="225219" y="1090653"/>
                  </a:lnTo>
                  <a:lnTo>
                    <a:pt x="206790" y="1203607"/>
                  </a:lnTo>
                  <a:lnTo>
                    <a:pt x="183722" y="1310784"/>
                  </a:lnTo>
                  <a:lnTo>
                    <a:pt x="160654" y="1407840"/>
                  </a:lnTo>
                  <a:lnTo>
                    <a:pt x="128372" y="1494743"/>
                  </a:lnTo>
                  <a:lnTo>
                    <a:pt x="100697" y="1572230"/>
                  </a:lnTo>
                  <a:lnTo>
                    <a:pt x="41496" y="1699691"/>
                  </a:lnTo>
                  <a:lnTo>
                    <a:pt x="0" y="1781524"/>
                  </a:lnTo>
                  <a:lnTo>
                    <a:pt x="18429" y="1791662"/>
                  </a:lnTo>
                  <a:lnTo>
                    <a:pt x="59200" y="1709828"/>
                  </a:lnTo>
                  <a:lnTo>
                    <a:pt x="114519" y="1582370"/>
                  </a:lnTo>
                  <a:lnTo>
                    <a:pt x="146833" y="1505610"/>
                  </a:lnTo>
                  <a:lnTo>
                    <a:pt x="179115" y="1417992"/>
                  </a:lnTo>
                  <a:lnTo>
                    <a:pt x="202183" y="1315875"/>
                  </a:lnTo>
                  <a:lnTo>
                    <a:pt x="225219" y="1208698"/>
                  </a:lnTo>
                  <a:lnTo>
                    <a:pt x="243680" y="1090653"/>
                  </a:lnTo>
                  <a:lnTo>
                    <a:pt x="248287" y="962456"/>
                  </a:lnTo>
                  <a:lnTo>
                    <a:pt x="248287" y="824138"/>
                  </a:lnTo>
                  <a:lnTo>
                    <a:pt x="243680" y="753162"/>
                  </a:lnTo>
                  <a:lnTo>
                    <a:pt x="225219" y="598915"/>
                  </a:lnTo>
                  <a:lnTo>
                    <a:pt x="211397" y="522134"/>
                  </a:lnTo>
                  <a:lnTo>
                    <a:pt x="192937" y="440322"/>
                  </a:lnTo>
                  <a:lnTo>
                    <a:pt x="169869" y="358480"/>
                  </a:lnTo>
                  <a:lnTo>
                    <a:pt x="142194" y="271576"/>
                  </a:lnTo>
                  <a:lnTo>
                    <a:pt x="109911" y="184673"/>
                  </a:lnTo>
                  <a:lnTo>
                    <a:pt x="73022" y="92708"/>
                  </a:lnTo>
                  <a:lnTo>
                    <a:pt x="36889" y="0"/>
                  </a:lnTo>
                  <a:close/>
                </a:path>
              </a:pathLst>
            </a:custGeom>
            <a:solidFill>
              <a:srgbClr val="1F1A17"/>
            </a:solidFill>
          </p:spPr>
          <p:txBody>
            <a:bodyPr wrap="square" lIns="0" tIns="0" rIns="0" bIns="0" rtlCol="0"/>
            <a:lstStyle/>
            <a:p>
              <a:endParaRPr/>
            </a:p>
          </p:txBody>
        </p:sp>
        <p:pic>
          <p:nvPicPr>
            <p:cNvPr id="21" name="object 21"/>
            <p:cNvPicPr/>
            <p:nvPr/>
          </p:nvPicPr>
          <p:blipFill>
            <a:blip r:embed="rId4" cstate="print"/>
            <a:stretch>
              <a:fillRect/>
            </a:stretch>
          </p:blipFill>
          <p:spPr>
            <a:xfrm>
              <a:off x="2145079" y="2326899"/>
              <a:ext cx="100728" cy="118042"/>
            </a:xfrm>
            <a:prstGeom prst="rect">
              <a:avLst/>
            </a:prstGeom>
          </p:spPr>
        </p:pic>
        <p:sp>
          <p:nvSpPr>
            <p:cNvPr id="22" name="object 22"/>
            <p:cNvSpPr/>
            <p:nvPr/>
          </p:nvSpPr>
          <p:spPr>
            <a:xfrm>
              <a:off x="310136" y="653287"/>
              <a:ext cx="1812289" cy="1760855"/>
            </a:xfrm>
            <a:custGeom>
              <a:avLst/>
              <a:gdLst/>
              <a:ahLst/>
              <a:cxnLst/>
              <a:rect l="l" t="t" r="r" b="b"/>
              <a:pathLst>
                <a:path w="1812289" h="1760855">
                  <a:moveTo>
                    <a:pt x="13837" y="0"/>
                  </a:moveTo>
                  <a:lnTo>
                    <a:pt x="0" y="15213"/>
                  </a:lnTo>
                  <a:lnTo>
                    <a:pt x="598080" y="593824"/>
                  </a:lnTo>
                  <a:lnTo>
                    <a:pt x="1043944" y="1029086"/>
                  </a:lnTo>
                  <a:lnTo>
                    <a:pt x="1366043" y="1336120"/>
                  </a:lnTo>
                  <a:lnTo>
                    <a:pt x="1577441" y="1546150"/>
                  </a:lnTo>
                  <a:lnTo>
                    <a:pt x="1774985" y="1735167"/>
                  </a:lnTo>
                  <a:lnTo>
                    <a:pt x="1802660" y="1760515"/>
                  </a:lnTo>
                  <a:lnTo>
                    <a:pt x="1811906" y="1755445"/>
                  </a:lnTo>
                  <a:lnTo>
                    <a:pt x="1811906" y="1745305"/>
                  </a:lnTo>
                  <a:lnTo>
                    <a:pt x="1788839" y="1719960"/>
                  </a:lnTo>
                  <a:lnTo>
                    <a:pt x="1724242" y="1653334"/>
                  </a:lnTo>
                  <a:lnTo>
                    <a:pt x="1591262" y="1530219"/>
                  </a:lnTo>
                  <a:lnTo>
                    <a:pt x="1375257" y="1320193"/>
                  </a:lnTo>
                  <a:lnTo>
                    <a:pt x="1057766" y="1008067"/>
                  </a:lnTo>
                  <a:lnTo>
                    <a:pt x="607295" y="578611"/>
                  </a:lnTo>
                  <a:lnTo>
                    <a:pt x="13837" y="0"/>
                  </a:lnTo>
                  <a:close/>
                </a:path>
              </a:pathLst>
            </a:custGeom>
            <a:solidFill>
              <a:srgbClr val="1F1A17"/>
            </a:solidFill>
          </p:spPr>
          <p:txBody>
            <a:bodyPr wrap="square" lIns="0" tIns="0" rIns="0" bIns="0" rtlCol="0"/>
            <a:lstStyle/>
            <a:p>
              <a:endParaRPr/>
            </a:p>
          </p:txBody>
        </p:sp>
        <p:pic>
          <p:nvPicPr>
            <p:cNvPr id="23" name="object 23"/>
            <p:cNvPicPr/>
            <p:nvPr/>
          </p:nvPicPr>
          <p:blipFill>
            <a:blip r:embed="rId5" cstate="print"/>
            <a:stretch>
              <a:fillRect/>
            </a:stretch>
          </p:blipFill>
          <p:spPr>
            <a:xfrm>
              <a:off x="2043624" y="2321829"/>
              <a:ext cx="101454" cy="112974"/>
            </a:xfrm>
            <a:prstGeom prst="rect">
              <a:avLst/>
            </a:prstGeom>
          </p:spPr>
        </p:pic>
      </p:grpSp>
      <p:sp>
        <p:nvSpPr>
          <p:cNvPr id="24" name="object 24"/>
          <p:cNvSpPr txBox="1"/>
          <p:nvPr/>
        </p:nvSpPr>
        <p:spPr>
          <a:xfrm>
            <a:off x="379696" y="196759"/>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1</a:t>
            </a:r>
            <a:endParaRPr sz="2150">
              <a:latin typeface="Times New Roman"/>
              <a:cs typeface="Times New Roman"/>
            </a:endParaRPr>
          </a:p>
        </p:txBody>
      </p:sp>
      <p:sp>
        <p:nvSpPr>
          <p:cNvPr id="25" name="object 25"/>
          <p:cNvSpPr txBox="1"/>
          <p:nvPr/>
        </p:nvSpPr>
        <p:spPr>
          <a:xfrm>
            <a:off x="2213884" y="371198"/>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2</a:t>
            </a:r>
            <a:endParaRPr sz="2150">
              <a:latin typeface="Times New Roman"/>
              <a:cs typeface="Times New Roman"/>
            </a:endParaRPr>
          </a:p>
        </p:txBody>
      </p:sp>
      <p:sp>
        <p:nvSpPr>
          <p:cNvPr id="26" name="object 26"/>
          <p:cNvSpPr txBox="1"/>
          <p:nvPr/>
        </p:nvSpPr>
        <p:spPr>
          <a:xfrm>
            <a:off x="2028090" y="2487780"/>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3</a:t>
            </a:r>
            <a:endParaRPr sz="2150">
              <a:latin typeface="Times New Roman"/>
              <a:cs typeface="Times New Roman"/>
            </a:endParaRPr>
          </a:p>
        </p:txBody>
      </p:sp>
      <p:sp>
        <p:nvSpPr>
          <p:cNvPr id="27" name="object 27"/>
          <p:cNvSpPr txBox="1"/>
          <p:nvPr/>
        </p:nvSpPr>
        <p:spPr>
          <a:xfrm>
            <a:off x="100633" y="2280526"/>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4</a:t>
            </a:r>
            <a:endParaRPr sz="2150">
              <a:latin typeface="Times New Roman"/>
              <a:cs typeface="Times New Roman"/>
            </a:endParaRPr>
          </a:p>
        </p:txBody>
      </p:sp>
      <p:grpSp>
        <p:nvGrpSpPr>
          <p:cNvPr id="28" name="object 28"/>
          <p:cNvGrpSpPr/>
          <p:nvPr/>
        </p:nvGrpSpPr>
        <p:grpSpPr>
          <a:xfrm>
            <a:off x="4057397" y="340961"/>
            <a:ext cx="2225675" cy="2193290"/>
            <a:chOff x="4057397" y="340961"/>
            <a:chExt cx="2225675" cy="2193290"/>
          </a:xfrm>
        </p:grpSpPr>
        <p:sp>
          <p:nvSpPr>
            <p:cNvPr id="29" name="object 29"/>
            <p:cNvSpPr/>
            <p:nvPr/>
          </p:nvSpPr>
          <p:spPr>
            <a:xfrm>
              <a:off x="4277901" y="568020"/>
              <a:ext cx="26670" cy="29209"/>
            </a:xfrm>
            <a:custGeom>
              <a:avLst/>
              <a:gdLst/>
              <a:ahLst/>
              <a:cxnLst/>
              <a:rect l="l" t="t" r="r" b="b"/>
              <a:pathLst>
                <a:path w="26670" h="29209">
                  <a:moveTo>
                    <a:pt x="13546" y="0"/>
                  </a:moveTo>
                  <a:lnTo>
                    <a:pt x="4516" y="4467"/>
                  </a:lnTo>
                  <a:lnTo>
                    <a:pt x="0" y="14137"/>
                  </a:lnTo>
                  <a:lnTo>
                    <a:pt x="4516" y="23807"/>
                  </a:lnTo>
                  <a:lnTo>
                    <a:pt x="13546" y="29009"/>
                  </a:lnTo>
                  <a:lnTo>
                    <a:pt x="21826" y="23807"/>
                  </a:lnTo>
                  <a:lnTo>
                    <a:pt x="26340" y="14137"/>
                  </a:lnTo>
                  <a:lnTo>
                    <a:pt x="21826" y="4467"/>
                  </a:lnTo>
                  <a:lnTo>
                    <a:pt x="13546" y="0"/>
                  </a:lnTo>
                  <a:close/>
                </a:path>
              </a:pathLst>
            </a:custGeom>
            <a:solidFill>
              <a:srgbClr val="1F1A17"/>
            </a:solidFill>
          </p:spPr>
          <p:txBody>
            <a:bodyPr wrap="square" lIns="0" tIns="0" rIns="0" bIns="0" rtlCol="0"/>
            <a:lstStyle/>
            <a:p>
              <a:endParaRPr/>
            </a:p>
          </p:txBody>
        </p:sp>
        <p:sp>
          <p:nvSpPr>
            <p:cNvPr id="30" name="object 30"/>
            <p:cNvSpPr/>
            <p:nvPr/>
          </p:nvSpPr>
          <p:spPr>
            <a:xfrm>
              <a:off x="4288439" y="578424"/>
              <a:ext cx="26670" cy="29209"/>
            </a:xfrm>
            <a:custGeom>
              <a:avLst/>
              <a:gdLst/>
              <a:ahLst/>
              <a:cxnLst/>
              <a:rect l="l" t="t" r="r" b="b"/>
              <a:pathLst>
                <a:path w="26670" h="29209">
                  <a:moveTo>
                    <a:pt x="13546" y="0"/>
                  </a:moveTo>
                  <a:lnTo>
                    <a:pt x="21823" y="4467"/>
                  </a:lnTo>
                  <a:lnTo>
                    <a:pt x="26340" y="14137"/>
                  </a:lnTo>
                  <a:lnTo>
                    <a:pt x="21823" y="23838"/>
                  </a:lnTo>
                  <a:lnTo>
                    <a:pt x="13546" y="29040"/>
                  </a:lnTo>
                  <a:lnTo>
                    <a:pt x="4513" y="23838"/>
                  </a:lnTo>
                  <a:lnTo>
                    <a:pt x="0" y="14137"/>
                  </a:lnTo>
                  <a:lnTo>
                    <a:pt x="4513" y="4467"/>
                  </a:lnTo>
                  <a:lnTo>
                    <a:pt x="13546" y="0"/>
                  </a:lnTo>
                </a:path>
              </a:pathLst>
            </a:custGeom>
            <a:ln w="4496">
              <a:solidFill>
                <a:srgbClr val="1F1A17"/>
              </a:solidFill>
            </a:ln>
          </p:spPr>
          <p:txBody>
            <a:bodyPr wrap="square" lIns="0" tIns="0" rIns="0" bIns="0" rtlCol="0"/>
            <a:lstStyle/>
            <a:p>
              <a:endParaRPr/>
            </a:p>
          </p:txBody>
        </p:sp>
        <p:sp>
          <p:nvSpPr>
            <p:cNvPr id="31" name="object 31"/>
            <p:cNvSpPr/>
            <p:nvPr/>
          </p:nvSpPr>
          <p:spPr>
            <a:xfrm>
              <a:off x="4277902" y="2259214"/>
              <a:ext cx="26670" cy="34290"/>
            </a:xfrm>
            <a:custGeom>
              <a:avLst/>
              <a:gdLst/>
              <a:ahLst/>
              <a:cxnLst/>
              <a:rect l="l" t="t" r="r" b="b"/>
              <a:pathLst>
                <a:path w="26670" h="34289">
                  <a:moveTo>
                    <a:pt x="13546" y="0"/>
                  </a:moveTo>
                  <a:lnTo>
                    <a:pt x="0" y="5211"/>
                  </a:lnTo>
                  <a:lnTo>
                    <a:pt x="0" y="29031"/>
                  </a:lnTo>
                  <a:lnTo>
                    <a:pt x="13546" y="34239"/>
                  </a:lnTo>
                  <a:lnTo>
                    <a:pt x="21826" y="29031"/>
                  </a:lnTo>
                  <a:lnTo>
                    <a:pt x="26340" y="19352"/>
                  </a:lnTo>
                  <a:lnTo>
                    <a:pt x="21826" y="5211"/>
                  </a:lnTo>
                  <a:lnTo>
                    <a:pt x="13546" y="0"/>
                  </a:lnTo>
                  <a:close/>
                </a:path>
              </a:pathLst>
            </a:custGeom>
            <a:solidFill>
              <a:srgbClr val="1F1A17"/>
            </a:solidFill>
          </p:spPr>
          <p:txBody>
            <a:bodyPr wrap="square" lIns="0" tIns="0" rIns="0" bIns="0" rtlCol="0"/>
            <a:lstStyle/>
            <a:p>
              <a:endParaRPr/>
            </a:p>
          </p:txBody>
        </p:sp>
        <p:sp>
          <p:nvSpPr>
            <p:cNvPr id="32" name="object 32"/>
            <p:cNvSpPr/>
            <p:nvPr/>
          </p:nvSpPr>
          <p:spPr>
            <a:xfrm>
              <a:off x="4288440" y="2269634"/>
              <a:ext cx="26670" cy="34290"/>
            </a:xfrm>
            <a:custGeom>
              <a:avLst/>
              <a:gdLst/>
              <a:ahLst/>
              <a:cxnLst/>
              <a:rect l="l" t="t" r="r" b="b"/>
              <a:pathLst>
                <a:path w="26670" h="34289">
                  <a:moveTo>
                    <a:pt x="13546" y="0"/>
                  </a:moveTo>
                  <a:lnTo>
                    <a:pt x="21823" y="5211"/>
                  </a:lnTo>
                  <a:lnTo>
                    <a:pt x="26340" y="19355"/>
                  </a:lnTo>
                  <a:lnTo>
                    <a:pt x="21823" y="29031"/>
                  </a:lnTo>
                  <a:lnTo>
                    <a:pt x="13546" y="34242"/>
                  </a:lnTo>
                  <a:lnTo>
                    <a:pt x="0" y="29031"/>
                  </a:lnTo>
                  <a:lnTo>
                    <a:pt x="0" y="19355"/>
                  </a:lnTo>
                  <a:lnTo>
                    <a:pt x="0" y="5211"/>
                  </a:lnTo>
                  <a:lnTo>
                    <a:pt x="13546" y="0"/>
                  </a:lnTo>
                </a:path>
              </a:pathLst>
            </a:custGeom>
            <a:ln w="4499">
              <a:solidFill>
                <a:srgbClr val="1F1A17"/>
              </a:solidFill>
            </a:ln>
          </p:spPr>
          <p:txBody>
            <a:bodyPr wrap="square" lIns="0" tIns="0" rIns="0" bIns="0" rtlCol="0"/>
            <a:lstStyle/>
            <a:p>
              <a:endParaRPr/>
            </a:p>
          </p:txBody>
        </p:sp>
        <p:sp>
          <p:nvSpPr>
            <p:cNvPr id="33" name="object 33"/>
            <p:cNvSpPr/>
            <p:nvPr/>
          </p:nvSpPr>
          <p:spPr>
            <a:xfrm>
              <a:off x="6057758" y="562787"/>
              <a:ext cx="26034" cy="34290"/>
            </a:xfrm>
            <a:custGeom>
              <a:avLst/>
              <a:gdLst/>
              <a:ahLst/>
              <a:cxnLst/>
              <a:rect l="l" t="t" r="r" b="b"/>
              <a:pathLst>
                <a:path w="26035" h="34290">
                  <a:moveTo>
                    <a:pt x="12790" y="0"/>
                  </a:moveTo>
                  <a:lnTo>
                    <a:pt x="3769" y="5232"/>
                  </a:lnTo>
                  <a:lnTo>
                    <a:pt x="0" y="19370"/>
                  </a:lnTo>
                  <a:lnTo>
                    <a:pt x="3769" y="29040"/>
                  </a:lnTo>
                  <a:lnTo>
                    <a:pt x="12790" y="34242"/>
                  </a:lnTo>
                  <a:lnTo>
                    <a:pt x="21069" y="29040"/>
                  </a:lnTo>
                  <a:lnTo>
                    <a:pt x="25580" y="19370"/>
                  </a:lnTo>
                  <a:lnTo>
                    <a:pt x="21069" y="5232"/>
                  </a:lnTo>
                  <a:lnTo>
                    <a:pt x="12790" y="0"/>
                  </a:lnTo>
                  <a:close/>
                </a:path>
              </a:pathLst>
            </a:custGeom>
            <a:solidFill>
              <a:srgbClr val="1F1A17"/>
            </a:solidFill>
          </p:spPr>
          <p:txBody>
            <a:bodyPr wrap="square" lIns="0" tIns="0" rIns="0" bIns="0" rtlCol="0"/>
            <a:lstStyle/>
            <a:p>
              <a:endParaRPr/>
            </a:p>
          </p:txBody>
        </p:sp>
        <p:sp>
          <p:nvSpPr>
            <p:cNvPr id="34" name="object 34"/>
            <p:cNvSpPr/>
            <p:nvPr/>
          </p:nvSpPr>
          <p:spPr>
            <a:xfrm>
              <a:off x="6068293" y="573222"/>
              <a:ext cx="26034" cy="34290"/>
            </a:xfrm>
            <a:custGeom>
              <a:avLst/>
              <a:gdLst/>
              <a:ahLst/>
              <a:cxnLst/>
              <a:rect l="l" t="t" r="r" b="b"/>
              <a:pathLst>
                <a:path w="26035" h="34290">
                  <a:moveTo>
                    <a:pt x="12790" y="0"/>
                  </a:moveTo>
                  <a:lnTo>
                    <a:pt x="21069" y="5202"/>
                  </a:lnTo>
                  <a:lnTo>
                    <a:pt x="25580" y="19339"/>
                  </a:lnTo>
                  <a:lnTo>
                    <a:pt x="21069" y="29040"/>
                  </a:lnTo>
                  <a:lnTo>
                    <a:pt x="12790" y="34242"/>
                  </a:lnTo>
                  <a:lnTo>
                    <a:pt x="3769" y="29040"/>
                  </a:lnTo>
                  <a:lnTo>
                    <a:pt x="0" y="19339"/>
                  </a:lnTo>
                  <a:lnTo>
                    <a:pt x="3769" y="5202"/>
                  </a:lnTo>
                  <a:lnTo>
                    <a:pt x="12790" y="0"/>
                  </a:lnTo>
                </a:path>
              </a:pathLst>
            </a:custGeom>
            <a:ln w="4500">
              <a:solidFill>
                <a:srgbClr val="1F1A17"/>
              </a:solidFill>
            </a:ln>
          </p:spPr>
          <p:txBody>
            <a:bodyPr wrap="square" lIns="0" tIns="0" rIns="0" bIns="0" rtlCol="0"/>
            <a:lstStyle/>
            <a:p>
              <a:endParaRPr/>
            </a:p>
          </p:txBody>
        </p:sp>
        <p:sp>
          <p:nvSpPr>
            <p:cNvPr id="35" name="object 35"/>
            <p:cNvSpPr/>
            <p:nvPr/>
          </p:nvSpPr>
          <p:spPr>
            <a:xfrm>
              <a:off x="6031406" y="2268891"/>
              <a:ext cx="26670" cy="34290"/>
            </a:xfrm>
            <a:custGeom>
              <a:avLst/>
              <a:gdLst/>
              <a:ahLst/>
              <a:cxnLst/>
              <a:rect l="l" t="t" r="r" b="b"/>
              <a:pathLst>
                <a:path w="26670" h="34289">
                  <a:moveTo>
                    <a:pt x="12790" y="0"/>
                  </a:moveTo>
                  <a:lnTo>
                    <a:pt x="4510" y="5211"/>
                  </a:lnTo>
                  <a:lnTo>
                    <a:pt x="0" y="19355"/>
                  </a:lnTo>
                  <a:lnTo>
                    <a:pt x="4510" y="29031"/>
                  </a:lnTo>
                  <a:lnTo>
                    <a:pt x="12790" y="34242"/>
                  </a:lnTo>
                  <a:lnTo>
                    <a:pt x="21841" y="29031"/>
                  </a:lnTo>
                  <a:lnTo>
                    <a:pt x="26352" y="19355"/>
                  </a:lnTo>
                  <a:lnTo>
                    <a:pt x="21841" y="5211"/>
                  </a:lnTo>
                  <a:lnTo>
                    <a:pt x="12790" y="0"/>
                  </a:lnTo>
                  <a:close/>
                </a:path>
              </a:pathLst>
            </a:custGeom>
            <a:solidFill>
              <a:srgbClr val="1F1A17"/>
            </a:solidFill>
          </p:spPr>
          <p:txBody>
            <a:bodyPr wrap="square" lIns="0" tIns="0" rIns="0" bIns="0" rtlCol="0"/>
            <a:lstStyle/>
            <a:p>
              <a:endParaRPr/>
            </a:p>
          </p:txBody>
        </p:sp>
        <p:sp>
          <p:nvSpPr>
            <p:cNvPr id="36" name="object 36"/>
            <p:cNvSpPr/>
            <p:nvPr/>
          </p:nvSpPr>
          <p:spPr>
            <a:xfrm>
              <a:off x="6041941" y="2279313"/>
              <a:ext cx="26670" cy="34290"/>
            </a:xfrm>
            <a:custGeom>
              <a:avLst/>
              <a:gdLst/>
              <a:ahLst/>
              <a:cxnLst/>
              <a:rect l="l" t="t" r="r" b="b"/>
              <a:pathLst>
                <a:path w="26670" h="34289">
                  <a:moveTo>
                    <a:pt x="12790" y="0"/>
                  </a:moveTo>
                  <a:lnTo>
                    <a:pt x="21841" y="5208"/>
                  </a:lnTo>
                  <a:lnTo>
                    <a:pt x="26352" y="19352"/>
                  </a:lnTo>
                  <a:lnTo>
                    <a:pt x="21841" y="29031"/>
                  </a:lnTo>
                  <a:lnTo>
                    <a:pt x="12790" y="34239"/>
                  </a:lnTo>
                  <a:lnTo>
                    <a:pt x="4510" y="29031"/>
                  </a:lnTo>
                  <a:lnTo>
                    <a:pt x="0" y="19351"/>
                  </a:lnTo>
                  <a:lnTo>
                    <a:pt x="4510" y="5208"/>
                  </a:lnTo>
                  <a:lnTo>
                    <a:pt x="12790" y="0"/>
                  </a:lnTo>
                </a:path>
              </a:pathLst>
            </a:custGeom>
            <a:ln w="4499">
              <a:solidFill>
                <a:srgbClr val="1F1A17"/>
              </a:solidFill>
            </a:ln>
          </p:spPr>
          <p:txBody>
            <a:bodyPr wrap="square" lIns="0" tIns="0" rIns="0" bIns="0" rtlCol="0"/>
            <a:lstStyle/>
            <a:p>
              <a:endParaRPr/>
            </a:p>
          </p:txBody>
        </p:sp>
        <p:sp>
          <p:nvSpPr>
            <p:cNvPr id="37" name="object 37"/>
            <p:cNvSpPr/>
            <p:nvPr/>
          </p:nvSpPr>
          <p:spPr>
            <a:xfrm>
              <a:off x="4308758" y="340961"/>
              <a:ext cx="1740535" cy="241300"/>
            </a:xfrm>
            <a:custGeom>
              <a:avLst/>
              <a:gdLst/>
              <a:ahLst/>
              <a:cxnLst/>
              <a:rect l="l" t="t" r="r" b="b"/>
              <a:pathLst>
                <a:path w="1740535" h="241300">
                  <a:moveTo>
                    <a:pt x="852679" y="0"/>
                  </a:moveTo>
                  <a:lnTo>
                    <a:pt x="714183" y="0"/>
                  </a:lnTo>
                  <a:lnTo>
                    <a:pt x="644950" y="5232"/>
                  </a:lnTo>
                  <a:lnTo>
                    <a:pt x="501973" y="24572"/>
                  </a:lnTo>
                  <a:lnTo>
                    <a:pt x="432741" y="43942"/>
                  </a:lnTo>
                  <a:lnTo>
                    <a:pt x="358966" y="63282"/>
                  </a:lnTo>
                  <a:lnTo>
                    <a:pt x="285223" y="81887"/>
                  </a:lnTo>
                  <a:lnTo>
                    <a:pt x="215990" y="110928"/>
                  </a:lnTo>
                  <a:lnTo>
                    <a:pt x="142988" y="145170"/>
                  </a:lnTo>
                  <a:lnTo>
                    <a:pt x="69245" y="178647"/>
                  </a:lnTo>
                  <a:lnTo>
                    <a:pt x="0" y="221825"/>
                  </a:lnTo>
                  <a:lnTo>
                    <a:pt x="8279" y="241196"/>
                  </a:lnTo>
                  <a:lnTo>
                    <a:pt x="77524" y="198018"/>
                  </a:lnTo>
                  <a:lnTo>
                    <a:pt x="151268" y="164510"/>
                  </a:lnTo>
                  <a:lnTo>
                    <a:pt x="220500" y="130267"/>
                  </a:lnTo>
                  <a:lnTo>
                    <a:pt x="294244" y="101258"/>
                  </a:lnTo>
                  <a:lnTo>
                    <a:pt x="363508" y="81887"/>
                  </a:lnTo>
                  <a:lnTo>
                    <a:pt x="437251" y="63282"/>
                  </a:lnTo>
                  <a:lnTo>
                    <a:pt x="506484" y="43942"/>
                  </a:lnTo>
                  <a:lnTo>
                    <a:pt x="644950" y="24572"/>
                  </a:lnTo>
                  <a:lnTo>
                    <a:pt x="714183" y="19370"/>
                  </a:lnTo>
                  <a:lnTo>
                    <a:pt x="852679" y="19370"/>
                  </a:lnTo>
                  <a:lnTo>
                    <a:pt x="982124" y="24572"/>
                  </a:lnTo>
                  <a:lnTo>
                    <a:pt x="1104031" y="38710"/>
                  </a:lnTo>
                  <a:lnTo>
                    <a:pt x="1220685" y="63282"/>
                  </a:lnTo>
                  <a:lnTo>
                    <a:pt x="1329061" y="87090"/>
                  </a:lnTo>
                  <a:lnTo>
                    <a:pt x="1428384" y="116130"/>
                  </a:lnTo>
                  <a:lnTo>
                    <a:pt x="1653414" y="202486"/>
                  </a:lnTo>
                  <a:lnTo>
                    <a:pt x="1735437" y="241196"/>
                  </a:lnTo>
                  <a:lnTo>
                    <a:pt x="1739948" y="221826"/>
                  </a:lnTo>
                  <a:lnTo>
                    <a:pt x="1662435" y="183115"/>
                  </a:lnTo>
                  <a:lnTo>
                    <a:pt x="1519459" y="130268"/>
                  </a:lnTo>
                  <a:lnTo>
                    <a:pt x="1432926" y="96790"/>
                  </a:lnTo>
                  <a:lnTo>
                    <a:pt x="1332830" y="67750"/>
                  </a:lnTo>
                  <a:lnTo>
                    <a:pt x="1225196" y="43942"/>
                  </a:lnTo>
                  <a:lnTo>
                    <a:pt x="1107800" y="19370"/>
                  </a:lnTo>
                  <a:lnTo>
                    <a:pt x="982124" y="5232"/>
                  </a:lnTo>
                  <a:lnTo>
                    <a:pt x="852679" y="0"/>
                  </a:lnTo>
                  <a:close/>
                </a:path>
              </a:pathLst>
            </a:custGeom>
            <a:solidFill>
              <a:srgbClr val="1F1A17"/>
            </a:solidFill>
          </p:spPr>
          <p:txBody>
            <a:bodyPr wrap="square" lIns="0" tIns="0" rIns="0" bIns="0" rtlCol="0"/>
            <a:lstStyle/>
            <a:p>
              <a:endParaRPr/>
            </a:p>
          </p:txBody>
        </p:sp>
        <p:pic>
          <p:nvPicPr>
            <p:cNvPr id="38" name="object 38"/>
            <p:cNvPicPr/>
            <p:nvPr/>
          </p:nvPicPr>
          <p:blipFill>
            <a:blip r:embed="rId6" cstate="print"/>
            <a:stretch>
              <a:fillRect/>
            </a:stretch>
          </p:blipFill>
          <p:spPr>
            <a:xfrm>
              <a:off x="5974963" y="490600"/>
              <a:ext cx="100095" cy="110897"/>
            </a:xfrm>
            <a:prstGeom prst="rect">
              <a:avLst/>
            </a:prstGeom>
          </p:spPr>
        </p:pic>
        <p:sp>
          <p:nvSpPr>
            <p:cNvPr id="39" name="object 39"/>
            <p:cNvSpPr/>
            <p:nvPr/>
          </p:nvSpPr>
          <p:spPr>
            <a:xfrm>
              <a:off x="4291449" y="2288245"/>
              <a:ext cx="1744980" cy="245745"/>
            </a:xfrm>
            <a:custGeom>
              <a:avLst/>
              <a:gdLst/>
              <a:ahLst/>
              <a:cxnLst/>
              <a:rect l="l" t="t" r="r" b="b"/>
              <a:pathLst>
                <a:path w="1744979" h="245744">
                  <a:moveTo>
                    <a:pt x="1735446" y="0"/>
                  </a:moveTo>
                  <a:lnTo>
                    <a:pt x="1653423" y="38707"/>
                  </a:lnTo>
                  <a:lnTo>
                    <a:pt x="1428393" y="125053"/>
                  </a:lnTo>
                  <a:lnTo>
                    <a:pt x="1329070" y="154084"/>
                  </a:lnTo>
                  <a:lnTo>
                    <a:pt x="1220695" y="178648"/>
                  </a:lnTo>
                  <a:lnTo>
                    <a:pt x="1104040" y="202467"/>
                  </a:lnTo>
                  <a:lnTo>
                    <a:pt x="982102" y="216611"/>
                  </a:lnTo>
                  <a:lnTo>
                    <a:pt x="852658" y="221819"/>
                  </a:lnTo>
                  <a:lnTo>
                    <a:pt x="718702" y="221819"/>
                  </a:lnTo>
                  <a:lnTo>
                    <a:pt x="649469" y="216611"/>
                  </a:lnTo>
                  <a:lnTo>
                    <a:pt x="506493" y="198000"/>
                  </a:lnTo>
                  <a:lnTo>
                    <a:pt x="437260" y="178648"/>
                  </a:lnTo>
                  <a:lnTo>
                    <a:pt x="363486" y="159292"/>
                  </a:lnTo>
                  <a:lnTo>
                    <a:pt x="294253" y="139940"/>
                  </a:lnTo>
                  <a:lnTo>
                    <a:pt x="220510" y="110909"/>
                  </a:lnTo>
                  <a:lnTo>
                    <a:pt x="151277" y="77414"/>
                  </a:lnTo>
                  <a:lnTo>
                    <a:pt x="77503" y="43171"/>
                  </a:lnTo>
                  <a:lnTo>
                    <a:pt x="8279" y="0"/>
                  </a:lnTo>
                  <a:lnTo>
                    <a:pt x="0" y="19351"/>
                  </a:lnTo>
                  <a:lnTo>
                    <a:pt x="72992" y="62526"/>
                  </a:lnTo>
                  <a:lnTo>
                    <a:pt x="142997" y="96766"/>
                  </a:lnTo>
                  <a:lnTo>
                    <a:pt x="215999" y="130264"/>
                  </a:lnTo>
                  <a:lnTo>
                    <a:pt x="289743" y="159292"/>
                  </a:lnTo>
                  <a:lnTo>
                    <a:pt x="358976" y="178648"/>
                  </a:lnTo>
                  <a:lnTo>
                    <a:pt x="432719" y="198000"/>
                  </a:lnTo>
                  <a:lnTo>
                    <a:pt x="506493" y="216611"/>
                  </a:lnTo>
                  <a:lnTo>
                    <a:pt x="644959" y="235964"/>
                  </a:lnTo>
                  <a:lnTo>
                    <a:pt x="714192" y="241174"/>
                  </a:lnTo>
                  <a:lnTo>
                    <a:pt x="783425" y="245641"/>
                  </a:lnTo>
                  <a:lnTo>
                    <a:pt x="852658" y="241174"/>
                  </a:lnTo>
                  <a:lnTo>
                    <a:pt x="982102" y="235964"/>
                  </a:lnTo>
                  <a:lnTo>
                    <a:pt x="1107809" y="221819"/>
                  </a:lnTo>
                  <a:lnTo>
                    <a:pt x="1225205" y="198000"/>
                  </a:lnTo>
                  <a:lnTo>
                    <a:pt x="1332808" y="173436"/>
                  </a:lnTo>
                  <a:lnTo>
                    <a:pt x="1432904" y="144405"/>
                  </a:lnTo>
                  <a:lnTo>
                    <a:pt x="1523979" y="110910"/>
                  </a:lnTo>
                  <a:lnTo>
                    <a:pt x="1662444" y="58059"/>
                  </a:lnTo>
                  <a:lnTo>
                    <a:pt x="1744467" y="19352"/>
                  </a:lnTo>
                  <a:lnTo>
                    <a:pt x="1735446" y="0"/>
                  </a:lnTo>
                  <a:close/>
                </a:path>
              </a:pathLst>
            </a:custGeom>
            <a:solidFill>
              <a:srgbClr val="1F1A17"/>
            </a:solidFill>
          </p:spPr>
          <p:txBody>
            <a:bodyPr wrap="square" lIns="0" tIns="0" rIns="0" bIns="0" rtlCol="0"/>
            <a:lstStyle/>
            <a:p>
              <a:endParaRPr/>
            </a:p>
          </p:txBody>
        </p:sp>
        <p:pic>
          <p:nvPicPr>
            <p:cNvPr id="40" name="object 40"/>
            <p:cNvPicPr/>
            <p:nvPr/>
          </p:nvPicPr>
          <p:blipFill>
            <a:blip r:embed="rId7" cstate="print"/>
            <a:stretch>
              <a:fillRect/>
            </a:stretch>
          </p:blipFill>
          <p:spPr>
            <a:xfrm>
              <a:off x="5957663" y="2268891"/>
              <a:ext cx="100095" cy="110912"/>
            </a:xfrm>
            <a:prstGeom prst="rect">
              <a:avLst/>
            </a:prstGeom>
          </p:spPr>
        </p:pic>
        <p:sp>
          <p:nvSpPr>
            <p:cNvPr id="41" name="object 41"/>
            <p:cNvSpPr/>
            <p:nvPr/>
          </p:nvSpPr>
          <p:spPr>
            <a:xfrm>
              <a:off x="6048706" y="587360"/>
              <a:ext cx="234315" cy="1687195"/>
            </a:xfrm>
            <a:custGeom>
              <a:avLst/>
              <a:gdLst/>
              <a:ahLst/>
              <a:cxnLst/>
              <a:rect l="l" t="t" r="r" b="b"/>
              <a:pathLst>
                <a:path w="234314" h="1687195">
                  <a:moveTo>
                    <a:pt x="34631" y="0"/>
                  </a:moveTo>
                  <a:lnTo>
                    <a:pt x="17331" y="9669"/>
                  </a:lnTo>
                  <a:lnTo>
                    <a:pt x="56473" y="96025"/>
                  </a:lnTo>
                  <a:lnTo>
                    <a:pt x="116654" y="259801"/>
                  </a:lnTo>
                  <a:lnTo>
                    <a:pt x="143006" y="341658"/>
                  </a:lnTo>
                  <a:lnTo>
                    <a:pt x="164817" y="419079"/>
                  </a:lnTo>
                  <a:lnTo>
                    <a:pt x="177607" y="495764"/>
                  </a:lnTo>
                  <a:lnTo>
                    <a:pt x="194939" y="568686"/>
                  </a:lnTo>
                  <a:lnTo>
                    <a:pt x="212239" y="707890"/>
                  </a:lnTo>
                  <a:lnTo>
                    <a:pt x="216750" y="775640"/>
                  </a:lnTo>
                  <a:lnTo>
                    <a:pt x="216750" y="905908"/>
                  </a:lnTo>
                  <a:lnTo>
                    <a:pt x="212239" y="1026476"/>
                  </a:lnTo>
                  <a:lnTo>
                    <a:pt x="194939" y="1132202"/>
                  </a:lnTo>
                  <a:lnTo>
                    <a:pt x="173097" y="1233429"/>
                  </a:lnTo>
                  <a:lnTo>
                    <a:pt x="152028" y="1324987"/>
                  </a:lnTo>
                  <a:lnTo>
                    <a:pt x="121165" y="1406845"/>
                  </a:lnTo>
                  <a:lnTo>
                    <a:pt x="95585" y="1484265"/>
                  </a:lnTo>
                  <a:lnTo>
                    <a:pt x="39142" y="1599661"/>
                  </a:lnTo>
                  <a:lnTo>
                    <a:pt x="0" y="1677066"/>
                  </a:lnTo>
                  <a:lnTo>
                    <a:pt x="17331" y="1686742"/>
                  </a:lnTo>
                  <a:lnTo>
                    <a:pt x="56473" y="1609331"/>
                  </a:lnTo>
                  <a:lnTo>
                    <a:pt x="108375" y="1488733"/>
                  </a:lnTo>
                  <a:lnTo>
                    <a:pt x="138496" y="1416545"/>
                  </a:lnTo>
                  <a:lnTo>
                    <a:pt x="169359" y="1334657"/>
                  </a:lnTo>
                  <a:lnTo>
                    <a:pt x="212239" y="1137404"/>
                  </a:lnTo>
                  <a:lnTo>
                    <a:pt x="229540" y="1026476"/>
                  </a:lnTo>
                  <a:lnTo>
                    <a:pt x="234081" y="905908"/>
                  </a:lnTo>
                  <a:lnTo>
                    <a:pt x="234081" y="775640"/>
                  </a:lnTo>
                  <a:lnTo>
                    <a:pt x="229540" y="707890"/>
                  </a:lnTo>
                  <a:lnTo>
                    <a:pt x="221260" y="635702"/>
                  </a:lnTo>
                  <a:lnTo>
                    <a:pt x="212239" y="563484"/>
                  </a:lnTo>
                  <a:lnTo>
                    <a:pt x="199449" y="491297"/>
                  </a:lnTo>
                  <a:lnTo>
                    <a:pt x="182149" y="413876"/>
                  </a:lnTo>
                  <a:lnTo>
                    <a:pt x="160307" y="337191"/>
                  </a:lnTo>
                  <a:lnTo>
                    <a:pt x="133985" y="255333"/>
                  </a:lnTo>
                  <a:lnTo>
                    <a:pt x="103864" y="173445"/>
                  </a:lnTo>
                  <a:lnTo>
                    <a:pt x="34631" y="0"/>
                  </a:lnTo>
                  <a:close/>
                </a:path>
              </a:pathLst>
            </a:custGeom>
            <a:solidFill>
              <a:srgbClr val="1F1A17"/>
            </a:solidFill>
          </p:spPr>
          <p:txBody>
            <a:bodyPr wrap="square" lIns="0" tIns="0" rIns="0" bIns="0" rtlCol="0"/>
            <a:lstStyle/>
            <a:p>
              <a:endParaRPr/>
            </a:p>
          </p:txBody>
        </p:sp>
        <p:pic>
          <p:nvPicPr>
            <p:cNvPr id="42" name="object 42"/>
            <p:cNvPicPr/>
            <p:nvPr/>
          </p:nvPicPr>
          <p:blipFill>
            <a:blip r:embed="rId8" cstate="print"/>
            <a:stretch>
              <a:fillRect/>
            </a:stretch>
          </p:blipFill>
          <p:spPr>
            <a:xfrm>
              <a:off x="6035917" y="2187021"/>
              <a:ext cx="94843" cy="110900"/>
            </a:xfrm>
            <a:prstGeom prst="rect">
              <a:avLst/>
            </a:prstGeom>
          </p:spPr>
        </p:pic>
        <p:sp>
          <p:nvSpPr>
            <p:cNvPr id="43" name="object 43"/>
            <p:cNvSpPr/>
            <p:nvPr/>
          </p:nvSpPr>
          <p:spPr>
            <a:xfrm>
              <a:off x="4057397" y="587359"/>
              <a:ext cx="238125" cy="1687195"/>
            </a:xfrm>
            <a:custGeom>
              <a:avLst/>
              <a:gdLst/>
              <a:ahLst/>
              <a:cxnLst/>
              <a:rect l="l" t="t" r="r" b="b"/>
              <a:pathLst>
                <a:path w="238125" h="1687195">
                  <a:moveTo>
                    <a:pt x="203197" y="0"/>
                  </a:moveTo>
                  <a:lnTo>
                    <a:pt x="133958" y="173445"/>
                  </a:lnTo>
                  <a:lnTo>
                    <a:pt x="103855" y="255333"/>
                  </a:lnTo>
                  <a:lnTo>
                    <a:pt x="78269" y="337191"/>
                  </a:lnTo>
                  <a:lnTo>
                    <a:pt x="56443" y="413876"/>
                  </a:lnTo>
                  <a:lnTo>
                    <a:pt x="39133" y="491297"/>
                  </a:lnTo>
                  <a:lnTo>
                    <a:pt x="26340" y="563484"/>
                  </a:lnTo>
                  <a:lnTo>
                    <a:pt x="17310" y="635702"/>
                  </a:lnTo>
                  <a:lnTo>
                    <a:pt x="9030" y="707890"/>
                  </a:lnTo>
                  <a:lnTo>
                    <a:pt x="0" y="843360"/>
                  </a:lnTo>
                  <a:lnTo>
                    <a:pt x="4515" y="905908"/>
                  </a:lnTo>
                  <a:lnTo>
                    <a:pt x="9030" y="1026476"/>
                  </a:lnTo>
                  <a:lnTo>
                    <a:pt x="26340" y="1137404"/>
                  </a:lnTo>
                  <a:lnTo>
                    <a:pt x="47413" y="1238631"/>
                  </a:lnTo>
                  <a:lnTo>
                    <a:pt x="69236" y="1334657"/>
                  </a:lnTo>
                  <a:lnTo>
                    <a:pt x="99339" y="1416545"/>
                  </a:lnTo>
                  <a:lnTo>
                    <a:pt x="182125" y="1609331"/>
                  </a:lnTo>
                  <a:lnTo>
                    <a:pt x="220504" y="1686742"/>
                  </a:lnTo>
                  <a:lnTo>
                    <a:pt x="237814" y="1677066"/>
                  </a:lnTo>
                  <a:lnTo>
                    <a:pt x="142989" y="1484265"/>
                  </a:lnTo>
                  <a:lnTo>
                    <a:pt x="116649" y="1406845"/>
                  </a:lnTo>
                  <a:lnTo>
                    <a:pt x="86546" y="1324987"/>
                  </a:lnTo>
                  <a:lnTo>
                    <a:pt x="64722" y="1233429"/>
                  </a:lnTo>
                  <a:lnTo>
                    <a:pt x="43650" y="1132202"/>
                  </a:lnTo>
                  <a:lnTo>
                    <a:pt x="26340" y="1026476"/>
                  </a:lnTo>
                  <a:lnTo>
                    <a:pt x="21823" y="905908"/>
                  </a:lnTo>
                  <a:lnTo>
                    <a:pt x="21823" y="775640"/>
                  </a:lnTo>
                  <a:lnTo>
                    <a:pt x="26340" y="707890"/>
                  </a:lnTo>
                  <a:lnTo>
                    <a:pt x="43650" y="568686"/>
                  </a:lnTo>
                  <a:lnTo>
                    <a:pt x="60959" y="495764"/>
                  </a:lnTo>
                  <a:lnTo>
                    <a:pt x="73752" y="419079"/>
                  </a:lnTo>
                  <a:lnTo>
                    <a:pt x="95576" y="341658"/>
                  </a:lnTo>
                  <a:lnTo>
                    <a:pt x="121165" y="259801"/>
                  </a:lnTo>
                  <a:lnTo>
                    <a:pt x="151268" y="177913"/>
                  </a:lnTo>
                  <a:lnTo>
                    <a:pt x="182124" y="96025"/>
                  </a:lnTo>
                  <a:lnTo>
                    <a:pt x="220504" y="9669"/>
                  </a:lnTo>
                  <a:lnTo>
                    <a:pt x="203197" y="0"/>
                  </a:lnTo>
                  <a:close/>
                </a:path>
              </a:pathLst>
            </a:custGeom>
            <a:solidFill>
              <a:srgbClr val="1F1A17"/>
            </a:solidFill>
          </p:spPr>
          <p:txBody>
            <a:bodyPr wrap="square" lIns="0" tIns="0" rIns="0" bIns="0" rtlCol="0"/>
            <a:lstStyle/>
            <a:p>
              <a:endParaRPr/>
            </a:p>
          </p:txBody>
        </p:sp>
        <p:pic>
          <p:nvPicPr>
            <p:cNvPr id="44" name="object 44"/>
            <p:cNvPicPr/>
            <p:nvPr/>
          </p:nvPicPr>
          <p:blipFill>
            <a:blip r:embed="rId9" cstate="print"/>
            <a:stretch>
              <a:fillRect/>
            </a:stretch>
          </p:blipFill>
          <p:spPr>
            <a:xfrm>
              <a:off x="4213182" y="2187021"/>
              <a:ext cx="95575" cy="110900"/>
            </a:xfrm>
            <a:prstGeom prst="rect">
              <a:avLst/>
            </a:prstGeom>
          </p:spPr>
        </p:pic>
      </p:grpSp>
      <p:sp>
        <p:nvSpPr>
          <p:cNvPr id="45" name="object 45"/>
          <p:cNvSpPr txBox="1"/>
          <p:nvPr/>
        </p:nvSpPr>
        <p:spPr>
          <a:xfrm>
            <a:off x="4165030" y="207121"/>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1</a:t>
            </a:r>
            <a:endParaRPr sz="2150">
              <a:latin typeface="Times New Roman"/>
              <a:cs typeface="Times New Roman"/>
            </a:endParaRPr>
          </a:p>
        </p:txBody>
      </p:sp>
      <p:sp>
        <p:nvSpPr>
          <p:cNvPr id="46" name="object 46"/>
          <p:cNvSpPr txBox="1"/>
          <p:nvPr/>
        </p:nvSpPr>
        <p:spPr>
          <a:xfrm>
            <a:off x="6023434" y="207121"/>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2</a:t>
            </a:r>
            <a:endParaRPr sz="2150">
              <a:latin typeface="Times New Roman"/>
              <a:cs typeface="Times New Roman"/>
            </a:endParaRPr>
          </a:p>
        </p:txBody>
      </p:sp>
      <p:sp>
        <p:nvSpPr>
          <p:cNvPr id="47" name="object 47"/>
          <p:cNvSpPr txBox="1"/>
          <p:nvPr/>
        </p:nvSpPr>
        <p:spPr>
          <a:xfrm>
            <a:off x="6140484" y="2201769"/>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3</a:t>
            </a:r>
            <a:endParaRPr sz="2150">
              <a:latin typeface="Times New Roman"/>
              <a:cs typeface="Times New Roman"/>
            </a:endParaRPr>
          </a:p>
        </p:txBody>
      </p:sp>
      <p:sp>
        <p:nvSpPr>
          <p:cNvPr id="48" name="object 48"/>
          <p:cNvSpPr txBox="1"/>
          <p:nvPr/>
        </p:nvSpPr>
        <p:spPr>
          <a:xfrm>
            <a:off x="4025685" y="2176899"/>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4</a:t>
            </a:r>
            <a:endParaRPr sz="2150">
              <a:latin typeface="Times New Roman"/>
              <a:cs typeface="Times New Roman"/>
            </a:endParaRPr>
          </a:p>
        </p:txBody>
      </p:sp>
      <p:sp>
        <p:nvSpPr>
          <p:cNvPr id="49" name="object 49"/>
          <p:cNvSpPr txBox="1"/>
          <p:nvPr/>
        </p:nvSpPr>
        <p:spPr>
          <a:xfrm>
            <a:off x="330143" y="2902634"/>
            <a:ext cx="1541145" cy="356235"/>
          </a:xfrm>
          <a:prstGeom prst="rect">
            <a:avLst/>
          </a:prstGeom>
        </p:spPr>
        <p:txBody>
          <a:bodyPr vert="horz" wrap="square" lIns="0" tIns="15240" rIns="0" bIns="0" rtlCol="0">
            <a:spAutoFit/>
          </a:bodyPr>
          <a:lstStyle/>
          <a:p>
            <a:pPr marL="38100">
              <a:lnSpc>
                <a:spcPct val="100000"/>
              </a:lnSpc>
              <a:spcBef>
                <a:spcPts val="120"/>
              </a:spcBef>
            </a:pPr>
            <a:r>
              <a:rPr sz="2150" spc="-35" dirty="0">
                <a:latin typeface="Times New Roman"/>
                <a:cs typeface="Times New Roman"/>
              </a:rPr>
              <a:t>R</a:t>
            </a:r>
            <a:r>
              <a:rPr sz="2250" spc="-52" baseline="-20370" dirty="0">
                <a:latin typeface="Times New Roman"/>
                <a:cs typeface="Times New Roman"/>
              </a:rPr>
              <a:t>1</a:t>
            </a:r>
            <a:r>
              <a:rPr sz="2250" spc="-97" baseline="-20370" dirty="0">
                <a:latin typeface="Times New Roman"/>
                <a:cs typeface="Times New Roman"/>
              </a:rPr>
              <a:t> </a:t>
            </a:r>
            <a:r>
              <a:rPr sz="2150" spc="-65" dirty="0">
                <a:latin typeface="Times New Roman"/>
                <a:cs typeface="Times New Roman"/>
              </a:rPr>
              <a:t>is </a:t>
            </a:r>
            <a:r>
              <a:rPr sz="2150" spc="-50" dirty="0">
                <a:latin typeface="Times New Roman"/>
                <a:cs typeface="Times New Roman"/>
              </a:rPr>
              <a:t>transitive</a:t>
            </a:r>
            <a:endParaRPr sz="2150">
              <a:latin typeface="Times New Roman"/>
              <a:cs typeface="Times New Roman"/>
            </a:endParaRPr>
          </a:p>
        </p:txBody>
      </p:sp>
      <p:sp>
        <p:nvSpPr>
          <p:cNvPr id="50" name="object 50"/>
          <p:cNvSpPr txBox="1"/>
          <p:nvPr/>
        </p:nvSpPr>
        <p:spPr>
          <a:xfrm>
            <a:off x="3768042" y="2902634"/>
            <a:ext cx="3278504" cy="1353185"/>
          </a:xfrm>
          <a:prstGeom prst="rect">
            <a:avLst/>
          </a:prstGeom>
        </p:spPr>
        <p:txBody>
          <a:bodyPr vert="horz" wrap="square" lIns="0" tIns="11430" rIns="0" bIns="0" rtlCol="0">
            <a:spAutoFit/>
          </a:bodyPr>
          <a:lstStyle/>
          <a:p>
            <a:pPr marL="38100" marR="30480">
              <a:lnSpc>
                <a:spcPct val="101200"/>
              </a:lnSpc>
              <a:spcBef>
                <a:spcPts val="90"/>
              </a:spcBef>
            </a:pPr>
            <a:r>
              <a:rPr sz="2150" spc="-35" dirty="0">
                <a:latin typeface="Times New Roman"/>
                <a:cs typeface="Times New Roman"/>
              </a:rPr>
              <a:t>R</a:t>
            </a:r>
            <a:r>
              <a:rPr sz="2250" spc="-52" baseline="-20370" dirty="0">
                <a:latin typeface="Times New Roman"/>
                <a:cs typeface="Times New Roman"/>
              </a:rPr>
              <a:t>2</a:t>
            </a:r>
            <a:r>
              <a:rPr sz="2250" spc="-15" baseline="-20370" dirty="0">
                <a:latin typeface="Times New Roman"/>
                <a:cs typeface="Times New Roman"/>
              </a:rPr>
              <a:t> </a:t>
            </a:r>
            <a:r>
              <a:rPr sz="2150" spc="-65" dirty="0">
                <a:latin typeface="Times New Roman"/>
                <a:cs typeface="Times New Roman"/>
              </a:rPr>
              <a:t>is</a:t>
            </a:r>
            <a:r>
              <a:rPr sz="2150" spc="-70" dirty="0">
                <a:latin typeface="Times New Roman"/>
                <a:cs typeface="Times New Roman"/>
              </a:rPr>
              <a:t> </a:t>
            </a:r>
            <a:r>
              <a:rPr sz="2150" spc="-90" dirty="0">
                <a:latin typeface="Times New Roman"/>
                <a:cs typeface="Times New Roman"/>
              </a:rPr>
              <a:t>not</a:t>
            </a:r>
            <a:r>
              <a:rPr sz="2150" spc="-50" dirty="0">
                <a:latin typeface="Times New Roman"/>
                <a:cs typeface="Times New Roman"/>
              </a:rPr>
              <a:t> </a:t>
            </a:r>
            <a:r>
              <a:rPr sz="2150" spc="-75" dirty="0">
                <a:latin typeface="Times New Roman"/>
                <a:cs typeface="Times New Roman"/>
              </a:rPr>
              <a:t>transitive</a:t>
            </a:r>
            <a:r>
              <a:rPr sz="2150" spc="-60" dirty="0">
                <a:latin typeface="Times New Roman"/>
                <a:cs typeface="Times New Roman"/>
              </a:rPr>
              <a:t> </a:t>
            </a:r>
            <a:r>
              <a:rPr sz="2150" spc="-90" dirty="0">
                <a:latin typeface="Times New Roman"/>
                <a:cs typeface="Times New Roman"/>
              </a:rPr>
              <a:t>since</a:t>
            </a:r>
            <a:r>
              <a:rPr sz="2150" spc="-45" dirty="0">
                <a:latin typeface="Times New Roman"/>
                <a:cs typeface="Times New Roman"/>
              </a:rPr>
              <a:t> </a:t>
            </a:r>
            <a:r>
              <a:rPr sz="2150" spc="-85" dirty="0">
                <a:latin typeface="Times New Roman"/>
                <a:cs typeface="Times New Roman"/>
              </a:rPr>
              <a:t>there</a:t>
            </a:r>
            <a:r>
              <a:rPr sz="2150" spc="-50" dirty="0">
                <a:latin typeface="Times New Roman"/>
                <a:cs typeface="Times New Roman"/>
              </a:rPr>
              <a:t> </a:t>
            </a:r>
            <a:r>
              <a:rPr sz="2150" spc="-25" dirty="0">
                <a:latin typeface="Times New Roman"/>
                <a:cs typeface="Times New Roman"/>
              </a:rPr>
              <a:t>is </a:t>
            </a:r>
            <a:r>
              <a:rPr sz="2150" spc="-110" dirty="0">
                <a:latin typeface="Times New Roman"/>
                <a:cs typeface="Times New Roman"/>
              </a:rPr>
              <a:t>an</a:t>
            </a:r>
            <a:r>
              <a:rPr sz="2150" spc="-50" dirty="0">
                <a:latin typeface="Times New Roman"/>
                <a:cs typeface="Times New Roman"/>
              </a:rPr>
              <a:t> </a:t>
            </a:r>
            <a:r>
              <a:rPr sz="2150" spc="-100" dirty="0">
                <a:latin typeface="Times New Roman"/>
                <a:cs typeface="Times New Roman"/>
              </a:rPr>
              <a:t>arrow</a:t>
            </a:r>
            <a:r>
              <a:rPr sz="2150" spc="-45" dirty="0">
                <a:latin typeface="Times New Roman"/>
                <a:cs typeface="Times New Roman"/>
              </a:rPr>
              <a:t> </a:t>
            </a:r>
            <a:r>
              <a:rPr sz="2150" spc="-100" dirty="0">
                <a:latin typeface="Times New Roman"/>
                <a:cs typeface="Times New Roman"/>
              </a:rPr>
              <a:t>from</a:t>
            </a:r>
            <a:r>
              <a:rPr sz="2150" spc="-65" dirty="0">
                <a:latin typeface="Times New Roman"/>
                <a:cs typeface="Times New Roman"/>
              </a:rPr>
              <a:t> </a:t>
            </a:r>
            <a:r>
              <a:rPr sz="2150" spc="-110" dirty="0">
                <a:latin typeface="Times New Roman"/>
                <a:cs typeface="Times New Roman"/>
              </a:rPr>
              <a:t>1</a:t>
            </a:r>
            <a:r>
              <a:rPr sz="2150" spc="-45" dirty="0">
                <a:latin typeface="Times New Roman"/>
                <a:cs typeface="Times New Roman"/>
              </a:rPr>
              <a:t> </a:t>
            </a:r>
            <a:r>
              <a:rPr sz="2150" spc="-75" dirty="0">
                <a:latin typeface="Times New Roman"/>
                <a:cs typeface="Times New Roman"/>
              </a:rPr>
              <a:t>to</a:t>
            </a:r>
            <a:r>
              <a:rPr sz="2150" spc="-20" dirty="0">
                <a:latin typeface="Times New Roman"/>
                <a:cs typeface="Times New Roman"/>
              </a:rPr>
              <a:t> </a:t>
            </a:r>
            <a:r>
              <a:rPr sz="2150" spc="-110" dirty="0">
                <a:latin typeface="Times New Roman"/>
                <a:cs typeface="Times New Roman"/>
              </a:rPr>
              <a:t>2</a:t>
            </a:r>
            <a:r>
              <a:rPr sz="2150" spc="-45" dirty="0">
                <a:latin typeface="Times New Roman"/>
                <a:cs typeface="Times New Roman"/>
              </a:rPr>
              <a:t> </a:t>
            </a:r>
            <a:r>
              <a:rPr sz="2150" spc="-110" dirty="0">
                <a:latin typeface="Times New Roman"/>
                <a:cs typeface="Times New Roman"/>
              </a:rPr>
              <a:t>and</a:t>
            </a:r>
            <a:r>
              <a:rPr sz="2150" spc="-40" dirty="0">
                <a:latin typeface="Times New Roman"/>
                <a:cs typeface="Times New Roman"/>
              </a:rPr>
              <a:t> </a:t>
            </a:r>
            <a:r>
              <a:rPr sz="2150" spc="-105" dirty="0">
                <a:latin typeface="Times New Roman"/>
                <a:cs typeface="Times New Roman"/>
              </a:rPr>
              <a:t>from</a:t>
            </a:r>
            <a:r>
              <a:rPr sz="2150" spc="-65" dirty="0">
                <a:latin typeface="Times New Roman"/>
                <a:cs typeface="Times New Roman"/>
              </a:rPr>
              <a:t> </a:t>
            </a:r>
            <a:r>
              <a:rPr sz="2150" spc="-50" dirty="0">
                <a:latin typeface="Times New Roman"/>
                <a:cs typeface="Times New Roman"/>
              </a:rPr>
              <a:t>2</a:t>
            </a:r>
            <a:endParaRPr sz="2150">
              <a:latin typeface="Times New Roman"/>
              <a:cs typeface="Times New Roman"/>
            </a:endParaRPr>
          </a:p>
          <a:p>
            <a:pPr marL="38100" marR="354330">
              <a:lnSpc>
                <a:spcPts val="2630"/>
              </a:lnSpc>
              <a:spcBef>
                <a:spcPts val="75"/>
              </a:spcBef>
            </a:pPr>
            <a:r>
              <a:rPr sz="2150" spc="-90" dirty="0">
                <a:latin typeface="Times New Roman"/>
                <a:cs typeface="Times New Roman"/>
              </a:rPr>
              <a:t>to</a:t>
            </a:r>
            <a:r>
              <a:rPr sz="2150" spc="-50" dirty="0">
                <a:latin typeface="Times New Roman"/>
                <a:cs typeface="Times New Roman"/>
              </a:rPr>
              <a:t> </a:t>
            </a:r>
            <a:r>
              <a:rPr sz="2150" spc="-110" dirty="0">
                <a:latin typeface="Times New Roman"/>
                <a:cs typeface="Times New Roman"/>
              </a:rPr>
              <a:t>3</a:t>
            </a:r>
            <a:r>
              <a:rPr sz="2150" spc="-45" dirty="0">
                <a:latin typeface="Times New Roman"/>
                <a:cs typeface="Times New Roman"/>
              </a:rPr>
              <a:t> </a:t>
            </a:r>
            <a:r>
              <a:rPr sz="2150" spc="-90" dirty="0">
                <a:latin typeface="Times New Roman"/>
                <a:cs typeface="Times New Roman"/>
              </a:rPr>
              <a:t>but</a:t>
            </a:r>
            <a:r>
              <a:rPr sz="2150" spc="-45" dirty="0">
                <a:latin typeface="Times New Roman"/>
                <a:cs typeface="Times New Roman"/>
              </a:rPr>
              <a:t> </a:t>
            </a:r>
            <a:r>
              <a:rPr sz="2150" spc="-114" dirty="0">
                <a:latin typeface="Times New Roman"/>
                <a:cs typeface="Times New Roman"/>
              </a:rPr>
              <a:t>no</a:t>
            </a:r>
            <a:r>
              <a:rPr sz="2150" spc="-35" dirty="0">
                <a:latin typeface="Times New Roman"/>
                <a:cs typeface="Times New Roman"/>
              </a:rPr>
              <a:t> </a:t>
            </a:r>
            <a:r>
              <a:rPr sz="2150" spc="-100" dirty="0">
                <a:latin typeface="Times New Roman"/>
                <a:cs typeface="Times New Roman"/>
              </a:rPr>
              <a:t>arrow</a:t>
            </a:r>
            <a:r>
              <a:rPr sz="2150" spc="-45" dirty="0">
                <a:latin typeface="Times New Roman"/>
                <a:cs typeface="Times New Roman"/>
              </a:rPr>
              <a:t> </a:t>
            </a:r>
            <a:r>
              <a:rPr sz="2150" spc="-100" dirty="0">
                <a:latin typeface="Times New Roman"/>
                <a:cs typeface="Times New Roman"/>
              </a:rPr>
              <a:t>from</a:t>
            </a:r>
            <a:r>
              <a:rPr sz="2150" spc="-65" dirty="0">
                <a:latin typeface="Times New Roman"/>
                <a:cs typeface="Times New Roman"/>
              </a:rPr>
              <a:t> </a:t>
            </a:r>
            <a:r>
              <a:rPr sz="2150" spc="-110" dirty="0">
                <a:latin typeface="Times New Roman"/>
                <a:cs typeface="Times New Roman"/>
              </a:rPr>
              <a:t>1</a:t>
            </a:r>
            <a:r>
              <a:rPr sz="2150" spc="-45" dirty="0">
                <a:latin typeface="Times New Roman"/>
                <a:cs typeface="Times New Roman"/>
              </a:rPr>
              <a:t> </a:t>
            </a:r>
            <a:r>
              <a:rPr sz="2150" spc="-90" dirty="0">
                <a:latin typeface="Times New Roman"/>
                <a:cs typeface="Times New Roman"/>
              </a:rPr>
              <a:t>to</a:t>
            </a:r>
            <a:r>
              <a:rPr sz="2150" spc="-35" dirty="0">
                <a:latin typeface="Times New Roman"/>
                <a:cs typeface="Times New Roman"/>
              </a:rPr>
              <a:t> </a:t>
            </a:r>
            <a:r>
              <a:rPr sz="2150" spc="-50" dirty="0">
                <a:latin typeface="Times New Roman"/>
                <a:cs typeface="Times New Roman"/>
              </a:rPr>
              <a:t>3 </a:t>
            </a:r>
            <a:r>
              <a:rPr sz="2150" spc="-10" dirty="0">
                <a:latin typeface="Times New Roman"/>
                <a:cs typeface="Times New Roman"/>
              </a:rPr>
              <a:t>directly</a:t>
            </a:r>
            <a:endParaRPr sz="2150">
              <a:latin typeface="Times New Roman"/>
              <a:cs typeface="Times New Roman"/>
            </a:endParaRPr>
          </a:p>
        </p:txBody>
      </p:sp>
      <p:grpSp>
        <p:nvGrpSpPr>
          <p:cNvPr id="51" name="object 51"/>
          <p:cNvGrpSpPr/>
          <p:nvPr/>
        </p:nvGrpSpPr>
        <p:grpSpPr>
          <a:xfrm>
            <a:off x="724693" y="3914780"/>
            <a:ext cx="2119630" cy="2303780"/>
            <a:chOff x="724693" y="3914780"/>
            <a:chExt cx="2119630" cy="2303780"/>
          </a:xfrm>
        </p:grpSpPr>
        <p:sp>
          <p:nvSpPr>
            <p:cNvPr id="52" name="object 52"/>
            <p:cNvSpPr/>
            <p:nvPr/>
          </p:nvSpPr>
          <p:spPr>
            <a:xfrm>
              <a:off x="729011" y="4139547"/>
              <a:ext cx="27940" cy="35560"/>
            </a:xfrm>
            <a:custGeom>
              <a:avLst/>
              <a:gdLst/>
              <a:ahLst/>
              <a:cxnLst/>
              <a:rect l="l" t="t" r="r" b="b"/>
              <a:pathLst>
                <a:path w="27940" h="35560">
                  <a:moveTo>
                    <a:pt x="13671" y="0"/>
                  </a:moveTo>
                  <a:lnTo>
                    <a:pt x="0" y="4683"/>
                  </a:lnTo>
                  <a:lnTo>
                    <a:pt x="0" y="30445"/>
                  </a:lnTo>
                  <a:lnTo>
                    <a:pt x="13671" y="35129"/>
                  </a:lnTo>
                  <a:lnTo>
                    <a:pt x="23027" y="30445"/>
                  </a:lnTo>
                  <a:lnTo>
                    <a:pt x="27345" y="14821"/>
                  </a:lnTo>
                  <a:lnTo>
                    <a:pt x="23027" y="4683"/>
                  </a:lnTo>
                  <a:lnTo>
                    <a:pt x="13671" y="0"/>
                  </a:lnTo>
                  <a:close/>
                </a:path>
              </a:pathLst>
            </a:custGeom>
            <a:solidFill>
              <a:srgbClr val="1F1A17"/>
            </a:solidFill>
          </p:spPr>
          <p:txBody>
            <a:bodyPr wrap="square" lIns="0" tIns="0" rIns="0" bIns="0" rtlCol="0"/>
            <a:lstStyle/>
            <a:p>
              <a:endParaRPr/>
            </a:p>
          </p:txBody>
        </p:sp>
        <p:sp>
          <p:nvSpPr>
            <p:cNvPr id="53" name="object 53"/>
            <p:cNvSpPr/>
            <p:nvPr/>
          </p:nvSpPr>
          <p:spPr>
            <a:xfrm>
              <a:off x="739084" y="4150486"/>
              <a:ext cx="27940" cy="35560"/>
            </a:xfrm>
            <a:custGeom>
              <a:avLst/>
              <a:gdLst/>
              <a:ahLst/>
              <a:cxnLst/>
              <a:rect l="l" t="t" r="r" b="b"/>
              <a:pathLst>
                <a:path w="27940" h="35560">
                  <a:moveTo>
                    <a:pt x="13674" y="0"/>
                  </a:moveTo>
                  <a:lnTo>
                    <a:pt x="23029" y="4683"/>
                  </a:lnTo>
                  <a:lnTo>
                    <a:pt x="27345" y="14821"/>
                  </a:lnTo>
                  <a:lnTo>
                    <a:pt x="23029" y="30413"/>
                  </a:lnTo>
                  <a:lnTo>
                    <a:pt x="13674" y="35097"/>
                  </a:lnTo>
                  <a:lnTo>
                    <a:pt x="0" y="30413"/>
                  </a:lnTo>
                  <a:lnTo>
                    <a:pt x="0" y="14821"/>
                  </a:lnTo>
                  <a:lnTo>
                    <a:pt x="0" y="4683"/>
                  </a:lnTo>
                  <a:lnTo>
                    <a:pt x="13674" y="0"/>
                  </a:lnTo>
                </a:path>
              </a:pathLst>
            </a:custGeom>
            <a:ln w="4457">
              <a:solidFill>
                <a:srgbClr val="1F1A17"/>
              </a:solidFill>
            </a:ln>
          </p:spPr>
          <p:txBody>
            <a:bodyPr wrap="square" lIns="0" tIns="0" rIns="0" bIns="0" rtlCol="0"/>
            <a:lstStyle/>
            <a:p>
              <a:endParaRPr/>
            </a:p>
          </p:txBody>
        </p:sp>
        <p:sp>
          <p:nvSpPr>
            <p:cNvPr id="54" name="object 54"/>
            <p:cNvSpPr/>
            <p:nvPr/>
          </p:nvSpPr>
          <p:spPr>
            <a:xfrm>
              <a:off x="724693" y="5928218"/>
              <a:ext cx="27940" cy="36195"/>
            </a:xfrm>
            <a:custGeom>
              <a:avLst/>
              <a:gdLst/>
              <a:ahLst/>
              <a:cxnLst/>
              <a:rect l="l" t="t" r="r" b="b"/>
              <a:pathLst>
                <a:path w="27940" h="36195">
                  <a:moveTo>
                    <a:pt x="13673" y="0"/>
                  </a:moveTo>
                  <a:lnTo>
                    <a:pt x="4317" y="4683"/>
                  </a:lnTo>
                  <a:lnTo>
                    <a:pt x="0" y="20291"/>
                  </a:lnTo>
                  <a:lnTo>
                    <a:pt x="4317" y="30436"/>
                  </a:lnTo>
                  <a:lnTo>
                    <a:pt x="13673" y="35899"/>
                  </a:lnTo>
                  <a:lnTo>
                    <a:pt x="23028" y="30436"/>
                  </a:lnTo>
                  <a:lnTo>
                    <a:pt x="27344" y="20291"/>
                  </a:lnTo>
                  <a:lnTo>
                    <a:pt x="23028" y="4683"/>
                  </a:lnTo>
                  <a:lnTo>
                    <a:pt x="13673" y="0"/>
                  </a:lnTo>
                  <a:close/>
                </a:path>
              </a:pathLst>
            </a:custGeom>
            <a:solidFill>
              <a:srgbClr val="1F1A17"/>
            </a:solidFill>
          </p:spPr>
          <p:txBody>
            <a:bodyPr wrap="square" lIns="0" tIns="0" rIns="0" bIns="0" rtlCol="0"/>
            <a:lstStyle/>
            <a:p>
              <a:endParaRPr/>
            </a:p>
          </p:txBody>
        </p:sp>
        <p:sp>
          <p:nvSpPr>
            <p:cNvPr id="55" name="object 55"/>
            <p:cNvSpPr/>
            <p:nvPr/>
          </p:nvSpPr>
          <p:spPr>
            <a:xfrm>
              <a:off x="734768" y="5939146"/>
              <a:ext cx="27940" cy="36195"/>
            </a:xfrm>
            <a:custGeom>
              <a:avLst/>
              <a:gdLst/>
              <a:ahLst/>
              <a:cxnLst/>
              <a:rect l="l" t="t" r="r" b="b"/>
              <a:pathLst>
                <a:path w="27940" h="36195">
                  <a:moveTo>
                    <a:pt x="13671" y="0"/>
                  </a:moveTo>
                  <a:lnTo>
                    <a:pt x="23026" y="4680"/>
                  </a:lnTo>
                  <a:lnTo>
                    <a:pt x="27345" y="20288"/>
                  </a:lnTo>
                  <a:lnTo>
                    <a:pt x="23026" y="30436"/>
                  </a:lnTo>
                  <a:lnTo>
                    <a:pt x="13671" y="35896"/>
                  </a:lnTo>
                  <a:lnTo>
                    <a:pt x="4315" y="30436"/>
                  </a:lnTo>
                  <a:lnTo>
                    <a:pt x="0" y="20288"/>
                  </a:lnTo>
                  <a:lnTo>
                    <a:pt x="4315" y="4680"/>
                  </a:lnTo>
                  <a:lnTo>
                    <a:pt x="13671" y="0"/>
                  </a:lnTo>
                </a:path>
              </a:pathLst>
            </a:custGeom>
            <a:ln w="4454">
              <a:solidFill>
                <a:srgbClr val="1F1A17"/>
              </a:solidFill>
            </a:ln>
          </p:spPr>
          <p:txBody>
            <a:bodyPr wrap="square" lIns="0" tIns="0" rIns="0" bIns="0" rtlCol="0"/>
            <a:lstStyle/>
            <a:p>
              <a:endParaRPr/>
            </a:p>
          </p:txBody>
        </p:sp>
        <p:sp>
          <p:nvSpPr>
            <p:cNvPr id="56" name="object 56"/>
            <p:cNvSpPr/>
            <p:nvPr/>
          </p:nvSpPr>
          <p:spPr>
            <a:xfrm>
              <a:off x="2606492" y="4134093"/>
              <a:ext cx="27940" cy="36195"/>
            </a:xfrm>
            <a:custGeom>
              <a:avLst/>
              <a:gdLst/>
              <a:ahLst/>
              <a:cxnLst/>
              <a:rect l="l" t="t" r="r" b="b"/>
              <a:pathLst>
                <a:path w="27939" h="36195">
                  <a:moveTo>
                    <a:pt x="13647" y="0"/>
                  </a:moveTo>
                  <a:lnTo>
                    <a:pt x="4312" y="5453"/>
                  </a:lnTo>
                  <a:lnTo>
                    <a:pt x="0" y="20275"/>
                  </a:lnTo>
                  <a:lnTo>
                    <a:pt x="4312" y="30445"/>
                  </a:lnTo>
                  <a:lnTo>
                    <a:pt x="13647" y="35899"/>
                  </a:lnTo>
                  <a:lnTo>
                    <a:pt x="23012" y="30445"/>
                  </a:lnTo>
                  <a:lnTo>
                    <a:pt x="27324" y="20275"/>
                  </a:lnTo>
                  <a:lnTo>
                    <a:pt x="23012" y="5453"/>
                  </a:lnTo>
                  <a:lnTo>
                    <a:pt x="13647" y="0"/>
                  </a:lnTo>
                  <a:close/>
                </a:path>
              </a:pathLst>
            </a:custGeom>
            <a:solidFill>
              <a:srgbClr val="1F1A17"/>
            </a:solidFill>
          </p:spPr>
          <p:txBody>
            <a:bodyPr wrap="square" lIns="0" tIns="0" rIns="0" bIns="0" rtlCol="0"/>
            <a:lstStyle/>
            <a:p>
              <a:endParaRPr/>
            </a:p>
          </p:txBody>
        </p:sp>
        <p:sp>
          <p:nvSpPr>
            <p:cNvPr id="57" name="object 57"/>
            <p:cNvSpPr/>
            <p:nvPr/>
          </p:nvSpPr>
          <p:spPr>
            <a:xfrm>
              <a:off x="2616565" y="4145000"/>
              <a:ext cx="27940" cy="36195"/>
            </a:xfrm>
            <a:custGeom>
              <a:avLst/>
              <a:gdLst/>
              <a:ahLst/>
              <a:cxnLst/>
              <a:rect l="l" t="t" r="r" b="b"/>
              <a:pathLst>
                <a:path w="27939" h="36195">
                  <a:moveTo>
                    <a:pt x="13647" y="0"/>
                  </a:moveTo>
                  <a:lnTo>
                    <a:pt x="23012" y="5486"/>
                  </a:lnTo>
                  <a:lnTo>
                    <a:pt x="27324" y="20307"/>
                  </a:lnTo>
                  <a:lnTo>
                    <a:pt x="23012" y="30445"/>
                  </a:lnTo>
                  <a:lnTo>
                    <a:pt x="13647" y="35899"/>
                  </a:lnTo>
                  <a:lnTo>
                    <a:pt x="4312" y="30445"/>
                  </a:lnTo>
                  <a:lnTo>
                    <a:pt x="0" y="20307"/>
                  </a:lnTo>
                  <a:lnTo>
                    <a:pt x="4312" y="5486"/>
                  </a:lnTo>
                  <a:lnTo>
                    <a:pt x="13647" y="0"/>
                  </a:lnTo>
                </a:path>
              </a:pathLst>
            </a:custGeom>
            <a:ln w="4453">
              <a:solidFill>
                <a:srgbClr val="1F1A17"/>
              </a:solidFill>
            </a:ln>
          </p:spPr>
          <p:txBody>
            <a:bodyPr wrap="square" lIns="0" tIns="0" rIns="0" bIns="0" rtlCol="0"/>
            <a:lstStyle/>
            <a:p>
              <a:endParaRPr/>
            </a:p>
          </p:txBody>
        </p:sp>
        <p:sp>
          <p:nvSpPr>
            <p:cNvPr id="58" name="object 58"/>
            <p:cNvSpPr/>
            <p:nvPr/>
          </p:nvSpPr>
          <p:spPr>
            <a:xfrm>
              <a:off x="2579138" y="5938363"/>
              <a:ext cx="27940" cy="36195"/>
            </a:xfrm>
            <a:custGeom>
              <a:avLst/>
              <a:gdLst/>
              <a:ahLst/>
              <a:cxnLst/>
              <a:rect l="l" t="t" r="r" b="b"/>
              <a:pathLst>
                <a:path w="27939" h="36195">
                  <a:moveTo>
                    <a:pt x="13677" y="0"/>
                  </a:moveTo>
                  <a:lnTo>
                    <a:pt x="4312" y="4683"/>
                  </a:lnTo>
                  <a:lnTo>
                    <a:pt x="0" y="20291"/>
                  </a:lnTo>
                  <a:lnTo>
                    <a:pt x="4312" y="30436"/>
                  </a:lnTo>
                  <a:lnTo>
                    <a:pt x="13677" y="35899"/>
                  </a:lnTo>
                  <a:lnTo>
                    <a:pt x="22303" y="30436"/>
                  </a:lnTo>
                  <a:lnTo>
                    <a:pt x="27354" y="20291"/>
                  </a:lnTo>
                  <a:lnTo>
                    <a:pt x="22303" y="4683"/>
                  </a:lnTo>
                  <a:lnTo>
                    <a:pt x="13677" y="0"/>
                  </a:lnTo>
                  <a:close/>
                </a:path>
              </a:pathLst>
            </a:custGeom>
            <a:solidFill>
              <a:srgbClr val="1F1A17"/>
            </a:solidFill>
          </p:spPr>
          <p:txBody>
            <a:bodyPr wrap="square" lIns="0" tIns="0" rIns="0" bIns="0" rtlCol="0"/>
            <a:lstStyle/>
            <a:p>
              <a:endParaRPr/>
            </a:p>
          </p:txBody>
        </p:sp>
        <p:sp>
          <p:nvSpPr>
            <p:cNvPr id="59" name="object 59"/>
            <p:cNvSpPr/>
            <p:nvPr/>
          </p:nvSpPr>
          <p:spPr>
            <a:xfrm>
              <a:off x="2589211" y="5949290"/>
              <a:ext cx="27940" cy="36195"/>
            </a:xfrm>
            <a:custGeom>
              <a:avLst/>
              <a:gdLst/>
              <a:ahLst/>
              <a:cxnLst/>
              <a:rect l="l" t="t" r="r" b="b"/>
              <a:pathLst>
                <a:path w="27939" h="36195">
                  <a:moveTo>
                    <a:pt x="13677" y="0"/>
                  </a:moveTo>
                  <a:lnTo>
                    <a:pt x="22303" y="4680"/>
                  </a:lnTo>
                  <a:lnTo>
                    <a:pt x="27354" y="20291"/>
                  </a:lnTo>
                  <a:lnTo>
                    <a:pt x="22303" y="30436"/>
                  </a:lnTo>
                  <a:lnTo>
                    <a:pt x="13677" y="35896"/>
                  </a:lnTo>
                  <a:lnTo>
                    <a:pt x="4312" y="30436"/>
                  </a:lnTo>
                  <a:lnTo>
                    <a:pt x="0" y="20291"/>
                  </a:lnTo>
                  <a:lnTo>
                    <a:pt x="4312" y="4680"/>
                  </a:lnTo>
                  <a:lnTo>
                    <a:pt x="13677" y="0"/>
                  </a:lnTo>
                </a:path>
              </a:pathLst>
            </a:custGeom>
            <a:ln w="4454">
              <a:solidFill>
                <a:srgbClr val="1F1A17"/>
              </a:solidFill>
            </a:ln>
          </p:spPr>
          <p:txBody>
            <a:bodyPr wrap="square" lIns="0" tIns="0" rIns="0" bIns="0" rtlCol="0"/>
            <a:lstStyle/>
            <a:p>
              <a:endParaRPr/>
            </a:p>
          </p:txBody>
        </p:sp>
        <p:sp>
          <p:nvSpPr>
            <p:cNvPr id="60" name="object 60"/>
            <p:cNvSpPr/>
            <p:nvPr/>
          </p:nvSpPr>
          <p:spPr>
            <a:xfrm>
              <a:off x="783702" y="3914780"/>
              <a:ext cx="1837055" cy="260350"/>
            </a:xfrm>
            <a:custGeom>
              <a:avLst/>
              <a:gdLst/>
              <a:ahLst/>
              <a:cxnLst/>
              <a:rect l="l" t="t" r="r" b="b"/>
              <a:pathLst>
                <a:path w="1837055" h="260350">
                  <a:moveTo>
                    <a:pt x="1009600" y="0"/>
                  </a:moveTo>
                  <a:lnTo>
                    <a:pt x="936222" y="5486"/>
                  </a:lnTo>
                  <a:lnTo>
                    <a:pt x="799479" y="10169"/>
                  </a:lnTo>
                  <a:lnTo>
                    <a:pt x="667079" y="25761"/>
                  </a:lnTo>
                  <a:lnTo>
                    <a:pt x="544013" y="50753"/>
                  </a:lnTo>
                  <a:lnTo>
                    <a:pt x="429603" y="76483"/>
                  </a:lnTo>
                  <a:lnTo>
                    <a:pt x="324557" y="106929"/>
                  </a:lnTo>
                  <a:lnTo>
                    <a:pt x="228846" y="142828"/>
                  </a:lnTo>
                  <a:lnTo>
                    <a:pt x="82754" y="199004"/>
                  </a:lnTo>
                  <a:lnTo>
                    <a:pt x="0" y="239588"/>
                  </a:lnTo>
                  <a:lnTo>
                    <a:pt x="5036" y="259895"/>
                  </a:lnTo>
                  <a:lnTo>
                    <a:pt x="91389" y="219312"/>
                  </a:lnTo>
                  <a:lnTo>
                    <a:pt x="237472" y="163104"/>
                  </a:lnTo>
                  <a:lnTo>
                    <a:pt x="328870" y="127204"/>
                  </a:lnTo>
                  <a:lnTo>
                    <a:pt x="433916" y="96791"/>
                  </a:lnTo>
                  <a:lnTo>
                    <a:pt x="548356" y="71799"/>
                  </a:lnTo>
                  <a:lnTo>
                    <a:pt x="671392" y="46069"/>
                  </a:lnTo>
                  <a:lnTo>
                    <a:pt x="799479" y="30445"/>
                  </a:lnTo>
                  <a:lnTo>
                    <a:pt x="936222" y="25761"/>
                  </a:lnTo>
                  <a:lnTo>
                    <a:pt x="1083008" y="25761"/>
                  </a:lnTo>
                  <a:lnTo>
                    <a:pt x="1155707" y="30445"/>
                  </a:lnTo>
                  <a:lnTo>
                    <a:pt x="1301785" y="50753"/>
                  </a:lnTo>
                  <a:lnTo>
                    <a:pt x="1375163" y="71799"/>
                  </a:lnTo>
                  <a:lnTo>
                    <a:pt x="1452884" y="92107"/>
                  </a:lnTo>
                  <a:lnTo>
                    <a:pt x="1525583" y="112383"/>
                  </a:lnTo>
                  <a:lnTo>
                    <a:pt x="1603304" y="142828"/>
                  </a:lnTo>
                  <a:lnTo>
                    <a:pt x="1681025" y="178728"/>
                  </a:lnTo>
                  <a:lnTo>
                    <a:pt x="1754403" y="213858"/>
                  </a:lnTo>
                  <a:lnTo>
                    <a:pt x="1827102" y="259895"/>
                  </a:lnTo>
                  <a:lnTo>
                    <a:pt x="1836437" y="239588"/>
                  </a:lnTo>
                  <a:lnTo>
                    <a:pt x="1763059" y="193550"/>
                  </a:lnTo>
                  <a:lnTo>
                    <a:pt x="1685338" y="158420"/>
                  </a:lnTo>
                  <a:lnTo>
                    <a:pt x="1607617" y="122553"/>
                  </a:lnTo>
                  <a:lnTo>
                    <a:pt x="1534918" y="92107"/>
                  </a:lnTo>
                  <a:lnTo>
                    <a:pt x="1457227" y="71799"/>
                  </a:lnTo>
                  <a:lnTo>
                    <a:pt x="1306807" y="30445"/>
                  </a:lnTo>
                  <a:lnTo>
                    <a:pt x="1155707" y="10169"/>
                  </a:lnTo>
                  <a:lnTo>
                    <a:pt x="1083008" y="5486"/>
                  </a:lnTo>
                  <a:lnTo>
                    <a:pt x="1009600" y="0"/>
                  </a:lnTo>
                  <a:close/>
                </a:path>
              </a:pathLst>
            </a:custGeom>
            <a:solidFill>
              <a:srgbClr val="1F1A17"/>
            </a:solidFill>
          </p:spPr>
          <p:txBody>
            <a:bodyPr wrap="square" lIns="0" tIns="0" rIns="0" bIns="0" rtlCol="0"/>
            <a:lstStyle/>
            <a:p>
              <a:endParaRPr/>
            </a:p>
          </p:txBody>
        </p:sp>
        <p:pic>
          <p:nvPicPr>
            <p:cNvPr id="61" name="object 61"/>
            <p:cNvPicPr/>
            <p:nvPr/>
          </p:nvPicPr>
          <p:blipFill>
            <a:blip r:embed="rId10" cstate="print"/>
            <a:stretch>
              <a:fillRect/>
            </a:stretch>
          </p:blipFill>
          <p:spPr>
            <a:xfrm>
              <a:off x="756357" y="4077885"/>
              <a:ext cx="105063" cy="117067"/>
            </a:xfrm>
            <a:prstGeom prst="rect">
              <a:avLst/>
            </a:prstGeom>
          </p:spPr>
        </p:pic>
        <p:sp>
          <p:nvSpPr>
            <p:cNvPr id="62" name="object 62"/>
            <p:cNvSpPr/>
            <p:nvPr/>
          </p:nvSpPr>
          <p:spPr>
            <a:xfrm>
              <a:off x="738366" y="5958655"/>
              <a:ext cx="1840864" cy="260350"/>
            </a:xfrm>
            <a:custGeom>
              <a:avLst/>
              <a:gdLst/>
              <a:ahLst/>
              <a:cxnLst/>
              <a:rect l="l" t="t" r="r" b="b"/>
              <a:pathLst>
                <a:path w="1840864" h="260350">
                  <a:moveTo>
                    <a:pt x="1835719" y="0"/>
                  </a:moveTo>
                  <a:lnTo>
                    <a:pt x="1749373" y="40580"/>
                  </a:lnTo>
                  <a:lnTo>
                    <a:pt x="1603295" y="96768"/>
                  </a:lnTo>
                  <a:lnTo>
                    <a:pt x="1511897" y="132668"/>
                  </a:lnTo>
                  <a:lnTo>
                    <a:pt x="1406851" y="163101"/>
                  </a:lnTo>
                  <a:lnTo>
                    <a:pt x="1292412" y="188856"/>
                  </a:lnTo>
                  <a:lnTo>
                    <a:pt x="1169376" y="213829"/>
                  </a:lnTo>
                  <a:lnTo>
                    <a:pt x="1041288" y="229437"/>
                  </a:lnTo>
                  <a:lnTo>
                    <a:pt x="899524" y="234118"/>
                  </a:lnTo>
                  <a:lnTo>
                    <a:pt x="757759" y="234118"/>
                  </a:lnTo>
                  <a:lnTo>
                    <a:pt x="685060" y="229437"/>
                  </a:lnTo>
                  <a:lnTo>
                    <a:pt x="538983" y="209145"/>
                  </a:lnTo>
                  <a:lnTo>
                    <a:pt x="461262" y="188856"/>
                  </a:lnTo>
                  <a:lnTo>
                    <a:pt x="310162" y="147493"/>
                  </a:lnTo>
                  <a:lnTo>
                    <a:pt x="237472" y="117060"/>
                  </a:lnTo>
                  <a:lnTo>
                    <a:pt x="159751" y="81940"/>
                  </a:lnTo>
                  <a:lnTo>
                    <a:pt x="86352" y="46044"/>
                  </a:lnTo>
                  <a:lnTo>
                    <a:pt x="9355" y="0"/>
                  </a:lnTo>
                  <a:lnTo>
                    <a:pt x="0" y="20291"/>
                  </a:lnTo>
                  <a:lnTo>
                    <a:pt x="77717" y="66332"/>
                  </a:lnTo>
                  <a:lnTo>
                    <a:pt x="155435" y="102232"/>
                  </a:lnTo>
                  <a:lnTo>
                    <a:pt x="228117" y="137349"/>
                  </a:lnTo>
                  <a:lnTo>
                    <a:pt x="305820" y="168565"/>
                  </a:lnTo>
                  <a:lnTo>
                    <a:pt x="461262" y="209145"/>
                  </a:lnTo>
                  <a:lnTo>
                    <a:pt x="533961" y="229437"/>
                  </a:lnTo>
                  <a:lnTo>
                    <a:pt x="685060" y="249726"/>
                  </a:lnTo>
                  <a:lnTo>
                    <a:pt x="757759" y="255189"/>
                  </a:lnTo>
                  <a:lnTo>
                    <a:pt x="831138" y="259871"/>
                  </a:lnTo>
                  <a:lnTo>
                    <a:pt x="904546" y="255189"/>
                  </a:lnTo>
                  <a:lnTo>
                    <a:pt x="1041288" y="249726"/>
                  </a:lnTo>
                  <a:lnTo>
                    <a:pt x="1173689" y="234118"/>
                  </a:lnTo>
                  <a:lnTo>
                    <a:pt x="1296754" y="209145"/>
                  </a:lnTo>
                  <a:lnTo>
                    <a:pt x="1411164" y="183393"/>
                  </a:lnTo>
                  <a:lnTo>
                    <a:pt x="1516210" y="152957"/>
                  </a:lnTo>
                  <a:lnTo>
                    <a:pt x="1611921" y="117060"/>
                  </a:lnTo>
                  <a:lnTo>
                    <a:pt x="1757998" y="60872"/>
                  </a:lnTo>
                  <a:lnTo>
                    <a:pt x="1840771" y="20291"/>
                  </a:lnTo>
                  <a:lnTo>
                    <a:pt x="1835719" y="0"/>
                  </a:lnTo>
                  <a:close/>
                </a:path>
              </a:pathLst>
            </a:custGeom>
            <a:solidFill>
              <a:srgbClr val="1F1A17"/>
            </a:solidFill>
          </p:spPr>
          <p:txBody>
            <a:bodyPr wrap="square" lIns="0" tIns="0" rIns="0" bIns="0" rtlCol="0"/>
            <a:lstStyle/>
            <a:p>
              <a:endParaRPr/>
            </a:p>
          </p:txBody>
        </p:sp>
        <p:pic>
          <p:nvPicPr>
            <p:cNvPr id="63" name="object 63"/>
            <p:cNvPicPr/>
            <p:nvPr/>
          </p:nvPicPr>
          <p:blipFill>
            <a:blip r:embed="rId11" cstate="print"/>
            <a:stretch>
              <a:fillRect/>
            </a:stretch>
          </p:blipFill>
          <p:spPr>
            <a:xfrm>
              <a:off x="2501417" y="5938363"/>
              <a:ext cx="105075" cy="117060"/>
            </a:xfrm>
            <a:prstGeom prst="rect">
              <a:avLst/>
            </a:prstGeom>
          </p:spPr>
        </p:pic>
        <p:sp>
          <p:nvSpPr>
            <p:cNvPr id="64" name="object 64"/>
            <p:cNvSpPr/>
            <p:nvPr/>
          </p:nvSpPr>
          <p:spPr>
            <a:xfrm>
              <a:off x="2597128" y="4159854"/>
              <a:ext cx="247015" cy="1783714"/>
            </a:xfrm>
            <a:custGeom>
              <a:avLst/>
              <a:gdLst/>
              <a:ahLst/>
              <a:cxnLst/>
              <a:rect l="l" t="t" r="r" b="b"/>
              <a:pathLst>
                <a:path w="247014" h="1783714">
                  <a:moveTo>
                    <a:pt x="36689" y="0"/>
                  </a:moveTo>
                  <a:lnTo>
                    <a:pt x="17990" y="10137"/>
                  </a:lnTo>
                  <a:lnTo>
                    <a:pt x="59730" y="101443"/>
                  </a:lnTo>
                  <a:lnTo>
                    <a:pt x="123035" y="274685"/>
                  </a:lnTo>
                  <a:lnTo>
                    <a:pt x="151128" y="361307"/>
                  </a:lnTo>
                  <a:lnTo>
                    <a:pt x="187109" y="524411"/>
                  </a:lnTo>
                  <a:lnTo>
                    <a:pt x="205808" y="600895"/>
                  </a:lnTo>
                  <a:lnTo>
                    <a:pt x="214434" y="677378"/>
                  </a:lnTo>
                  <a:lnTo>
                    <a:pt x="223798" y="753861"/>
                  </a:lnTo>
                  <a:lnTo>
                    <a:pt x="228111" y="820175"/>
                  </a:lnTo>
                  <a:lnTo>
                    <a:pt x="228111" y="957518"/>
                  </a:lnTo>
                  <a:lnTo>
                    <a:pt x="223798" y="1085525"/>
                  </a:lnTo>
                  <a:lnTo>
                    <a:pt x="205808" y="1202592"/>
                  </a:lnTo>
                  <a:lnTo>
                    <a:pt x="182766" y="1304805"/>
                  </a:lnTo>
                  <a:lnTo>
                    <a:pt x="159754" y="1401564"/>
                  </a:lnTo>
                  <a:lnTo>
                    <a:pt x="128087" y="1492869"/>
                  </a:lnTo>
                  <a:lnTo>
                    <a:pt x="100732" y="1569353"/>
                  </a:lnTo>
                  <a:lnTo>
                    <a:pt x="41002" y="1691874"/>
                  </a:lnTo>
                  <a:lnTo>
                    <a:pt x="0" y="1773047"/>
                  </a:lnTo>
                  <a:lnTo>
                    <a:pt x="17990" y="1783192"/>
                  </a:lnTo>
                  <a:lnTo>
                    <a:pt x="59730" y="1702044"/>
                  </a:lnTo>
                  <a:lnTo>
                    <a:pt x="114410" y="1574839"/>
                  </a:lnTo>
                  <a:lnTo>
                    <a:pt x="146077" y="1498355"/>
                  </a:lnTo>
                  <a:lnTo>
                    <a:pt x="173431" y="1411734"/>
                  </a:lnTo>
                  <a:lnTo>
                    <a:pt x="200756" y="1314943"/>
                  </a:lnTo>
                  <a:lnTo>
                    <a:pt x="223798" y="1202592"/>
                  </a:lnTo>
                  <a:lnTo>
                    <a:pt x="241788" y="1085525"/>
                  </a:lnTo>
                  <a:lnTo>
                    <a:pt x="246810" y="957518"/>
                  </a:lnTo>
                  <a:lnTo>
                    <a:pt x="246810" y="820175"/>
                  </a:lnTo>
                  <a:lnTo>
                    <a:pt x="241788" y="749177"/>
                  </a:lnTo>
                  <a:lnTo>
                    <a:pt x="223798" y="600895"/>
                  </a:lnTo>
                  <a:lnTo>
                    <a:pt x="210121" y="519727"/>
                  </a:lnTo>
                  <a:lnTo>
                    <a:pt x="192131" y="437790"/>
                  </a:lnTo>
                  <a:lnTo>
                    <a:pt x="169118" y="356623"/>
                  </a:lnTo>
                  <a:lnTo>
                    <a:pt x="141764" y="270001"/>
                  </a:lnTo>
                  <a:lnTo>
                    <a:pt x="109388" y="183380"/>
                  </a:lnTo>
                  <a:lnTo>
                    <a:pt x="73407" y="91305"/>
                  </a:lnTo>
                  <a:lnTo>
                    <a:pt x="36689" y="0"/>
                  </a:lnTo>
                  <a:close/>
                </a:path>
              </a:pathLst>
            </a:custGeom>
            <a:solidFill>
              <a:srgbClr val="1F1A17"/>
            </a:solidFill>
          </p:spPr>
          <p:txBody>
            <a:bodyPr wrap="square" lIns="0" tIns="0" rIns="0" bIns="0" rtlCol="0"/>
            <a:lstStyle/>
            <a:p>
              <a:endParaRPr/>
            </a:p>
          </p:txBody>
        </p:sp>
        <p:pic>
          <p:nvPicPr>
            <p:cNvPr id="65" name="object 65"/>
            <p:cNvPicPr/>
            <p:nvPr/>
          </p:nvPicPr>
          <p:blipFill>
            <a:blip r:embed="rId12" cstate="print"/>
            <a:stretch>
              <a:fillRect/>
            </a:stretch>
          </p:blipFill>
          <p:spPr>
            <a:xfrm>
              <a:off x="2583451" y="5851729"/>
              <a:ext cx="100732" cy="117070"/>
            </a:xfrm>
            <a:prstGeom prst="rect">
              <a:avLst/>
            </a:prstGeom>
          </p:spPr>
        </p:pic>
      </p:grpSp>
      <p:sp>
        <p:nvSpPr>
          <p:cNvPr id="66" name="object 66"/>
          <p:cNvSpPr txBox="1"/>
          <p:nvPr/>
        </p:nvSpPr>
        <p:spPr>
          <a:xfrm>
            <a:off x="887524" y="6426791"/>
            <a:ext cx="1541145" cy="356235"/>
          </a:xfrm>
          <a:prstGeom prst="rect">
            <a:avLst/>
          </a:prstGeom>
        </p:spPr>
        <p:txBody>
          <a:bodyPr vert="horz" wrap="square" lIns="0" tIns="15240" rIns="0" bIns="0" rtlCol="0">
            <a:spAutoFit/>
          </a:bodyPr>
          <a:lstStyle/>
          <a:p>
            <a:pPr marL="38100">
              <a:lnSpc>
                <a:spcPct val="100000"/>
              </a:lnSpc>
              <a:spcBef>
                <a:spcPts val="120"/>
              </a:spcBef>
            </a:pPr>
            <a:r>
              <a:rPr sz="2150" spc="-35" dirty="0">
                <a:latin typeface="Times New Roman"/>
                <a:cs typeface="Times New Roman"/>
              </a:rPr>
              <a:t>R</a:t>
            </a:r>
            <a:r>
              <a:rPr sz="2250" spc="-52" baseline="-20370" dirty="0">
                <a:latin typeface="Times New Roman"/>
                <a:cs typeface="Times New Roman"/>
              </a:rPr>
              <a:t>3</a:t>
            </a:r>
            <a:r>
              <a:rPr sz="2250" spc="-97" baseline="-20370" dirty="0">
                <a:latin typeface="Times New Roman"/>
                <a:cs typeface="Times New Roman"/>
              </a:rPr>
              <a:t> </a:t>
            </a:r>
            <a:r>
              <a:rPr sz="2150" spc="-65" dirty="0">
                <a:latin typeface="Times New Roman"/>
                <a:cs typeface="Times New Roman"/>
              </a:rPr>
              <a:t>is </a:t>
            </a:r>
            <a:r>
              <a:rPr sz="2150" spc="-50" dirty="0">
                <a:latin typeface="Times New Roman"/>
                <a:cs typeface="Times New Roman"/>
              </a:rPr>
              <a:t>transitive</a:t>
            </a:r>
            <a:endParaRPr sz="2150">
              <a:latin typeface="Times New Roman"/>
              <a:cs typeface="Times New Roman"/>
            </a:endParaRPr>
          </a:p>
        </p:txBody>
      </p:sp>
      <p:sp>
        <p:nvSpPr>
          <p:cNvPr id="67" name="object 67"/>
          <p:cNvSpPr txBox="1"/>
          <p:nvPr/>
        </p:nvSpPr>
        <p:spPr>
          <a:xfrm>
            <a:off x="634234" y="3835277"/>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1</a:t>
            </a:r>
            <a:endParaRPr sz="2150">
              <a:latin typeface="Times New Roman"/>
              <a:cs typeface="Times New Roman"/>
            </a:endParaRPr>
          </a:p>
        </p:txBody>
      </p:sp>
      <p:sp>
        <p:nvSpPr>
          <p:cNvPr id="68" name="object 68"/>
          <p:cNvSpPr txBox="1"/>
          <p:nvPr/>
        </p:nvSpPr>
        <p:spPr>
          <a:xfrm>
            <a:off x="2492575" y="3688127"/>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2</a:t>
            </a:r>
            <a:endParaRPr sz="2150">
              <a:latin typeface="Times New Roman"/>
              <a:cs typeface="Times New Roman"/>
            </a:endParaRPr>
          </a:p>
        </p:txBody>
      </p:sp>
      <p:sp>
        <p:nvSpPr>
          <p:cNvPr id="69" name="object 69"/>
          <p:cNvSpPr txBox="1"/>
          <p:nvPr/>
        </p:nvSpPr>
        <p:spPr>
          <a:xfrm>
            <a:off x="2678369" y="5908647"/>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3</a:t>
            </a:r>
            <a:endParaRPr sz="2150">
              <a:latin typeface="Times New Roman"/>
              <a:cs typeface="Times New Roman"/>
            </a:endParaRPr>
          </a:p>
        </p:txBody>
      </p:sp>
      <p:sp>
        <p:nvSpPr>
          <p:cNvPr id="70" name="object 70"/>
          <p:cNvSpPr txBox="1"/>
          <p:nvPr/>
        </p:nvSpPr>
        <p:spPr>
          <a:xfrm>
            <a:off x="519041" y="5701393"/>
            <a:ext cx="149225" cy="356235"/>
          </a:xfrm>
          <a:prstGeom prst="rect">
            <a:avLst/>
          </a:prstGeom>
        </p:spPr>
        <p:txBody>
          <a:bodyPr vert="horz" wrap="square" lIns="0" tIns="15240" rIns="0" bIns="0" rtlCol="0">
            <a:spAutoFit/>
          </a:bodyPr>
          <a:lstStyle/>
          <a:p>
            <a:pPr marL="12700">
              <a:lnSpc>
                <a:spcPct val="100000"/>
              </a:lnSpc>
              <a:spcBef>
                <a:spcPts val="120"/>
              </a:spcBef>
            </a:pPr>
            <a:r>
              <a:rPr sz="2150" spc="-50" dirty="0">
                <a:latin typeface="Times New Roman"/>
                <a:cs typeface="Times New Roman"/>
              </a:rPr>
              <a:t>4</a:t>
            </a:r>
            <a:endParaRPr sz="2150">
              <a:latin typeface="Times New Roman"/>
              <a:cs typeface="Times New Roman"/>
            </a:endParaRPr>
          </a:p>
        </p:txBody>
      </p:sp>
      <p:pic>
        <p:nvPicPr>
          <p:cNvPr id="71" name="object 71"/>
          <p:cNvPicPr/>
          <p:nvPr/>
        </p:nvPicPr>
        <p:blipFill>
          <a:blip r:embed="rId13" cstate="print"/>
          <a:stretch>
            <a:fillRect/>
          </a:stretch>
        </p:blipFill>
        <p:spPr>
          <a:xfrm>
            <a:off x="457200" y="3733800"/>
            <a:ext cx="2467356" cy="2514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5DB732-B410-63FE-5D5B-55A814F1BDC3}"/>
              </a:ext>
            </a:extLst>
          </p:cNvPr>
          <p:cNvSpPr txBox="1"/>
          <p:nvPr/>
        </p:nvSpPr>
        <p:spPr>
          <a:xfrm>
            <a:off x="457200" y="457200"/>
            <a:ext cx="6324600" cy="1077218"/>
          </a:xfrm>
          <a:prstGeom prst="rect">
            <a:avLst/>
          </a:prstGeom>
          <a:noFill/>
        </p:spPr>
        <p:txBody>
          <a:bodyPr wrap="square">
            <a:spAutoFit/>
          </a:bodyPr>
          <a:lstStyle/>
          <a:p>
            <a:r>
              <a:rPr lang="en-US" sz="3200" dirty="0">
                <a:solidFill>
                  <a:srgbClr val="CC0066"/>
                </a:solidFill>
              </a:rPr>
              <a:t>Determining which Properties a Relation has from its Digraph</a:t>
            </a:r>
          </a:p>
        </p:txBody>
      </p:sp>
      <p:pic>
        <p:nvPicPr>
          <p:cNvPr id="5" name="Picture 4">
            <a:extLst>
              <a:ext uri="{FF2B5EF4-FFF2-40B4-BE49-F238E27FC236}">
                <a16:creationId xmlns:a16="http://schemas.microsoft.com/office/drawing/2014/main" id="{9624CD97-9878-3250-6296-66D67A5AD149}"/>
              </a:ext>
            </a:extLst>
          </p:cNvPr>
          <p:cNvPicPr>
            <a:picLocks noChangeAspect="1"/>
          </p:cNvPicPr>
          <p:nvPr/>
        </p:nvPicPr>
        <p:blipFill rotWithShape="1">
          <a:blip r:embed="rId2"/>
          <a:srcRect l="15630" t="13307" r="10546" b="12164"/>
          <a:stretch/>
        </p:blipFill>
        <p:spPr>
          <a:xfrm>
            <a:off x="3276600" y="1517212"/>
            <a:ext cx="2667000" cy="2292788"/>
          </a:xfrm>
          <a:prstGeom prst="rect">
            <a:avLst/>
          </a:prstGeom>
        </p:spPr>
      </p:pic>
      <p:sp>
        <p:nvSpPr>
          <p:cNvPr id="7" name="TextBox 6">
            <a:extLst>
              <a:ext uri="{FF2B5EF4-FFF2-40B4-BE49-F238E27FC236}">
                <a16:creationId xmlns:a16="http://schemas.microsoft.com/office/drawing/2014/main" id="{40DF8E4F-8664-5134-A6CA-63F17EA92E90}"/>
              </a:ext>
            </a:extLst>
          </p:cNvPr>
          <p:cNvSpPr txBox="1"/>
          <p:nvPr/>
        </p:nvSpPr>
        <p:spPr>
          <a:xfrm>
            <a:off x="0" y="4371292"/>
            <a:ext cx="9220200" cy="1938992"/>
          </a:xfrm>
          <a:prstGeom prst="rect">
            <a:avLst/>
          </a:prstGeom>
          <a:solidFill>
            <a:schemeClr val="bg1"/>
          </a:solidFill>
        </p:spPr>
        <p:txBody>
          <a:bodyPr wrap="square">
            <a:spAutoFit/>
          </a:bodyPr>
          <a:lstStyle/>
          <a:p>
            <a:r>
              <a:rPr lang="en-US" sz="2400" dirty="0">
                <a:solidFill>
                  <a:srgbClr val="002060"/>
                </a:solidFill>
              </a:rPr>
              <a:t>• Reflexive? No, there are no loops </a:t>
            </a:r>
          </a:p>
          <a:p>
            <a:r>
              <a:rPr lang="en-US" sz="2400" dirty="0">
                <a:solidFill>
                  <a:srgbClr val="002060"/>
                </a:solidFill>
              </a:rPr>
              <a:t>• Symmetric? No, there is an edge from a to b, but not from b to a </a:t>
            </a:r>
          </a:p>
          <a:p>
            <a:r>
              <a:rPr lang="en-US" sz="2400" dirty="0">
                <a:solidFill>
                  <a:srgbClr val="002060"/>
                </a:solidFill>
              </a:rPr>
              <a:t>• Antisymmetric? No, there is an edge from d to b and b to d </a:t>
            </a:r>
          </a:p>
          <a:p>
            <a:r>
              <a:rPr lang="en-US" sz="2400" dirty="0">
                <a:solidFill>
                  <a:srgbClr val="002060"/>
                </a:solidFill>
              </a:rPr>
              <a:t>● Transitive? No, there are edges from a to b and from b to d, but there is no edge from a to d</a:t>
            </a:r>
          </a:p>
        </p:txBody>
      </p:sp>
    </p:spTree>
    <p:extLst>
      <p:ext uri="{BB962C8B-B14F-4D97-AF65-F5344CB8AC3E}">
        <p14:creationId xmlns:p14="http://schemas.microsoft.com/office/powerpoint/2010/main" val="1042015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9FDCC-7E4A-AD32-6D86-FF80155D2E6C}"/>
              </a:ext>
            </a:extLst>
          </p:cNvPr>
          <p:cNvSpPr txBox="1">
            <a:spLocks/>
          </p:cNvSpPr>
          <p:nvPr/>
        </p:nvSpPr>
        <p:spPr>
          <a:xfrm>
            <a:off x="425246" y="249248"/>
            <a:ext cx="8229600" cy="1143000"/>
          </a:xfrm>
          <a:prstGeom prst="rect">
            <a:avLst/>
          </a:prstGeom>
        </p:spPr>
        <p:txBody>
          <a:bodyPr/>
          <a:lstStyle>
            <a:lvl1pPr>
              <a:defRPr>
                <a:latin typeface="+mj-lt"/>
                <a:ea typeface="+mj-ea"/>
                <a:cs typeface="+mj-cs"/>
              </a:defRPr>
            </a:lvl1pPr>
          </a:lstStyle>
          <a:p>
            <a:r>
              <a:rPr lang="en-US" sz="4000" b="1" dirty="0">
                <a:solidFill>
                  <a:srgbClr val="00B050"/>
                </a:solidFill>
              </a:rPr>
              <a:t>Composition</a:t>
            </a:r>
          </a:p>
        </p:txBody>
      </p:sp>
      <p:sp>
        <p:nvSpPr>
          <p:cNvPr id="3" name="Content Placeholder 2">
            <a:extLst>
              <a:ext uri="{FF2B5EF4-FFF2-40B4-BE49-F238E27FC236}">
                <a16:creationId xmlns:a16="http://schemas.microsoft.com/office/drawing/2014/main" id="{FEC7F398-60E8-BB1E-68B7-6278D010EDF9}"/>
              </a:ext>
            </a:extLst>
          </p:cNvPr>
          <p:cNvSpPr txBox="1">
            <a:spLocks/>
          </p:cNvSpPr>
          <p:nvPr/>
        </p:nvSpPr>
        <p:spPr>
          <a:xfrm>
            <a:off x="457200" y="840413"/>
            <a:ext cx="8229600" cy="4389120"/>
          </a:xfrm>
          <a:prstGeom prst="rect">
            <a:avLst/>
          </a:prstGeom>
          <a:solidFill>
            <a:schemeClr val="bg1"/>
          </a:solidFill>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dirty="0"/>
              <a:t>Composition means </a:t>
            </a:r>
            <a:r>
              <a:rPr lang="en-US" sz="2400" b="1" dirty="0">
                <a:solidFill>
                  <a:srgbClr val="7030A0"/>
                </a:solidFill>
              </a:rPr>
              <a:t>linking two relations through a common middle element</a:t>
            </a:r>
            <a:r>
              <a:rPr lang="en-US" sz="2400" dirty="0">
                <a:solidFill>
                  <a:srgbClr val="7030A0"/>
                </a:solidFill>
              </a:rPr>
              <a:t>.</a:t>
            </a:r>
          </a:p>
          <a:p>
            <a:pPr lvl="1">
              <a:buFont typeface="Arial" panose="020B0604020202020204" pitchFamily="34" charset="0"/>
              <a:buChar char="•"/>
            </a:pPr>
            <a:r>
              <a:rPr lang="en-US" sz="2400" dirty="0"/>
              <a:t>Let </a:t>
            </a:r>
            <a:r>
              <a:rPr lang="en-US" sz="2400" b="1" dirty="0"/>
              <a:t>R₁</a:t>
            </a:r>
            <a:r>
              <a:rPr lang="en-US" sz="2400" dirty="0"/>
              <a:t> connect set </a:t>
            </a:r>
            <a:r>
              <a:rPr lang="en-US" sz="2400" b="1" dirty="0"/>
              <a:t>A</a:t>
            </a:r>
            <a:r>
              <a:rPr lang="en-US" sz="2400" dirty="0"/>
              <a:t> to set </a:t>
            </a:r>
            <a:r>
              <a:rPr lang="en-US" sz="2400" b="1" dirty="0"/>
              <a:t>B</a:t>
            </a:r>
            <a:r>
              <a:rPr lang="en-US" sz="2400" dirty="0"/>
              <a:t>.</a:t>
            </a:r>
          </a:p>
          <a:p>
            <a:pPr lvl="1">
              <a:buFont typeface="Arial" panose="020B0604020202020204" pitchFamily="34" charset="0"/>
              <a:buChar char="•"/>
            </a:pPr>
            <a:r>
              <a:rPr lang="en-US" sz="2400" dirty="0"/>
              <a:t>Let </a:t>
            </a:r>
            <a:r>
              <a:rPr lang="en-US" sz="2400" b="1" dirty="0"/>
              <a:t>R₂</a:t>
            </a:r>
            <a:r>
              <a:rPr lang="en-US" sz="2400" dirty="0"/>
              <a:t> connect set </a:t>
            </a:r>
            <a:r>
              <a:rPr lang="en-US" sz="2400" b="1" dirty="0"/>
              <a:t>B</a:t>
            </a:r>
            <a:r>
              <a:rPr lang="en-US" sz="2400" dirty="0"/>
              <a:t> to set </a:t>
            </a:r>
            <a:r>
              <a:rPr lang="en-US" sz="2400" b="1" dirty="0"/>
              <a:t>C</a:t>
            </a:r>
            <a:r>
              <a:rPr lang="en-US" sz="2400" dirty="0"/>
              <a:t>.</a:t>
            </a:r>
          </a:p>
          <a:p>
            <a:r>
              <a:rPr lang="en-US" sz="2400" dirty="0">
                <a:solidFill>
                  <a:srgbClr val="D60093"/>
                </a:solidFill>
              </a:rPr>
              <a:t>To form the composition </a:t>
            </a:r>
            <a:r>
              <a:rPr lang="en-US" sz="2400" b="1" dirty="0">
                <a:solidFill>
                  <a:srgbClr val="D60093"/>
                </a:solidFill>
              </a:rPr>
              <a:t>R₂ ∘ R₁</a:t>
            </a:r>
            <a:r>
              <a:rPr lang="en-US" sz="2400" dirty="0">
                <a:solidFill>
                  <a:srgbClr val="D60093"/>
                </a:solidFill>
              </a:rPr>
              <a:t> (read: “R₂ after R₁”):</a:t>
            </a:r>
          </a:p>
          <a:p>
            <a:pPr lvl="1">
              <a:buFont typeface="Arial" panose="020B0604020202020204" pitchFamily="34" charset="0"/>
              <a:buChar char="•"/>
            </a:pPr>
            <a:r>
              <a:rPr lang="en-US" sz="2400" dirty="0"/>
              <a:t>If </a:t>
            </a:r>
            <a:r>
              <a:rPr lang="en-US" sz="2400" b="1" dirty="0"/>
              <a:t>R₁</a:t>
            </a:r>
            <a:r>
              <a:rPr lang="en-US" sz="2400" dirty="0"/>
              <a:t> connects </a:t>
            </a:r>
            <a:r>
              <a:rPr lang="en-US" sz="2400" b="1" dirty="0"/>
              <a:t>x to y</a:t>
            </a:r>
            <a:r>
              <a:rPr lang="en-US" sz="2400" dirty="0"/>
              <a:t>,</a:t>
            </a:r>
          </a:p>
          <a:p>
            <a:pPr lvl="1">
              <a:buFont typeface="Arial" panose="020B0604020202020204" pitchFamily="34" charset="0"/>
              <a:buChar char="•"/>
            </a:pPr>
            <a:r>
              <a:rPr lang="en-US" sz="2400" dirty="0"/>
              <a:t>And </a:t>
            </a:r>
            <a:r>
              <a:rPr lang="en-US" sz="2400" b="1" dirty="0"/>
              <a:t>R₂</a:t>
            </a:r>
            <a:r>
              <a:rPr lang="en-US" sz="2400" dirty="0"/>
              <a:t> connects </a:t>
            </a:r>
            <a:r>
              <a:rPr lang="en-US" sz="2400" b="1" dirty="0"/>
              <a:t>y to z</a:t>
            </a:r>
            <a:r>
              <a:rPr lang="en-US" sz="2400" dirty="0"/>
              <a:t>,</a:t>
            </a:r>
          </a:p>
          <a:p>
            <a:pPr lvl="1">
              <a:buFont typeface="Arial" panose="020B0604020202020204" pitchFamily="34" charset="0"/>
              <a:buChar char="•"/>
            </a:pPr>
            <a:r>
              <a:rPr lang="en-US" sz="2400" dirty="0"/>
              <a:t>Then the composition connects </a:t>
            </a:r>
            <a:r>
              <a:rPr lang="en-US" sz="2400" b="1" dirty="0"/>
              <a:t>x to z</a:t>
            </a:r>
            <a:r>
              <a:rPr lang="en-US" sz="2400" dirty="0"/>
              <a:t>.</a:t>
            </a:r>
          </a:p>
          <a:p>
            <a:pPr algn="ctr">
              <a:buFont typeface="Arial" panose="020B0604020202020204" pitchFamily="34" charset="0"/>
              <a:buChar char="•"/>
            </a:pPr>
            <a:r>
              <a:rPr lang="en-US" sz="2400" b="1" dirty="0">
                <a:solidFill>
                  <a:srgbClr val="D60093"/>
                </a:solidFill>
              </a:rPr>
              <a:t>Match the middle element (y), &amp; connect the first to the last.</a:t>
            </a:r>
          </a:p>
          <a:p>
            <a:pPr algn="ctr">
              <a:buFont typeface="Arial" panose="020B0604020202020204" pitchFamily="34" charset="0"/>
              <a:buChar char="•"/>
            </a:pPr>
            <a:endParaRPr lang="en-US" sz="2400" b="1" dirty="0">
              <a:solidFill>
                <a:srgbClr val="D60093"/>
              </a:solidFill>
            </a:endParaRPr>
          </a:p>
          <a:p>
            <a:r>
              <a:rPr lang="en-US" sz="2400" dirty="0"/>
              <a:t>Let the sets be:</a:t>
            </a:r>
          </a:p>
          <a:p>
            <a:pPr>
              <a:buFont typeface="Arial" panose="020B0604020202020204" pitchFamily="34" charset="0"/>
              <a:buChar char="•"/>
            </a:pPr>
            <a:r>
              <a:rPr lang="en-US" sz="2400" b="1" dirty="0">
                <a:solidFill>
                  <a:srgbClr val="7030A0"/>
                </a:solidFill>
              </a:rPr>
              <a:t>A = {1, 2}</a:t>
            </a:r>
            <a:r>
              <a:rPr lang="en-US" sz="2400" dirty="0">
                <a:solidFill>
                  <a:srgbClr val="7030A0"/>
                </a:solidFill>
              </a:rPr>
              <a:t>, </a:t>
            </a:r>
            <a:r>
              <a:rPr lang="en-US" sz="2400" b="1" dirty="0">
                <a:solidFill>
                  <a:srgbClr val="7030A0"/>
                </a:solidFill>
              </a:rPr>
              <a:t>B = {a, b}</a:t>
            </a:r>
            <a:r>
              <a:rPr lang="en-US" sz="2400" dirty="0">
                <a:solidFill>
                  <a:srgbClr val="7030A0"/>
                </a:solidFill>
              </a:rPr>
              <a:t>, </a:t>
            </a:r>
            <a:r>
              <a:rPr lang="en-US" sz="2400" b="1" dirty="0">
                <a:solidFill>
                  <a:srgbClr val="7030A0"/>
                </a:solidFill>
              </a:rPr>
              <a:t>C = {X, Y}</a:t>
            </a:r>
            <a:endParaRPr lang="en-US" sz="2400" dirty="0">
              <a:solidFill>
                <a:srgbClr val="7030A0"/>
              </a:solidFill>
            </a:endParaRPr>
          </a:p>
          <a:p>
            <a:pPr algn="l">
              <a:buFont typeface="Arial" panose="020B0604020202020204" pitchFamily="34" charset="0"/>
              <a:buChar char="•"/>
            </a:pPr>
            <a:r>
              <a:rPr lang="pt-BR" sz="2400" dirty="0">
                <a:solidFill>
                  <a:srgbClr val="7030A0"/>
                </a:solidFill>
              </a:rPr>
              <a:t>R₁ = { (1, a), (2, b) }</a:t>
            </a:r>
            <a:endParaRPr lang="en-US" sz="2400" b="1" dirty="0">
              <a:solidFill>
                <a:srgbClr val="7030A0"/>
              </a:solidFill>
            </a:endParaRPr>
          </a:p>
          <a:p>
            <a:pPr algn="l">
              <a:buFont typeface="Arial" panose="020B0604020202020204" pitchFamily="34" charset="0"/>
              <a:buChar char="•"/>
            </a:pPr>
            <a:r>
              <a:rPr lang="es-ES" sz="2400" dirty="0">
                <a:solidFill>
                  <a:srgbClr val="7030A0"/>
                </a:solidFill>
              </a:rPr>
              <a:t>R₂ = { (a, X), (b, Y) }</a:t>
            </a:r>
            <a:endParaRPr lang="es-ES" sz="2400" b="1" dirty="0">
              <a:solidFill>
                <a:srgbClr val="D60093"/>
              </a:solidFill>
            </a:endParaRPr>
          </a:p>
          <a:p>
            <a:pPr algn="l">
              <a:buFont typeface="Arial" panose="020B0604020202020204" pitchFamily="34" charset="0"/>
              <a:buChar char="•"/>
            </a:pPr>
            <a:r>
              <a:rPr lang="en-US" sz="2400" b="1" dirty="0">
                <a:solidFill>
                  <a:srgbClr val="0070C0"/>
                </a:solidFill>
              </a:rPr>
              <a:t>(R₂ ∘ R₁)</a:t>
            </a:r>
            <a:r>
              <a:rPr lang="es-ES" sz="2400" b="1" dirty="0">
                <a:solidFill>
                  <a:srgbClr val="0070C0"/>
                </a:solidFill>
              </a:rPr>
              <a:t>= </a:t>
            </a:r>
            <a:r>
              <a:rPr lang="en-US" sz="2400" b="1" dirty="0">
                <a:solidFill>
                  <a:srgbClr val="0070C0"/>
                </a:solidFill>
              </a:rPr>
              <a:t>{ (1, X), (2, Y) }</a:t>
            </a:r>
          </a:p>
        </p:txBody>
      </p:sp>
    </p:spTree>
    <p:extLst>
      <p:ext uri="{BB962C8B-B14F-4D97-AF65-F5344CB8AC3E}">
        <p14:creationId xmlns:p14="http://schemas.microsoft.com/office/powerpoint/2010/main" val="3935111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6F8D7-A4FC-7536-50D3-519FD9573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BD018-AF92-F423-C483-3E1DBC64CD07}"/>
              </a:ext>
            </a:extLst>
          </p:cNvPr>
          <p:cNvSpPr txBox="1">
            <a:spLocks/>
          </p:cNvSpPr>
          <p:nvPr/>
        </p:nvSpPr>
        <p:spPr>
          <a:xfrm>
            <a:off x="425246" y="249248"/>
            <a:ext cx="8229600" cy="1143000"/>
          </a:xfrm>
          <a:prstGeom prst="rect">
            <a:avLst/>
          </a:prstGeom>
        </p:spPr>
        <p:txBody>
          <a:bodyPr/>
          <a:lstStyle>
            <a:lvl1pPr>
              <a:defRPr>
                <a:latin typeface="+mj-lt"/>
                <a:ea typeface="+mj-ea"/>
                <a:cs typeface="+mj-cs"/>
              </a:defRPr>
            </a:lvl1pPr>
          </a:lstStyle>
          <a:p>
            <a:r>
              <a:rPr lang="en-US" sz="4000" b="1" dirty="0">
                <a:solidFill>
                  <a:srgbClr val="00B050"/>
                </a:solidFill>
              </a:rPr>
              <a:t>Composition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828DE5-D5D4-37BA-F4D9-C35DFB0F7CDF}"/>
                  </a:ext>
                </a:extLst>
              </p:cNvPr>
              <p:cNvSpPr txBox="1">
                <a:spLocks/>
              </p:cNvSpPr>
              <p:nvPr/>
            </p:nvSpPr>
            <p:spPr>
              <a:xfrm>
                <a:off x="38100" y="2590800"/>
                <a:ext cx="9220200" cy="2819400"/>
              </a:xfrm>
              <a:prstGeom prst="rect">
                <a:avLst/>
              </a:prstGeom>
              <a:noFill/>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b="1" dirty="0">
                    <a:solidFill>
                      <a:srgbClr val="0070C0"/>
                    </a:solidFill>
                  </a:rPr>
                  <a:t>SOLUTION:</a:t>
                </a:r>
                <a:endParaRPr lang="ar-AE" sz="2400" b="1" dirty="0">
                  <a:solidFill>
                    <a:srgbClr val="0070C0"/>
                  </a:solidFill>
                </a:endParaRPr>
              </a:p>
              <a:p>
                <a:r>
                  <a:rPr lang="en-US" sz="2400" dirty="0"/>
                  <a:t>Relations:</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1</m:t>
                          </m:r>
                        </m:sub>
                      </m:sSub>
                      <m:r>
                        <a:rPr lang="ar-AE" sz="2400">
                          <a:latin typeface="Cambria Math" panose="02040503050406030204" pitchFamily="18" charset="0"/>
                        </a:rPr>
                        <m:t>=</m:t>
                      </m:r>
                      <m:d>
                        <m:dPr>
                          <m:begChr m:val="{"/>
                          <m:endChr m:val="}"/>
                          <m:sepChr m:val=","/>
                          <m:ctrlPr>
                            <a:rPr lang="ar-AE" sz="2400" i="1">
                              <a:latin typeface="Cambria Math" panose="02040503050406030204" pitchFamily="18" charset="0"/>
                            </a:rPr>
                          </m:ctrlPr>
                        </m:dPr>
                        <m:e>
                          <m:d>
                            <m:dPr>
                              <m:sepChr m:val=","/>
                              <m:ctrlPr>
                                <a:rPr lang="ar-AE" sz="2400" i="1">
                                  <a:latin typeface="Cambria Math" panose="02040503050406030204" pitchFamily="18" charset="0"/>
                                </a:rPr>
                              </m:ctrlPr>
                            </m:dPr>
                            <m:e>
                              <m:r>
                                <a:rPr lang="ar-AE" sz="2400" i="1">
                                  <a:latin typeface="Cambria Math" panose="02040503050406030204" pitchFamily="18" charset="0"/>
                                </a:rPr>
                                <m:t>𝑝</m:t>
                              </m:r>
                            </m:e>
                            <m:e>
                              <m:r>
                                <a:rPr lang="ar-AE" sz="2400">
                                  <a:latin typeface="Cambria Math" panose="02040503050406030204" pitchFamily="18" charset="0"/>
                                </a:rPr>
                                <m:t>1</m:t>
                              </m:r>
                            </m:e>
                          </m:d>
                        </m:e>
                        <m:e>
                          <m:d>
                            <m:dPr>
                              <m:sepChr m:val=","/>
                              <m:ctrlPr>
                                <a:rPr lang="ar-AE" sz="2400" i="1">
                                  <a:latin typeface="Cambria Math" panose="02040503050406030204" pitchFamily="18" charset="0"/>
                                </a:rPr>
                              </m:ctrlPr>
                            </m:dPr>
                            <m:e>
                              <m:r>
                                <a:rPr lang="ar-AE" sz="2400" i="1">
                                  <a:latin typeface="Cambria Math" panose="02040503050406030204" pitchFamily="18" charset="0"/>
                                </a:rPr>
                                <m:t>𝑞</m:t>
                              </m:r>
                            </m:e>
                            <m:e>
                              <m:r>
                                <a:rPr lang="ar-AE" sz="2400">
                                  <a:latin typeface="Cambria Math" panose="02040503050406030204" pitchFamily="18" charset="0"/>
                                </a:rPr>
                                <m:t>2</m:t>
                              </m:r>
                            </m:e>
                          </m:d>
                        </m:e>
                      </m:d>
                    </m:oMath>
                  </m:oMathPara>
                </a14:m>
                <a:endParaRPr lang="ar-AE" sz="2400" dirty="0"/>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2</m:t>
                          </m:r>
                        </m:sub>
                      </m:sSub>
                      <m:r>
                        <a:rPr lang="ar-AE" sz="2400">
                          <a:latin typeface="Cambria Math" panose="02040503050406030204" pitchFamily="18" charset="0"/>
                        </a:rPr>
                        <m:t>=</m:t>
                      </m:r>
                      <m:d>
                        <m:dPr>
                          <m:begChr m:val="{"/>
                          <m:endChr m:val="}"/>
                          <m:sepChr m:val=","/>
                          <m:ctrlPr>
                            <a:rPr lang="ar-AE" sz="2400" i="1">
                              <a:latin typeface="Cambria Math" panose="02040503050406030204" pitchFamily="18" charset="0"/>
                            </a:rPr>
                          </m:ctrlPr>
                        </m:dPr>
                        <m:e>
                          <m:d>
                            <m:dPr>
                              <m:sepChr m:val=","/>
                              <m:ctrlPr>
                                <a:rPr lang="ar-AE" sz="2400" i="1">
                                  <a:latin typeface="Cambria Math" panose="02040503050406030204" pitchFamily="18" charset="0"/>
                                </a:rPr>
                              </m:ctrlPr>
                            </m:dPr>
                            <m:e>
                              <m:r>
                                <a:rPr lang="ar-AE" sz="2400">
                                  <a:latin typeface="Cambria Math" panose="02040503050406030204" pitchFamily="18" charset="0"/>
                                </a:rPr>
                                <m:t>1</m:t>
                              </m:r>
                            </m:e>
                            <m:e>
                              <m:r>
                                <a:rPr lang="ar-AE" sz="2400" i="1">
                                  <a:latin typeface="Cambria Math" panose="02040503050406030204" pitchFamily="18" charset="0"/>
                                </a:rPr>
                                <m:t>𝛼</m:t>
                              </m:r>
                            </m:e>
                          </m:d>
                        </m:e>
                        <m:e>
                          <m:d>
                            <m:dPr>
                              <m:sepChr m:val=","/>
                              <m:ctrlPr>
                                <a:rPr lang="ar-AE" sz="2400" i="1">
                                  <a:latin typeface="Cambria Math" panose="02040503050406030204" pitchFamily="18" charset="0"/>
                                </a:rPr>
                              </m:ctrlPr>
                            </m:dPr>
                            <m:e>
                              <m:r>
                                <a:rPr lang="ar-AE" sz="2400">
                                  <a:latin typeface="Cambria Math" panose="02040503050406030204" pitchFamily="18" charset="0"/>
                                </a:rPr>
                                <m:t>2</m:t>
                              </m:r>
                            </m:e>
                            <m:e>
                              <m:r>
                                <a:rPr lang="ar-AE" sz="2400" i="1">
                                  <a:latin typeface="Cambria Math" panose="02040503050406030204" pitchFamily="18" charset="0"/>
                                </a:rPr>
                                <m:t>𝛽</m:t>
                              </m:r>
                            </m:e>
                          </m:d>
                        </m:e>
                      </m:d>
                    </m:oMath>
                  </m:oMathPara>
                </a14:m>
                <a:endParaRPr lang="ar-AE" sz="2400" dirty="0"/>
              </a:p>
              <a:p>
                <a:r>
                  <a:rPr lang="en-US" sz="2400" b="1" dirty="0"/>
                  <a:t>Composition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1</m:t>
                        </m:r>
                      </m:sub>
                    </m:sSub>
                  </m:oMath>
                </a14:m>
                <a:r>
                  <a:rPr lang="ar-AE" sz="2400" b="1" dirty="0"/>
                  <a:t>:</a:t>
                </a:r>
                <a:endParaRPr lang="ar-AE" sz="2400" dirty="0"/>
              </a:p>
              <a:p>
                <a14:m>
                  <m:oMath xmlns:m="http://schemas.openxmlformats.org/officeDocument/2006/math">
                    <m:r>
                      <a:rPr lang="ar-AE" sz="2400" i="1">
                        <a:latin typeface="Cambria Math" panose="02040503050406030204" pitchFamily="18" charset="0"/>
                      </a:rPr>
                      <m:t>𝑝</m:t>
                    </m:r>
                  </m:oMath>
                </a14:m>
                <a:r>
                  <a:rPr lang="en-US" sz="2400" dirty="0"/>
                  <a:t>connects to 1 via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1</m:t>
                        </m:r>
                      </m:sub>
                    </m:sSub>
                  </m:oMath>
                </a14:m>
                <a:r>
                  <a:rPr lang="ar-AE" sz="2400" dirty="0"/>
                  <a:t>, </a:t>
                </a:r>
                <a:r>
                  <a:rPr lang="en-US" sz="2400" dirty="0"/>
                  <a:t>and 1 connects to </a:t>
                </a:r>
                <a14:m>
                  <m:oMath xmlns:m="http://schemas.openxmlformats.org/officeDocument/2006/math">
                    <m:r>
                      <a:rPr lang="en-US" sz="2400" i="1">
                        <a:latin typeface="Cambria Math" panose="02040503050406030204" pitchFamily="18" charset="0"/>
                      </a:rPr>
                      <m:t>𝛼</m:t>
                    </m:r>
                  </m:oMath>
                </a14:m>
                <a:r>
                  <a:rPr lang="en-US" sz="2400" dirty="0"/>
                  <a:t>via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2</m:t>
                        </m:r>
                      </m:sub>
                    </m:sSub>
                  </m:oMath>
                </a14:m>
                <a:r>
                  <a:rPr lang="ar-AE" sz="2400" dirty="0"/>
                  <a:t>→ </a:t>
                </a:r>
                <a:r>
                  <a:rPr lang="en-US" sz="2400" dirty="0"/>
                  <a:t>connect </a:t>
                </a:r>
                <a14:m>
                  <m:oMath xmlns:m="http://schemas.openxmlformats.org/officeDocument/2006/math">
                    <m:r>
                      <a:rPr lang="en-US" sz="2400" i="1">
                        <a:latin typeface="Cambria Math" panose="02040503050406030204" pitchFamily="18" charset="0"/>
                      </a:rPr>
                      <m:t>𝑝</m:t>
                    </m:r>
                  </m:oMath>
                </a14:m>
                <a:r>
                  <a:rPr lang="en-US" sz="2400" dirty="0"/>
                  <a:t>to </a:t>
                </a:r>
                <a14:m>
                  <m:oMath xmlns:m="http://schemas.openxmlformats.org/officeDocument/2006/math">
                    <m:r>
                      <a:rPr lang="en-US" sz="2400" i="1">
                        <a:latin typeface="Cambria Math" panose="02040503050406030204" pitchFamily="18" charset="0"/>
                      </a:rPr>
                      <m:t>𝛼</m:t>
                    </m:r>
                  </m:oMath>
                </a14:m>
                <a:endParaRPr lang="en-US" sz="2400" dirty="0"/>
              </a:p>
              <a:p>
                <a14:m>
                  <m:oMath xmlns:m="http://schemas.openxmlformats.org/officeDocument/2006/math">
                    <m:r>
                      <a:rPr lang="en-US" sz="2400" i="1">
                        <a:latin typeface="Cambria Math" panose="02040503050406030204" pitchFamily="18" charset="0"/>
                      </a:rPr>
                      <m:t>𝑞</m:t>
                    </m:r>
                  </m:oMath>
                </a14:m>
                <a:r>
                  <a:rPr lang="en-US" sz="2400" dirty="0"/>
                  <a:t>connects to 2 via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1</m:t>
                        </m:r>
                      </m:sub>
                    </m:sSub>
                  </m:oMath>
                </a14:m>
                <a:r>
                  <a:rPr lang="ar-AE" sz="2400" dirty="0"/>
                  <a:t>, </a:t>
                </a:r>
                <a:r>
                  <a:rPr lang="en-US" sz="2400" dirty="0"/>
                  <a:t>and 2 connects to </a:t>
                </a:r>
                <a14:m>
                  <m:oMath xmlns:m="http://schemas.openxmlformats.org/officeDocument/2006/math">
                    <m:r>
                      <a:rPr lang="en-US" sz="2400" i="1">
                        <a:latin typeface="Cambria Math" panose="02040503050406030204" pitchFamily="18" charset="0"/>
                      </a:rPr>
                      <m:t>𝛽</m:t>
                    </m:r>
                  </m:oMath>
                </a14:m>
                <a:r>
                  <a:rPr lang="en-US" sz="2400" dirty="0"/>
                  <a:t>via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2</m:t>
                        </m:r>
                      </m:sub>
                    </m:sSub>
                  </m:oMath>
                </a14:m>
                <a:r>
                  <a:rPr lang="ar-AE" sz="2400" dirty="0"/>
                  <a:t>→ </a:t>
                </a:r>
                <a:r>
                  <a:rPr lang="en-US" sz="2400" dirty="0"/>
                  <a:t>connect </a:t>
                </a:r>
                <a14:m>
                  <m:oMath xmlns:m="http://schemas.openxmlformats.org/officeDocument/2006/math">
                    <m:r>
                      <a:rPr lang="en-US" sz="2400" i="1">
                        <a:latin typeface="Cambria Math" panose="02040503050406030204" pitchFamily="18" charset="0"/>
                      </a:rPr>
                      <m:t>𝑞</m:t>
                    </m:r>
                  </m:oMath>
                </a14:m>
                <a:r>
                  <a:rPr lang="en-US" sz="2400" dirty="0"/>
                  <a:t>to </a:t>
                </a:r>
                <a14:m>
                  <m:oMath xmlns:m="http://schemas.openxmlformats.org/officeDocument/2006/math">
                    <m:r>
                      <a:rPr lang="en-US" sz="2400" i="1">
                        <a:latin typeface="Cambria Math" panose="02040503050406030204" pitchFamily="18" charset="0"/>
                      </a:rPr>
                      <m:t>𝛽</m:t>
                    </m:r>
                  </m:oMath>
                </a14:m>
                <a:endParaRPr lang="en-US" sz="2400" dirty="0"/>
              </a:p>
              <a:p>
                <a:r>
                  <a:rPr lang="en-US" sz="2400" dirty="0"/>
                  <a:t>So,</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𝑅</m:t>
                          </m:r>
                        </m:e>
                        <m:sub>
                          <m:r>
                            <a:rPr lang="ar-AE" sz="2400">
                              <a:latin typeface="Cambria Math" panose="02040503050406030204" pitchFamily="18" charset="0"/>
                            </a:rPr>
                            <m:t>1</m:t>
                          </m:r>
                        </m:sub>
                      </m:sSub>
                      <m:r>
                        <a:rPr lang="ar-AE" sz="2400">
                          <a:latin typeface="Cambria Math" panose="02040503050406030204" pitchFamily="18" charset="0"/>
                        </a:rPr>
                        <m:t>=</m:t>
                      </m:r>
                      <m:d>
                        <m:dPr>
                          <m:begChr m:val="{"/>
                          <m:endChr m:val="}"/>
                          <m:sepChr m:val=","/>
                          <m:ctrlPr>
                            <a:rPr lang="ar-AE" sz="2400" i="1">
                              <a:latin typeface="Cambria Math" panose="02040503050406030204" pitchFamily="18" charset="0"/>
                            </a:rPr>
                          </m:ctrlPr>
                        </m:dPr>
                        <m:e>
                          <m:d>
                            <m:dPr>
                              <m:sepChr m:val=","/>
                              <m:ctrlPr>
                                <a:rPr lang="ar-AE" sz="2400" i="1">
                                  <a:latin typeface="Cambria Math" panose="02040503050406030204" pitchFamily="18" charset="0"/>
                                </a:rPr>
                              </m:ctrlPr>
                            </m:dPr>
                            <m:e>
                              <m:r>
                                <a:rPr lang="ar-AE" sz="2400" i="1">
                                  <a:latin typeface="Cambria Math" panose="02040503050406030204" pitchFamily="18" charset="0"/>
                                </a:rPr>
                                <m:t>𝑝</m:t>
                              </m:r>
                            </m:e>
                            <m:e>
                              <m:r>
                                <a:rPr lang="ar-AE" sz="2400" i="1">
                                  <a:latin typeface="Cambria Math" panose="02040503050406030204" pitchFamily="18" charset="0"/>
                                </a:rPr>
                                <m:t>𝛼</m:t>
                              </m:r>
                            </m:e>
                          </m:d>
                        </m:e>
                        <m:e>
                          <m:d>
                            <m:dPr>
                              <m:sepChr m:val=","/>
                              <m:ctrlPr>
                                <a:rPr lang="ar-AE" sz="2400" i="1">
                                  <a:latin typeface="Cambria Math" panose="02040503050406030204" pitchFamily="18" charset="0"/>
                                </a:rPr>
                              </m:ctrlPr>
                            </m:dPr>
                            <m:e>
                              <m:r>
                                <a:rPr lang="ar-AE" sz="2400" i="1">
                                  <a:latin typeface="Cambria Math" panose="02040503050406030204" pitchFamily="18" charset="0"/>
                                </a:rPr>
                                <m:t>𝑞</m:t>
                              </m:r>
                            </m:e>
                            <m:e>
                              <m:r>
                                <a:rPr lang="ar-AE" sz="2400" i="1">
                                  <a:latin typeface="Cambria Math" panose="02040503050406030204" pitchFamily="18" charset="0"/>
                                </a:rPr>
                                <m:t>𝛽</m:t>
                              </m:r>
                            </m:e>
                          </m:d>
                        </m:e>
                      </m:d>
                    </m:oMath>
                  </m:oMathPara>
                </a14:m>
                <a:endParaRPr lang="ar-AE" sz="2400" dirty="0"/>
              </a:p>
              <a:p>
                <a:endParaRPr lang="en-US" sz="2400" b="1" dirty="0">
                  <a:solidFill>
                    <a:srgbClr val="0070C0"/>
                  </a:solidFill>
                </a:endParaRPr>
              </a:p>
            </p:txBody>
          </p:sp>
        </mc:Choice>
        <mc:Fallback xmlns="">
          <p:sp>
            <p:nvSpPr>
              <p:cNvPr id="3" name="Content Placeholder 2">
                <a:extLst>
                  <a:ext uri="{FF2B5EF4-FFF2-40B4-BE49-F238E27FC236}">
                    <a16:creationId xmlns:a16="http://schemas.microsoft.com/office/drawing/2014/main" id="{6E828DE5-D5D4-37BA-F4D9-C35DFB0F7CDF}"/>
                  </a:ext>
                </a:extLst>
              </p:cNvPr>
              <p:cNvSpPr txBox="1">
                <a:spLocks noRot="1" noChangeAspect="1" noMove="1" noResize="1" noEditPoints="1" noAdjustHandles="1" noChangeArrowheads="1" noChangeShapeType="1" noTextEdit="1"/>
              </p:cNvSpPr>
              <p:nvPr/>
            </p:nvSpPr>
            <p:spPr>
              <a:xfrm>
                <a:off x="38100" y="2590800"/>
                <a:ext cx="9220200" cy="2819400"/>
              </a:xfrm>
              <a:prstGeom prst="rect">
                <a:avLst/>
              </a:prstGeom>
              <a:blipFill>
                <a:blip r:embed="rId2"/>
                <a:stretch>
                  <a:fillRect l="-991" t="-1728" b="-23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FF68B95-A4AC-52CC-9DD4-E2E28D798221}"/>
                  </a:ext>
                </a:extLst>
              </p:cNvPr>
              <p:cNvSpPr txBox="1"/>
              <p:nvPr/>
            </p:nvSpPr>
            <p:spPr>
              <a:xfrm>
                <a:off x="228600" y="1002090"/>
                <a:ext cx="6273596" cy="1569660"/>
              </a:xfrm>
              <a:prstGeom prst="rect">
                <a:avLst/>
              </a:prstGeom>
              <a:noFill/>
            </p:spPr>
            <p:txBody>
              <a:bodyPr wrap="square">
                <a:spAutoFit/>
              </a:bodyPr>
              <a:lstStyle/>
              <a:p>
                <a:r>
                  <a:rPr lang="en-US" sz="2400" dirty="0"/>
                  <a:t>Let</a:t>
                </a: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𝐴</m:t>
                      </m:r>
                      <m:r>
                        <a:rPr lang="en-US" sz="2400">
                          <a:latin typeface="Cambria Math" panose="02040503050406030204" pitchFamily="18" charset="0"/>
                        </a:rPr>
                        <m:t>=</m:t>
                      </m:r>
                      <m:d>
                        <m:dPr>
                          <m:begChr m:val="{"/>
                          <m:endChr m:val="}"/>
                          <m:sepChr m:val=","/>
                          <m:ctrlPr>
                            <a:rPr lang="ar-AE" sz="2400" i="1">
                              <a:latin typeface="Cambria Math" panose="02040503050406030204" pitchFamily="18" charset="0"/>
                            </a:rPr>
                          </m:ctrlPr>
                        </m:dPr>
                        <m:e>
                          <m:r>
                            <a:rPr lang="ar-AE" sz="2400" i="1">
                              <a:latin typeface="Cambria Math" panose="02040503050406030204" pitchFamily="18" charset="0"/>
                            </a:rPr>
                            <m:t>𝑝</m:t>
                          </m:r>
                        </m:e>
                        <m:e>
                          <m:r>
                            <a:rPr lang="ar-AE" sz="2400" i="1">
                              <a:latin typeface="Cambria Math" panose="02040503050406030204" pitchFamily="18" charset="0"/>
                            </a:rPr>
                            <m:t>𝑞</m:t>
                          </m:r>
                        </m:e>
                      </m:d>
                    </m:oMath>
                  </m:oMathPara>
                </a14:m>
                <a:endParaRPr lang="ar-AE" sz="2400" dirty="0"/>
              </a:p>
              <a:p>
                <a:pPr/>
                <a14:m>
                  <m:oMathPara xmlns:m="http://schemas.openxmlformats.org/officeDocument/2006/math">
                    <m:oMathParaPr>
                      <m:jc m:val="centerGroup"/>
                    </m:oMathParaPr>
                    <m:oMath xmlns:m="http://schemas.openxmlformats.org/officeDocument/2006/math">
                      <m:r>
                        <a:rPr lang="ar-AE" sz="2400" i="1">
                          <a:latin typeface="Cambria Math" panose="02040503050406030204" pitchFamily="18" charset="0"/>
                        </a:rPr>
                        <m:t>𝐵</m:t>
                      </m:r>
                      <m:r>
                        <a:rPr lang="ar-AE" sz="2400">
                          <a:latin typeface="Cambria Math" panose="02040503050406030204" pitchFamily="18" charset="0"/>
                        </a:rPr>
                        <m:t>=</m:t>
                      </m:r>
                      <m:d>
                        <m:dPr>
                          <m:begChr m:val="{"/>
                          <m:endChr m:val="}"/>
                          <m:sepChr m:val=","/>
                          <m:ctrlPr>
                            <a:rPr lang="ar-AE" sz="2400" i="1">
                              <a:latin typeface="Cambria Math" panose="02040503050406030204" pitchFamily="18" charset="0"/>
                            </a:rPr>
                          </m:ctrlPr>
                        </m:dPr>
                        <m:e>
                          <m:r>
                            <a:rPr lang="ar-AE" sz="2400">
                              <a:latin typeface="Cambria Math" panose="02040503050406030204" pitchFamily="18" charset="0"/>
                            </a:rPr>
                            <m:t>1</m:t>
                          </m:r>
                        </m:e>
                        <m:e>
                          <m:r>
                            <a:rPr lang="ar-AE" sz="2400">
                              <a:latin typeface="Cambria Math" panose="02040503050406030204" pitchFamily="18" charset="0"/>
                            </a:rPr>
                            <m:t>2</m:t>
                          </m:r>
                        </m:e>
                      </m:d>
                    </m:oMath>
                  </m:oMathPara>
                </a14:m>
                <a:endParaRPr lang="ar-AE" sz="2400" dirty="0"/>
              </a:p>
              <a:p>
                <a:pPr/>
                <a14:m>
                  <m:oMathPara xmlns:m="http://schemas.openxmlformats.org/officeDocument/2006/math">
                    <m:oMathParaPr>
                      <m:jc m:val="centerGroup"/>
                    </m:oMathParaPr>
                    <m:oMath xmlns:m="http://schemas.openxmlformats.org/officeDocument/2006/math">
                      <m:r>
                        <a:rPr lang="ar-AE" sz="2400" i="1">
                          <a:latin typeface="Cambria Math" panose="02040503050406030204" pitchFamily="18" charset="0"/>
                        </a:rPr>
                        <m:t>𝐶</m:t>
                      </m:r>
                      <m:r>
                        <a:rPr lang="ar-AE" sz="2400">
                          <a:latin typeface="Cambria Math" panose="02040503050406030204" pitchFamily="18" charset="0"/>
                        </a:rPr>
                        <m:t>=</m:t>
                      </m:r>
                      <m:d>
                        <m:dPr>
                          <m:begChr m:val="{"/>
                          <m:endChr m:val="}"/>
                          <m:sepChr m:val=","/>
                          <m:ctrlPr>
                            <a:rPr lang="ar-AE" sz="2400" i="1">
                              <a:latin typeface="Cambria Math" panose="02040503050406030204" pitchFamily="18" charset="0"/>
                            </a:rPr>
                          </m:ctrlPr>
                        </m:dPr>
                        <m:e>
                          <m:r>
                            <a:rPr lang="ar-AE" sz="2400" i="1">
                              <a:latin typeface="Cambria Math" panose="02040503050406030204" pitchFamily="18" charset="0"/>
                            </a:rPr>
                            <m:t>𝛼</m:t>
                          </m:r>
                        </m:e>
                        <m:e>
                          <m:r>
                            <a:rPr lang="ar-AE" sz="2400" i="1">
                              <a:latin typeface="Cambria Math" panose="02040503050406030204" pitchFamily="18" charset="0"/>
                            </a:rPr>
                            <m:t>𝛽</m:t>
                          </m:r>
                        </m:e>
                      </m:d>
                    </m:oMath>
                  </m:oMathPara>
                </a14:m>
                <a:endParaRPr lang="en-US" sz="2400" dirty="0"/>
              </a:p>
            </p:txBody>
          </p:sp>
        </mc:Choice>
        <mc:Fallback xmlns="">
          <p:sp>
            <p:nvSpPr>
              <p:cNvPr id="5" name="TextBox 4">
                <a:extLst>
                  <a:ext uri="{FF2B5EF4-FFF2-40B4-BE49-F238E27FC236}">
                    <a16:creationId xmlns:a16="http://schemas.microsoft.com/office/drawing/2014/main" id="{9FF68B95-A4AC-52CC-9DD4-E2E28D798221}"/>
                  </a:ext>
                </a:extLst>
              </p:cNvPr>
              <p:cNvSpPr txBox="1">
                <a:spLocks noRot="1" noChangeAspect="1" noMove="1" noResize="1" noEditPoints="1" noAdjustHandles="1" noChangeArrowheads="1" noChangeShapeType="1" noTextEdit="1"/>
              </p:cNvSpPr>
              <p:nvPr/>
            </p:nvSpPr>
            <p:spPr>
              <a:xfrm>
                <a:off x="228600" y="1002090"/>
                <a:ext cx="6273596" cy="1569660"/>
              </a:xfrm>
              <a:prstGeom prst="rect">
                <a:avLst/>
              </a:prstGeom>
              <a:blipFill>
                <a:blip r:embed="rId3"/>
                <a:stretch>
                  <a:fillRect l="-1555" t="-2713" b="-5039"/>
                </a:stretch>
              </a:blipFill>
            </p:spPr>
            <p:txBody>
              <a:bodyPr/>
              <a:lstStyle/>
              <a:p>
                <a:r>
                  <a:rPr lang="en-US">
                    <a:noFill/>
                  </a:rPr>
                  <a:t> </a:t>
                </a:r>
              </a:p>
            </p:txBody>
          </p:sp>
        </mc:Fallback>
      </mc:AlternateContent>
    </p:spTree>
    <p:extLst>
      <p:ext uri="{BB962C8B-B14F-4D97-AF65-F5344CB8AC3E}">
        <p14:creationId xmlns:p14="http://schemas.microsoft.com/office/powerpoint/2010/main" val="214117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720" y="228600"/>
            <a:ext cx="8229600" cy="1143000"/>
          </a:xfrm>
        </p:spPr>
        <p:txBody>
          <a:bodyPr>
            <a:normAutofit/>
          </a:bodyPr>
          <a:lstStyle/>
          <a:p>
            <a:r>
              <a:rPr lang="en-US" dirty="0"/>
              <a:t>Power of a Relation</a:t>
            </a:r>
          </a:p>
        </p:txBody>
      </p:sp>
      <p:sp>
        <p:nvSpPr>
          <p:cNvPr id="3" name="Content Placeholder 2"/>
          <p:cNvSpPr>
            <a:spLocks noGrp="1"/>
          </p:cNvSpPr>
          <p:nvPr>
            <p:ph idx="1"/>
          </p:nvPr>
        </p:nvSpPr>
        <p:spPr>
          <a:xfrm>
            <a:off x="161925" y="914400"/>
            <a:ext cx="7305675" cy="4389120"/>
          </a:xfrm>
        </p:spPr>
        <p:txBody>
          <a:bodyPr>
            <a:noAutofit/>
          </a:bodyPr>
          <a:lstStyle/>
          <a:p>
            <a:pPr>
              <a:buNone/>
            </a:pPr>
            <a:r>
              <a:rPr lang="en-US" sz="2000" b="1" dirty="0">
                <a:latin typeface="+mn-lt"/>
              </a:rPr>
              <a:t>Powers</a:t>
            </a:r>
            <a:r>
              <a:rPr lang="en-US" sz="2000" dirty="0">
                <a:latin typeface="+mn-lt"/>
              </a:rPr>
              <a:t> of a relation mean applying the same relation again and again.</a:t>
            </a:r>
          </a:p>
          <a:p>
            <a:pPr>
              <a:buNone/>
            </a:pPr>
            <a:r>
              <a:rPr lang="en-US" sz="2000" dirty="0">
                <a:latin typeface="+mn-lt"/>
              </a:rPr>
              <a:t>Let </a:t>
            </a:r>
            <a:r>
              <a:rPr lang="en-US" sz="2000" b="1" i="1" dirty="0">
                <a:latin typeface="+mn-lt"/>
              </a:rPr>
              <a:t>R</a:t>
            </a:r>
            <a:r>
              <a:rPr lang="en-US" sz="2000" dirty="0">
                <a:latin typeface="+mn-lt"/>
              </a:rPr>
              <a:t> be a binary relation on </a:t>
            </a:r>
            <a:r>
              <a:rPr lang="en-US" sz="2000" b="1" i="1" dirty="0">
                <a:latin typeface="+mn-lt"/>
              </a:rPr>
              <a:t>A</a:t>
            </a:r>
            <a:r>
              <a:rPr lang="en-US" sz="2000" dirty="0">
                <a:latin typeface="+mn-lt"/>
              </a:rPr>
              <a:t>. Then the powers </a:t>
            </a:r>
            <a:r>
              <a:rPr lang="en-US" sz="2000" b="1" i="1" dirty="0">
                <a:latin typeface="+mn-lt"/>
              </a:rPr>
              <a:t>R</a:t>
            </a:r>
            <a:r>
              <a:rPr lang="en-US" sz="2000" b="1" i="1" baseline="30000" dirty="0">
                <a:latin typeface="+mn-lt"/>
              </a:rPr>
              <a:t>n</a:t>
            </a:r>
            <a:r>
              <a:rPr lang="en-US" sz="2000" dirty="0">
                <a:latin typeface="+mn-lt"/>
              </a:rPr>
              <a:t> of the relation </a:t>
            </a:r>
            <a:r>
              <a:rPr lang="en-US" sz="2000" b="1" i="1" dirty="0">
                <a:latin typeface="+mn-lt"/>
              </a:rPr>
              <a:t>R</a:t>
            </a:r>
            <a:r>
              <a:rPr lang="en-US" sz="2000" dirty="0">
                <a:latin typeface="+mn-lt"/>
              </a:rPr>
              <a:t> can be defined inductively by:</a:t>
            </a:r>
          </a:p>
          <a:p>
            <a:pPr marL="342900" indent="-342900">
              <a:buFont typeface="Arial" panose="020B0604020202020204" pitchFamily="34" charset="0"/>
              <a:buChar char="•"/>
            </a:pPr>
            <a:r>
              <a:rPr lang="en-US" sz="2000" b="1" dirty="0">
                <a:latin typeface="+mn-lt"/>
              </a:rPr>
              <a:t>Basis Step:  </a:t>
            </a:r>
            <a:r>
              <a:rPr lang="en-US" sz="2000" b="1" i="1" dirty="0">
                <a:latin typeface="+mn-lt"/>
              </a:rPr>
              <a:t>R</a:t>
            </a:r>
            <a:r>
              <a:rPr lang="en-US" sz="2000" b="1" baseline="30000" dirty="0">
                <a:latin typeface="+mn-lt"/>
                <a:ea typeface="Cambria Math" pitchFamily="18" charset="0"/>
              </a:rPr>
              <a:t>1</a:t>
            </a:r>
            <a:r>
              <a:rPr lang="en-US" sz="2000" b="1" dirty="0">
                <a:latin typeface="+mn-lt"/>
              </a:rPr>
              <a:t> = </a:t>
            </a:r>
            <a:r>
              <a:rPr lang="en-US" sz="2000" b="1" i="1" dirty="0">
                <a:latin typeface="+mn-lt"/>
              </a:rPr>
              <a:t>R   </a:t>
            </a:r>
          </a:p>
          <a:p>
            <a:pPr lvl="1"/>
            <a:r>
              <a:rPr lang="en-US" sz="2000" b="1" i="1" dirty="0">
                <a:solidFill>
                  <a:srgbClr val="0070C0"/>
                </a:solidFill>
                <a:latin typeface="+mn-lt"/>
              </a:rPr>
              <a:t>(</a:t>
            </a:r>
            <a:r>
              <a:rPr lang="en-US" sz="2000" b="1" dirty="0">
                <a:solidFill>
                  <a:srgbClr val="0070C0"/>
                </a:solidFill>
                <a:latin typeface="+mn-lt"/>
              </a:rPr>
              <a:t>The first power is just the relation itself)</a:t>
            </a:r>
            <a:endParaRPr lang="en-US" sz="2000" b="1" i="1" dirty="0">
              <a:solidFill>
                <a:srgbClr val="0070C0"/>
              </a:solidFill>
              <a:latin typeface="+mn-lt"/>
            </a:endParaRPr>
          </a:p>
          <a:p>
            <a:pPr marL="342900" indent="-342900" algn="l">
              <a:buFont typeface="Arial" panose="020B0604020202020204" pitchFamily="34" charset="0"/>
              <a:buChar char="•"/>
            </a:pPr>
            <a:r>
              <a:rPr lang="en-US" sz="2000" b="1" dirty="0">
                <a:latin typeface="+mn-lt"/>
              </a:rPr>
              <a:t>Inductive Step:  </a:t>
            </a:r>
            <a:r>
              <a:rPr lang="en-US" sz="2000" b="1" i="1" dirty="0">
                <a:latin typeface="+mn-lt"/>
              </a:rPr>
              <a:t>R</a:t>
            </a:r>
            <a:r>
              <a:rPr lang="en-US" sz="2000" b="1" i="1" baseline="30000" dirty="0">
                <a:latin typeface="+mn-lt"/>
              </a:rPr>
              <a:t>n</a:t>
            </a:r>
            <a:r>
              <a:rPr lang="en-US" sz="2000" b="1" baseline="30000" dirty="0">
                <a:latin typeface="+mn-lt"/>
              </a:rPr>
              <a:t>+</a:t>
            </a:r>
            <a:r>
              <a:rPr lang="en-US" sz="2000" b="1" baseline="30000" dirty="0">
                <a:latin typeface="+mn-lt"/>
                <a:ea typeface="Cambria Math" pitchFamily="18" charset="0"/>
              </a:rPr>
              <a:t>1</a:t>
            </a:r>
            <a:r>
              <a:rPr lang="en-US" sz="2000" dirty="0">
                <a:latin typeface="+mn-lt"/>
              </a:rPr>
              <a:t> = </a:t>
            </a:r>
            <a:r>
              <a:rPr lang="en-US" sz="2000" i="1" dirty="0">
                <a:latin typeface="+mn-lt"/>
              </a:rPr>
              <a:t>R</a:t>
            </a:r>
            <a:r>
              <a:rPr lang="en-US" sz="2000" i="1" baseline="30000" dirty="0">
                <a:latin typeface="+mn-lt"/>
              </a:rPr>
              <a:t>n</a:t>
            </a:r>
            <a:r>
              <a:rPr lang="en-US" sz="2000" b="1" baseline="30000" dirty="0">
                <a:latin typeface="+mn-lt"/>
              </a:rPr>
              <a:t> </a:t>
            </a:r>
            <a:r>
              <a:rPr lang="en-US" sz="2000" b="1" dirty="0">
                <a:latin typeface="+mn-lt"/>
                <a:ea typeface="Cambria Math"/>
              </a:rPr>
              <a:t>∘</a:t>
            </a:r>
            <a:r>
              <a:rPr lang="en-US" sz="2000" dirty="0">
                <a:latin typeface="+mn-lt"/>
              </a:rPr>
              <a:t> </a:t>
            </a:r>
            <a:r>
              <a:rPr lang="en-US" sz="2000" b="1" i="1" dirty="0">
                <a:latin typeface="+mn-lt"/>
              </a:rPr>
              <a:t>R</a:t>
            </a:r>
            <a:r>
              <a:rPr lang="en-US" sz="2000" b="1" i="1" dirty="0">
                <a:solidFill>
                  <a:srgbClr val="0070C0"/>
                </a:solidFill>
                <a:latin typeface="+mn-lt"/>
              </a:rPr>
              <a:t>  means</a:t>
            </a:r>
          </a:p>
          <a:p>
            <a:pPr algn="ctr"/>
            <a:r>
              <a:rPr lang="en-US" sz="2000" dirty="0">
                <a:latin typeface="+mn-lt"/>
              </a:rPr>
              <a:t>R^2=R∘R</a:t>
            </a:r>
          </a:p>
          <a:p>
            <a:pPr algn="ctr"/>
            <a:r>
              <a:rPr lang="en-US" sz="2000" dirty="0">
                <a:latin typeface="+mn-lt"/>
              </a:rPr>
              <a:t>𝑅^3=𝑅^2∘𝑅</a:t>
            </a:r>
            <a:br>
              <a:rPr lang="en-US" sz="2000" dirty="0">
                <a:latin typeface="+mn-lt"/>
              </a:rPr>
            </a:br>
            <a:r>
              <a:rPr lang="en-US" sz="2000" dirty="0">
                <a:latin typeface="+mn-lt"/>
              </a:rPr>
              <a:t>𝑅^4=𝑅^3∘𝑅</a:t>
            </a:r>
          </a:p>
          <a:p>
            <a:pPr algn="l"/>
            <a:r>
              <a:rPr lang="en-US" sz="2000" b="1" dirty="0">
                <a:solidFill>
                  <a:srgbClr val="CC0066"/>
                </a:solidFill>
                <a:latin typeface="+mn-lt"/>
              </a:rPr>
              <a:t>Each time:</a:t>
            </a:r>
          </a:p>
          <a:p>
            <a:pPr algn="l"/>
            <a:r>
              <a:rPr lang="en-US" sz="2000" dirty="0">
                <a:solidFill>
                  <a:srgbClr val="CC0066"/>
                </a:solidFill>
                <a:latin typeface="+mn-lt"/>
              </a:rPr>
              <a:t>Take previous result </a:t>
            </a:r>
          </a:p>
          <a:p>
            <a:pPr algn="l"/>
            <a:r>
              <a:rPr lang="en-US" sz="2000" dirty="0">
                <a:solidFill>
                  <a:srgbClr val="CC0066"/>
                </a:solidFill>
                <a:latin typeface="+mn-lt"/>
              </a:rPr>
              <a:t>Apply relation again</a:t>
            </a:r>
          </a:p>
          <a:p>
            <a:endParaRPr lang="en-US" sz="2000" b="1" i="1" dirty="0">
              <a:solidFill>
                <a:srgbClr val="0070C0"/>
              </a:solidFill>
              <a:latin typeface="+mn-lt"/>
            </a:endParaRPr>
          </a:p>
          <a:p>
            <a:pPr lvl="1">
              <a:buNone/>
            </a:pPr>
            <a:endParaRPr lang="en-US" sz="2000" dirty="0">
              <a:latin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4A22A-CBA5-E1B8-27DD-2447A55F1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27B2B1-FD7D-1391-E6DF-CF69DE330E7E}"/>
              </a:ext>
            </a:extLst>
          </p:cNvPr>
          <p:cNvSpPr>
            <a:spLocks noGrp="1"/>
          </p:cNvSpPr>
          <p:nvPr>
            <p:ph type="title"/>
          </p:nvPr>
        </p:nvSpPr>
        <p:spPr>
          <a:xfrm>
            <a:off x="426720" y="228600"/>
            <a:ext cx="8229600" cy="1143000"/>
          </a:xfrm>
        </p:spPr>
        <p:txBody>
          <a:bodyPr>
            <a:normAutofit/>
          </a:bodyPr>
          <a:lstStyle/>
          <a:p>
            <a:r>
              <a:rPr lang="en-US" dirty="0"/>
              <a:t>Power-Example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D7E18E-9942-8327-5C4F-043795A698E6}"/>
                  </a:ext>
                </a:extLst>
              </p:cNvPr>
              <p:cNvSpPr>
                <a:spLocks noGrp="1"/>
              </p:cNvSpPr>
              <p:nvPr>
                <p:ph idx="1"/>
              </p:nvPr>
            </p:nvSpPr>
            <p:spPr>
              <a:xfrm>
                <a:off x="487680" y="800100"/>
                <a:ext cx="7696200" cy="4389120"/>
              </a:xfrm>
            </p:spPr>
            <p:txBody>
              <a:bodyPr>
                <a:noAutofit/>
              </a:bodyPr>
              <a:lstStyle/>
              <a:p>
                <a:pPr>
                  <a:buNone/>
                </a:pPr>
                <a:r>
                  <a:rPr lang="en-US" sz="1600" b="1" dirty="0">
                    <a:latin typeface="+mn-lt"/>
                  </a:rPr>
                  <a:t>Given Relation </a:t>
                </a:r>
                <a:r>
                  <a:rPr lang="en-US" sz="1600" b="1" dirty="0">
                    <a:solidFill>
                      <a:srgbClr val="CC0066"/>
                    </a:solidFill>
                    <a:latin typeface="+mn-lt"/>
                  </a:rPr>
                  <a:t>𝑅={(𝑎,𝑏),(𝑏,𝑐),(𝑐,𝑑)}</a:t>
                </a:r>
              </a:p>
              <a:p>
                <a:pPr>
                  <a:buNone/>
                </a:pPr>
                <a:endParaRPr lang="en-US" sz="1600" b="1" dirty="0">
                  <a:solidFill>
                    <a:srgbClr val="CC0066"/>
                  </a:solidFill>
                  <a:latin typeface="+mn-lt"/>
                </a:endParaRPr>
              </a:p>
              <a:p>
                <a:pPr>
                  <a:buNone/>
                </a:pPr>
                <a:r>
                  <a:rPr lang="en-US" sz="1600" b="1" dirty="0">
                    <a:solidFill>
                      <a:schemeClr val="accent6">
                        <a:lumMod val="75000"/>
                      </a:schemeClr>
                    </a:solidFill>
                    <a:latin typeface="+mn-lt"/>
                  </a:rPr>
                  <a:t>Step 1: </a:t>
                </a:r>
                <a14:m>
                  <m:oMath xmlns:m="http://schemas.openxmlformats.org/officeDocument/2006/math">
                    <m:sSup>
                      <m:sSupPr>
                        <m:ctrlPr>
                          <a:rPr lang="ar-AE" sz="1600" b="1" i="1">
                            <a:solidFill>
                              <a:schemeClr val="tx2"/>
                            </a:solidFill>
                            <a:latin typeface="Cambria Math" panose="02040503050406030204" pitchFamily="18" charset="0"/>
                          </a:rPr>
                        </m:ctrlPr>
                      </m:sSupPr>
                      <m:e>
                        <m:r>
                          <a:rPr lang="ar-AE" sz="1600" b="1" i="1">
                            <a:solidFill>
                              <a:schemeClr val="tx2"/>
                            </a:solidFill>
                            <a:latin typeface="Cambria Math" panose="02040503050406030204" pitchFamily="18" charset="0"/>
                          </a:rPr>
                          <m:t>𝑹</m:t>
                        </m:r>
                      </m:e>
                      <m:sup>
                        <m:r>
                          <a:rPr lang="en-US" sz="1600" b="1" i="1" smtClean="0">
                            <a:solidFill>
                              <a:schemeClr val="tx2"/>
                            </a:solidFill>
                            <a:latin typeface="Cambria Math" panose="02040503050406030204" pitchFamily="18" charset="0"/>
                          </a:rPr>
                          <m:t>𝟏</m:t>
                        </m:r>
                      </m:sup>
                    </m:sSup>
                    <m:r>
                      <a:rPr lang="ar-AE" sz="1600" b="1" i="1">
                        <a:solidFill>
                          <a:schemeClr val="tx2"/>
                        </a:solidFill>
                        <a:latin typeface="Cambria Math" panose="02040503050406030204" pitchFamily="18" charset="0"/>
                      </a:rPr>
                      <m:t> </m:t>
                    </m:r>
                  </m:oMath>
                </a14:m>
                <a:r>
                  <a:rPr lang="en-US" sz="1600" dirty="0">
                    <a:solidFill>
                      <a:schemeClr val="tx2"/>
                    </a:solidFill>
                    <a:latin typeface="+mn-lt"/>
                  </a:rPr>
                  <a:t>=   </a:t>
                </a:r>
                <a:r>
                  <a:rPr lang="en-US" sz="1600" b="1" dirty="0">
                    <a:solidFill>
                      <a:srgbClr val="7030A0"/>
                    </a:solidFill>
                    <a:latin typeface="+mn-lt"/>
                  </a:rPr>
                  <a:t>R ={(</a:t>
                </a:r>
                <a:r>
                  <a:rPr lang="en-US" sz="1600" b="1" dirty="0" err="1">
                    <a:solidFill>
                      <a:srgbClr val="7030A0"/>
                    </a:solidFill>
                    <a:latin typeface="+mn-lt"/>
                  </a:rPr>
                  <a:t>a,b</a:t>
                </a:r>
                <a:r>
                  <a:rPr lang="en-US" sz="1600" b="1" dirty="0">
                    <a:solidFill>
                      <a:srgbClr val="7030A0"/>
                    </a:solidFill>
                    <a:latin typeface="+mn-lt"/>
                  </a:rPr>
                  <a:t>),(</a:t>
                </a:r>
                <a:r>
                  <a:rPr lang="en-US" sz="1600" b="1" dirty="0" err="1">
                    <a:solidFill>
                      <a:srgbClr val="7030A0"/>
                    </a:solidFill>
                    <a:latin typeface="+mn-lt"/>
                  </a:rPr>
                  <a:t>b,c</a:t>
                </a:r>
                <a:r>
                  <a:rPr lang="en-US" sz="1600" b="1" dirty="0">
                    <a:solidFill>
                      <a:srgbClr val="7030A0"/>
                    </a:solidFill>
                    <a:latin typeface="+mn-lt"/>
                  </a:rPr>
                  <a:t>),(</a:t>
                </a:r>
                <a:r>
                  <a:rPr lang="en-US" sz="1600" b="1" dirty="0" err="1">
                    <a:solidFill>
                      <a:srgbClr val="7030A0"/>
                    </a:solidFill>
                    <a:latin typeface="+mn-lt"/>
                  </a:rPr>
                  <a:t>c,d</a:t>
                </a:r>
                <a:r>
                  <a:rPr lang="en-US" sz="1600" b="1" dirty="0">
                    <a:solidFill>
                      <a:srgbClr val="7030A0"/>
                    </a:solidFill>
                    <a:latin typeface="+mn-lt"/>
                  </a:rPr>
                  <a:t>)}</a:t>
                </a:r>
              </a:p>
              <a:p>
                <a:pPr>
                  <a:buNone/>
                </a:pPr>
                <a:r>
                  <a:rPr lang="en-US" sz="1600" b="1" dirty="0">
                    <a:solidFill>
                      <a:schemeClr val="accent6">
                        <a:lumMod val="75000"/>
                      </a:schemeClr>
                    </a:solidFill>
                    <a:latin typeface="+mn-lt"/>
                  </a:rPr>
                  <a:t>Step 2: </a:t>
                </a:r>
                <a14:m>
                  <m:oMath xmlns:m="http://schemas.openxmlformats.org/officeDocument/2006/math">
                    <m:sSup>
                      <m:sSupPr>
                        <m:ctrlPr>
                          <a:rPr lang="ar-AE" sz="1600" b="1" i="1">
                            <a:solidFill>
                              <a:schemeClr val="tx2"/>
                            </a:solidFill>
                            <a:latin typeface="Cambria Math" panose="02040503050406030204" pitchFamily="18" charset="0"/>
                          </a:rPr>
                        </m:ctrlPr>
                      </m:sSupPr>
                      <m:e>
                        <m:r>
                          <a:rPr lang="ar-AE" sz="1600" b="1" i="1">
                            <a:solidFill>
                              <a:schemeClr val="tx2"/>
                            </a:solidFill>
                            <a:latin typeface="Cambria Math" panose="02040503050406030204" pitchFamily="18" charset="0"/>
                          </a:rPr>
                          <m:t>𝑹</m:t>
                        </m:r>
                      </m:e>
                      <m:sup>
                        <m:r>
                          <a:rPr lang="ar-AE" sz="1600" b="1" i="1">
                            <a:solidFill>
                              <a:schemeClr val="tx2"/>
                            </a:solidFill>
                            <a:latin typeface="Cambria Math" panose="02040503050406030204" pitchFamily="18" charset="0"/>
                          </a:rPr>
                          <m:t>𝟐</m:t>
                        </m:r>
                      </m:sup>
                    </m:sSup>
                    <m:r>
                      <a:rPr lang="ar-AE" sz="1600" b="1" i="1">
                        <a:solidFill>
                          <a:schemeClr val="tx2"/>
                        </a:solidFill>
                        <a:latin typeface="Cambria Math" panose="02040503050406030204" pitchFamily="18" charset="0"/>
                      </a:rPr>
                      <m:t> </m:t>
                    </m:r>
                  </m:oMath>
                </a14:m>
                <a:r>
                  <a:rPr lang="en-US" sz="1600" b="1" dirty="0">
                    <a:solidFill>
                      <a:schemeClr val="tx2"/>
                    </a:solidFill>
                    <a:latin typeface="+mn-lt"/>
                  </a:rPr>
                  <a:t>= R ∘ R</a:t>
                </a:r>
              </a:p>
              <a:p>
                <a:pPr>
                  <a:buNone/>
                </a:pPr>
                <a:r>
                  <a:rPr lang="en-US" sz="1600" dirty="0">
                    <a:solidFill>
                      <a:schemeClr val="tx1"/>
                    </a:solidFill>
                    <a:latin typeface="+mn-lt"/>
                  </a:rPr>
                  <a:t>Take previous result  &amp; Apply relation again</a:t>
                </a:r>
              </a:p>
              <a:p>
                <a:pPr>
                  <a:buNone/>
                </a:pPr>
                <a:r>
                  <a:rPr lang="en-US" sz="1600" dirty="0">
                    <a:solidFill>
                      <a:schemeClr val="tx1"/>
                    </a:solidFill>
                    <a:latin typeface="+mn-lt"/>
                  </a:rPr>
                  <a:t>Now check all possible chains for </a:t>
                </a:r>
                <a14:m>
                  <m:oMath xmlns:m="http://schemas.openxmlformats.org/officeDocument/2006/math">
                    <m:sSup>
                      <m:sSupPr>
                        <m:ctrlPr>
                          <a:rPr lang="ar-AE" sz="1600" b="1" i="1" smtClean="0">
                            <a:solidFill>
                              <a:srgbClr val="CC0066"/>
                            </a:solidFill>
                            <a:latin typeface="Cambria Math" panose="02040503050406030204" pitchFamily="18" charset="0"/>
                          </a:rPr>
                        </m:ctrlPr>
                      </m:sSupPr>
                      <m:e>
                        <m:r>
                          <a:rPr lang="ar-AE" sz="1600" b="1" i="1">
                            <a:solidFill>
                              <a:srgbClr val="CC0066"/>
                            </a:solidFill>
                            <a:latin typeface="Cambria Math" panose="02040503050406030204" pitchFamily="18" charset="0"/>
                          </a:rPr>
                          <m:t>𝑹</m:t>
                        </m:r>
                      </m:e>
                      <m:sup>
                        <m:r>
                          <a:rPr lang="ar-AE" sz="1600" b="1" i="1">
                            <a:solidFill>
                              <a:srgbClr val="CC0066"/>
                            </a:solidFill>
                            <a:latin typeface="Cambria Math" panose="02040503050406030204" pitchFamily="18" charset="0"/>
                          </a:rPr>
                          <m:t>𝟐</m:t>
                        </m:r>
                      </m:sup>
                    </m:sSup>
                  </m:oMath>
                </a14:m>
                <a:endParaRPr lang="en-US" sz="1600" dirty="0">
                  <a:solidFill>
                    <a:schemeClr val="tx2"/>
                  </a:solidFill>
                  <a:latin typeface="+mn-lt"/>
                </a:endParaRPr>
              </a:p>
              <a:p>
                <a:pPr>
                  <a:buNone/>
                </a:pPr>
                <a:r>
                  <a:rPr lang="en-US" sz="1600" dirty="0">
                    <a:solidFill>
                      <a:schemeClr val="tx2"/>
                    </a:solidFill>
                    <a:latin typeface="+mn-lt"/>
                  </a:rPr>
                  <a:t>(</a:t>
                </a:r>
                <a:r>
                  <a:rPr lang="en-US" sz="1600" dirty="0" err="1">
                    <a:solidFill>
                      <a:schemeClr val="tx2"/>
                    </a:solidFill>
                    <a:latin typeface="+mn-lt"/>
                  </a:rPr>
                  <a:t>a,b</a:t>
                </a:r>
                <a:r>
                  <a:rPr lang="en-US" sz="1600" dirty="0">
                    <a:solidFill>
                      <a:schemeClr val="tx2"/>
                    </a:solidFill>
                    <a:latin typeface="+mn-lt"/>
                  </a:rPr>
                  <a:t>) and (</a:t>
                </a:r>
                <a:r>
                  <a:rPr lang="en-US" sz="1600" dirty="0" err="1">
                    <a:solidFill>
                      <a:schemeClr val="tx2"/>
                    </a:solidFill>
                    <a:latin typeface="+mn-lt"/>
                  </a:rPr>
                  <a:t>b,c</a:t>
                </a:r>
                <a:r>
                  <a:rPr lang="en-US" sz="1600" dirty="0">
                    <a:solidFill>
                      <a:schemeClr val="tx2"/>
                    </a:solidFill>
                    <a:latin typeface="+mn-lt"/>
                  </a:rPr>
                  <a:t>) → </a:t>
                </a:r>
                <a:r>
                  <a:rPr lang="en-US" sz="1600" b="1" dirty="0">
                    <a:solidFill>
                      <a:srgbClr val="7030A0"/>
                    </a:solidFill>
                    <a:latin typeface="+mn-lt"/>
                  </a:rPr>
                  <a:t>(</a:t>
                </a:r>
                <a:r>
                  <a:rPr lang="en-US" sz="1600" b="1" dirty="0" err="1">
                    <a:solidFill>
                      <a:srgbClr val="7030A0"/>
                    </a:solidFill>
                    <a:latin typeface="+mn-lt"/>
                  </a:rPr>
                  <a:t>a,c</a:t>
                </a:r>
                <a:r>
                  <a:rPr lang="en-US" sz="1600" b="1" dirty="0">
                    <a:solidFill>
                      <a:srgbClr val="7030A0"/>
                    </a:solidFill>
                    <a:latin typeface="+mn-lt"/>
                  </a:rPr>
                  <a:t>)</a:t>
                </a:r>
              </a:p>
              <a:p>
                <a:pPr>
                  <a:buNone/>
                </a:pPr>
                <a:r>
                  <a:rPr lang="en-US" sz="1600" dirty="0">
                    <a:solidFill>
                      <a:schemeClr val="tx2"/>
                    </a:solidFill>
                    <a:latin typeface="+mn-lt"/>
                  </a:rPr>
                  <a:t>(</a:t>
                </a:r>
                <a:r>
                  <a:rPr lang="en-US" sz="1600" dirty="0" err="1">
                    <a:solidFill>
                      <a:schemeClr val="tx2"/>
                    </a:solidFill>
                    <a:latin typeface="+mn-lt"/>
                  </a:rPr>
                  <a:t>b,c</a:t>
                </a:r>
                <a:r>
                  <a:rPr lang="en-US" sz="1600" dirty="0">
                    <a:solidFill>
                      <a:schemeClr val="tx2"/>
                    </a:solidFill>
                    <a:latin typeface="+mn-lt"/>
                  </a:rPr>
                  <a:t>) and (</a:t>
                </a:r>
                <a:r>
                  <a:rPr lang="en-US" sz="1600" dirty="0" err="1">
                    <a:solidFill>
                      <a:schemeClr val="tx2"/>
                    </a:solidFill>
                    <a:latin typeface="+mn-lt"/>
                  </a:rPr>
                  <a:t>c,d</a:t>
                </a:r>
                <a:r>
                  <a:rPr lang="en-US" sz="1600" dirty="0">
                    <a:solidFill>
                      <a:schemeClr val="tx2"/>
                    </a:solidFill>
                    <a:latin typeface="+mn-lt"/>
                  </a:rPr>
                  <a:t>) → </a:t>
                </a:r>
                <a:r>
                  <a:rPr lang="en-US" sz="1600" b="1" dirty="0">
                    <a:solidFill>
                      <a:srgbClr val="7030A0"/>
                    </a:solidFill>
                    <a:latin typeface="+mn-lt"/>
                  </a:rPr>
                  <a:t>(</a:t>
                </a:r>
                <a:r>
                  <a:rPr lang="en-US" sz="1600" b="1" dirty="0" err="1">
                    <a:solidFill>
                      <a:srgbClr val="7030A0"/>
                    </a:solidFill>
                    <a:latin typeface="+mn-lt"/>
                  </a:rPr>
                  <a:t>b,d</a:t>
                </a:r>
                <a:r>
                  <a:rPr lang="en-US" sz="1600" b="1" dirty="0">
                    <a:solidFill>
                      <a:srgbClr val="7030A0"/>
                    </a:solidFill>
                    <a:latin typeface="+mn-lt"/>
                  </a:rPr>
                  <a:t>)</a:t>
                </a:r>
              </a:p>
              <a:p>
                <a:pPr algn="ctr">
                  <a:buNone/>
                </a:pPr>
                <a:r>
                  <a:rPr lang="en-US" sz="1600" dirty="0">
                    <a:solidFill>
                      <a:srgbClr val="CC0066"/>
                    </a:solidFill>
                    <a:latin typeface="+mn-lt"/>
                  </a:rPr>
                  <a:t>So: </a:t>
                </a:r>
                <a14:m>
                  <m:oMath xmlns:m="http://schemas.openxmlformats.org/officeDocument/2006/math">
                    <m:sSup>
                      <m:sSupPr>
                        <m:ctrlPr>
                          <a:rPr lang="ar-AE" sz="1600" b="1" i="1">
                            <a:solidFill>
                              <a:srgbClr val="CC0066"/>
                            </a:solidFill>
                            <a:latin typeface="Cambria Math" panose="02040503050406030204" pitchFamily="18" charset="0"/>
                          </a:rPr>
                        </m:ctrlPr>
                      </m:sSupPr>
                      <m:e>
                        <m:r>
                          <a:rPr lang="ar-AE" sz="1600" b="1" i="1">
                            <a:solidFill>
                              <a:srgbClr val="CC0066"/>
                            </a:solidFill>
                            <a:latin typeface="Cambria Math" panose="02040503050406030204" pitchFamily="18" charset="0"/>
                          </a:rPr>
                          <m:t>𝑹</m:t>
                        </m:r>
                      </m:e>
                      <m:sup>
                        <m:r>
                          <a:rPr lang="ar-AE" sz="1600" b="1" i="1">
                            <a:solidFill>
                              <a:srgbClr val="CC0066"/>
                            </a:solidFill>
                            <a:latin typeface="Cambria Math" panose="02040503050406030204" pitchFamily="18" charset="0"/>
                          </a:rPr>
                          <m:t>𝟐</m:t>
                        </m:r>
                      </m:sup>
                    </m:sSup>
                    <m:r>
                      <a:rPr lang="ar-AE" sz="1600" b="1" i="1">
                        <a:solidFill>
                          <a:srgbClr val="CC0066"/>
                        </a:solidFill>
                        <a:latin typeface="Cambria Math" panose="02040503050406030204" pitchFamily="18" charset="0"/>
                      </a:rPr>
                      <m:t> </m:t>
                    </m:r>
                  </m:oMath>
                </a14:m>
                <a:r>
                  <a:rPr lang="en-US" sz="1600" dirty="0">
                    <a:solidFill>
                      <a:srgbClr val="CC0066"/>
                    </a:solidFill>
                    <a:latin typeface="+mn-lt"/>
                  </a:rPr>
                  <a:t>={(</a:t>
                </a:r>
                <a:r>
                  <a:rPr lang="en-US" sz="1600" dirty="0" err="1">
                    <a:solidFill>
                      <a:srgbClr val="CC0066"/>
                    </a:solidFill>
                    <a:latin typeface="+mn-lt"/>
                  </a:rPr>
                  <a:t>a,c</a:t>
                </a:r>
                <a:r>
                  <a:rPr lang="en-US" sz="1600" dirty="0">
                    <a:solidFill>
                      <a:srgbClr val="CC0066"/>
                    </a:solidFill>
                    <a:latin typeface="+mn-lt"/>
                  </a:rPr>
                  <a:t>),(</a:t>
                </a:r>
                <a:r>
                  <a:rPr lang="en-US" sz="1600" dirty="0" err="1">
                    <a:solidFill>
                      <a:srgbClr val="CC0066"/>
                    </a:solidFill>
                    <a:latin typeface="+mn-lt"/>
                  </a:rPr>
                  <a:t>b,d</a:t>
                </a:r>
                <a:r>
                  <a:rPr lang="en-US" sz="1600" dirty="0">
                    <a:solidFill>
                      <a:srgbClr val="CC0066"/>
                    </a:solidFill>
                    <a:latin typeface="+mn-lt"/>
                  </a:rPr>
                  <a:t>)}</a:t>
                </a:r>
              </a:p>
              <a:p>
                <a:r>
                  <a:rPr lang="en-US" sz="1600" b="1" dirty="0">
                    <a:solidFill>
                      <a:schemeClr val="accent6">
                        <a:lumMod val="75000"/>
                      </a:schemeClr>
                    </a:solidFill>
                    <a:latin typeface="+mn-lt"/>
                  </a:rPr>
                  <a:t>Step 3: </a:t>
                </a:r>
                <a14:m>
                  <m:oMath xmlns:m="http://schemas.openxmlformats.org/officeDocument/2006/math">
                    <m:sSup>
                      <m:sSupPr>
                        <m:ctrlPr>
                          <a:rPr lang="ar-AE" sz="1600" b="1" i="1" smtClean="0">
                            <a:solidFill>
                              <a:schemeClr val="tx2"/>
                            </a:solidFill>
                            <a:latin typeface="Cambria Math" panose="02040503050406030204" pitchFamily="18" charset="0"/>
                          </a:rPr>
                        </m:ctrlPr>
                      </m:sSupPr>
                      <m:e>
                        <m:r>
                          <a:rPr lang="ar-AE" sz="1600" b="1" i="1">
                            <a:solidFill>
                              <a:schemeClr val="tx2"/>
                            </a:solidFill>
                            <a:latin typeface="Cambria Math" panose="02040503050406030204" pitchFamily="18" charset="0"/>
                          </a:rPr>
                          <m:t>𝑹</m:t>
                        </m:r>
                      </m:e>
                      <m:sup>
                        <m:r>
                          <a:rPr lang="ar-AE" sz="1600" b="1" i="1">
                            <a:solidFill>
                              <a:schemeClr val="tx2"/>
                            </a:solidFill>
                            <a:latin typeface="Cambria Math" panose="02040503050406030204" pitchFamily="18" charset="0"/>
                          </a:rPr>
                          <m:t>𝟑</m:t>
                        </m:r>
                      </m:sup>
                    </m:sSup>
                    <m:r>
                      <a:rPr lang="ar-AE" sz="1600" b="1">
                        <a:solidFill>
                          <a:schemeClr val="tx2"/>
                        </a:solidFill>
                        <a:latin typeface="Cambria Math" panose="02040503050406030204" pitchFamily="18" charset="0"/>
                      </a:rPr>
                      <m:t>=</m:t>
                    </m:r>
                    <m:sSup>
                      <m:sSupPr>
                        <m:ctrlPr>
                          <a:rPr lang="ar-AE" sz="1600" b="1" i="1">
                            <a:solidFill>
                              <a:schemeClr val="tx2"/>
                            </a:solidFill>
                            <a:latin typeface="Cambria Math" panose="02040503050406030204" pitchFamily="18" charset="0"/>
                          </a:rPr>
                        </m:ctrlPr>
                      </m:sSupPr>
                      <m:e>
                        <m:r>
                          <a:rPr lang="ar-AE" sz="1600" b="1" i="1">
                            <a:solidFill>
                              <a:schemeClr val="tx2"/>
                            </a:solidFill>
                            <a:latin typeface="Cambria Math" panose="02040503050406030204" pitchFamily="18" charset="0"/>
                          </a:rPr>
                          <m:t>𝑹</m:t>
                        </m:r>
                      </m:e>
                      <m:sup>
                        <m:r>
                          <a:rPr lang="ar-AE" sz="1600" b="1" i="1">
                            <a:solidFill>
                              <a:schemeClr val="tx2"/>
                            </a:solidFill>
                            <a:latin typeface="Cambria Math" panose="02040503050406030204" pitchFamily="18" charset="0"/>
                          </a:rPr>
                          <m:t>𝟐</m:t>
                        </m:r>
                      </m:sup>
                    </m:sSup>
                    <m:r>
                      <a:rPr lang="ar-AE" sz="1600" b="1">
                        <a:solidFill>
                          <a:schemeClr val="tx2"/>
                        </a:solidFill>
                        <a:latin typeface="Cambria Math" panose="02040503050406030204" pitchFamily="18" charset="0"/>
                      </a:rPr>
                      <m:t>∘</m:t>
                    </m:r>
                    <m:r>
                      <a:rPr lang="ar-AE" sz="1600" b="1" i="1">
                        <a:solidFill>
                          <a:schemeClr val="tx2"/>
                        </a:solidFill>
                        <a:latin typeface="Cambria Math" panose="02040503050406030204" pitchFamily="18" charset="0"/>
                      </a:rPr>
                      <m:t>𝑹</m:t>
                    </m:r>
                  </m:oMath>
                </a14:m>
                <a:r>
                  <a:rPr lang="en-US" sz="1600" b="1" dirty="0">
                    <a:solidFill>
                      <a:schemeClr val="tx2"/>
                    </a:solidFill>
                    <a:latin typeface="+mn-lt"/>
                  </a:rPr>
                  <a:t> </a:t>
                </a:r>
                <a:r>
                  <a:rPr lang="en-US" sz="1600" b="1" dirty="0">
                    <a:latin typeface="+mn-lt"/>
                  </a:rPr>
                  <a:t>(</a:t>
                </a:r>
                <a:r>
                  <a:rPr lang="en-US" sz="1600" dirty="0">
                    <a:latin typeface="+mn-lt"/>
                  </a:rPr>
                  <a:t>Now combine R² with R)</a:t>
                </a:r>
              </a:p>
              <a:p>
                <a:r>
                  <a:rPr lang="en-US" sz="1600" b="1" dirty="0">
                    <a:latin typeface="+mn-lt"/>
                  </a:rPr>
                  <a:t>From (</a:t>
                </a:r>
                <a:r>
                  <a:rPr lang="en-US" sz="1600" b="1" dirty="0" err="1">
                    <a:latin typeface="+mn-lt"/>
                  </a:rPr>
                  <a:t>a,c</a:t>
                </a:r>
                <a:r>
                  <a:rPr lang="en-US" sz="1600" b="1" dirty="0">
                    <a:latin typeface="+mn-lt"/>
                  </a:rPr>
                  <a:t>): </a:t>
                </a:r>
                <a:r>
                  <a:rPr lang="en-US" sz="1600" dirty="0">
                    <a:solidFill>
                      <a:schemeClr val="tx2"/>
                    </a:solidFill>
                    <a:latin typeface="+mn-lt"/>
                  </a:rPr>
                  <a:t>(</a:t>
                </a:r>
                <a:r>
                  <a:rPr lang="en-US" sz="1600" dirty="0" err="1">
                    <a:solidFill>
                      <a:schemeClr val="tx2"/>
                    </a:solidFill>
                    <a:latin typeface="+mn-lt"/>
                  </a:rPr>
                  <a:t>c,d</a:t>
                </a:r>
                <a:r>
                  <a:rPr lang="en-US" sz="1600" dirty="0">
                    <a:solidFill>
                      <a:schemeClr val="tx2"/>
                    </a:solidFill>
                    <a:latin typeface="+mn-lt"/>
                  </a:rPr>
                  <a:t>) exists → </a:t>
                </a:r>
                <a:r>
                  <a:rPr lang="en-US" sz="1600" b="1" dirty="0">
                    <a:solidFill>
                      <a:srgbClr val="7030A0"/>
                    </a:solidFill>
                    <a:latin typeface="+mn-lt"/>
                  </a:rPr>
                  <a:t>(</a:t>
                </a:r>
                <a:r>
                  <a:rPr lang="en-US" sz="1600" b="1" dirty="0" err="1">
                    <a:solidFill>
                      <a:srgbClr val="7030A0"/>
                    </a:solidFill>
                    <a:latin typeface="+mn-lt"/>
                  </a:rPr>
                  <a:t>a,d</a:t>
                </a:r>
                <a:r>
                  <a:rPr lang="en-US" sz="1600" b="1" dirty="0">
                    <a:solidFill>
                      <a:srgbClr val="7030A0"/>
                    </a:solidFill>
                    <a:latin typeface="+mn-lt"/>
                  </a:rPr>
                  <a:t>) </a:t>
                </a:r>
              </a:p>
              <a:p>
                <a:r>
                  <a:rPr lang="en-US" sz="1600" b="1" dirty="0">
                    <a:latin typeface="+mn-lt"/>
                  </a:rPr>
                  <a:t>From (</a:t>
                </a:r>
                <a:r>
                  <a:rPr lang="en-US" sz="1600" b="1" dirty="0" err="1">
                    <a:latin typeface="+mn-lt"/>
                  </a:rPr>
                  <a:t>b,d</a:t>
                </a:r>
                <a:r>
                  <a:rPr lang="en-US" sz="1600" b="1" dirty="0">
                    <a:latin typeface="+mn-lt"/>
                  </a:rPr>
                  <a:t>): </a:t>
                </a:r>
                <a:r>
                  <a:rPr lang="en-US" sz="1600" dirty="0">
                    <a:solidFill>
                      <a:schemeClr val="tx2"/>
                    </a:solidFill>
                    <a:latin typeface="+mn-lt"/>
                  </a:rPr>
                  <a:t>No pair starts with d → nothing </a:t>
                </a:r>
              </a:p>
              <a:p>
                <a:pPr algn="ctr"/>
                <a:r>
                  <a:rPr lang="en-US" sz="1600" dirty="0">
                    <a:solidFill>
                      <a:srgbClr val="CC0066"/>
                    </a:solidFill>
                    <a:latin typeface="+mn-lt"/>
                  </a:rPr>
                  <a:t>So: </a:t>
                </a:r>
                <a14:m>
                  <m:oMath xmlns:m="http://schemas.openxmlformats.org/officeDocument/2006/math">
                    <m:sSup>
                      <m:sSupPr>
                        <m:ctrlPr>
                          <a:rPr lang="ar-AE" sz="1600" b="1" i="1" smtClean="0">
                            <a:solidFill>
                              <a:srgbClr val="CC0066"/>
                            </a:solidFill>
                            <a:latin typeface="Cambria Math" panose="02040503050406030204" pitchFamily="18" charset="0"/>
                          </a:rPr>
                        </m:ctrlPr>
                      </m:sSupPr>
                      <m:e>
                        <m:r>
                          <a:rPr lang="ar-AE" sz="1600" b="1" i="1">
                            <a:solidFill>
                              <a:srgbClr val="CC0066"/>
                            </a:solidFill>
                            <a:latin typeface="Cambria Math" panose="02040503050406030204" pitchFamily="18" charset="0"/>
                          </a:rPr>
                          <m:t>𝑹</m:t>
                        </m:r>
                      </m:e>
                      <m:sup>
                        <m:r>
                          <a:rPr lang="en-US" sz="1600" b="1" i="1" smtClean="0">
                            <a:solidFill>
                              <a:srgbClr val="CC0066"/>
                            </a:solidFill>
                            <a:latin typeface="Cambria Math" panose="02040503050406030204" pitchFamily="18" charset="0"/>
                          </a:rPr>
                          <m:t>𝟑</m:t>
                        </m:r>
                      </m:sup>
                    </m:sSup>
                    <m:r>
                      <a:rPr lang="ar-AE" sz="1600" b="1" i="1">
                        <a:solidFill>
                          <a:srgbClr val="CC0066"/>
                        </a:solidFill>
                        <a:latin typeface="Cambria Math" panose="02040503050406030204" pitchFamily="18" charset="0"/>
                      </a:rPr>
                      <m:t> </m:t>
                    </m:r>
                  </m:oMath>
                </a14:m>
                <a:r>
                  <a:rPr lang="en-US" sz="1600" dirty="0">
                    <a:solidFill>
                      <a:srgbClr val="CC0066"/>
                    </a:solidFill>
                    <a:latin typeface="+mn-lt"/>
                  </a:rPr>
                  <a:t>={(𝑎,𝑑)}</a:t>
                </a:r>
              </a:p>
              <a:p>
                <a:r>
                  <a:rPr lang="en-US" sz="1600" b="1" dirty="0">
                    <a:solidFill>
                      <a:schemeClr val="accent6">
                        <a:lumMod val="75000"/>
                      </a:schemeClr>
                    </a:solidFill>
                    <a:latin typeface="+mn-lt"/>
                  </a:rPr>
                  <a:t>Step 4: </a:t>
                </a:r>
                <a14:m>
                  <m:oMath xmlns:m="http://schemas.openxmlformats.org/officeDocument/2006/math">
                    <m:sSup>
                      <m:sSupPr>
                        <m:ctrlPr>
                          <a:rPr lang="ar-AE" sz="1600" b="1" i="1" smtClean="0">
                            <a:solidFill>
                              <a:schemeClr val="tx2"/>
                            </a:solidFill>
                            <a:latin typeface="Cambria Math" panose="02040503050406030204" pitchFamily="18" charset="0"/>
                          </a:rPr>
                        </m:ctrlPr>
                      </m:sSupPr>
                      <m:e>
                        <m:r>
                          <a:rPr lang="ar-AE" sz="1600" b="1" i="1">
                            <a:solidFill>
                              <a:schemeClr val="tx2"/>
                            </a:solidFill>
                            <a:latin typeface="Cambria Math" panose="02040503050406030204" pitchFamily="18" charset="0"/>
                          </a:rPr>
                          <m:t>𝑹</m:t>
                        </m:r>
                      </m:e>
                      <m:sup>
                        <m:r>
                          <a:rPr lang="ar-AE" sz="1600" b="1" i="1">
                            <a:solidFill>
                              <a:schemeClr val="tx2"/>
                            </a:solidFill>
                            <a:latin typeface="Cambria Math" panose="02040503050406030204" pitchFamily="18" charset="0"/>
                          </a:rPr>
                          <m:t>𝟒</m:t>
                        </m:r>
                      </m:sup>
                    </m:sSup>
                    <m:r>
                      <a:rPr lang="ar-AE" sz="1600" b="1">
                        <a:solidFill>
                          <a:schemeClr val="tx2"/>
                        </a:solidFill>
                        <a:latin typeface="Cambria Math" panose="02040503050406030204" pitchFamily="18" charset="0"/>
                      </a:rPr>
                      <m:t>=</m:t>
                    </m:r>
                    <m:sSup>
                      <m:sSupPr>
                        <m:ctrlPr>
                          <a:rPr lang="ar-AE" sz="1600" b="1" i="1">
                            <a:solidFill>
                              <a:schemeClr val="tx2"/>
                            </a:solidFill>
                            <a:latin typeface="Cambria Math" panose="02040503050406030204" pitchFamily="18" charset="0"/>
                          </a:rPr>
                        </m:ctrlPr>
                      </m:sSupPr>
                      <m:e>
                        <m:r>
                          <a:rPr lang="ar-AE" sz="1600" b="1" i="1">
                            <a:solidFill>
                              <a:schemeClr val="tx2"/>
                            </a:solidFill>
                            <a:latin typeface="Cambria Math" panose="02040503050406030204" pitchFamily="18" charset="0"/>
                          </a:rPr>
                          <m:t>𝑹</m:t>
                        </m:r>
                      </m:e>
                      <m:sup>
                        <m:r>
                          <a:rPr lang="ar-AE" sz="1600" b="1" i="1">
                            <a:solidFill>
                              <a:schemeClr val="tx2"/>
                            </a:solidFill>
                            <a:latin typeface="Cambria Math" panose="02040503050406030204" pitchFamily="18" charset="0"/>
                          </a:rPr>
                          <m:t>𝟑</m:t>
                        </m:r>
                      </m:sup>
                    </m:sSup>
                    <m:r>
                      <a:rPr lang="ar-AE" sz="1600" b="1">
                        <a:solidFill>
                          <a:schemeClr val="tx2"/>
                        </a:solidFill>
                        <a:latin typeface="Cambria Math" panose="02040503050406030204" pitchFamily="18" charset="0"/>
                      </a:rPr>
                      <m:t>∘</m:t>
                    </m:r>
                    <m:r>
                      <a:rPr lang="ar-AE" sz="1600" b="1" i="1">
                        <a:solidFill>
                          <a:schemeClr val="tx2"/>
                        </a:solidFill>
                        <a:latin typeface="Cambria Math" panose="02040503050406030204" pitchFamily="18" charset="0"/>
                      </a:rPr>
                      <m:t>𝑹</m:t>
                    </m:r>
                  </m:oMath>
                </a14:m>
                <a:endParaRPr lang="ar-AE" sz="1600" b="1" dirty="0">
                  <a:solidFill>
                    <a:schemeClr val="tx2"/>
                  </a:solidFill>
                  <a:latin typeface="+mn-lt"/>
                </a:endParaRPr>
              </a:p>
              <a:p>
                <a:r>
                  <a:rPr lang="en-US" sz="1600" b="1" dirty="0">
                    <a:latin typeface="+mn-lt"/>
                  </a:rPr>
                  <a:t>From (</a:t>
                </a:r>
                <a:r>
                  <a:rPr lang="en-US" sz="1600" b="1" dirty="0" err="1">
                    <a:latin typeface="+mn-lt"/>
                  </a:rPr>
                  <a:t>a,d</a:t>
                </a:r>
                <a:r>
                  <a:rPr lang="en-US" sz="1600" b="1" dirty="0">
                    <a:latin typeface="+mn-lt"/>
                  </a:rPr>
                  <a:t>): </a:t>
                </a:r>
                <a:r>
                  <a:rPr lang="en-US" sz="1600" dirty="0">
                    <a:solidFill>
                      <a:schemeClr val="tx2"/>
                    </a:solidFill>
                    <a:latin typeface="+mn-lt"/>
                  </a:rPr>
                  <a:t>No (d, ?) in R → </a:t>
                </a:r>
                <a:r>
                  <a:rPr lang="en-US" sz="1600" b="1" dirty="0">
                    <a:solidFill>
                      <a:srgbClr val="7030A0"/>
                    </a:solidFill>
                    <a:latin typeface="+mn-lt"/>
                  </a:rPr>
                  <a:t>nothing </a:t>
                </a:r>
              </a:p>
              <a:p>
                <a:pPr algn="ctr"/>
                <a:r>
                  <a:rPr lang="en-US" sz="1600" dirty="0">
                    <a:solidFill>
                      <a:srgbClr val="CC0066"/>
                    </a:solidFill>
                    <a:latin typeface="+mn-lt"/>
                  </a:rPr>
                  <a:t>So: </a:t>
                </a:r>
                <a14:m>
                  <m:oMath xmlns:m="http://schemas.openxmlformats.org/officeDocument/2006/math">
                    <m:sSup>
                      <m:sSupPr>
                        <m:ctrlPr>
                          <a:rPr lang="ar-AE" sz="1600" i="1">
                            <a:solidFill>
                              <a:srgbClr val="CC0066"/>
                            </a:solidFill>
                            <a:latin typeface="Cambria Math" panose="02040503050406030204" pitchFamily="18" charset="0"/>
                          </a:rPr>
                        </m:ctrlPr>
                      </m:sSupPr>
                      <m:e>
                        <m:r>
                          <a:rPr lang="ar-AE" sz="1600" i="1">
                            <a:solidFill>
                              <a:srgbClr val="CC0066"/>
                            </a:solidFill>
                            <a:latin typeface="Cambria Math" panose="02040503050406030204" pitchFamily="18" charset="0"/>
                          </a:rPr>
                          <m:t>𝑅</m:t>
                        </m:r>
                      </m:e>
                      <m:sup>
                        <m:r>
                          <a:rPr lang="ar-AE" sz="1600">
                            <a:solidFill>
                              <a:srgbClr val="CC0066"/>
                            </a:solidFill>
                            <a:latin typeface="Cambria Math" panose="02040503050406030204" pitchFamily="18" charset="0"/>
                          </a:rPr>
                          <m:t>4</m:t>
                        </m:r>
                      </m:sup>
                    </m:sSup>
                    <m:r>
                      <a:rPr lang="ar-AE" sz="1600">
                        <a:solidFill>
                          <a:srgbClr val="CC0066"/>
                        </a:solidFill>
                        <a:latin typeface="Cambria Math" panose="02040503050406030204" pitchFamily="18" charset="0"/>
                      </a:rPr>
                      <m:t>=</m:t>
                    </m:r>
                    <m:r>
                      <a:rPr lang="ar-AE" sz="1600">
                        <a:solidFill>
                          <a:srgbClr val="CC0066"/>
                        </a:solidFill>
                        <a:latin typeface="Cambria Math" panose="02040503050406030204" pitchFamily="18" charset="0"/>
                      </a:rPr>
                      <m:t>∅</m:t>
                    </m:r>
                  </m:oMath>
                </a14:m>
                <a:endParaRPr lang="ar-AE" sz="1600" dirty="0">
                  <a:solidFill>
                    <a:srgbClr val="CC0066"/>
                  </a:solidFill>
                  <a:latin typeface="+mn-lt"/>
                </a:endParaRPr>
              </a:p>
              <a:p>
                <a:pPr algn="ctr"/>
                <a:endParaRPr lang="ar-AE" sz="1600" dirty="0">
                  <a:solidFill>
                    <a:srgbClr val="CC0066"/>
                  </a:solidFill>
                  <a:latin typeface="+mn-lt"/>
                </a:endParaRPr>
              </a:p>
              <a:p>
                <a:pPr algn="ctr">
                  <a:buNone/>
                </a:pPr>
                <a:endParaRPr lang="en-US" sz="1600" dirty="0">
                  <a:solidFill>
                    <a:srgbClr val="CC0066"/>
                  </a:solidFill>
                  <a:latin typeface="+mn-lt"/>
                </a:endParaRPr>
              </a:p>
            </p:txBody>
          </p:sp>
        </mc:Choice>
        <mc:Fallback xmlns="">
          <p:sp>
            <p:nvSpPr>
              <p:cNvPr id="3" name="Content Placeholder 2">
                <a:extLst>
                  <a:ext uri="{FF2B5EF4-FFF2-40B4-BE49-F238E27FC236}">
                    <a16:creationId xmlns:a16="http://schemas.microsoft.com/office/drawing/2014/main" id="{5CD7E18E-9942-8327-5C4F-043795A698E6}"/>
                  </a:ext>
                </a:extLst>
              </p:cNvPr>
              <p:cNvSpPr>
                <a:spLocks noGrp="1" noRot="1" noChangeAspect="1" noMove="1" noResize="1" noEditPoints="1" noAdjustHandles="1" noChangeArrowheads="1" noChangeShapeType="1" noTextEdit="1"/>
              </p:cNvSpPr>
              <p:nvPr>
                <p:ph idx="1"/>
              </p:nvPr>
            </p:nvSpPr>
            <p:spPr>
              <a:xfrm>
                <a:off x="487680" y="800100"/>
                <a:ext cx="7696200" cy="4389120"/>
              </a:xfrm>
              <a:blipFill>
                <a:blip r:embed="rId2"/>
                <a:stretch>
                  <a:fillRect l="-396" t="-556" b="-36944"/>
                </a:stretch>
              </a:blipFill>
            </p:spPr>
            <p:txBody>
              <a:bodyPr/>
              <a:lstStyle/>
              <a:p>
                <a:r>
                  <a:rPr lang="en-US">
                    <a:noFill/>
                  </a:rPr>
                  <a:t> </a:t>
                </a:r>
              </a:p>
            </p:txBody>
          </p:sp>
        </mc:Fallback>
      </mc:AlternateContent>
    </p:spTree>
    <p:extLst>
      <p:ext uri="{BB962C8B-B14F-4D97-AF65-F5344CB8AC3E}">
        <p14:creationId xmlns:p14="http://schemas.microsoft.com/office/powerpoint/2010/main" val="180780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36FC9-AC42-C612-405C-25F92567F5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BEDD8-2C26-F04C-87C2-BBC7BAF397E4}"/>
              </a:ext>
            </a:extLst>
          </p:cNvPr>
          <p:cNvSpPr>
            <a:spLocks noGrp="1"/>
          </p:cNvSpPr>
          <p:nvPr>
            <p:ph type="title"/>
          </p:nvPr>
        </p:nvSpPr>
        <p:spPr>
          <a:xfrm>
            <a:off x="426720" y="228600"/>
            <a:ext cx="8229600" cy="1143000"/>
          </a:xfrm>
        </p:spPr>
        <p:txBody>
          <a:bodyPr>
            <a:normAutofit/>
          </a:bodyPr>
          <a:lstStyle/>
          <a:p>
            <a:r>
              <a:rPr lang="en-US" dirty="0"/>
              <a:t>Power-Example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2FA141-DA2B-5E6C-86F6-C87046768806}"/>
                  </a:ext>
                </a:extLst>
              </p:cNvPr>
              <p:cNvSpPr>
                <a:spLocks noGrp="1"/>
              </p:cNvSpPr>
              <p:nvPr>
                <p:ph idx="1"/>
              </p:nvPr>
            </p:nvSpPr>
            <p:spPr>
              <a:xfrm>
                <a:off x="487680" y="1234440"/>
                <a:ext cx="7696200" cy="4389120"/>
              </a:xfrm>
            </p:spPr>
            <p:txBody>
              <a:bodyPr>
                <a:noAutofit/>
              </a:bodyPr>
              <a:lstStyle/>
              <a:p>
                <a:r>
                  <a:rPr lang="pt-BR" sz="4000" dirty="0">
                    <a:solidFill>
                      <a:srgbClr val="C00000"/>
                    </a:solidFill>
                    <a:latin typeface="+mn-lt"/>
                  </a:rPr>
                  <a:t>Find R, </a:t>
                </a:r>
                <a:r>
                  <a:rPr lang="en-US" sz="4000" dirty="0">
                    <a:solidFill>
                      <a:srgbClr val="C00000"/>
                    </a:solidFill>
                    <a:latin typeface="+mn-lt"/>
                  </a:rPr>
                  <a:t>R², R³, R⁴, </a:t>
                </a:r>
                <a14:m>
                  <m:oMath xmlns:m="http://schemas.openxmlformats.org/officeDocument/2006/math">
                    <m:sSup>
                      <m:sSupPr>
                        <m:ctrlPr>
                          <a:rPr lang="ar-AE" sz="4000" i="1">
                            <a:solidFill>
                              <a:srgbClr val="C00000"/>
                            </a:solidFill>
                            <a:latin typeface="Cambria Math" panose="02040503050406030204" pitchFamily="18" charset="0"/>
                          </a:rPr>
                        </m:ctrlPr>
                      </m:sSupPr>
                      <m:e>
                        <m:r>
                          <m:rPr>
                            <m:sty m:val="p"/>
                          </m:rPr>
                          <a:rPr lang="en-US" sz="4000" b="0" i="0" smtClean="0">
                            <a:solidFill>
                              <a:srgbClr val="C00000"/>
                            </a:solidFill>
                            <a:latin typeface="Cambria Math" panose="02040503050406030204" pitchFamily="18" charset="0"/>
                          </a:rPr>
                          <m:t>R</m:t>
                        </m:r>
                      </m:e>
                      <m:sup>
                        <m:r>
                          <a:rPr lang="en-US" sz="4000" b="0" i="1" smtClean="0">
                            <a:solidFill>
                              <a:srgbClr val="C00000"/>
                            </a:solidFill>
                            <a:latin typeface="Cambria Math" panose="02040503050406030204" pitchFamily="18" charset="0"/>
                          </a:rPr>
                          <m:t>5</m:t>
                        </m:r>
                      </m:sup>
                    </m:sSup>
                  </m:oMath>
                </a14:m>
                <a:r>
                  <a:rPr lang="pt-BR" sz="4000" dirty="0">
                    <a:solidFill>
                      <a:srgbClr val="C00000"/>
                    </a:solidFill>
                    <a:latin typeface="+mn-lt"/>
                  </a:rPr>
                  <a:t> if</a:t>
                </a:r>
              </a:p>
              <a:p>
                <a:pPr>
                  <a:buNone/>
                </a:pPr>
                <a:r>
                  <a:rPr lang="pt-BR" sz="4000" dirty="0">
                    <a:solidFill>
                      <a:srgbClr val="7030A0"/>
                    </a:solidFill>
                    <a:latin typeface="+mn-lt"/>
                  </a:rPr>
                  <a:t>R={(1,2),(2,3),(3,4),(4,5)}</a:t>
                </a:r>
                <a:endParaRPr lang="en-US" sz="4000" dirty="0">
                  <a:solidFill>
                    <a:srgbClr val="7030A0"/>
                  </a:solidFill>
                  <a:latin typeface="+mn-lt"/>
                </a:endParaRPr>
              </a:p>
            </p:txBody>
          </p:sp>
        </mc:Choice>
        <mc:Fallback xmlns="">
          <p:sp>
            <p:nvSpPr>
              <p:cNvPr id="3" name="Content Placeholder 2">
                <a:extLst>
                  <a:ext uri="{FF2B5EF4-FFF2-40B4-BE49-F238E27FC236}">
                    <a16:creationId xmlns:a16="http://schemas.microsoft.com/office/drawing/2014/main" id="{682FA141-DA2B-5E6C-86F6-C87046768806}"/>
                  </a:ext>
                </a:extLst>
              </p:cNvPr>
              <p:cNvSpPr>
                <a:spLocks noGrp="1" noRot="1" noChangeAspect="1" noMove="1" noResize="1" noEditPoints="1" noAdjustHandles="1" noChangeArrowheads="1" noChangeShapeType="1" noTextEdit="1"/>
              </p:cNvSpPr>
              <p:nvPr>
                <p:ph idx="1"/>
              </p:nvPr>
            </p:nvSpPr>
            <p:spPr>
              <a:xfrm>
                <a:off x="487680" y="1234440"/>
                <a:ext cx="7696200" cy="4389120"/>
              </a:xfrm>
              <a:blipFill>
                <a:blip r:embed="rId2"/>
                <a:stretch>
                  <a:fillRect l="-3959" t="-3333"/>
                </a:stretch>
              </a:blipFill>
            </p:spPr>
            <p:txBody>
              <a:bodyPr/>
              <a:lstStyle/>
              <a:p>
                <a:r>
                  <a:rPr lang="en-US">
                    <a:noFill/>
                  </a:rPr>
                  <a:t> </a:t>
                </a:r>
              </a:p>
            </p:txBody>
          </p:sp>
        </mc:Fallback>
      </mc:AlternateContent>
    </p:spTree>
    <p:extLst>
      <p:ext uri="{BB962C8B-B14F-4D97-AF65-F5344CB8AC3E}">
        <p14:creationId xmlns:p14="http://schemas.microsoft.com/office/powerpoint/2010/main" val="1869668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2BF39-80EE-6FE8-139A-B4CC2352C07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5D989F-40EB-0826-F20B-C5D439859EA1}"/>
                  </a:ext>
                </a:extLst>
              </p:cNvPr>
              <p:cNvSpPr>
                <a:spLocks noGrp="1"/>
              </p:cNvSpPr>
              <p:nvPr>
                <p:ph idx="1"/>
              </p:nvPr>
            </p:nvSpPr>
            <p:spPr>
              <a:xfrm>
                <a:off x="304800" y="152400"/>
                <a:ext cx="7696200" cy="4389120"/>
              </a:xfrm>
            </p:spPr>
            <p:txBody>
              <a:bodyPr>
                <a:noAutofit/>
              </a:bodyPr>
              <a:lstStyle/>
              <a:p>
                <a:pPr>
                  <a:buNone/>
                </a:pPr>
                <a:r>
                  <a:rPr lang="en-US" sz="1400" b="1" dirty="0">
                    <a:solidFill>
                      <a:srgbClr val="CC0066"/>
                    </a:solidFill>
                  </a:rPr>
                  <a:t>Step 1: </a:t>
                </a:r>
                <a14:m>
                  <m:oMath xmlns:m="http://schemas.openxmlformats.org/officeDocument/2006/math">
                    <m:sSup>
                      <m:sSupPr>
                        <m:ctrlPr>
                          <a:rPr lang="ar-AE" sz="1400" b="1" i="1">
                            <a:solidFill>
                              <a:srgbClr val="C00000"/>
                            </a:solidFill>
                            <a:latin typeface="Cambria Math" panose="02040503050406030204" pitchFamily="18" charset="0"/>
                          </a:rPr>
                        </m:ctrlPr>
                      </m:sSupPr>
                      <m:e>
                        <m:r>
                          <a:rPr lang="ar-AE" sz="1400" b="1" i="1">
                            <a:solidFill>
                              <a:srgbClr val="C00000"/>
                            </a:solidFill>
                            <a:latin typeface="Cambria Math" panose="02040503050406030204" pitchFamily="18" charset="0"/>
                          </a:rPr>
                          <m:t>𝑹</m:t>
                        </m:r>
                      </m:e>
                      <m:sup>
                        <m:r>
                          <a:rPr lang="en-US" sz="1400" b="1" i="1" smtClean="0">
                            <a:solidFill>
                              <a:srgbClr val="C00000"/>
                            </a:solidFill>
                            <a:latin typeface="Cambria Math" panose="02040503050406030204" pitchFamily="18" charset="0"/>
                          </a:rPr>
                          <m:t>𝟏</m:t>
                        </m:r>
                      </m:sup>
                    </m:sSup>
                  </m:oMath>
                </a14:m>
                <a:r>
                  <a:rPr lang="en-US" sz="1400" b="1" dirty="0">
                    <a:solidFill>
                      <a:srgbClr val="C00000"/>
                    </a:solidFill>
                  </a:rPr>
                  <a:t>={(1,2),(2,3),(3,4),(4,5)}</a:t>
                </a:r>
              </a:p>
              <a:p>
                <a:r>
                  <a:rPr lang="en-US" sz="1400" b="1" dirty="0">
                    <a:solidFill>
                      <a:srgbClr val="CC0066"/>
                    </a:solidFill>
                  </a:rPr>
                  <a:t>Step 2:</a:t>
                </a:r>
                <a:r>
                  <a:rPr lang="en-US" sz="1400" dirty="0">
                    <a:solidFill>
                      <a:srgbClr val="CC0066"/>
                    </a:solidFill>
                  </a:rPr>
                  <a:t> </a:t>
                </a:r>
                <a14:m>
                  <m:oMath xmlns:m="http://schemas.openxmlformats.org/officeDocument/2006/math">
                    <m:sSup>
                      <m:sSupPr>
                        <m:ctrlPr>
                          <a:rPr lang="ar-AE" sz="1400" b="1" i="1">
                            <a:solidFill>
                              <a:srgbClr val="C00000"/>
                            </a:solidFill>
                            <a:latin typeface="Cambria Math" panose="02040503050406030204" pitchFamily="18" charset="0"/>
                          </a:rPr>
                        </m:ctrlPr>
                      </m:sSupPr>
                      <m:e>
                        <m:r>
                          <a:rPr lang="ar-AE" sz="1400" b="1" i="1">
                            <a:solidFill>
                              <a:srgbClr val="C00000"/>
                            </a:solidFill>
                            <a:latin typeface="Cambria Math" panose="02040503050406030204" pitchFamily="18" charset="0"/>
                          </a:rPr>
                          <m:t>𝑹</m:t>
                        </m:r>
                      </m:e>
                      <m:sup>
                        <m:r>
                          <a:rPr lang="en-US" sz="1400" b="1" i="1" smtClean="0">
                            <a:solidFill>
                              <a:srgbClr val="C00000"/>
                            </a:solidFill>
                            <a:latin typeface="Cambria Math" panose="02040503050406030204" pitchFamily="18" charset="0"/>
                          </a:rPr>
                          <m:t>𝟐</m:t>
                        </m:r>
                      </m:sup>
                    </m:sSup>
                  </m:oMath>
                </a14:m>
                <a:r>
                  <a:rPr lang="en-US" sz="1400" b="1" dirty="0">
                    <a:solidFill>
                      <a:srgbClr val="CC0066"/>
                    </a:solidFill>
                  </a:rPr>
                  <a:t>=𝑅∘𝑅 </a:t>
                </a:r>
              </a:p>
              <a:p>
                <a:r>
                  <a:rPr lang="en-US" sz="1400" dirty="0"/>
                  <a:t>(1,2) and (2,3) → </a:t>
                </a:r>
                <a:r>
                  <a:rPr lang="en-US" sz="1400" dirty="0">
                    <a:solidFill>
                      <a:srgbClr val="7030A0"/>
                    </a:solidFill>
                  </a:rPr>
                  <a:t>(1,3)</a:t>
                </a:r>
              </a:p>
              <a:p>
                <a:r>
                  <a:rPr lang="en-US" sz="1400" dirty="0"/>
                  <a:t>(2,3) and (3,4) → </a:t>
                </a:r>
                <a:r>
                  <a:rPr lang="en-US" sz="1400" dirty="0">
                    <a:solidFill>
                      <a:srgbClr val="7030A0"/>
                    </a:solidFill>
                  </a:rPr>
                  <a:t>(2,4)</a:t>
                </a:r>
              </a:p>
              <a:p>
                <a:r>
                  <a:rPr lang="en-US" sz="1400" dirty="0"/>
                  <a:t>(3,4) and (4,5) → </a:t>
                </a:r>
                <a:r>
                  <a:rPr lang="en-US" sz="1400" dirty="0">
                    <a:solidFill>
                      <a:srgbClr val="7030A0"/>
                    </a:solidFill>
                  </a:rPr>
                  <a:t>(3,5)</a:t>
                </a:r>
              </a:p>
              <a:p>
                <a:pPr algn="ctr"/>
                <a14:m>
                  <m:oMath xmlns:m="http://schemas.openxmlformats.org/officeDocument/2006/math">
                    <m:sSup>
                      <m:sSupPr>
                        <m:ctrlPr>
                          <a:rPr lang="ar-AE" sz="1400" b="1" i="1">
                            <a:solidFill>
                              <a:srgbClr val="C00000"/>
                            </a:solidFill>
                            <a:latin typeface="Cambria Math" panose="02040503050406030204" pitchFamily="18" charset="0"/>
                          </a:rPr>
                        </m:ctrlPr>
                      </m:sSupPr>
                      <m:e>
                        <m:r>
                          <a:rPr lang="ar-AE" sz="1400" b="1" i="1">
                            <a:solidFill>
                              <a:srgbClr val="C00000"/>
                            </a:solidFill>
                            <a:latin typeface="Cambria Math" panose="02040503050406030204" pitchFamily="18" charset="0"/>
                          </a:rPr>
                          <m:t>𝑹</m:t>
                        </m:r>
                      </m:e>
                      <m:sup>
                        <m:r>
                          <a:rPr lang="en-US" sz="1400" b="1" i="1" smtClean="0">
                            <a:solidFill>
                              <a:srgbClr val="C00000"/>
                            </a:solidFill>
                            <a:latin typeface="Cambria Math" panose="02040503050406030204" pitchFamily="18" charset="0"/>
                          </a:rPr>
                          <m:t>𝟐</m:t>
                        </m:r>
                      </m:sup>
                    </m:sSup>
                    <m:r>
                      <a:rPr lang="ar-AE" sz="1400" b="1" i="1">
                        <a:solidFill>
                          <a:srgbClr val="C00000"/>
                        </a:solidFill>
                        <a:latin typeface="Cambria Math" panose="02040503050406030204" pitchFamily="18" charset="0"/>
                      </a:rPr>
                      <m:t> </m:t>
                    </m:r>
                  </m:oMath>
                </a14:m>
                <a:r>
                  <a:rPr lang="en-US" sz="1400" b="1" dirty="0">
                    <a:solidFill>
                      <a:srgbClr val="C00000"/>
                    </a:solidFill>
                  </a:rPr>
                  <a:t>={(1,3),(2,4),(3,5)}</a:t>
                </a:r>
              </a:p>
              <a:p>
                <a:r>
                  <a:rPr lang="en-US" sz="1400" b="1" dirty="0">
                    <a:solidFill>
                      <a:srgbClr val="CC0066"/>
                    </a:solidFill>
                  </a:rPr>
                  <a:t>Step 3: </a:t>
                </a:r>
                <a14:m>
                  <m:oMath xmlns:m="http://schemas.openxmlformats.org/officeDocument/2006/math">
                    <m:sSup>
                      <m:sSupPr>
                        <m:ctrlPr>
                          <a:rPr lang="ar-AE" sz="1400" b="1" i="1" smtClean="0">
                            <a:solidFill>
                              <a:srgbClr val="CC0066"/>
                            </a:solidFill>
                            <a:latin typeface="Cambria Math" panose="02040503050406030204" pitchFamily="18" charset="0"/>
                          </a:rPr>
                        </m:ctrlPr>
                      </m:sSupPr>
                      <m:e>
                        <m:r>
                          <a:rPr lang="ar-AE" sz="1400" b="1" i="1">
                            <a:solidFill>
                              <a:srgbClr val="CC0066"/>
                            </a:solidFill>
                            <a:latin typeface="Cambria Math" panose="02040503050406030204" pitchFamily="18" charset="0"/>
                          </a:rPr>
                          <m:t>𝑹</m:t>
                        </m:r>
                      </m:e>
                      <m:sup>
                        <m:r>
                          <a:rPr lang="ar-AE" sz="1400" b="1" i="1">
                            <a:solidFill>
                              <a:srgbClr val="CC0066"/>
                            </a:solidFill>
                            <a:latin typeface="Cambria Math" panose="02040503050406030204" pitchFamily="18" charset="0"/>
                          </a:rPr>
                          <m:t>𝟑</m:t>
                        </m:r>
                      </m:sup>
                    </m:sSup>
                    <m:r>
                      <a:rPr lang="ar-AE" sz="1400" b="1">
                        <a:solidFill>
                          <a:srgbClr val="CC0066"/>
                        </a:solidFill>
                        <a:latin typeface="Cambria Math" panose="02040503050406030204" pitchFamily="18" charset="0"/>
                      </a:rPr>
                      <m:t>=</m:t>
                    </m:r>
                    <m:sSup>
                      <m:sSupPr>
                        <m:ctrlPr>
                          <a:rPr lang="ar-AE" sz="1400" b="1" i="1">
                            <a:solidFill>
                              <a:srgbClr val="CC0066"/>
                            </a:solidFill>
                            <a:latin typeface="Cambria Math" panose="02040503050406030204" pitchFamily="18" charset="0"/>
                          </a:rPr>
                        </m:ctrlPr>
                      </m:sSupPr>
                      <m:e>
                        <m:r>
                          <a:rPr lang="ar-AE" sz="1400" b="1" i="1">
                            <a:solidFill>
                              <a:srgbClr val="CC0066"/>
                            </a:solidFill>
                            <a:latin typeface="Cambria Math" panose="02040503050406030204" pitchFamily="18" charset="0"/>
                          </a:rPr>
                          <m:t>𝑹</m:t>
                        </m:r>
                      </m:e>
                      <m:sup>
                        <m:r>
                          <a:rPr lang="ar-AE" sz="1400" b="1" i="1">
                            <a:solidFill>
                              <a:srgbClr val="CC0066"/>
                            </a:solidFill>
                            <a:latin typeface="Cambria Math" panose="02040503050406030204" pitchFamily="18" charset="0"/>
                          </a:rPr>
                          <m:t>𝟐</m:t>
                        </m:r>
                      </m:sup>
                    </m:sSup>
                    <m:r>
                      <a:rPr lang="ar-AE" sz="1400" b="1">
                        <a:solidFill>
                          <a:srgbClr val="CC0066"/>
                        </a:solidFill>
                        <a:latin typeface="Cambria Math" panose="02040503050406030204" pitchFamily="18" charset="0"/>
                      </a:rPr>
                      <m:t>∘</m:t>
                    </m:r>
                    <m:r>
                      <a:rPr lang="ar-AE" sz="1400" b="1" i="1">
                        <a:solidFill>
                          <a:srgbClr val="CC0066"/>
                        </a:solidFill>
                        <a:latin typeface="Cambria Math" panose="02040503050406030204" pitchFamily="18" charset="0"/>
                      </a:rPr>
                      <m:t>𝑹</m:t>
                    </m:r>
                  </m:oMath>
                </a14:m>
                <a:endParaRPr lang="ar-AE" sz="1400" b="1" dirty="0">
                  <a:solidFill>
                    <a:srgbClr val="CC0066"/>
                  </a:solidFill>
                </a:endParaRPr>
              </a:p>
              <a:p>
                <a:r>
                  <a:rPr lang="en-US" sz="1400" dirty="0"/>
                  <a:t>Combine </a:t>
                </a:r>
                <a14:m>
                  <m:oMath xmlns:m="http://schemas.openxmlformats.org/officeDocument/2006/math">
                    <m:sSup>
                      <m:sSupPr>
                        <m:ctrlPr>
                          <a:rPr lang="ar-AE" sz="1400" i="1">
                            <a:latin typeface="Cambria Math" panose="02040503050406030204" pitchFamily="18" charset="0"/>
                          </a:rPr>
                        </m:ctrlPr>
                      </m:sSupPr>
                      <m:e>
                        <m:r>
                          <a:rPr lang="ar-AE" sz="1400" i="1">
                            <a:latin typeface="Cambria Math" panose="02040503050406030204" pitchFamily="18" charset="0"/>
                          </a:rPr>
                          <m:t>𝑅</m:t>
                        </m:r>
                      </m:e>
                      <m:sup>
                        <m:r>
                          <a:rPr lang="ar-AE" sz="1400">
                            <a:latin typeface="Cambria Math" panose="02040503050406030204" pitchFamily="18" charset="0"/>
                          </a:rPr>
                          <m:t>2</m:t>
                        </m:r>
                      </m:sup>
                    </m:sSup>
                  </m:oMath>
                </a14:m>
                <a:r>
                  <a:rPr lang="en-US" sz="1400" dirty="0"/>
                  <a:t>with </a:t>
                </a:r>
                <a14:m>
                  <m:oMath xmlns:m="http://schemas.openxmlformats.org/officeDocument/2006/math">
                    <m:r>
                      <a:rPr lang="en-US" sz="1400" i="1">
                        <a:latin typeface="Cambria Math" panose="02040503050406030204" pitchFamily="18" charset="0"/>
                      </a:rPr>
                      <m:t>𝑅</m:t>
                    </m:r>
                  </m:oMath>
                </a14:m>
                <a:endParaRPr lang="en-US" sz="1400" dirty="0"/>
              </a:p>
              <a:p>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1</m:t>
                        </m:r>
                      </m:e>
                      <m:e>
                        <m:r>
                          <a:rPr lang="ar-AE" sz="1400">
                            <a:latin typeface="Cambria Math" panose="02040503050406030204" pitchFamily="18" charset="0"/>
                          </a:rPr>
                          <m:t>3</m:t>
                        </m:r>
                      </m:e>
                    </m:d>
                  </m:oMath>
                </a14:m>
                <a:r>
                  <a:rPr lang="en-US" sz="1400" dirty="0"/>
                  <a:t>and </a:t>
                </a:r>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3</m:t>
                        </m:r>
                      </m:e>
                      <m:e>
                        <m:r>
                          <a:rPr lang="ar-AE" sz="1400">
                            <a:latin typeface="Cambria Math" panose="02040503050406030204" pitchFamily="18" charset="0"/>
                          </a:rPr>
                          <m:t>4</m:t>
                        </m:r>
                      </m:e>
                    </m:d>
                  </m:oMath>
                </a14:m>
                <a:r>
                  <a:rPr lang="ar-AE" sz="1400" dirty="0"/>
                  <a:t>→ </a:t>
                </a:r>
                <a14:m>
                  <m:oMath xmlns:m="http://schemas.openxmlformats.org/officeDocument/2006/math">
                    <m:d>
                      <m:dPr>
                        <m:sepChr m:val=","/>
                        <m:ctrlPr>
                          <a:rPr lang="ar-AE" sz="1400" i="1" smtClean="0">
                            <a:solidFill>
                              <a:srgbClr val="7030A0"/>
                            </a:solidFill>
                            <a:latin typeface="Cambria Math" panose="02040503050406030204" pitchFamily="18" charset="0"/>
                          </a:rPr>
                        </m:ctrlPr>
                      </m:dPr>
                      <m:e>
                        <m:r>
                          <a:rPr lang="ar-AE" sz="1400">
                            <a:solidFill>
                              <a:srgbClr val="7030A0"/>
                            </a:solidFill>
                            <a:latin typeface="Cambria Math" panose="02040503050406030204" pitchFamily="18" charset="0"/>
                          </a:rPr>
                          <m:t>1</m:t>
                        </m:r>
                      </m:e>
                      <m:e>
                        <m:r>
                          <a:rPr lang="ar-AE" sz="1400">
                            <a:solidFill>
                              <a:srgbClr val="7030A0"/>
                            </a:solidFill>
                            <a:latin typeface="Cambria Math" panose="02040503050406030204" pitchFamily="18" charset="0"/>
                          </a:rPr>
                          <m:t>4</m:t>
                        </m:r>
                      </m:e>
                    </m:d>
                  </m:oMath>
                </a14:m>
                <a:endParaRPr lang="ar-AE" sz="1400" dirty="0"/>
              </a:p>
              <a:p>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2</m:t>
                        </m:r>
                      </m:e>
                      <m:e>
                        <m:r>
                          <a:rPr lang="ar-AE" sz="1400">
                            <a:latin typeface="Cambria Math" panose="02040503050406030204" pitchFamily="18" charset="0"/>
                          </a:rPr>
                          <m:t>4</m:t>
                        </m:r>
                      </m:e>
                    </m:d>
                  </m:oMath>
                </a14:m>
                <a:r>
                  <a:rPr lang="en-US" sz="1400" dirty="0"/>
                  <a:t>and </a:t>
                </a:r>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4</m:t>
                        </m:r>
                      </m:e>
                      <m:e>
                        <m:r>
                          <a:rPr lang="ar-AE" sz="1400">
                            <a:latin typeface="Cambria Math" panose="02040503050406030204" pitchFamily="18" charset="0"/>
                          </a:rPr>
                          <m:t>5</m:t>
                        </m:r>
                      </m:e>
                    </m:d>
                  </m:oMath>
                </a14:m>
                <a:r>
                  <a:rPr lang="ar-AE" sz="1400" dirty="0"/>
                  <a:t>→ </a:t>
                </a:r>
                <a14:m>
                  <m:oMath xmlns:m="http://schemas.openxmlformats.org/officeDocument/2006/math">
                    <m:d>
                      <m:dPr>
                        <m:sepChr m:val=","/>
                        <m:ctrlPr>
                          <a:rPr lang="ar-AE" sz="1400" i="1" smtClean="0">
                            <a:solidFill>
                              <a:srgbClr val="7030A0"/>
                            </a:solidFill>
                            <a:latin typeface="Cambria Math" panose="02040503050406030204" pitchFamily="18" charset="0"/>
                          </a:rPr>
                        </m:ctrlPr>
                      </m:dPr>
                      <m:e>
                        <m:r>
                          <a:rPr lang="ar-AE" sz="1400">
                            <a:solidFill>
                              <a:srgbClr val="7030A0"/>
                            </a:solidFill>
                            <a:latin typeface="Cambria Math" panose="02040503050406030204" pitchFamily="18" charset="0"/>
                          </a:rPr>
                          <m:t>2</m:t>
                        </m:r>
                      </m:e>
                      <m:e>
                        <m:r>
                          <a:rPr lang="ar-AE" sz="1400">
                            <a:solidFill>
                              <a:srgbClr val="7030A0"/>
                            </a:solidFill>
                            <a:latin typeface="Cambria Math" panose="02040503050406030204" pitchFamily="18" charset="0"/>
                          </a:rPr>
                          <m:t>5</m:t>
                        </m:r>
                      </m:e>
                    </m:d>
                  </m:oMath>
                </a14:m>
                <a:endParaRPr lang="ar-AE" sz="1400" dirty="0"/>
              </a:p>
              <a:p>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3</m:t>
                        </m:r>
                      </m:e>
                      <m:e>
                        <m:r>
                          <a:rPr lang="ar-AE" sz="1400">
                            <a:latin typeface="Cambria Math" panose="02040503050406030204" pitchFamily="18" charset="0"/>
                          </a:rPr>
                          <m:t>5</m:t>
                        </m:r>
                      </m:e>
                    </m:d>
                  </m:oMath>
                </a14:m>
                <a:r>
                  <a:rPr lang="ar-AE" sz="1400" dirty="0"/>
                  <a:t>→ </a:t>
                </a:r>
                <a:r>
                  <a:rPr lang="en-US" sz="1400" dirty="0"/>
                  <a:t>no pair starts with 5 in R → </a:t>
                </a:r>
                <a:r>
                  <a:rPr lang="en-US" sz="1400" dirty="0">
                    <a:solidFill>
                      <a:srgbClr val="7030A0"/>
                    </a:solidFill>
                  </a:rPr>
                  <a:t>nothing </a:t>
                </a:r>
              </a:p>
              <a:p>
                <a14:m>
                  <m:oMath xmlns:m="http://schemas.openxmlformats.org/officeDocument/2006/math">
                    <m:sSup>
                      <m:sSupPr>
                        <m:ctrlPr>
                          <a:rPr lang="ar-AE" sz="1400" b="1" i="1" smtClean="0">
                            <a:solidFill>
                              <a:srgbClr val="C00000"/>
                            </a:solidFill>
                            <a:latin typeface="Cambria Math" panose="02040503050406030204" pitchFamily="18" charset="0"/>
                          </a:rPr>
                        </m:ctrlPr>
                      </m:sSupPr>
                      <m:e>
                        <m:r>
                          <a:rPr lang="ar-AE" sz="1400" b="1" i="1">
                            <a:solidFill>
                              <a:srgbClr val="C00000"/>
                            </a:solidFill>
                            <a:latin typeface="Cambria Math" panose="02040503050406030204" pitchFamily="18" charset="0"/>
                          </a:rPr>
                          <m:t>𝑹</m:t>
                        </m:r>
                      </m:e>
                      <m:sup>
                        <m:r>
                          <a:rPr lang="ar-AE" sz="1400" b="1" i="1">
                            <a:solidFill>
                              <a:srgbClr val="C00000"/>
                            </a:solidFill>
                            <a:latin typeface="Cambria Math" panose="02040503050406030204" pitchFamily="18" charset="0"/>
                          </a:rPr>
                          <m:t>𝟑</m:t>
                        </m:r>
                      </m:sup>
                    </m:sSup>
                    <m:r>
                      <a:rPr lang="ar-AE" sz="1400" b="1">
                        <a:solidFill>
                          <a:srgbClr val="C00000"/>
                        </a:solidFill>
                        <a:latin typeface="Cambria Math" panose="02040503050406030204" pitchFamily="18" charset="0"/>
                      </a:rPr>
                      <m:t>=</m:t>
                    </m:r>
                    <m:d>
                      <m:dPr>
                        <m:begChr m:val="{"/>
                        <m:endChr m:val="}"/>
                        <m:sepChr m:val=","/>
                        <m:ctrlPr>
                          <a:rPr lang="ar-AE" sz="1400" b="1" i="1">
                            <a:solidFill>
                              <a:srgbClr val="C00000"/>
                            </a:solidFill>
                            <a:latin typeface="Cambria Math" panose="02040503050406030204" pitchFamily="18" charset="0"/>
                          </a:rPr>
                        </m:ctrlPr>
                      </m:dPr>
                      <m:e>
                        <m:d>
                          <m:dPr>
                            <m:sepChr m:val=","/>
                            <m:ctrlPr>
                              <a:rPr lang="ar-AE" sz="1400" b="1" i="1">
                                <a:solidFill>
                                  <a:srgbClr val="C00000"/>
                                </a:solidFill>
                                <a:latin typeface="Cambria Math" panose="02040503050406030204" pitchFamily="18" charset="0"/>
                              </a:rPr>
                            </m:ctrlPr>
                          </m:dPr>
                          <m:e>
                            <m:r>
                              <a:rPr lang="ar-AE" sz="1400" b="1" i="1">
                                <a:solidFill>
                                  <a:srgbClr val="C00000"/>
                                </a:solidFill>
                                <a:latin typeface="Cambria Math" panose="02040503050406030204" pitchFamily="18" charset="0"/>
                              </a:rPr>
                              <m:t>𝟏</m:t>
                            </m:r>
                          </m:e>
                          <m:e>
                            <m:r>
                              <a:rPr lang="ar-AE" sz="1400" b="1" i="1">
                                <a:solidFill>
                                  <a:srgbClr val="C00000"/>
                                </a:solidFill>
                                <a:latin typeface="Cambria Math" panose="02040503050406030204" pitchFamily="18" charset="0"/>
                              </a:rPr>
                              <m:t>𝟒</m:t>
                            </m:r>
                          </m:e>
                        </m:d>
                      </m:e>
                      <m:e>
                        <m:d>
                          <m:dPr>
                            <m:sepChr m:val=","/>
                            <m:ctrlPr>
                              <a:rPr lang="ar-AE" sz="1400" b="1" i="1">
                                <a:solidFill>
                                  <a:srgbClr val="C00000"/>
                                </a:solidFill>
                                <a:latin typeface="Cambria Math" panose="02040503050406030204" pitchFamily="18" charset="0"/>
                              </a:rPr>
                            </m:ctrlPr>
                          </m:dPr>
                          <m:e>
                            <m:r>
                              <a:rPr lang="ar-AE" sz="1400" b="1" i="1">
                                <a:solidFill>
                                  <a:srgbClr val="C00000"/>
                                </a:solidFill>
                                <a:latin typeface="Cambria Math" panose="02040503050406030204" pitchFamily="18" charset="0"/>
                              </a:rPr>
                              <m:t>𝟐</m:t>
                            </m:r>
                          </m:e>
                          <m:e>
                            <m:r>
                              <a:rPr lang="ar-AE" sz="1400" b="1" i="1">
                                <a:solidFill>
                                  <a:srgbClr val="C00000"/>
                                </a:solidFill>
                                <a:latin typeface="Cambria Math" panose="02040503050406030204" pitchFamily="18" charset="0"/>
                              </a:rPr>
                              <m:t>𝟓</m:t>
                            </m:r>
                          </m:e>
                        </m:d>
                      </m:e>
                    </m:d>
                  </m:oMath>
                </a14:m>
                <a:endParaRPr lang="en-US" sz="1400" b="1" dirty="0">
                  <a:solidFill>
                    <a:srgbClr val="C00000"/>
                  </a:solidFill>
                </a:endParaRPr>
              </a:p>
              <a:p>
                <a:r>
                  <a:rPr lang="en-US" sz="1400" b="1" dirty="0">
                    <a:solidFill>
                      <a:srgbClr val="CC0066"/>
                    </a:solidFill>
                  </a:rPr>
                  <a:t>Step 4: </a:t>
                </a:r>
                <a14:m>
                  <m:oMath xmlns:m="http://schemas.openxmlformats.org/officeDocument/2006/math">
                    <m:sSup>
                      <m:sSupPr>
                        <m:ctrlPr>
                          <a:rPr lang="ar-AE" sz="1400" b="1" i="1" smtClean="0">
                            <a:solidFill>
                              <a:srgbClr val="CC0066"/>
                            </a:solidFill>
                            <a:latin typeface="Cambria Math" panose="02040503050406030204" pitchFamily="18" charset="0"/>
                          </a:rPr>
                        </m:ctrlPr>
                      </m:sSupPr>
                      <m:e>
                        <m:r>
                          <a:rPr lang="ar-AE" sz="1400" b="1" i="1">
                            <a:solidFill>
                              <a:srgbClr val="CC0066"/>
                            </a:solidFill>
                            <a:latin typeface="Cambria Math" panose="02040503050406030204" pitchFamily="18" charset="0"/>
                          </a:rPr>
                          <m:t>𝑹</m:t>
                        </m:r>
                      </m:e>
                      <m:sup>
                        <m:r>
                          <a:rPr lang="ar-AE" sz="1400" b="1" i="1">
                            <a:solidFill>
                              <a:srgbClr val="CC0066"/>
                            </a:solidFill>
                            <a:latin typeface="Cambria Math" panose="02040503050406030204" pitchFamily="18" charset="0"/>
                          </a:rPr>
                          <m:t>𝟒</m:t>
                        </m:r>
                      </m:sup>
                    </m:sSup>
                    <m:r>
                      <a:rPr lang="ar-AE" sz="1400" b="1">
                        <a:solidFill>
                          <a:srgbClr val="CC0066"/>
                        </a:solidFill>
                        <a:latin typeface="Cambria Math" panose="02040503050406030204" pitchFamily="18" charset="0"/>
                      </a:rPr>
                      <m:t>=</m:t>
                    </m:r>
                    <m:sSup>
                      <m:sSupPr>
                        <m:ctrlPr>
                          <a:rPr lang="ar-AE" sz="1400" b="1" i="1">
                            <a:solidFill>
                              <a:srgbClr val="CC0066"/>
                            </a:solidFill>
                            <a:latin typeface="Cambria Math" panose="02040503050406030204" pitchFamily="18" charset="0"/>
                          </a:rPr>
                        </m:ctrlPr>
                      </m:sSupPr>
                      <m:e>
                        <m:r>
                          <a:rPr lang="ar-AE" sz="1400" b="1" i="1">
                            <a:solidFill>
                              <a:srgbClr val="CC0066"/>
                            </a:solidFill>
                            <a:latin typeface="Cambria Math" panose="02040503050406030204" pitchFamily="18" charset="0"/>
                          </a:rPr>
                          <m:t>𝑹</m:t>
                        </m:r>
                      </m:e>
                      <m:sup>
                        <m:r>
                          <a:rPr lang="ar-AE" sz="1400" b="1" i="1">
                            <a:solidFill>
                              <a:srgbClr val="CC0066"/>
                            </a:solidFill>
                            <a:latin typeface="Cambria Math" panose="02040503050406030204" pitchFamily="18" charset="0"/>
                          </a:rPr>
                          <m:t>𝟑</m:t>
                        </m:r>
                      </m:sup>
                    </m:sSup>
                    <m:r>
                      <a:rPr lang="ar-AE" sz="1400" b="1">
                        <a:solidFill>
                          <a:srgbClr val="CC0066"/>
                        </a:solidFill>
                        <a:latin typeface="Cambria Math" panose="02040503050406030204" pitchFamily="18" charset="0"/>
                      </a:rPr>
                      <m:t>∘</m:t>
                    </m:r>
                    <m:r>
                      <a:rPr lang="ar-AE" sz="1400" b="1" i="1">
                        <a:solidFill>
                          <a:srgbClr val="CC0066"/>
                        </a:solidFill>
                        <a:latin typeface="Cambria Math" panose="02040503050406030204" pitchFamily="18" charset="0"/>
                      </a:rPr>
                      <m:t>𝑹</m:t>
                    </m:r>
                  </m:oMath>
                </a14:m>
                <a:endParaRPr lang="ar-AE" sz="1400" b="1" dirty="0">
                  <a:solidFill>
                    <a:srgbClr val="CC0066"/>
                  </a:solidFill>
                </a:endParaRPr>
              </a:p>
              <a:p>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1</m:t>
                        </m:r>
                      </m:e>
                      <m:e>
                        <m:r>
                          <a:rPr lang="ar-AE" sz="1400">
                            <a:latin typeface="Cambria Math" panose="02040503050406030204" pitchFamily="18" charset="0"/>
                          </a:rPr>
                          <m:t>4</m:t>
                        </m:r>
                      </m:e>
                    </m:d>
                  </m:oMath>
                </a14:m>
                <a:r>
                  <a:rPr lang="en-US" sz="1400" dirty="0"/>
                  <a:t>and </a:t>
                </a:r>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4</m:t>
                        </m:r>
                      </m:e>
                      <m:e>
                        <m:r>
                          <a:rPr lang="ar-AE" sz="1400">
                            <a:latin typeface="Cambria Math" panose="02040503050406030204" pitchFamily="18" charset="0"/>
                          </a:rPr>
                          <m:t>5</m:t>
                        </m:r>
                      </m:e>
                    </m:d>
                  </m:oMath>
                </a14:m>
                <a:r>
                  <a:rPr lang="ar-AE" sz="1400" dirty="0"/>
                  <a:t>→ </a:t>
                </a:r>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1</m:t>
                        </m:r>
                      </m:e>
                      <m:e>
                        <m:r>
                          <a:rPr lang="ar-AE" sz="1400">
                            <a:latin typeface="Cambria Math" panose="02040503050406030204" pitchFamily="18" charset="0"/>
                          </a:rPr>
                          <m:t>5</m:t>
                        </m:r>
                      </m:e>
                    </m:d>
                  </m:oMath>
                </a14:m>
                <a:endParaRPr lang="ar-AE" sz="1400" dirty="0"/>
              </a:p>
              <a:p>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2</m:t>
                        </m:r>
                      </m:e>
                      <m:e>
                        <m:r>
                          <a:rPr lang="ar-AE" sz="1400">
                            <a:latin typeface="Cambria Math" panose="02040503050406030204" pitchFamily="18" charset="0"/>
                          </a:rPr>
                          <m:t>5</m:t>
                        </m:r>
                      </m:e>
                    </m:d>
                  </m:oMath>
                </a14:m>
                <a:r>
                  <a:rPr lang="ar-AE" sz="1400" dirty="0"/>
                  <a:t>→ </a:t>
                </a:r>
                <a:r>
                  <a:rPr lang="en-US" sz="1400" dirty="0"/>
                  <a:t>no pair starts with 5 in R → </a:t>
                </a:r>
                <a:r>
                  <a:rPr lang="en-US" sz="1400" dirty="0">
                    <a:solidFill>
                      <a:srgbClr val="7030A0"/>
                    </a:solidFill>
                  </a:rPr>
                  <a:t>nothing </a:t>
                </a:r>
              </a:p>
              <a:p>
                <a14:m>
                  <m:oMath xmlns:m="http://schemas.openxmlformats.org/officeDocument/2006/math">
                    <m:sSup>
                      <m:sSupPr>
                        <m:ctrlPr>
                          <a:rPr lang="ar-AE" sz="1400" b="1" i="1" smtClean="0">
                            <a:solidFill>
                              <a:srgbClr val="C00000"/>
                            </a:solidFill>
                            <a:latin typeface="Cambria Math" panose="02040503050406030204" pitchFamily="18" charset="0"/>
                          </a:rPr>
                        </m:ctrlPr>
                      </m:sSupPr>
                      <m:e>
                        <m:r>
                          <a:rPr lang="ar-AE" sz="1400" b="1" i="1">
                            <a:solidFill>
                              <a:srgbClr val="C00000"/>
                            </a:solidFill>
                            <a:latin typeface="Cambria Math" panose="02040503050406030204" pitchFamily="18" charset="0"/>
                          </a:rPr>
                          <m:t>𝑹</m:t>
                        </m:r>
                      </m:e>
                      <m:sup>
                        <m:r>
                          <a:rPr lang="ar-AE" sz="1400" b="1" i="1">
                            <a:solidFill>
                              <a:srgbClr val="C00000"/>
                            </a:solidFill>
                            <a:latin typeface="Cambria Math" panose="02040503050406030204" pitchFamily="18" charset="0"/>
                          </a:rPr>
                          <m:t>𝟒</m:t>
                        </m:r>
                      </m:sup>
                    </m:sSup>
                    <m:r>
                      <a:rPr lang="ar-AE" sz="1400" b="1">
                        <a:solidFill>
                          <a:srgbClr val="C00000"/>
                        </a:solidFill>
                        <a:latin typeface="Cambria Math" panose="02040503050406030204" pitchFamily="18" charset="0"/>
                      </a:rPr>
                      <m:t>=</m:t>
                    </m:r>
                    <m:d>
                      <m:dPr>
                        <m:begChr m:val="{"/>
                        <m:endChr m:val="}"/>
                        <m:ctrlPr>
                          <a:rPr lang="ar-AE" sz="1400" b="1" i="1">
                            <a:solidFill>
                              <a:srgbClr val="C00000"/>
                            </a:solidFill>
                            <a:latin typeface="Cambria Math" panose="02040503050406030204" pitchFamily="18" charset="0"/>
                          </a:rPr>
                        </m:ctrlPr>
                      </m:dPr>
                      <m:e>
                        <m:d>
                          <m:dPr>
                            <m:sepChr m:val=","/>
                            <m:ctrlPr>
                              <a:rPr lang="ar-AE" sz="1400" b="1" i="1">
                                <a:solidFill>
                                  <a:srgbClr val="C00000"/>
                                </a:solidFill>
                                <a:latin typeface="Cambria Math" panose="02040503050406030204" pitchFamily="18" charset="0"/>
                              </a:rPr>
                            </m:ctrlPr>
                          </m:dPr>
                          <m:e>
                            <m:r>
                              <a:rPr lang="ar-AE" sz="1400" b="1" i="1">
                                <a:solidFill>
                                  <a:srgbClr val="C00000"/>
                                </a:solidFill>
                                <a:latin typeface="Cambria Math" panose="02040503050406030204" pitchFamily="18" charset="0"/>
                              </a:rPr>
                              <m:t>𝟏</m:t>
                            </m:r>
                          </m:e>
                          <m:e>
                            <m:r>
                              <a:rPr lang="ar-AE" sz="1400" b="1" i="1">
                                <a:solidFill>
                                  <a:srgbClr val="C00000"/>
                                </a:solidFill>
                                <a:latin typeface="Cambria Math" panose="02040503050406030204" pitchFamily="18" charset="0"/>
                              </a:rPr>
                              <m:t>𝟓</m:t>
                            </m:r>
                          </m:e>
                        </m:d>
                      </m:e>
                    </m:d>
                  </m:oMath>
                </a14:m>
                <a:endParaRPr lang="ar-AE" sz="1400" b="1" dirty="0"/>
              </a:p>
              <a:p>
                <a:r>
                  <a:rPr lang="en-US" sz="1400" b="1" dirty="0">
                    <a:solidFill>
                      <a:srgbClr val="CC0066"/>
                    </a:solidFill>
                  </a:rPr>
                  <a:t>Step 5: </a:t>
                </a:r>
                <a14:m>
                  <m:oMath xmlns:m="http://schemas.openxmlformats.org/officeDocument/2006/math">
                    <m:sSup>
                      <m:sSupPr>
                        <m:ctrlPr>
                          <a:rPr lang="ar-AE" sz="1400" b="1" i="1">
                            <a:solidFill>
                              <a:srgbClr val="CC0066"/>
                            </a:solidFill>
                            <a:latin typeface="Cambria Math" panose="02040503050406030204" pitchFamily="18" charset="0"/>
                          </a:rPr>
                        </m:ctrlPr>
                      </m:sSupPr>
                      <m:e>
                        <m:r>
                          <a:rPr lang="ar-AE" sz="1400" b="1" i="1">
                            <a:solidFill>
                              <a:srgbClr val="CC0066"/>
                            </a:solidFill>
                            <a:latin typeface="Cambria Math" panose="02040503050406030204" pitchFamily="18" charset="0"/>
                          </a:rPr>
                          <m:t>𝑹</m:t>
                        </m:r>
                      </m:e>
                      <m:sup>
                        <m:r>
                          <a:rPr lang="ar-AE" sz="1400" b="1" i="1">
                            <a:solidFill>
                              <a:srgbClr val="CC0066"/>
                            </a:solidFill>
                            <a:latin typeface="Cambria Math" panose="02040503050406030204" pitchFamily="18" charset="0"/>
                          </a:rPr>
                          <m:t>𝟓</m:t>
                        </m:r>
                      </m:sup>
                    </m:sSup>
                    <m:r>
                      <a:rPr lang="ar-AE" sz="1400" b="1">
                        <a:solidFill>
                          <a:srgbClr val="CC0066"/>
                        </a:solidFill>
                        <a:latin typeface="Cambria Math" panose="02040503050406030204" pitchFamily="18" charset="0"/>
                      </a:rPr>
                      <m:t>=</m:t>
                    </m:r>
                    <m:sSup>
                      <m:sSupPr>
                        <m:ctrlPr>
                          <a:rPr lang="ar-AE" sz="1400" b="1" i="1">
                            <a:solidFill>
                              <a:srgbClr val="CC0066"/>
                            </a:solidFill>
                            <a:latin typeface="Cambria Math" panose="02040503050406030204" pitchFamily="18" charset="0"/>
                          </a:rPr>
                        </m:ctrlPr>
                      </m:sSupPr>
                      <m:e>
                        <m:r>
                          <a:rPr lang="ar-AE" sz="1400" b="1" i="1">
                            <a:solidFill>
                              <a:srgbClr val="CC0066"/>
                            </a:solidFill>
                            <a:latin typeface="Cambria Math" panose="02040503050406030204" pitchFamily="18" charset="0"/>
                          </a:rPr>
                          <m:t>𝑹</m:t>
                        </m:r>
                      </m:e>
                      <m:sup>
                        <m:r>
                          <a:rPr lang="ar-AE" sz="1400" b="1" i="1">
                            <a:solidFill>
                              <a:srgbClr val="CC0066"/>
                            </a:solidFill>
                            <a:latin typeface="Cambria Math" panose="02040503050406030204" pitchFamily="18" charset="0"/>
                          </a:rPr>
                          <m:t>𝟒</m:t>
                        </m:r>
                      </m:sup>
                    </m:sSup>
                    <m:r>
                      <a:rPr lang="ar-AE" sz="1400" b="1">
                        <a:solidFill>
                          <a:srgbClr val="CC0066"/>
                        </a:solidFill>
                        <a:latin typeface="Cambria Math" panose="02040503050406030204" pitchFamily="18" charset="0"/>
                      </a:rPr>
                      <m:t>∘</m:t>
                    </m:r>
                    <m:r>
                      <a:rPr lang="ar-AE" sz="1400" b="1" i="1">
                        <a:solidFill>
                          <a:srgbClr val="CC0066"/>
                        </a:solidFill>
                        <a:latin typeface="Cambria Math" panose="02040503050406030204" pitchFamily="18" charset="0"/>
                      </a:rPr>
                      <m:t>𝑹</m:t>
                    </m:r>
                  </m:oMath>
                </a14:m>
                <a:endParaRPr lang="ar-AE" sz="1400" b="1" dirty="0">
                  <a:solidFill>
                    <a:srgbClr val="CC0066"/>
                  </a:solidFill>
                </a:endParaRPr>
              </a:p>
              <a:p>
                <a14:m>
                  <m:oMath xmlns:m="http://schemas.openxmlformats.org/officeDocument/2006/math">
                    <m:d>
                      <m:dPr>
                        <m:sepChr m:val=","/>
                        <m:ctrlPr>
                          <a:rPr lang="ar-AE" sz="1400" i="1">
                            <a:latin typeface="Cambria Math" panose="02040503050406030204" pitchFamily="18" charset="0"/>
                          </a:rPr>
                        </m:ctrlPr>
                      </m:dPr>
                      <m:e>
                        <m:r>
                          <a:rPr lang="ar-AE" sz="1400">
                            <a:latin typeface="Cambria Math" panose="02040503050406030204" pitchFamily="18" charset="0"/>
                          </a:rPr>
                          <m:t>1</m:t>
                        </m:r>
                      </m:e>
                      <m:e>
                        <m:r>
                          <a:rPr lang="ar-AE" sz="1400">
                            <a:latin typeface="Cambria Math" panose="02040503050406030204" pitchFamily="18" charset="0"/>
                          </a:rPr>
                          <m:t>5</m:t>
                        </m:r>
                      </m:e>
                    </m:d>
                  </m:oMath>
                </a14:m>
                <a:r>
                  <a:rPr lang="ar-AE" sz="1400" dirty="0"/>
                  <a:t>→ </a:t>
                </a:r>
                <a:r>
                  <a:rPr lang="en-US" sz="1400" dirty="0"/>
                  <a:t>no pair starts with 5 in R → </a:t>
                </a:r>
                <a:r>
                  <a:rPr lang="en-US" sz="1400" dirty="0">
                    <a:solidFill>
                      <a:srgbClr val="7030A0"/>
                    </a:solidFill>
                  </a:rPr>
                  <a:t>nothing</a:t>
                </a:r>
                <a:r>
                  <a:rPr lang="en-US" sz="1400" dirty="0"/>
                  <a:t> </a:t>
                </a:r>
              </a:p>
              <a:p>
                <a14:m>
                  <m:oMath xmlns:m="http://schemas.openxmlformats.org/officeDocument/2006/math">
                    <m:sSup>
                      <m:sSupPr>
                        <m:ctrlPr>
                          <a:rPr lang="ar-AE" sz="1400" b="1" i="1" smtClean="0">
                            <a:solidFill>
                              <a:srgbClr val="C00000"/>
                            </a:solidFill>
                            <a:latin typeface="Cambria Math" panose="02040503050406030204" pitchFamily="18" charset="0"/>
                          </a:rPr>
                        </m:ctrlPr>
                      </m:sSupPr>
                      <m:e>
                        <m:r>
                          <a:rPr lang="ar-AE" sz="1400" b="1" i="1">
                            <a:solidFill>
                              <a:srgbClr val="C00000"/>
                            </a:solidFill>
                            <a:latin typeface="Cambria Math" panose="02040503050406030204" pitchFamily="18" charset="0"/>
                          </a:rPr>
                          <m:t>𝑹</m:t>
                        </m:r>
                      </m:e>
                      <m:sup>
                        <m:r>
                          <a:rPr lang="ar-AE" sz="1400" b="1" i="1">
                            <a:solidFill>
                              <a:srgbClr val="C00000"/>
                            </a:solidFill>
                            <a:latin typeface="Cambria Math" panose="02040503050406030204" pitchFamily="18" charset="0"/>
                          </a:rPr>
                          <m:t>𝟓</m:t>
                        </m:r>
                      </m:sup>
                    </m:sSup>
                    <m:r>
                      <a:rPr lang="ar-AE" sz="1400" b="1">
                        <a:solidFill>
                          <a:srgbClr val="C00000"/>
                        </a:solidFill>
                        <a:latin typeface="Cambria Math" panose="02040503050406030204" pitchFamily="18" charset="0"/>
                      </a:rPr>
                      <m:t>=</m:t>
                    </m:r>
                    <m:r>
                      <a:rPr lang="ar-AE" sz="1400" b="1">
                        <a:solidFill>
                          <a:srgbClr val="C00000"/>
                        </a:solidFill>
                        <a:latin typeface="Cambria Math" panose="02040503050406030204" pitchFamily="18" charset="0"/>
                      </a:rPr>
                      <m:t>∅</m:t>
                    </m:r>
                  </m:oMath>
                </a14:m>
                <a:endParaRPr lang="ar-AE" sz="1400" b="1" dirty="0"/>
              </a:p>
              <a:p>
                <a:endParaRPr lang="ar-AE" sz="1400" b="1" dirty="0">
                  <a:solidFill>
                    <a:srgbClr val="C00000"/>
                  </a:solidFill>
                </a:endParaRPr>
              </a:p>
              <a:p>
                <a:pPr algn="ctr"/>
                <a:endParaRPr lang="en-US" sz="1400" b="1" dirty="0">
                  <a:solidFill>
                    <a:srgbClr val="C00000"/>
                  </a:solidFill>
                </a:endParaRPr>
              </a:p>
            </p:txBody>
          </p:sp>
        </mc:Choice>
        <mc:Fallback xmlns="">
          <p:sp>
            <p:nvSpPr>
              <p:cNvPr id="3" name="Content Placeholder 2">
                <a:extLst>
                  <a:ext uri="{FF2B5EF4-FFF2-40B4-BE49-F238E27FC236}">
                    <a16:creationId xmlns:a16="http://schemas.microsoft.com/office/drawing/2014/main" id="{C25D989F-40EB-0826-F20B-C5D439859EA1}"/>
                  </a:ext>
                </a:extLst>
              </p:cNvPr>
              <p:cNvSpPr>
                <a:spLocks noGrp="1" noRot="1" noChangeAspect="1" noMove="1" noResize="1" noEditPoints="1" noAdjustHandles="1" noChangeArrowheads="1" noChangeShapeType="1" noTextEdit="1"/>
              </p:cNvSpPr>
              <p:nvPr>
                <p:ph idx="1"/>
              </p:nvPr>
            </p:nvSpPr>
            <p:spPr>
              <a:xfrm>
                <a:off x="304800" y="152400"/>
                <a:ext cx="7696200" cy="4389120"/>
              </a:xfrm>
              <a:blipFill>
                <a:blip r:embed="rId2"/>
                <a:stretch>
                  <a:fillRect l="-238" t="-278" b="-48333"/>
                </a:stretch>
              </a:blipFill>
            </p:spPr>
            <p:txBody>
              <a:bodyPr/>
              <a:lstStyle/>
              <a:p>
                <a:r>
                  <a:rPr lang="en-US">
                    <a:noFill/>
                  </a:rPr>
                  <a:t> </a:t>
                </a:r>
              </a:p>
            </p:txBody>
          </p:sp>
        </mc:Fallback>
      </mc:AlternateContent>
    </p:spTree>
    <p:extLst>
      <p:ext uri="{BB962C8B-B14F-4D97-AF65-F5344CB8AC3E}">
        <p14:creationId xmlns:p14="http://schemas.microsoft.com/office/powerpoint/2010/main" val="35194194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6225"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0381"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4073"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05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215"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8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36715"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Shape 23">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62215" y="-8467"/>
            <a:ext cx="6881785" cy="6866467"/>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314352" y="1020871"/>
            <a:ext cx="5220569" cy="2849671"/>
          </a:xfrm>
        </p:spPr>
        <p:txBody>
          <a:bodyPr>
            <a:normAutofit/>
          </a:bodyPr>
          <a:lstStyle/>
          <a:p>
            <a:pPr algn="l"/>
            <a:r>
              <a:rPr lang="en-US" sz="5200">
                <a:solidFill>
                  <a:srgbClr val="FFFFFF"/>
                </a:solidFill>
              </a:rPr>
              <a:t>Equivalence Relations</a:t>
            </a:r>
          </a:p>
        </p:txBody>
      </p:sp>
      <p:sp>
        <p:nvSpPr>
          <p:cNvPr id="3" name="Subtitle 2"/>
          <p:cNvSpPr>
            <a:spLocks noGrp="1"/>
          </p:cNvSpPr>
          <p:nvPr>
            <p:ph type="subTitle" idx="1"/>
          </p:nvPr>
        </p:nvSpPr>
        <p:spPr>
          <a:xfrm>
            <a:off x="3342289" y="3962088"/>
            <a:ext cx="4652846" cy="1186108"/>
          </a:xfrm>
        </p:spPr>
        <p:txBody>
          <a:bodyPr>
            <a:normAutofit/>
          </a:bodyPr>
          <a:lstStyle/>
          <a:p>
            <a:pPr algn="l"/>
            <a:r>
              <a:rPr lang="en-US">
                <a:solidFill>
                  <a:srgbClr val="FFFFFF">
                    <a:alpha val="70000"/>
                  </a:srgbClr>
                </a:solidFill>
              </a:rPr>
              <a:t>Section 9.5</a:t>
            </a:r>
          </a:p>
        </p:txBody>
      </p:sp>
      <p:sp>
        <p:nvSpPr>
          <p:cNvPr id="26" name="Isosceles Triangle 25">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19339" y="3294792"/>
            <a:ext cx="220660" cy="13982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6347713" cy="1320800"/>
          </a:xfrm>
        </p:spPr>
        <p:txBody>
          <a:bodyPr/>
          <a:lstStyle/>
          <a:p>
            <a:r>
              <a:rPr lang="en-US" dirty="0"/>
              <a:t>Equivalence Relations</a:t>
            </a:r>
          </a:p>
        </p:txBody>
      </p:sp>
      <p:sp>
        <p:nvSpPr>
          <p:cNvPr id="3" name="Content Placeholder 2"/>
          <p:cNvSpPr>
            <a:spLocks noGrp="1"/>
          </p:cNvSpPr>
          <p:nvPr>
            <p:ph idx="1"/>
          </p:nvPr>
        </p:nvSpPr>
        <p:spPr>
          <a:xfrm>
            <a:off x="249554" y="1066800"/>
            <a:ext cx="7363460" cy="2954655"/>
          </a:xfrm>
        </p:spPr>
        <p:txBody>
          <a:bodyPr>
            <a:normAutofit fontScale="92500" lnSpcReduction="20000"/>
          </a:bodyPr>
          <a:lstStyle/>
          <a:p>
            <a:r>
              <a:rPr lang="en-US" sz="2400" dirty="0">
                <a:solidFill>
                  <a:srgbClr val="7030A0"/>
                </a:solidFill>
              </a:rPr>
              <a:t>A relation is called an </a:t>
            </a:r>
            <a:r>
              <a:rPr lang="en-US" sz="2400" b="1" dirty="0">
                <a:solidFill>
                  <a:srgbClr val="7030A0"/>
                </a:solidFill>
              </a:rPr>
              <a:t>equivalence relation</a:t>
            </a:r>
            <a:r>
              <a:rPr lang="en-US" sz="2400" dirty="0">
                <a:solidFill>
                  <a:srgbClr val="7030A0"/>
                </a:solidFill>
              </a:rPr>
              <a:t> if it has all these </a:t>
            </a:r>
            <a:r>
              <a:rPr lang="en-US" sz="2400" b="1" dirty="0">
                <a:solidFill>
                  <a:srgbClr val="7030A0"/>
                </a:solidFill>
              </a:rPr>
              <a:t>3 properties</a:t>
            </a:r>
            <a:r>
              <a:rPr lang="en-US" sz="2400" dirty="0">
                <a:solidFill>
                  <a:srgbClr val="7030A0"/>
                </a:solidFill>
              </a:rPr>
              <a:t>:</a:t>
            </a:r>
          </a:p>
          <a:p>
            <a:pPr marL="457200" indent="-457200">
              <a:buFont typeface="+mj-lt"/>
              <a:buAutoNum type="arabicPeriod"/>
            </a:pPr>
            <a:r>
              <a:rPr lang="en-US" sz="2400" b="1" dirty="0"/>
              <a:t>Reflexive</a:t>
            </a:r>
            <a:r>
              <a:rPr lang="en-US" sz="2400" dirty="0"/>
              <a:t> → every element relates to itself </a:t>
            </a:r>
          </a:p>
          <a:p>
            <a:pPr marL="457200" indent="-457200">
              <a:buFont typeface="+mj-lt"/>
              <a:buAutoNum type="arabicPeriod"/>
            </a:pPr>
            <a:r>
              <a:rPr lang="en-US" sz="2400" b="1" dirty="0"/>
              <a:t>Symmetric</a:t>
            </a:r>
            <a:r>
              <a:rPr lang="en-US" sz="2400" dirty="0"/>
              <a:t> → if a relates to b, then b relates to a </a:t>
            </a:r>
          </a:p>
          <a:p>
            <a:pPr marL="457200" indent="-457200">
              <a:buFont typeface="+mj-lt"/>
              <a:buAutoNum type="arabicPeriod"/>
            </a:pPr>
            <a:r>
              <a:rPr lang="en-US" sz="2400" b="1" dirty="0"/>
              <a:t>Transitive</a:t>
            </a:r>
            <a:r>
              <a:rPr lang="en-US" sz="2400" dirty="0"/>
              <a:t> → if </a:t>
            </a:r>
            <a:r>
              <a:rPr lang="en-US" sz="2400" dirty="0" err="1"/>
              <a:t>a→b</a:t>
            </a:r>
            <a:r>
              <a:rPr lang="en-US" sz="2400" dirty="0"/>
              <a:t> and </a:t>
            </a:r>
            <a:r>
              <a:rPr lang="en-US" sz="2400" dirty="0" err="1"/>
              <a:t>b→c</a:t>
            </a:r>
            <a:r>
              <a:rPr lang="en-US" sz="2400" dirty="0"/>
              <a:t>, then </a:t>
            </a:r>
            <a:r>
              <a:rPr lang="en-US" sz="2400" dirty="0" err="1"/>
              <a:t>a→c</a:t>
            </a:r>
            <a:endParaRPr lang="en-US" sz="2400" dirty="0"/>
          </a:p>
          <a:p>
            <a:endParaRPr lang="en-US" sz="2400" dirty="0"/>
          </a:p>
          <a:p>
            <a:r>
              <a:rPr lang="en-US" sz="2400" dirty="0">
                <a:solidFill>
                  <a:srgbClr val="7030A0"/>
                </a:solidFill>
              </a:rPr>
              <a:t>The notation </a:t>
            </a:r>
            <a:r>
              <a:rPr lang="en-US" sz="2400" b="1" i="1" dirty="0">
                <a:solidFill>
                  <a:srgbClr val="7030A0"/>
                </a:solidFill>
              </a:rPr>
              <a:t>a</a:t>
            </a:r>
            <a:r>
              <a:rPr lang="en-US" sz="2400" b="1" dirty="0">
                <a:solidFill>
                  <a:srgbClr val="7030A0"/>
                </a:solidFill>
              </a:rPr>
              <a:t> </a:t>
            </a:r>
            <a:r>
              <a:rPr lang="en-US" sz="2400" b="1" dirty="0">
                <a:solidFill>
                  <a:srgbClr val="7030A0"/>
                </a:solidFill>
                <a:latin typeface="Cambria Math"/>
                <a:ea typeface="Cambria Math"/>
              </a:rPr>
              <a:t>∼ </a:t>
            </a:r>
            <a:r>
              <a:rPr lang="en-US" sz="2400" b="1" i="1" dirty="0">
                <a:solidFill>
                  <a:srgbClr val="7030A0"/>
                </a:solidFill>
              </a:rPr>
              <a:t>b</a:t>
            </a:r>
            <a:r>
              <a:rPr lang="en-US" sz="2400" b="1" dirty="0">
                <a:solidFill>
                  <a:srgbClr val="7030A0"/>
                </a:solidFill>
              </a:rPr>
              <a:t> </a:t>
            </a:r>
            <a:r>
              <a:rPr lang="en-US" sz="2400" dirty="0">
                <a:solidFill>
                  <a:srgbClr val="7030A0"/>
                </a:solidFill>
              </a:rPr>
              <a:t>is used to denote that </a:t>
            </a:r>
            <a:r>
              <a:rPr lang="en-US" sz="2400" i="1" dirty="0">
                <a:solidFill>
                  <a:srgbClr val="7030A0"/>
                </a:solidFill>
              </a:rPr>
              <a:t>a</a:t>
            </a:r>
            <a:r>
              <a:rPr lang="en-US" sz="2400" dirty="0">
                <a:solidFill>
                  <a:srgbClr val="7030A0"/>
                </a:solidFill>
              </a:rPr>
              <a:t> and </a:t>
            </a:r>
            <a:r>
              <a:rPr lang="en-US" sz="2400" i="1" dirty="0">
                <a:solidFill>
                  <a:srgbClr val="7030A0"/>
                </a:solidFill>
              </a:rPr>
              <a:t>b</a:t>
            </a:r>
            <a:r>
              <a:rPr lang="en-US" sz="2400" dirty="0">
                <a:solidFill>
                  <a:srgbClr val="7030A0"/>
                </a:solidFill>
              </a:rPr>
              <a:t> are equivalent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53998"/>
          </a:xfrm>
        </p:spPr>
        <p:txBody>
          <a:bodyPr>
            <a:normAutofit fontScale="90000"/>
          </a:bodyPr>
          <a:lstStyle/>
          <a:p>
            <a:r>
              <a:rPr lang="en-US" dirty="0"/>
              <a:t>Strings (Length of words)</a:t>
            </a:r>
          </a:p>
        </p:txBody>
      </p:sp>
      <p:sp>
        <p:nvSpPr>
          <p:cNvPr id="3" name="Content Placeholder 2"/>
          <p:cNvSpPr>
            <a:spLocks noGrp="1"/>
          </p:cNvSpPr>
          <p:nvPr>
            <p:ph idx="1"/>
          </p:nvPr>
        </p:nvSpPr>
        <p:spPr>
          <a:xfrm>
            <a:off x="304800" y="1234440"/>
            <a:ext cx="8229600" cy="4389120"/>
          </a:xfrm>
        </p:spPr>
        <p:txBody>
          <a:bodyPr>
            <a:noAutofit/>
          </a:bodyPr>
          <a:lstStyle/>
          <a:p>
            <a:r>
              <a:rPr lang="en-US" sz="2000" b="1" dirty="0">
                <a:solidFill>
                  <a:srgbClr val="7030A0"/>
                </a:solidFill>
                <a:latin typeface="+mn-lt"/>
              </a:rPr>
              <a:t>Equivalence</a:t>
            </a:r>
            <a:r>
              <a:rPr lang="en-US" sz="2000" b="1" dirty="0">
                <a:solidFill>
                  <a:srgbClr val="CC0066"/>
                </a:solidFill>
                <a:latin typeface="+mn-lt"/>
              </a:rPr>
              <a:t>:</a:t>
            </a:r>
            <a:r>
              <a:rPr lang="en-US" sz="2000" dirty="0">
                <a:solidFill>
                  <a:srgbClr val="CC0066"/>
                </a:solidFill>
                <a:latin typeface="+mn-lt"/>
              </a:rPr>
              <a:t> Two strings are related if they have </a:t>
            </a:r>
            <a:r>
              <a:rPr lang="en-US" sz="2000" b="1" dirty="0">
                <a:solidFill>
                  <a:srgbClr val="CC0066"/>
                </a:solidFill>
                <a:latin typeface="+mn-lt"/>
              </a:rPr>
              <a:t>same length</a:t>
            </a:r>
            <a:endParaRPr lang="en-US" sz="2000" dirty="0">
              <a:solidFill>
                <a:srgbClr val="CC0066"/>
              </a:solidFill>
              <a:latin typeface="+mn-lt"/>
            </a:endParaRPr>
          </a:p>
          <a:p>
            <a:r>
              <a:rPr lang="en-US" sz="2000" b="1" dirty="0">
                <a:latin typeface="+mn-lt"/>
              </a:rPr>
              <a:t>Example:</a:t>
            </a:r>
          </a:p>
          <a:p>
            <a:pPr marL="342900" indent="-342900">
              <a:buFont typeface="+mj-lt"/>
              <a:buAutoNum type="arabicPeriod"/>
            </a:pPr>
            <a:r>
              <a:rPr lang="en-US" sz="2000" dirty="0">
                <a:latin typeface="+mn-lt"/>
              </a:rPr>
              <a:t>"cat" and "dog" → related (length 3) </a:t>
            </a:r>
          </a:p>
          <a:p>
            <a:pPr marL="342900" indent="-342900">
              <a:buFont typeface="+mj-lt"/>
              <a:buAutoNum type="arabicPeriod"/>
            </a:pPr>
            <a:r>
              <a:rPr lang="en-US" sz="2000" dirty="0">
                <a:latin typeface="+mn-lt"/>
              </a:rPr>
              <a:t>"hi" and "no" → related (length 2)</a:t>
            </a:r>
          </a:p>
          <a:p>
            <a:pPr marL="342900" indent="-342900">
              <a:buFont typeface="+mj-lt"/>
              <a:buAutoNum type="arabicPeriod"/>
            </a:pPr>
            <a:r>
              <a:rPr lang="en-US" sz="2000" dirty="0">
                <a:latin typeface="+mn-lt"/>
              </a:rPr>
              <a:t>"</a:t>
            </a:r>
            <a:r>
              <a:rPr lang="en-US" sz="2000" dirty="0" err="1">
                <a:latin typeface="+mn-lt"/>
              </a:rPr>
              <a:t>abc</a:t>
            </a:r>
            <a:r>
              <a:rPr lang="en-US" sz="2000" dirty="0">
                <a:latin typeface="+mn-lt"/>
              </a:rPr>
              <a:t>" </a:t>
            </a:r>
            <a:r>
              <a:rPr lang="en-US" sz="2000" b="1" dirty="0">
                <a:solidFill>
                  <a:srgbClr val="7030A0"/>
                </a:solidFill>
                <a:latin typeface="+mn-lt"/>
                <a:ea typeface="Cambria Math"/>
              </a:rPr>
              <a:t>∼ </a:t>
            </a:r>
            <a:r>
              <a:rPr lang="en-US" sz="2000" dirty="0">
                <a:latin typeface="+mn-lt"/>
              </a:rPr>
              <a:t>"</a:t>
            </a:r>
            <a:r>
              <a:rPr lang="en-US" sz="2000" dirty="0" err="1">
                <a:latin typeface="+mn-lt"/>
              </a:rPr>
              <a:t>xyz</a:t>
            </a:r>
            <a:r>
              <a:rPr lang="en-US" sz="2000" dirty="0">
                <a:latin typeface="+mn-lt"/>
              </a:rPr>
              <a:t>" </a:t>
            </a:r>
            <a:r>
              <a:rPr lang="en-US" sz="2000" b="1" dirty="0">
                <a:solidFill>
                  <a:srgbClr val="7030A0"/>
                </a:solidFill>
                <a:latin typeface="+mn-lt"/>
                <a:ea typeface="Cambria Math"/>
              </a:rPr>
              <a:t>∼</a:t>
            </a:r>
            <a:r>
              <a:rPr lang="en-US" sz="2000" dirty="0">
                <a:latin typeface="+mn-lt"/>
              </a:rPr>
              <a:t> "def“→ related (length 3) </a:t>
            </a:r>
          </a:p>
          <a:p>
            <a:endParaRPr lang="en-US" sz="2000" dirty="0">
              <a:latin typeface="+mn-lt"/>
            </a:endParaRPr>
          </a:p>
          <a:p>
            <a:r>
              <a:rPr lang="en-US" sz="2000" b="1" dirty="0">
                <a:solidFill>
                  <a:srgbClr val="002060"/>
                </a:solidFill>
                <a:latin typeface="+mn-lt"/>
              </a:rPr>
              <a:t>Check properties:</a:t>
            </a:r>
          </a:p>
          <a:p>
            <a:r>
              <a:rPr lang="en-US" sz="2000" dirty="0">
                <a:solidFill>
                  <a:srgbClr val="002060"/>
                </a:solidFill>
                <a:latin typeface="+mn-lt"/>
              </a:rPr>
              <a:t>✔ Reflexive:</a:t>
            </a:r>
            <a:br>
              <a:rPr lang="en-US" sz="2000" dirty="0">
                <a:solidFill>
                  <a:srgbClr val="002060"/>
                </a:solidFill>
                <a:latin typeface="+mn-lt"/>
              </a:rPr>
            </a:br>
            <a:r>
              <a:rPr lang="en-US" sz="2000" dirty="0">
                <a:solidFill>
                  <a:srgbClr val="002060"/>
                </a:solidFill>
                <a:latin typeface="+mn-lt"/>
              </a:rPr>
              <a:t>Every string has same length as itself </a:t>
            </a:r>
          </a:p>
          <a:p>
            <a:r>
              <a:rPr lang="en-US" sz="2000" dirty="0">
                <a:solidFill>
                  <a:srgbClr val="002060"/>
                </a:solidFill>
                <a:latin typeface="+mn-lt"/>
              </a:rPr>
              <a:t>✔ Symmetric:</a:t>
            </a:r>
            <a:br>
              <a:rPr lang="en-US" sz="2000" dirty="0">
                <a:solidFill>
                  <a:srgbClr val="002060"/>
                </a:solidFill>
                <a:latin typeface="+mn-lt"/>
              </a:rPr>
            </a:br>
            <a:r>
              <a:rPr lang="en-US" sz="2000" dirty="0">
                <a:solidFill>
                  <a:srgbClr val="002060"/>
                </a:solidFill>
                <a:latin typeface="+mn-lt"/>
              </a:rPr>
              <a:t>If a and b same length → b and a also same </a:t>
            </a:r>
          </a:p>
          <a:p>
            <a:r>
              <a:rPr lang="en-US" sz="2000" dirty="0">
                <a:solidFill>
                  <a:srgbClr val="002060"/>
                </a:solidFill>
                <a:latin typeface="+mn-lt"/>
              </a:rPr>
              <a:t>✔ Transitive:</a:t>
            </a:r>
            <a:br>
              <a:rPr lang="en-US" sz="2000" dirty="0">
                <a:solidFill>
                  <a:srgbClr val="002060"/>
                </a:solidFill>
                <a:latin typeface="+mn-lt"/>
              </a:rPr>
            </a:br>
            <a:r>
              <a:rPr lang="en-US" sz="2000" dirty="0">
                <a:solidFill>
                  <a:srgbClr val="002060"/>
                </a:solidFill>
                <a:latin typeface="+mn-lt"/>
              </a:rPr>
              <a:t>If a and b same length, b and c same → a and c same </a:t>
            </a:r>
          </a:p>
          <a:p>
            <a:endParaRPr lang="en-US" sz="2000" dirty="0">
              <a:latin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130" y="228600"/>
            <a:ext cx="8587740" cy="574675"/>
          </a:xfrm>
        </p:spPr>
        <p:txBody>
          <a:bodyPr>
            <a:normAutofit fontScale="90000"/>
          </a:bodyPr>
          <a:lstStyle/>
          <a:p>
            <a:r>
              <a:rPr lang="en-US" dirty="0"/>
              <a:t>Congruence Modulo </a:t>
            </a:r>
            <a:r>
              <a:rPr lang="en-US" i="1" dirty="0"/>
              <a:t>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8130" y="914400"/>
                <a:ext cx="7494270" cy="3368040"/>
              </a:xfrm>
            </p:spPr>
            <p:txBody>
              <a:bodyPr>
                <a:noAutofit/>
              </a:bodyPr>
              <a:lstStyle/>
              <a:p>
                <a:r>
                  <a:rPr lang="en-US" sz="2000" dirty="0">
                    <a:solidFill>
                      <a:srgbClr val="CC0066"/>
                    </a:solidFill>
                  </a:rPr>
                  <a:t>Rule: </a:t>
                </a:r>
                <a14:m>
                  <m:oMath xmlns:m="http://schemas.openxmlformats.org/officeDocument/2006/math">
                    <m:r>
                      <a:rPr lang="en-US" sz="2000" i="1">
                        <a:solidFill>
                          <a:srgbClr val="CC0066"/>
                        </a:solidFill>
                        <a:latin typeface="Cambria Math" panose="02040503050406030204" pitchFamily="18" charset="0"/>
                      </a:rPr>
                      <m:t>𝑎</m:t>
                    </m:r>
                    <m:r>
                      <a:rPr lang="en-US" sz="2000">
                        <a:solidFill>
                          <a:srgbClr val="CC0066"/>
                        </a:solidFill>
                        <a:latin typeface="Cambria Math" panose="02040503050406030204" pitchFamily="18" charset="0"/>
                      </a:rPr>
                      <m:t>≡</m:t>
                    </m:r>
                    <m:r>
                      <a:rPr lang="en-US" sz="2000" i="1">
                        <a:solidFill>
                          <a:srgbClr val="CC0066"/>
                        </a:solidFill>
                        <a:latin typeface="Cambria Math" panose="02040503050406030204" pitchFamily="18" charset="0"/>
                      </a:rPr>
                      <m:t>𝑏</m:t>
                    </m:r>
                    <m:r>
                      <m:rPr>
                        <m:nor/>
                      </m:rPr>
                      <a:rPr lang="en-US" sz="2000" i="1">
                        <a:solidFill>
                          <a:srgbClr val="CC0066"/>
                        </a:solidFill>
                      </a:rPr>
                      <m:t> </m:t>
                    </m:r>
                    <m:d>
                      <m:dPr>
                        <m:ctrlPr>
                          <a:rPr lang="ar-AE" sz="2000" i="1">
                            <a:solidFill>
                              <a:srgbClr val="CC0066"/>
                            </a:solidFill>
                            <a:latin typeface="Cambria Math" panose="02040503050406030204" pitchFamily="18" charset="0"/>
                          </a:rPr>
                        </m:ctrlPr>
                      </m:dPr>
                      <m:e>
                        <m:r>
                          <m:rPr>
                            <m:nor/>
                          </m:rPr>
                          <a:rPr lang="en-US" sz="2000" i="1">
                            <a:solidFill>
                              <a:srgbClr val="CC0066"/>
                            </a:solidFill>
                          </a:rPr>
                          <m:t>mod</m:t>
                        </m:r>
                        <m:r>
                          <m:rPr>
                            <m:nor/>
                          </m:rPr>
                          <a:rPr lang="en-US" sz="2000" i="1">
                            <a:solidFill>
                              <a:srgbClr val="CC0066"/>
                            </a:solidFill>
                          </a:rPr>
                          <m:t> </m:t>
                        </m:r>
                        <m:r>
                          <a:rPr lang="en-US" sz="2000" i="1">
                            <a:solidFill>
                              <a:srgbClr val="CC0066"/>
                            </a:solidFill>
                            <a:latin typeface="Cambria Math" panose="02040503050406030204" pitchFamily="18" charset="0"/>
                          </a:rPr>
                          <m:t>𝑚</m:t>
                        </m:r>
                      </m:e>
                    </m:d>
                  </m:oMath>
                </a14:m>
                <a:endParaRPr lang="ar-AE" sz="2000" dirty="0">
                  <a:solidFill>
                    <a:srgbClr val="CC0066"/>
                  </a:solidFill>
                </a:endParaRPr>
              </a:p>
              <a:p>
                <a:r>
                  <a:rPr lang="en-US" sz="2000" dirty="0">
                    <a:solidFill>
                      <a:srgbClr val="7030A0"/>
                    </a:solidFill>
                  </a:rPr>
                  <a:t>Means: a &amp; b are equivalent when both give same remainder when divided by m</a:t>
                </a:r>
              </a:p>
              <a:p>
                <a:endParaRPr lang="en-US" sz="2000" dirty="0">
                  <a:solidFill>
                    <a:srgbClr val="7030A0"/>
                  </a:solidFill>
                </a:endParaRPr>
              </a:p>
              <a:p>
                <a:r>
                  <a:rPr lang="en-US" sz="2000" b="1" dirty="0"/>
                  <a:t>Example 1</a:t>
                </a:r>
              </a:p>
              <a:p>
                <a:r>
                  <a:rPr lang="en-US" sz="2000" dirty="0"/>
                  <a:t>7 ≡ 4 (mod 3)</a:t>
                </a:r>
                <a:br>
                  <a:rPr lang="en-US" sz="2000" dirty="0"/>
                </a:br>
                <a:r>
                  <a:rPr lang="en-US" sz="2000" dirty="0"/>
                  <a:t>Both remainder = 1</a:t>
                </a:r>
                <a:endParaRPr lang="en-US" sz="2000" b="1" dirty="0"/>
              </a:p>
              <a:p>
                <a:r>
                  <a:rPr lang="en-US" sz="2000" b="1" dirty="0"/>
                  <a:t>Example 2:</a:t>
                </a:r>
              </a:p>
              <a:p>
                <a:r>
                  <a:rPr lang="en-US" sz="2000" dirty="0"/>
                  <a:t>12 ≡ 7 (mod 5)</a:t>
                </a:r>
                <a:br>
                  <a:rPr lang="en-US" sz="2000" dirty="0"/>
                </a:br>
                <a:r>
                  <a:rPr lang="en-US" sz="2000" dirty="0"/>
                  <a:t>Both remainder = 2</a:t>
                </a:r>
                <a:endParaRPr lang="en-US" sz="2000" b="1" dirty="0"/>
              </a:p>
              <a:p>
                <a:r>
                  <a:rPr lang="en-US" sz="2000" b="1" dirty="0"/>
                  <a:t>Example 3</a:t>
                </a:r>
              </a:p>
              <a:p>
                <a:r>
                  <a:rPr lang="en-US" sz="2000" dirty="0"/>
                  <a:t>10 ≡ 1 (mod 3)</a:t>
                </a:r>
                <a:br>
                  <a:rPr lang="en-US" sz="2000" dirty="0"/>
                </a:br>
                <a:r>
                  <a:rPr lang="en-US" sz="2000" dirty="0"/>
                  <a:t>Both remainder = 1 </a:t>
                </a:r>
              </a:p>
              <a:p>
                <a:endParaRPr lang="en-US" sz="2000" dirty="0">
                  <a:solidFill>
                    <a:srgbClr val="7030A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8130" y="914400"/>
                <a:ext cx="7494270" cy="3368040"/>
              </a:xfrm>
              <a:blipFill>
                <a:blip r:embed="rId2"/>
                <a:stretch>
                  <a:fillRect l="-407" t="-904" r="-1058" b="-5352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63DF4D1B-7695-6F13-AEF0-5FE58A386D65}"/>
              </a:ext>
            </a:extLst>
          </p:cNvPr>
          <p:cNvSpPr txBox="1"/>
          <p:nvPr/>
        </p:nvSpPr>
        <p:spPr>
          <a:xfrm>
            <a:off x="4017644" y="2943612"/>
            <a:ext cx="4876800" cy="2677656"/>
          </a:xfrm>
          <a:prstGeom prst="rect">
            <a:avLst/>
          </a:prstGeom>
          <a:noFill/>
        </p:spPr>
        <p:txBody>
          <a:bodyPr wrap="square">
            <a:spAutoFit/>
          </a:bodyPr>
          <a:lstStyle/>
          <a:p>
            <a:pPr>
              <a:buNone/>
            </a:pPr>
            <a:r>
              <a:rPr lang="en-US" sz="2400" b="1" dirty="0">
                <a:solidFill>
                  <a:srgbClr val="002060"/>
                </a:solidFill>
              </a:rPr>
              <a:t>Check properties:</a:t>
            </a:r>
          </a:p>
          <a:p>
            <a:pPr>
              <a:buNone/>
            </a:pPr>
            <a:r>
              <a:rPr lang="en-US" sz="2400" dirty="0">
                <a:solidFill>
                  <a:srgbClr val="002060"/>
                </a:solidFill>
              </a:rPr>
              <a:t>✔ Reflexive: </a:t>
            </a:r>
          </a:p>
          <a:p>
            <a:pPr algn="ctr">
              <a:buNone/>
            </a:pPr>
            <a:r>
              <a:rPr lang="en-US" sz="2400" dirty="0">
                <a:solidFill>
                  <a:srgbClr val="002060"/>
                </a:solidFill>
              </a:rPr>
              <a:t>a ≡ a </a:t>
            </a:r>
          </a:p>
          <a:p>
            <a:pPr>
              <a:buNone/>
            </a:pPr>
            <a:r>
              <a:rPr lang="en-US" sz="2400" dirty="0">
                <a:solidFill>
                  <a:srgbClr val="002060"/>
                </a:solidFill>
              </a:rPr>
              <a:t>✔ Symmetric: </a:t>
            </a:r>
          </a:p>
          <a:p>
            <a:pPr algn="ctr">
              <a:buNone/>
            </a:pPr>
            <a:r>
              <a:rPr lang="en-US" sz="2400" dirty="0">
                <a:solidFill>
                  <a:srgbClr val="002060"/>
                </a:solidFill>
              </a:rPr>
              <a:t>if a ≡ b → b ≡ a </a:t>
            </a:r>
          </a:p>
          <a:p>
            <a:pPr>
              <a:buNone/>
            </a:pPr>
            <a:r>
              <a:rPr lang="en-US" sz="2400" dirty="0">
                <a:solidFill>
                  <a:srgbClr val="002060"/>
                </a:solidFill>
              </a:rPr>
              <a:t>✔ Transitive: </a:t>
            </a:r>
          </a:p>
          <a:p>
            <a:pPr algn="ctr">
              <a:buNone/>
            </a:pPr>
            <a:r>
              <a:rPr lang="en-US" sz="2400" dirty="0">
                <a:solidFill>
                  <a:srgbClr val="002060"/>
                </a:solidFill>
              </a:rPr>
              <a:t>if a ≡ b and b ≡ c → a ≡ c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130" y="304800"/>
            <a:ext cx="8587740" cy="830997"/>
          </a:xfrm>
        </p:spPr>
        <p:txBody>
          <a:bodyPr>
            <a:normAutofit fontScale="90000"/>
          </a:bodyPr>
          <a:lstStyle/>
          <a:p>
            <a:r>
              <a:rPr lang="en-US" sz="5400" dirty="0"/>
              <a:t>Divides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0975" y="1135797"/>
                <a:ext cx="6068060" cy="5251501"/>
              </a:xfrm>
            </p:spPr>
            <p:txBody>
              <a:bodyPr>
                <a:normAutofit fontScale="92500"/>
              </a:bodyPr>
              <a:lstStyle/>
              <a:p>
                <a:r>
                  <a:rPr lang="en-US" sz="2200" b="1" dirty="0">
                    <a:solidFill>
                      <a:srgbClr val="002060"/>
                    </a:solidFill>
                  </a:rPr>
                  <a:t>Example</a:t>
                </a:r>
              </a:p>
              <a:p>
                <a:r>
                  <a:rPr lang="en-US" sz="2200" dirty="0">
                    <a:solidFill>
                      <a:srgbClr val="002060"/>
                    </a:solidFill>
                  </a:rPr>
                  <a:t>Show that the “divides” relation on positive integers is </a:t>
                </a:r>
                <a:r>
                  <a:rPr lang="en-US" sz="2200" b="1" dirty="0">
                    <a:solidFill>
                      <a:srgbClr val="7030A0"/>
                    </a:solidFill>
                  </a:rPr>
                  <a:t>not an equivalence relation</a:t>
                </a:r>
                <a:r>
                  <a:rPr lang="en-US" sz="2200" dirty="0">
                    <a:solidFill>
                      <a:srgbClr val="7030A0"/>
                    </a:solidFill>
                  </a:rPr>
                  <a:t>.</a:t>
                </a:r>
              </a:p>
              <a:p>
                <a:endParaRPr lang="en-US" sz="2200" dirty="0">
                  <a:solidFill>
                    <a:srgbClr val="7030A0"/>
                  </a:solidFill>
                </a:endParaRPr>
              </a:p>
              <a:p>
                <a:r>
                  <a:rPr lang="en-US" sz="2200" b="1" dirty="0">
                    <a:solidFill>
                      <a:srgbClr val="0070C0"/>
                    </a:solidFill>
                  </a:rPr>
                  <a:t>Solution</a:t>
                </a:r>
              </a:p>
              <a:p>
                <a:r>
                  <a:rPr lang="en-US" sz="2200" dirty="0"/>
                  <a:t>To be an equivalence relation, a relation must be </a:t>
                </a:r>
                <a:r>
                  <a:rPr lang="en-US" sz="2200" b="1" dirty="0"/>
                  <a:t>reflexive, symmetric, and transitive</a:t>
                </a:r>
                <a:r>
                  <a:rPr lang="en-US" sz="2200" dirty="0"/>
                  <a:t>.</a:t>
                </a:r>
              </a:p>
              <a:p>
                <a:pPr lvl="1"/>
                <a:r>
                  <a:rPr lang="en-US" sz="2200" b="1" dirty="0">
                    <a:solidFill>
                      <a:srgbClr val="CC0066"/>
                    </a:solidFill>
                  </a:rPr>
                  <a:t>Reflexive:</a:t>
                </a:r>
                <a:br>
                  <a:rPr lang="en-US" sz="2200" dirty="0"/>
                </a:br>
                <a:r>
                  <a:rPr lang="en-US" sz="2200" dirty="0"/>
                  <a:t>Every number divides itself, So, </a:t>
                </a:r>
                <a14:m>
                  <m:oMath xmlns:m="http://schemas.openxmlformats.org/officeDocument/2006/math">
                    <m:r>
                      <a:rPr lang="en-US" sz="2200" i="1">
                        <a:latin typeface="Cambria Math" panose="02040503050406030204" pitchFamily="18" charset="0"/>
                      </a:rPr>
                      <m:t>𝑎</m:t>
                    </m:r>
                    <m:r>
                      <a:rPr lang="en-US" sz="2200" b="0" i="0" smtClean="0">
                        <a:latin typeface="Cambria Math" panose="02040503050406030204" pitchFamily="18" charset="0"/>
                      </a:rPr>
                      <m:t>/</m:t>
                    </m:r>
                    <m:r>
                      <a:rPr lang="en-US" sz="2200" i="1">
                        <a:latin typeface="Cambria Math" panose="02040503050406030204" pitchFamily="18" charset="0"/>
                      </a:rPr>
                      <m:t>𝑎</m:t>
                    </m:r>
                  </m:oMath>
                </a14:m>
                <a:r>
                  <a:rPr lang="en-US" sz="2400" b="1" dirty="0">
                    <a:solidFill>
                      <a:srgbClr val="00B050"/>
                    </a:solidFill>
                  </a:rPr>
                  <a:t>✓</a:t>
                </a:r>
              </a:p>
              <a:p>
                <a:pPr lvl="1"/>
                <a:r>
                  <a:rPr lang="en-US" sz="2200" b="1" dirty="0">
                    <a:solidFill>
                      <a:srgbClr val="7030A0"/>
                    </a:solidFill>
                  </a:rPr>
                  <a:t>Symmetric (fails):</a:t>
                </a:r>
                <a:br>
                  <a:rPr lang="en-US" sz="2200" dirty="0">
                    <a:solidFill>
                      <a:srgbClr val="7030A0"/>
                    </a:solidFill>
                  </a:rPr>
                </a:br>
                <a:r>
                  <a:rPr lang="en-US" sz="2200" dirty="0"/>
                  <a:t>If </a:t>
                </a:r>
                <a14:m>
                  <m:oMath xmlns:m="http://schemas.openxmlformats.org/officeDocument/2006/math">
                    <m:r>
                      <a:rPr lang="en-US" sz="2200" i="1">
                        <a:latin typeface="Cambria Math" panose="02040503050406030204" pitchFamily="18" charset="0"/>
                      </a:rPr>
                      <m:t>𝑎</m:t>
                    </m:r>
                    <m:r>
                      <a:rPr lang="en-US" sz="2200" b="0" i="0" smtClean="0">
                        <a:latin typeface="Cambria Math" panose="02040503050406030204" pitchFamily="18" charset="0"/>
                      </a:rPr>
                      <m:t>/</m:t>
                    </m:r>
                    <m:r>
                      <a:rPr lang="en-US" sz="2200" i="1">
                        <a:latin typeface="Cambria Math" panose="02040503050406030204" pitchFamily="18" charset="0"/>
                      </a:rPr>
                      <m:t>𝑏</m:t>
                    </m:r>
                  </m:oMath>
                </a14:m>
                <a:r>
                  <a:rPr lang="en-US" sz="2200" dirty="0"/>
                  <a:t>, it does </a:t>
                </a:r>
                <a:r>
                  <a:rPr lang="en-US" sz="2200" b="1" dirty="0"/>
                  <a:t>not</a:t>
                </a:r>
                <a:r>
                  <a:rPr lang="en-US" sz="2200" dirty="0"/>
                  <a:t> always mean </a:t>
                </a:r>
                <a14:m>
                  <m:oMath xmlns:m="http://schemas.openxmlformats.org/officeDocument/2006/math">
                    <m:r>
                      <a:rPr lang="en-US" sz="2200" i="1">
                        <a:latin typeface="Cambria Math" panose="02040503050406030204" pitchFamily="18" charset="0"/>
                      </a:rPr>
                      <m:t>𝑏</m:t>
                    </m:r>
                    <m:r>
                      <a:rPr lang="en-US" sz="2200" b="0" i="0" smtClean="0">
                        <a:latin typeface="Cambria Math" panose="02040503050406030204" pitchFamily="18" charset="0"/>
                      </a:rPr>
                      <m:t>/</m:t>
                    </m:r>
                    <m:r>
                      <a:rPr lang="en-US" sz="2200" i="1">
                        <a:latin typeface="Cambria Math" panose="02040503050406030204" pitchFamily="18" charset="0"/>
                      </a:rPr>
                      <m:t>𝑎</m:t>
                    </m:r>
                  </m:oMath>
                </a14:m>
                <a:r>
                  <a:rPr lang="en-US" sz="3600" b="1" dirty="0">
                    <a:solidFill>
                      <a:srgbClr val="C00000"/>
                    </a:solidFill>
                  </a:rPr>
                  <a:t>✗ </a:t>
                </a:r>
              </a:p>
              <a:p>
                <a:pPr lvl="1"/>
                <a:r>
                  <a:rPr lang="en-US" sz="2200" b="1" dirty="0" err="1">
                    <a:solidFill>
                      <a:srgbClr val="FF0000"/>
                    </a:solidFill>
                  </a:rPr>
                  <a:t>Transitive:</a:t>
                </a:r>
                <a:r>
                  <a:rPr lang="en-US" sz="2200" dirty="0" err="1"/>
                  <a:t>If</a:t>
                </a:r>
                <a:r>
                  <a:rPr lang="en-US" sz="2200" dirty="0"/>
                  <a:t> </a:t>
                </a:r>
                <a14:m>
                  <m:oMath xmlns:m="http://schemas.openxmlformats.org/officeDocument/2006/math">
                    <m:r>
                      <a:rPr lang="en-US" sz="2200" i="1">
                        <a:latin typeface="Cambria Math" panose="02040503050406030204" pitchFamily="18" charset="0"/>
                      </a:rPr>
                      <m:t>𝑎</m:t>
                    </m:r>
                    <m:r>
                      <a:rPr lang="en-US" sz="2200" b="0" i="0" smtClean="0">
                        <a:latin typeface="Cambria Math" panose="02040503050406030204" pitchFamily="18" charset="0"/>
                      </a:rPr>
                      <m:t>/</m:t>
                    </m:r>
                    <m:r>
                      <a:rPr lang="en-US" sz="2200" i="1">
                        <a:latin typeface="Cambria Math" panose="02040503050406030204" pitchFamily="18" charset="0"/>
                      </a:rPr>
                      <m:t>𝑏</m:t>
                    </m:r>
                  </m:oMath>
                </a14:m>
                <a:r>
                  <a:rPr lang="en-US" sz="2200" dirty="0"/>
                  <a:t>and </a:t>
                </a:r>
                <a14:m>
                  <m:oMath xmlns:m="http://schemas.openxmlformats.org/officeDocument/2006/math">
                    <m:r>
                      <a:rPr lang="en-US" sz="2200" i="1">
                        <a:latin typeface="Cambria Math" panose="02040503050406030204" pitchFamily="18" charset="0"/>
                      </a:rPr>
                      <m:t>𝑏</m:t>
                    </m:r>
                    <m:r>
                      <a:rPr lang="en-US" sz="2200" b="0" i="0" smtClean="0">
                        <a:latin typeface="Cambria Math" panose="02040503050406030204" pitchFamily="18" charset="0"/>
                      </a:rPr>
                      <m:t>/</m:t>
                    </m:r>
                    <m:r>
                      <a:rPr lang="en-US" sz="2200" i="1">
                        <a:latin typeface="Cambria Math" panose="02040503050406030204" pitchFamily="18" charset="0"/>
                      </a:rPr>
                      <m:t>𝑐</m:t>
                    </m:r>
                  </m:oMath>
                </a14:m>
                <a:r>
                  <a:rPr lang="en-US" sz="2200" dirty="0"/>
                  <a:t>, then </a:t>
                </a:r>
                <a14:m>
                  <m:oMath xmlns:m="http://schemas.openxmlformats.org/officeDocument/2006/math">
                    <m:r>
                      <a:rPr lang="en-US" sz="2200" i="1">
                        <a:latin typeface="Cambria Math" panose="02040503050406030204" pitchFamily="18" charset="0"/>
                      </a:rPr>
                      <m:t>𝑎</m:t>
                    </m:r>
                    <m:r>
                      <a:rPr lang="en-US" sz="2200" b="0" i="0" smtClean="0">
                        <a:latin typeface="Cambria Math" panose="02040503050406030204" pitchFamily="18" charset="0"/>
                      </a:rPr>
                      <m:t>/</m:t>
                    </m:r>
                    <m:r>
                      <a:rPr lang="en-US" sz="2200" i="1">
                        <a:latin typeface="Cambria Math" panose="02040503050406030204" pitchFamily="18" charset="0"/>
                      </a:rPr>
                      <m:t>𝑐</m:t>
                    </m:r>
                  </m:oMath>
                </a14:m>
                <a:r>
                  <a:rPr lang="en-US" sz="3600" b="1" dirty="0">
                    <a:solidFill>
                      <a:srgbClr val="00B050"/>
                    </a:solidFill>
                  </a:rPr>
                  <a:t>✓</a:t>
                </a:r>
              </a:p>
              <a:p>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0975" y="1135797"/>
                <a:ext cx="6068060" cy="5251501"/>
              </a:xfrm>
              <a:blipFill>
                <a:blip r:embed="rId2"/>
                <a:stretch>
                  <a:fillRect l="-503" t="-696" b="-4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A164962-F4CC-CD3A-AD78-654E8B64BAE4}"/>
                  </a:ext>
                </a:extLst>
              </p:cNvPr>
              <p:cNvSpPr txBox="1"/>
              <p:nvPr/>
            </p:nvSpPr>
            <p:spPr>
              <a:xfrm>
                <a:off x="5995353" y="2286000"/>
                <a:ext cx="3124200" cy="3693319"/>
              </a:xfrm>
              <a:prstGeom prst="rect">
                <a:avLst/>
              </a:prstGeom>
              <a:solidFill>
                <a:schemeClr val="accent1">
                  <a:lumMod val="20000"/>
                  <a:lumOff val="80000"/>
                </a:schemeClr>
              </a:solidFill>
            </p:spPr>
            <p:txBody>
              <a:bodyPr wrap="square">
                <a:spAutoFit/>
              </a:bodyPr>
              <a:lstStyle/>
              <a:p>
                <a:pPr algn="ctr">
                  <a:buNone/>
                </a:pPr>
                <a:r>
                  <a:rPr lang="en-US" b="1" dirty="0"/>
                  <a:t>Take numbers: 2, 4, and 8</a:t>
                </a:r>
              </a:p>
              <a:p>
                <a:pPr algn="ctr">
                  <a:buFont typeface="Arial" panose="020B0604020202020204" pitchFamily="34" charset="0"/>
                  <a:buChar char="•"/>
                </a:pPr>
                <a:r>
                  <a:rPr lang="en-US" b="1" dirty="0"/>
                  <a:t>Reflexive:</a:t>
                </a:r>
                <a:br>
                  <a:rPr lang="en-US" dirty="0"/>
                </a:br>
                <a14:m>
                  <m:oMath xmlns:m="http://schemas.openxmlformats.org/officeDocument/2006/math">
                    <m:r>
                      <a:rPr lang="en-US">
                        <a:latin typeface="Cambria Math" panose="02040503050406030204" pitchFamily="18" charset="0"/>
                      </a:rPr>
                      <m:t>2</m:t>
                    </m:r>
                    <m:r>
                      <a:rPr lang="en-US" b="0" i="0" smtClean="0">
                        <a:latin typeface="Cambria Math" panose="02040503050406030204" pitchFamily="18" charset="0"/>
                      </a:rPr>
                      <m:t>/</m:t>
                    </m:r>
                    <m:r>
                      <a:rPr lang="en-US" i="0">
                        <a:latin typeface="Cambria Math" panose="02040503050406030204" pitchFamily="18" charset="0"/>
                      </a:rPr>
                      <m:t>2</m:t>
                    </m:r>
                  </m:oMath>
                </a14:m>
                <a:r>
                  <a:rPr lang="en-US" dirty="0"/>
                  <a:t>, </a:t>
                </a:r>
                <a14:m>
                  <m:oMath xmlns:m="http://schemas.openxmlformats.org/officeDocument/2006/math">
                    <m:r>
                      <a:rPr lang="en-US">
                        <a:latin typeface="Cambria Math" panose="02040503050406030204" pitchFamily="18" charset="0"/>
                      </a:rPr>
                      <m:t>4</m:t>
                    </m:r>
                    <m:r>
                      <a:rPr lang="en-US" b="0" i="0" smtClean="0">
                        <a:latin typeface="Cambria Math" panose="02040503050406030204" pitchFamily="18" charset="0"/>
                      </a:rPr>
                      <m:t>/</m:t>
                    </m:r>
                    <m:r>
                      <a:rPr lang="en-US" i="0">
                        <a:latin typeface="Cambria Math" panose="02040503050406030204" pitchFamily="18" charset="0"/>
                      </a:rPr>
                      <m:t>4</m:t>
                    </m:r>
                  </m:oMath>
                </a14:m>
                <a:r>
                  <a:rPr lang="en-US" dirty="0"/>
                  <a:t>, </a:t>
                </a:r>
                <a14:m>
                  <m:oMath xmlns:m="http://schemas.openxmlformats.org/officeDocument/2006/math">
                    <m:r>
                      <a:rPr lang="en-US">
                        <a:latin typeface="Cambria Math" panose="02040503050406030204" pitchFamily="18" charset="0"/>
                      </a:rPr>
                      <m:t>8</m:t>
                    </m:r>
                    <m:r>
                      <a:rPr lang="en-US" b="0" i="0" smtClean="0">
                        <a:latin typeface="Cambria Math" panose="02040503050406030204" pitchFamily="18" charset="0"/>
                      </a:rPr>
                      <m:t>/</m:t>
                    </m:r>
                    <m:r>
                      <a:rPr lang="en-US" i="0">
                        <a:latin typeface="Cambria Math" panose="02040503050406030204" pitchFamily="18" charset="0"/>
                      </a:rPr>
                      <m:t>8</m:t>
                    </m:r>
                  </m:oMath>
                </a14:m>
                <a:br>
                  <a:rPr lang="en-US" dirty="0"/>
                </a:br>
                <a:r>
                  <a:rPr lang="en-US" dirty="0"/>
                  <a:t>→ Every number divides itself  </a:t>
                </a:r>
              </a:p>
              <a:p>
                <a:pPr algn="ctr">
                  <a:buFont typeface="Arial" panose="020B0604020202020204" pitchFamily="34" charset="0"/>
                  <a:buChar char="•"/>
                </a:pPr>
                <a:r>
                  <a:rPr lang="en-US" b="1" dirty="0"/>
                  <a:t>Not Symmetric:</a:t>
                </a:r>
                <a:br>
                  <a:rPr lang="en-US" dirty="0"/>
                </a:br>
                <a:r>
                  <a:rPr lang="en-US" dirty="0"/>
                  <a:t>2 divides 4</a:t>
                </a:r>
                <a:br>
                  <a:rPr lang="en-US" dirty="0"/>
                </a:br>
                <a:r>
                  <a:rPr lang="en-US" dirty="0"/>
                  <a:t>But 4 does NOT divide 2</a:t>
                </a:r>
                <a:br>
                  <a:rPr lang="en-US" dirty="0"/>
                </a:br>
                <a:r>
                  <a:rPr lang="en-US" dirty="0"/>
                  <a:t>→ So symmetry fails </a:t>
                </a:r>
              </a:p>
              <a:p>
                <a:pPr algn="ctr"/>
                <a:r>
                  <a:rPr lang="en-US" b="1" dirty="0"/>
                  <a:t>Transitive:</a:t>
                </a:r>
                <a:br>
                  <a:rPr lang="en-US" dirty="0"/>
                </a:br>
                <a:r>
                  <a:rPr lang="en-US" dirty="0"/>
                  <a:t>1/2 = 2/4</a:t>
                </a:r>
                <a:br>
                  <a:rPr lang="en-US" dirty="0"/>
                </a:br>
                <a:r>
                  <a:rPr lang="en-US" dirty="0"/>
                  <a:t>2/4 = 4/8</a:t>
                </a:r>
                <a:br>
                  <a:rPr lang="en-US" dirty="0"/>
                </a:br>
                <a:r>
                  <a:rPr lang="en-US" dirty="0"/>
                  <a:t>⇒So: 1/2 = 4/8 </a:t>
                </a:r>
              </a:p>
            </p:txBody>
          </p:sp>
        </mc:Choice>
        <mc:Fallback xmlns="">
          <p:sp>
            <p:nvSpPr>
              <p:cNvPr id="5" name="TextBox 4">
                <a:extLst>
                  <a:ext uri="{FF2B5EF4-FFF2-40B4-BE49-F238E27FC236}">
                    <a16:creationId xmlns:a16="http://schemas.microsoft.com/office/drawing/2014/main" id="{EA164962-F4CC-CD3A-AD78-654E8B64BAE4}"/>
                  </a:ext>
                </a:extLst>
              </p:cNvPr>
              <p:cNvSpPr txBox="1">
                <a:spLocks noRot="1" noChangeAspect="1" noMove="1" noResize="1" noEditPoints="1" noAdjustHandles="1" noChangeArrowheads="1" noChangeShapeType="1" noTextEdit="1"/>
              </p:cNvSpPr>
              <p:nvPr/>
            </p:nvSpPr>
            <p:spPr>
              <a:xfrm>
                <a:off x="5995353" y="2286000"/>
                <a:ext cx="3124200" cy="3693319"/>
              </a:xfrm>
              <a:prstGeom prst="rect">
                <a:avLst/>
              </a:prstGeom>
              <a:blipFill>
                <a:blip r:embed="rId3"/>
                <a:stretch>
                  <a:fillRect t="-990" b="-1485"/>
                </a:stretch>
              </a:blipFill>
            </p:spPr>
            <p:txBody>
              <a:bodyPr/>
              <a:lstStyle/>
              <a:p>
                <a:r>
                  <a:rPr 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130" y="152400"/>
            <a:ext cx="8587740" cy="574675"/>
          </a:xfrm>
        </p:spPr>
        <p:txBody>
          <a:bodyPr>
            <a:normAutofit fontScale="90000"/>
          </a:bodyPr>
          <a:lstStyle/>
          <a:p>
            <a:r>
              <a:rPr lang="en-US" dirty="0"/>
              <a:t>Equivalence Classes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6705" y="1012825"/>
                <a:ext cx="7951470" cy="5638800"/>
              </a:xfrm>
            </p:spPr>
            <p:txBody>
              <a:bodyPr>
                <a:noAutofit/>
              </a:bodyPr>
              <a:lstStyle/>
              <a:p>
                <a:r>
                  <a:rPr lang="en-US" dirty="0">
                    <a:solidFill>
                      <a:schemeClr val="accent2">
                        <a:lumMod val="75000"/>
                      </a:schemeClr>
                    </a:solidFill>
                  </a:rPr>
                  <a:t>An </a:t>
                </a:r>
                <a:r>
                  <a:rPr lang="en-US" b="1" dirty="0">
                    <a:solidFill>
                      <a:schemeClr val="accent2">
                        <a:lumMod val="75000"/>
                      </a:schemeClr>
                    </a:solidFill>
                  </a:rPr>
                  <a:t>equivalence class</a:t>
                </a:r>
                <a:r>
                  <a:rPr lang="en-US" dirty="0">
                    <a:solidFill>
                      <a:schemeClr val="accent2">
                        <a:lumMod val="75000"/>
                      </a:schemeClr>
                    </a:solidFill>
                  </a:rPr>
                  <a:t> is:</a:t>
                </a:r>
              </a:p>
              <a:p>
                <a:r>
                  <a:rPr lang="en-US" dirty="0">
                    <a:solidFill>
                      <a:schemeClr val="accent2">
                        <a:lumMod val="75000"/>
                      </a:schemeClr>
                    </a:solidFill>
                  </a:rPr>
                  <a:t>A group of elements that are </a:t>
                </a:r>
                <a:r>
                  <a:rPr lang="en-US" b="1" dirty="0">
                    <a:solidFill>
                      <a:schemeClr val="accent2">
                        <a:lumMod val="75000"/>
                      </a:schemeClr>
                    </a:solidFill>
                  </a:rPr>
                  <a:t>related (similar)</a:t>
                </a:r>
                <a:r>
                  <a:rPr lang="en-US" dirty="0">
                    <a:solidFill>
                      <a:schemeClr val="accent2">
                        <a:lumMod val="75000"/>
                      </a:schemeClr>
                    </a:solidFill>
                  </a:rPr>
                  <a:t> to each other.</a:t>
                </a:r>
              </a:p>
              <a:p>
                <a:r>
                  <a:rPr lang="en-US" b="1" dirty="0">
                    <a:solidFill>
                      <a:srgbClr val="002060"/>
                    </a:solidFill>
                  </a:rPr>
                  <a:t>Purpose of Equivalence Classes</a:t>
                </a:r>
              </a:p>
              <a:p>
                <a:pPr marL="285750" indent="-285750">
                  <a:buFont typeface="Arial" panose="020B0604020202020204" pitchFamily="34" charset="0"/>
                  <a:buChar char="•"/>
                </a:pPr>
                <a:r>
                  <a:rPr lang="en-US" dirty="0">
                    <a:solidFill>
                      <a:srgbClr val="002060"/>
                    </a:solidFill>
                  </a:rPr>
                  <a:t>They help us </a:t>
                </a:r>
                <a:r>
                  <a:rPr lang="en-US" b="1" dirty="0">
                    <a:solidFill>
                      <a:srgbClr val="002060"/>
                    </a:solidFill>
                  </a:rPr>
                  <a:t>group things that are essentially the same</a:t>
                </a:r>
                <a:r>
                  <a:rPr lang="en-US" dirty="0">
                    <a:solidFill>
                      <a:srgbClr val="002060"/>
                    </a:solidFill>
                  </a:rPr>
                  <a:t>.</a:t>
                </a:r>
              </a:p>
              <a:p>
                <a:pPr marL="285750" indent="-285750">
                  <a:buFont typeface="Arial" panose="020B0604020202020204" pitchFamily="34" charset="0"/>
                  <a:buChar char="•"/>
                </a:pPr>
                <a:r>
                  <a:rPr lang="en-US" dirty="0">
                    <a:solidFill>
                      <a:srgbClr val="002060"/>
                    </a:solidFill>
                  </a:rPr>
                  <a:t>Instead of treating every element separately, we treat </a:t>
                </a:r>
                <a:r>
                  <a:rPr lang="en-US" b="1" dirty="0">
                    <a:solidFill>
                      <a:srgbClr val="002060"/>
                    </a:solidFill>
                  </a:rPr>
                  <a:t>similar ones as one group</a:t>
                </a:r>
                <a:r>
                  <a:rPr lang="en-US" dirty="0">
                    <a:solidFill>
                      <a:srgbClr val="002060"/>
                    </a:solidFill>
                  </a:rPr>
                  <a:t>.</a:t>
                </a:r>
              </a:p>
              <a:p>
                <a:r>
                  <a:rPr lang="en-US" dirty="0">
                    <a:solidFill>
                      <a:srgbClr val="990099"/>
                    </a:solidFill>
                  </a:rPr>
                  <a:t>If you have a relation </a:t>
                </a:r>
                <a14:m>
                  <m:oMath xmlns:m="http://schemas.openxmlformats.org/officeDocument/2006/math">
                    <m:r>
                      <a:rPr lang="en-US" i="1">
                        <a:solidFill>
                          <a:srgbClr val="990099"/>
                        </a:solidFill>
                        <a:latin typeface="Cambria Math" panose="02040503050406030204" pitchFamily="18" charset="0"/>
                      </a:rPr>
                      <m:t>𝑅</m:t>
                    </m:r>
                  </m:oMath>
                </a14:m>
                <a:r>
                  <a:rPr lang="en-US" dirty="0">
                    <a:solidFill>
                      <a:srgbClr val="990099"/>
                    </a:solidFill>
                  </a:rPr>
                  <a:t> on a set:</a:t>
                </a:r>
              </a:p>
              <a:p>
                <a:r>
                  <a:rPr lang="en-US" dirty="0">
                    <a:solidFill>
                      <a:srgbClr val="990099"/>
                    </a:solidFill>
                  </a:rPr>
                  <a:t>The equivalence class of </a:t>
                </a:r>
                <a14:m>
                  <m:oMath xmlns:m="http://schemas.openxmlformats.org/officeDocument/2006/math">
                    <m:r>
                      <a:rPr lang="en-US" i="1">
                        <a:solidFill>
                          <a:srgbClr val="990099"/>
                        </a:solidFill>
                        <a:latin typeface="Cambria Math" panose="02040503050406030204" pitchFamily="18" charset="0"/>
                      </a:rPr>
                      <m:t>𝑎</m:t>
                    </m:r>
                  </m:oMath>
                </a14:m>
                <a:r>
                  <a:rPr lang="en-US" dirty="0">
                    <a:solidFill>
                      <a:srgbClr val="990099"/>
                    </a:solidFill>
                  </a:rPr>
                  <a:t>, written as </a:t>
                </a:r>
                <a:r>
                  <a:rPr lang="en-US" b="1" dirty="0">
                    <a:solidFill>
                      <a:srgbClr val="990099"/>
                    </a:solidFill>
                  </a:rPr>
                  <a:t>[a]</a:t>
                </a:r>
                <a:r>
                  <a:rPr lang="en-US" dirty="0">
                    <a:solidFill>
                      <a:srgbClr val="990099"/>
                    </a:solidFill>
                  </a:rPr>
                  <a:t>, is all elements that are related to </a:t>
                </a:r>
                <a14:m>
                  <m:oMath xmlns:m="http://schemas.openxmlformats.org/officeDocument/2006/math">
                    <m:r>
                      <a:rPr lang="en-US" i="1">
                        <a:solidFill>
                          <a:srgbClr val="990099"/>
                        </a:solidFill>
                        <a:latin typeface="Cambria Math" panose="02040503050406030204" pitchFamily="18" charset="0"/>
                      </a:rPr>
                      <m:t>𝑎</m:t>
                    </m:r>
                  </m:oMath>
                </a14:m>
                <a:endParaRPr lang="en-US" dirty="0">
                  <a:solidFill>
                    <a:srgbClr val="990099"/>
                  </a:solidFill>
                </a:endParaRPr>
              </a:p>
              <a:p>
                <a:r>
                  <a:rPr lang="en-US" dirty="0">
                    <a:solidFill>
                      <a:srgbClr val="990099"/>
                    </a:solidFill>
                  </a:rPr>
                  <a:t>So: rep. by</a:t>
                </a:r>
              </a:p>
              <a:p>
                <a14:m>
                  <m:oMath xmlns:m="http://schemas.openxmlformats.org/officeDocument/2006/math">
                    <m:d>
                      <m:dPr>
                        <m:begChr m:val="["/>
                        <m:endChr m:val="]"/>
                        <m:ctrlPr>
                          <a:rPr lang="ar-AE" i="1">
                            <a:solidFill>
                              <a:srgbClr val="990099"/>
                            </a:solidFill>
                            <a:latin typeface="Cambria Math" panose="02040503050406030204" pitchFamily="18" charset="0"/>
                          </a:rPr>
                        </m:ctrlPr>
                      </m:dPr>
                      <m:e>
                        <m:r>
                          <a:rPr lang="ar-AE" i="1">
                            <a:solidFill>
                              <a:srgbClr val="990099"/>
                            </a:solidFill>
                            <a:latin typeface="Cambria Math" panose="02040503050406030204" pitchFamily="18" charset="0"/>
                          </a:rPr>
                          <m:t>𝑎</m:t>
                        </m:r>
                      </m:e>
                    </m:d>
                    <m:r>
                      <a:rPr lang="ar-AE">
                        <a:solidFill>
                          <a:srgbClr val="990099"/>
                        </a:solidFill>
                        <a:latin typeface="Cambria Math" panose="02040503050406030204" pitchFamily="18" charset="0"/>
                      </a:rPr>
                      <m:t>=</m:t>
                    </m:r>
                    <m:d>
                      <m:dPr>
                        <m:begChr m:val="{"/>
                        <m:endChr m:val="}"/>
                        <m:ctrlPr>
                          <a:rPr lang="ar-AE" i="1">
                            <a:solidFill>
                              <a:srgbClr val="990099"/>
                            </a:solidFill>
                            <a:latin typeface="Cambria Math" panose="02040503050406030204" pitchFamily="18" charset="0"/>
                          </a:rPr>
                        </m:ctrlPr>
                      </m:dPr>
                      <m:e>
                        <m:r>
                          <m:rPr>
                            <m:nor/>
                          </m:rPr>
                          <a:rPr lang="en-US" i="1">
                            <a:solidFill>
                              <a:srgbClr val="990099"/>
                            </a:solidFill>
                          </a:rPr>
                          <m:t>all</m:t>
                        </m:r>
                        <m:r>
                          <m:rPr>
                            <m:nor/>
                          </m:rPr>
                          <a:rPr lang="en-US" i="1">
                            <a:solidFill>
                              <a:srgbClr val="990099"/>
                            </a:solidFill>
                          </a:rPr>
                          <m:t> </m:t>
                        </m:r>
                        <m:r>
                          <m:rPr>
                            <m:nor/>
                          </m:rPr>
                          <a:rPr lang="en-US" i="1">
                            <a:solidFill>
                              <a:srgbClr val="990099"/>
                            </a:solidFill>
                          </a:rPr>
                          <m:t>elements</m:t>
                        </m:r>
                        <m:r>
                          <m:rPr>
                            <m:nor/>
                          </m:rPr>
                          <a:rPr lang="en-US" i="1">
                            <a:solidFill>
                              <a:srgbClr val="990099"/>
                            </a:solidFill>
                          </a:rPr>
                          <m:t> </m:t>
                        </m:r>
                        <m:r>
                          <m:rPr>
                            <m:nor/>
                          </m:rPr>
                          <a:rPr lang="en-US" i="1">
                            <a:solidFill>
                              <a:srgbClr val="990099"/>
                            </a:solidFill>
                          </a:rPr>
                          <m:t>related</m:t>
                        </m:r>
                        <m:r>
                          <m:rPr>
                            <m:nor/>
                          </m:rPr>
                          <a:rPr lang="en-US" i="1">
                            <a:solidFill>
                              <a:srgbClr val="990099"/>
                            </a:solidFill>
                          </a:rPr>
                          <m:t> </m:t>
                        </m:r>
                        <m:r>
                          <m:rPr>
                            <m:nor/>
                          </m:rPr>
                          <a:rPr lang="en-US" i="1">
                            <a:solidFill>
                              <a:srgbClr val="990099"/>
                            </a:solidFill>
                          </a:rPr>
                          <m:t>to</m:t>
                        </m:r>
                        <m:r>
                          <m:rPr>
                            <m:nor/>
                          </m:rPr>
                          <a:rPr lang="en-US" i="1">
                            <a:solidFill>
                              <a:srgbClr val="990099"/>
                            </a:solidFill>
                          </a:rPr>
                          <m:t> </m:t>
                        </m:r>
                        <m:r>
                          <a:rPr lang="en-US" i="1">
                            <a:solidFill>
                              <a:srgbClr val="990099"/>
                            </a:solidFill>
                            <a:latin typeface="Cambria Math" panose="02040503050406030204" pitchFamily="18" charset="0"/>
                          </a:rPr>
                          <m:t>𝑎</m:t>
                        </m:r>
                      </m:e>
                    </m:d>
                  </m:oMath>
                </a14:m>
                <a:endParaRPr lang="en-US" dirty="0">
                  <a:solidFill>
                    <a:srgbClr val="7030A0"/>
                  </a:solidFill>
                </a:endParaRPr>
              </a:p>
              <a:p>
                <a:r>
                  <a:rPr lang="en-US" b="1" dirty="0">
                    <a:solidFill>
                      <a:srgbClr val="7030A0"/>
                    </a:solidFill>
                  </a:rPr>
                  <a:t>Example (mod 4)</a:t>
                </a:r>
              </a:p>
              <a:p>
                <a:r>
                  <a:rPr lang="en-US" dirty="0">
                    <a:solidFill>
                      <a:srgbClr val="7030A0"/>
                    </a:solidFill>
                  </a:rPr>
                  <a:t>Numbers: 1, 5, 9, 13 </a:t>
                </a:r>
              </a:p>
              <a:p>
                <a:pPr marL="285750" indent="-285750">
                  <a:buFont typeface="Arial" panose="020B0604020202020204" pitchFamily="34" charset="0"/>
                  <a:buChar char="•"/>
                </a:pPr>
                <a:r>
                  <a:rPr lang="en-US" dirty="0">
                    <a:solidFill>
                      <a:schemeClr val="accent2">
                        <a:lumMod val="75000"/>
                      </a:schemeClr>
                    </a:solidFill>
                  </a:rPr>
                  <a:t>All give </a:t>
                </a:r>
                <a:r>
                  <a:rPr lang="en-US" b="1" dirty="0">
                    <a:solidFill>
                      <a:schemeClr val="accent2">
                        <a:lumMod val="75000"/>
                      </a:schemeClr>
                    </a:solidFill>
                  </a:rPr>
                  <a:t>remainder 1 when divided by 4</a:t>
                </a:r>
                <a:endParaRPr lang="en-US" dirty="0">
                  <a:solidFill>
                    <a:schemeClr val="accent2">
                      <a:lumMod val="75000"/>
                    </a:schemeClr>
                  </a:solidFill>
                </a:endParaRPr>
              </a:p>
              <a:p>
                <a:pPr marL="285750" indent="-285750">
                  <a:buFont typeface="Arial" panose="020B0604020202020204" pitchFamily="34" charset="0"/>
                  <a:buChar char="•"/>
                </a:pPr>
                <a:r>
                  <a:rPr lang="en-US" dirty="0">
                    <a:solidFill>
                      <a:schemeClr val="accent2">
                        <a:lumMod val="75000"/>
                      </a:schemeClr>
                    </a:solidFill>
                  </a:rPr>
                  <a:t>So instead of writing all of them, we just say: </a:t>
                </a:r>
                <a:r>
                  <a:rPr lang="en-US" b="1" dirty="0">
                    <a:solidFill>
                      <a:schemeClr val="accent2">
                        <a:lumMod val="75000"/>
                      </a:schemeClr>
                    </a:solidFill>
                  </a:rPr>
                  <a:t>[1]₄</a:t>
                </a:r>
                <a:endParaRPr lang="en-US" dirty="0">
                  <a:solidFill>
                    <a:schemeClr val="accent2">
                      <a:lumMod val="75000"/>
                    </a:schemeClr>
                  </a:solidFill>
                </a:endParaRPr>
              </a:p>
              <a:p>
                <a:endParaRPr lang="en-US" dirty="0">
                  <a:solidFill>
                    <a:srgbClr val="002060"/>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6705" y="1012825"/>
                <a:ext cx="7951470" cy="5638800"/>
              </a:xfrm>
              <a:blipFill>
                <a:blip r:embed="rId2"/>
                <a:stretch>
                  <a:fillRect l="-153" t="-649" b="-3243"/>
                </a:stretch>
              </a:blipFill>
            </p:spPr>
            <p:txBody>
              <a:bodyPr/>
              <a:lstStyle/>
              <a:p>
                <a:r>
                  <a:rPr 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D7540-74BE-316A-EC37-D86EDDD66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A0707-D017-9BB4-A1EF-C352A6AAC485}"/>
              </a:ext>
            </a:extLst>
          </p:cNvPr>
          <p:cNvSpPr>
            <a:spLocks noGrp="1"/>
          </p:cNvSpPr>
          <p:nvPr>
            <p:ph type="title"/>
          </p:nvPr>
        </p:nvSpPr>
        <p:spPr>
          <a:xfrm>
            <a:off x="278130" y="152400"/>
            <a:ext cx="8587740" cy="574675"/>
          </a:xfrm>
        </p:spPr>
        <p:txBody>
          <a:bodyPr>
            <a:normAutofit fontScale="90000"/>
          </a:bodyPr>
          <a:lstStyle/>
          <a:p>
            <a:r>
              <a:rPr lang="en-US" dirty="0"/>
              <a:t>Equivalence Classes</a:t>
            </a:r>
          </a:p>
        </p:txBody>
      </p:sp>
      <p:sp>
        <p:nvSpPr>
          <p:cNvPr id="3" name="Content Placeholder 2">
            <a:extLst>
              <a:ext uri="{FF2B5EF4-FFF2-40B4-BE49-F238E27FC236}">
                <a16:creationId xmlns:a16="http://schemas.microsoft.com/office/drawing/2014/main" id="{566764C8-6700-3667-7CF4-E4E5E7C0173C}"/>
              </a:ext>
            </a:extLst>
          </p:cNvPr>
          <p:cNvSpPr>
            <a:spLocks noGrp="1"/>
          </p:cNvSpPr>
          <p:nvPr>
            <p:ph idx="1"/>
          </p:nvPr>
        </p:nvSpPr>
        <p:spPr>
          <a:xfrm>
            <a:off x="306705" y="1012825"/>
            <a:ext cx="7951470" cy="5638800"/>
          </a:xfrm>
        </p:spPr>
        <p:txBody>
          <a:bodyPr>
            <a:normAutofit/>
          </a:bodyPr>
          <a:lstStyle/>
          <a:p>
            <a:r>
              <a:rPr lang="en-US" sz="2400" b="1" dirty="0">
                <a:solidFill>
                  <a:srgbClr val="990099"/>
                </a:solidFill>
              </a:rPr>
              <a:t>Group 1: [0]₄ (</a:t>
            </a:r>
            <a:r>
              <a:rPr lang="en-US" sz="2400" dirty="0">
                <a:solidFill>
                  <a:srgbClr val="990099"/>
                </a:solidFill>
              </a:rPr>
              <a:t>Numbers with remainder </a:t>
            </a:r>
            <a:r>
              <a:rPr lang="en-US" sz="2400" b="1" dirty="0">
                <a:solidFill>
                  <a:srgbClr val="990099"/>
                </a:solidFill>
              </a:rPr>
              <a:t>0)</a:t>
            </a:r>
            <a:r>
              <a:rPr lang="en-US" sz="2400" dirty="0">
                <a:solidFill>
                  <a:srgbClr val="990099"/>
                </a:solidFill>
              </a:rPr>
              <a:t> </a:t>
            </a:r>
          </a:p>
          <a:p>
            <a:pPr lvl="4"/>
            <a:r>
              <a:rPr lang="en-US" sz="2400" dirty="0"/>
              <a:t>[</a:t>
            </a:r>
            <a:r>
              <a:rPr lang="en-US" sz="2400" dirty="0">
                <a:latin typeface="Cambria Math" pitchFamily="18" charset="0"/>
                <a:ea typeface="Cambria Math" pitchFamily="18" charset="0"/>
              </a:rPr>
              <a:t>0</a:t>
            </a:r>
            <a:r>
              <a:rPr lang="en-US" sz="2400" dirty="0"/>
              <a:t>]</a:t>
            </a:r>
            <a:r>
              <a:rPr lang="en-US" sz="2400" baseline="-25000" dirty="0">
                <a:latin typeface="Cambria Math" pitchFamily="18" charset="0"/>
                <a:ea typeface="Cambria Math" pitchFamily="18" charset="0"/>
              </a:rPr>
              <a:t>4</a:t>
            </a:r>
            <a:r>
              <a:rPr lang="en-US" sz="2400" dirty="0"/>
              <a:t> = {…, </a:t>
            </a:r>
            <a:r>
              <a:rPr lang="en-US" sz="2400" dirty="0">
                <a:latin typeface="Cambria Math"/>
                <a:ea typeface="Cambria Math"/>
              </a:rPr>
              <a:t>−</a:t>
            </a:r>
            <a:r>
              <a:rPr lang="en-US" sz="2400" dirty="0">
                <a:latin typeface="Cambria Math" pitchFamily="18" charset="0"/>
                <a:ea typeface="Cambria Math" pitchFamily="18" charset="0"/>
              </a:rPr>
              <a:t>8,</a:t>
            </a:r>
            <a:r>
              <a:rPr lang="en-US" sz="2400" dirty="0">
                <a:latin typeface="Cambria Math"/>
                <a:ea typeface="Cambria Math"/>
              </a:rPr>
              <a:t> −</a:t>
            </a:r>
            <a:r>
              <a:rPr lang="en-US" sz="2400" dirty="0">
                <a:latin typeface="Cambria Math" pitchFamily="18" charset="0"/>
                <a:ea typeface="Cambria Math" pitchFamily="18" charset="0"/>
              </a:rPr>
              <a:t>4 , 0, 4 , 8 , …}                      </a:t>
            </a:r>
          </a:p>
          <a:p>
            <a:endParaRPr lang="en-US" sz="2400" dirty="0">
              <a:latin typeface="Cambria Math" pitchFamily="18" charset="0"/>
              <a:ea typeface="Cambria Math" pitchFamily="18" charset="0"/>
            </a:endParaRPr>
          </a:p>
          <a:p>
            <a:r>
              <a:rPr lang="en-US" sz="2400" b="1" dirty="0">
                <a:solidFill>
                  <a:srgbClr val="990099"/>
                </a:solidFill>
              </a:rPr>
              <a:t>Group 2: [1]₄ (</a:t>
            </a:r>
            <a:r>
              <a:rPr lang="en-US" sz="2400" dirty="0">
                <a:solidFill>
                  <a:srgbClr val="990099"/>
                </a:solidFill>
              </a:rPr>
              <a:t>Numbers with remainder </a:t>
            </a:r>
            <a:r>
              <a:rPr lang="en-US" sz="2400" b="1" dirty="0">
                <a:solidFill>
                  <a:srgbClr val="990099"/>
                </a:solidFill>
              </a:rPr>
              <a:t>1)</a:t>
            </a:r>
            <a:endParaRPr lang="en-US" sz="2400" dirty="0">
              <a:solidFill>
                <a:srgbClr val="990099"/>
              </a:solidFill>
              <a:latin typeface="Cambria Math" pitchFamily="18" charset="0"/>
              <a:ea typeface="Cambria Math" pitchFamily="18" charset="0"/>
            </a:endParaRPr>
          </a:p>
          <a:p>
            <a:pPr lvl="4"/>
            <a:r>
              <a:rPr lang="en-US" sz="2400" dirty="0"/>
              <a:t>[</a:t>
            </a:r>
            <a:r>
              <a:rPr lang="en-US" sz="2400" dirty="0">
                <a:latin typeface="Cambria Math" pitchFamily="18" charset="0"/>
                <a:ea typeface="Cambria Math" pitchFamily="18" charset="0"/>
              </a:rPr>
              <a:t>1</a:t>
            </a:r>
            <a:r>
              <a:rPr lang="en-US" sz="2400" dirty="0"/>
              <a:t>]</a:t>
            </a:r>
            <a:r>
              <a:rPr lang="en-US" sz="2400" baseline="-25000" dirty="0">
                <a:latin typeface="Cambria Math" pitchFamily="18" charset="0"/>
                <a:ea typeface="Cambria Math" pitchFamily="18" charset="0"/>
              </a:rPr>
              <a:t>4</a:t>
            </a:r>
            <a:r>
              <a:rPr lang="en-US" sz="2400" dirty="0"/>
              <a:t> = {…, </a:t>
            </a:r>
            <a:r>
              <a:rPr lang="en-US" sz="2400" dirty="0">
                <a:latin typeface="Cambria Math"/>
                <a:ea typeface="Cambria Math"/>
              </a:rPr>
              <a:t>−</a:t>
            </a:r>
            <a:r>
              <a:rPr lang="en-US" sz="2400" dirty="0">
                <a:latin typeface="Cambria Math" pitchFamily="18" charset="0"/>
                <a:ea typeface="Cambria Math" pitchFamily="18" charset="0"/>
              </a:rPr>
              <a:t>7,</a:t>
            </a:r>
            <a:r>
              <a:rPr lang="en-US" sz="2400" dirty="0">
                <a:latin typeface="Cambria Math"/>
                <a:ea typeface="Cambria Math"/>
              </a:rPr>
              <a:t> −</a:t>
            </a:r>
            <a:r>
              <a:rPr lang="en-US" sz="2400" dirty="0">
                <a:latin typeface="Cambria Math" pitchFamily="18" charset="0"/>
                <a:ea typeface="Cambria Math" pitchFamily="18" charset="0"/>
              </a:rPr>
              <a:t>3 , 1, 5 , 9 , …}</a:t>
            </a:r>
          </a:p>
          <a:p>
            <a:pPr lvl="1">
              <a:buNone/>
            </a:pPr>
            <a:endParaRPr lang="en-US" sz="2400" dirty="0">
              <a:latin typeface="Cambria Math" pitchFamily="18" charset="0"/>
              <a:ea typeface="Cambria Math" pitchFamily="18" charset="0"/>
            </a:endParaRPr>
          </a:p>
          <a:p>
            <a:r>
              <a:rPr lang="en-US" sz="2400" b="1" dirty="0">
                <a:solidFill>
                  <a:srgbClr val="990099"/>
                </a:solidFill>
              </a:rPr>
              <a:t>Group 3: [2]₄</a:t>
            </a:r>
          </a:p>
          <a:p>
            <a:pPr indent="-457200" algn="ctr">
              <a:buClr>
                <a:schemeClr val="accent3"/>
              </a:buClr>
              <a:buSzPct val="95000"/>
            </a:pPr>
            <a:r>
              <a:rPr lang="en-US" sz="2400" dirty="0"/>
              <a:t> [</a:t>
            </a:r>
            <a:r>
              <a:rPr lang="en-US" sz="2400" dirty="0">
                <a:latin typeface="Cambria Math" pitchFamily="18" charset="0"/>
                <a:ea typeface="Cambria Math" pitchFamily="18" charset="0"/>
              </a:rPr>
              <a:t>2</a:t>
            </a:r>
            <a:r>
              <a:rPr lang="en-US" sz="2400" dirty="0"/>
              <a:t>]</a:t>
            </a:r>
            <a:r>
              <a:rPr lang="en-US" sz="2400" baseline="-25000" dirty="0">
                <a:latin typeface="Cambria Math" pitchFamily="18" charset="0"/>
                <a:ea typeface="Cambria Math" pitchFamily="18" charset="0"/>
              </a:rPr>
              <a:t>4</a:t>
            </a:r>
            <a:r>
              <a:rPr lang="en-US" sz="2400" dirty="0"/>
              <a:t> = {…, </a:t>
            </a:r>
            <a:r>
              <a:rPr lang="en-US" sz="2400" dirty="0">
                <a:latin typeface="Cambria Math"/>
                <a:ea typeface="Cambria Math"/>
              </a:rPr>
              <a:t>−</a:t>
            </a:r>
            <a:r>
              <a:rPr lang="en-US" sz="2400" dirty="0">
                <a:latin typeface="Cambria Math" pitchFamily="18" charset="0"/>
                <a:ea typeface="Cambria Math" pitchFamily="18" charset="0"/>
              </a:rPr>
              <a:t>6,</a:t>
            </a:r>
            <a:r>
              <a:rPr lang="en-US" sz="2400" dirty="0">
                <a:latin typeface="Cambria Math"/>
                <a:ea typeface="Cambria Math"/>
              </a:rPr>
              <a:t> −</a:t>
            </a:r>
            <a:r>
              <a:rPr lang="en-US" sz="2400" dirty="0">
                <a:latin typeface="Cambria Math" pitchFamily="18" charset="0"/>
                <a:ea typeface="Cambria Math" pitchFamily="18" charset="0"/>
              </a:rPr>
              <a:t>2 , 2, 6 , 10 , …}                      </a:t>
            </a:r>
          </a:p>
          <a:p>
            <a:pPr marL="274320" lvl="1" indent="-274320">
              <a:buClr>
                <a:schemeClr val="accent3"/>
              </a:buClr>
              <a:buSzPct val="95000"/>
              <a:buNone/>
            </a:pPr>
            <a:endParaRPr lang="en-US" sz="2400" dirty="0">
              <a:latin typeface="Cambria Math" pitchFamily="18" charset="0"/>
              <a:ea typeface="Cambria Math" pitchFamily="18" charset="0"/>
            </a:endParaRPr>
          </a:p>
          <a:p>
            <a:pPr marL="274320" lvl="1" indent="-274320">
              <a:buClr>
                <a:schemeClr val="accent3"/>
              </a:buClr>
              <a:buSzPct val="95000"/>
            </a:pPr>
            <a:r>
              <a:rPr lang="en-US" sz="2400" b="1" dirty="0">
                <a:solidFill>
                  <a:srgbClr val="990099"/>
                </a:solidFill>
              </a:rPr>
              <a:t>Group 4: [3]₄</a:t>
            </a:r>
            <a:endParaRPr lang="en-US" sz="2400" dirty="0">
              <a:solidFill>
                <a:srgbClr val="990099"/>
              </a:solidFill>
              <a:latin typeface="Cambria Math" pitchFamily="18" charset="0"/>
              <a:ea typeface="Cambria Math" pitchFamily="18" charset="0"/>
            </a:endParaRPr>
          </a:p>
          <a:p>
            <a:pPr indent="-457200" algn="ctr">
              <a:buClr>
                <a:schemeClr val="accent3"/>
              </a:buClr>
              <a:buSzPct val="95000"/>
            </a:pPr>
            <a:r>
              <a:rPr lang="en-US" sz="2400" dirty="0"/>
              <a:t>[</a:t>
            </a:r>
            <a:r>
              <a:rPr lang="en-US" sz="2400" dirty="0">
                <a:latin typeface="Cambria Math" pitchFamily="18" charset="0"/>
                <a:ea typeface="Cambria Math" pitchFamily="18" charset="0"/>
              </a:rPr>
              <a:t>3</a:t>
            </a:r>
            <a:r>
              <a:rPr lang="en-US" sz="2400" dirty="0"/>
              <a:t>]</a:t>
            </a:r>
            <a:r>
              <a:rPr lang="en-US" sz="2400" baseline="-25000" dirty="0">
                <a:latin typeface="Cambria Math" pitchFamily="18" charset="0"/>
                <a:ea typeface="Cambria Math" pitchFamily="18" charset="0"/>
              </a:rPr>
              <a:t>4</a:t>
            </a:r>
            <a:r>
              <a:rPr lang="en-US" sz="2400" dirty="0"/>
              <a:t> = {…, </a:t>
            </a:r>
            <a:r>
              <a:rPr lang="en-US" sz="2400" dirty="0">
                <a:latin typeface="Cambria Math"/>
                <a:ea typeface="Cambria Math"/>
              </a:rPr>
              <a:t>−</a:t>
            </a:r>
            <a:r>
              <a:rPr lang="en-US" sz="2400" dirty="0">
                <a:latin typeface="Cambria Math" pitchFamily="18" charset="0"/>
                <a:ea typeface="Cambria Math" pitchFamily="18" charset="0"/>
              </a:rPr>
              <a:t>5,</a:t>
            </a:r>
            <a:r>
              <a:rPr lang="en-US" sz="2400" dirty="0">
                <a:latin typeface="Cambria Math"/>
                <a:ea typeface="Cambria Math"/>
              </a:rPr>
              <a:t> −</a:t>
            </a:r>
            <a:r>
              <a:rPr lang="en-US" sz="2400" dirty="0">
                <a:latin typeface="Cambria Math" pitchFamily="18" charset="0"/>
                <a:ea typeface="Cambria Math" pitchFamily="18" charset="0"/>
              </a:rPr>
              <a:t>1 , 3, 7 , 11 , …}</a:t>
            </a:r>
            <a:endParaRPr lang="en-US" sz="2400" dirty="0"/>
          </a:p>
        </p:txBody>
      </p:sp>
    </p:spTree>
    <p:extLst>
      <p:ext uri="{BB962C8B-B14F-4D97-AF65-F5344CB8AC3E}">
        <p14:creationId xmlns:p14="http://schemas.microsoft.com/office/powerpoint/2010/main" val="4567437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84939-B97B-8982-0353-77AD8D658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E6BF3-0029-36F9-D740-41FBE6D92BB9}"/>
              </a:ext>
            </a:extLst>
          </p:cNvPr>
          <p:cNvSpPr>
            <a:spLocks noGrp="1"/>
          </p:cNvSpPr>
          <p:nvPr>
            <p:ph type="title"/>
          </p:nvPr>
        </p:nvSpPr>
        <p:spPr>
          <a:xfrm>
            <a:off x="278130" y="152400"/>
            <a:ext cx="8587740" cy="574675"/>
          </a:xfrm>
        </p:spPr>
        <p:txBody>
          <a:bodyPr>
            <a:normAutofit fontScale="90000"/>
          </a:bodyPr>
          <a:lstStyle/>
          <a:p>
            <a:r>
              <a:rPr lang="en-US" dirty="0"/>
              <a:t>Equivalence Classes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440825-6D4A-FD9A-BE60-D1D6A1FC9AA2}"/>
                  </a:ext>
                </a:extLst>
              </p:cNvPr>
              <p:cNvSpPr>
                <a:spLocks noGrp="1"/>
              </p:cNvSpPr>
              <p:nvPr>
                <p:ph idx="1"/>
              </p:nvPr>
            </p:nvSpPr>
            <p:spPr>
              <a:xfrm>
                <a:off x="306705" y="1012825"/>
                <a:ext cx="7951470" cy="5638800"/>
              </a:xfrm>
            </p:spPr>
            <p:txBody>
              <a:bodyPr>
                <a:normAutofit fontScale="92500" lnSpcReduction="20000"/>
              </a:bodyPr>
              <a:lstStyle/>
              <a:p>
                <a:r>
                  <a:rPr lang="en-US" sz="2400" b="1" dirty="0">
                    <a:solidFill>
                      <a:srgbClr val="C00000"/>
                    </a:solidFill>
                  </a:rPr>
                  <a:t>Example: Mod 3 Groups</a:t>
                </a:r>
              </a:p>
              <a:p>
                <a:r>
                  <a:rPr lang="en-US" sz="2400" dirty="0"/>
                  <a:t>Define equivalence classes modulo 3:</a:t>
                </a:r>
              </a:p>
              <a:p>
                <a:r>
                  <a:rPr lang="en-US" sz="2400" dirty="0"/>
                  <a:t>Group 1: </a:t>
                </a:r>
                <a14:m>
                  <m:oMath xmlns:m="http://schemas.openxmlformats.org/officeDocument/2006/math">
                    <m:sSub>
                      <m:sSubPr>
                        <m:ctrlPr>
                          <a:rPr lang="ar-AE" sz="2400" i="1">
                            <a:latin typeface="Cambria Math" panose="02040503050406030204" pitchFamily="18" charset="0"/>
                          </a:rPr>
                        </m:ctrlPr>
                      </m:sSubPr>
                      <m:e>
                        <m:d>
                          <m:dPr>
                            <m:begChr m:val="["/>
                            <m:endChr m:val="]"/>
                            <m:ctrlPr>
                              <a:rPr lang="ar-AE" sz="2400" i="1">
                                <a:latin typeface="Cambria Math" panose="02040503050406030204" pitchFamily="18" charset="0"/>
                              </a:rPr>
                            </m:ctrlPr>
                          </m:dPr>
                          <m:e>
                            <m:r>
                              <a:rPr lang="ar-AE" sz="2400">
                                <a:latin typeface="Cambria Math" panose="02040503050406030204" pitchFamily="18" charset="0"/>
                              </a:rPr>
                              <m:t>0</m:t>
                            </m:r>
                          </m:e>
                        </m:d>
                      </m:e>
                      <m:sub>
                        <m:r>
                          <a:rPr lang="ar-AE" sz="2400">
                            <a:latin typeface="Cambria Math" panose="02040503050406030204" pitchFamily="18" charset="0"/>
                          </a:rPr>
                          <m:t>3</m:t>
                        </m:r>
                      </m:sub>
                    </m:sSub>
                  </m:oMath>
                </a14:m>
                <a:endParaRPr lang="ar-AE" sz="2400" dirty="0"/>
              </a:p>
              <a:p>
                <a:r>
                  <a:rPr lang="en-US" sz="2400" dirty="0"/>
                  <a:t>Group 2: </a:t>
                </a:r>
                <a14:m>
                  <m:oMath xmlns:m="http://schemas.openxmlformats.org/officeDocument/2006/math">
                    <m:sSub>
                      <m:sSubPr>
                        <m:ctrlPr>
                          <a:rPr lang="ar-AE" sz="2400" i="1">
                            <a:latin typeface="Cambria Math" panose="02040503050406030204" pitchFamily="18" charset="0"/>
                          </a:rPr>
                        </m:ctrlPr>
                      </m:sSubPr>
                      <m:e>
                        <m:d>
                          <m:dPr>
                            <m:begChr m:val="["/>
                            <m:endChr m:val="]"/>
                            <m:ctrlPr>
                              <a:rPr lang="ar-AE" sz="2400" i="1">
                                <a:latin typeface="Cambria Math" panose="02040503050406030204" pitchFamily="18" charset="0"/>
                              </a:rPr>
                            </m:ctrlPr>
                          </m:dPr>
                          <m:e>
                            <m:r>
                              <a:rPr lang="ar-AE" sz="2400">
                                <a:latin typeface="Cambria Math" panose="02040503050406030204" pitchFamily="18" charset="0"/>
                              </a:rPr>
                              <m:t>1</m:t>
                            </m:r>
                          </m:e>
                        </m:d>
                      </m:e>
                      <m:sub>
                        <m:r>
                          <a:rPr lang="ar-AE" sz="2400">
                            <a:latin typeface="Cambria Math" panose="02040503050406030204" pitchFamily="18" charset="0"/>
                          </a:rPr>
                          <m:t>3</m:t>
                        </m:r>
                      </m:sub>
                    </m:sSub>
                  </m:oMath>
                </a14:m>
                <a:endParaRPr lang="ar-AE" sz="2400" dirty="0"/>
              </a:p>
              <a:p>
                <a:r>
                  <a:rPr lang="en-US" sz="2400" dirty="0"/>
                  <a:t>Group 3: </a:t>
                </a:r>
                <a14:m>
                  <m:oMath xmlns:m="http://schemas.openxmlformats.org/officeDocument/2006/math">
                    <m:sSub>
                      <m:sSubPr>
                        <m:ctrlPr>
                          <a:rPr lang="ar-AE" sz="2400" i="1">
                            <a:latin typeface="Cambria Math" panose="02040503050406030204" pitchFamily="18" charset="0"/>
                          </a:rPr>
                        </m:ctrlPr>
                      </m:sSubPr>
                      <m:e>
                        <m:d>
                          <m:dPr>
                            <m:begChr m:val="["/>
                            <m:endChr m:val="]"/>
                            <m:ctrlPr>
                              <a:rPr lang="ar-AE" sz="2400" i="1">
                                <a:latin typeface="Cambria Math" panose="02040503050406030204" pitchFamily="18" charset="0"/>
                              </a:rPr>
                            </m:ctrlPr>
                          </m:dPr>
                          <m:e>
                            <m:r>
                              <a:rPr lang="ar-AE" sz="2400">
                                <a:latin typeface="Cambria Math" panose="02040503050406030204" pitchFamily="18" charset="0"/>
                              </a:rPr>
                              <m:t>2</m:t>
                            </m:r>
                          </m:e>
                        </m:d>
                      </m:e>
                      <m:sub>
                        <m:r>
                          <a:rPr lang="ar-AE" sz="2400">
                            <a:latin typeface="Cambria Math" panose="02040503050406030204" pitchFamily="18" charset="0"/>
                          </a:rPr>
                          <m:t>3</m:t>
                        </m:r>
                      </m:sub>
                    </m:sSub>
                  </m:oMath>
                </a14:m>
                <a:endParaRPr lang="en-US" sz="2400" dirty="0"/>
              </a:p>
              <a:p>
                <a:endParaRPr lang="en-US" sz="2400" dirty="0"/>
              </a:p>
              <a:p>
                <a:endParaRPr lang="en-US" sz="2400" dirty="0"/>
              </a:p>
              <a:p>
                <a:r>
                  <a:rPr lang="en-US" sz="2400" b="1" dirty="0">
                    <a:solidFill>
                      <a:srgbClr val="C00000"/>
                    </a:solidFill>
                  </a:rPr>
                  <a:t>Example: Mod 5 Groups</a:t>
                </a:r>
              </a:p>
              <a:p>
                <a:r>
                  <a:rPr lang="en-US" sz="2400" dirty="0"/>
                  <a:t>Define equivalence classes modulo 5:</a:t>
                </a:r>
              </a:p>
              <a:p>
                <a:r>
                  <a:rPr lang="en-US" sz="2400" dirty="0"/>
                  <a:t>Group 1: </a:t>
                </a:r>
                <a14:m>
                  <m:oMath xmlns:m="http://schemas.openxmlformats.org/officeDocument/2006/math">
                    <m:sSub>
                      <m:sSubPr>
                        <m:ctrlPr>
                          <a:rPr lang="ar-AE" sz="2400" i="1">
                            <a:latin typeface="Cambria Math" panose="02040503050406030204" pitchFamily="18" charset="0"/>
                          </a:rPr>
                        </m:ctrlPr>
                      </m:sSubPr>
                      <m:e>
                        <m:d>
                          <m:dPr>
                            <m:begChr m:val="["/>
                            <m:endChr m:val="]"/>
                            <m:ctrlPr>
                              <a:rPr lang="ar-AE" sz="2400" i="1">
                                <a:latin typeface="Cambria Math" panose="02040503050406030204" pitchFamily="18" charset="0"/>
                              </a:rPr>
                            </m:ctrlPr>
                          </m:dPr>
                          <m:e>
                            <m:r>
                              <a:rPr lang="ar-AE" sz="2400">
                                <a:latin typeface="Cambria Math" panose="02040503050406030204" pitchFamily="18" charset="0"/>
                              </a:rPr>
                              <m:t>0</m:t>
                            </m:r>
                          </m:e>
                        </m:d>
                      </m:e>
                      <m:sub>
                        <m:r>
                          <a:rPr lang="en-US" sz="2400" b="0" i="0" smtClean="0">
                            <a:latin typeface="Cambria Math" panose="02040503050406030204" pitchFamily="18" charset="0"/>
                          </a:rPr>
                          <m:t>5</m:t>
                        </m:r>
                      </m:sub>
                    </m:sSub>
                  </m:oMath>
                </a14:m>
                <a:endParaRPr lang="ar-AE" sz="2400" dirty="0"/>
              </a:p>
              <a:p>
                <a:r>
                  <a:rPr lang="en-US" sz="2400" dirty="0"/>
                  <a:t>Group 2: </a:t>
                </a:r>
                <a14:m>
                  <m:oMath xmlns:m="http://schemas.openxmlformats.org/officeDocument/2006/math">
                    <m:sSub>
                      <m:sSubPr>
                        <m:ctrlPr>
                          <a:rPr lang="ar-AE" sz="2400" i="1">
                            <a:latin typeface="Cambria Math" panose="02040503050406030204" pitchFamily="18" charset="0"/>
                          </a:rPr>
                        </m:ctrlPr>
                      </m:sSubPr>
                      <m:e>
                        <m:d>
                          <m:dPr>
                            <m:begChr m:val="["/>
                            <m:endChr m:val="]"/>
                            <m:ctrlPr>
                              <a:rPr lang="ar-AE" sz="2400" i="1">
                                <a:latin typeface="Cambria Math" panose="02040503050406030204" pitchFamily="18" charset="0"/>
                              </a:rPr>
                            </m:ctrlPr>
                          </m:dPr>
                          <m:e>
                            <m:r>
                              <a:rPr lang="ar-AE" sz="2400">
                                <a:latin typeface="Cambria Math" panose="02040503050406030204" pitchFamily="18" charset="0"/>
                              </a:rPr>
                              <m:t>1</m:t>
                            </m:r>
                          </m:e>
                        </m:d>
                      </m:e>
                      <m:sub>
                        <m:r>
                          <a:rPr lang="en-US" sz="2400" b="0" i="0" smtClean="0">
                            <a:latin typeface="Cambria Math" panose="02040503050406030204" pitchFamily="18" charset="0"/>
                          </a:rPr>
                          <m:t>5</m:t>
                        </m:r>
                      </m:sub>
                    </m:sSub>
                  </m:oMath>
                </a14:m>
                <a:endParaRPr lang="ar-AE" sz="2400" dirty="0"/>
              </a:p>
              <a:p>
                <a:r>
                  <a:rPr lang="en-US" sz="2400" dirty="0"/>
                  <a:t>Group 3: </a:t>
                </a:r>
                <a14:m>
                  <m:oMath xmlns:m="http://schemas.openxmlformats.org/officeDocument/2006/math">
                    <m:sSub>
                      <m:sSubPr>
                        <m:ctrlPr>
                          <a:rPr lang="ar-AE" sz="2400" i="1">
                            <a:latin typeface="Cambria Math" panose="02040503050406030204" pitchFamily="18" charset="0"/>
                          </a:rPr>
                        </m:ctrlPr>
                      </m:sSubPr>
                      <m:e>
                        <m:d>
                          <m:dPr>
                            <m:begChr m:val="["/>
                            <m:endChr m:val="]"/>
                            <m:ctrlPr>
                              <a:rPr lang="ar-AE" sz="2400" i="1">
                                <a:latin typeface="Cambria Math" panose="02040503050406030204" pitchFamily="18" charset="0"/>
                              </a:rPr>
                            </m:ctrlPr>
                          </m:dPr>
                          <m:e>
                            <m:r>
                              <a:rPr lang="ar-AE" sz="2400">
                                <a:latin typeface="Cambria Math" panose="02040503050406030204" pitchFamily="18" charset="0"/>
                              </a:rPr>
                              <m:t>2</m:t>
                            </m:r>
                          </m:e>
                        </m:d>
                      </m:e>
                      <m:sub>
                        <m:r>
                          <a:rPr lang="en-US" sz="2400" b="0" i="0" smtClean="0">
                            <a:latin typeface="Cambria Math" panose="02040503050406030204" pitchFamily="18" charset="0"/>
                          </a:rPr>
                          <m:t>5</m:t>
                        </m:r>
                      </m:sub>
                    </m:sSub>
                  </m:oMath>
                </a14:m>
                <a:endParaRPr lang="en-US" sz="2400" dirty="0"/>
              </a:p>
              <a:p>
                <a:r>
                  <a:rPr lang="en-US" sz="2400" dirty="0"/>
                  <a:t>Group 4: </a:t>
                </a:r>
                <a14:m>
                  <m:oMath xmlns:m="http://schemas.openxmlformats.org/officeDocument/2006/math">
                    <m:sSub>
                      <m:sSubPr>
                        <m:ctrlPr>
                          <a:rPr lang="ar-AE" sz="2400" i="1">
                            <a:latin typeface="Cambria Math" panose="02040503050406030204" pitchFamily="18" charset="0"/>
                          </a:rPr>
                        </m:ctrlPr>
                      </m:sSubPr>
                      <m:e>
                        <m:d>
                          <m:dPr>
                            <m:begChr m:val="["/>
                            <m:endChr m:val="]"/>
                            <m:ctrlPr>
                              <a:rPr lang="ar-AE" sz="2400" i="1">
                                <a:latin typeface="Cambria Math" panose="02040503050406030204" pitchFamily="18" charset="0"/>
                              </a:rPr>
                            </m:ctrlPr>
                          </m:dPr>
                          <m:e>
                            <m:r>
                              <a:rPr lang="en-US" sz="2400" b="0" i="0" smtClean="0">
                                <a:latin typeface="Cambria Math" panose="02040503050406030204" pitchFamily="18" charset="0"/>
                              </a:rPr>
                              <m:t>3</m:t>
                            </m:r>
                          </m:e>
                        </m:d>
                      </m:e>
                      <m:sub>
                        <m:r>
                          <a:rPr lang="en-US" sz="2400" b="0" i="0" smtClean="0">
                            <a:latin typeface="Cambria Math" panose="02040503050406030204" pitchFamily="18" charset="0"/>
                          </a:rPr>
                          <m:t>5</m:t>
                        </m:r>
                      </m:sub>
                    </m:sSub>
                  </m:oMath>
                </a14:m>
                <a:endParaRPr lang="ar-AE" sz="2400" dirty="0"/>
              </a:p>
              <a:p>
                <a:r>
                  <a:rPr lang="en-US" sz="2400" dirty="0"/>
                  <a:t>Group 5: </a:t>
                </a:r>
                <a14:m>
                  <m:oMath xmlns:m="http://schemas.openxmlformats.org/officeDocument/2006/math">
                    <m:sSub>
                      <m:sSubPr>
                        <m:ctrlPr>
                          <a:rPr lang="ar-AE" sz="2400" i="1">
                            <a:latin typeface="Cambria Math" panose="02040503050406030204" pitchFamily="18" charset="0"/>
                          </a:rPr>
                        </m:ctrlPr>
                      </m:sSubPr>
                      <m:e>
                        <m:d>
                          <m:dPr>
                            <m:begChr m:val="["/>
                            <m:endChr m:val="]"/>
                            <m:ctrlPr>
                              <a:rPr lang="ar-AE" sz="2400" i="1">
                                <a:latin typeface="Cambria Math" panose="02040503050406030204" pitchFamily="18" charset="0"/>
                              </a:rPr>
                            </m:ctrlPr>
                          </m:dPr>
                          <m:e>
                            <m:r>
                              <a:rPr lang="en-US" sz="2400" b="0" i="0" smtClean="0">
                                <a:latin typeface="Cambria Math" panose="02040503050406030204" pitchFamily="18" charset="0"/>
                              </a:rPr>
                              <m:t>4</m:t>
                            </m:r>
                          </m:e>
                        </m:d>
                      </m:e>
                      <m:sub>
                        <m:r>
                          <a:rPr lang="en-US" sz="2400" b="0" i="0" smtClean="0">
                            <a:latin typeface="Cambria Math" panose="02040503050406030204" pitchFamily="18" charset="0"/>
                          </a:rPr>
                          <m:t>5</m:t>
                        </m:r>
                      </m:sub>
                    </m:sSub>
                  </m:oMath>
                </a14:m>
                <a:endParaRPr lang="ar-AE" sz="2400" dirty="0"/>
              </a:p>
              <a:p>
                <a:endParaRPr lang="ar-AE" sz="2400" dirty="0"/>
              </a:p>
            </p:txBody>
          </p:sp>
        </mc:Choice>
        <mc:Fallback xmlns="">
          <p:sp>
            <p:nvSpPr>
              <p:cNvPr id="3" name="Content Placeholder 2">
                <a:extLst>
                  <a:ext uri="{FF2B5EF4-FFF2-40B4-BE49-F238E27FC236}">
                    <a16:creationId xmlns:a16="http://schemas.microsoft.com/office/drawing/2014/main" id="{FB440825-6D4A-FD9A-BE60-D1D6A1FC9AA2}"/>
                  </a:ext>
                </a:extLst>
              </p:cNvPr>
              <p:cNvSpPr>
                <a:spLocks noGrp="1" noRot="1" noChangeAspect="1" noMove="1" noResize="1" noEditPoints="1" noAdjustHandles="1" noChangeArrowheads="1" noChangeShapeType="1" noTextEdit="1"/>
              </p:cNvSpPr>
              <p:nvPr>
                <p:ph idx="1"/>
              </p:nvPr>
            </p:nvSpPr>
            <p:spPr>
              <a:xfrm>
                <a:off x="306705" y="1012825"/>
                <a:ext cx="7951470" cy="5638800"/>
              </a:xfrm>
              <a:blipFill>
                <a:blip r:embed="rId3"/>
                <a:stretch>
                  <a:fillRect l="-460" t="-2054"/>
                </a:stretch>
              </a:blipFill>
            </p:spPr>
            <p:txBody>
              <a:bodyPr/>
              <a:lstStyle/>
              <a:p>
                <a:r>
                  <a:rPr lang="en-US">
                    <a:noFill/>
                  </a:rPr>
                  <a:t> </a:t>
                </a:r>
              </a:p>
            </p:txBody>
          </p:sp>
        </mc:Fallback>
      </mc:AlternateContent>
      <p:pic>
        <p:nvPicPr>
          <p:cNvPr id="5" name="Picture 4" descr="The image displays three sets of numbers, each forming an arithmetic sequence with a common difference of 3, starting from -6, -3, 0, 3, 6 for Group 1, -5, -2, 1, 4, 7 for Group 2, and -4, -1, 2, 5, 8 for Group 3.&#10;&#10;AI-generated content may be incorrect.">
            <a:extLst>
              <a:ext uri="{FF2B5EF4-FFF2-40B4-BE49-F238E27FC236}">
                <a16:creationId xmlns:a16="http://schemas.microsoft.com/office/drawing/2014/main" id="{70133EC0-6586-C96D-CFF3-FCDB13C19EFF}"/>
              </a:ext>
            </a:extLst>
          </p:cNvPr>
          <p:cNvPicPr>
            <a:picLocks noChangeAspect="1"/>
          </p:cNvPicPr>
          <p:nvPr/>
        </p:nvPicPr>
        <p:blipFill>
          <a:blip r:embed="rId4"/>
          <a:srcRect l="26373" t="10504" r="8157" b="10724"/>
          <a:stretch>
            <a:fillRect/>
          </a:stretch>
        </p:blipFill>
        <p:spPr>
          <a:xfrm>
            <a:off x="2381251" y="1828800"/>
            <a:ext cx="3733800" cy="1143000"/>
          </a:xfrm>
          <a:prstGeom prst="rect">
            <a:avLst/>
          </a:prstGeom>
        </p:spPr>
      </p:pic>
      <p:pic>
        <p:nvPicPr>
          <p:cNvPr id="9" name="Picture 8" descr="The image depicts a sequence of numbers arranged in a descending pattern, starting from -10 and incrementing by 5 each time, with the pattern continuing indefinitely.&#10;&#10;AI-generated content may be incorrect.">
            <a:extLst>
              <a:ext uri="{FF2B5EF4-FFF2-40B4-BE49-F238E27FC236}">
                <a16:creationId xmlns:a16="http://schemas.microsoft.com/office/drawing/2014/main" id="{B7DF3D8D-66A3-A745-07B2-5CF9B22421FF}"/>
              </a:ext>
            </a:extLst>
          </p:cNvPr>
          <p:cNvPicPr>
            <a:picLocks noChangeAspect="1"/>
          </p:cNvPicPr>
          <p:nvPr/>
        </p:nvPicPr>
        <p:blipFill>
          <a:blip r:embed="rId5"/>
          <a:srcRect l="1703" r="14887"/>
          <a:stretch>
            <a:fillRect/>
          </a:stretch>
        </p:blipFill>
        <p:spPr>
          <a:xfrm>
            <a:off x="2514600" y="4572000"/>
            <a:ext cx="3733800" cy="2000359"/>
          </a:xfrm>
          <a:prstGeom prst="rect">
            <a:avLst/>
          </a:prstGeom>
        </p:spPr>
      </p:pic>
    </p:spTree>
    <p:extLst>
      <p:ext uri="{BB962C8B-B14F-4D97-AF65-F5344CB8AC3E}">
        <p14:creationId xmlns:p14="http://schemas.microsoft.com/office/powerpoint/2010/main" val="66872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26255-496F-EE15-B7FC-82B9467FA6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E6BB8-9892-D8E6-735A-15247E0EFC5D}"/>
              </a:ext>
            </a:extLst>
          </p:cNvPr>
          <p:cNvSpPr>
            <a:spLocks noGrp="1"/>
          </p:cNvSpPr>
          <p:nvPr>
            <p:ph type="title"/>
          </p:nvPr>
        </p:nvSpPr>
        <p:spPr>
          <a:xfrm>
            <a:off x="278130" y="152400"/>
            <a:ext cx="8587740" cy="574675"/>
          </a:xfrm>
        </p:spPr>
        <p:txBody>
          <a:bodyPr>
            <a:normAutofit fontScale="90000"/>
          </a:bodyPr>
          <a:lstStyle/>
          <a:p>
            <a:r>
              <a:rPr lang="en-US" dirty="0"/>
              <a:t>Partition of a 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2D20B7-635C-CEE9-CF60-CD4C1F525F7B}"/>
                  </a:ext>
                </a:extLst>
              </p:cNvPr>
              <p:cNvSpPr>
                <a:spLocks noGrp="1"/>
              </p:cNvSpPr>
              <p:nvPr>
                <p:ph idx="1"/>
              </p:nvPr>
            </p:nvSpPr>
            <p:spPr>
              <a:xfrm>
                <a:off x="306705" y="1012825"/>
                <a:ext cx="7951470" cy="5638800"/>
              </a:xfrm>
            </p:spPr>
            <p:txBody>
              <a:bodyPr>
                <a:normAutofit fontScale="92500" lnSpcReduction="20000"/>
              </a:bodyPr>
              <a:lstStyle/>
              <a:p>
                <a:r>
                  <a:rPr lang="en-US" sz="2400" dirty="0">
                    <a:solidFill>
                      <a:srgbClr val="990099"/>
                    </a:solidFill>
                  </a:rPr>
                  <a:t>A </a:t>
                </a:r>
                <a:r>
                  <a:rPr lang="en-US" sz="2400" b="1" dirty="0">
                    <a:solidFill>
                      <a:srgbClr val="990099"/>
                    </a:solidFill>
                  </a:rPr>
                  <a:t>partition</a:t>
                </a:r>
                <a:r>
                  <a:rPr lang="en-US" sz="2400" dirty="0">
                    <a:solidFill>
                      <a:srgbClr val="990099"/>
                    </a:solidFill>
                  </a:rPr>
                  <a:t> of a set </a:t>
                </a:r>
                <a14:m>
                  <m:oMath xmlns:m="http://schemas.openxmlformats.org/officeDocument/2006/math">
                    <m:r>
                      <a:rPr lang="en-US" sz="2400" i="1">
                        <a:solidFill>
                          <a:srgbClr val="990099"/>
                        </a:solidFill>
                        <a:latin typeface="Cambria Math" panose="02040503050406030204" pitchFamily="18" charset="0"/>
                      </a:rPr>
                      <m:t>𝑆</m:t>
                    </m:r>
                    <m:r>
                      <a:rPr lang="en-US" sz="2400" b="0" i="1" smtClean="0">
                        <a:solidFill>
                          <a:srgbClr val="990099"/>
                        </a:solidFill>
                        <a:latin typeface="Cambria Math" panose="02040503050406030204" pitchFamily="18" charset="0"/>
                      </a:rPr>
                      <m:t> </m:t>
                    </m:r>
                  </m:oMath>
                </a14:m>
                <a:r>
                  <a:rPr lang="en-US" sz="2400" dirty="0">
                    <a:solidFill>
                      <a:srgbClr val="990099"/>
                    </a:solidFill>
                  </a:rPr>
                  <a:t>means:</a:t>
                </a:r>
              </a:p>
              <a:p>
                <a:pPr marL="342900" indent="-342900">
                  <a:buFont typeface="Arial" panose="020B0604020202020204" pitchFamily="34" charset="0"/>
                  <a:buChar char="•"/>
                </a:pPr>
                <a:r>
                  <a:rPr lang="en-US" sz="2400" dirty="0">
                    <a:solidFill>
                      <a:srgbClr val="FF0000"/>
                    </a:solidFill>
                  </a:rPr>
                  <a:t>You break </a:t>
                </a:r>
                <a14:m>
                  <m:oMath xmlns:m="http://schemas.openxmlformats.org/officeDocument/2006/math">
                    <m:r>
                      <a:rPr lang="en-US" sz="2400" i="1">
                        <a:solidFill>
                          <a:srgbClr val="FF0000"/>
                        </a:solidFill>
                        <a:latin typeface="Cambria Math" panose="02040503050406030204" pitchFamily="18" charset="0"/>
                      </a:rPr>
                      <m:t>𝑆</m:t>
                    </m:r>
                  </m:oMath>
                </a14:m>
                <a:r>
                  <a:rPr lang="en-US" sz="2400" dirty="0">
                    <a:solidFill>
                      <a:srgbClr val="FF0000"/>
                    </a:solidFill>
                  </a:rPr>
                  <a:t> into smaller groups (subsets) </a:t>
                </a:r>
              </a:p>
              <a:p>
                <a:pPr marL="342900" indent="-342900">
                  <a:buFont typeface="Arial" panose="020B0604020202020204" pitchFamily="34" charset="0"/>
                  <a:buChar char="•"/>
                </a:pPr>
                <a:r>
                  <a:rPr lang="en-US" sz="2400" dirty="0">
                    <a:solidFill>
                      <a:srgbClr val="002060"/>
                    </a:solidFill>
                  </a:rPr>
                  <a:t>These groups don’t overlap (no shared elements) </a:t>
                </a:r>
              </a:p>
              <a:p>
                <a:pPr marL="342900" indent="-342900">
                  <a:buFont typeface="Arial" panose="020B0604020202020204" pitchFamily="34" charset="0"/>
                  <a:buChar char="•"/>
                </a:pPr>
                <a:r>
                  <a:rPr lang="en-US" sz="2400" dirty="0">
                    <a:solidFill>
                      <a:srgbClr val="002060"/>
                    </a:solidFill>
                  </a:rPr>
                  <a:t>None of the groups are empty </a:t>
                </a:r>
              </a:p>
              <a:p>
                <a:pPr marL="342900" indent="-342900">
                  <a:buFont typeface="Arial" panose="020B0604020202020204" pitchFamily="34" charset="0"/>
                  <a:buChar char="•"/>
                </a:pPr>
                <a:r>
                  <a:rPr lang="en-US" sz="2400" dirty="0">
                    <a:solidFill>
                      <a:srgbClr val="002060"/>
                    </a:solidFill>
                  </a:rPr>
                  <a:t>If you put all groups together, you get the entire set </a:t>
                </a:r>
                <a14:m>
                  <m:oMath xmlns:m="http://schemas.openxmlformats.org/officeDocument/2006/math">
                    <m:r>
                      <a:rPr lang="en-US" sz="2400" i="1">
                        <a:solidFill>
                          <a:srgbClr val="002060"/>
                        </a:solidFill>
                        <a:latin typeface="Cambria Math" panose="02040503050406030204" pitchFamily="18" charset="0"/>
                      </a:rPr>
                      <m:t>𝑆</m:t>
                    </m:r>
                  </m:oMath>
                </a14:m>
                <a:endParaRPr lang="en-US" sz="2400" dirty="0">
                  <a:solidFill>
                    <a:srgbClr val="002060"/>
                  </a:solidFill>
                </a:endParaRPr>
              </a:p>
              <a:p>
                <a:pPr marL="342900" indent="-342900">
                  <a:buFont typeface="Arial" panose="020B0604020202020204" pitchFamily="34" charset="0"/>
                  <a:buChar char="•"/>
                </a:pPr>
                <a:endParaRPr lang="en-US" sz="2400" dirty="0">
                  <a:solidFill>
                    <a:srgbClr val="002060"/>
                  </a:solidFill>
                </a:endParaRPr>
              </a:p>
              <a:p>
                <a:pPr marL="342900" indent="-342900">
                  <a:buFont typeface="Arial" panose="020B0604020202020204" pitchFamily="34" charset="0"/>
                  <a:buChar char="•"/>
                </a:pPr>
                <a:endParaRPr lang="en-US" sz="2400" dirty="0">
                  <a:solidFill>
                    <a:srgbClr val="002060"/>
                  </a:solidFill>
                </a:endParaRPr>
              </a:p>
              <a:p>
                <a:r>
                  <a:rPr lang="en-US" sz="2400" b="1" dirty="0"/>
                  <a:t>Conditions:</a:t>
                </a:r>
              </a:p>
              <a:p>
                <a:pPr lvl="1"/>
                <a14:m>
                  <m:oMath xmlns:m="http://schemas.openxmlformats.org/officeDocument/2006/math">
                    <m:sSub>
                      <m:sSubPr>
                        <m:ctrlPr>
                          <a:rPr lang="ar-AE" sz="2400" i="1" smtClean="0">
                            <a:solidFill>
                              <a:srgbClr val="990099"/>
                            </a:solidFill>
                            <a:latin typeface="Cambria Math" panose="02040503050406030204" pitchFamily="18" charset="0"/>
                          </a:rPr>
                        </m:ctrlPr>
                      </m:sSubPr>
                      <m:e>
                        <m:r>
                          <a:rPr lang="ar-AE" sz="2400" i="1">
                            <a:solidFill>
                              <a:srgbClr val="990099"/>
                            </a:solidFill>
                            <a:latin typeface="Cambria Math" panose="02040503050406030204" pitchFamily="18" charset="0"/>
                          </a:rPr>
                          <m:t>𝐴</m:t>
                        </m:r>
                      </m:e>
                      <m:sub>
                        <m:r>
                          <a:rPr lang="ar-AE" sz="2400" i="1">
                            <a:solidFill>
                              <a:srgbClr val="990099"/>
                            </a:solidFill>
                            <a:latin typeface="Cambria Math" panose="02040503050406030204" pitchFamily="18" charset="0"/>
                          </a:rPr>
                          <m:t>𝑖</m:t>
                        </m:r>
                      </m:sub>
                    </m:sSub>
                    <m:r>
                      <a:rPr lang="ar-AE" sz="2400">
                        <a:solidFill>
                          <a:srgbClr val="990099"/>
                        </a:solidFill>
                        <a:latin typeface="Cambria Math" panose="02040503050406030204" pitchFamily="18" charset="0"/>
                      </a:rPr>
                      <m:t>≠</m:t>
                    </m:r>
                    <m:r>
                      <a:rPr lang="ar-AE" sz="2400">
                        <a:solidFill>
                          <a:srgbClr val="990099"/>
                        </a:solidFill>
                        <a:latin typeface="Cambria Math" panose="02040503050406030204" pitchFamily="18" charset="0"/>
                      </a:rPr>
                      <m:t>∅</m:t>
                    </m:r>
                  </m:oMath>
                </a14:m>
                <a:r>
                  <a:rPr lang="ar-AE" sz="2400" dirty="0">
                    <a:solidFill>
                      <a:srgbClr val="990099"/>
                    </a:solidFill>
                  </a:rPr>
                  <a:t>:</a:t>
                </a:r>
                <a:br>
                  <a:rPr lang="ar-AE" sz="2400" dirty="0">
                    <a:solidFill>
                      <a:srgbClr val="990099"/>
                    </a:solidFill>
                  </a:rPr>
                </a:br>
                <a:r>
                  <a:rPr lang="en-US" sz="2400" dirty="0">
                    <a:solidFill>
                      <a:srgbClr val="990099"/>
                    </a:solidFill>
                  </a:rPr>
                  <a:t>-Each group has at least one element </a:t>
                </a:r>
              </a:p>
              <a:p>
                <a:pPr lvl="1"/>
                <a14:m>
                  <m:oMath xmlns:m="http://schemas.openxmlformats.org/officeDocument/2006/math">
                    <m:sSub>
                      <m:sSubPr>
                        <m:ctrlPr>
                          <a:rPr lang="ar-AE" sz="2400" i="1" smtClean="0">
                            <a:solidFill>
                              <a:srgbClr val="0070C0"/>
                            </a:solidFill>
                            <a:latin typeface="Cambria Math" panose="02040503050406030204" pitchFamily="18" charset="0"/>
                          </a:rPr>
                        </m:ctrlPr>
                      </m:sSubPr>
                      <m:e>
                        <m:r>
                          <a:rPr lang="ar-AE" sz="2400" i="1">
                            <a:solidFill>
                              <a:srgbClr val="0070C0"/>
                            </a:solidFill>
                            <a:latin typeface="Cambria Math" panose="02040503050406030204" pitchFamily="18" charset="0"/>
                          </a:rPr>
                          <m:t>𝐴</m:t>
                        </m:r>
                      </m:e>
                      <m:sub>
                        <m:r>
                          <a:rPr lang="ar-AE" sz="2400" i="1">
                            <a:solidFill>
                              <a:srgbClr val="0070C0"/>
                            </a:solidFill>
                            <a:latin typeface="Cambria Math" panose="02040503050406030204" pitchFamily="18" charset="0"/>
                          </a:rPr>
                          <m:t>𝑖</m:t>
                        </m:r>
                      </m:sub>
                    </m:sSub>
                    <m:r>
                      <a:rPr lang="ar-AE" sz="2400">
                        <a:solidFill>
                          <a:srgbClr val="0070C0"/>
                        </a:solidFill>
                        <a:latin typeface="Cambria Math" panose="02040503050406030204" pitchFamily="18" charset="0"/>
                      </a:rPr>
                      <m:t>∩</m:t>
                    </m:r>
                    <m:sSub>
                      <m:sSubPr>
                        <m:ctrlPr>
                          <a:rPr lang="ar-AE" sz="2400" i="1">
                            <a:solidFill>
                              <a:srgbClr val="0070C0"/>
                            </a:solidFill>
                            <a:latin typeface="Cambria Math" panose="02040503050406030204" pitchFamily="18" charset="0"/>
                          </a:rPr>
                        </m:ctrlPr>
                      </m:sSubPr>
                      <m:e>
                        <m:r>
                          <a:rPr lang="ar-AE" sz="2400" i="1">
                            <a:solidFill>
                              <a:srgbClr val="0070C0"/>
                            </a:solidFill>
                            <a:latin typeface="Cambria Math" panose="02040503050406030204" pitchFamily="18" charset="0"/>
                          </a:rPr>
                          <m:t>𝐴</m:t>
                        </m:r>
                      </m:e>
                      <m:sub>
                        <m:r>
                          <a:rPr lang="ar-AE" sz="2400" i="1">
                            <a:solidFill>
                              <a:srgbClr val="0070C0"/>
                            </a:solidFill>
                            <a:latin typeface="Cambria Math" panose="02040503050406030204" pitchFamily="18" charset="0"/>
                          </a:rPr>
                          <m:t>𝑗</m:t>
                        </m:r>
                      </m:sub>
                    </m:sSub>
                    <m:r>
                      <a:rPr lang="ar-AE" sz="2400">
                        <a:solidFill>
                          <a:srgbClr val="0070C0"/>
                        </a:solidFill>
                        <a:latin typeface="Cambria Math" panose="02040503050406030204" pitchFamily="18" charset="0"/>
                      </a:rPr>
                      <m:t>=</m:t>
                    </m:r>
                    <m:r>
                      <a:rPr lang="ar-AE" sz="2400">
                        <a:solidFill>
                          <a:srgbClr val="0070C0"/>
                        </a:solidFill>
                        <a:latin typeface="Cambria Math" panose="02040503050406030204" pitchFamily="18" charset="0"/>
                      </a:rPr>
                      <m:t>∅</m:t>
                    </m:r>
                  </m:oMath>
                </a14:m>
                <a:r>
                  <a:rPr lang="en-US" sz="2400" dirty="0">
                    <a:solidFill>
                      <a:srgbClr val="0070C0"/>
                    </a:solidFill>
                  </a:rPr>
                  <a:t> when </a:t>
                </a:r>
                <a14:m>
                  <m:oMath xmlns:m="http://schemas.openxmlformats.org/officeDocument/2006/math">
                    <m:r>
                      <a:rPr lang="en-US" sz="2400" i="1">
                        <a:solidFill>
                          <a:srgbClr val="0070C0"/>
                        </a:solidFill>
                        <a:latin typeface="Cambria Math" panose="02040503050406030204" pitchFamily="18" charset="0"/>
                      </a:rPr>
                      <m:t>𝑖</m:t>
                    </m:r>
                    <m:r>
                      <a:rPr lang="en-US" sz="2400">
                        <a:solidFill>
                          <a:srgbClr val="0070C0"/>
                        </a:solidFill>
                        <a:latin typeface="Cambria Math" panose="02040503050406030204" pitchFamily="18" charset="0"/>
                      </a:rPr>
                      <m:t>≠</m:t>
                    </m:r>
                    <m:r>
                      <a:rPr lang="en-US" sz="2400" i="1">
                        <a:solidFill>
                          <a:srgbClr val="0070C0"/>
                        </a:solidFill>
                        <a:latin typeface="Cambria Math" panose="02040503050406030204" pitchFamily="18" charset="0"/>
                      </a:rPr>
                      <m:t>𝑗</m:t>
                    </m:r>
                  </m:oMath>
                </a14:m>
                <a:r>
                  <a:rPr lang="en-US" sz="2400" dirty="0">
                    <a:solidFill>
                      <a:srgbClr val="0070C0"/>
                    </a:solidFill>
                  </a:rPr>
                  <a:t>:</a:t>
                </a:r>
                <a:br>
                  <a:rPr lang="en-US" sz="2400" dirty="0">
                    <a:solidFill>
                      <a:srgbClr val="0070C0"/>
                    </a:solidFill>
                  </a:rPr>
                </a:br>
                <a:r>
                  <a:rPr lang="en-US" sz="2400" dirty="0">
                    <a:solidFill>
                      <a:srgbClr val="0070C0"/>
                    </a:solidFill>
                  </a:rPr>
                  <a:t>-Different groups don’t share elements </a:t>
                </a:r>
              </a:p>
              <a:p>
                <a:pPr lvl="1"/>
                <a14:m>
                  <m:oMath xmlns:m="http://schemas.openxmlformats.org/officeDocument/2006/math">
                    <m:nary>
                      <m:naryPr>
                        <m:chr m:val="⋃"/>
                        <m:limLoc m:val="subSup"/>
                        <m:grow m:val="on"/>
                        <m:supHide m:val="on"/>
                        <m:ctrlPr>
                          <a:rPr lang="ar-AE" sz="2400" i="1" smtClean="0">
                            <a:solidFill>
                              <a:srgbClr val="7030A0"/>
                            </a:solidFill>
                            <a:latin typeface="Cambria Math" panose="02040503050406030204" pitchFamily="18" charset="0"/>
                          </a:rPr>
                        </m:ctrlPr>
                      </m:naryPr>
                      <m:sub>
                        <m:r>
                          <a:rPr lang="ar-AE" sz="2400" i="1">
                            <a:solidFill>
                              <a:srgbClr val="7030A0"/>
                            </a:solidFill>
                            <a:latin typeface="Cambria Math" panose="02040503050406030204" pitchFamily="18" charset="0"/>
                          </a:rPr>
                          <m:t>𝑖</m:t>
                        </m:r>
                        <m:r>
                          <a:rPr lang="ar-AE" sz="2400" smtClean="0">
                            <a:solidFill>
                              <a:srgbClr val="7030A0"/>
                            </a:solidFill>
                            <a:latin typeface="Cambria Math" panose="02040503050406030204" pitchFamily="18" charset="0"/>
                          </a:rPr>
                          <m:t>∈</m:t>
                        </m:r>
                        <m:r>
                          <a:rPr lang="ar-AE" sz="2400" i="1" smtClean="0">
                            <a:solidFill>
                              <a:srgbClr val="7030A0"/>
                            </a:solidFill>
                            <a:latin typeface="Cambria Math" panose="02040503050406030204" pitchFamily="18" charset="0"/>
                          </a:rPr>
                          <m:t>𝐼</m:t>
                        </m:r>
                      </m:sub>
                      <m:sup/>
                      <m:e>
                        <m:sSub>
                          <m:sSubPr>
                            <m:ctrlPr>
                              <a:rPr lang="ar-AE" sz="2400" i="1">
                                <a:solidFill>
                                  <a:srgbClr val="7030A0"/>
                                </a:solidFill>
                                <a:latin typeface="Cambria Math" panose="02040503050406030204" pitchFamily="18" charset="0"/>
                              </a:rPr>
                            </m:ctrlPr>
                          </m:sSubPr>
                          <m:e>
                            <m:r>
                              <a:rPr lang="ar-AE" sz="2400" i="1">
                                <a:solidFill>
                                  <a:srgbClr val="7030A0"/>
                                </a:solidFill>
                                <a:latin typeface="Cambria Math" panose="02040503050406030204" pitchFamily="18" charset="0"/>
                              </a:rPr>
                              <m:t>𝐴</m:t>
                            </m:r>
                          </m:e>
                          <m:sub>
                            <m:r>
                              <a:rPr lang="ar-AE" sz="2400" i="1">
                                <a:solidFill>
                                  <a:srgbClr val="7030A0"/>
                                </a:solidFill>
                                <a:latin typeface="Cambria Math" panose="02040503050406030204" pitchFamily="18" charset="0"/>
                              </a:rPr>
                              <m:t>𝑖</m:t>
                            </m:r>
                          </m:sub>
                        </m:sSub>
                      </m:e>
                    </m:nary>
                    <m:r>
                      <a:rPr lang="ar-AE" sz="2400">
                        <a:solidFill>
                          <a:srgbClr val="7030A0"/>
                        </a:solidFill>
                        <a:latin typeface="Cambria Math" panose="02040503050406030204" pitchFamily="18" charset="0"/>
                      </a:rPr>
                      <m:t>=</m:t>
                    </m:r>
                    <m:r>
                      <a:rPr lang="ar-AE" sz="2400" i="1">
                        <a:solidFill>
                          <a:srgbClr val="7030A0"/>
                        </a:solidFill>
                        <a:latin typeface="Cambria Math" panose="02040503050406030204" pitchFamily="18" charset="0"/>
                      </a:rPr>
                      <m:t>𝑆</m:t>
                    </m:r>
                  </m:oMath>
                </a14:m>
                <a:r>
                  <a:rPr lang="ar-AE" sz="2400" dirty="0">
                    <a:solidFill>
                      <a:srgbClr val="7030A0"/>
                    </a:solidFill>
                  </a:rPr>
                  <a:t>:</a:t>
                </a:r>
                <a:br>
                  <a:rPr lang="ar-AE" sz="2400" dirty="0">
                    <a:solidFill>
                      <a:srgbClr val="7030A0"/>
                    </a:solidFill>
                  </a:rPr>
                </a:br>
                <a:r>
                  <a:rPr lang="en-US" sz="2400" dirty="0">
                    <a:solidFill>
                      <a:srgbClr val="7030A0"/>
                    </a:solidFill>
                  </a:rPr>
                  <a:t>-Combining all groups gives back the full set </a:t>
                </a:r>
                <a14:m>
                  <m:oMath xmlns:m="http://schemas.openxmlformats.org/officeDocument/2006/math">
                    <m:r>
                      <a:rPr lang="en-US" sz="2400" i="1">
                        <a:solidFill>
                          <a:srgbClr val="7030A0"/>
                        </a:solidFill>
                        <a:latin typeface="Cambria Math" panose="02040503050406030204" pitchFamily="18" charset="0"/>
                      </a:rPr>
                      <m:t>𝑆</m:t>
                    </m:r>
                  </m:oMath>
                </a14:m>
                <a:endParaRPr lang="en-US" sz="2400" dirty="0">
                  <a:solidFill>
                    <a:srgbClr val="7030A0"/>
                  </a:solidFill>
                </a:endParaRPr>
              </a:p>
              <a:p>
                <a:pPr marL="342900" indent="-342900">
                  <a:buFont typeface="Arial" panose="020B0604020202020204" pitchFamily="34" charset="0"/>
                  <a:buChar char="•"/>
                </a:pPr>
                <a:endParaRPr lang="en-US" sz="2400" dirty="0">
                  <a:solidFill>
                    <a:srgbClr val="002060"/>
                  </a:solidFill>
                </a:endParaRPr>
              </a:p>
            </p:txBody>
          </p:sp>
        </mc:Choice>
        <mc:Fallback xmlns="">
          <p:sp>
            <p:nvSpPr>
              <p:cNvPr id="3" name="Content Placeholder 2">
                <a:extLst>
                  <a:ext uri="{FF2B5EF4-FFF2-40B4-BE49-F238E27FC236}">
                    <a16:creationId xmlns:a16="http://schemas.microsoft.com/office/drawing/2014/main" id="{982D20B7-635C-CEE9-CF60-CD4C1F525F7B}"/>
                  </a:ext>
                </a:extLst>
              </p:cNvPr>
              <p:cNvSpPr>
                <a:spLocks noGrp="1" noRot="1" noChangeAspect="1" noMove="1" noResize="1" noEditPoints="1" noAdjustHandles="1" noChangeArrowheads="1" noChangeShapeType="1" noTextEdit="1"/>
              </p:cNvSpPr>
              <p:nvPr>
                <p:ph idx="1"/>
              </p:nvPr>
            </p:nvSpPr>
            <p:spPr>
              <a:xfrm>
                <a:off x="306705" y="1012825"/>
                <a:ext cx="7951470" cy="5638800"/>
              </a:xfrm>
              <a:blipFill>
                <a:blip r:embed="rId3"/>
                <a:stretch>
                  <a:fillRect l="-460" t="-2054" b="-6270"/>
                </a:stretch>
              </a:blipFill>
            </p:spPr>
            <p:txBody>
              <a:bodyPr/>
              <a:lstStyle/>
              <a:p>
                <a:r>
                  <a:rPr lang="en-US">
                    <a:noFill/>
                  </a:rPr>
                  <a:t> </a:t>
                </a:r>
              </a:p>
            </p:txBody>
          </p:sp>
        </mc:Fallback>
      </mc:AlternateContent>
      <p:pic>
        <p:nvPicPr>
          <p:cNvPr id="4" name="Picture 3" descr="0824.jpg">
            <a:extLst>
              <a:ext uri="{FF2B5EF4-FFF2-40B4-BE49-F238E27FC236}">
                <a16:creationId xmlns:a16="http://schemas.microsoft.com/office/drawing/2014/main" id="{EBA64056-09A8-E934-DBA0-EC47DAE43D24}"/>
              </a:ext>
            </a:extLst>
          </p:cNvPr>
          <p:cNvPicPr>
            <a:picLocks noChangeAspect="1"/>
          </p:cNvPicPr>
          <p:nvPr/>
        </p:nvPicPr>
        <p:blipFill>
          <a:blip r:embed="rId4" cstate="print"/>
          <a:stretch>
            <a:fillRect/>
          </a:stretch>
        </p:blipFill>
        <p:spPr>
          <a:xfrm>
            <a:off x="5913120" y="3124200"/>
            <a:ext cx="2895600" cy="1848208"/>
          </a:xfrm>
          <a:prstGeom prst="rect">
            <a:avLst/>
          </a:prstGeom>
        </p:spPr>
      </p:pic>
    </p:spTree>
    <p:extLst>
      <p:ext uri="{BB962C8B-B14F-4D97-AF65-F5344CB8AC3E}">
        <p14:creationId xmlns:p14="http://schemas.microsoft.com/office/powerpoint/2010/main" val="10067519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18DD7-53C2-0EE7-BB82-8C9C37720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C9EF0-4FFE-B424-13B7-8AE13EF7EAAD}"/>
              </a:ext>
            </a:extLst>
          </p:cNvPr>
          <p:cNvSpPr>
            <a:spLocks noGrp="1"/>
          </p:cNvSpPr>
          <p:nvPr>
            <p:ph type="title"/>
          </p:nvPr>
        </p:nvSpPr>
        <p:spPr>
          <a:xfrm>
            <a:off x="278130" y="152400"/>
            <a:ext cx="7189470" cy="1107996"/>
          </a:xfrm>
        </p:spPr>
        <p:txBody>
          <a:bodyPr>
            <a:normAutofit fontScale="90000"/>
          </a:bodyPr>
          <a:lstStyle/>
          <a:p>
            <a:r>
              <a:rPr lang="en-US" dirty="0"/>
              <a:t>Equivalence Relation Creates a Partition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2F6BED-DD51-8D5D-FC66-F7CBA595C05E}"/>
                  </a:ext>
                </a:extLst>
              </p:cNvPr>
              <p:cNvSpPr>
                <a:spLocks noGrp="1"/>
              </p:cNvSpPr>
              <p:nvPr>
                <p:ph idx="1"/>
              </p:nvPr>
            </p:nvSpPr>
            <p:spPr>
              <a:xfrm>
                <a:off x="287654" y="1371600"/>
                <a:ext cx="8322945" cy="5638800"/>
              </a:xfrm>
            </p:spPr>
            <p:txBody>
              <a:bodyPr>
                <a:normAutofit/>
              </a:bodyPr>
              <a:lstStyle/>
              <a:p>
                <a:pPr marL="342900" indent="-342900">
                  <a:buFont typeface="Arial" panose="020B0604020202020204" pitchFamily="34" charset="0"/>
                  <a:buChar char="•"/>
                </a:pPr>
                <a:r>
                  <a:rPr lang="en-US" sz="2500" dirty="0">
                    <a:solidFill>
                      <a:srgbClr val="002060"/>
                    </a:solidFill>
                  </a:rPr>
                  <a:t>If you have an equivalence relation </a:t>
                </a:r>
                <a14:m>
                  <m:oMath xmlns:m="http://schemas.openxmlformats.org/officeDocument/2006/math">
                    <m:r>
                      <a:rPr lang="en-US" sz="2500" i="1" smtClean="0">
                        <a:solidFill>
                          <a:srgbClr val="CC0066"/>
                        </a:solidFill>
                        <a:latin typeface="Cambria Math" panose="02040503050406030204" pitchFamily="18" charset="0"/>
                      </a:rPr>
                      <m:t>𝑅</m:t>
                    </m:r>
                  </m:oMath>
                </a14:m>
                <a:r>
                  <a:rPr lang="en-US" sz="2500" dirty="0">
                    <a:solidFill>
                      <a:srgbClr val="002060"/>
                    </a:solidFill>
                  </a:rPr>
                  <a:t> on a </a:t>
                </a:r>
                <a:r>
                  <a:rPr lang="en-US" sz="2500" dirty="0">
                    <a:solidFill>
                      <a:srgbClr val="CC0066"/>
                    </a:solidFill>
                  </a:rPr>
                  <a:t>set </a:t>
                </a:r>
                <a14:m>
                  <m:oMath xmlns:m="http://schemas.openxmlformats.org/officeDocument/2006/math">
                    <m:r>
                      <a:rPr lang="en-US" sz="2500" i="1">
                        <a:solidFill>
                          <a:srgbClr val="CC0066"/>
                        </a:solidFill>
                        <a:latin typeface="Cambria Math" panose="02040503050406030204" pitchFamily="18" charset="0"/>
                      </a:rPr>
                      <m:t>𝐴</m:t>
                    </m:r>
                  </m:oMath>
                </a14:m>
                <a:r>
                  <a:rPr lang="en-US" sz="2500" dirty="0">
                    <a:solidFill>
                      <a:srgbClr val="002060"/>
                    </a:solidFill>
                  </a:rPr>
                  <a:t>, it splits </a:t>
                </a:r>
                <a14:m>
                  <m:oMath xmlns:m="http://schemas.openxmlformats.org/officeDocument/2006/math">
                    <m:r>
                      <a:rPr lang="en-US" sz="2500" i="1" smtClean="0">
                        <a:solidFill>
                          <a:srgbClr val="CC0066"/>
                        </a:solidFill>
                        <a:latin typeface="Cambria Math" panose="02040503050406030204" pitchFamily="18" charset="0"/>
                      </a:rPr>
                      <m:t>𝐴</m:t>
                    </m:r>
                  </m:oMath>
                </a14:m>
                <a:r>
                  <a:rPr lang="en-US" sz="2500" dirty="0">
                    <a:solidFill>
                      <a:srgbClr val="002060"/>
                    </a:solidFill>
                  </a:rPr>
                  <a:t> into </a:t>
                </a:r>
                <a:r>
                  <a:rPr lang="en-US" sz="2500" b="1" dirty="0">
                    <a:solidFill>
                      <a:srgbClr val="002060"/>
                    </a:solidFill>
                  </a:rPr>
                  <a:t>groups called equivalence classes</a:t>
                </a:r>
                <a:r>
                  <a:rPr lang="en-US" sz="2500" dirty="0">
                    <a:solidFill>
                      <a:srgbClr val="002060"/>
                    </a:solidFill>
                  </a:rPr>
                  <a:t>. </a:t>
                </a:r>
              </a:p>
              <a:p>
                <a:pPr marL="342900" indent="-342900">
                  <a:buFont typeface="Arial" panose="020B0604020202020204" pitchFamily="34" charset="0"/>
                  <a:buChar char="•"/>
                </a:pPr>
                <a:r>
                  <a:rPr lang="en-US" sz="2500" dirty="0">
                    <a:solidFill>
                      <a:srgbClr val="002060"/>
                    </a:solidFill>
                  </a:rPr>
                  <a:t>Every element </a:t>
                </a:r>
                <a14:m>
                  <m:oMath xmlns:m="http://schemas.openxmlformats.org/officeDocument/2006/math">
                    <m:r>
                      <a:rPr lang="en-US" sz="2500" i="1" smtClean="0">
                        <a:solidFill>
                          <a:srgbClr val="CC0066"/>
                        </a:solidFill>
                        <a:latin typeface="Cambria Math" panose="02040503050406030204" pitchFamily="18" charset="0"/>
                      </a:rPr>
                      <m:t>𝑎</m:t>
                    </m:r>
                  </m:oMath>
                </a14:m>
                <a:r>
                  <a:rPr lang="en-US" sz="2500" dirty="0">
                    <a:solidFill>
                      <a:srgbClr val="002060"/>
                    </a:solidFill>
                  </a:rPr>
                  <a:t> is in its own class </a:t>
                </a:r>
                <a14:m>
                  <m:oMath xmlns:m="http://schemas.openxmlformats.org/officeDocument/2006/math">
                    <m:sSub>
                      <m:sSubPr>
                        <m:ctrlPr>
                          <a:rPr lang="ar-AE" sz="2500" i="1" smtClean="0">
                            <a:solidFill>
                              <a:srgbClr val="CC0066"/>
                            </a:solidFill>
                            <a:latin typeface="Cambria Math" panose="02040503050406030204" pitchFamily="18" charset="0"/>
                          </a:rPr>
                        </m:ctrlPr>
                      </m:sSubPr>
                      <m:e>
                        <m:d>
                          <m:dPr>
                            <m:begChr m:val="["/>
                            <m:endChr m:val="]"/>
                            <m:ctrlPr>
                              <a:rPr lang="ar-AE" sz="2500" i="1">
                                <a:solidFill>
                                  <a:srgbClr val="CC0066"/>
                                </a:solidFill>
                                <a:latin typeface="Cambria Math" panose="02040503050406030204" pitchFamily="18" charset="0"/>
                              </a:rPr>
                            </m:ctrlPr>
                          </m:dPr>
                          <m:e>
                            <m:r>
                              <a:rPr lang="ar-AE" sz="2500" i="1">
                                <a:solidFill>
                                  <a:srgbClr val="CC0066"/>
                                </a:solidFill>
                                <a:latin typeface="Cambria Math" panose="02040503050406030204" pitchFamily="18" charset="0"/>
                              </a:rPr>
                              <m:t>𝑎</m:t>
                            </m:r>
                          </m:e>
                        </m:d>
                      </m:e>
                      <m:sub>
                        <m:r>
                          <a:rPr lang="ar-AE" sz="2500" i="1">
                            <a:solidFill>
                              <a:srgbClr val="CC0066"/>
                            </a:solidFill>
                            <a:latin typeface="Cambria Math" panose="02040503050406030204" pitchFamily="18" charset="0"/>
                          </a:rPr>
                          <m:t>𝑅</m:t>
                        </m:r>
                      </m:sub>
                    </m:sSub>
                  </m:oMath>
                </a14:m>
                <a:endParaRPr lang="ar-AE" sz="2500" dirty="0">
                  <a:solidFill>
                    <a:srgbClr val="002060"/>
                  </a:solidFill>
                </a:endParaRPr>
              </a:p>
              <a:p>
                <a:pPr marL="342900" indent="-342900">
                  <a:buFont typeface="Arial" panose="020B0604020202020204" pitchFamily="34" charset="0"/>
                  <a:buChar char="•"/>
                </a:pPr>
                <a:r>
                  <a:rPr lang="en-US" sz="2500" dirty="0">
                    <a:solidFill>
                      <a:srgbClr val="002060"/>
                    </a:solidFill>
                  </a:rPr>
                  <a:t>These classes </a:t>
                </a:r>
                <a:r>
                  <a:rPr lang="en-US" sz="2500" b="1" dirty="0">
                    <a:solidFill>
                      <a:srgbClr val="002060"/>
                    </a:solidFill>
                  </a:rPr>
                  <a:t>don’t overlap</a:t>
                </a:r>
                <a:r>
                  <a:rPr lang="en-US" sz="2500" dirty="0">
                    <a:solidFill>
                      <a:srgbClr val="002060"/>
                    </a:solidFill>
                  </a:rPr>
                  <a:t> (if two classes share an element, they are the same class). </a:t>
                </a:r>
              </a:p>
              <a:p>
                <a:pPr marL="342900" indent="-342900">
                  <a:buFont typeface="Arial" panose="020B0604020202020204" pitchFamily="34" charset="0"/>
                  <a:buChar char="•"/>
                </a:pPr>
                <a:r>
                  <a:rPr lang="en-US" sz="2500" dirty="0">
                    <a:solidFill>
                      <a:srgbClr val="002060"/>
                    </a:solidFill>
                  </a:rPr>
                  <a:t>All classes together cover the entire set </a:t>
                </a:r>
                <a14:m>
                  <m:oMath xmlns:m="http://schemas.openxmlformats.org/officeDocument/2006/math">
                    <m:r>
                      <a:rPr lang="en-US" sz="2500" i="1" smtClean="0">
                        <a:solidFill>
                          <a:srgbClr val="CC0066"/>
                        </a:solidFill>
                        <a:latin typeface="Cambria Math" panose="02040503050406030204" pitchFamily="18" charset="0"/>
                      </a:rPr>
                      <m:t>𝐴</m:t>
                    </m:r>
                  </m:oMath>
                </a14:m>
                <a:r>
                  <a:rPr lang="en-US" sz="2500" dirty="0">
                    <a:solidFill>
                      <a:srgbClr val="002060"/>
                    </a:solidFill>
                  </a:rPr>
                  <a:t>. </a:t>
                </a:r>
              </a:p>
              <a:p>
                <a:r>
                  <a:rPr lang="en-US" sz="2500" b="1" dirty="0">
                    <a:solidFill>
                      <a:srgbClr val="CC0066"/>
                    </a:solidFill>
                  </a:rPr>
                  <a:t>So, equivalence classes form a </a:t>
                </a:r>
                <a:r>
                  <a:rPr lang="en-US" sz="2500" b="1" dirty="0">
                    <a:solidFill>
                      <a:srgbClr val="0070C0"/>
                    </a:solidFill>
                  </a:rPr>
                  <a:t>partition of </a:t>
                </a:r>
                <a14:m>
                  <m:oMath xmlns:m="http://schemas.openxmlformats.org/officeDocument/2006/math">
                    <m:r>
                      <a:rPr lang="en-US" sz="2500" i="1">
                        <a:solidFill>
                          <a:srgbClr val="0070C0"/>
                        </a:solidFill>
                        <a:latin typeface="Cambria Math" panose="02040503050406030204" pitchFamily="18" charset="0"/>
                      </a:rPr>
                      <m:t>𝐴</m:t>
                    </m:r>
                  </m:oMath>
                </a14:m>
                <a:r>
                  <a:rPr lang="en-US" sz="2500" b="1" dirty="0">
                    <a:solidFill>
                      <a:srgbClr val="0070C0"/>
                    </a:solidFill>
                  </a:rPr>
                  <a:t>.</a:t>
                </a:r>
              </a:p>
              <a:p>
                <a:endParaRPr lang="en-US" sz="2500" dirty="0">
                  <a:solidFill>
                    <a:srgbClr val="CC0066"/>
                  </a:solidFill>
                </a:endParaRPr>
              </a:p>
            </p:txBody>
          </p:sp>
        </mc:Choice>
        <mc:Fallback xmlns="">
          <p:sp>
            <p:nvSpPr>
              <p:cNvPr id="3" name="Content Placeholder 2">
                <a:extLst>
                  <a:ext uri="{FF2B5EF4-FFF2-40B4-BE49-F238E27FC236}">
                    <a16:creationId xmlns:a16="http://schemas.microsoft.com/office/drawing/2014/main" id="{D32F6BED-DD51-8D5D-FC66-F7CBA595C05E}"/>
                  </a:ext>
                </a:extLst>
              </p:cNvPr>
              <p:cNvSpPr>
                <a:spLocks noGrp="1" noRot="1" noChangeAspect="1" noMove="1" noResize="1" noEditPoints="1" noAdjustHandles="1" noChangeArrowheads="1" noChangeShapeType="1" noTextEdit="1"/>
              </p:cNvSpPr>
              <p:nvPr>
                <p:ph idx="1"/>
              </p:nvPr>
            </p:nvSpPr>
            <p:spPr>
              <a:xfrm>
                <a:off x="287654" y="1371600"/>
                <a:ext cx="8322945" cy="5638800"/>
              </a:xfrm>
              <a:blipFill>
                <a:blip r:embed="rId2"/>
                <a:stretch>
                  <a:fillRect l="-659" t="-757"/>
                </a:stretch>
              </a:blipFill>
            </p:spPr>
            <p:txBody>
              <a:bodyPr/>
              <a:lstStyle/>
              <a:p>
                <a:r>
                  <a:rPr lang="en-US">
                    <a:noFill/>
                  </a:rPr>
                  <a:t> </a:t>
                </a:r>
              </a:p>
            </p:txBody>
          </p:sp>
        </mc:Fallback>
      </mc:AlternateContent>
    </p:spTree>
    <p:extLst>
      <p:ext uri="{BB962C8B-B14F-4D97-AF65-F5344CB8AC3E}">
        <p14:creationId xmlns:p14="http://schemas.microsoft.com/office/powerpoint/2010/main" val="1110402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129" y="56641"/>
            <a:ext cx="6579871" cy="1629283"/>
          </a:xfrm>
        </p:spPr>
        <p:txBody>
          <a:bodyPr>
            <a:normAutofit/>
          </a:bodyPr>
          <a:lstStyle/>
          <a:p>
            <a:r>
              <a:rPr lang="en-US" dirty="0"/>
              <a:t>An Equivalence Relation- Partitions a Set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6704" y="1295400"/>
                <a:ext cx="7143749" cy="3368040"/>
              </a:xfrm>
            </p:spPr>
            <p:txBody>
              <a:bodyPr>
                <a:noAutofit/>
              </a:bodyPr>
              <a:lstStyle/>
              <a:p>
                <a:r>
                  <a:rPr lang="en-US" sz="2000" dirty="0"/>
                  <a:t>Let </a:t>
                </a:r>
                <a:r>
                  <a:rPr lang="en-US" sz="2000" i="1" dirty="0"/>
                  <a:t>R</a:t>
                </a:r>
                <a:r>
                  <a:rPr lang="en-US" sz="2000" dirty="0"/>
                  <a:t> be an equivalence relation on a set </a:t>
                </a:r>
                <a:r>
                  <a:rPr lang="en-US" sz="2000" i="1" dirty="0"/>
                  <a:t>A</a:t>
                </a:r>
                <a:r>
                  <a:rPr lang="en-US" sz="2000" dirty="0"/>
                  <a:t>.  The union of all the equivalence classes of </a:t>
                </a:r>
                <a:r>
                  <a:rPr lang="en-US" sz="2000" i="1" dirty="0"/>
                  <a:t>R</a:t>
                </a:r>
                <a:r>
                  <a:rPr lang="en-US" sz="2000" dirty="0"/>
                  <a:t> is all of </a:t>
                </a:r>
                <a:r>
                  <a:rPr lang="en-US" sz="2000" i="1" dirty="0"/>
                  <a:t>A</a:t>
                </a:r>
                <a:r>
                  <a:rPr lang="en-US" sz="2000" dirty="0"/>
                  <a:t>, since  an element </a:t>
                </a:r>
                <a:r>
                  <a:rPr lang="en-US" sz="2000" i="1" dirty="0"/>
                  <a:t>a</a:t>
                </a:r>
                <a:r>
                  <a:rPr lang="en-US" sz="2000" dirty="0"/>
                  <a:t> of </a:t>
                </a:r>
                <a:r>
                  <a:rPr lang="en-US" sz="2000" i="1" dirty="0"/>
                  <a:t>A</a:t>
                </a:r>
                <a:r>
                  <a:rPr lang="en-US" sz="2000" dirty="0"/>
                  <a:t> is in its own equivalence class [</a:t>
                </a:r>
                <a:r>
                  <a:rPr lang="en-US" sz="2000" i="1" dirty="0"/>
                  <a:t>a</a:t>
                </a:r>
                <a:r>
                  <a:rPr lang="en-US" sz="2000" dirty="0"/>
                  <a:t>]</a:t>
                </a:r>
                <a:r>
                  <a:rPr lang="en-US" sz="2000" i="1" baseline="-25000" dirty="0"/>
                  <a:t>R</a:t>
                </a:r>
                <a:r>
                  <a:rPr lang="en-US" sz="2000" dirty="0"/>
                  <a:t>.  In other words, </a:t>
                </a:r>
              </a:p>
              <a:p>
                <a:pPr>
                  <a:buNone/>
                </a:pPr>
                <a:r>
                  <a:rPr lang="en-US" sz="2000" dirty="0"/>
                  <a:t>   </a:t>
                </a:r>
              </a:p>
              <a:p>
                <a:pPr>
                  <a:buNone/>
                </a:pPr>
                <a:endParaRPr lang="en-US" sz="2000" dirty="0"/>
              </a:p>
              <a:p>
                <a:r>
                  <a:rPr lang="en-US" sz="2000" b="1" dirty="0">
                    <a:solidFill>
                      <a:schemeClr val="accent2">
                        <a:lumMod val="75000"/>
                      </a:schemeClr>
                    </a:solidFill>
                  </a:rPr>
                  <a:t>From Theorem </a:t>
                </a:r>
                <a:r>
                  <a:rPr lang="en-US" sz="2000" b="1" dirty="0">
                    <a:solidFill>
                      <a:schemeClr val="accent2">
                        <a:lumMod val="75000"/>
                      </a:schemeClr>
                    </a:solidFill>
                    <a:latin typeface="Cambria Math" pitchFamily="18" charset="0"/>
                    <a:ea typeface="Cambria Math" pitchFamily="18" charset="0"/>
                  </a:rPr>
                  <a:t>1</a:t>
                </a:r>
                <a:r>
                  <a:rPr lang="en-US" sz="2000" dirty="0"/>
                  <a:t>, </a:t>
                </a:r>
              </a:p>
              <a:p>
                <a:r>
                  <a:rPr lang="en-US" sz="2000" b="1" dirty="0">
                    <a:solidFill>
                      <a:srgbClr val="002060"/>
                    </a:solidFill>
                  </a:rPr>
                  <a:t>Equivalence classes are either the same or completely separate</a:t>
                </a:r>
                <a:r>
                  <a:rPr lang="en-US" sz="2000" dirty="0">
                    <a:solidFill>
                      <a:srgbClr val="002060"/>
                    </a:solidFill>
                  </a:rPr>
                  <a:t>. </a:t>
                </a:r>
              </a:p>
              <a:p>
                <a:pPr lvl="3"/>
                <a:r>
                  <a:rPr lang="en-US" sz="2000" dirty="0"/>
                  <a:t>If </a:t>
                </a:r>
                <a14:m>
                  <m:oMath xmlns:m="http://schemas.openxmlformats.org/officeDocument/2006/math">
                    <m:sSub>
                      <m:sSubPr>
                        <m:ctrlPr>
                          <a:rPr lang="ar-AE" sz="2000" i="1">
                            <a:latin typeface="Cambria Math" panose="02040503050406030204" pitchFamily="18" charset="0"/>
                          </a:rPr>
                        </m:ctrlPr>
                      </m:sSubPr>
                      <m:e>
                        <m:d>
                          <m:dPr>
                            <m:begChr m:val="["/>
                            <m:endChr m:val="]"/>
                            <m:ctrlPr>
                              <a:rPr lang="ar-AE" sz="2000" i="1">
                                <a:latin typeface="Cambria Math" panose="02040503050406030204" pitchFamily="18" charset="0"/>
                              </a:rPr>
                            </m:ctrlPr>
                          </m:dPr>
                          <m:e>
                            <m:r>
                              <a:rPr lang="ar-AE" sz="2000" i="1">
                                <a:latin typeface="Cambria Math" panose="02040503050406030204" pitchFamily="18" charset="0"/>
                              </a:rPr>
                              <m:t>𝑎</m:t>
                            </m:r>
                          </m:e>
                        </m:d>
                      </m:e>
                      <m:sub>
                        <m:r>
                          <a:rPr lang="ar-AE" sz="2000" i="1">
                            <a:latin typeface="Cambria Math" panose="02040503050406030204" pitchFamily="18" charset="0"/>
                          </a:rPr>
                          <m:t>𝑅</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d>
                          <m:dPr>
                            <m:begChr m:val="["/>
                            <m:endChr m:val="]"/>
                            <m:ctrlPr>
                              <a:rPr lang="ar-AE" sz="2000" i="1">
                                <a:latin typeface="Cambria Math" panose="02040503050406030204" pitchFamily="18" charset="0"/>
                              </a:rPr>
                            </m:ctrlPr>
                          </m:dPr>
                          <m:e>
                            <m:r>
                              <a:rPr lang="ar-AE" sz="2000" i="1">
                                <a:latin typeface="Cambria Math" panose="02040503050406030204" pitchFamily="18" charset="0"/>
                              </a:rPr>
                              <m:t>𝑏</m:t>
                            </m:r>
                          </m:e>
                        </m:d>
                      </m:e>
                      <m:sub>
                        <m:r>
                          <a:rPr lang="ar-AE" sz="2000" i="1">
                            <a:latin typeface="Cambria Math" panose="02040503050406030204" pitchFamily="18" charset="0"/>
                          </a:rPr>
                          <m:t>𝑅</m:t>
                        </m:r>
                      </m:sub>
                    </m:sSub>
                  </m:oMath>
                </a14:m>
                <a:r>
                  <a:rPr lang="ar-AE" sz="2000" dirty="0"/>
                  <a:t>, </a:t>
                </a:r>
                <a:r>
                  <a:rPr lang="en-US" sz="2000" dirty="0"/>
                  <a:t>then </a:t>
                </a:r>
                <a14:m>
                  <m:oMath xmlns:m="http://schemas.openxmlformats.org/officeDocument/2006/math">
                    <m:sSub>
                      <m:sSubPr>
                        <m:ctrlPr>
                          <a:rPr lang="ar-AE" sz="2000" i="1">
                            <a:latin typeface="Cambria Math" panose="02040503050406030204" pitchFamily="18" charset="0"/>
                          </a:rPr>
                        </m:ctrlPr>
                      </m:sSubPr>
                      <m:e>
                        <m:d>
                          <m:dPr>
                            <m:begChr m:val="["/>
                            <m:endChr m:val="]"/>
                            <m:ctrlPr>
                              <a:rPr lang="ar-AE" sz="2000" i="1">
                                <a:latin typeface="Cambria Math" panose="02040503050406030204" pitchFamily="18" charset="0"/>
                              </a:rPr>
                            </m:ctrlPr>
                          </m:dPr>
                          <m:e>
                            <m:r>
                              <a:rPr lang="ar-AE" sz="2000" i="1">
                                <a:latin typeface="Cambria Math" panose="02040503050406030204" pitchFamily="18" charset="0"/>
                              </a:rPr>
                              <m:t>𝑎</m:t>
                            </m:r>
                          </m:e>
                        </m:d>
                      </m:e>
                      <m:sub>
                        <m:r>
                          <a:rPr lang="ar-AE" sz="2000" i="1">
                            <a:latin typeface="Cambria Math" panose="02040503050406030204" pitchFamily="18" charset="0"/>
                          </a:rPr>
                          <m:t>𝑅</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d>
                          <m:dPr>
                            <m:begChr m:val="["/>
                            <m:endChr m:val="]"/>
                            <m:ctrlPr>
                              <a:rPr lang="ar-AE" sz="2000" i="1">
                                <a:latin typeface="Cambria Math" panose="02040503050406030204" pitchFamily="18" charset="0"/>
                              </a:rPr>
                            </m:ctrlPr>
                          </m:dPr>
                          <m:e>
                            <m:r>
                              <a:rPr lang="ar-AE" sz="2000" i="1">
                                <a:latin typeface="Cambria Math" panose="02040503050406030204" pitchFamily="18" charset="0"/>
                              </a:rPr>
                              <m:t>𝑏</m:t>
                            </m:r>
                          </m:e>
                        </m:d>
                      </m:e>
                      <m:sub>
                        <m:r>
                          <a:rPr lang="ar-AE" sz="2000" i="1">
                            <a:latin typeface="Cambria Math" panose="02040503050406030204" pitchFamily="18" charset="0"/>
                          </a:rPr>
                          <m:t>𝑅</m:t>
                        </m:r>
                      </m:sub>
                    </m:sSub>
                    <m:r>
                      <a:rPr lang="ar-AE" sz="2000">
                        <a:latin typeface="Cambria Math" panose="02040503050406030204" pitchFamily="18" charset="0"/>
                      </a:rPr>
                      <m:t>=</m:t>
                    </m:r>
                    <m:r>
                      <a:rPr lang="ar-AE" sz="2000">
                        <a:latin typeface="Cambria Math" panose="02040503050406030204" pitchFamily="18" charset="0"/>
                      </a:rPr>
                      <m:t>∅</m:t>
                    </m:r>
                  </m:oMath>
                </a14:m>
                <a:r>
                  <a:rPr lang="ar-AE" sz="2000" dirty="0"/>
                  <a:t>. </a:t>
                </a:r>
              </a:p>
              <a:p>
                <a:r>
                  <a:rPr lang="en-US" sz="2000" dirty="0">
                    <a:solidFill>
                      <a:srgbClr val="0070C0"/>
                    </a:solidFill>
                  </a:rPr>
                  <a:t>This means the equivalence classes </a:t>
                </a:r>
                <a:r>
                  <a:rPr lang="en-US" sz="2000" b="1" dirty="0">
                    <a:solidFill>
                      <a:srgbClr val="0070C0"/>
                    </a:solidFill>
                  </a:rPr>
                  <a:t>divide the set </a:t>
                </a:r>
                <a14:m>
                  <m:oMath xmlns:m="http://schemas.openxmlformats.org/officeDocument/2006/math">
                    <m:r>
                      <a:rPr lang="en-US" sz="2000" i="1">
                        <a:solidFill>
                          <a:srgbClr val="0070C0"/>
                        </a:solidFill>
                        <a:latin typeface="Cambria Math" panose="02040503050406030204" pitchFamily="18" charset="0"/>
                      </a:rPr>
                      <m:t>𝐴</m:t>
                    </m:r>
                    <m:r>
                      <a:rPr lang="en-US" sz="2000" b="0" i="0" smtClean="0">
                        <a:solidFill>
                          <a:srgbClr val="0070C0"/>
                        </a:solidFill>
                        <a:latin typeface="Cambria Math" panose="02040503050406030204" pitchFamily="18" charset="0"/>
                      </a:rPr>
                      <m:t> </m:t>
                    </m:r>
                  </m:oMath>
                </a14:m>
                <a:r>
                  <a:rPr lang="en-US" sz="2000" b="1" dirty="0">
                    <a:solidFill>
                      <a:srgbClr val="0070C0"/>
                    </a:solidFill>
                  </a:rPr>
                  <a:t>into non-overlapping groups</a:t>
                </a:r>
                <a:r>
                  <a:rPr lang="en-US" sz="2000" dirty="0"/>
                  <a:t>, </a:t>
                </a:r>
                <a:r>
                  <a:rPr lang="en-US" sz="2000" dirty="0">
                    <a:solidFill>
                      <a:srgbClr val="CC0066"/>
                    </a:solidFill>
                  </a:rPr>
                  <a:t>forming a </a:t>
                </a:r>
                <a:r>
                  <a:rPr lang="en-US" sz="2000" b="1" dirty="0">
                    <a:solidFill>
                      <a:srgbClr val="CC0066"/>
                    </a:solidFill>
                  </a:rPr>
                  <a:t>partition</a:t>
                </a:r>
                <a:r>
                  <a:rPr lang="en-US" sz="2000" dirty="0">
                    <a:solidFill>
                      <a:srgbClr val="CC0066"/>
                    </a:solidFill>
                  </a:rPr>
                  <a:t> of </a:t>
                </a:r>
                <a14:m>
                  <m:oMath xmlns:m="http://schemas.openxmlformats.org/officeDocument/2006/math">
                    <m:r>
                      <a:rPr lang="en-US" sz="2000" i="1">
                        <a:solidFill>
                          <a:srgbClr val="CC0066"/>
                        </a:solidFill>
                        <a:latin typeface="Cambria Math" panose="02040503050406030204" pitchFamily="18" charset="0"/>
                      </a:rPr>
                      <m:t>𝐴</m:t>
                    </m:r>
                  </m:oMath>
                </a14:m>
                <a:r>
                  <a:rPr lang="en-US" sz="2000" dirty="0">
                    <a:solidFill>
                      <a:srgbClr val="CC0066"/>
                    </a:solidFill>
                  </a:rPr>
                  <a:t>.</a:t>
                </a:r>
                <a:endParaRPr lang="en-US" sz="2000" dirty="0"/>
              </a:p>
              <a:p>
                <a:r>
                  <a:rPr lang="en-US" sz="2000" dirty="0">
                    <a:solidFill>
                      <a:srgbClr val="7030A0"/>
                    </a:solidFill>
                  </a:rPr>
                  <a:t>So, Each element belongs to exactly one group, and the groups together cover the whole set.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6704" y="1295400"/>
                <a:ext cx="7143749" cy="3368040"/>
              </a:xfrm>
              <a:blipFill>
                <a:blip r:embed="rId3"/>
                <a:stretch>
                  <a:fillRect l="-341" t="-1268" r="-1451" b="-58877"/>
                </a:stretch>
              </a:blipFill>
            </p:spPr>
            <p:txBody>
              <a:bodyPr/>
              <a:lstStyle/>
              <a:p>
                <a:r>
                  <a:rPr lang="en-US">
                    <a:noFill/>
                  </a:rPr>
                  <a:t> </a:t>
                </a:r>
              </a:p>
            </p:txBody>
          </p:sp>
        </mc:Fallback>
      </mc:AlternateContent>
      <p:pic>
        <p:nvPicPr>
          <p:cNvPr id="9" name="Picture 8" descr="addin_tmp.png"/>
          <p:cNvPicPr>
            <a:picLocks noChangeAspect="1"/>
          </p:cNvPicPr>
          <p:nvPr>
            <p:custDataLst>
              <p:tags r:id="rId1"/>
            </p:custDataLst>
          </p:nvPr>
        </p:nvPicPr>
        <p:blipFill>
          <a:blip r:embed="rId4" cstate="print"/>
          <a:srcRect l="57500"/>
          <a:stretch>
            <a:fillRect/>
          </a:stretch>
        </p:blipFill>
        <p:spPr>
          <a:xfrm>
            <a:off x="2103699" y="2590800"/>
            <a:ext cx="2928730" cy="101536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F2EEC-2EED-668C-D56B-0738A3AAA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F96C1-855B-046E-22CC-DE24F8195E5A}"/>
              </a:ext>
            </a:extLst>
          </p:cNvPr>
          <p:cNvSpPr>
            <a:spLocks noGrp="1"/>
          </p:cNvSpPr>
          <p:nvPr>
            <p:ph type="title"/>
          </p:nvPr>
        </p:nvSpPr>
        <p:spPr>
          <a:xfrm>
            <a:off x="278129" y="56641"/>
            <a:ext cx="6579871" cy="1629283"/>
          </a:xfrm>
        </p:spPr>
        <p:txBody>
          <a:bodyPr>
            <a:normAutofit/>
          </a:bodyPr>
          <a:lstStyle/>
          <a:p>
            <a:r>
              <a:rPr lang="en-US" dirty="0"/>
              <a:t>An Equivalence Relation Partitions a Set</a:t>
            </a:r>
          </a:p>
        </p:txBody>
      </p:sp>
      <p:sp>
        <p:nvSpPr>
          <p:cNvPr id="6" name="Content Placeholder 2">
            <a:extLst>
              <a:ext uri="{FF2B5EF4-FFF2-40B4-BE49-F238E27FC236}">
                <a16:creationId xmlns:a16="http://schemas.microsoft.com/office/drawing/2014/main" id="{9478BDAB-549C-60F4-2860-B13B9A7C77A1}"/>
              </a:ext>
            </a:extLst>
          </p:cNvPr>
          <p:cNvSpPr txBox="1">
            <a:spLocks/>
          </p:cNvSpPr>
          <p:nvPr/>
        </p:nvSpPr>
        <p:spPr>
          <a:xfrm>
            <a:off x="152400" y="1295400"/>
            <a:ext cx="7772400" cy="4389120"/>
          </a:xfrm>
          <a:prstGeom prst="rect">
            <a:avLst/>
          </a:prstGeom>
        </p:spPr>
        <p:txBody>
          <a:bodyPr wrap="square" lIns="0" tIns="0" rIns="0" bIns="0">
            <a:noAutofit/>
          </a:bodyPr>
          <a:lstStyle>
            <a:lvl1pPr marL="0">
              <a:defRPr sz="1800" b="0" i="0">
                <a:solidFill>
                  <a:srgbClr val="404040"/>
                </a:solidFill>
                <a:latin typeface="Trebuchet MS"/>
                <a:ea typeface="+mn-ea"/>
                <a:cs typeface="Trebuchet M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dirty="0">
                <a:solidFill>
                  <a:schemeClr val="accent2">
                    <a:lumMod val="75000"/>
                  </a:schemeClr>
                </a:solidFill>
              </a:rPr>
              <a:t>    Theorem </a:t>
            </a:r>
            <a:r>
              <a:rPr lang="en-US" sz="2000" b="1" dirty="0">
                <a:solidFill>
                  <a:schemeClr val="accent2">
                    <a:lumMod val="75000"/>
                  </a:schemeClr>
                </a:solidFill>
                <a:latin typeface="Cambria Math" pitchFamily="18" charset="0"/>
                <a:ea typeface="Cambria Math" pitchFamily="18" charset="0"/>
              </a:rPr>
              <a:t>2</a:t>
            </a:r>
            <a:r>
              <a:rPr lang="en-US" sz="2000" dirty="0">
                <a:solidFill>
                  <a:schemeClr val="accent2">
                    <a:lumMod val="75000"/>
                  </a:schemeClr>
                </a:solidFill>
              </a:rPr>
              <a:t>:</a:t>
            </a:r>
          </a:p>
        </p:txBody>
      </p:sp>
      <mc:AlternateContent xmlns:mc="http://schemas.openxmlformats.org/markup-compatibility/2006" xmlns:a14="http://schemas.microsoft.com/office/drawing/2010/main">
        <mc:Choice Requires="a14">
          <p:sp>
            <p:nvSpPr>
              <p:cNvPr id="10" name="Rectangle 3">
                <a:extLst>
                  <a:ext uri="{FF2B5EF4-FFF2-40B4-BE49-F238E27FC236}">
                    <a16:creationId xmlns:a16="http://schemas.microsoft.com/office/drawing/2014/main" id="{149CE242-3877-BA33-B2D6-5F6EF5794300}"/>
                  </a:ext>
                </a:extLst>
              </p:cNvPr>
              <p:cNvSpPr>
                <a:spLocks noChangeArrowheads="1"/>
              </p:cNvSpPr>
              <p:nvPr/>
            </p:nvSpPr>
            <p:spPr bwMode="auto">
              <a:xfrm>
                <a:off x="343852" y="1600200"/>
                <a:ext cx="8456296" cy="501675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70C0"/>
                    </a:solidFill>
                    <a:effectLst/>
                    <a:latin typeface="Arial" panose="020B0604020202020204" pitchFamily="34" charset="0"/>
                  </a:rPr>
                  <a:t>Equivalence relation → partition:</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If R is an equivalence relation on a set S, then its equivalence classes </a:t>
                </a:r>
                <a:r>
                  <a:rPr kumimoji="0" lang="en-US" altLang="en-US" sz="1600" b="1" i="0" u="none" strike="noStrike" cap="none" normalizeH="0" baseline="0" dirty="0">
                    <a:ln>
                      <a:noFill/>
                    </a:ln>
                    <a:solidFill>
                      <a:schemeClr val="tx1"/>
                    </a:solidFill>
                    <a:effectLst/>
                    <a:latin typeface="Arial" panose="020B0604020202020204" pitchFamily="34" charset="0"/>
                  </a:rPr>
                  <a:t>split S into separate groups</a:t>
                </a:r>
                <a:r>
                  <a:rPr kumimoji="0" lang="en-US" altLang="en-US" sz="1600" b="0" i="0" u="none" strike="noStrike" cap="none" normalizeH="0" baseline="0" dirty="0">
                    <a:ln>
                      <a:noFill/>
                    </a:ln>
                    <a:solidFill>
                      <a:schemeClr val="tx1"/>
                    </a:solidFill>
                    <a:effectLst/>
                    <a:latin typeface="Arial" panose="020B0604020202020204" pitchFamily="34" charset="0"/>
                  </a:rPr>
                  <a:t> (a partition). </a:t>
                </a:r>
              </a:p>
              <a:p>
                <a:pPr eaLnBrk="0" fontAlgn="base" hangingPunct="0">
                  <a:spcBef>
                    <a:spcPct val="0"/>
                  </a:spcBef>
                  <a:spcAft>
                    <a:spcPct val="0"/>
                  </a:spcAft>
                  <a:buFontTx/>
                  <a:buChar char="•"/>
                </a:pPr>
                <a:r>
                  <a:rPr kumimoji="0" lang="en-US" altLang="en-US" sz="1600" b="1" i="0" u="none" strike="noStrike" cap="none" normalizeH="0" baseline="0" dirty="0">
                    <a:ln>
                      <a:noFill/>
                    </a:ln>
                    <a:solidFill>
                      <a:srgbClr val="0070C0"/>
                    </a:solidFill>
                    <a:effectLst/>
                    <a:latin typeface="Arial" panose="020B0604020202020204" pitchFamily="34" charset="0"/>
                  </a:rPr>
                  <a:t>Partition → equivalence relation:</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If you have a partition of S (groups that don’t overlap and cover the set), you can define a relation R where </a:t>
                </a:r>
                <a:r>
                  <a:rPr kumimoji="0" lang="en-US" altLang="en-US" sz="1600" b="1" i="0" u="none" strike="noStrike" cap="none" normalizeH="0" baseline="0" dirty="0">
                    <a:ln>
                      <a:noFill/>
                    </a:ln>
                    <a:solidFill>
                      <a:schemeClr val="tx1"/>
                    </a:solidFill>
                    <a:effectLst/>
                    <a:latin typeface="Arial" panose="020B0604020202020204" pitchFamily="34" charset="0"/>
                  </a:rPr>
                  <a:t>two elements are related if they are in the same group</a:t>
                </a:r>
                <a:r>
                  <a:rPr kumimoji="0" lang="en-US" altLang="en-US" sz="1600" b="0" i="0" u="none" strike="noStrike" cap="none" normalizeH="0" baseline="0" dirty="0">
                    <a:ln>
                      <a:noFill/>
                    </a:ln>
                    <a:solidFill>
                      <a:schemeClr val="tx1"/>
                    </a:solidFill>
                    <a:effectLst/>
                    <a:latin typeface="Arial" panose="020B0604020202020204" pitchFamily="34" charset="0"/>
                  </a:rPr>
                  <a:t>. This relation is an equivalence relation. </a:t>
                </a:r>
              </a:p>
              <a:p>
                <a:pPr lvl="7" algn="l" rtl="0" eaLnBrk="0" fontAlgn="base" hangingPunct="0">
                  <a:spcBef>
                    <a:spcPct val="0"/>
                  </a:spcBef>
                  <a:spcAft>
                    <a:spcPct val="0"/>
                  </a:spcAft>
                  <a:buFontTx/>
                  <a:buChar char="•"/>
                </a:pPr>
                <a:endParaRPr lang="en-US" altLang="en-US" sz="1600" dirty="0">
                  <a:solidFill>
                    <a:schemeClr val="tx1"/>
                  </a:solidFill>
                  <a:latin typeface="Arial" panose="020B0604020202020204" pitchFamily="34" charset="0"/>
                </a:endParaRPr>
              </a:p>
              <a:p>
                <a:r>
                  <a:rPr lang="en-US" sz="1600" b="1" dirty="0">
                    <a:solidFill>
                      <a:srgbClr val="002060"/>
                    </a:solidFill>
                  </a:rPr>
                  <a:t>Proof Idea </a:t>
                </a:r>
              </a:p>
              <a:p>
                <a:r>
                  <a:rPr lang="en-US" sz="1600" b="1" dirty="0">
                    <a:solidFill>
                      <a:srgbClr val="002060"/>
                    </a:solidFill>
                  </a:rPr>
                  <a:t>Step 1:</a:t>
                </a:r>
                <a:r>
                  <a:rPr lang="en-US" sz="1600" dirty="0">
                    <a:solidFill>
                      <a:srgbClr val="002060"/>
                    </a:solidFill>
                  </a:rPr>
                  <a:t> Reflexive</a:t>
                </a:r>
                <a:br>
                  <a:rPr lang="en-US" sz="1600" dirty="0">
                    <a:solidFill>
                      <a:srgbClr val="002060"/>
                    </a:solidFill>
                  </a:rPr>
                </a:br>
                <a:r>
                  <a:rPr lang="en-US" sz="1600" dirty="0">
                    <a:solidFill>
                      <a:srgbClr val="002060"/>
                    </a:solidFill>
                  </a:rPr>
                  <a:t>Every element is in the same group as itself → (</a:t>
                </a:r>
                <a:r>
                  <a:rPr lang="en-US" sz="1600" dirty="0" err="1">
                    <a:solidFill>
                      <a:srgbClr val="002060"/>
                    </a:solidFill>
                  </a:rPr>
                  <a:t>a,a</a:t>
                </a:r>
                <a:r>
                  <a:rPr lang="en-US" sz="1600" dirty="0">
                    <a:solidFill>
                      <a:srgbClr val="002060"/>
                    </a:solidFill>
                  </a:rPr>
                  <a:t>)</a:t>
                </a:r>
                <a14:m>
                  <m:oMath xmlns:m="http://schemas.openxmlformats.org/officeDocument/2006/math">
                    <m:r>
                      <a:rPr lang="ar-AE" sz="1600">
                        <a:solidFill>
                          <a:srgbClr val="002060"/>
                        </a:solidFill>
                        <a:latin typeface="Cambria Math" panose="02040503050406030204" pitchFamily="18" charset="0"/>
                      </a:rPr>
                      <m:t>∈</m:t>
                    </m:r>
                    <m:r>
                      <a:rPr lang="ar-AE" sz="1600" i="1">
                        <a:solidFill>
                          <a:srgbClr val="002060"/>
                        </a:solidFill>
                        <a:latin typeface="Cambria Math" panose="02040503050406030204" pitchFamily="18" charset="0"/>
                      </a:rPr>
                      <m:t>𝑅</m:t>
                    </m:r>
                  </m:oMath>
                </a14:m>
                <a:r>
                  <a:rPr lang="ar-AE" sz="1600" dirty="0">
                    <a:solidFill>
                      <a:srgbClr val="002060"/>
                    </a:solidFill>
                  </a:rPr>
                  <a:t>. </a:t>
                </a:r>
              </a:p>
              <a:p>
                <a:r>
                  <a:rPr lang="en-US" sz="1600" b="1" dirty="0">
                    <a:solidFill>
                      <a:srgbClr val="002060"/>
                    </a:solidFill>
                  </a:rPr>
                  <a:t>Step 2:</a:t>
                </a:r>
                <a:r>
                  <a:rPr lang="en-US" sz="1600" dirty="0">
                    <a:solidFill>
                      <a:srgbClr val="002060"/>
                    </a:solidFill>
                  </a:rPr>
                  <a:t> Symmetric</a:t>
                </a:r>
                <a:br>
                  <a:rPr lang="en-US" sz="1600" dirty="0">
                    <a:solidFill>
                      <a:srgbClr val="002060"/>
                    </a:solidFill>
                  </a:rPr>
                </a:br>
                <a:r>
                  <a:rPr lang="en-US" sz="1600" dirty="0">
                    <a:solidFill>
                      <a:srgbClr val="002060"/>
                    </a:solidFill>
                  </a:rPr>
                  <a:t>If </a:t>
                </a:r>
                <a14:m>
                  <m:oMath xmlns:m="http://schemas.openxmlformats.org/officeDocument/2006/math">
                    <m:r>
                      <a:rPr lang="en-US" sz="1600" i="1">
                        <a:solidFill>
                          <a:srgbClr val="002060"/>
                        </a:solidFill>
                        <a:latin typeface="Cambria Math" panose="02040503050406030204" pitchFamily="18" charset="0"/>
                      </a:rPr>
                      <m:t>𝑎</m:t>
                    </m:r>
                  </m:oMath>
                </a14:m>
                <a:r>
                  <a:rPr lang="en-US" sz="1600" dirty="0">
                    <a:solidFill>
                      <a:srgbClr val="002060"/>
                    </a:solidFill>
                  </a:rPr>
                  <a:t>and </a:t>
                </a:r>
                <a14:m>
                  <m:oMath xmlns:m="http://schemas.openxmlformats.org/officeDocument/2006/math">
                    <m:r>
                      <a:rPr lang="en-US" sz="1600" i="1">
                        <a:solidFill>
                          <a:srgbClr val="002060"/>
                        </a:solidFill>
                        <a:latin typeface="Cambria Math" panose="02040503050406030204" pitchFamily="18" charset="0"/>
                      </a:rPr>
                      <m:t>𝑏</m:t>
                    </m:r>
                  </m:oMath>
                </a14:m>
                <a:r>
                  <a:rPr lang="en-US" sz="1600" dirty="0">
                    <a:solidFill>
                      <a:srgbClr val="002060"/>
                    </a:solidFill>
                  </a:rPr>
                  <a:t>are in the same group → </a:t>
                </a:r>
                <a14:m>
                  <m:oMath xmlns:m="http://schemas.openxmlformats.org/officeDocument/2006/math">
                    <m:r>
                      <a:rPr lang="en-US" sz="1600" i="1">
                        <a:solidFill>
                          <a:srgbClr val="002060"/>
                        </a:solidFill>
                        <a:latin typeface="Cambria Math" panose="02040503050406030204" pitchFamily="18" charset="0"/>
                      </a:rPr>
                      <m:t>𝑏</m:t>
                    </m:r>
                  </m:oMath>
                </a14:m>
                <a:r>
                  <a:rPr lang="en-US" sz="1600" dirty="0">
                    <a:solidFill>
                      <a:srgbClr val="002060"/>
                    </a:solidFill>
                  </a:rPr>
                  <a:t>and </a:t>
                </a:r>
                <a14:m>
                  <m:oMath xmlns:m="http://schemas.openxmlformats.org/officeDocument/2006/math">
                    <m:r>
                      <a:rPr lang="en-US" sz="1600" i="1">
                        <a:solidFill>
                          <a:srgbClr val="002060"/>
                        </a:solidFill>
                        <a:latin typeface="Cambria Math" panose="02040503050406030204" pitchFamily="18" charset="0"/>
                      </a:rPr>
                      <m:t>𝑎</m:t>
                    </m:r>
                  </m:oMath>
                </a14:m>
                <a:r>
                  <a:rPr lang="en-US" sz="1600" dirty="0">
                    <a:solidFill>
                      <a:srgbClr val="002060"/>
                    </a:solidFill>
                  </a:rPr>
                  <a:t>are also in the same group → (</a:t>
                </a:r>
                <a:r>
                  <a:rPr lang="en-US" sz="1600" dirty="0" err="1">
                    <a:solidFill>
                      <a:srgbClr val="002060"/>
                    </a:solidFill>
                  </a:rPr>
                  <a:t>b,a</a:t>
                </a:r>
                <a:r>
                  <a:rPr lang="en-US" sz="1600" dirty="0">
                    <a:solidFill>
                      <a:srgbClr val="002060"/>
                    </a:solidFill>
                  </a:rPr>
                  <a:t>)</a:t>
                </a:r>
                <a14:m>
                  <m:oMath xmlns:m="http://schemas.openxmlformats.org/officeDocument/2006/math">
                    <m:r>
                      <a:rPr lang="ar-AE" sz="1600">
                        <a:solidFill>
                          <a:srgbClr val="002060"/>
                        </a:solidFill>
                        <a:latin typeface="Cambria Math" panose="02040503050406030204" pitchFamily="18" charset="0"/>
                      </a:rPr>
                      <m:t>∈</m:t>
                    </m:r>
                    <m:r>
                      <a:rPr lang="ar-AE" sz="1600" i="1">
                        <a:solidFill>
                          <a:srgbClr val="002060"/>
                        </a:solidFill>
                        <a:latin typeface="Cambria Math" panose="02040503050406030204" pitchFamily="18" charset="0"/>
                      </a:rPr>
                      <m:t>𝑅</m:t>
                    </m:r>
                  </m:oMath>
                </a14:m>
                <a:r>
                  <a:rPr lang="ar-AE" sz="1600" dirty="0">
                    <a:solidFill>
                      <a:srgbClr val="002060"/>
                    </a:solidFill>
                  </a:rPr>
                  <a:t>. </a:t>
                </a:r>
              </a:p>
              <a:p>
                <a:r>
                  <a:rPr lang="en-US" sz="1600" b="1" dirty="0">
                    <a:solidFill>
                      <a:srgbClr val="002060"/>
                    </a:solidFill>
                  </a:rPr>
                  <a:t>Step 3:</a:t>
                </a:r>
                <a:r>
                  <a:rPr lang="en-US" sz="1600" dirty="0">
                    <a:solidFill>
                      <a:srgbClr val="002060"/>
                    </a:solidFill>
                  </a:rPr>
                  <a:t> Transitive</a:t>
                </a:r>
                <a:br>
                  <a:rPr lang="en-US" sz="1600" dirty="0">
                    <a:solidFill>
                      <a:srgbClr val="002060"/>
                    </a:solidFill>
                  </a:rPr>
                </a:br>
                <a:r>
                  <a:rPr lang="en-US" sz="1600" dirty="0">
                    <a:solidFill>
                      <a:srgbClr val="002060"/>
                    </a:solidFill>
                  </a:rPr>
                  <a:t>If </a:t>
                </a:r>
                <a14:m>
                  <m:oMath xmlns:m="http://schemas.openxmlformats.org/officeDocument/2006/math">
                    <m:r>
                      <a:rPr lang="en-US" sz="1600" i="1">
                        <a:solidFill>
                          <a:srgbClr val="002060"/>
                        </a:solidFill>
                        <a:latin typeface="Cambria Math" panose="02040503050406030204" pitchFamily="18" charset="0"/>
                      </a:rPr>
                      <m:t>𝑎</m:t>
                    </m:r>
                  </m:oMath>
                </a14:m>
                <a:r>
                  <a:rPr lang="en-US" sz="1600" dirty="0">
                    <a:solidFill>
                      <a:srgbClr val="002060"/>
                    </a:solidFill>
                  </a:rPr>
                  <a:t>and </a:t>
                </a:r>
                <a14:m>
                  <m:oMath xmlns:m="http://schemas.openxmlformats.org/officeDocument/2006/math">
                    <m:r>
                      <a:rPr lang="en-US" sz="1600" i="1">
                        <a:solidFill>
                          <a:srgbClr val="002060"/>
                        </a:solidFill>
                        <a:latin typeface="Cambria Math" panose="02040503050406030204" pitchFamily="18" charset="0"/>
                      </a:rPr>
                      <m:t>𝑏</m:t>
                    </m:r>
                  </m:oMath>
                </a14:m>
                <a:r>
                  <a:rPr lang="en-US" sz="1600" dirty="0">
                    <a:solidFill>
                      <a:srgbClr val="002060"/>
                    </a:solidFill>
                  </a:rPr>
                  <a:t>are in the same group, and </a:t>
                </a:r>
                <a14:m>
                  <m:oMath xmlns:m="http://schemas.openxmlformats.org/officeDocument/2006/math">
                    <m:r>
                      <a:rPr lang="en-US" sz="1600" i="1">
                        <a:solidFill>
                          <a:srgbClr val="002060"/>
                        </a:solidFill>
                        <a:latin typeface="Cambria Math" panose="02040503050406030204" pitchFamily="18" charset="0"/>
                      </a:rPr>
                      <m:t>𝑏</m:t>
                    </m:r>
                  </m:oMath>
                </a14:m>
                <a:r>
                  <a:rPr lang="en-US" sz="1600" dirty="0">
                    <a:solidFill>
                      <a:srgbClr val="002060"/>
                    </a:solidFill>
                  </a:rPr>
                  <a:t>and </a:t>
                </a:r>
                <a14:m>
                  <m:oMath xmlns:m="http://schemas.openxmlformats.org/officeDocument/2006/math">
                    <m:r>
                      <a:rPr lang="en-US" sz="1600" i="1">
                        <a:solidFill>
                          <a:srgbClr val="002060"/>
                        </a:solidFill>
                        <a:latin typeface="Cambria Math" panose="02040503050406030204" pitchFamily="18" charset="0"/>
                      </a:rPr>
                      <m:t>𝑐</m:t>
                    </m:r>
                  </m:oMath>
                </a14:m>
                <a:r>
                  <a:rPr lang="en-US" sz="1600" dirty="0">
                    <a:solidFill>
                      <a:srgbClr val="002060"/>
                    </a:solidFill>
                  </a:rPr>
                  <a:t> are in the same group → all three must be in the same group → (</a:t>
                </a:r>
                <a:r>
                  <a:rPr lang="en-US" sz="1600" dirty="0" err="1">
                    <a:solidFill>
                      <a:srgbClr val="002060"/>
                    </a:solidFill>
                  </a:rPr>
                  <a:t>a,c</a:t>
                </a:r>
                <a:r>
                  <a:rPr lang="en-US" sz="1600" dirty="0">
                    <a:solidFill>
                      <a:srgbClr val="002060"/>
                    </a:solidFill>
                  </a:rPr>
                  <a:t>)</a:t>
                </a:r>
                <a14:m>
                  <m:oMath xmlns:m="http://schemas.openxmlformats.org/officeDocument/2006/math">
                    <m:r>
                      <a:rPr lang="ar-AE" sz="1600">
                        <a:solidFill>
                          <a:srgbClr val="002060"/>
                        </a:solidFill>
                        <a:latin typeface="Cambria Math" panose="02040503050406030204" pitchFamily="18" charset="0"/>
                      </a:rPr>
                      <m:t>∈</m:t>
                    </m:r>
                    <m:r>
                      <a:rPr lang="ar-AE" sz="1600" i="1">
                        <a:solidFill>
                          <a:srgbClr val="002060"/>
                        </a:solidFill>
                        <a:latin typeface="Cambria Math" panose="02040503050406030204" pitchFamily="18" charset="0"/>
                      </a:rPr>
                      <m:t>𝑅</m:t>
                    </m:r>
                  </m:oMath>
                </a14:m>
                <a:r>
                  <a:rPr lang="ar-AE" sz="1600" dirty="0">
                    <a:solidFill>
                      <a:srgbClr val="002060"/>
                    </a:solidFill>
                  </a:rPr>
                  <a:t>. </a:t>
                </a:r>
              </a:p>
              <a:p>
                <a:endParaRPr lang="en-US" sz="1600" dirty="0"/>
              </a:p>
              <a:p>
                <a:r>
                  <a:rPr lang="en-US" sz="1600" dirty="0"/>
                  <a:t>So, the relation satisfies </a:t>
                </a:r>
                <a:r>
                  <a:rPr lang="en-US" sz="1600" b="1" dirty="0"/>
                  <a:t>reflexive, symmetric, transitive</a:t>
                </a:r>
                <a:r>
                  <a:rPr lang="en-US" sz="1600" dirty="0"/>
                  <a:t>, which makes it an </a:t>
                </a:r>
                <a:r>
                  <a:rPr lang="en-US" sz="1600" b="1" dirty="0"/>
                  <a:t>equivalence relation</a:t>
                </a:r>
                <a:r>
                  <a:rPr lang="en-US" sz="1600" dirty="0"/>
                  <a:t>.</a:t>
                </a:r>
              </a:p>
              <a:p>
                <a:pPr lvl="7" algn="l" rtl="0" eaLnBrk="0" fontAlgn="base" hangingPunct="0">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0" name="Rectangle 3">
                <a:extLst>
                  <a:ext uri="{FF2B5EF4-FFF2-40B4-BE49-F238E27FC236}">
                    <a16:creationId xmlns:a16="http://schemas.microsoft.com/office/drawing/2014/main" id="{149CE242-3877-BA33-B2D6-5F6EF5794300}"/>
                  </a:ext>
                </a:extLst>
              </p:cNvPr>
              <p:cNvSpPr>
                <a:spLocks noRot="1" noChangeAspect="1" noMove="1" noResize="1" noEditPoints="1" noAdjustHandles="1" noChangeArrowheads="1" noChangeShapeType="1" noTextEdit="1"/>
              </p:cNvSpPr>
              <p:nvPr/>
            </p:nvSpPr>
            <p:spPr bwMode="auto">
              <a:xfrm>
                <a:off x="343852" y="1600200"/>
                <a:ext cx="8456296" cy="5016758"/>
              </a:xfrm>
              <a:prstGeom prst="rect">
                <a:avLst/>
              </a:prstGeom>
              <a:blipFill>
                <a:blip r:embed="rId2"/>
                <a:stretch>
                  <a:fillRect l="-360" r="-100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6292336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A9927-0A2C-4416-1519-0C9A0A40A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143B7-1E47-4A1E-0EA0-88BCBE10FB33}"/>
              </a:ext>
            </a:extLst>
          </p:cNvPr>
          <p:cNvSpPr>
            <a:spLocks noGrp="1"/>
          </p:cNvSpPr>
          <p:nvPr>
            <p:ph type="title"/>
          </p:nvPr>
        </p:nvSpPr>
        <p:spPr>
          <a:xfrm>
            <a:off x="278129" y="0"/>
            <a:ext cx="6579871" cy="1629283"/>
          </a:xfrm>
        </p:spPr>
        <p:txBody>
          <a:bodyPr>
            <a:normAutofit/>
          </a:bodyPr>
          <a:lstStyle/>
          <a:p>
            <a:r>
              <a:rPr lang="en-US" dirty="0"/>
              <a:t>An Equivalence Relation Partitions a Set</a:t>
            </a:r>
          </a:p>
        </p:txBody>
      </p:sp>
      <p:sp>
        <p:nvSpPr>
          <p:cNvPr id="10" name="Rectangle 3">
            <a:extLst>
              <a:ext uri="{FF2B5EF4-FFF2-40B4-BE49-F238E27FC236}">
                <a16:creationId xmlns:a16="http://schemas.microsoft.com/office/drawing/2014/main" id="{AF52D41A-D47C-B78C-EC33-A9FC1BD07225}"/>
              </a:ext>
            </a:extLst>
          </p:cNvPr>
          <p:cNvSpPr>
            <a:spLocks noChangeArrowheads="1"/>
          </p:cNvSpPr>
          <p:nvPr/>
        </p:nvSpPr>
        <p:spPr bwMode="auto">
          <a:xfrm>
            <a:off x="278129" y="1143000"/>
            <a:ext cx="845629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Let S = {1, 2, 3, 4, 5, 6}</a:t>
            </a:r>
          </a:p>
          <a:p>
            <a:r>
              <a:rPr lang="en-US" b="1" dirty="0">
                <a:solidFill>
                  <a:schemeClr val="accent2">
                    <a:lumMod val="75000"/>
                  </a:schemeClr>
                </a:solidFill>
              </a:rPr>
              <a:t>Equivalence class:</a:t>
            </a:r>
            <a:r>
              <a:rPr lang="en-US" dirty="0"/>
              <a:t> </a:t>
            </a:r>
            <a:r>
              <a:rPr lang="en-US" dirty="0">
                <a:solidFill>
                  <a:srgbClr val="0070C0"/>
                </a:solidFill>
              </a:rPr>
              <a:t>“numbers have the same remainder when divided by 2”</a:t>
            </a:r>
          </a:p>
          <a:p>
            <a:endParaRPr lang="en-US" b="1" dirty="0">
              <a:solidFill>
                <a:srgbClr val="0070C0"/>
              </a:solidFill>
            </a:endParaRPr>
          </a:p>
          <a:p>
            <a:r>
              <a:rPr lang="en-US" b="1" dirty="0">
                <a:solidFill>
                  <a:srgbClr val="0070C0"/>
                </a:solidFill>
              </a:rPr>
              <a:t>Step 1: Make groups (partition)</a:t>
            </a:r>
          </a:p>
          <a:p>
            <a:pPr marL="285750" lvl="1" indent="-285750">
              <a:buFont typeface="Arial" panose="020B0604020202020204" pitchFamily="34" charset="0"/>
              <a:buChar char="•"/>
            </a:pPr>
            <a:r>
              <a:rPr lang="en-US" dirty="0"/>
              <a:t>Even numbers → {2, 4, 6} </a:t>
            </a:r>
          </a:p>
          <a:p>
            <a:pPr marL="285750" lvl="1" indent="-285750">
              <a:buFont typeface="Arial" panose="020B0604020202020204" pitchFamily="34" charset="0"/>
              <a:buChar char="•"/>
            </a:pPr>
            <a:r>
              <a:rPr lang="en-US" dirty="0"/>
              <a:t>Odd numbers → {1, 3, 5} </a:t>
            </a:r>
          </a:p>
          <a:p>
            <a:r>
              <a:rPr lang="en-US" dirty="0"/>
              <a:t>These are </a:t>
            </a:r>
            <a:r>
              <a:rPr lang="en-US" b="1" dirty="0"/>
              <a:t>non-overlapping groups</a:t>
            </a:r>
            <a:r>
              <a:rPr lang="en-US" dirty="0"/>
              <a:t> and cover all elements. So, this is a </a:t>
            </a:r>
            <a:r>
              <a:rPr lang="en-US" b="1" dirty="0"/>
              <a:t>partition</a:t>
            </a:r>
            <a:endParaRPr lang="en-US" dirty="0"/>
          </a:p>
          <a:p>
            <a:r>
              <a:rPr lang="en-US" b="1" dirty="0">
                <a:solidFill>
                  <a:srgbClr val="0070C0"/>
                </a:solidFill>
              </a:rPr>
              <a:t>Step 2: Make relation from groups </a:t>
            </a:r>
            <a:r>
              <a:rPr lang="en-US" b="1" dirty="0">
                <a:solidFill>
                  <a:srgbClr val="C00000"/>
                </a:solidFill>
              </a:rPr>
              <a:t>{Every group element can relate itself}</a:t>
            </a:r>
          </a:p>
          <a:p>
            <a:r>
              <a:rPr lang="en-US" dirty="0"/>
              <a:t>“a is related to b if they are in the same group”</a:t>
            </a:r>
          </a:p>
          <a:p>
            <a:r>
              <a:rPr lang="en-US" dirty="0"/>
              <a:t>Examples:</a:t>
            </a:r>
          </a:p>
          <a:p>
            <a:pPr marL="285750" lvl="1" indent="-285750">
              <a:buFont typeface="Arial" panose="020B0604020202020204" pitchFamily="34" charset="0"/>
              <a:buChar char="•"/>
            </a:pPr>
            <a:r>
              <a:rPr lang="en-US" dirty="0"/>
              <a:t>2 ~ 4  (both even) </a:t>
            </a:r>
          </a:p>
          <a:p>
            <a:pPr marL="285750" lvl="1" indent="-285750">
              <a:buFont typeface="Arial" panose="020B0604020202020204" pitchFamily="34" charset="0"/>
              <a:buChar char="•"/>
            </a:pPr>
            <a:r>
              <a:rPr lang="en-US" dirty="0"/>
              <a:t>1 ~ 5  (both odd) </a:t>
            </a:r>
          </a:p>
          <a:p>
            <a:pPr marL="285750" lvl="1" indent="-285750">
              <a:buFont typeface="Arial" panose="020B0604020202020204" pitchFamily="34" charset="0"/>
              <a:buChar char="•"/>
            </a:pPr>
            <a:r>
              <a:rPr lang="en-US" dirty="0"/>
              <a:t>2 ~ 3  (different groups)</a:t>
            </a:r>
            <a:endParaRPr lang="en-US" dirty="0">
              <a:solidFill>
                <a:srgbClr val="0070C0"/>
              </a:solidFill>
            </a:endParaRPr>
          </a:p>
          <a:p>
            <a:r>
              <a:rPr lang="en-US" b="1" dirty="0">
                <a:solidFill>
                  <a:srgbClr val="0070C0"/>
                </a:solidFill>
              </a:rPr>
              <a:t>Step 3: Check properties</a:t>
            </a:r>
          </a:p>
          <a:p>
            <a:pPr marL="285750" indent="-285750">
              <a:buFont typeface="Arial" panose="020B0604020202020204" pitchFamily="34" charset="0"/>
              <a:buChar char="•"/>
            </a:pPr>
            <a:r>
              <a:rPr lang="en-US" dirty="0"/>
              <a:t>Reflexive: 2 ~ 2    </a:t>
            </a:r>
            <a:r>
              <a:rPr lang="en-US" dirty="0">
                <a:solidFill>
                  <a:srgbClr val="CC0066"/>
                </a:solidFill>
              </a:rPr>
              <a:t>(2 is even, and 2 is even → same type)</a:t>
            </a:r>
          </a:p>
          <a:p>
            <a:pPr marL="285750" indent="-285750">
              <a:buFont typeface="Arial" panose="020B0604020202020204" pitchFamily="34" charset="0"/>
              <a:buChar char="•"/>
            </a:pPr>
            <a:r>
              <a:rPr lang="en-US" dirty="0"/>
              <a:t>Symmetric: if 2 ~ 4 → 4 ~ 2    </a:t>
            </a:r>
            <a:r>
              <a:rPr lang="en-US" dirty="0">
                <a:solidFill>
                  <a:srgbClr val="CC0066"/>
                </a:solidFill>
              </a:rPr>
              <a:t>(2 and 4 are both even → same group, order doesn’t matter)</a:t>
            </a:r>
          </a:p>
          <a:p>
            <a:pPr marL="285750" indent="-285750">
              <a:buFont typeface="Arial" panose="020B0604020202020204" pitchFamily="34" charset="0"/>
              <a:buChar char="•"/>
            </a:pPr>
            <a:r>
              <a:rPr lang="en-US" dirty="0"/>
              <a:t>Transitive: if 2 ~ 4 and 4 ~ 6 → 2 ~ 6 </a:t>
            </a:r>
            <a:r>
              <a:rPr lang="en-US" dirty="0">
                <a:solidFill>
                  <a:srgbClr val="CC0066"/>
                </a:solidFill>
              </a:rPr>
              <a:t>(2, 4, 6 are all even, so 2 and 6 are also related)</a:t>
            </a:r>
            <a:endParaRPr lang="en-US" dirty="0"/>
          </a:p>
        </p:txBody>
      </p:sp>
    </p:spTree>
    <p:extLst>
      <p:ext uri="{BB962C8B-B14F-4D97-AF65-F5344CB8AC3E}">
        <p14:creationId xmlns:p14="http://schemas.microsoft.com/office/powerpoint/2010/main" val="27056653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6225"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0381"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4073"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05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215"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8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36715"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Shape 23">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62215" y="-8467"/>
            <a:ext cx="6881785" cy="6866467"/>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314352" y="1020871"/>
            <a:ext cx="5220569" cy="2849671"/>
          </a:xfrm>
        </p:spPr>
        <p:txBody>
          <a:bodyPr>
            <a:normAutofit/>
          </a:bodyPr>
          <a:lstStyle/>
          <a:p>
            <a:pPr algn="l"/>
            <a:r>
              <a:rPr lang="en-US" sz="5200">
                <a:solidFill>
                  <a:srgbClr val="FFFFFF"/>
                </a:solidFill>
              </a:rPr>
              <a:t>Partial Orderings</a:t>
            </a:r>
          </a:p>
        </p:txBody>
      </p:sp>
      <p:sp>
        <p:nvSpPr>
          <p:cNvPr id="3" name="Subtitle 2"/>
          <p:cNvSpPr>
            <a:spLocks noGrp="1"/>
          </p:cNvSpPr>
          <p:nvPr>
            <p:ph type="subTitle" idx="1"/>
          </p:nvPr>
        </p:nvSpPr>
        <p:spPr>
          <a:xfrm>
            <a:off x="3411078" y="3962088"/>
            <a:ext cx="4584057" cy="1186108"/>
          </a:xfrm>
        </p:spPr>
        <p:txBody>
          <a:bodyPr>
            <a:normAutofit/>
          </a:bodyPr>
          <a:lstStyle/>
          <a:p>
            <a:pPr algn="l"/>
            <a:r>
              <a:rPr lang="en-US">
                <a:solidFill>
                  <a:srgbClr val="FFFFFF">
                    <a:alpha val="70000"/>
                  </a:srgbClr>
                </a:solidFill>
              </a:rPr>
              <a:t>Section 9.6</a:t>
            </a:r>
          </a:p>
        </p:txBody>
      </p:sp>
      <p:sp>
        <p:nvSpPr>
          <p:cNvPr id="26" name="Isosceles Triangle 25">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19339" y="3294792"/>
            <a:ext cx="220660" cy="13982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0EDA0-32BE-1156-D1B2-7B896AEAD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2DC4C0-A65A-A917-8EC8-041DACF7544B}"/>
              </a:ext>
            </a:extLst>
          </p:cNvPr>
          <p:cNvSpPr>
            <a:spLocks noGrp="1"/>
          </p:cNvSpPr>
          <p:nvPr>
            <p:ph type="title"/>
          </p:nvPr>
        </p:nvSpPr>
        <p:spPr>
          <a:xfrm>
            <a:off x="278129" y="56641"/>
            <a:ext cx="6579871" cy="1629283"/>
          </a:xfrm>
        </p:spPr>
        <p:txBody>
          <a:bodyPr>
            <a:normAutofit/>
          </a:bodyPr>
          <a:lstStyle/>
          <a:p>
            <a:r>
              <a:rPr lang="en-US" dirty="0"/>
              <a:t>Partial Ordering</a:t>
            </a:r>
          </a:p>
        </p:txBody>
      </p:sp>
      <p:sp>
        <p:nvSpPr>
          <p:cNvPr id="10" name="Rectangle 3">
            <a:extLst>
              <a:ext uri="{FF2B5EF4-FFF2-40B4-BE49-F238E27FC236}">
                <a16:creationId xmlns:a16="http://schemas.microsoft.com/office/drawing/2014/main" id="{394447E1-B638-8B52-AE9E-662A922E4E06}"/>
              </a:ext>
            </a:extLst>
          </p:cNvPr>
          <p:cNvSpPr>
            <a:spLocks noChangeArrowheads="1"/>
          </p:cNvSpPr>
          <p:nvPr/>
        </p:nvSpPr>
        <p:spPr bwMode="auto">
          <a:xfrm>
            <a:off x="343852" y="836712"/>
            <a:ext cx="8456296" cy="5663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A </a:t>
            </a:r>
            <a:r>
              <a:rPr lang="en-US" b="1" dirty="0"/>
              <a:t>partial order</a:t>
            </a:r>
            <a:r>
              <a:rPr lang="en-US" dirty="0"/>
              <a:t> is a way to organize things when:</a:t>
            </a:r>
          </a:p>
          <a:p>
            <a:pPr marL="285750" indent="-285750">
              <a:buFont typeface="Arial" panose="020B0604020202020204" pitchFamily="34" charset="0"/>
              <a:buChar char="•"/>
            </a:pPr>
            <a:r>
              <a:rPr lang="en-US" dirty="0"/>
              <a:t> </a:t>
            </a:r>
            <a:r>
              <a:rPr lang="en-US" b="1" dirty="0">
                <a:solidFill>
                  <a:srgbClr val="002060"/>
                </a:solidFill>
              </a:rPr>
              <a:t>some elements can be compared &amp; some cannot</a:t>
            </a:r>
          </a:p>
          <a:p>
            <a:pPr marL="285750" indent="-285750">
              <a:buFont typeface="Arial" panose="020B0604020202020204" pitchFamily="34" charset="0"/>
              <a:buChar char="•"/>
            </a:pPr>
            <a:r>
              <a:rPr lang="en-US" b="1" dirty="0"/>
              <a:t>JUST LIKE</a:t>
            </a:r>
          </a:p>
          <a:p>
            <a:r>
              <a:rPr lang="en-US" b="1" dirty="0">
                <a:solidFill>
                  <a:srgbClr val="CC0066"/>
                </a:solidFill>
              </a:rPr>
              <a:t>Total Order (everything comparable):</a:t>
            </a:r>
            <a:endParaRPr lang="en-US" dirty="0">
              <a:solidFill>
                <a:srgbClr val="CC0066"/>
              </a:solidFill>
            </a:endParaRPr>
          </a:p>
          <a:p>
            <a:pPr marL="285750" indent="-285750">
              <a:buFont typeface="Arial" panose="020B0604020202020204" pitchFamily="34" charset="0"/>
              <a:buChar char="•"/>
            </a:pPr>
            <a:r>
              <a:rPr lang="en-US" dirty="0"/>
              <a:t>Heights of students → 170cm &gt; 160cm </a:t>
            </a:r>
          </a:p>
          <a:p>
            <a:pPr marL="285750" indent="-285750">
              <a:buFont typeface="Arial" panose="020B0604020202020204" pitchFamily="34" charset="0"/>
              <a:buChar char="•"/>
            </a:pPr>
            <a:r>
              <a:rPr lang="en-US" dirty="0"/>
              <a:t>Numbers → 5 &gt; 3 </a:t>
            </a:r>
          </a:p>
          <a:p>
            <a:pPr marL="285750" indent="-285750">
              <a:buFont typeface="Arial" panose="020B0604020202020204" pitchFamily="34" charset="0"/>
              <a:buChar char="•"/>
            </a:pPr>
            <a:r>
              <a:rPr lang="en-US" dirty="0"/>
              <a:t>Ages → 20 &gt; 18 </a:t>
            </a:r>
          </a:p>
          <a:p>
            <a:pPr marL="285750" indent="-285750">
              <a:buFont typeface="Arial" panose="020B0604020202020204" pitchFamily="34" charset="0"/>
              <a:buChar char="•"/>
            </a:pPr>
            <a:endParaRPr lang="en-US" dirty="0">
              <a:solidFill>
                <a:srgbClr val="CC0066"/>
              </a:solidFill>
            </a:endParaRPr>
          </a:p>
          <a:p>
            <a:r>
              <a:rPr lang="en-US" b="1" dirty="0">
                <a:solidFill>
                  <a:srgbClr val="CC0066"/>
                </a:solidFill>
              </a:rPr>
              <a:t>Partial Order (not always comparable):</a:t>
            </a:r>
            <a:endParaRPr lang="en-US" dirty="0">
              <a:solidFill>
                <a:srgbClr val="CC0066"/>
              </a:solidFill>
            </a:endParaRPr>
          </a:p>
          <a:p>
            <a:pPr marL="285750" indent="-285750">
              <a:buFont typeface="Arial" panose="020B0604020202020204" pitchFamily="34" charset="0"/>
              <a:buChar char="•"/>
            </a:pPr>
            <a:r>
              <a:rPr lang="en-US" dirty="0"/>
              <a:t>Skills → Math vs English </a:t>
            </a:r>
          </a:p>
          <a:p>
            <a:pPr marL="285750" indent="-285750">
              <a:buFont typeface="Arial" panose="020B0604020202020204" pitchFamily="34" charset="0"/>
              <a:buChar char="•"/>
            </a:pPr>
            <a:r>
              <a:rPr lang="en-US" dirty="0"/>
              <a:t>Subjects difficulty → Programming vs History </a:t>
            </a:r>
          </a:p>
          <a:p>
            <a:pPr marL="285750" indent="-285750">
              <a:buFont typeface="Arial" panose="020B0604020202020204" pitchFamily="34" charset="0"/>
              <a:buChar char="•"/>
            </a:pPr>
            <a:r>
              <a:rPr lang="en-US" dirty="0"/>
              <a:t>Tasks → “Study” vs “Exercise” (no fixed order)</a:t>
            </a:r>
          </a:p>
          <a:p>
            <a:pPr marL="285750" indent="-285750">
              <a:buFont typeface="Arial" panose="020B0604020202020204" pitchFamily="34" charset="0"/>
              <a:buChar char="•"/>
            </a:pPr>
            <a:endParaRPr lang="en-US" dirty="0"/>
          </a:p>
          <a:p>
            <a:r>
              <a:rPr lang="en-US" sz="2200" dirty="0">
                <a:solidFill>
                  <a:srgbClr val="0070C0"/>
                </a:solidFill>
              </a:rPr>
              <a:t>A </a:t>
            </a:r>
            <a:r>
              <a:rPr lang="en-US" sz="2200" b="1" dirty="0">
                <a:solidFill>
                  <a:srgbClr val="0070C0"/>
                </a:solidFill>
              </a:rPr>
              <a:t>partial order</a:t>
            </a:r>
            <a:r>
              <a:rPr lang="en-US" sz="2200" dirty="0">
                <a:solidFill>
                  <a:srgbClr val="0070C0"/>
                </a:solidFill>
              </a:rPr>
              <a:t> is just a relation that follows </a:t>
            </a:r>
            <a:r>
              <a:rPr lang="en-US" sz="2200" b="1" dirty="0">
                <a:solidFill>
                  <a:srgbClr val="0070C0"/>
                </a:solidFill>
              </a:rPr>
              <a:t>3 rules</a:t>
            </a:r>
            <a:r>
              <a:rPr lang="en-US" sz="2200" dirty="0">
                <a:solidFill>
                  <a:srgbClr val="0070C0"/>
                </a:solidFill>
              </a:rPr>
              <a:t>:</a:t>
            </a:r>
          </a:p>
          <a:p>
            <a:r>
              <a:rPr lang="en-US" sz="2200" dirty="0">
                <a:solidFill>
                  <a:srgbClr val="0070C0"/>
                </a:solidFill>
              </a:rPr>
              <a:t>✔ Reflexive </a:t>
            </a:r>
          </a:p>
          <a:p>
            <a:r>
              <a:rPr lang="en-US" sz="2200" dirty="0">
                <a:solidFill>
                  <a:srgbClr val="0070C0"/>
                </a:solidFill>
              </a:rPr>
              <a:t>✔ Antisymmetric </a:t>
            </a:r>
          </a:p>
          <a:p>
            <a:r>
              <a:rPr lang="en-US" sz="2200" dirty="0">
                <a:solidFill>
                  <a:srgbClr val="0070C0"/>
                </a:solidFill>
              </a:rPr>
              <a:t>✔ Transitive </a:t>
            </a:r>
          </a:p>
          <a:p>
            <a:r>
              <a:rPr lang="en-US" sz="2200" dirty="0">
                <a:solidFill>
                  <a:srgbClr val="0070C0"/>
                </a:solidFill>
              </a:rPr>
              <a:t>If a relation has these 3 properties, we call it a </a:t>
            </a:r>
            <a:r>
              <a:rPr lang="en-US" sz="2200" b="1" dirty="0">
                <a:solidFill>
                  <a:srgbClr val="0070C0"/>
                </a:solidFill>
              </a:rPr>
              <a:t>partial ordering</a:t>
            </a:r>
            <a:endParaRPr lang="en-US" sz="2200" dirty="0">
              <a:solidFill>
                <a:srgbClr val="0070C0"/>
              </a:solidFill>
            </a:endParaRPr>
          </a:p>
          <a:p>
            <a:endParaRPr lang="en-US" dirty="0"/>
          </a:p>
        </p:txBody>
      </p:sp>
    </p:spTree>
    <p:extLst>
      <p:ext uri="{BB962C8B-B14F-4D97-AF65-F5344CB8AC3E}">
        <p14:creationId xmlns:p14="http://schemas.microsoft.com/office/powerpoint/2010/main" val="26786070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660F5-8E34-0FA4-A7EB-0C81B9661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90E6D-3671-4266-7A0D-6FDD7BD37CE8}"/>
              </a:ext>
            </a:extLst>
          </p:cNvPr>
          <p:cNvSpPr>
            <a:spLocks noGrp="1"/>
          </p:cNvSpPr>
          <p:nvPr>
            <p:ph type="title"/>
          </p:nvPr>
        </p:nvSpPr>
        <p:spPr>
          <a:xfrm>
            <a:off x="278129" y="56641"/>
            <a:ext cx="6579871" cy="1629283"/>
          </a:xfrm>
        </p:spPr>
        <p:txBody>
          <a:bodyPr>
            <a:normAutofit/>
          </a:bodyPr>
          <a:lstStyle/>
          <a:p>
            <a:r>
              <a:rPr lang="en-US" dirty="0"/>
              <a:t>Partial Ordering</a:t>
            </a:r>
          </a:p>
        </p:txBody>
      </p:sp>
      <p:sp>
        <p:nvSpPr>
          <p:cNvPr id="10" name="Rectangle 3">
            <a:extLst>
              <a:ext uri="{FF2B5EF4-FFF2-40B4-BE49-F238E27FC236}">
                <a16:creationId xmlns:a16="http://schemas.microsoft.com/office/drawing/2014/main" id="{8086DDDF-DA11-8F43-5883-3DE369399760}"/>
              </a:ext>
            </a:extLst>
          </p:cNvPr>
          <p:cNvSpPr>
            <a:spLocks noChangeArrowheads="1"/>
          </p:cNvSpPr>
          <p:nvPr/>
        </p:nvSpPr>
        <p:spPr bwMode="auto">
          <a:xfrm>
            <a:off x="343852" y="1563781"/>
            <a:ext cx="8456296"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sz="2400" b="1" dirty="0">
                <a:solidFill>
                  <a:srgbClr val="002060"/>
                </a:solidFill>
              </a:rPr>
              <a:t> Example </a:t>
            </a:r>
            <a:r>
              <a:rPr lang="en-US" sz="2400" b="1" dirty="0">
                <a:solidFill>
                  <a:srgbClr val="002060"/>
                </a:solidFill>
                <a:latin typeface="Cambria Math" pitchFamily="18" charset="0"/>
                <a:ea typeface="Cambria Math" pitchFamily="18" charset="0"/>
              </a:rPr>
              <a:t>1</a:t>
            </a:r>
            <a:r>
              <a:rPr lang="en-US" sz="2400" dirty="0">
                <a:solidFill>
                  <a:srgbClr val="002060"/>
                </a:solidFill>
              </a:rPr>
              <a:t>: Show that the “greater than or equal” relation (</a:t>
            </a:r>
            <a:r>
              <a:rPr lang="en-US" sz="2400" dirty="0">
                <a:solidFill>
                  <a:srgbClr val="002060"/>
                </a:solidFill>
                <a:latin typeface="Cambria Math"/>
                <a:ea typeface="Cambria Math"/>
              </a:rPr>
              <a:t>≥</a:t>
            </a:r>
            <a:r>
              <a:rPr lang="en-US" sz="2400" dirty="0">
                <a:solidFill>
                  <a:srgbClr val="002060"/>
                </a:solidFill>
              </a:rPr>
              <a:t>) is a partial ordering on the set of integers.</a:t>
            </a:r>
          </a:p>
          <a:p>
            <a:pPr marL="914400" lvl="1" indent="-457200">
              <a:buFont typeface="+mj-lt"/>
              <a:buAutoNum type="arabicPeriod"/>
            </a:pPr>
            <a:r>
              <a:rPr lang="en-US" sz="2400" i="1" dirty="0">
                <a:solidFill>
                  <a:srgbClr val="CC0066"/>
                </a:solidFill>
              </a:rPr>
              <a:t>Reflexivity</a:t>
            </a:r>
            <a:r>
              <a:rPr lang="en-US" sz="2400" dirty="0">
                <a:solidFill>
                  <a:srgbClr val="CC0066"/>
                </a:solidFill>
              </a:rPr>
              <a:t>:  </a:t>
            </a:r>
            <a:r>
              <a:rPr lang="en-US" sz="2400" i="1" dirty="0">
                <a:solidFill>
                  <a:srgbClr val="CC0066"/>
                </a:solidFill>
              </a:rPr>
              <a:t>a</a:t>
            </a:r>
            <a:r>
              <a:rPr lang="en-US" sz="2400" dirty="0">
                <a:solidFill>
                  <a:srgbClr val="CC0066"/>
                </a:solidFill>
              </a:rPr>
              <a:t> </a:t>
            </a:r>
            <a:r>
              <a:rPr lang="en-US" sz="2400" dirty="0">
                <a:solidFill>
                  <a:srgbClr val="CC0066"/>
                </a:solidFill>
                <a:latin typeface="Cambria Math"/>
                <a:ea typeface="Cambria Math"/>
              </a:rPr>
              <a:t>≥</a:t>
            </a:r>
            <a:r>
              <a:rPr lang="en-US" sz="2400" dirty="0">
                <a:solidFill>
                  <a:srgbClr val="CC0066"/>
                </a:solidFill>
              </a:rPr>
              <a:t> </a:t>
            </a:r>
            <a:r>
              <a:rPr lang="en-US" sz="2400" i="1" dirty="0">
                <a:solidFill>
                  <a:srgbClr val="CC0066"/>
                </a:solidFill>
              </a:rPr>
              <a:t>a</a:t>
            </a:r>
            <a:r>
              <a:rPr lang="en-US" sz="2400" dirty="0">
                <a:solidFill>
                  <a:srgbClr val="CC0066"/>
                </a:solidFill>
              </a:rPr>
              <a:t> for every integer </a:t>
            </a:r>
            <a:r>
              <a:rPr lang="en-US" sz="2400" i="1" dirty="0">
                <a:solidFill>
                  <a:srgbClr val="CC0066"/>
                </a:solidFill>
              </a:rPr>
              <a:t>a</a:t>
            </a:r>
            <a:r>
              <a:rPr lang="en-US" sz="2400" dirty="0">
                <a:solidFill>
                  <a:srgbClr val="CC0066"/>
                </a:solidFill>
              </a:rPr>
              <a:t>.</a:t>
            </a:r>
          </a:p>
          <a:p>
            <a:pPr marL="914400" lvl="1" indent="-457200">
              <a:buFont typeface="+mj-lt"/>
              <a:buAutoNum type="arabicPeriod"/>
            </a:pPr>
            <a:r>
              <a:rPr lang="en-US" sz="2400" i="1" dirty="0" err="1">
                <a:solidFill>
                  <a:srgbClr val="CC0066"/>
                </a:solidFill>
              </a:rPr>
              <a:t>Antisymmetry</a:t>
            </a:r>
            <a:r>
              <a:rPr lang="en-US" sz="2400" dirty="0">
                <a:solidFill>
                  <a:srgbClr val="CC0066"/>
                </a:solidFill>
              </a:rPr>
              <a:t>: If </a:t>
            </a:r>
            <a:r>
              <a:rPr lang="en-US" sz="2400" i="1" dirty="0">
                <a:solidFill>
                  <a:srgbClr val="CC0066"/>
                </a:solidFill>
              </a:rPr>
              <a:t>a</a:t>
            </a:r>
            <a:r>
              <a:rPr lang="en-US" sz="2400" dirty="0">
                <a:solidFill>
                  <a:srgbClr val="CC0066"/>
                </a:solidFill>
              </a:rPr>
              <a:t> </a:t>
            </a:r>
            <a:r>
              <a:rPr lang="en-US" sz="2400" dirty="0">
                <a:solidFill>
                  <a:srgbClr val="CC0066"/>
                </a:solidFill>
                <a:latin typeface="Cambria Math"/>
                <a:ea typeface="Cambria Math"/>
              </a:rPr>
              <a:t>≥</a:t>
            </a:r>
            <a:r>
              <a:rPr lang="en-US" sz="2400" dirty="0">
                <a:solidFill>
                  <a:srgbClr val="CC0066"/>
                </a:solidFill>
              </a:rPr>
              <a:t> </a:t>
            </a:r>
            <a:r>
              <a:rPr lang="en-US" sz="2400" i="1" dirty="0">
                <a:solidFill>
                  <a:srgbClr val="CC0066"/>
                </a:solidFill>
              </a:rPr>
              <a:t>b</a:t>
            </a:r>
            <a:r>
              <a:rPr lang="en-US" sz="2400" dirty="0">
                <a:solidFill>
                  <a:srgbClr val="CC0066"/>
                </a:solidFill>
              </a:rPr>
              <a:t> and </a:t>
            </a:r>
            <a:r>
              <a:rPr lang="en-US" sz="2400" i="1" dirty="0">
                <a:solidFill>
                  <a:srgbClr val="CC0066"/>
                </a:solidFill>
              </a:rPr>
              <a:t>b</a:t>
            </a:r>
            <a:r>
              <a:rPr lang="en-US" sz="2400" dirty="0">
                <a:solidFill>
                  <a:srgbClr val="CC0066"/>
                </a:solidFill>
              </a:rPr>
              <a:t> </a:t>
            </a:r>
            <a:r>
              <a:rPr lang="en-US" sz="2400" dirty="0">
                <a:solidFill>
                  <a:srgbClr val="CC0066"/>
                </a:solidFill>
                <a:latin typeface="Cambria Math"/>
                <a:ea typeface="Cambria Math"/>
              </a:rPr>
              <a:t>≥</a:t>
            </a:r>
            <a:r>
              <a:rPr lang="en-US" sz="2400" dirty="0">
                <a:solidFill>
                  <a:srgbClr val="CC0066"/>
                </a:solidFill>
              </a:rPr>
              <a:t> </a:t>
            </a:r>
            <a:r>
              <a:rPr lang="en-US" sz="2400" i="1" dirty="0">
                <a:solidFill>
                  <a:srgbClr val="CC0066"/>
                </a:solidFill>
              </a:rPr>
              <a:t>a</a:t>
            </a:r>
            <a:r>
              <a:rPr lang="en-US" sz="2400" dirty="0">
                <a:solidFill>
                  <a:srgbClr val="CC0066"/>
                </a:solidFill>
              </a:rPr>
              <a:t> , then </a:t>
            </a:r>
            <a:r>
              <a:rPr lang="en-US" sz="2400" i="1" dirty="0">
                <a:solidFill>
                  <a:srgbClr val="CC0066"/>
                </a:solidFill>
              </a:rPr>
              <a:t>a</a:t>
            </a:r>
            <a:r>
              <a:rPr lang="en-US" sz="2400" dirty="0">
                <a:solidFill>
                  <a:srgbClr val="CC0066"/>
                </a:solidFill>
              </a:rPr>
              <a:t> = </a:t>
            </a:r>
            <a:r>
              <a:rPr lang="en-US" sz="2400" i="1" dirty="0">
                <a:solidFill>
                  <a:srgbClr val="CC0066"/>
                </a:solidFill>
              </a:rPr>
              <a:t>b.</a:t>
            </a:r>
          </a:p>
          <a:p>
            <a:pPr marL="914400" lvl="1" indent="-457200">
              <a:buFont typeface="+mj-lt"/>
              <a:buAutoNum type="arabicPeriod"/>
            </a:pPr>
            <a:r>
              <a:rPr lang="en-US" sz="2400" i="1" dirty="0">
                <a:solidFill>
                  <a:srgbClr val="CC0066"/>
                </a:solidFill>
              </a:rPr>
              <a:t>Transitivity</a:t>
            </a:r>
            <a:r>
              <a:rPr lang="en-US" sz="2400" dirty="0">
                <a:solidFill>
                  <a:srgbClr val="CC0066"/>
                </a:solidFill>
              </a:rPr>
              <a:t>: If </a:t>
            </a:r>
            <a:r>
              <a:rPr lang="en-US" sz="2400" i="1" dirty="0">
                <a:solidFill>
                  <a:srgbClr val="CC0066"/>
                </a:solidFill>
              </a:rPr>
              <a:t>a</a:t>
            </a:r>
            <a:r>
              <a:rPr lang="en-US" sz="2400" dirty="0">
                <a:solidFill>
                  <a:srgbClr val="CC0066"/>
                </a:solidFill>
              </a:rPr>
              <a:t> </a:t>
            </a:r>
            <a:r>
              <a:rPr lang="en-US" sz="2400" dirty="0">
                <a:solidFill>
                  <a:srgbClr val="CC0066"/>
                </a:solidFill>
                <a:latin typeface="Cambria Math"/>
                <a:ea typeface="Cambria Math"/>
              </a:rPr>
              <a:t>≥</a:t>
            </a:r>
            <a:r>
              <a:rPr lang="en-US" sz="2400" dirty="0">
                <a:solidFill>
                  <a:srgbClr val="CC0066"/>
                </a:solidFill>
              </a:rPr>
              <a:t> </a:t>
            </a:r>
            <a:r>
              <a:rPr lang="en-US" sz="2400" i="1" dirty="0">
                <a:solidFill>
                  <a:srgbClr val="CC0066"/>
                </a:solidFill>
              </a:rPr>
              <a:t>b</a:t>
            </a:r>
            <a:r>
              <a:rPr lang="en-US" sz="2400" dirty="0">
                <a:solidFill>
                  <a:srgbClr val="CC0066"/>
                </a:solidFill>
              </a:rPr>
              <a:t> and </a:t>
            </a:r>
            <a:r>
              <a:rPr lang="en-US" sz="2400" i="1" dirty="0">
                <a:solidFill>
                  <a:srgbClr val="CC0066"/>
                </a:solidFill>
              </a:rPr>
              <a:t>b</a:t>
            </a:r>
            <a:r>
              <a:rPr lang="en-US" sz="2400" dirty="0">
                <a:solidFill>
                  <a:srgbClr val="CC0066"/>
                </a:solidFill>
              </a:rPr>
              <a:t> </a:t>
            </a:r>
            <a:r>
              <a:rPr lang="en-US" sz="2400" dirty="0">
                <a:solidFill>
                  <a:srgbClr val="CC0066"/>
                </a:solidFill>
                <a:latin typeface="Cambria Math"/>
                <a:ea typeface="Cambria Math"/>
              </a:rPr>
              <a:t>≥</a:t>
            </a:r>
            <a:r>
              <a:rPr lang="en-US" sz="2400" dirty="0">
                <a:solidFill>
                  <a:srgbClr val="CC0066"/>
                </a:solidFill>
              </a:rPr>
              <a:t> </a:t>
            </a:r>
            <a:r>
              <a:rPr lang="en-US" sz="2400" i="1" dirty="0">
                <a:solidFill>
                  <a:srgbClr val="CC0066"/>
                </a:solidFill>
              </a:rPr>
              <a:t>c</a:t>
            </a:r>
            <a:r>
              <a:rPr lang="en-US" sz="2400" dirty="0">
                <a:solidFill>
                  <a:srgbClr val="CC0066"/>
                </a:solidFill>
              </a:rPr>
              <a:t> , then </a:t>
            </a:r>
            <a:r>
              <a:rPr lang="en-US" sz="2400" i="1" dirty="0">
                <a:solidFill>
                  <a:srgbClr val="CC0066"/>
                </a:solidFill>
              </a:rPr>
              <a:t>a</a:t>
            </a:r>
            <a:r>
              <a:rPr lang="en-US" sz="2400" dirty="0">
                <a:solidFill>
                  <a:srgbClr val="CC0066"/>
                </a:solidFill>
              </a:rPr>
              <a:t> </a:t>
            </a:r>
            <a:r>
              <a:rPr lang="en-US" sz="2400" dirty="0">
                <a:solidFill>
                  <a:srgbClr val="CC0066"/>
                </a:solidFill>
                <a:latin typeface="Cambria Math"/>
                <a:ea typeface="Cambria Math"/>
              </a:rPr>
              <a:t>≥</a:t>
            </a:r>
            <a:r>
              <a:rPr lang="en-US" sz="2400" dirty="0">
                <a:solidFill>
                  <a:srgbClr val="CC0066"/>
                </a:solidFill>
              </a:rPr>
              <a:t> </a:t>
            </a:r>
            <a:r>
              <a:rPr lang="en-US" sz="2400" i="1" dirty="0">
                <a:solidFill>
                  <a:srgbClr val="CC0066"/>
                </a:solidFill>
              </a:rPr>
              <a:t>c.</a:t>
            </a:r>
          </a:p>
          <a:p>
            <a:pPr marL="285750" indent="-285750">
              <a:buFont typeface="Arial" panose="020B0604020202020204" pitchFamily="34" charset="0"/>
              <a:buChar char="•"/>
            </a:pPr>
            <a:endParaRPr lang="en-US" dirty="0"/>
          </a:p>
          <a:p>
            <a:pPr lvl="1"/>
            <a:endParaRPr lang="en-US" dirty="0"/>
          </a:p>
          <a:p>
            <a:endParaRPr lang="en-US" sz="2400" i="1" dirty="0">
              <a:solidFill>
                <a:srgbClr val="CC0066"/>
              </a:solidFill>
            </a:endParaRPr>
          </a:p>
          <a:p>
            <a:pPr lvl="1"/>
            <a:endParaRPr lang="en-US" sz="2400" i="1" dirty="0"/>
          </a:p>
        </p:txBody>
      </p:sp>
    </p:spTree>
    <p:extLst>
      <p:ext uri="{BB962C8B-B14F-4D97-AF65-F5344CB8AC3E}">
        <p14:creationId xmlns:p14="http://schemas.microsoft.com/office/powerpoint/2010/main" val="10891128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3FED3-80DA-C06B-0F80-FC5C7D650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AA9DB-0EF6-DF8C-A255-43A0CD0D5B5C}"/>
              </a:ext>
            </a:extLst>
          </p:cNvPr>
          <p:cNvSpPr>
            <a:spLocks noGrp="1"/>
          </p:cNvSpPr>
          <p:nvPr>
            <p:ph type="title"/>
          </p:nvPr>
        </p:nvSpPr>
        <p:spPr>
          <a:xfrm>
            <a:off x="278129" y="56641"/>
            <a:ext cx="6579871" cy="1629283"/>
          </a:xfrm>
        </p:spPr>
        <p:txBody>
          <a:bodyPr>
            <a:normAutofit/>
          </a:bodyPr>
          <a:lstStyle/>
          <a:p>
            <a:r>
              <a:rPr lang="en-US" dirty="0"/>
              <a:t>Partial Ordering</a:t>
            </a:r>
          </a:p>
        </p:txBody>
      </p:sp>
      <mc:AlternateContent xmlns:mc="http://schemas.openxmlformats.org/markup-compatibility/2006" xmlns:a14="http://schemas.microsoft.com/office/drawing/2010/main">
        <mc:Choice Requires="a14">
          <p:sp>
            <p:nvSpPr>
              <p:cNvPr id="10" name="Rectangle 3">
                <a:extLst>
                  <a:ext uri="{FF2B5EF4-FFF2-40B4-BE49-F238E27FC236}">
                    <a16:creationId xmlns:a16="http://schemas.microsoft.com/office/drawing/2014/main" id="{A6ACE0FE-75AD-A5B6-C5D5-E7D3772F7747}"/>
                  </a:ext>
                </a:extLst>
              </p:cNvPr>
              <p:cNvSpPr>
                <a:spLocks noChangeArrowheads="1"/>
              </p:cNvSpPr>
              <p:nvPr/>
            </p:nvSpPr>
            <p:spPr bwMode="auto">
              <a:xfrm>
                <a:off x="278129" y="623500"/>
                <a:ext cx="8456296" cy="618630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en-US" b="1" dirty="0">
                    <a:solidFill>
                      <a:srgbClr val="990099"/>
                    </a:solidFill>
                  </a:rPr>
                  <a:t>Reflexive-“Self-related”</a:t>
                </a:r>
              </a:p>
              <a:p>
                <a:r>
                  <a:rPr lang="en-US" b="1" dirty="0">
                    <a:solidFill>
                      <a:srgbClr val="00B050"/>
                    </a:solidFill>
                  </a:rPr>
                  <a:t>Numbers: </a:t>
                </a:r>
              </a:p>
              <a:p>
                <a:pPr marL="742950" lvl="1" indent="-285750">
                  <a:buFont typeface="Arial" panose="020B0604020202020204" pitchFamily="34" charset="0"/>
                  <a:buChar char="•"/>
                </a:pPr>
                <a14:m>
                  <m:oMath xmlns:m="http://schemas.openxmlformats.org/officeDocument/2006/math">
                    <m:r>
                      <a:rPr lang="en-US">
                        <a:latin typeface="Cambria Math" panose="02040503050406030204" pitchFamily="18" charset="0"/>
                      </a:rPr>
                      <m:t>8</m:t>
                    </m:r>
                    <m:r>
                      <a:rPr lang="en-US">
                        <a:latin typeface="Cambria Math" panose="02040503050406030204" pitchFamily="18" charset="0"/>
                      </a:rPr>
                      <m:t>≥</m:t>
                    </m:r>
                    <m:r>
                      <a:rPr lang="en-US">
                        <a:latin typeface="Cambria Math" panose="02040503050406030204" pitchFamily="18" charset="0"/>
                      </a:rPr>
                      <m:t>8</m:t>
                    </m:r>
                  </m:oMath>
                </a14:m>
                <a:r>
                  <a:rPr lang="en-US" dirty="0"/>
                  <a:t>✔ </a:t>
                </a:r>
              </a:p>
              <a:p>
                <a:pPr marL="742950" lvl="1" indent="-285750">
                  <a:buFont typeface="Arial" panose="020B0604020202020204" pitchFamily="34" charset="0"/>
                  <a:buChar char="•"/>
                </a:pPr>
                <a14:m>
                  <m:oMath xmlns:m="http://schemas.openxmlformats.org/officeDocument/2006/math">
                    <m:r>
                      <a:rPr lang="en-US">
                        <a:latin typeface="Cambria Math" panose="02040503050406030204" pitchFamily="18" charset="0"/>
                      </a:rPr>
                      <m:t>−</m:t>
                    </m:r>
                    <m:r>
                      <a:rPr lang="en-US">
                        <a:latin typeface="Cambria Math" panose="02040503050406030204" pitchFamily="18" charset="0"/>
                      </a:rPr>
                      <m:t>3</m:t>
                    </m:r>
                    <m:r>
                      <a:rPr lang="en-US">
                        <a:latin typeface="Cambria Math" panose="02040503050406030204" pitchFamily="18" charset="0"/>
                      </a:rPr>
                      <m:t>≤−</m:t>
                    </m:r>
                    <m:r>
                      <a:rPr lang="en-US">
                        <a:latin typeface="Cambria Math" panose="02040503050406030204" pitchFamily="18" charset="0"/>
                      </a:rPr>
                      <m:t>3</m:t>
                    </m:r>
                  </m:oMath>
                </a14:m>
                <a:r>
                  <a:rPr lang="en-US" dirty="0"/>
                  <a:t>✔</a:t>
                </a:r>
              </a:p>
              <a:p>
                <a:r>
                  <a:rPr lang="en-US" b="1" dirty="0">
                    <a:solidFill>
                      <a:srgbClr val="00B050"/>
                    </a:solidFill>
                  </a:rPr>
                  <a:t>Sets:</a:t>
                </a:r>
              </a:p>
              <a:p>
                <a:pPr marL="742950" lvl="1" indent="-285750">
                  <a:buFont typeface="Arial" panose="020B0604020202020204" pitchFamily="34" charset="0"/>
                  <a:buChar char="•"/>
                </a:pPr>
                <a14:m>
                  <m:oMath xmlns:m="http://schemas.openxmlformats.org/officeDocument/2006/math">
                    <m:d>
                      <m:dPr>
                        <m:begChr m:val="{"/>
                        <m:endChr m:val="}"/>
                        <m:ctrlPr>
                          <a:rPr lang="ar-AE" i="1">
                            <a:latin typeface="Cambria Math" panose="02040503050406030204" pitchFamily="18" charset="0"/>
                          </a:rPr>
                        </m:ctrlPr>
                      </m:dPr>
                      <m:e>
                        <m:r>
                          <a:rPr lang="ar-AE" i="1">
                            <a:latin typeface="Cambria Math" panose="02040503050406030204" pitchFamily="18" charset="0"/>
                          </a:rPr>
                          <m:t>𝑎</m:t>
                        </m:r>
                      </m:e>
                    </m:d>
                    <m:r>
                      <a:rPr lang="ar-AE">
                        <a:latin typeface="Cambria Math" panose="02040503050406030204" pitchFamily="18" charset="0"/>
                      </a:rPr>
                      <m:t>⊆</m:t>
                    </m:r>
                    <m:d>
                      <m:dPr>
                        <m:begChr m:val="{"/>
                        <m:endChr m:val="}"/>
                        <m:ctrlPr>
                          <a:rPr lang="ar-AE" i="1">
                            <a:latin typeface="Cambria Math" panose="02040503050406030204" pitchFamily="18" charset="0"/>
                          </a:rPr>
                        </m:ctrlPr>
                      </m:dPr>
                      <m:e>
                        <m:r>
                          <a:rPr lang="ar-AE" i="1">
                            <a:latin typeface="Cambria Math" panose="02040503050406030204" pitchFamily="18" charset="0"/>
                          </a:rPr>
                          <m:t>𝑎</m:t>
                        </m:r>
                      </m:e>
                    </m:d>
                  </m:oMath>
                </a14:m>
                <a:r>
                  <a:rPr lang="ar-AE" dirty="0"/>
                  <a:t>✔</a:t>
                </a:r>
                <a:endParaRPr lang="en-US" dirty="0"/>
              </a:p>
              <a:p>
                <a:endParaRPr lang="en-US" dirty="0"/>
              </a:p>
              <a:p>
                <a:r>
                  <a:rPr lang="en-US" b="1" dirty="0">
                    <a:solidFill>
                      <a:srgbClr val="990099"/>
                    </a:solidFill>
                  </a:rPr>
                  <a:t>2. Antisymmetric-“No two different elements dominate each other”</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𝑎𝑅𝑏</m:t>
                      </m:r>
                      <m:r>
                        <m:rPr>
                          <m:nor/>
                        </m:rPr>
                        <a:rPr lang="en-US" i="1"/>
                        <m:t> </m:t>
                      </m:r>
                      <m:r>
                        <m:rPr>
                          <m:nor/>
                        </m:rPr>
                        <a:rPr lang="en-US" i="1"/>
                        <m:t>and</m:t>
                      </m:r>
                      <m:r>
                        <m:rPr>
                          <m:nor/>
                        </m:rPr>
                        <a:rPr lang="en-US" i="1"/>
                        <m:t> </m:t>
                      </m:r>
                      <m:r>
                        <a:rPr lang="en-US" i="1">
                          <a:latin typeface="Cambria Math" panose="02040503050406030204" pitchFamily="18" charset="0"/>
                        </a:rPr>
                        <m:t>𝑏𝑅𝑎</m:t>
                      </m:r>
                      <m:r>
                        <a:rPr lang="en-US">
                          <a:latin typeface="Cambria Math" panose="02040503050406030204" pitchFamily="18" charset="0"/>
                        </a:rPr>
                        <m:t>⇒</m:t>
                      </m:r>
                      <m:r>
                        <a:rPr lang="en-US" i="1">
                          <a:latin typeface="Cambria Math" panose="02040503050406030204" pitchFamily="18" charset="0"/>
                        </a:rPr>
                        <m:t>𝑎</m:t>
                      </m:r>
                      <m:r>
                        <a:rPr lang="en-US">
                          <a:latin typeface="Cambria Math" panose="02040503050406030204" pitchFamily="18" charset="0"/>
                        </a:rPr>
                        <m:t>=</m:t>
                      </m:r>
                      <m:r>
                        <a:rPr lang="en-US" i="1" smtClean="0">
                          <a:latin typeface="Cambria Math" panose="02040503050406030204" pitchFamily="18" charset="0"/>
                        </a:rPr>
                        <m:t>𝑏</m:t>
                      </m:r>
                    </m:oMath>
                  </m:oMathPara>
                </a14:m>
                <a:endParaRPr lang="ar-AE" dirty="0"/>
              </a:p>
              <a:p>
                <a:r>
                  <a:rPr lang="en-US" b="1" dirty="0">
                    <a:solidFill>
                      <a:srgbClr val="00B050"/>
                    </a:solidFill>
                  </a:rPr>
                  <a:t>Numbers</a:t>
                </a:r>
              </a:p>
              <a:p>
                <a:pPr marL="285750" indent="-285750">
                  <a:buFont typeface="Arial" panose="020B0604020202020204" pitchFamily="34" charset="0"/>
                  <a:buChar char="•"/>
                </a:pPr>
                <a14:m>
                  <m:oMath xmlns:m="http://schemas.openxmlformats.org/officeDocument/2006/math">
                    <m:r>
                      <a:rPr lang="en-US">
                        <a:latin typeface="Cambria Math" panose="02040503050406030204" pitchFamily="18" charset="0"/>
                      </a:rPr>
                      <m:t>9</m:t>
                    </m:r>
                    <m:r>
                      <a:rPr lang="en-US">
                        <a:latin typeface="Cambria Math" panose="02040503050406030204" pitchFamily="18" charset="0"/>
                      </a:rPr>
                      <m:t>≥</m:t>
                    </m:r>
                    <m:r>
                      <a:rPr lang="en-US">
                        <a:latin typeface="Cambria Math" panose="02040503050406030204" pitchFamily="18" charset="0"/>
                      </a:rPr>
                      <m:t>4</m:t>
                    </m:r>
                  </m:oMath>
                </a14:m>
                <a:r>
                  <a:rPr lang="en-US" dirty="0"/>
                  <a:t>✔ but </a:t>
                </a:r>
                <a14:m>
                  <m:oMath xmlns:m="http://schemas.openxmlformats.org/officeDocument/2006/math">
                    <m:r>
                      <a:rPr lang="en-US">
                        <a:latin typeface="Cambria Math" panose="02040503050406030204" pitchFamily="18" charset="0"/>
                      </a:rPr>
                      <m:t>4</m:t>
                    </m:r>
                    <m:r>
                      <a:rPr lang="en-US">
                        <a:latin typeface="Cambria Math" panose="02040503050406030204" pitchFamily="18" charset="0"/>
                      </a:rPr>
                      <m:t>≥</m:t>
                    </m:r>
                    <m:r>
                      <a:rPr lang="en-US">
                        <a:latin typeface="Cambria Math" panose="02040503050406030204" pitchFamily="18" charset="0"/>
                      </a:rPr>
                      <m:t>9</m:t>
                    </m:r>
                  </m:oMath>
                </a14:m>
                <a:r>
                  <a:rPr lang="en-US" dirty="0"/>
                  <a:t>❌ Not both → OK </a:t>
                </a:r>
              </a:p>
              <a:p>
                <a:pPr marL="285750" indent="-285750">
                  <a:buFont typeface="Arial" panose="020B0604020202020204" pitchFamily="34" charset="0"/>
                  <a:buChar char="•"/>
                </a:pPr>
                <a14:m>
                  <m:oMath xmlns:m="http://schemas.openxmlformats.org/officeDocument/2006/math">
                    <m:r>
                      <a:rPr lang="en-US">
                        <a:latin typeface="Cambria Math" panose="02040503050406030204" pitchFamily="18" charset="0"/>
                      </a:rPr>
                      <m:t>6</m:t>
                    </m:r>
                    <m:r>
                      <a:rPr lang="en-US">
                        <a:latin typeface="Cambria Math" panose="02040503050406030204" pitchFamily="18" charset="0"/>
                      </a:rPr>
                      <m:t>≥</m:t>
                    </m:r>
                    <m:r>
                      <a:rPr lang="en-US">
                        <a:latin typeface="Cambria Math" panose="02040503050406030204" pitchFamily="18" charset="0"/>
                      </a:rPr>
                      <m:t>6</m:t>
                    </m:r>
                  </m:oMath>
                </a14:m>
                <a:r>
                  <a:rPr lang="en-US" dirty="0"/>
                  <a:t>, </a:t>
                </a:r>
                <a14:m>
                  <m:oMath xmlns:m="http://schemas.openxmlformats.org/officeDocument/2006/math">
                    <m:r>
                      <a:rPr lang="en-US">
                        <a:latin typeface="Cambria Math" panose="02040503050406030204" pitchFamily="18" charset="0"/>
                      </a:rPr>
                      <m:t>6</m:t>
                    </m:r>
                    <m:r>
                      <a:rPr lang="en-US">
                        <a:latin typeface="Cambria Math" panose="02040503050406030204" pitchFamily="18" charset="0"/>
                      </a:rPr>
                      <m:t>≥</m:t>
                    </m:r>
                    <m:r>
                      <a:rPr lang="en-US">
                        <a:latin typeface="Cambria Math" panose="02040503050406030204" pitchFamily="18" charset="0"/>
                      </a:rPr>
                      <m:t>6</m:t>
                    </m:r>
                  </m:oMath>
                </a14:m>
                <a:r>
                  <a:rPr lang="en-US" dirty="0"/>
                  <a:t>✔  as both equal</a:t>
                </a:r>
              </a:p>
              <a:p>
                <a:r>
                  <a:rPr lang="en-US" b="1" dirty="0">
                    <a:solidFill>
                      <a:srgbClr val="00B050"/>
                    </a:solidFill>
                  </a:rPr>
                  <a:t>Subsets</a:t>
                </a:r>
              </a:p>
              <a:p>
                <a:pPr marL="285750" indent="-285750">
                  <a:buFont typeface="Arial" panose="020B0604020202020204" pitchFamily="34" charset="0"/>
                  <a:buChar char="•"/>
                </a:pPr>
                <a14:m>
                  <m:oMath xmlns:m="http://schemas.openxmlformats.org/officeDocument/2006/math">
                    <m:d>
                      <m:dPr>
                        <m:begChr m:val="{"/>
                        <m:endChr m:val="}"/>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2</m:t>
                        </m:r>
                      </m:e>
                    </m:d>
                  </m:oMath>
                </a14:m>
                <a:r>
                  <a:rPr lang="ar-AE" dirty="0"/>
                  <a:t>✔ </a:t>
                </a:r>
              </a:p>
              <a:p>
                <a:pPr marL="285750" indent="-285750">
                  <a:buFont typeface="Arial" panose="020B0604020202020204" pitchFamily="34" charset="0"/>
                  <a:buChar char="•"/>
                </a:pPr>
                <a14:m>
                  <m:oMath xmlns:m="http://schemas.openxmlformats.org/officeDocument/2006/math">
                    <m:d>
                      <m:dPr>
                        <m:begChr m:val="{"/>
                        <m:endChr m:val="}"/>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2</m:t>
                        </m:r>
                      </m:e>
                    </m:d>
                    <m:r>
                      <a:rPr lang="ar-AE">
                        <a:latin typeface="Cambria Math" panose="02040503050406030204" pitchFamily="18" charset="0"/>
                      </a:rPr>
                      <m:t>⊆</m:t>
                    </m:r>
                    <m:d>
                      <m:dPr>
                        <m:begChr m:val="{"/>
                        <m:endChr m:val="}"/>
                        <m:ctrlPr>
                          <a:rPr lang="ar-AE" i="1">
                            <a:latin typeface="Cambria Math" panose="02040503050406030204" pitchFamily="18" charset="0"/>
                          </a:rPr>
                        </m:ctrlPr>
                      </m:dPr>
                      <m:e>
                        <m:r>
                          <a:rPr lang="ar-AE">
                            <a:latin typeface="Cambria Math" panose="02040503050406030204" pitchFamily="18" charset="0"/>
                          </a:rPr>
                          <m:t>1</m:t>
                        </m:r>
                      </m:e>
                    </m:d>
                  </m:oMath>
                </a14:m>
                <a:r>
                  <a:rPr lang="en-US" dirty="0"/>
                  <a:t>❌  Not both → OK</a:t>
                </a:r>
              </a:p>
              <a:p>
                <a:pPr marL="28575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oMath>
                </a14:m>
                <a:r>
                  <a:rPr lang="en-US" dirty="0"/>
                  <a:t>and </a:t>
                </a:r>
                <a14:m>
                  <m:oMath xmlns:m="http://schemas.openxmlformats.org/officeDocument/2006/math">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𝐴</m:t>
                    </m:r>
                    <m:r>
                      <a:rPr lang="en-US" b="0" i="0" smtClean="0">
                        <a:latin typeface="Cambria Math" panose="02040503050406030204" pitchFamily="18" charset="0"/>
                      </a:rPr>
                      <m:t> </m:t>
                    </m:r>
                  </m:oMath>
                </a14:m>
                <a:r>
                  <a:rPr lang="en-US" dirty="0"/>
                  <a:t>then </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oMath>
                </a14:m>
                <a:r>
                  <a:rPr lang="en-US" dirty="0"/>
                  <a:t> ✔ equal</a:t>
                </a:r>
              </a:p>
              <a:p>
                <a:pPr marL="285750" indent="-285750">
                  <a:buFont typeface="Arial" panose="020B0604020202020204" pitchFamily="34" charset="0"/>
                  <a:buChar char="•"/>
                </a:pPr>
                <a:endParaRPr lang="en-US" dirty="0"/>
              </a:p>
              <a:p>
                <a:r>
                  <a:rPr lang="en-US" b="1" dirty="0">
                    <a:solidFill>
                      <a:srgbClr val="990099"/>
                    </a:solidFill>
                  </a:rPr>
                  <a:t>3. Transitive — “Chain works” </a:t>
                </a:r>
                <a14:m>
                  <m:oMath xmlns:m="http://schemas.openxmlformats.org/officeDocument/2006/math">
                    <m:r>
                      <a:rPr lang="en-US" i="1">
                        <a:latin typeface="Cambria Math" panose="02040503050406030204" pitchFamily="18" charset="0"/>
                      </a:rPr>
                      <m:t>𝑎𝑅𝑏</m:t>
                    </m:r>
                    <m:r>
                      <m:rPr>
                        <m:nor/>
                      </m:rPr>
                      <a:rPr lang="en-US" i="1"/>
                      <m:t> </m:t>
                    </m:r>
                    <m:r>
                      <m:rPr>
                        <m:nor/>
                      </m:rPr>
                      <a:rPr lang="en-US" i="1"/>
                      <m:t>and</m:t>
                    </m:r>
                    <m:r>
                      <m:rPr>
                        <m:nor/>
                      </m:rPr>
                      <a:rPr lang="en-US" i="1"/>
                      <m:t> </m:t>
                    </m:r>
                    <m:r>
                      <a:rPr lang="en-US" i="1">
                        <a:latin typeface="Cambria Math" panose="02040503050406030204" pitchFamily="18" charset="0"/>
                      </a:rPr>
                      <m:t>𝑏𝑅𝑐</m:t>
                    </m:r>
                    <m:r>
                      <a:rPr lang="en-US">
                        <a:latin typeface="Cambria Math" panose="02040503050406030204" pitchFamily="18" charset="0"/>
                      </a:rPr>
                      <m:t>⇒</m:t>
                    </m:r>
                    <m:r>
                      <a:rPr lang="en-US" i="1">
                        <a:latin typeface="Cambria Math" panose="02040503050406030204" pitchFamily="18" charset="0"/>
                      </a:rPr>
                      <m:t>𝑎𝑅𝑐</m:t>
                    </m:r>
                  </m:oMath>
                </a14:m>
                <a:endParaRPr lang="en-US" b="0" dirty="0"/>
              </a:p>
              <a:p>
                <a:r>
                  <a:rPr lang="en-US" b="1" dirty="0">
                    <a:solidFill>
                      <a:srgbClr val="00B050"/>
                    </a:solidFill>
                  </a:rPr>
                  <a:t>Numbers</a:t>
                </a:r>
              </a:p>
              <a:p>
                <a:pPr marL="285750" indent="-285750">
                  <a:buFont typeface="Arial" panose="020B0604020202020204" pitchFamily="34" charset="0"/>
                  <a:buChar char="•"/>
                </a:pPr>
                <a14:m>
                  <m:oMath xmlns:m="http://schemas.openxmlformats.org/officeDocument/2006/math">
                    <m:r>
                      <a:rPr lang="en-US">
                        <a:latin typeface="Cambria Math" panose="02040503050406030204" pitchFamily="18" charset="0"/>
                      </a:rPr>
                      <m:t>15</m:t>
                    </m:r>
                    <m:r>
                      <a:rPr lang="en-US">
                        <a:latin typeface="Cambria Math" panose="02040503050406030204" pitchFamily="18" charset="0"/>
                      </a:rPr>
                      <m:t>&gt;</m:t>
                    </m:r>
                    <m:r>
                      <a:rPr lang="en-US">
                        <a:latin typeface="Cambria Math" panose="02040503050406030204" pitchFamily="18" charset="0"/>
                      </a:rPr>
                      <m:t>10</m:t>
                    </m:r>
                  </m:oMath>
                </a14:m>
                <a:r>
                  <a:rPr lang="en-US" dirty="0"/>
                  <a:t>, </a:t>
                </a:r>
                <a14:m>
                  <m:oMath xmlns:m="http://schemas.openxmlformats.org/officeDocument/2006/math">
                    <m:r>
                      <a:rPr lang="en-US">
                        <a:latin typeface="Cambria Math" panose="02040503050406030204" pitchFamily="18" charset="0"/>
                      </a:rPr>
                      <m:t>10</m:t>
                    </m:r>
                    <m:r>
                      <a:rPr lang="en-US">
                        <a:latin typeface="Cambria Math" panose="02040503050406030204" pitchFamily="18" charset="0"/>
                      </a:rPr>
                      <m:t>&gt;</m:t>
                    </m:r>
                    <m:r>
                      <a:rPr lang="en-US">
                        <a:latin typeface="Cambria Math" panose="02040503050406030204" pitchFamily="18" charset="0"/>
                      </a:rPr>
                      <m:t>5</m:t>
                    </m:r>
                  </m:oMath>
                </a14:m>
                <a:br>
                  <a:rPr lang="en-US" dirty="0"/>
                </a:br>
                <a:r>
                  <a:rPr lang="en-US" dirty="0"/>
                  <a:t>so, </a:t>
                </a:r>
                <a14:m>
                  <m:oMath xmlns:m="http://schemas.openxmlformats.org/officeDocument/2006/math">
                    <m:r>
                      <a:rPr lang="en-US">
                        <a:latin typeface="Cambria Math" panose="02040503050406030204" pitchFamily="18" charset="0"/>
                      </a:rPr>
                      <m:t>15</m:t>
                    </m:r>
                    <m:r>
                      <a:rPr lang="en-US">
                        <a:latin typeface="Cambria Math" panose="02040503050406030204" pitchFamily="18" charset="0"/>
                      </a:rPr>
                      <m:t>&gt;</m:t>
                    </m:r>
                    <m:r>
                      <a:rPr lang="en-US">
                        <a:latin typeface="Cambria Math" panose="02040503050406030204" pitchFamily="18" charset="0"/>
                      </a:rPr>
                      <m:t>5</m:t>
                    </m:r>
                  </m:oMath>
                </a14:m>
                <a:r>
                  <a:rPr lang="en-US" dirty="0"/>
                  <a:t>✔</a:t>
                </a:r>
              </a:p>
              <a:p>
                <a:pPr marL="285750" indent="-285750">
                  <a:buFont typeface="Arial" panose="020B0604020202020204" pitchFamily="34" charset="0"/>
                  <a:buChar char="•"/>
                </a:pPr>
                <a:endParaRPr lang="en-US" dirty="0"/>
              </a:p>
            </p:txBody>
          </p:sp>
        </mc:Choice>
        <mc:Fallback xmlns="">
          <p:sp>
            <p:nvSpPr>
              <p:cNvPr id="10" name="Rectangle 3">
                <a:extLst>
                  <a:ext uri="{FF2B5EF4-FFF2-40B4-BE49-F238E27FC236}">
                    <a16:creationId xmlns:a16="http://schemas.microsoft.com/office/drawing/2014/main" id="{A6ACE0FE-75AD-A5B6-C5D5-E7D3772F7747}"/>
                  </a:ext>
                </a:extLst>
              </p:cNvPr>
              <p:cNvSpPr>
                <a:spLocks noRot="1" noChangeAspect="1" noMove="1" noResize="1" noEditPoints="1" noAdjustHandles="1" noChangeArrowheads="1" noChangeShapeType="1" noTextEdit="1"/>
              </p:cNvSpPr>
              <p:nvPr/>
            </p:nvSpPr>
            <p:spPr bwMode="auto">
              <a:xfrm>
                <a:off x="278129" y="623500"/>
                <a:ext cx="8456296" cy="6186309"/>
              </a:xfrm>
              <a:prstGeom prst="rect">
                <a:avLst/>
              </a:prstGeom>
              <a:blipFill>
                <a:blip r:embed="rId2"/>
                <a:stretch>
                  <a:fillRect l="-649" t="-9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5CB1B61-A573-D53F-EEE9-2871B8CA4D89}"/>
                  </a:ext>
                </a:extLst>
              </p:cNvPr>
              <p:cNvSpPr txBox="1"/>
              <p:nvPr/>
            </p:nvSpPr>
            <p:spPr>
              <a:xfrm>
                <a:off x="2667000" y="5638800"/>
                <a:ext cx="4591050" cy="923330"/>
              </a:xfrm>
              <a:prstGeom prst="rect">
                <a:avLst/>
              </a:prstGeom>
              <a:noFill/>
            </p:spPr>
            <p:txBody>
              <a:bodyPr wrap="square">
                <a:spAutoFit/>
              </a:bodyPr>
              <a:lstStyle/>
              <a:p>
                <a:pPr>
                  <a:buNone/>
                </a:pPr>
                <a:r>
                  <a:rPr lang="en-US" b="1" dirty="0">
                    <a:solidFill>
                      <a:srgbClr val="00B050"/>
                    </a:solidFill>
                  </a:rPr>
                  <a:t>Subsets</a:t>
                </a:r>
              </a:p>
              <a:p>
                <a:pPr>
                  <a:buFont typeface="Arial" panose="020B0604020202020204" pitchFamily="34" charset="0"/>
                  <a:buChar char="•"/>
                </a:pPr>
                <a14:m>
                  <m:oMath xmlns:m="http://schemas.openxmlformats.org/officeDocument/2006/math">
                    <m:d>
                      <m:dPr>
                        <m:begChr m:val="{"/>
                        <m:endChr m:val="}"/>
                        <m:ctrlPr>
                          <a:rPr lang="ar-AE" i="1">
                            <a:latin typeface="Cambria Math" panose="02040503050406030204" pitchFamily="18" charset="0"/>
                          </a:rPr>
                        </m:ctrlPr>
                      </m:dPr>
                      <m:e>
                        <m:r>
                          <a:rPr lang="ar-AE" i="1">
                            <a:latin typeface="Cambria Math" panose="02040503050406030204" pitchFamily="18" charset="0"/>
                          </a:rPr>
                          <m:t>𝑎</m:t>
                        </m:r>
                      </m:e>
                    </m:d>
                    <m:r>
                      <a:rPr lang="ar-AE" i="0">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1">
                            <a:latin typeface="Cambria Math" panose="02040503050406030204" pitchFamily="18" charset="0"/>
                          </a:rPr>
                          <m:t>𝑎</m:t>
                        </m:r>
                      </m:e>
                      <m:e>
                        <m:r>
                          <a:rPr lang="ar-AE" i="1">
                            <a:latin typeface="Cambria Math" panose="02040503050406030204" pitchFamily="18" charset="0"/>
                          </a:rPr>
                          <m:t>𝑏</m:t>
                        </m:r>
                      </m:e>
                    </m:d>
                    <m:r>
                      <a:rPr lang="ar-AE" i="0">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1">
                            <a:latin typeface="Cambria Math" panose="02040503050406030204" pitchFamily="18" charset="0"/>
                          </a:rPr>
                          <m:t>𝑎</m:t>
                        </m:r>
                      </m:e>
                      <m:e>
                        <m:r>
                          <a:rPr lang="ar-AE" i="1">
                            <a:latin typeface="Cambria Math" panose="02040503050406030204" pitchFamily="18" charset="0"/>
                          </a:rPr>
                          <m:t>𝑏</m:t>
                        </m:r>
                      </m:e>
                      <m:e>
                        <m:r>
                          <a:rPr lang="ar-AE" i="1">
                            <a:latin typeface="Cambria Math" panose="02040503050406030204" pitchFamily="18" charset="0"/>
                          </a:rPr>
                          <m:t>𝑐</m:t>
                        </m:r>
                      </m:e>
                    </m:d>
                  </m:oMath>
                </a14:m>
                <a:br>
                  <a:rPr lang="ar-AE" dirty="0"/>
                </a:br>
                <a:r>
                  <a:rPr lang="en-US" dirty="0"/>
                  <a:t>so, </a:t>
                </a:r>
                <a14:m>
                  <m:oMath xmlns:m="http://schemas.openxmlformats.org/officeDocument/2006/math">
                    <m:d>
                      <m:dPr>
                        <m:begChr m:val="{"/>
                        <m:endChr m:val="}"/>
                        <m:ctrlPr>
                          <a:rPr lang="ar-AE" i="1">
                            <a:latin typeface="Cambria Math" panose="02040503050406030204" pitchFamily="18" charset="0"/>
                          </a:rPr>
                        </m:ctrlPr>
                      </m:dPr>
                      <m:e>
                        <m:r>
                          <a:rPr lang="ar-AE" i="1">
                            <a:latin typeface="Cambria Math" panose="02040503050406030204" pitchFamily="18" charset="0"/>
                          </a:rPr>
                          <m:t>𝑎</m:t>
                        </m:r>
                      </m:e>
                    </m:d>
                    <m:r>
                      <a:rPr lang="ar-AE" i="0">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1">
                            <a:latin typeface="Cambria Math" panose="02040503050406030204" pitchFamily="18" charset="0"/>
                          </a:rPr>
                          <m:t>𝑎</m:t>
                        </m:r>
                      </m:e>
                      <m:e>
                        <m:r>
                          <a:rPr lang="ar-AE" i="1">
                            <a:latin typeface="Cambria Math" panose="02040503050406030204" pitchFamily="18" charset="0"/>
                          </a:rPr>
                          <m:t>𝑏</m:t>
                        </m:r>
                      </m:e>
                      <m:e>
                        <m:r>
                          <a:rPr lang="ar-AE" i="1">
                            <a:latin typeface="Cambria Math" panose="02040503050406030204" pitchFamily="18" charset="0"/>
                          </a:rPr>
                          <m:t>𝑐</m:t>
                        </m:r>
                      </m:e>
                    </m:d>
                  </m:oMath>
                </a14:m>
                <a:r>
                  <a:rPr lang="ar-AE" dirty="0"/>
                  <a:t>✔</a:t>
                </a:r>
              </a:p>
            </p:txBody>
          </p:sp>
        </mc:Choice>
        <mc:Fallback xmlns="">
          <p:sp>
            <p:nvSpPr>
              <p:cNvPr id="4" name="TextBox 3">
                <a:extLst>
                  <a:ext uri="{FF2B5EF4-FFF2-40B4-BE49-F238E27FC236}">
                    <a16:creationId xmlns:a16="http://schemas.microsoft.com/office/drawing/2014/main" id="{15CB1B61-A573-D53F-EEE9-2871B8CA4D89}"/>
                  </a:ext>
                </a:extLst>
              </p:cNvPr>
              <p:cNvSpPr txBox="1">
                <a:spLocks noRot="1" noChangeAspect="1" noMove="1" noResize="1" noEditPoints="1" noAdjustHandles="1" noChangeArrowheads="1" noChangeShapeType="1" noTextEdit="1"/>
              </p:cNvSpPr>
              <p:nvPr/>
            </p:nvSpPr>
            <p:spPr>
              <a:xfrm>
                <a:off x="2667000" y="5638800"/>
                <a:ext cx="4591050" cy="923330"/>
              </a:xfrm>
              <a:prstGeom prst="rect">
                <a:avLst/>
              </a:prstGeom>
              <a:blipFill>
                <a:blip r:embed="rId3"/>
                <a:stretch>
                  <a:fillRect l="-1195" t="-3974" b="-10596"/>
                </a:stretch>
              </a:blipFill>
            </p:spPr>
            <p:txBody>
              <a:bodyPr/>
              <a:lstStyle/>
              <a:p>
                <a:r>
                  <a:rPr lang="en-US">
                    <a:noFill/>
                  </a:rPr>
                  <a:t> </a:t>
                </a:r>
              </a:p>
            </p:txBody>
          </p:sp>
        </mc:Fallback>
      </mc:AlternateContent>
    </p:spTree>
    <p:extLst>
      <p:ext uri="{BB962C8B-B14F-4D97-AF65-F5344CB8AC3E}">
        <p14:creationId xmlns:p14="http://schemas.microsoft.com/office/powerpoint/2010/main" val="13110019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Partial Orderings (</a:t>
            </a:r>
            <a:r>
              <a:rPr lang="en-US" i="1" dirty="0"/>
              <a:t>continued</a:t>
            </a:r>
            <a:r>
              <a:rPr lang="en-US" dirty="0"/>
              <a: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52400" y="1600200"/>
                <a:ext cx="7924801" cy="3880773"/>
              </a:xfrm>
            </p:spPr>
            <p:txBody>
              <a:bodyPr>
                <a:noAutofit/>
              </a:bodyPr>
              <a:lstStyle/>
              <a:p>
                <a:pPr>
                  <a:buNone/>
                </a:pPr>
                <a:r>
                  <a:rPr lang="en-US" sz="2400" b="1" dirty="0">
                    <a:solidFill>
                      <a:srgbClr val="002060"/>
                    </a:solidFill>
                  </a:rPr>
                  <a:t>   Example 2: </a:t>
                </a:r>
                <a:r>
                  <a:rPr lang="en-US" sz="2400" dirty="0">
                    <a:solidFill>
                      <a:srgbClr val="002060"/>
                    </a:solidFill>
                  </a:rPr>
                  <a:t>Show that divisibility ( ∣ ) is a partial order on positive integers </a:t>
                </a:r>
                <a14:m>
                  <m:oMath xmlns:m="http://schemas.openxmlformats.org/officeDocument/2006/math">
                    <m:sSup>
                      <m:sSupPr>
                        <m:ctrlPr>
                          <a:rPr lang="ar-AE" sz="2400" i="1">
                            <a:solidFill>
                              <a:srgbClr val="002060"/>
                            </a:solidFill>
                            <a:latin typeface="Cambria Math" panose="02040503050406030204" pitchFamily="18" charset="0"/>
                          </a:rPr>
                        </m:ctrlPr>
                      </m:sSupPr>
                      <m:e>
                        <m:r>
                          <a:rPr lang="ar-AE" sz="2400">
                            <a:solidFill>
                              <a:srgbClr val="002060"/>
                            </a:solidFill>
                            <a:latin typeface="Cambria Math" panose="02040503050406030204" pitchFamily="18" charset="0"/>
                          </a:rPr>
                          <m:t>ℤ</m:t>
                        </m:r>
                      </m:e>
                      <m:sup>
                        <m:r>
                          <a:rPr lang="ar-AE" sz="2400">
                            <a:solidFill>
                              <a:srgbClr val="002060"/>
                            </a:solidFill>
                            <a:latin typeface="Cambria Math" panose="02040503050406030204" pitchFamily="18" charset="0"/>
                          </a:rPr>
                          <m:t>+</m:t>
                        </m:r>
                      </m:sup>
                    </m:sSup>
                  </m:oMath>
                </a14:m>
                <a:endParaRPr lang="en-US" sz="2400" dirty="0">
                  <a:solidFill>
                    <a:srgbClr val="002060"/>
                  </a:solidFill>
                </a:endParaRPr>
              </a:p>
              <a:p>
                <a:pPr lvl="1"/>
                <a:r>
                  <a:rPr lang="en-US" sz="2400" b="1" dirty="0">
                    <a:solidFill>
                      <a:srgbClr val="7030A0"/>
                    </a:solidFill>
                  </a:rPr>
                  <a:t>Reflexivity: </a:t>
                </a:r>
                <a:r>
                  <a:rPr lang="en-US" sz="2400" dirty="0">
                    <a:solidFill>
                      <a:srgbClr val="002060"/>
                    </a:solidFill>
                  </a:rPr>
                  <a:t>a ∣ a for all integers a. </a:t>
                </a:r>
              </a:p>
              <a:p>
                <a:pPr lvl="1"/>
                <a:r>
                  <a:rPr lang="en-US" sz="2400" b="1" dirty="0" err="1">
                    <a:solidFill>
                      <a:srgbClr val="7030A0"/>
                    </a:solidFill>
                  </a:rPr>
                  <a:t>Antisymmetry</a:t>
                </a:r>
                <a:r>
                  <a:rPr lang="en-US" sz="2400" b="1" dirty="0">
                    <a:solidFill>
                      <a:srgbClr val="7030A0"/>
                    </a:solidFill>
                  </a:rPr>
                  <a:t>: </a:t>
                </a:r>
                <a:r>
                  <a:rPr lang="en-US" sz="2400" dirty="0">
                    <a:solidFill>
                      <a:srgbClr val="002060"/>
                    </a:solidFill>
                  </a:rPr>
                  <a:t>If a and b are positive integers with a | b and b | a, then a = b. </a:t>
                </a:r>
              </a:p>
              <a:p>
                <a:pPr lvl="1"/>
                <a:r>
                  <a:rPr lang="en-US" sz="2400" b="1" dirty="0">
                    <a:solidFill>
                      <a:srgbClr val="7030A0"/>
                    </a:solidFill>
                  </a:rPr>
                  <a:t>Transitivity: </a:t>
                </a:r>
                <a:r>
                  <a:rPr lang="en-US" sz="2400" dirty="0">
                    <a:solidFill>
                      <a:srgbClr val="002060"/>
                    </a:solidFill>
                  </a:rPr>
                  <a:t>Suppose that a divides b and b divides c. Then </a:t>
                </a:r>
                <a:r>
                  <a:rPr lang="en-US" sz="2400" dirty="0" err="1">
                    <a:solidFill>
                      <a:srgbClr val="002060"/>
                    </a:solidFill>
                  </a:rPr>
                  <a:t>a∣b</a:t>
                </a:r>
                <a:r>
                  <a:rPr lang="en-US" sz="2400" dirty="0">
                    <a:solidFill>
                      <a:srgbClr val="002060"/>
                    </a:solidFill>
                  </a:rPr>
                  <a:t> and </a:t>
                </a:r>
                <a:r>
                  <a:rPr lang="en-US" sz="2400" dirty="0" err="1">
                    <a:solidFill>
                      <a:srgbClr val="002060"/>
                    </a:solidFill>
                  </a:rPr>
                  <a:t>b∣c</a:t>
                </a:r>
                <a:r>
                  <a:rPr lang="en-US" sz="2400" dirty="0">
                    <a:solidFill>
                      <a:srgbClr val="002060"/>
                    </a:solidFill>
                  </a:rPr>
                  <a:t> ⇒ </a:t>
                </a:r>
                <a:r>
                  <a:rPr lang="en-US" sz="2400" dirty="0" err="1">
                    <a:solidFill>
                      <a:srgbClr val="002060"/>
                    </a:solidFill>
                  </a:rPr>
                  <a:t>a∣c</a:t>
                </a:r>
                <a:r>
                  <a:rPr lang="en-US" sz="2400" dirty="0">
                    <a:solidFill>
                      <a:srgbClr val="002060"/>
                    </a:solidFill>
                  </a:rPr>
                  <a:t>. Therefore, the relation is transitive.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52400" y="1600200"/>
                <a:ext cx="7924801" cy="3880773"/>
              </a:xfrm>
              <a:blipFill>
                <a:blip r:embed="rId3"/>
                <a:stretch>
                  <a:fillRect t="-1258"/>
                </a:stretch>
              </a:blipFill>
            </p:spPr>
            <p:txBody>
              <a:bodyPr/>
              <a:lstStyle/>
              <a:p>
                <a:r>
                  <a:rPr lang="en-US">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569" y="166132"/>
            <a:ext cx="6347713" cy="1320800"/>
          </a:xfrm>
        </p:spPr>
        <p:txBody>
          <a:bodyPr/>
          <a:lstStyle/>
          <a:p>
            <a:r>
              <a:rPr lang="en-US" dirty="0"/>
              <a:t>Comparability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04800" y="1465460"/>
                <a:ext cx="8001001" cy="3880773"/>
              </a:xfrm>
            </p:spPr>
            <p:txBody>
              <a:bodyPr>
                <a:noAutofit/>
              </a:bodyPr>
              <a:lstStyle/>
              <a:p>
                <a:r>
                  <a:rPr lang="en-US" sz="2000" dirty="0">
                    <a:solidFill>
                      <a:srgbClr val="002060"/>
                    </a:solidFill>
                  </a:rPr>
                  <a:t>Two elements </a:t>
                </a:r>
                <a:r>
                  <a:rPr lang="en-US" sz="2000" b="1" dirty="0">
                    <a:solidFill>
                      <a:srgbClr val="002060"/>
                    </a:solidFill>
                  </a:rPr>
                  <a:t>a and b are comparable</a:t>
                </a:r>
                <a:r>
                  <a:rPr lang="en-US" sz="2000" dirty="0">
                    <a:solidFill>
                      <a:srgbClr val="002060"/>
                    </a:solidFill>
                  </a:rPr>
                  <a:t> if:</a:t>
                </a:r>
              </a:p>
              <a:p>
                <a:r>
                  <a:rPr lang="en-US" sz="2000" dirty="0">
                    <a:solidFill>
                      <a:srgbClr val="002060"/>
                    </a:solidFill>
                  </a:rPr>
                  <a:t>either </a:t>
                </a:r>
                <a:r>
                  <a:rPr lang="en-US" sz="2000" b="1" dirty="0">
                    <a:solidFill>
                      <a:srgbClr val="002060"/>
                    </a:solidFill>
                  </a:rPr>
                  <a:t>a comes before b</a:t>
                </a:r>
                <a:r>
                  <a:rPr lang="en-US" sz="2000" dirty="0">
                    <a:solidFill>
                      <a:srgbClr val="002060"/>
                    </a:solidFill>
                  </a:rPr>
                  <a:t> → </a:t>
                </a:r>
                <a14:m>
                  <m:oMath xmlns:m="http://schemas.openxmlformats.org/officeDocument/2006/math">
                    <m:r>
                      <a:rPr lang="en-US" i="1">
                        <a:solidFill>
                          <a:srgbClr val="002060"/>
                        </a:solidFill>
                        <a:latin typeface="Cambria Math" panose="02040503050406030204" pitchFamily="18" charset="0"/>
                      </a:rPr>
                      <m:t>𝑎</m:t>
                    </m:r>
                    <m:r>
                      <a:rPr lang="en-US">
                        <a:solidFill>
                          <a:srgbClr val="002060"/>
                        </a:solidFill>
                        <a:latin typeface="Cambria Math" panose="02040503050406030204" pitchFamily="18" charset="0"/>
                      </a:rPr>
                      <m:t>⪯</m:t>
                    </m:r>
                    <m:r>
                      <a:rPr lang="en-US" i="1">
                        <a:solidFill>
                          <a:srgbClr val="002060"/>
                        </a:solidFill>
                        <a:latin typeface="Cambria Math" panose="02040503050406030204" pitchFamily="18" charset="0"/>
                      </a:rPr>
                      <m:t>𝑏</m:t>
                    </m:r>
                  </m:oMath>
                </a14:m>
                <a:endParaRPr lang="en-US" sz="2000" dirty="0">
                  <a:solidFill>
                    <a:srgbClr val="002060"/>
                  </a:solidFill>
                </a:endParaRPr>
              </a:p>
              <a:p>
                <a:r>
                  <a:rPr lang="en-US" sz="2000" dirty="0">
                    <a:solidFill>
                      <a:srgbClr val="002060"/>
                    </a:solidFill>
                  </a:rPr>
                  <a:t>or </a:t>
                </a:r>
                <a:r>
                  <a:rPr lang="en-US" sz="2000" b="1" dirty="0">
                    <a:solidFill>
                      <a:srgbClr val="002060"/>
                    </a:solidFill>
                  </a:rPr>
                  <a:t>b comes before a</a:t>
                </a:r>
                <a:r>
                  <a:rPr lang="en-US" sz="2000" dirty="0">
                    <a:solidFill>
                      <a:srgbClr val="002060"/>
                    </a:solidFill>
                  </a:rPr>
                  <a:t> → </a:t>
                </a:r>
                <a14:m>
                  <m:oMath xmlns:m="http://schemas.openxmlformats.org/officeDocument/2006/math">
                    <m:r>
                      <a:rPr lang="en-US" i="1">
                        <a:solidFill>
                          <a:srgbClr val="002060"/>
                        </a:solidFill>
                        <a:latin typeface="Cambria Math" panose="02040503050406030204" pitchFamily="18" charset="0"/>
                      </a:rPr>
                      <m:t>𝑏</m:t>
                    </m:r>
                    <m:r>
                      <a:rPr lang="en-US">
                        <a:solidFill>
                          <a:srgbClr val="002060"/>
                        </a:solidFill>
                        <a:latin typeface="Cambria Math" panose="02040503050406030204" pitchFamily="18" charset="0"/>
                      </a:rPr>
                      <m:t>⪯</m:t>
                    </m:r>
                    <m:r>
                      <a:rPr lang="en-US" i="1">
                        <a:solidFill>
                          <a:srgbClr val="002060"/>
                        </a:solidFill>
                        <a:latin typeface="Cambria Math" panose="02040503050406030204" pitchFamily="18" charset="0"/>
                      </a:rPr>
                      <m:t>𝑎</m:t>
                    </m:r>
                  </m:oMath>
                </a14:m>
                <a:endParaRPr lang="en-US" sz="2000" dirty="0">
                  <a:solidFill>
                    <a:srgbClr val="002060"/>
                  </a:solidFill>
                </a:endParaRPr>
              </a:p>
              <a:p>
                <a:r>
                  <a:rPr lang="en-US" sz="2000" dirty="0">
                    <a:solidFill>
                      <a:srgbClr val="CC0066"/>
                    </a:solidFill>
                  </a:rPr>
                  <a:t>If </a:t>
                </a:r>
                <a:r>
                  <a:rPr lang="en-US" sz="2000" b="1" dirty="0">
                    <a:solidFill>
                      <a:srgbClr val="CC0066"/>
                    </a:solidFill>
                  </a:rPr>
                  <a:t>neither is true</a:t>
                </a:r>
                <a:r>
                  <a:rPr lang="en-US" sz="2000" dirty="0">
                    <a:solidFill>
                      <a:srgbClr val="CC0066"/>
                    </a:solidFill>
                  </a:rPr>
                  <a:t>, they are </a:t>
                </a:r>
                <a:r>
                  <a:rPr lang="en-US" sz="2000" b="1" dirty="0">
                    <a:solidFill>
                      <a:srgbClr val="CC0066"/>
                    </a:solidFill>
                  </a:rPr>
                  <a:t>incomparable</a:t>
                </a:r>
                <a:r>
                  <a:rPr lang="en-US" sz="2000" dirty="0">
                    <a:solidFill>
                      <a:srgbClr val="CC0066"/>
                    </a:solidFill>
                  </a:rPr>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04800" y="1465460"/>
                <a:ext cx="8001001" cy="3880773"/>
              </a:xfrm>
              <a:blipFill>
                <a:blip r:embed="rId2"/>
                <a:stretch>
                  <a:fillRect l="-305" t="-942"/>
                </a:stretch>
              </a:blipFill>
            </p:spPr>
            <p:txBody>
              <a:bodyPr/>
              <a:lstStyle/>
              <a:p>
                <a:r>
                  <a:rPr lang="en-US">
                    <a:noFill/>
                  </a:rPr>
                  <a:t> </a:t>
                </a:r>
              </a:p>
            </p:txBody>
          </p:sp>
        </mc:Fallback>
      </mc:AlternateContent>
      <p:sp>
        <p:nvSpPr>
          <p:cNvPr id="4" name="TextBox 3"/>
          <p:cNvSpPr txBox="1"/>
          <p:nvPr/>
        </p:nvSpPr>
        <p:spPr>
          <a:xfrm>
            <a:off x="304800" y="900668"/>
            <a:ext cx="4038600" cy="369332"/>
          </a:xfrm>
          <a:prstGeom prst="rect">
            <a:avLst/>
          </a:prstGeom>
          <a:noFill/>
          <a:ln>
            <a:solidFill>
              <a:schemeClr val="accent1"/>
            </a:solidFill>
          </a:ln>
        </p:spPr>
        <p:txBody>
          <a:bodyPr wrap="square" rtlCol="0">
            <a:spAutoFit/>
          </a:bodyPr>
          <a:lstStyle/>
          <a:p>
            <a:r>
              <a:rPr lang="en-US" b="1" dirty="0">
                <a:solidFill>
                  <a:srgbClr val="CC0066"/>
                </a:solidFill>
              </a:rPr>
              <a:t>The symbol</a:t>
            </a:r>
            <a:r>
              <a:rPr lang="en-US" b="1" dirty="0">
                <a:solidFill>
                  <a:srgbClr val="CC0066"/>
                </a:solidFill>
                <a:latin typeface="Cambria Math"/>
                <a:ea typeface="Cambria Math"/>
              </a:rPr>
              <a:t> </a:t>
            </a:r>
            <a:r>
              <a:rPr lang="en-US" b="1" dirty="0">
                <a:solidFill>
                  <a:srgbClr val="CC0066"/>
                </a:solidFill>
                <a:ea typeface="Cambria Math"/>
              </a:rPr>
              <a:t>≼ is used to </a:t>
            </a:r>
            <a:r>
              <a:rPr lang="en-US" b="1" dirty="0">
                <a:solidFill>
                  <a:srgbClr val="CC0066"/>
                </a:solidFill>
              </a:rPr>
              <a:t>denote it.</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A402176-00A4-AE9B-2E7D-4E8FA385C52A}"/>
                  </a:ext>
                </a:extLst>
              </p:cNvPr>
              <p:cNvSpPr txBox="1"/>
              <p:nvPr/>
            </p:nvSpPr>
            <p:spPr>
              <a:xfrm>
                <a:off x="146569" y="3351915"/>
                <a:ext cx="4600280" cy="1631216"/>
              </a:xfrm>
              <a:prstGeom prst="rect">
                <a:avLst/>
              </a:prstGeom>
              <a:solidFill>
                <a:schemeClr val="accent4">
                  <a:lumMod val="20000"/>
                  <a:lumOff val="80000"/>
                </a:schemeClr>
              </a:solidFill>
            </p:spPr>
            <p:txBody>
              <a:bodyPr wrap="square">
                <a:spAutoFit/>
              </a:bodyPr>
              <a:lstStyle/>
              <a:p>
                <a:pPr>
                  <a:buNone/>
                </a:pPr>
                <a:r>
                  <a:rPr lang="en-US" sz="2000" b="1" dirty="0"/>
                  <a:t>Example 1: Numbers</a:t>
                </a:r>
              </a:p>
              <a:p>
                <a:pPr>
                  <a:buNone/>
                </a:pPr>
                <a:r>
                  <a:rPr lang="en-US" sz="2000" dirty="0"/>
                  <a:t>Let </a:t>
                </a:r>
                <a14:m>
                  <m:oMath xmlns:m="http://schemas.openxmlformats.org/officeDocument/2006/math">
                    <m:r>
                      <a:rPr lang="en-US" sz="2000" i="1">
                        <a:latin typeface="Cambria Math" panose="02040503050406030204" pitchFamily="18" charset="0"/>
                      </a:rPr>
                      <m:t>𝑆</m:t>
                    </m:r>
                    <m:r>
                      <a:rPr lang="en-US" sz="2000" i="0">
                        <a:latin typeface="Cambria Math" panose="02040503050406030204" pitchFamily="18" charset="0"/>
                      </a:rPr>
                      <m:t>=</m:t>
                    </m:r>
                    <m:d>
                      <m:dPr>
                        <m:begChr m:val="{"/>
                        <m:endChr m:val="}"/>
                        <m:sepChr m:val=","/>
                        <m:ctrlPr>
                          <a:rPr lang="ar-AE" sz="2000" i="1">
                            <a:latin typeface="Cambria Math" panose="02040503050406030204" pitchFamily="18" charset="0"/>
                          </a:rPr>
                        </m:ctrlPr>
                      </m:dPr>
                      <m:e>
                        <m:r>
                          <a:rPr lang="ar-AE" sz="2000" i="0">
                            <a:latin typeface="Cambria Math" panose="02040503050406030204" pitchFamily="18" charset="0"/>
                          </a:rPr>
                          <m:t>1</m:t>
                        </m:r>
                      </m:e>
                      <m:e>
                        <m:r>
                          <a:rPr lang="ar-AE" sz="2000" i="0">
                            <a:latin typeface="Cambria Math" panose="02040503050406030204" pitchFamily="18" charset="0"/>
                          </a:rPr>
                          <m:t>2</m:t>
                        </m:r>
                      </m:e>
                      <m:e>
                        <m:r>
                          <a:rPr lang="ar-AE" sz="2000" i="0">
                            <a:latin typeface="Cambria Math" panose="02040503050406030204" pitchFamily="18" charset="0"/>
                          </a:rPr>
                          <m:t>3</m:t>
                        </m:r>
                      </m:e>
                    </m:d>
                  </m:oMath>
                </a14:m>
                <a:r>
                  <a:rPr lang="ar-AE" sz="2000" dirty="0"/>
                  <a:t>, </a:t>
                </a:r>
                <a:r>
                  <a:rPr lang="en-US" sz="2000" dirty="0"/>
                  <a:t>and relation is “≤”.</a:t>
                </a:r>
              </a:p>
              <a:p>
                <a:pPr>
                  <a:buFont typeface="Arial" panose="020B0604020202020204" pitchFamily="34" charset="0"/>
                  <a:buChar char="•"/>
                </a:pPr>
                <a:r>
                  <a:rPr lang="en-US" sz="2000" dirty="0"/>
                  <a:t>1 and 2 → comparable (1 ≤ 2) </a:t>
                </a:r>
              </a:p>
              <a:p>
                <a:pPr>
                  <a:buFont typeface="Arial" panose="020B0604020202020204" pitchFamily="34" charset="0"/>
                  <a:buChar char="•"/>
                </a:pPr>
                <a:r>
                  <a:rPr lang="en-US" sz="2000" dirty="0"/>
                  <a:t>3 and 2 → comparable (2 ≤ 3) </a:t>
                </a:r>
              </a:p>
              <a:p>
                <a:pPr>
                  <a:buNone/>
                </a:pPr>
                <a:r>
                  <a:rPr lang="en-US" sz="2000" dirty="0"/>
                  <a:t> Here, </a:t>
                </a:r>
                <a:r>
                  <a:rPr lang="en-US" sz="2000" b="1" dirty="0"/>
                  <a:t>pairs is comparable</a:t>
                </a:r>
                <a:endParaRPr lang="en-US" sz="2000" dirty="0"/>
              </a:p>
            </p:txBody>
          </p:sp>
        </mc:Choice>
        <mc:Fallback>
          <p:sp>
            <p:nvSpPr>
              <p:cNvPr id="6" name="TextBox 5">
                <a:extLst>
                  <a:ext uri="{FF2B5EF4-FFF2-40B4-BE49-F238E27FC236}">
                    <a16:creationId xmlns:a16="http://schemas.microsoft.com/office/drawing/2014/main" id="{EA402176-00A4-AE9B-2E7D-4E8FA385C52A}"/>
                  </a:ext>
                </a:extLst>
              </p:cNvPr>
              <p:cNvSpPr txBox="1">
                <a:spLocks noRot="1" noChangeAspect="1" noMove="1" noResize="1" noEditPoints="1" noAdjustHandles="1" noChangeArrowheads="1" noChangeShapeType="1" noTextEdit="1"/>
              </p:cNvSpPr>
              <p:nvPr/>
            </p:nvSpPr>
            <p:spPr>
              <a:xfrm>
                <a:off x="146569" y="3351915"/>
                <a:ext cx="4600280" cy="1631216"/>
              </a:xfrm>
              <a:prstGeom prst="rect">
                <a:avLst/>
              </a:prstGeom>
              <a:blipFill>
                <a:blip r:embed="rId3"/>
                <a:stretch>
                  <a:fillRect l="-1325" t="-2622" b="-56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CE3AF58-4E4D-9490-7CB8-2AB52A77C0B7}"/>
                  </a:ext>
                </a:extLst>
              </p:cNvPr>
              <p:cNvSpPr txBox="1"/>
              <p:nvPr/>
            </p:nvSpPr>
            <p:spPr>
              <a:xfrm>
                <a:off x="4397151" y="3233369"/>
                <a:ext cx="4365849" cy="2308324"/>
              </a:xfrm>
              <a:prstGeom prst="rect">
                <a:avLst/>
              </a:prstGeom>
              <a:solidFill>
                <a:schemeClr val="accent1">
                  <a:lumMod val="20000"/>
                  <a:lumOff val="80000"/>
                </a:schemeClr>
              </a:solidFill>
            </p:spPr>
            <p:txBody>
              <a:bodyPr wrap="square">
                <a:spAutoFit/>
              </a:bodyPr>
              <a:lstStyle/>
              <a:p>
                <a:pPr>
                  <a:buNone/>
                </a:pPr>
                <a:r>
                  <a:rPr lang="en-US" b="1" dirty="0"/>
                  <a:t>Example 2: Divisibility</a:t>
                </a:r>
              </a:p>
              <a:p>
                <a:pPr>
                  <a:buNone/>
                </a:pPr>
                <a:r>
                  <a:rPr lang="en-US" dirty="0"/>
                  <a:t>Let </a:t>
                </a:r>
                <a14:m>
                  <m:oMath xmlns:m="http://schemas.openxmlformats.org/officeDocument/2006/math">
                    <m:r>
                      <a:rPr lang="en-US" i="1">
                        <a:latin typeface="Cambria Math" panose="02040503050406030204" pitchFamily="18" charset="0"/>
                      </a:rPr>
                      <m:t>𝑆</m:t>
                    </m:r>
                    <m:r>
                      <a:rPr lang="en-US" i="0">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0">
                            <a:latin typeface="Cambria Math" panose="02040503050406030204" pitchFamily="18" charset="0"/>
                          </a:rPr>
                          <m:t>2</m:t>
                        </m:r>
                      </m:e>
                      <m:e>
                        <m:r>
                          <a:rPr lang="ar-AE" i="0">
                            <a:latin typeface="Cambria Math" panose="02040503050406030204" pitchFamily="18" charset="0"/>
                          </a:rPr>
                          <m:t>3</m:t>
                        </m:r>
                      </m:e>
                      <m:e>
                        <m:r>
                          <a:rPr lang="ar-AE" i="0">
                            <a:latin typeface="Cambria Math" panose="02040503050406030204" pitchFamily="18" charset="0"/>
                          </a:rPr>
                          <m:t>6</m:t>
                        </m:r>
                      </m:e>
                    </m:d>
                  </m:oMath>
                </a14:m>
                <a:r>
                  <a:rPr lang="ar-AE" dirty="0"/>
                  <a:t>, </a:t>
                </a:r>
                <a:r>
                  <a:rPr lang="en-US" dirty="0"/>
                  <a:t>relation = “divides” (</a:t>
                </a:r>
                <a14:m>
                  <m:oMath xmlns:m="http://schemas.openxmlformats.org/officeDocument/2006/math">
                    <m:r>
                      <a:rPr lang="en-US">
                        <a:latin typeface="Cambria Math" panose="02040503050406030204" pitchFamily="18" charset="0"/>
                      </a:rPr>
                      <m:t>∣</m:t>
                    </m:r>
                  </m:oMath>
                </a14:m>
                <a:r>
                  <a:rPr lang="en-US" dirty="0"/>
                  <a:t>)</a:t>
                </a:r>
              </a:p>
              <a:p>
                <a:pPr>
                  <a:buFont typeface="Arial" panose="020B0604020202020204" pitchFamily="34" charset="0"/>
                  <a:buChar char="•"/>
                </a:pPr>
                <a:r>
                  <a:rPr lang="en-US" dirty="0"/>
                  <a:t>2 | 6 → comparable </a:t>
                </a:r>
              </a:p>
              <a:p>
                <a:pPr>
                  <a:buFont typeface="Arial" panose="020B0604020202020204" pitchFamily="34" charset="0"/>
                  <a:buChar char="•"/>
                </a:pPr>
                <a:r>
                  <a:rPr lang="en-US" dirty="0"/>
                  <a:t>3 | 6 → comparable </a:t>
                </a:r>
              </a:p>
              <a:p>
                <a:pPr>
                  <a:buFont typeface="Arial" panose="020B0604020202020204" pitchFamily="34" charset="0"/>
                  <a:buChar char="•"/>
                </a:pPr>
                <a:r>
                  <a:rPr lang="en-US" dirty="0"/>
                  <a:t>BUT: </a:t>
                </a:r>
              </a:p>
              <a:p>
                <a:pPr marL="742950" lvl="1" indent="-285750">
                  <a:buFont typeface="Arial" panose="020B0604020202020204" pitchFamily="34" charset="0"/>
                  <a:buChar char="•"/>
                </a:pPr>
                <a:r>
                  <a:rPr lang="en-US" dirty="0"/>
                  <a:t>2 does NOT divide 3 </a:t>
                </a:r>
              </a:p>
              <a:p>
                <a:pPr marL="742950" lvl="1" indent="-285750">
                  <a:buFont typeface="Arial" panose="020B0604020202020204" pitchFamily="34" charset="0"/>
                  <a:buChar char="•"/>
                </a:pPr>
                <a:r>
                  <a:rPr lang="en-US" dirty="0"/>
                  <a:t>3 does NOT divide 2 </a:t>
                </a:r>
              </a:p>
              <a:p>
                <a:pPr>
                  <a:buNone/>
                </a:pPr>
                <a:r>
                  <a:rPr lang="en-US" dirty="0"/>
                  <a:t> So </a:t>
                </a:r>
                <a:r>
                  <a:rPr lang="en-US" b="1" dirty="0"/>
                  <a:t>2 and 3 are incomparable</a:t>
                </a:r>
                <a:endParaRPr lang="en-US" dirty="0"/>
              </a:p>
            </p:txBody>
          </p:sp>
        </mc:Choice>
        <mc:Fallback>
          <p:sp>
            <p:nvSpPr>
              <p:cNvPr id="8" name="TextBox 7">
                <a:extLst>
                  <a:ext uri="{FF2B5EF4-FFF2-40B4-BE49-F238E27FC236}">
                    <a16:creationId xmlns:a16="http://schemas.microsoft.com/office/drawing/2014/main" id="{CCE3AF58-4E4D-9490-7CB8-2AB52A77C0B7}"/>
                  </a:ext>
                </a:extLst>
              </p:cNvPr>
              <p:cNvSpPr txBox="1">
                <a:spLocks noRot="1" noChangeAspect="1" noMove="1" noResize="1" noEditPoints="1" noAdjustHandles="1" noChangeArrowheads="1" noChangeShapeType="1" noTextEdit="1"/>
              </p:cNvSpPr>
              <p:nvPr/>
            </p:nvSpPr>
            <p:spPr>
              <a:xfrm>
                <a:off x="4397151" y="3233369"/>
                <a:ext cx="4365849" cy="2308324"/>
              </a:xfrm>
              <a:prstGeom prst="rect">
                <a:avLst/>
              </a:prstGeom>
              <a:blipFill>
                <a:blip r:embed="rId4"/>
                <a:stretch>
                  <a:fillRect l="-1116" t="-1583" b="-2902"/>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198B09C8-3E89-EE24-D92D-640FB91015C7}"/>
              </a:ext>
            </a:extLst>
          </p:cNvPr>
          <p:cNvSpPr txBox="1"/>
          <p:nvPr/>
        </p:nvSpPr>
        <p:spPr>
          <a:xfrm>
            <a:off x="282019" y="5392540"/>
            <a:ext cx="4600280" cy="923330"/>
          </a:xfrm>
          <a:prstGeom prst="rect">
            <a:avLst/>
          </a:prstGeom>
          <a:noFill/>
        </p:spPr>
        <p:txBody>
          <a:bodyPr wrap="square">
            <a:spAutoFit/>
          </a:bodyPr>
          <a:lstStyle/>
          <a:p>
            <a:r>
              <a:rPr lang="en-US" dirty="0">
                <a:solidFill>
                  <a:srgbClr val="FF0000"/>
                </a:solidFill>
              </a:rPr>
              <a:t>This is the key idea:</a:t>
            </a:r>
            <a:br>
              <a:rPr lang="en-US" dirty="0">
                <a:solidFill>
                  <a:srgbClr val="FF0000"/>
                </a:solidFill>
              </a:rPr>
            </a:br>
            <a:r>
              <a:rPr lang="en-US" dirty="0">
                <a:solidFill>
                  <a:srgbClr val="FF0000"/>
                </a:solidFill>
              </a:rPr>
              <a:t>Not all elements can always be compared!</a:t>
            </a:r>
            <a:br>
              <a:rPr lang="en-US" dirty="0">
                <a:solidFill>
                  <a:srgbClr val="FF0000"/>
                </a:solidFill>
              </a:rPr>
            </a:br>
            <a:r>
              <a:rPr lang="en-US" dirty="0">
                <a:solidFill>
                  <a:srgbClr val="990099"/>
                </a:solidFill>
              </a:rPr>
              <a:t>It’s a pair property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25334-067A-03F1-D349-33D8A1181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97F08-BB31-B13E-58FE-65D81AEF3B9E}"/>
              </a:ext>
            </a:extLst>
          </p:cNvPr>
          <p:cNvSpPr>
            <a:spLocks noGrp="1"/>
          </p:cNvSpPr>
          <p:nvPr>
            <p:ph type="title"/>
          </p:nvPr>
        </p:nvSpPr>
        <p:spPr>
          <a:xfrm>
            <a:off x="146569" y="166132"/>
            <a:ext cx="6347713" cy="1320800"/>
          </a:xfrm>
        </p:spPr>
        <p:txBody>
          <a:bodyPr/>
          <a:lstStyle/>
          <a:p>
            <a:r>
              <a:rPr lang="en-US" dirty="0"/>
              <a:t>Totally Ordered Set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64112B0-DA99-E3FB-4C50-7D20FD7C68E5}"/>
                  </a:ext>
                </a:extLst>
              </p:cNvPr>
              <p:cNvSpPr>
                <a:spLocks noGrp="1"/>
              </p:cNvSpPr>
              <p:nvPr>
                <p:ph idx="1"/>
              </p:nvPr>
            </p:nvSpPr>
            <p:spPr>
              <a:xfrm>
                <a:off x="304800" y="871163"/>
                <a:ext cx="8001001" cy="3880773"/>
              </a:xfrm>
            </p:spPr>
            <p:txBody>
              <a:bodyPr>
                <a:noAutofit/>
              </a:bodyPr>
              <a:lstStyle/>
              <a:p>
                <a:r>
                  <a:rPr lang="en-US" sz="2000" dirty="0">
                    <a:solidFill>
                      <a:srgbClr val="002060"/>
                    </a:solidFill>
                  </a:rPr>
                  <a:t>A set is </a:t>
                </a:r>
                <a:r>
                  <a:rPr lang="en-US" sz="2000" b="1" dirty="0">
                    <a:solidFill>
                      <a:srgbClr val="002060"/>
                    </a:solidFill>
                  </a:rPr>
                  <a:t>totally ordered</a:t>
                </a:r>
                <a:r>
                  <a:rPr lang="en-US" sz="2000" dirty="0">
                    <a:solidFill>
                      <a:srgbClr val="002060"/>
                    </a:solidFill>
                  </a:rPr>
                  <a:t> if:</a:t>
                </a:r>
              </a:p>
              <a:p>
                <a:pPr algn="ctr"/>
                <a:r>
                  <a:rPr lang="en-US" sz="2000" b="1" dirty="0">
                    <a:solidFill>
                      <a:srgbClr val="002060"/>
                    </a:solidFill>
                  </a:rPr>
                  <a:t>You can compare every pair of elements</a:t>
                </a:r>
                <a:endParaRPr lang="en-US" sz="2000" dirty="0">
                  <a:solidFill>
                    <a:srgbClr val="002060"/>
                  </a:solidFill>
                </a:endParaRPr>
              </a:p>
              <a:p>
                <a:r>
                  <a:rPr lang="en-US" sz="2000" dirty="0">
                    <a:solidFill>
                      <a:srgbClr val="002060"/>
                    </a:solidFill>
                  </a:rPr>
                  <a:t>For any </a:t>
                </a:r>
                <a14:m>
                  <m:oMath xmlns:m="http://schemas.openxmlformats.org/officeDocument/2006/math">
                    <m:r>
                      <a:rPr lang="en-US" sz="2000" i="1">
                        <a:solidFill>
                          <a:srgbClr val="002060"/>
                        </a:solidFill>
                        <a:latin typeface="Cambria Math" panose="02040503050406030204" pitchFamily="18" charset="0"/>
                      </a:rPr>
                      <m:t>𝑎</m:t>
                    </m:r>
                    <m:r>
                      <a:rPr lang="en-US" sz="2000">
                        <a:solidFill>
                          <a:srgbClr val="002060"/>
                        </a:solidFill>
                        <a:latin typeface="Cambria Math" panose="02040503050406030204" pitchFamily="18" charset="0"/>
                      </a:rPr>
                      <m:t>,</m:t>
                    </m:r>
                    <m:r>
                      <a:rPr lang="en-US" sz="2000" i="1">
                        <a:solidFill>
                          <a:srgbClr val="002060"/>
                        </a:solidFill>
                        <a:latin typeface="Cambria Math" panose="02040503050406030204" pitchFamily="18" charset="0"/>
                      </a:rPr>
                      <m:t>𝑏</m:t>
                    </m:r>
                  </m:oMath>
                </a14:m>
                <a:r>
                  <a:rPr lang="en-US" sz="2000" dirty="0">
                    <a:solidFill>
                      <a:srgbClr val="002060"/>
                    </a:solidFill>
                  </a:rPr>
                  <a:t>:</a:t>
                </a:r>
              </a:p>
              <a:p>
                <a:r>
                  <a:rPr lang="en-US" sz="2000" dirty="0">
                    <a:solidFill>
                      <a:srgbClr val="002060"/>
                    </a:solidFill>
                  </a:rPr>
                  <a:t>either </a:t>
                </a:r>
                <a14:m>
                  <m:oMath xmlns:m="http://schemas.openxmlformats.org/officeDocument/2006/math">
                    <m:r>
                      <a:rPr lang="en-US" sz="2000" i="1">
                        <a:solidFill>
                          <a:srgbClr val="002060"/>
                        </a:solidFill>
                        <a:latin typeface="Cambria Math" panose="02040503050406030204" pitchFamily="18" charset="0"/>
                      </a:rPr>
                      <m:t>𝑎</m:t>
                    </m:r>
                    <m:r>
                      <a:rPr lang="en-US" sz="2000">
                        <a:solidFill>
                          <a:srgbClr val="002060"/>
                        </a:solidFill>
                        <a:latin typeface="Cambria Math" panose="02040503050406030204" pitchFamily="18" charset="0"/>
                      </a:rPr>
                      <m:t>⪯</m:t>
                    </m:r>
                    <m:r>
                      <a:rPr lang="en-US" sz="2000" i="1">
                        <a:solidFill>
                          <a:srgbClr val="002060"/>
                        </a:solidFill>
                        <a:latin typeface="Cambria Math" panose="02040503050406030204" pitchFamily="18" charset="0"/>
                      </a:rPr>
                      <m:t>𝑏</m:t>
                    </m:r>
                  </m:oMath>
                </a14:m>
                <a:endParaRPr lang="en-US" sz="2000" dirty="0">
                  <a:solidFill>
                    <a:srgbClr val="002060"/>
                  </a:solidFill>
                </a:endParaRPr>
              </a:p>
              <a:p>
                <a:r>
                  <a:rPr lang="en-US" sz="2000" dirty="0">
                    <a:solidFill>
                      <a:srgbClr val="002060"/>
                    </a:solidFill>
                  </a:rPr>
                  <a:t>or </a:t>
                </a:r>
                <a14:m>
                  <m:oMath xmlns:m="http://schemas.openxmlformats.org/officeDocument/2006/math">
                    <m:r>
                      <a:rPr lang="en-US" sz="2000" i="1">
                        <a:solidFill>
                          <a:srgbClr val="002060"/>
                        </a:solidFill>
                        <a:latin typeface="Cambria Math" panose="02040503050406030204" pitchFamily="18" charset="0"/>
                      </a:rPr>
                      <m:t>𝑏</m:t>
                    </m:r>
                    <m:r>
                      <a:rPr lang="en-US" sz="2000">
                        <a:solidFill>
                          <a:srgbClr val="002060"/>
                        </a:solidFill>
                        <a:latin typeface="Cambria Math" panose="02040503050406030204" pitchFamily="18" charset="0"/>
                      </a:rPr>
                      <m:t>⪯</m:t>
                    </m:r>
                    <m:r>
                      <a:rPr lang="en-US" sz="2000" i="1">
                        <a:solidFill>
                          <a:srgbClr val="002060"/>
                        </a:solidFill>
                        <a:latin typeface="Cambria Math" panose="02040503050406030204" pitchFamily="18" charset="0"/>
                      </a:rPr>
                      <m:t>𝑎</m:t>
                    </m:r>
                  </m:oMath>
                </a14:m>
                <a:endParaRPr lang="en-US" sz="2000" dirty="0">
                  <a:solidFill>
                    <a:srgbClr val="002060"/>
                  </a:solidFill>
                </a:endParaRPr>
              </a:p>
              <a:p>
                <a:endParaRPr lang="en-US" sz="2000" dirty="0">
                  <a:solidFill>
                    <a:srgbClr val="002060"/>
                  </a:solidFill>
                </a:endParaRPr>
              </a:p>
              <a:p>
                <a:r>
                  <a:rPr lang="en-US" sz="2000" b="1" dirty="0">
                    <a:solidFill>
                      <a:srgbClr val="7030A0"/>
                    </a:solidFill>
                  </a:rPr>
                  <a:t>“Order” sounds like: </a:t>
                </a:r>
                <a:r>
                  <a:rPr lang="en-US" sz="2000" dirty="0">
                    <a:solidFill>
                      <a:srgbClr val="7030A0"/>
                    </a:solidFill>
                  </a:rPr>
                  <a:t>everything should be arranged in a line</a:t>
                </a:r>
              </a:p>
              <a:p>
                <a:r>
                  <a:rPr lang="en-US" sz="2000" dirty="0">
                    <a:solidFill>
                      <a:srgbClr val="CC0066"/>
                    </a:solidFill>
                  </a:rPr>
                  <a:t>But the </a:t>
                </a:r>
                <a:r>
                  <a:rPr lang="en-US" sz="2000" b="1" dirty="0">
                    <a:solidFill>
                      <a:srgbClr val="CC0066"/>
                    </a:solidFill>
                  </a:rPr>
                  <a:t>real condition</a:t>
                </a:r>
                <a:r>
                  <a:rPr lang="en-US" sz="2000" dirty="0">
                    <a:solidFill>
                      <a:srgbClr val="CC0066"/>
                    </a:solidFill>
                  </a:rPr>
                  <a:t> is:</a:t>
                </a:r>
              </a:p>
              <a:p>
                <a:pPr algn="ctr"/>
                <a:r>
                  <a:rPr lang="en-US" sz="2000" dirty="0">
                    <a:solidFill>
                      <a:srgbClr val="CC0066"/>
                    </a:solidFill>
                  </a:rPr>
                  <a:t> </a:t>
                </a:r>
                <a:r>
                  <a:rPr lang="en-US" sz="2000" b="1" dirty="0">
                    <a:solidFill>
                      <a:srgbClr val="CC0066"/>
                    </a:solidFill>
                  </a:rPr>
                  <a:t>No two elements are left </a:t>
                </a:r>
                <a:r>
                  <a:rPr lang="en-US" sz="2000" b="1" dirty="0" err="1">
                    <a:solidFill>
                      <a:srgbClr val="CC0066"/>
                    </a:solidFill>
                  </a:rPr>
                  <a:t>uncomparable</a:t>
                </a:r>
                <a:endParaRPr lang="en-US" sz="2000" dirty="0">
                  <a:solidFill>
                    <a:srgbClr val="CC0066"/>
                  </a:solidFill>
                </a:endParaRPr>
              </a:p>
              <a:p>
                <a:endParaRPr lang="en-US" sz="2000" dirty="0">
                  <a:solidFill>
                    <a:srgbClr val="002060"/>
                  </a:solidFill>
                </a:endParaRPr>
              </a:p>
            </p:txBody>
          </p:sp>
        </mc:Choice>
        <mc:Fallback>
          <p:sp>
            <p:nvSpPr>
              <p:cNvPr id="3" name="Content Placeholder 2">
                <a:extLst>
                  <a:ext uri="{FF2B5EF4-FFF2-40B4-BE49-F238E27FC236}">
                    <a16:creationId xmlns:a16="http://schemas.microsoft.com/office/drawing/2014/main" id="{264112B0-DA99-E3FB-4C50-7D20FD7C68E5}"/>
                  </a:ext>
                </a:extLst>
              </p:cNvPr>
              <p:cNvSpPr>
                <a:spLocks noGrp="1" noRot="1" noChangeAspect="1" noMove="1" noResize="1" noEditPoints="1" noAdjustHandles="1" noChangeArrowheads="1" noChangeShapeType="1" noTextEdit="1"/>
              </p:cNvSpPr>
              <p:nvPr>
                <p:ph idx="1"/>
              </p:nvPr>
            </p:nvSpPr>
            <p:spPr>
              <a:xfrm>
                <a:off x="304800" y="871163"/>
                <a:ext cx="8001001" cy="3880773"/>
              </a:xfrm>
              <a:blipFill>
                <a:blip r:embed="rId2"/>
                <a:stretch>
                  <a:fillRect l="-305" t="-1099" b="-1884"/>
                </a:stretch>
              </a:blipFill>
            </p:spPr>
            <p:txBody>
              <a:bodyPr/>
              <a:lstStyle/>
              <a:p>
                <a:r>
                  <a:rPr lang="en-US">
                    <a:noFill/>
                  </a:rPr>
                  <a:t> </a:t>
                </a:r>
              </a:p>
            </p:txBody>
          </p:sp>
        </mc:Fallback>
      </mc:AlternateContent>
    </p:spTree>
    <p:extLst>
      <p:ext uri="{BB962C8B-B14F-4D97-AF65-F5344CB8AC3E}">
        <p14:creationId xmlns:p14="http://schemas.microsoft.com/office/powerpoint/2010/main" val="1042867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5D937-64BF-87EC-5349-4AF7D764B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63EDC-AFA4-2248-1540-EDDBB4BE34CE}"/>
              </a:ext>
            </a:extLst>
          </p:cNvPr>
          <p:cNvSpPr>
            <a:spLocks noGrp="1"/>
          </p:cNvSpPr>
          <p:nvPr>
            <p:ph type="title"/>
          </p:nvPr>
        </p:nvSpPr>
        <p:spPr>
          <a:xfrm>
            <a:off x="146569" y="166132"/>
            <a:ext cx="6347713" cy="1320800"/>
          </a:xfrm>
        </p:spPr>
        <p:txBody>
          <a:bodyPr/>
          <a:lstStyle/>
          <a:p>
            <a:r>
              <a:rPr lang="en-US" dirty="0"/>
              <a:t>Totally Ordered Set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7DE1A7-24B4-43B3-46C1-4A66CBDF98A4}"/>
                  </a:ext>
                </a:extLst>
              </p:cNvPr>
              <p:cNvSpPr txBox="1"/>
              <p:nvPr/>
            </p:nvSpPr>
            <p:spPr>
              <a:xfrm>
                <a:off x="304800" y="1219200"/>
                <a:ext cx="4600280" cy="1754326"/>
              </a:xfrm>
              <a:prstGeom prst="rect">
                <a:avLst/>
              </a:prstGeom>
              <a:noFill/>
            </p:spPr>
            <p:txBody>
              <a:bodyPr wrap="square">
                <a:spAutoFit/>
              </a:bodyPr>
              <a:lstStyle/>
              <a:p>
                <a:pPr>
                  <a:buNone/>
                </a:pPr>
                <a:r>
                  <a:rPr lang="en-US" b="1" dirty="0"/>
                  <a:t>Example 1: Numbers with ≤</a:t>
                </a:r>
              </a:p>
              <a:p>
                <a:pPr>
                  <a:buNone/>
                </a:pPr>
                <a:r>
                  <a:rPr lang="en-US" dirty="0"/>
                  <a:t>Set: </a:t>
                </a:r>
                <a14:m>
                  <m:oMath xmlns:m="http://schemas.openxmlformats.org/officeDocument/2006/math">
                    <m:d>
                      <m:dPr>
                        <m:begChr m:val="{"/>
                        <m:endChr m:val="}"/>
                        <m:sepChr m:val=","/>
                        <m:ctrlPr>
                          <a:rPr lang="ar-AE" i="1">
                            <a:latin typeface="Cambria Math" panose="02040503050406030204" pitchFamily="18" charset="0"/>
                          </a:rPr>
                        </m:ctrlPr>
                      </m:dPr>
                      <m:e>
                        <m:r>
                          <a:rPr lang="ar-AE" i="0">
                            <a:latin typeface="Cambria Math" panose="02040503050406030204" pitchFamily="18" charset="0"/>
                          </a:rPr>
                          <m:t>1</m:t>
                        </m:r>
                      </m:e>
                      <m:e>
                        <m:r>
                          <a:rPr lang="ar-AE" i="0">
                            <a:latin typeface="Cambria Math" panose="02040503050406030204" pitchFamily="18" charset="0"/>
                          </a:rPr>
                          <m:t>2</m:t>
                        </m:r>
                      </m:e>
                      <m:e>
                        <m:r>
                          <a:rPr lang="ar-AE" i="0">
                            <a:latin typeface="Cambria Math" panose="02040503050406030204" pitchFamily="18" charset="0"/>
                          </a:rPr>
                          <m:t>3</m:t>
                        </m:r>
                      </m:e>
                      <m:e>
                        <m:r>
                          <a:rPr lang="ar-AE" i="0">
                            <a:latin typeface="Cambria Math" panose="02040503050406030204" pitchFamily="18" charset="0"/>
                          </a:rPr>
                          <m:t>4</m:t>
                        </m:r>
                      </m:e>
                    </m:d>
                  </m:oMath>
                </a14:m>
                <a:endParaRPr lang="ar-AE" dirty="0"/>
              </a:p>
              <a:p>
                <a:pPr>
                  <a:buFont typeface="Arial" panose="020B0604020202020204" pitchFamily="34" charset="0"/>
                  <a:buChar char="•"/>
                </a:pPr>
                <a:r>
                  <a:rPr lang="ar-AE" dirty="0"/>
                  <a:t>1 </a:t>
                </a:r>
                <a:r>
                  <a:rPr lang="en-US" dirty="0"/>
                  <a:t>vs 3 → comparable </a:t>
                </a:r>
              </a:p>
              <a:p>
                <a:pPr>
                  <a:buFont typeface="Arial" panose="020B0604020202020204" pitchFamily="34" charset="0"/>
                  <a:buChar char="•"/>
                </a:pPr>
                <a:r>
                  <a:rPr lang="en-US" dirty="0"/>
                  <a:t>2 vs 4 → comparable </a:t>
                </a:r>
              </a:p>
              <a:p>
                <a:pPr>
                  <a:buFont typeface="Arial" panose="020B0604020202020204" pitchFamily="34" charset="0"/>
                  <a:buChar char="•"/>
                </a:pPr>
                <a:r>
                  <a:rPr lang="en-US" dirty="0"/>
                  <a:t>Any pair → comparable </a:t>
                </a:r>
              </a:p>
              <a:p>
                <a:pPr>
                  <a:buNone/>
                </a:pPr>
                <a:r>
                  <a:rPr lang="en-US" dirty="0">
                    <a:solidFill>
                      <a:srgbClr val="990099"/>
                    </a:solidFill>
                  </a:rPr>
                  <a:t> This is a </a:t>
                </a:r>
                <a:r>
                  <a:rPr lang="en-US" b="1" dirty="0">
                    <a:solidFill>
                      <a:srgbClr val="990099"/>
                    </a:solidFill>
                  </a:rPr>
                  <a:t>total order</a:t>
                </a:r>
                <a:endParaRPr lang="en-US" dirty="0">
                  <a:solidFill>
                    <a:srgbClr val="990099"/>
                  </a:solidFill>
                </a:endParaRPr>
              </a:p>
            </p:txBody>
          </p:sp>
        </mc:Choice>
        <mc:Fallback xmlns="">
          <p:sp>
            <p:nvSpPr>
              <p:cNvPr id="7" name="TextBox 6">
                <a:extLst>
                  <a:ext uri="{FF2B5EF4-FFF2-40B4-BE49-F238E27FC236}">
                    <a16:creationId xmlns:a16="http://schemas.microsoft.com/office/drawing/2014/main" id="{297DE1A7-24B4-43B3-46C1-4A66CBDF98A4}"/>
                  </a:ext>
                </a:extLst>
              </p:cNvPr>
              <p:cNvSpPr txBox="1">
                <a:spLocks noRot="1" noChangeAspect="1" noMove="1" noResize="1" noEditPoints="1" noAdjustHandles="1" noChangeArrowheads="1" noChangeShapeType="1" noTextEdit="1"/>
              </p:cNvSpPr>
              <p:nvPr/>
            </p:nvSpPr>
            <p:spPr>
              <a:xfrm>
                <a:off x="304800" y="1219200"/>
                <a:ext cx="4600280" cy="1754326"/>
              </a:xfrm>
              <a:prstGeom prst="rect">
                <a:avLst/>
              </a:prstGeom>
              <a:blipFill>
                <a:blip r:embed="rId2"/>
                <a:stretch>
                  <a:fillRect l="-1060" t="-2083" b="-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A2F66C4-F9F2-6635-7DD3-701FDD8C5C47}"/>
                  </a:ext>
                </a:extLst>
              </p:cNvPr>
              <p:cNvSpPr txBox="1"/>
              <p:nvPr/>
            </p:nvSpPr>
            <p:spPr>
              <a:xfrm>
                <a:off x="304800" y="3330476"/>
                <a:ext cx="4600280" cy="2308324"/>
              </a:xfrm>
              <a:prstGeom prst="rect">
                <a:avLst/>
              </a:prstGeom>
              <a:noFill/>
            </p:spPr>
            <p:txBody>
              <a:bodyPr wrap="square">
                <a:spAutoFit/>
              </a:bodyPr>
              <a:lstStyle/>
              <a:p>
                <a:pPr>
                  <a:buNone/>
                </a:pPr>
                <a:r>
                  <a:rPr lang="en-US" b="1" dirty="0"/>
                  <a:t>Example 2: Divisibility</a:t>
                </a:r>
              </a:p>
              <a:p>
                <a:pPr>
                  <a:buNone/>
                </a:pPr>
                <a:r>
                  <a:rPr lang="en-US" dirty="0"/>
                  <a:t>Set: </a:t>
                </a:r>
                <a14:m>
                  <m:oMath xmlns:m="http://schemas.openxmlformats.org/officeDocument/2006/math">
                    <m:d>
                      <m:dPr>
                        <m:begChr m:val="{"/>
                        <m:endChr m:val="}"/>
                        <m:sepChr m:val=","/>
                        <m:ctrlPr>
                          <a:rPr lang="ar-AE" i="1">
                            <a:latin typeface="Cambria Math" panose="02040503050406030204" pitchFamily="18" charset="0"/>
                          </a:rPr>
                        </m:ctrlPr>
                      </m:dPr>
                      <m:e>
                        <m:r>
                          <a:rPr lang="ar-AE" i="0">
                            <a:latin typeface="Cambria Math" panose="02040503050406030204" pitchFamily="18" charset="0"/>
                          </a:rPr>
                          <m:t>2</m:t>
                        </m:r>
                      </m:e>
                      <m:e>
                        <m:r>
                          <a:rPr lang="ar-AE" i="0">
                            <a:latin typeface="Cambria Math" panose="02040503050406030204" pitchFamily="18" charset="0"/>
                          </a:rPr>
                          <m:t>3</m:t>
                        </m:r>
                      </m:e>
                      <m:e>
                        <m:r>
                          <a:rPr lang="ar-AE" i="0">
                            <a:latin typeface="Cambria Math" panose="02040503050406030204" pitchFamily="18" charset="0"/>
                          </a:rPr>
                          <m:t>6</m:t>
                        </m:r>
                      </m:e>
                    </m:d>
                  </m:oMath>
                </a14:m>
                <a:r>
                  <a:rPr lang="ar-AE" dirty="0"/>
                  <a:t>, </a:t>
                </a:r>
                <a:r>
                  <a:rPr lang="en-US" dirty="0"/>
                  <a:t>relation = “divides”</a:t>
                </a:r>
              </a:p>
              <a:p>
                <a:pPr>
                  <a:buFont typeface="Arial" panose="020B0604020202020204" pitchFamily="34" charset="0"/>
                  <a:buChar char="•"/>
                </a:pPr>
                <a:r>
                  <a:rPr lang="en-US" dirty="0"/>
                  <a:t>2 | 6 → OK </a:t>
                </a:r>
              </a:p>
              <a:p>
                <a:pPr>
                  <a:buFont typeface="Arial" panose="020B0604020202020204" pitchFamily="34" charset="0"/>
                  <a:buChar char="•"/>
                </a:pPr>
                <a:r>
                  <a:rPr lang="en-US" dirty="0"/>
                  <a:t>3 | 6 → OK </a:t>
                </a:r>
              </a:p>
              <a:p>
                <a:pPr>
                  <a:buFont typeface="Arial" panose="020B0604020202020204" pitchFamily="34" charset="0"/>
                  <a:buChar char="•"/>
                </a:pPr>
                <a:r>
                  <a:rPr lang="en-US" dirty="0"/>
                  <a:t>BUT 2 and 3: </a:t>
                </a:r>
              </a:p>
              <a:p>
                <a:pPr marL="742950" lvl="1" indent="-285750">
                  <a:buFont typeface="Arial" panose="020B0604020202020204" pitchFamily="34" charset="0"/>
                  <a:buChar char="•"/>
                </a:pPr>
                <a:r>
                  <a:rPr lang="en-US" dirty="0"/>
                  <a:t>2 does not divide 3 </a:t>
                </a:r>
              </a:p>
              <a:p>
                <a:pPr marL="742950" lvl="1" indent="-285750">
                  <a:buFont typeface="Arial" panose="020B0604020202020204" pitchFamily="34" charset="0"/>
                  <a:buChar char="•"/>
                </a:pPr>
                <a:r>
                  <a:rPr lang="en-US" dirty="0"/>
                  <a:t>3 does not divide 2 </a:t>
                </a:r>
              </a:p>
              <a:p>
                <a:pPr>
                  <a:buNone/>
                </a:pPr>
                <a:r>
                  <a:rPr lang="en-US" dirty="0">
                    <a:solidFill>
                      <a:srgbClr val="990099"/>
                    </a:solidFill>
                  </a:rPr>
                  <a:t>Not comparable → </a:t>
                </a:r>
                <a:r>
                  <a:rPr lang="en-US" b="1" dirty="0">
                    <a:solidFill>
                      <a:srgbClr val="990099"/>
                    </a:solidFill>
                  </a:rPr>
                  <a:t>NOT total order</a:t>
                </a:r>
                <a:endParaRPr lang="en-US" dirty="0">
                  <a:solidFill>
                    <a:srgbClr val="990099"/>
                  </a:solidFill>
                </a:endParaRPr>
              </a:p>
            </p:txBody>
          </p:sp>
        </mc:Choice>
        <mc:Fallback xmlns="">
          <p:sp>
            <p:nvSpPr>
              <p:cNvPr id="9" name="TextBox 8">
                <a:extLst>
                  <a:ext uri="{FF2B5EF4-FFF2-40B4-BE49-F238E27FC236}">
                    <a16:creationId xmlns:a16="http://schemas.microsoft.com/office/drawing/2014/main" id="{0A2F66C4-F9F2-6635-7DD3-701FDD8C5C47}"/>
                  </a:ext>
                </a:extLst>
              </p:cNvPr>
              <p:cNvSpPr txBox="1">
                <a:spLocks noRot="1" noChangeAspect="1" noMove="1" noResize="1" noEditPoints="1" noAdjustHandles="1" noChangeArrowheads="1" noChangeShapeType="1" noTextEdit="1"/>
              </p:cNvSpPr>
              <p:nvPr/>
            </p:nvSpPr>
            <p:spPr>
              <a:xfrm>
                <a:off x="304800" y="3330476"/>
                <a:ext cx="4600280" cy="2308324"/>
              </a:xfrm>
              <a:prstGeom prst="rect">
                <a:avLst/>
              </a:prstGeom>
              <a:blipFill>
                <a:blip r:embed="rId3"/>
                <a:stretch>
                  <a:fillRect l="-1060" t="-1583" b="-316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45AF416-E28A-44B7-1D21-03C741A7AE53}"/>
              </a:ext>
            </a:extLst>
          </p:cNvPr>
          <p:cNvSpPr txBox="1"/>
          <p:nvPr/>
        </p:nvSpPr>
        <p:spPr>
          <a:xfrm>
            <a:off x="3048000" y="2960358"/>
            <a:ext cx="5029200" cy="369332"/>
          </a:xfrm>
          <a:prstGeom prst="rect">
            <a:avLst/>
          </a:prstGeom>
          <a:noFill/>
        </p:spPr>
        <p:txBody>
          <a:bodyPr wrap="square">
            <a:spAutoFit/>
          </a:bodyPr>
          <a:lstStyle/>
          <a:p>
            <a:r>
              <a:rPr lang="en-US" b="1" dirty="0">
                <a:solidFill>
                  <a:srgbClr val="00B050"/>
                </a:solidFill>
              </a:rPr>
              <a:t>Total order = every pair can be compared</a:t>
            </a:r>
          </a:p>
        </p:txBody>
      </p:sp>
    </p:spTree>
    <p:extLst>
      <p:ext uri="{BB962C8B-B14F-4D97-AF65-F5344CB8AC3E}">
        <p14:creationId xmlns:p14="http://schemas.microsoft.com/office/powerpoint/2010/main" val="32038800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9B5A0-AFFA-F808-0B06-E0A4027DD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7F863-C11A-81D8-C9DD-97304D208B35}"/>
              </a:ext>
            </a:extLst>
          </p:cNvPr>
          <p:cNvSpPr>
            <a:spLocks noGrp="1"/>
          </p:cNvSpPr>
          <p:nvPr>
            <p:ph type="title"/>
          </p:nvPr>
        </p:nvSpPr>
        <p:spPr>
          <a:xfrm>
            <a:off x="146569" y="166132"/>
            <a:ext cx="6347713" cy="1320800"/>
          </a:xfrm>
        </p:spPr>
        <p:txBody>
          <a:bodyPr/>
          <a:lstStyle/>
          <a:p>
            <a:r>
              <a:rPr lang="en-US" dirty="0"/>
              <a:t>Well Ordered Set</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18A8288-BAB7-3A3C-59E1-B6CC99FE2217}"/>
                  </a:ext>
                </a:extLst>
              </p:cNvPr>
              <p:cNvSpPr txBox="1"/>
              <p:nvPr/>
            </p:nvSpPr>
            <p:spPr>
              <a:xfrm>
                <a:off x="314226" y="2071567"/>
                <a:ext cx="6347713" cy="2585323"/>
              </a:xfrm>
              <a:prstGeom prst="rect">
                <a:avLst/>
              </a:prstGeom>
              <a:noFill/>
            </p:spPr>
            <p:txBody>
              <a:bodyPr wrap="square">
                <a:spAutoFit/>
              </a:bodyPr>
              <a:lstStyle/>
              <a:p>
                <a:r>
                  <a:rPr lang="en-US" b="1" dirty="0">
                    <a:solidFill>
                      <a:srgbClr val="00B050"/>
                    </a:solidFill>
                  </a:rPr>
                  <a:t>Such as:</a:t>
                </a:r>
              </a:p>
              <a:p>
                <a:r>
                  <a:rPr lang="en-US" dirty="0">
                    <a:solidFill>
                      <a:srgbClr val="00B050"/>
                    </a:solidFill>
                  </a:rPr>
                  <a:t>Set: </a:t>
                </a:r>
                <a14:m>
                  <m:oMath xmlns:m="http://schemas.openxmlformats.org/officeDocument/2006/math">
                    <m:r>
                      <a:rPr lang="en-US">
                        <a:solidFill>
                          <a:srgbClr val="00B050"/>
                        </a:solidFill>
                        <a:latin typeface="Cambria Math" panose="02040503050406030204" pitchFamily="18" charset="0"/>
                      </a:rPr>
                      <m:t>ℕ</m:t>
                    </m:r>
                    <m:r>
                      <a:rPr lang="en-US">
                        <a:solidFill>
                          <a:srgbClr val="00B050"/>
                        </a:solidFill>
                        <a:latin typeface="Cambria Math" panose="02040503050406030204" pitchFamily="18" charset="0"/>
                      </a:rPr>
                      <m:t>=</m:t>
                    </m:r>
                    <m:d>
                      <m:dPr>
                        <m:begChr m:val="{"/>
                        <m:endChr m:val="}"/>
                        <m:sepChr m:val=","/>
                        <m:ctrlPr>
                          <a:rPr lang="ar-AE" i="1">
                            <a:solidFill>
                              <a:srgbClr val="00B050"/>
                            </a:solidFill>
                            <a:latin typeface="Cambria Math" panose="02040503050406030204" pitchFamily="18" charset="0"/>
                          </a:rPr>
                        </m:ctrlPr>
                      </m:dPr>
                      <m:e>
                        <m:r>
                          <a:rPr lang="ar-AE">
                            <a:solidFill>
                              <a:srgbClr val="00B050"/>
                            </a:solidFill>
                            <a:latin typeface="Cambria Math" panose="02040503050406030204" pitchFamily="18" charset="0"/>
                          </a:rPr>
                          <m:t>1</m:t>
                        </m:r>
                      </m:e>
                      <m:e>
                        <m:r>
                          <a:rPr lang="ar-AE">
                            <a:solidFill>
                              <a:srgbClr val="00B050"/>
                            </a:solidFill>
                            <a:latin typeface="Cambria Math" panose="02040503050406030204" pitchFamily="18" charset="0"/>
                          </a:rPr>
                          <m:t>2</m:t>
                        </m:r>
                      </m:e>
                      <m:e>
                        <m:r>
                          <a:rPr lang="ar-AE">
                            <a:solidFill>
                              <a:srgbClr val="00B050"/>
                            </a:solidFill>
                            <a:latin typeface="Cambria Math" panose="02040503050406030204" pitchFamily="18" charset="0"/>
                          </a:rPr>
                          <m:t>3</m:t>
                        </m:r>
                      </m:e>
                      <m:e>
                        <m:r>
                          <a:rPr lang="ar-AE">
                            <a:solidFill>
                              <a:srgbClr val="00B050"/>
                            </a:solidFill>
                            <a:latin typeface="Cambria Math" panose="02040503050406030204" pitchFamily="18" charset="0"/>
                          </a:rPr>
                          <m:t>4</m:t>
                        </m:r>
                      </m:e>
                      <m:e>
                        <m:r>
                          <a:rPr lang="ar-AE">
                            <a:solidFill>
                              <a:srgbClr val="00B050"/>
                            </a:solidFill>
                            <a:latin typeface="Cambria Math" panose="02040503050406030204" pitchFamily="18" charset="0"/>
                          </a:rPr>
                          <m:t>...</m:t>
                        </m:r>
                      </m:e>
                    </m:d>
                  </m:oMath>
                </a14:m>
                <a:endParaRPr lang="ar-AE" dirty="0">
                  <a:solidFill>
                    <a:srgbClr val="00B050"/>
                  </a:solidFill>
                </a:endParaRPr>
              </a:p>
              <a:p>
                <a:r>
                  <a:rPr lang="en-US" dirty="0">
                    <a:solidFill>
                      <a:srgbClr val="00B050"/>
                    </a:solidFill>
                  </a:rPr>
                  <a:t>Totally ordered (numbers can be compared) </a:t>
                </a:r>
              </a:p>
              <a:p>
                <a:r>
                  <a:rPr lang="en-US" dirty="0">
                    <a:solidFill>
                      <a:srgbClr val="00B050"/>
                    </a:solidFill>
                  </a:rPr>
                  <a:t>Any subset has a smallest element </a:t>
                </a:r>
              </a:p>
              <a:p>
                <a:endParaRPr lang="en-US" dirty="0"/>
              </a:p>
              <a:p>
                <a:r>
                  <a:rPr lang="en-US" b="1" dirty="0">
                    <a:solidFill>
                      <a:srgbClr val="002060"/>
                    </a:solidFill>
                  </a:rPr>
                  <a:t>Example subset:</a:t>
                </a:r>
              </a:p>
              <a:p>
                <a:r>
                  <a:rPr lang="en-US" dirty="0"/>
                  <a:t>{5, 10, 20} → smallest is 5 </a:t>
                </a:r>
              </a:p>
              <a:p>
                <a:r>
                  <a:rPr lang="en-US" dirty="0"/>
                  <a:t>{100, 200} → smallest is 100 </a:t>
                </a:r>
              </a:p>
              <a:p>
                <a:r>
                  <a:rPr lang="en-US" dirty="0">
                    <a:solidFill>
                      <a:srgbClr val="990099"/>
                    </a:solidFill>
                  </a:rPr>
                  <a:t>So this is </a:t>
                </a:r>
                <a:r>
                  <a:rPr lang="en-US" b="1" dirty="0">
                    <a:solidFill>
                      <a:srgbClr val="990099"/>
                    </a:solidFill>
                  </a:rPr>
                  <a:t>well-ordered</a:t>
                </a:r>
                <a:endParaRPr lang="en-US" dirty="0">
                  <a:solidFill>
                    <a:srgbClr val="990099"/>
                  </a:solidFill>
                </a:endParaRPr>
              </a:p>
            </p:txBody>
          </p:sp>
        </mc:Choice>
        <mc:Fallback>
          <p:sp>
            <p:nvSpPr>
              <p:cNvPr id="9" name="TextBox 8">
                <a:extLst>
                  <a:ext uri="{FF2B5EF4-FFF2-40B4-BE49-F238E27FC236}">
                    <a16:creationId xmlns:a16="http://schemas.microsoft.com/office/drawing/2014/main" id="{F18A8288-BAB7-3A3C-59E1-B6CC99FE2217}"/>
                  </a:ext>
                </a:extLst>
              </p:cNvPr>
              <p:cNvSpPr txBox="1">
                <a:spLocks noRot="1" noChangeAspect="1" noMove="1" noResize="1" noEditPoints="1" noAdjustHandles="1" noChangeArrowheads="1" noChangeShapeType="1" noTextEdit="1"/>
              </p:cNvSpPr>
              <p:nvPr/>
            </p:nvSpPr>
            <p:spPr>
              <a:xfrm>
                <a:off x="314226" y="2071567"/>
                <a:ext cx="6347713" cy="2585323"/>
              </a:xfrm>
              <a:prstGeom prst="rect">
                <a:avLst/>
              </a:prstGeom>
              <a:blipFill>
                <a:blip r:embed="rId2"/>
                <a:stretch>
                  <a:fillRect l="-865" t="-1651" b="-2594"/>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9EF6FD70-B882-D449-67CD-4BC8459B42BE}"/>
              </a:ext>
            </a:extLst>
          </p:cNvPr>
          <p:cNvSpPr txBox="1"/>
          <p:nvPr/>
        </p:nvSpPr>
        <p:spPr>
          <a:xfrm>
            <a:off x="304800" y="1148237"/>
            <a:ext cx="7315200" cy="923330"/>
          </a:xfrm>
          <a:prstGeom prst="rect">
            <a:avLst/>
          </a:prstGeom>
          <a:noFill/>
        </p:spPr>
        <p:txBody>
          <a:bodyPr wrap="square">
            <a:spAutoFit/>
          </a:bodyPr>
          <a:lstStyle/>
          <a:p>
            <a:r>
              <a:rPr lang="en-US" dirty="0"/>
              <a:t>A set is </a:t>
            </a:r>
            <a:r>
              <a:rPr lang="en-US" b="1" dirty="0"/>
              <a:t>well-ordered</a:t>
            </a:r>
            <a:r>
              <a:rPr lang="en-US" dirty="0"/>
              <a:t> if:</a:t>
            </a:r>
          </a:p>
          <a:p>
            <a:pPr marL="285750" indent="-285750">
              <a:buFont typeface="Arial" panose="020B0604020202020204" pitchFamily="34" charset="0"/>
              <a:buChar char="•"/>
            </a:pPr>
            <a:r>
              <a:rPr lang="en-US" dirty="0">
                <a:solidFill>
                  <a:srgbClr val="0070C0"/>
                </a:solidFill>
              </a:rPr>
              <a:t>It is totally ordered </a:t>
            </a:r>
          </a:p>
          <a:p>
            <a:pPr marL="285750" indent="-285750">
              <a:buFont typeface="Arial" panose="020B0604020202020204" pitchFamily="34" charset="0"/>
              <a:buChar char="•"/>
            </a:pPr>
            <a:r>
              <a:rPr lang="en-US" b="1" dirty="0">
                <a:solidFill>
                  <a:srgbClr val="0070C0"/>
                </a:solidFill>
              </a:rPr>
              <a:t>Every non-empty subset has a smallest element</a:t>
            </a:r>
            <a:endParaRPr lang="en-US" dirty="0">
              <a:solidFill>
                <a:srgbClr val="0070C0"/>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0CD6590-DEF6-C692-13D0-AA4EF6F01D06}"/>
                  </a:ext>
                </a:extLst>
              </p:cNvPr>
              <p:cNvSpPr txBox="1"/>
              <p:nvPr/>
            </p:nvSpPr>
            <p:spPr>
              <a:xfrm>
                <a:off x="380999" y="4660543"/>
                <a:ext cx="7620001" cy="1200329"/>
              </a:xfrm>
              <a:prstGeom prst="rect">
                <a:avLst/>
              </a:prstGeom>
              <a:noFill/>
            </p:spPr>
            <p:txBody>
              <a:bodyPr wrap="square">
                <a:spAutoFit/>
              </a:bodyPr>
              <a:lstStyle/>
              <a:p>
                <a:r>
                  <a:rPr lang="en-US" b="1" dirty="0">
                    <a:solidFill>
                      <a:srgbClr val="002060"/>
                    </a:solidFill>
                  </a:rPr>
                  <a:t>Example</a:t>
                </a:r>
              </a:p>
              <a:p>
                <a:pPr>
                  <a:buNone/>
                </a:pPr>
                <a:r>
                  <a:rPr lang="en-US" dirty="0"/>
                  <a:t>Set: all integers </a:t>
                </a:r>
                <a14:m>
                  <m:oMath xmlns:m="http://schemas.openxmlformats.org/officeDocument/2006/math">
                    <m:r>
                      <a:rPr lang="en-US">
                        <a:latin typeface="Cambria Math" panose="02040503050406030204" pitchFamily="18" charset="0"/>
                      </a:rPr>
                      <m:t>ℤ</m:t>
                    </m:r>
                    <m:r>
                      <a:rPr lang="en-US" i="0">
                        <a:latin typeface="Cambria Math" panose="02040503050406030204" pitchFamily="18" charset="0"/>
                      </a:rPr>
                      <m:t>=</m:t>
                    </m:r>
                    <m:r>
                      <m:rPr>
                        <m:nor/>
                      </m:rPr>
                      <a:rPr lang="en-US"/>
                      <m:t>{...,</m:t>
                    </m:r>
                    <m:r>
                      <m:rPr>
                        <m:nor/>
                      </m:rPr>
                      <a:rPr lang="en-US"/>
                      <m:t>−</m:t>
                    </m:r>
                    <m:r>
                      <m:rPr>
                        <m:nor/>
                      </m:rPr>
                      <a:rPr lang="en-US"/>
                      <m:t>2</m:t>
                    </m:r>
                    <m:r>
                      <m:rPr>
                        <m:nor/>
                      </m:rPr>
                      <a:rPr lang="en-US"/>
                      <m:t>,</m:t>
                    </m:r>
                    <m:r>
                      <m:rPr>
                        <m:nor/>
                      </m:rPr>
                      <a:rPr lang="en-US"/>
                      <m:t>−</m:t>
                    </m:r>
                    <m:r>
                      <m:rPr>
                        <m:nor/>
                      </m:rPr>
                      <a:rPr lang="en-US"/>
                      <m:t>1,0,1,2</m:t>
                    </m:r>
                    <m:r>
                      <m:rPr>
                        <m:nor/>
                      </m:rPr>
                      <a:rPr lang="en-US"/>
                      <m:t>...</m:t>
                    </m:r>
                    <m:r>
                      <m:rPr>
                        <m:nor/>
                      </m:rPr>
                      <a:rPr lang="en-US"/>
                      <m:t>}</m:t>
                    </m:r>
                  </m:oMath>
                </a14:m>
                <a:endParaRPr lang="ar-AE" dirty="0"/>
              </a:p>
              <a:p>
                <a:pPr>
                  <a:buNone/>
                </a:pPr>
                <a:r>
                  <a:rPr lang="en-US" dirty="0"/>
                  <a:t>Consider its subset: {..., -3, -2, -1} </a:t>
                </a:r>
              </a:p>
              <a:p>
                <a:pPr>
                  <a:buNone/>
                </a:pPr>
                <a:r>
                  <a:rPr lang="en-US" dirty="0">
                    <a:solidFill>
                      <a:srgbClr val="990099"/>
                    </a:solidFill>
                  </a:rPr>
                  <a:t>No smallest element (it keeps going down) </a:t>
                </a:r>
                <a:r>
                  <a:rPr lang="en-US" b="1" dirty="0">
                    <a:solidFill>
                      <a:srgbClr val="990099"/>
                    </a:solidFill>
                  </a:rPr>
                  <a:t>So NOT well-ordered</a:t>
                </a:r>
              </a:p>
            </p:txBody>
          </p:sp>
        </mc:Choice>
        <mc:Fallback>
          <p:sp>
            <p:nvSpPr>
              <p:cNvPr id="4" name="TextBox 3">
                <a:extLst>
                  <a:ext uri="{FF2B5EF4-FFF2-40B4-BE49-F238E27FC236}">
                    <a16:creationId xmlns:a16="http://schemas.microsoft.com/office/drawing/2014/main" id="{30CD6590-DEF6-C692-13D0-AA4EF6F01D06}"/>
                  </a:ext>
                </a:extLst>
              </p:cNvPr>
              <p:cNvSpPr txBox="1">
                <a:spLocks noRot="1" noChangeAspect="1" noMove="1" noResize="1" noEditPoints="1" noAdjustHandles="1" noChangeArrowheads="1" noChangeShapeType="1" noTextEdit="1"/>
              </p:cNvSpPr>
              <p:nvPr/>
            </p:nvSpPr>
            <p:spPr>
              <a:xfrm>
                <a:off x="380999" y="4660543"/>
                <a:ext cx="7620001" cy="1200329"/>
              </a:xfrm>
              <a:prstGeom prst="rect">
                <a:avLst/>
              </a:prstGeom>
              <a:blipFill>
                <a:blip r:embed="rId3"/>
                <a:stretch>
                  <a:fillRect l="-639" t="-3571" b="-7143"/>
                </a:stretch>
              </a:blipFill>
            </p:spPr>
            <p:txBody>
              <a:bodyPr/>
              <a:lstStyle/>
              <a:p>
                <a:r>
                  <a:rPr lang="en-US">
                    <a:noFill/>
                  </a:rPr>
                  <a:t> </a:t>
                </a:r>
              </a:p>
            </p:txBody>
          </p:sp>
        </mc:Fallback>
      </mc:AlternateContent>
    </p:spTree>
    <p:extLst>
      <p:ext uri="{BB962C8B-B14F-4D97-AF65-F5344CB8AC3E}">
        <p14:creationId xmlns:p14="http://schemas.microsoft.com/office/powerpoint/2010/main" val="28992424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ED09A-6050-1C7A-4893-17B87CCBC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8A187-97A3-5D01-02A2-EE1DE2BBC784}"/>
              </a:ext>
            </a:extLst>
          </p:cNvPr>
          <p:cNvSpPr>
            <a:spLocks noGrp="1"/>
          </p:cNvSpPr>
          <p:nvPr>
            <p:ph type="title"/>
          </p:nvPr>
        </p:nvSpPr>
        <p:spPr>
          <a:xfrm>
            <a:off x="146569" y="166132"/>
            <a:ext cx="6347713" cy="1320800"/>
          </a:xfrm>
        </p:spPr>
        <p:txBody>
          <a:bodyPr/>
          <a:lstStyle/>
          <a:p>
            <a:r>
              <a:rPr lang="en-US" dirty="0"/>
              <a:t>Lexicographic Set</a:t>
            </a:r>
          </a:p>
        </p:txBody>
      </p:sp>
      <p:sp>
        <p:nvSpPr>
          <p:cNvPr id="11" name="TextBox 10">
            <a:extLst>
              <a:ext uri="{FF2B5EF4-FFF2-40B4-BE49-F238E27FC236}">
                <a16:creationId xmlns:a16="http://schemas.microsoft.com/office/drawing/2014/main" id="{76609A44-10B0-963A-809B-74170FDF23CE}"/>
              </a:ext>
            </a:extLst>
          </p:cNvPr>
          <p:cNvSpPr txBox="1"/>
          <p:nvPr/>
        </p:nvSpPr>
        <p:spPr>
          <a:xfrm>
            <a:off x="304800" y="1148237"/>
            <a:ext cx="7315200" cy="5078313"/>
          </a:xfrm>
          <a:prstGeom prst="rect">
            <a:avLst/>
          </a:prstGeom>
          <a:noFill/>
        </p:spPr>
        <p:txBody>
          <a:bodyPr wrap="square">
            <a:spAutoFit/>
          </a:bodyPr>
          <a:lstStyle/>
          <a:p>
            <a:r>
              <a:rPr lang="en-US" dirty="0">
                <a:solidFill>
                  <a:srgbClr val="002060"/>
                </a:solidFill>
              </a:rPr>
              <a:t>Lexicographic order is a way to arrange </a:t>
            </a:r>
            <a:r>
              <a:rPr lang="en-US" b="1" dirty="0">
                <a:solidFill>
                  <a:srgbClr val="002060"/>
                </a:solidFill>
              </a:rPr>
              <a:t>words or strings</a:t>
            </a:r>
            <a:r>
              <a:rPr lang="en-US" dirty="0">
                <a:solidFill>
                  <a:srgbClr val="002060"/>
                </a:solidFill>
              </a:rPr>
              <a:t> in the same way a </a:t>
            </a:r>
            <a:r>
              <a:rPr lang="en-US" b="1" dirty="0">
                <a:solidFill>
                  <a:srgbClr val="002060"/>
                </a:solidFill>
              </a:rPr>
              <a:t>dictionary</a:t>
            </a:r>
            <a:r>
              <a:rPr lang="en-US" dirty="0">
                <a:solidFill>
                  <a:srgbClr val="002060"/>
                </a:solidFill>
              </a:rPr>
              <a:t> does.</a:t>
            </a:r>
          </a:p>
          <a:p>
            <a:endParaRPr lang="en-US" dirty="0">
              <a:solidFill>
                <a:srgbClr val="002060"/>
              </a:solidFill>
            </a:endParaRPr>
          </a:p>
          <a:p>
            <a:r>
              <a:rPr lang="en-US" b="1" dirty="0">
                <a:solidFill>
                  <a:srgbClr val="CC0066"/>
                </a:solidFill>
              </a:rPr>
              <a:t>How it works</a:t>
            </a:r>
          </a:p>
          <a:p>
            <a:pPr marL="285750" indent="-285750">
              <a:buFont typeface="Arial" panose="020B0604020202020204" pitchFamily="34" charset="0"/>
              <a:buChar char="•"/>
            </a:pPr>
            <a:r>
              <a:rPr lang="en-US" dirty="0">
                <a:solidFill>
                  <a:srgbClr val="CC0066"/>
                </a:solidFill>
              </a:rPr>
              <a:t>Compare two words </a:t>
            </a:r>
            <a:r>
              <a:rPr lang="en-US" b="1" dirty="0">
                <a:solidFill>
                  <a:srgbClr val="CC0066"/>
                </a:solidFill>
              </a:rPr>
              <a:t>letter by letter from left to right</a:t>
            </a:r>
            <a:r>
              <a:rPr lang="en-US" dirty="0">
                <a:solidFill>
                  <a:srgbClr val="CC0066"/>
                </a:solidFill>
              </a:rPr>
              <a:t> </a:t>
            </a:r>
          </a:p>
          <a:p>
            <a:pPr marL="285750" indent="-285750">
              <a:buFont typeface="Arial" panose="020B0604020202020204" pitchFamily="34" charset="0"/>
              <a:buChar char="•"/>
            </a:pPr>
            <a:r>
              <a:rPr lang="en-US" dirty="0">
                <a:solidFill>
                  <a:srgbClr val="CC0066"/>
                </a:solidFill>
              </a:rPr>
              <a:t>The </a:t>
            </a:r>
            <a:r>
              <a:rPr lang="en-US" b="1" dirty="0">
                <a:solidFill>
                  <a:srgbClr val="CC0066"/>
                </a:solidFill>
              </a:rPr>
              <a:t>first different letter decides the order</a:t>
            </a:r>
            <a:r>
              <a:rPr lang="en-US" dirty="0">
                <a:solidFill>
                  <a:srgbClr val="CC0066"/>
                </a:solidFill>
              </a:rPr>
              <a:t> </a:t>
            </a:r>
          </a:p>
          <a:p>
            <a:pPr marL="285750" indent="-285750">
              <a:buFont typeface="Arial" panose="020B0604020202020204" pitchFamily="34" charset="0"/>
              <a:buChar char="•"/>
            </a:pPr>
            <a:r>
              <a:rPr lang="en-US" dirty="0">
                <a:solidFill>
                  <a:srgbClr val="CC0066"/>
                </a:solidFill>
              </a:rPr>
              <a:t>If one word ends first, the </a:t>
            </a:r>
            <a:r>
              <a:rPr lang="en-US" b="1" dirty="0">
                <a:solidFill>
                  <a:srgbClr val="CC0066"/>
                </a:solidFill>
              </a:rPr>
              <a:t>shorter word comes first</a:t>
            </a:r>
            <a:endParaRPr lang="en-US" dirty="0">
              <a:solidFill>
                <a:srgbClr val="CC0066"/>
              </a:solidFill>
            </a:endParaRPr>
          </a:p>
          <a:p>
            <a:endParaRPr lang="en-US" dirty="0">
              <a:solidFill>
                <a:srgbClr val="990099"/>
              </a:solidFill>
            </a:endParaRPr>
          </a:p>
          <a:p>
            <a:r>
              <a:rPr lang="en-US" b="1" dirty="0">
                <a:solidFill>
                  <a:srgbClr val="990099"/>
                </a:solidFill>
              </a:rPr>
              <a:t>Examples</a:t>
            </a:r>
          </a:p>
          <a:p>
            <a:pPr marL="342900" indent="-342900">
              <a:buFont typeface="+mj-lt"/>
              <a:buAutoNum type="arabicPeriod"/>
            </a:pPr>
            <a:r>
              <a:rPr lang="en-US" b="1" dirty="0">
                <a:solidFill>
                  <a:srgbClr val="002060"/>
                </a:solidFill>
              </a:rPr>
              <a:t>apple &lt; banana</a:t>
            </a:r>
            <a:br>
              <a:rPr lang="en-US" dirty="0">
                <a:solidFill>
                  <a:srgbClr val="002060"/>
                </a:solidFill>
              </a:rPr>
            </a:br>
            <a:r>
              <a:rPr lang="en-US" dirty="0">
                <a:solidFill>
                  <a:srgbClr val="002060"/>
                </a:solidFill>
              </a:rPr>
              <a:t>(a comes before b) </a:t>
            </a:r>
          </a:p>
          <a:p>
            <a:pPr marL="342900" indent="-342900">
              <a:buFont typeface="+mj-lt"/>
              <a:buAutoNum type="arabicPeriod"/>
            </a:pPr>
            <a:r>
              <a:rPr lang="en-US" b="1" dirty="0">
                <a:solidFill>
                  <a:srgbClr val="002060"/>
                </a:solidFill>
              </a:rPr>
              <a:t>apple &lt; apricot</a:t>
            </a:r>
            <a:br>
              <a:rPr lang="en-US" dirty="0">
                <a:solidFill>
                  <a:srgbClr val="002060"/>
                </a:solidFill>
              </a:rPr>
            </a:br>
            <a:r>
              <a:rPr lang="en-US" dirty="0">
                <a:solidFill>
                  <a:srgbClr val="002060"/>
                </a:solidFill>
              </a:rPr>
              <a:t>(a = a, p = p, p &lt; r) </a:t>
            </a:r>
          </a:p>
          <a:p>
            <a:pPr marL="342900" indent="-342900">
              <a:buFont typeface="+mj-lt"/>
              <a:buAutoNum type="arabicPeriod"/>
            </a:pPr>
            <a:r>
              <a:rPr lang="en-US" b="1" dirty="0">
                <a:solidFill>
                  <a:srgbClr val="002060"/>
                </a:solidFill>
              </a:rPr>
              <a:t>app &lt; apple</a:t>
            </a:r>
            <a:br>
              <a:rPr lang="en-US" dirty="0">
                <a:solidFill>
                  <a:srgbClr val="002060"/>
                </a:solidFill>
              </a:rPr>
            </a:br>
            <a:r>
              <a:rPr lang="en-US" dirty="0">
                <a:solidFill>
                  <a:srgbClr val="002060"/>
                </a:solidFill>
              </a:rPr>
              <a:t>(app is part of apple → shorter comes first)</a:t>
            </a:r>
          </a:p>
          <a:p>
            <a:pPr marL="342900" indent="-342900">
              <a:buFont typeface="+mj-lt"/>
              <a:buAutoNum type="arabicPeriod"/>
            </a:pPr>
            <a:r>
              <a:rPr lang="en-US" b="1" dirty="0">
                <a:solidFill>
                  <a:srgbClr val="002060"/>
                </a:solidFill>
              </a:rPr>
              <a:t>car &lt; cat</a:t>
            </a:r>
            <a:br>
              <a:rPr lang="en-US" b="1" dirty="0">
                <a:solidFill>
                  <a:srgbClr val="002060"/>
                </a:solidFill>
              </a:rPr>
            </a:br>
            <a:r>
              <a:rPr lang="en-US" dirty="0">
                <a:solidFill>
                  <a:srgbClr val="002060"/>
                </a:solidFill>
              </a:rPr>
              <a:t>(r comes before t)</a:t>
            </a:r>
          </a:p>
          <a:p>
            <a:endParaRPr lang="en-US" dirty="0"/>
          </a:p>
        </p:txBody>
      </p:sp>
    </p:spTree>
    <p:extLst>
      <p:ext uri="{BB962C8B-B14F-4D97-AF65-F5344CB8AC3E}">
        <p14:creationId xmlns:p14="http://schemas.microsoft.com/office/powerpoint/2010/main" val="12151593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CE4A6-E481-B3D8-02C5-E677F74E8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5B810-E435-8D29-647D-7E5E24AE6697}"/>
              </a:ext>
            </a:extLst>
          </p:cNvPr>
          <p:cNvSpPr>
            <a:spLocks noGrp="1"/>
          </p:cNvSpPr>
          <p:nvPr>
            <p:ph type="title"/>
          </p:nvPr>
        </p:nvSpPr>
        <p:spPr>
          <a:xfrm>
            <a:off x="146569" y="166132"/>
            <a:ext cx="6347713" cy="1320800"/>
          </a:xfrm>
        </p:spPr>
        <p:txBody>
          <a:bodyPr/>
          <a:lstStyle/>
          <a:p>
            <a:r>
              <a:rPr lang="en-US" dirty="0"/>
              <a:t>Lexicographic Set</a:t>
            </a:r>
          </a:p>
        </p:txBody>
      </p:sp>
      <p:sp>
        <p:nvSpPr>
          <p:cNvPr id="11" name="TextBox 10">
            <a:extLst>
              <a:ext uri="{FF2B5EF4-FFF2-40B4-BE49-F238E27FC236}">
                <a16:creationId xmlns:a16="http://schemas.microsoft.com/office/drawing/2014/main" id="{32C3C530-CA03-ACA9-B687-4E9C0CCF7727}"/>
              </a:ext>
            </a:extLst>
          </p:cNvPr>
          <p:cNvSpPr txBox="1"/>
          <p:nvPr/>
        </p:nvSpPr>
        <p:spPr>
          <a:xfrm>
            <a:off x="304800" y="1148237"/>
            <a:ext cx="7315200" cy="4801314"/>
          </a:xfrm>
          <a:prstGeom prst="rect">
            <a:avLst/>
          </a:prstGeom>
          <a:noFill/>
        </p:spPr>
        <p:txBody>
          <a:bodyPr wrap="square">
            <a:spAutoFit/>
          </a:bodyPr>
          <a:lstStyle/>
          <a:p>
            <a:r>
              <a:rPr lang="en-US" b="1" dirty="0">
                <a:solidFill>
                  <a:srgbClr val="CC0066"/>
                </a:solidFill>
              </a:rPr>
              <a:t>Important point (When numbers are treated as strings, they are compared like words:)</a:t>
            </a:r>
          </a:p>
          <a:p>
            <a:r>
              <a:rPr lang="en-US" dirty="0">
                <a:solidFill>
                  <a:srgbClr val="002060"/>
                </a:solidFill>
              </a:rPr>
              <a:t>Numbers treated as strings are different:</a:t>
            </a:r>
          </a:p>
          <a:p>
            <a:r>
              <a:rPr lang="en-US" dirty="0">
                <a:solidFill>
                  <a:srgbClr val="7030A0"/>
                </a:solidFill>
              </a:rPr>
              <a:t>Lexicographic order: "10" &lt; "2" (because '1' &lt; '2') </a:t>
            </a:r>
          </a:p>
          <a:p>
            <a:r>
              <a:rPr lang="en-US" dirty="0">
                <a:solidFill>
                  <a:schemeClr val="accent5">
                    <a:lumMod val="75000"/>
                  </a:schemeClr>
                </a:solidFill>
              </a:rPr>
              <a:t>Numerical order: 2 &lt; 10</a:t>
            </a:r>
          </a:p>
          <a:p>
            <a:endParaRPr lang="en-US" dirty="0"/>
          </a:p>
          <a:p>
            <a:endParaRPr lang="en-US" dirty="0"/>
          </a:p>
          <a:p>
            <a:r>
              <a:rPr lang="en-US" b="1" dirty="0">
                <a:solidFill>
                  <a:srgbClr val="002060"/>
                </a:solidFill>
              </a:rPr>
              <a:t>Example: ["1", "2", "10", "20"]</a:t>
            </a:r>
          </a:p>
          <a:p>
            <a:r>
              <a:rPr lang="en-US" b="1" dirty="0">
                <a:solidFill>
                  <a:srgbClr val="002060"/>
                </a:solidFill>
              </a:rPr>
              <a:t>Lexicographic sort:</a:t>
            </a:r>
          </a:p>
          <a:p>
            <a:r>
              <a:rPr lang="en-US" dirty="0">
                <a:solidFill>
                  <a:srgbClr val="002060"/>
                </a:solidFill>
              </a:rPr>
              <a:t>Compare as strings:</a:t>
            </a:r>
          </a:p>
          <a:p>
            <a:r>
              <a:rPr lang="en-US" dirty="0">
                <a:solidFill>
                  <a:srgbClr val="002060"/>
                </a:solidFill>
              </a:rPr>
              <a:t>"1" </a:t>
            </a:r>
          </a:p>
          <a:p>
            <a:r>
              <a:rPr lang="en-US" dirty="0">
                <a:solidFill>
                  <a:srgbClr val="002060"/>
                </a:solidFill>
              </a:rPr>
              <a:t>"10" </a:t>
            </a:r>
          </a:p>
          <a:p>
            <a:r>
              <a:rPr lang="en-US" dirty="0">
                <a:solidFill>
                  <a:srgbClr val="002060"/>
                </a:solidFill>
              </a:rPr>
              <a:t>"2" </a:t>
            </a:r>
          </a:p>
          <a:p>
            <a:r>
              <a:rPr lang="en-US" dirty="0">
                <a:solidFill>
                  <a:srgbClr val="002060"/>
                </a:solidFill>
              </a:rPr>
              <a:t>"20" </a:t>
            </a:r>
          </a:p>
          <a:p>
            <a:r>
              <a:rPr lang="en-US" dirty="0">
                <a:solidFill>
                  <a:srgbClr val="990099"/>
                </a:solidFill>
              </a:rPr>
              <a:t>Order becomes:[1,10,2,20]</a:t>
            </a:r>
          </a:p>
          <a:p>
            <a:endParaRPr lang="en-US" dirty="0"/>
          </a:p>
          <a:p>
            <a:r>
              <a:rPr lang="en-US" dirty="0">
                <a:solidFill>
                  <a:srgbClr val="FF0000"/>
                </a:solidFill>
              </a:rPr>
              <a:t>Not correct: Numerical sort [1,2,10,20]</a:t>
            </a:r>
          </a:p>
        </p:txBody>
      </p:sp>
    </p:spTree>
    <p:extLst>
      <p:ext uri="{BB962C8B-B14F-4D97-AF65-F5344CB8AC3E}">
        <p14:creationId xmlns:p14="http://schemas.microsoft.com/office/powerpoint/2010/main" val="7858663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68DD8-4944-78D9-40C4-93271C08D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89318-BD77-B004-FE68-E72491933F30}"/>
              </a:ext>
            </a:extLst>
          </p:cNvPr>
          <p:cNvSpPr>
            <a:spLocks noGrp="1"/>
          </p:cNvSpPr>
          <p:nvPr>
            <p:ph type="title"/>
          </p:nvPr>
        </p:nvSpPr>
        <p:spPr>
          <a:xfrm>
            <a:off x="146569" y="166132"/>
            <a:ext cx="6347713" cy="1320800"/>
          </a:xfrm>
        </p:spPr>
        <p:txBody>
          <a:bodyPr/>
          <a:lstStyle/>
          <a:p>
            <a:r>
              <a:rPr lang="en-US" dirty="0"/>
              <a:t>Lexicographic Set</a:t>
            </a:r>
          </a:p>
        </p:txBody>
      </p:sp>
      <p:sp>
        <p:nvSpPr>
          <p:cNvPr id="4" name="Rectangle 2">
            <a:extLst>
              <a:ext uri="{FF2B5EF4-FFF2-40B4-BE49-F238E27FC236}">
                <a16:creationId xmlns:a16="http://schemas.microsoft.com/office/drawing/2014/main" id="{ACC47A73-5B78-C5C6-3D77-740E5E73C89B}"/>
              </a:ext>
            </a:extLst>
          </p:cNvPr>
          <p:cNvSpPr>
            <a:spLocks noChangeArrowheads="1"/>
          </p:cNvSpPr>
          <p:nvPr/>
        </p:nvSpPr>
        <p:spPr bwMode="auto">
          <a:xfrm>
            <a:off x="533400" y="685800"/>
            <a:ext cx="56388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lang="en-US" altLang="en-US" b="1" dirty="0">
                <a:latin typeface="Arial" panose="020B0604020202020204" pitchFamily="34" charset="0"/>
              </a:rPr>
              <a:t>Sort using Lexicographic Order (NUMBERS)</a:t>
            </a:r>
            <a:endParaRPr lang="en-US" altLang="en-US" dirty="0">
              <a:latin typeface="Arial" panose="020B0604020202020204" pitchFamily="34" charset="0"/>
            </a:endParaRPr>
          </a:p>
          <a:p>
            <a:pPr lvl="0" defTabSz="914400" eaLnBrk="0" fontAlgn="base" hangingPunct="0">
              <a:spcBef>
                <a:spcPct val="0"/>
              </a:spcBef>
              <a:spcAft>
                <a:spcPct val="0"/>
              </a:spcAft>
              <a:buFontTx/>
              <a:buChar char="•"/>
            </a:pPr>
            <a:r>
              <a:rPr lang="en-US" altLang="en-US" dirty="0">
                <a:latin typeface="Arial" panose="020B0604020202020204" pitchFamily="34" charset="0"/>
              </a:rPr>
              <a:t>"1" </a:t>
            </a:r>
          </a:p>
          <a:p>
            <a:pPr lvl="0" defTabSz="914400" eaLnBrk="0" fontAlgn="base" hangingPunct="0">
              <a:spcBef>
                <a:spcPct val="0"/>
              </a:spcBef>
              <a:spcAft>
                <a:spcPct val="0"/>
              </a:spcAft>
              <a:buFontTx/>
              <a:buChar char="•"/>
            </a:pPr>
            <a:r>
              <a:rPr lang="en-US" altLang="en-US" dirty="0">
                <a:latin typeface="Arial" panose="020B0604020202020204" pitchFamily="34" charset="0"/>
              </a:rPr>
              <a:t>"10" </a:t>
            </a:r>
          </a:p>
          <a:p>
            <a:pPr lvl="0" defTabSz="914400" eaLnBrk="0" fontAlgn="base" hangingPunct="0">
              <a:spcBef>
                <a:spcPct val="0"/>
              </a:spcBef>
              <a:spcAft>
                <a:spcPct val="0"/>
              </a:spcAft>
              <a:buFontTx/>
              <a:buChar char="•"/>
            </a:pPr>
            <a:r>
              <a:rPr lang="en-US" altLang="en-US" dirty="0">
                <a:latin typeface="Arial" panose="020B0604020202020204" pitchFamily="34" charset="0"/>
              </a:rPr>
              <a:t>"2" </a:t>
            </a:r>
          </a:p>
          <a:p>
            <a:pPr lvl="0" defTabSz="914400" eaLnBrk="0" fontAlgn="base" hangingPunct="0">
              <a:spcBef>
                <a:spcPct val="0"/>
              </a:spcBef>
              <a:spcAft>
                <a:spcPct val="0"/>
              </a:spcAft>
              <a:buFontTx/>
              <a:buChar char="•"/>
            </a:pPr>
            <a:r>
              <a:rPr lang="en-US" altLang="en-US" dirty="0">
                <a:latin typeface="Arial" panose="020B0604020202020204" pitchFamily="34" charset="0"/>
              </a:rPr>
              <a:t>"20" </a:t>
            </a:r>
          </a:p>
          <a:p>
            <a:pPr lvl="0" defTabSz="914400" eaLnBrk="0" fontAlgn="base" hangingPunct="0">
              <a:spcBef>
                <a:spcPct val="0"/>
              </a:spcBef>
              <a:spcAft>
                <a:spcPct val="0"/>
              </a:spcAft>
              <a:buFontTx/>
              <a:buChar char="•"/>
            </a:pPr>
            <a:r>
              <a:rPr lang="en-US" altLang="en-US" dirty="0">
                <a:latin typeface="Arial" panose="020B0604020202020204" pitchFamily="34" charset="0"/>
              </a:rPr>
              <a:t>"3" </a:t>
            </a:r>
          </a:p>
          <a:p>
            <a:pPr lvl="0" defTabSz="914400" eaLnBrk="0" fontAlgn="base" hangingPunct="0">
              <a:spcBef>
                <a:spcPct val="0"/>
              </a:spcBef>
              <a:spcAft>
                <a:spcPct val="0"/>
              </a:spcAft>
              <a:buFontTx/>
              <a:buChar char="•"/>
            </a:pPr>
            <a:r>
              <a:rPr lang="en-US" altLang="en-US" dirty="0">
                <a:latin typeface="Arial" panose="020B0604020202020204" pitchFamily="34" charset="0"/>
              </a:rPr>
              <a:t>"11" </a:t>
            </a:r>
          </a:p>
          <a:p>
            <a:pPr lvl="0" defTabSz="914400" eaLnBrk="0" fontAlgn="base" hangingPunct="0">
              <a:spcBef>
                <a:spcPct val="0"/>
              </a:spcBef>
              <a:spcAft>
                <a:spcPct val="0"/>
              </a:spcAft>
              <a:buFontTx/>
              <a:buChar char="•"/>
            </a:pPr>
            <a:r>
              <a:rPr lang="en-US" altLang="en-US" dirty="0">
                <a:latin typeface="Arial" panose="020B0604020202020204" pitchFamily="34" charset="0"/>
              </a:rPr>
              <a:t>"12"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Sort using Lexicographic Order (STRINGS)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"zebra"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"banana"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"apricot"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"dog"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"ball" </a:t>
            </a:r>
          </a:p>
        </p:txBody>
      </p:sp>
    </p:spTree>
    <p:extLst>
      <p:ext uri="{BB962C8B-B14F-4D97-AF65-F5344CB8AC3E}">
        <p14:creationId xmlns:p14="http://schemas.microsoft.com/office/powerpoint/2010/main" val="32734414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F6B73-AF95-75ED-5036-4C85093CA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B11DF-8A51-38BE-BA74-637DB5AF2E96}"/>
              </a:ext>
            </a:extLst>
          </p:cNvPr>
          <p:cNvSpPr>
            <a:spLocks noGrp="1"/>
          </p:cNvSpPr>
          <p:nvPr>
            <p:ph type="title"/>
          </p:nvPr>
        </p:nvSpPr>
        <p:spPr/>
        <p:txBody>
          <a:bodyPr/>
          <a:lstStyle/>
          <a:p>
            <a:r>
              <a:rPr lang="en-US" dirty="0" err="1"/>
              <a:t>Hasse</a:t>
            </a:r>
            <a:r>
              <a:rPr lang="en-US" dirty="0"/>
              <a:t> Diagrams</a:t>
            </a:r>
          </a:p>
        </p:txBody>
      </p:sp>
      <p:sp>
        <p:nvSpPr>
          <p:cNvPr id="3" name="Content Placeholder 2">
            <a:extLst>
              <a:ext uri="{FF2B5EF4-FFF2-40B4-BE49-F238E27FC236}">
                <a16:creationId xmlns:a16="http://schemas.microsoft.com/office/drawing/2014/main" id="{810D1645-4189-75AA-2C86-7782A9E34CC5}"/>
              </a:ext>
            </a:extLst>
          </p:cNvPr>
          <p:cNvSpPr>
            <a:spLocks noGrp="1"/>
          </p:cNvSpPr>
          <p:nvPr>
            <p:ph idx="1"/>
          </p:nvPr>
        </p:nvSpPr>
        <p:spPr>
          <a:xfrm>
            <a:off x="76200" y="1488613"/>
            <a:ext cx="8000999" cy="3880773"/>
          </a:xfrm>
        </p:spPr>
        <p:txBody>
          <a:bodyPr>
            <a:noAutofit/>
          </a:bodyPr>
          <a:lstStyle/>
          <a:p>
            <a:r>
              <a:rPr lang="en-US" sz="2000" dirty="0">
                <a:solidFill>
                  <a:srgbClr val="002060"/>
                </a:solidFill>
              </a:rPr>
              <a:t>A </a:t>
            </a:r>
            <a:r>
              <a:rPr lang="en-US" sz="2000" b="1" dirty="0">
                <a:solidFill>
                  <a:srgbClr val="002060"/>
                </a:solidFill>
              </a:rPr>
              <a:t>Hasse diagram</a:t>
            </a:r>
            <a:r>
              <a:rPr lang="en-US" sz="2000" dirty="0">
                <a:solidFill>
                  <a:srgbClr val="002060"/>
                </a:solidFill>
              </a:rPr>
              <a:t> is a simple picture of a partial order that removes extra unnecessary edges.</a:t>
            </a:r>
          </a:p>
          <a:p>
            <a:r>
              <a:rPr lang="en-US" sz="2000" dirty="0">
                <a:solidFill>
                  <a:srgbClr val="002060"/>
                </a:solidFill>
              </a:rPr>
              <a:t>It does NOT show:</a:t>
            </a:r>
          </a:p>
          <a:p>
            <a:pPr lvl="1"/>
            <a:r>
              <a:rPr lang="en-US" sz="1800" dirty="0">
                <a:solidFill>
                  <a:srgbClr val="002060"/>
                </a:solidFill>
              </a:rPr>
              <a:t>self-loops (because of reflexive property) </a:t>
            </a:r>
          </a:p>
          <a:p>
            <a:pPr lvl="1"/>
            <a:r>
              <a:rPr lang="en-US" sz="1800" dirty="0">
                <a:solidFill>
                  <a:srgbClr val="002060"/>
                </a:solidFill>
              </a:rPr>
              <a:t>indirect edges (because of transitive property) </a:t>
            </a:r>
          </a:p>
          <a:p>
            <a:pPr lvl="1"/>
            <a:r>
              <a:rPr lang="en-US" sz="1800" dirty="0">
                <a:solidFill>
                  <a:srgbClr val="002060"/>
                </a:solidFill>
              </a:rPr>
              <a:t>It only shows the </a:t>
            </a:r>
            <a:r>
              <a:rPr lang="en-US" sz="1800" b="1" dirty="0">
                <a:solidFill>
                  <a:srgbClr val="002060"/>
                </a:solidFill>
              </a:rPr>
              <a:t>important direct connections</a:t>
            </a:r>
            <a:r>
              <a:rPr lang="en-US" sz="1800" dirty="0">
                <a:solidFill>
                  <a:srgbClr val="002060"/>
                </a:solidFill>
              </a:rPr>
              <a:t>.</a:t>
            </a:r>
          </a:p>
          <a:p>
            <a:endParaRPr lang="en-US" sz="2000" dirty="0"/>
          </a:p>
          <a:p>
            <a:endParaRPr lang="en-US" sz="2000" dirty="0"/>
          </a:p>
        </p:txBody>
      </p:sp>
    </p:spTree>
    <p:extLst>
      <p:ext uri="{BB962C8B-B14F-4D97-AF65-F5344CB8AC3E}">
        <p14:creationId xmlns:p14="http://schemas.microsoft.com/office/powerpoint/2010/main" val="8756638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3910C-5DB0-8522-7C2B-1D3080E82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78C68-B0A7-5627-AD2A-3CCE261C4EDF}"/>
              </a:ext>
            </a:extLst>
          </p:cNvPr>
          <p:cNvSpPr>
            <a:spLocks noGrp="1"/>
          </p:cNvSpPr>
          <p:nvPr>
            <p:ph type="title"/>
          </p:nvPr>
        </p:nvSpPr>
        <p:spPr/>
        <p:txBody>
          <a:bodyPr/>
          <a:lstStyle/>
          <a:p>
            <a:r>
              <a:rPr lang="en-US" dirty="0" err="1"/>
              <a:t>Hasse</a:t>
            </a:r>
            <a:r>
              <a:rPr lang="en-US" dirty="0"/>
              <a:t> Diagrams</a:t>
            </a:r>
          </a:p>
        </p:txBody>
      </p:sp>
      <p:sp>
        <p:nvSpPr>
          <p:cNvPr id="3" name="Content Placeholder 2">
            <a:extLst>
              <a:ext uri="{FF2B5EF4-FFF2-40B4-BE49-F238E27FC236}">
                <a16:creationId xmlns:a16="http://schemas.microsoft.com/office/drawing/2014/main" id="{4A86484A-B032-3FCB-AEC6-1E4B7726802C}"/>
              </a:ext>
            </a:extLst>
          </p:cNvPr>
          <p:cNvSpPr>
            <a:spLocks noGrp="1"/>
          </p:cNvSpPr>
          <p:nvPr>
            <p:ph idx="1"/>
          </p:nvPr>
        </p:nvSpPr>
        <p:spPr>
          <a:xfrm>
            <a:off x="76201" y="1488613"/>
            <a:ext cx="5410200" cy="3880773"/>
          </a:xfrm>
        </p:spPr>
        <p:txBody>
          <a:bodyPr>
            <a:noAutofit/>
          </a:bodyPr>
          <a:lstStyle/>
          <a:p>
            <a:r>
              <a:rPr lang="en-US" sz="2400" dirty="0"/>
              <a:t>To construct a Hasse diagram, we follow these four steps:</a:t>
            </a:r>
          </a:p>
          <a:p>
            <a:r>
              <a:rPr lang="en-US" sz="2400" b="1" dirty="0"/>
              <a:t>Step 1</a:t>
            </a:r>
          </a:p>
          <a:p>
            <a:r>
              <a:rPr lang="en-US" sz="2400" dirty="0"/>
              <a:t>Create a directed graph from the relation.</a:t>
            </a:r>
          </a:p>
        </p:txBody>
      </p:sp>
      <p:pic>
        <p:nvPicPr>
          <p:cNvPr id="5" name="Picture 4">
            <a:extLst>
              <a:ext uri="{FF2B5EF4-FFF2-40B4-BE49-F238E27FC236}">
                <a16:creationId xmlns:a16="http://schemas.microsoft.com/office/drawing/2014/main" id="{646AF3A1-5673-8156-46F0-2CB6FF82C3A6}"/>
              </a:ext>
            </a:extLst>
          </p:cNvPr>
          <p:cNvPicPr>
            <a:picLocks noChangeAspect="1"/>
          </p:cNvPicPr>
          <p:nvPr/>
        </p:nvPicPr>
        <p:blipFill>
          <a:blip r:embed="rId2"/>
          <a:stretch>
            <a:fillRect/>
          </a:stretch>
        </p:blipFill>
        <p:spPr>
          <a:xfrm>
            <a:off x="5566468" y="1143000"/>
            <a:ext cx="2781688" cy="5296639"/>
          </a:xfrm>
          <a:prstGeom prst="rect">
            <a:avLst/>
          </a:prstGeom>
        </p:spPr>
      </p:pic>
    </p:spTree>
    <p:extLst>
      <p:ext uri="{BB962C8B-B14F-4D97-AF65-F5344CB8AC3E}">
        <p14:creationId xmlns:p14="http://schemas.microsoft.com/office/powerpoint/2010/main" val="10695966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BB6FA-DDE1-F4CE-0BF4-116FF957DB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7B593E-30CC-25A2-1775-4081B74F6245}"/>
              </a:ext>
            </a:extLst>
          </p:cNvPr>
          <p:cNvSpPr>
            <a:spLocks noGrp="1"/>
          </p:cNvSpPr>
          <p:nvPr>
            <p:ph idx="1"/>
          </p:nvPr>
        </p:nvSpPr>
        <p:spPr>
          <a:xfrm>
            <a:off x="156268" y="418361"/>
            <a:ext cx="5410200" cy="3880773"/>
          </a:xfrm>
        </p:spPr>
        <p:txBody>
          <a:bodyPr>
            <a:noAutofit/>
          </a:bodyPr>
          <a:lstStyle/>
          <a:p>
            <a:r>
              <a:rPr lang="en-US" b="1" dirty="0"/>
              <a:t>Step 2</a:t>
            </a:r>
          </a:p>
          <a:p>
            <a:r>
              <a:rPr lang="en-US" dirty="0"/>
              <a:t>Remove all self-loops.</a:t>
            </a:r>
          </a:p>
          <a:p>
            <a:endParaRPr lang="en-US" dirty="0"/>
          </a:p>
          <a:p>
            <a:endParaRPr lang="en-US" dirty="0"/>
          </a:p>
          <a:p>
            <a:endParaRPr lang="en-US" dirty="0"/>
          </a:p>
          <a:p>
            <a:endParaRPr lang="en-US" dirty="0"/>
          </a:p>
          <a:p>
            <a:endParaRPr lang="en-US" dirty="0"/>
          </a:p>
        </p:txBody>
      </p:sp>
      <p:pic>
        <p:nvPicPr>
          <p:cNvPr id="8" name="Picture 7">
            <a:extLst>
              <a:ext uri="{FF2B5EF4-FFF2-40B4-BE49-F238E27FC236}">
                <a16:creationId xmlns:a16="http://schemas.microsoft.com/office/drawing/2014/main" id="{1FB751D5-56D1-C4E0-DF74-54D6AB8C3D3E}"/>
              </a:ext>
            </a:extLst>
          </p:cNvPr>
          <p:cNvPicPr>
            <a:picLocks noChangeAspect="1"/>
          </p:cNvPicPr>
          <p:nvPr/>
        </p:nvPicPr>
        <p:blipFill>
          <a:blip r:embed="rId2"/>
          <a:stretch>
            <a:fillRect/>
          </a:stretch>
        </p:blipFill>
        <p:spPr>
          <a:xfrm>
            <a:off x="338239" y="1586850"/>
            <a:ext cx="1929693" cy="4446300"/>
          </a:xfrm>
          <a:prstGeom prst="rect">
            <a:avLst/>
          </a:prstGeom>
        </p:spPr>
      </p:pic>
      <p:pic>
        <p:nvPicPr>
          <p:cNvPr id="10" name="Picture 9">
            <a:extLst>
              <a:ext uri="{FF2B5EF4-FFF2-40B4-BE49-F238E27FC236}">
                <a16:creationId xmlns:a16="http://schemas.microsoft.com/office/drawing/2014/main" id="{F228DC22-5405-3FFF-02A3-65F00D8DB4E5}"/>
              </a:ext>
            </a:extLst>
          </p:cNvPr>
          <p:cNvPicPr>
            <a:picLocks noChangeAspect="1"/>
          </p:cNvPicPr>
          <p:nvPr/>
        </p:nvPicPr>
        <p:blipFill>
          <a:blip r:embed="rId3"/>
          <a:stretch>
            <a:fillRect/>
          </a:stretch>
        </p:blipFill>
        <p:spPr>
          <a:xfrm>
            <a:off x="2598606" y="1516950"/>
            <a:ext cx="2656042" cy="4586100"/>
          </a:xfrm>
          <a:prstGeom prst="rect">
            <a:avLst/>
          </a:prstGeom>
        </p:spPr>
      </p:pic>
      <p:sp>
        <p:nvSpPr>
          <p:cNvPr id="12" name="TextBox 11">
            <a:extLst>
              <a:ext uri="{FF2B5EF4-FFF2-40B4-BE49-F238E27FC236}">
                <a16:creationId xmlns:a16="http://schemas.microsoft.com/office/drawing/2014/main" id="{126BF0DF-6B97-2AD4-CC5A-CAF08D758DF5}"/>
              </a:ext>
            </a:extLst>
          </p:cNvPr>
          <p:cNvSpPr txBox="1"/>
          <p:nvPr/>
        </p:nvSpPr>
        <p:spPr>
          <a:xfrm>
            <a:off x="3124200" y="304800"/>
            <a:ext cx="4586140" cy="646331"/>
          </a:xfrm>
          <a:prstGeom prst="rect">
            <a:avLst/>
          </a:prstGeom>
          <a:noFill/>
        </p:spPr>
        <p:txBody>
          <a:bodyPr wrap="square">
            <a:spAutoFit/>
          </a:bodyPr>
          <a:lstStyle/>
          <a:p>
            <a:r>
              <a:rPr lang="en-US" sz="1800" b="1" dirty="0"/>
              <a:t>Step 3</a:t>
            </a:r>
          </a:p>
          <a:p>
            <a:r>
              <a:rPr lang="en-US" sz="1800" dirty="0"/>
              <a:t>Remove all transitivity.</a:t>
            </a:r>
          </a:p>
        </p:txBody>
      </p:sp>
      <p:sp>
        <p:nvSpPr>
          <p:cNvPr id="14" name="TextBox 13">
            <a:extLst>
              <a:ext uri="{FF2B5EF4-FFF2-40B4-BE49-F238E27FC236}">
                <a16:creationId xmlns:a16="http://schemas.microsoft.com/office/drawing/2014/main" id="{DC70FE73-008D-72A1-C836-5843B6B27DD5}"/>
              </a:ext>
            </a:extLst>
          </p:cNvPr>
          <p:cNvSpPr txBox="1"/>
          <p:nvPr/>
        </p:nvSpPr>
        <p:spPr>
          <a:xfrm>
            <a:off x="5638800" y="316584"/>
            <a:ext cx="4586140" cy="646331"/>
          </a:xfrm>
          <a:prstGeom prst="rect">
            <a:avLst/>
          </a:prstGeom>
          <a:noFill/>
        </p:spPr>
        <p:txBody>
          <a:bodyPr wrap="square">
            <a:spAutoFit/>
          </a:bodyPr>
          <a:lstStyle/>
          <a:p>
            <a:r>
              <a:rPr lang="en-US" sz="1800" b="1" dirty="0"/>
              <a:t>Step 4</a:t>
            </a:r>
          </a:p>
          <a:p>
            <a:r>
              <a:rPr lang="en-US" sz="1800" dirty="0"/>
              <a:t>Remove directed arrows.</a:t>
            </a:r>
          </a:p>
        </p:txBody>
      </p:sp>
      <p:pic>
        <p:nvPicPr>
          <p:cNvPr id="18" name="Picture 17">
            <a:extLst>
              <a:ext uri="{FF2B5EF4-FFF2-40B4-BE49-F238E27FC236}">
                <a16:creationId xmlns:a16="http://schemas.microsoft.com/office/drawing/2014/main" id="{915E1710-F1D4-8CCC-8D70-49DB9880967F}"/>
              </a:ext>
            </a:extLst>
          </p:cNvPr>
          <p:cNvPicPr>
            <a:picLocks noChangeAspect="1"/>
          </p:cNvPicPr>
          <p:nvPr/>
        </p:nvPicPr>
        <p:blipFill>
          <a:blip r:embed="rId4"/>
          <a:stretch>
            <a:fillRect/>
          </a:stretch>
        </p:blipFill>
        <p:spPr>
          <a:xfrm>
            <a:off x="5748439" y="1281300"/>
            <a:ext cx="2466294" cy="4848699"/>
          </a:xfrm>
          <a:prstGeom prst="rect">
            <a:avLst/>
          </a:prstGeom>
        </p:spPr>
      </p:pic>
    </p:spTree>
    <p:extLst>
      <p:ext uri="{BB962C8B-B14F-4D97-AF65-F5344CB8AC3E}">
        <p14:creationId xmlns:p14="http://schemas.microsoft.com/office/powerpoint/2010/main" val="31214140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3F340-558B-FCD5-6402-2467A9B43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DC68C-6FB9-8E35-67C5-1F4DDBED8791}"/>
              </a:ext>
            </a:extLst>
          </p:cNvPr>
          <p:cNvSpPr>
            <a:spLocks noGrp="1"/>
          </p:cNvSpPr>
          <p:nvPr>
            <p:ph type="title"/>
          </p:nvPr>
        </p:nvSpPr>
        <p:spPr>
          <a:xfrm>
            <a:off x="0" y="228600"/>
            <a:ext cx="6347713" cy="1320800"/>
          </a:xfrm>
        </p:spPr>
        <p:txBody>
          <a:bodyPr/>
          <a:lstStyle/>
          <a:p>
            <a:r>
              <a:rPr lang="en-US" dirty="0" err="1"/>
              <a:t>Hasse</a:t>
            </a:r>
            <a:r>
              <a:rPr lang="en-US" dirty="0"/>
              <a:t> Diagrams</a:t>
            </a:r>
          </a:p>
        </p:txBody>
      </p:sp>
      <p:sp>
        <p:nvSpPr>
          <p:cNvPr id="5" name="Rectangle 2">
            <a:extLst>
              <a:ext uri="{FF2B5EF4-FFF2-40B4-BE49-F238E27FC236}">
                <a16:creationId xmlns:a16="http://schemas.microsoft.com/office/drawing/2014/main" id="{E3798C29-CD8D-1A15-8C38-2263886E194C}"/>
              </a:ext>
            </a:extLst>
          </p:cNvPr>
          <p:cNvSpPr>
            <a:spLocks noGrp="1" noChangeArrowheads="1"/>
          </p:cNvSpPr>
          <p:nvPr>
            <p:ph idx="1"/>
          </p:nvPr>
        </p:nvSpPr>
        <p:spPr bwMode="auto">
          <a:xfrm>
            <a:off x="609599" y="4038600"/>
            <a:ext cx="625042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990099"/>
                </a:solidFill>
                <a:effectLst/>
                <a:latin typeface="Arial" panose="020B0604020202020204" pitchFamily="34" charset="0"/>
              </a:rPr>
              <a:t>STEPS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Draw all relations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Remove self-loops (a → 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Remove indirect (transitive) edges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Place smaller elements below larger ones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Remove arrows (assume upward direction) </a:t>
            </a:r>
          </a:p>
        </p:txBody>
      </p:sp>
      <p:pic>
        <p:nvPicPr>
          <p:cNvPr id="6" name="Picture 5" descr="0830.jpg">
            <a:extLst>
              <a:ext uri="{FF2B5EF4-FFF2-40B4-BE49-F238E27FC236}">
                <a16:creationId xmlns:a16="http://schemas.microsoft.com/office/drawing/2014/main" id="{F1F2FC2E-B899-AA19-EEA4-B5B74CBD55C4}"/>
              </a:ext>
            </a:extLst>
          </p:cNvPr>
          <p:cNvPicPr>
            <a:picLocks noChangeAspect="1"/>
          </p:cNvPicPr>
          <p:nvPr/>
        </p:nvPicPr>
        <p:blipFill>
          <a:blip r:embed="rId2" cstate="print"/>
          <a:stretch>
            <a:fillRect/>
          </a:stretch>
        </p:blipFill>
        <p:spPr>
          <a:xfrm>
            <a:off x="3581400" y="381000"/>
            <a:ext cx="5187794" cy="3914717"/>
          </a:xfrm>
          <a:prstGeom prst="rect">
            <a:avLst/>
          </a:prstGeom>
        </p:spPr>
      </p:pic>
    </p:spTree>
    <p:extLst>
      <p:ext uri="{BB962C8B-B14F-4D97-AF65-F5344CB8AC3E}">
        <p14:creationId xmlns:p14="http://schemas.microsoft.com/office/powerpoint/2010/main" val="6549902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BC60-198F-5F14-3648-7A4A0EAA8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40C51-1318-3854-3090-68F86ABA61B4}"/>
              </a:ext>
            </a:extLst>
          </p:cNvPr>
          <p:cNvSpPr>
            <a:spLocks noGrp="1"/>
          </p:cNvSpPr>
          <p:nvPr>
            <p:ph type="title"/>
          </p:nvPr>
        </p:nvSpPr>
        <p:spPr>
          <a:xfrm>
            <a:off x="0" y="228600"/>
            <a:ext cx="6347713" cy="1320800"/>
          </a:xfrm>
        </p:spPr>
        <p:txBody>
          <a:bodyPr/>
          <a:lstStyle/>
          <a:p>
            <a:r>
              <a:rPr lang="en-US" dirty="0" err="1"/>
              <a:t>Hasse</a:t>
            </a:r>
            <a:r>
              <a:rPr lang="en-US" dirty="0"/>
              <a:t> Diagrams</a:t>
            </a:r>
          </a:p>
        </p:txBody>
      </p:sp>
      <mc:AlternateContent xmlns:mc="http://schemas.openxmlformats.org/markup-compatibility/2006" xmlns:a14="http://schemas.microsoft.com/office/drawing/2010/main">
        <mc:Choice Requires="a14">
          <p:sp>
            <p:nvSpPr>
              <p:cNvPr id="5" name="Rectangle 2">
                <a:extLst>
                  <a:ext uri="{FF2B5EF4-FFF2-40B4-BE49-F238E27FC236}">
                    <a16:creationId xmlns:a16="http://schemas.microsoft.com/office/drawing/2014/main" id="{4654B625-2C0B-B758-6FC0-B5E18A0777C5}"/>
                  </a:ext>
                </a:extLst>
              </p:cNvPr>
              <p:cNvSpPr>
                <a:spLocks noGrp="1" noChangeArrowheads="1"/>
              </p:cNvSpPr>
              <p:nvPr>
                <p:ph idx="1"/>
              </p:nvPr>
            </p:nvSpPr>
            <p:spPr bwMode="auto">
              <a:xfrm>
                <a:off x="381000" y="1041757"/>
                <a:ext cx="7162801" cy="580671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solidFill>
                      <a:srgbClr val="002060"/>
                    </a:solidFill>
                  </a:rPr>
                  <a:t>Let </a:t>
                </a:r>
                <a14:m>
                  <m:oMath xmlns:m="http://schemas.openxmlformats.org/officeDocument/2006/math">
                    <m:r>
                      <a:rPr lang="en-US" sz="2400" i="1">
                        <a:solidFill>
                          <a:srgbClr val="002060"/>
                        </a:solidFill>
                        <a:latin typeface="Cambria Math" panose="02040503050406030204" pitchFamily="18" charset="0"/>
                      </a:rPr>
                      <m:t>𝑆</m:t>
                    </m:r>
                    <m:r>
                      <a:rPr lang="en-US" sz="2400">
                        <a:solidFill>
                          <a:srgbClr val="002060"/>
                        </a:solidFill>
                        <a:latin typeface="Cambria Math" panose="02040503050406030204" pitchFamily="18" charset="0"/>
                      </a:rPr>
                      <m:t>=</m:t>
                    </m:r>
                    <m:d>
                      <m:dPr>
                        <m:begChr m:val="{"/>
                        <m:endChr m:val="}"/>
                        <m:sepChr m:val=","/>
                        <m:ctrlPr>
                          <a:rPr lang="ar-AE" sz="2400" i="1">
                            <a:solidFill>
                              <a:srgbClr val="002060"/>
                            </a:solidFill>
                            <a:latin typeface="Cambria Math" panose="02040503050406030204" pitchFamily="18" charset="0"/>
                          </a:rPr>
                        </m:ctrlPr>
                      </m:dPr>
                      <m:e>
                        <m:r>
                          <a:rPr lang="ar-AE" sz="2400">
                            <a:solidFill>
                              <a:srgbClr val="002060"/>
                            </a:solidFill>
                            <a:latin typeface="Cambria Math" panose="02040503050406030204" pitchFamily="18" charset="0"/>
                          </a:rPr>
                          <m:t>1</m:t>
                        </m:r>
                      </m:e>
                      <m:e>
                        <m:r>
                          <a:rPr lang="ar-AE" sz="2400">
                            <a:solidFill>
                              <a:srgbClr val="002060"/>
                            </a:solidFill>
                            <a:latin typeface="Cambria Math" panose="02040503050406030204" pitchFamily="18" charset="0"/>
                          </a:rPr>
                          <m:t>2</m:t>
                        </m:r>
                      </m:e>
                      <m:e>
                        <m:r>
                          <a:rPr lang="ar-AE" sz="2400">
                            <a:solidFill>
                              <a:srgbClr val="002060"/>
                            </a:solidFill>
                            <a:latin typeface="Cambria Math" panose="02040503050406030204" pitchFamily="18" charset="0"/>
                          </a:rPr>
                          <m:t>3</m:t>
                        </m:r>
                      </m:e>
                      <m:e>
                        <m:r>
                          <a:rPr lang="ar-AE" sz="2400">
                            <a:solidFill>
                              <a:srgbClr val="002060"/>
                            </a:solidFill>
                            <a:latin typeface="Cambria Math" panose="02040503050406030204" pitchFamily="18" charset="0"/>
                          </a:rPr>
                          <m:t>5</m:t>
                        </m:r>
                      </m:e>
                      <m:e>
                        <m:r>
                          <a:rPr lang="ar-AE" sz="2400">
                            <a:solidFill>
                              <a:srgbClr val="002060"/>
                            </a:solidFill>
                            <a:latin typeface="Cambria Math" panose="02040503050406030204" pitchFamily="18" charset="0"/>
                          </a:rPr>
                          <m:t>10</m:t>
                        </m:r>
                      </m:e>
                      <m:e>
                        <m:r>
                          <a:rPr lang="ar-AE" sz="2400">
                            <a:solidFill>
                              <a:srgbClr val="002060"/>
                            </a:solidFill>
                            <a:latin typeface="Cambria Math" panose="02040503050406030204" pitchFamily="18" charset="0"/>
                          </a:rPr>
                          <m:t>15</m:t>
                        </m:r>
                      </m:e>
                    </m:d>
                  </m:oMath>
                </a14:m>
                <a:endParaRPr lang="ar-AE" sz="2400" dirty="0">
                  <a:solidFill>
                    <a:srgbClr val="002060"/>
                  </a:solidFill>
                </a:endParaRPr>
              </a:p>
              <a:p>
                <a:r>
                  <a:rPr lang="en-US" sz="2400" dirty="0">
                    <a:solidFill>
                      <a:srgbClr val="002060"/>
                    </a:solidFill>
                  </a:rPr>
                  <a:t>Define the relation </a:t>
                </a:r>
                <a14:m>
                  <m:oMath xmlns:m="http://schemas.openxmlformats.org/officeDocument/2006/math">
                    <m:r>
                      <a:rPr lang="en-US" sz="2400" i="1">
                        <a:solidFill>
                          <a:srgbClr val="002060"/>
                        </a:solidFill>
                        <a:latin typeface="Cambria Math" panose="02040503050406030204" pitchFamily="18" charset="0"/>
                      </a:rPr>
                      <m:t>𝑅</m:t>
                    </m:r>
                  </m:oMath>
                </a14:m>
                <a:r>
                  <a:rPr lang="en-US" sz="2400" dirty="0">
                    <a:solidFill>
                      <a:srgbClr val="002060"/>
                    </a:solidFill>
                  </a:rPr>
                  <a:t> on </a:t>
                </a:r>
                <a14:m>
                  <m:oMath xmlns:m="http://schemas.openxmlformats.org/officeDocument/2006/math">
                    <m:r>
                      <a:rPr lang="en-US" sz="2400" i="1">
                        <a:solidFill>
                          <a:srgbClr val="002060"/>
                        </a:solidFill>
                        <a:latin typeface="Cambria Math" panose="02040503050406030204" pitchFamily="18" charset="0"/>
                      </a:rPr>
                      <m:t>𝑆</m:t>
                    </m:r>
                    <m:r>
                      <a:rPr lang="en-US" sz="2400" b="0" i="1" smtClean="0">
                        <a:solidFill>
                          <a:srgbClr val="002060"/>
                        </a:solidFill>
                        <a:latin typeface="Cambria Math" panose="02040503050406030204" pitchFamily="18" charset="0"/>
                      </a:rPr>
                      <m:t> </m:t>
                    </m:r>
                  </m:oMath>
                </a14:m>
                <a:r>
                  <a:rPr lang="en-US" sz="2400" dirty="0">
                    <a:solidFill>
                      <a:srgbClr val="002060"/>
                    </a:solidFill>
                  </a:rPr>
                  <a:t>as:</a:t>
                </a:r>
              </a:p>
              <a:p>
                <a:pPr lvl="3"/>
                <a14:m>
                  <m:oMath xmlns:m="http://schemas.openxmlformats.org/officeDocument/2006/math">
                    <m:r>
                      <a:rPr lang="en-US" sz="2400" i="1">
                        <a:solidFill>
                          <a:srgbClr val="002060"/>
                        </a:solidFill>
                        <a:latin typeface="Cambria Math" panose="02040503050406030204" pitchFamily="18" charset="0"/>
                      </a:rPr>
                      <m:t>𝑎𝑅𝑏</m:t>
                    </m:r>
                    <m:r>
                      <m:rPr>
                        <m:nor/>
                      </m:rPr>
                      <a:rPr lang="en-US" sz="2400" i="1">
                        <a:solidFill>
                          <a:srgbClr val="002060"/>
                        </a:solidFill>
                      </a:rPr>
                      <m:t> </m:t>
                    </m:r>
                    <m:r>
                      <m:rPr>
                        <m:nor/>
                      </m:rPr>
                      <a:rPr lang="en-US" sz="2400" i="1">
                        <a:solidFill>
                          <a:srgbClr val="002060"/>
                        </a:solidFill>
                      </a:rPr>
                      <m:t>if</m:t>
                    </m:r>
                    <m:r>
                      <m:rPr>
                        <m:nor/>
                      </m:rPr>
                      <a:rPr lang="en-US" sz="2400" i="1">
                        <a:solidFill>
                          <a:srgbClr val="002060"/>
                        </a:solidFill>
                      </a:rPr>
                      <m:t> </m:t>
                    </m:r>
                    <m:r>
                      <a:rPr lang="en-US" sz="2400" i="1">
                        <a:solidFill>
                          <a:srgbClr val="002060"/>
                        </a:solidFill>
                        <a:latin typeface="Cambria Math" panose="02040503050406030204" pitchFamily="18" charset="0"/>
                      </a:rPr>
                      <m:t>𝑎</m:t>
                    </m:r>
                    <m:r>
                      <m:rPr>
                        <m:nor/>
                      </m:rPr>
                      <a:rPr lang="en-US" sz="2400" i="1">
                        <a:solidFill>
                          <a:srgbClr val="002060"/>
                        </a:solidFill>
                      </a:rPr>
                      <m:t> </m:t>
                    </m:r>
                    <m:r>
                      <m:rPr>
                        <m:nor/>
                      </m:rPr>
                      <a:rPr lang="en-US" sz="2400" i="1">
                        <a:solidFill>
                          <a:srgbClr val="002060"/>
                        </a:solidFill>
                      </a:rPr>
                      <m:t>divides</m:t>
                    </m:r>
                    <m:r>
                      <m:rPr>
                        <m:nor/>
                      </m:rPr>
                      <a:rPr lang="en-US" sz="2400" i="1">
                        <a:solidFill>
                          <a:srgbClr val="002060"/>
                        </a:solidFill>
                      </a:rPr>
                      <m:t> </m:t>
                    </m:r>
                    <m:r>
                      <a:rPr lang="en-US" sz="2400" i="1">
                        <a:solidFill>
                          <a:srgbClr val="002060"/>
                        </a:solidFill>
                        <a:latin typeface="Cambria Math" panose="02040503050406030204" pitchFamily="18" charset="0"/>
                      </a:rPr>
                      <m:t>𝑏</m:t>
                    </m:r>
                  </m:oMath>
                </a14:m>
                <a:endParaRPr lang="en-US" sz="2400" dirty="0">
                  <a:solidFill>
                    <a:srgbClr val="002060"/>
                  </a:solidFill>
                </a:endParaRPr>
              </a:p>
              <a:p>
                <a:pPr marL="0" indent="0">
                  <a:buNone/>
                </a:pPr>
                <a:r>
                  <a:rPr lang="en-US" sz="2400" b="1" dirty="0">
                    <a:solidFill>
                      <a:srgbClr val="002060"/>
                    </a:solidFill>
                  </a:rPr>
                  <a:t> Task:</a:t>
                </a:r>
              </a:p>
              <a:p>
                <a:r>
                  <a:rPr lang="en-US" sz="2400" dirty="0">
                    <a:solidFill>
                      <a:srgbClr val="002060"/>
                    </a:solidFill>
                  </a:rPr>
                  <a:t>Write all ordered pairs in the relation </a:t>
                </a:r>
                <a14:m>
                  <m:oMath xmlns:m="http://schemas.openxmlformats.org/officeDocument/2006/math">
                    <m:r>
                      <a:rPr lang="en-US" sz="2400" i="1">
                        <a:solidFill>
                          <a:srgbClr val="002060"/>
                        </a:solidFill>
                        <a:latin typeface="Cambria Math" panose="02040503050406030204" pitchFamily="18" charset="0"/>
                      </a:rPr>
                      <m:t>𝑅</m:t>
                    </m:r>
                  </m:oMath>
                </a14:m>
                <a:r>
                  <a:rPr lang="en-US" sz="2400" dirty="0">
                    <a:solidFill>
                      <a:srgbClr val="002060"/>
                    </a:solidFill>
                  </a:rPr>
                  <a:t>. </a:t>
                </a:r>
              </a:p>
              <a:p>
                <a:r>
                  <a:rPr lang="en-US" sz="2400" dirty="0">
                    <a:solidFill>
                      <a:srgbClr val="002060"/>
                    </a:solidFill>
                  </a:rPr>
                  <a:t>Draw the directed graph of </a:t>
                </a:r>
                <a14:m>
                  <m:oMath xmlns:m="http://schemas.openxmlformats.org/officeDocument/2006/math">
                    <m:r>
                      <a:rPr lang="en-US" sz="2400" i="1">
                        <a:solidFill>
                          <a:srgbClr val="002060"/>
                        </a:solidFill>
                        <a:latin typeface="Cambria Math" panose="02040503050406030204" pitchFamily="18" charset="0"/>
                      </a:rPr>
                      <m:t>𝑅</m:t>
                    </m:r>
                  </m:oMath>
                </a14:m>
                <a:r>
                  <a:rPr lang="en-US" sz="2400" dirty="0">
                    <a:solidFill>
                      <a:srgbClr val="002060"/>
                    </a:solidFill>
                  </a:rPr>
                  <a:t>. </a:t>
                </a:r>
              </a:p>
              <a:p>
                <a:r>
                  <a:rPr lang="en-US" sz="2400" dirty="0">
                    <a:solidFill>
                      <a:srgbClr val="002060"/>
                    </a:solidFill>
                  </a:rPr>
                  <a:t>Remove: </a:t>
                </a:r>
              </a:p>
              <a:p>
                <a:pPr lvl="1"/>
                <a:r>
                  <a:rPr lang="en-US" sz="2400" dirty="0">
                    <a:solidFill>
                      <a:srgbClr val="002060"/>
                    </a:solidFill>
                  </a:rPr>
                  <a:t>reflexive edges (loops) </a:t>
                </a:r>
              </a:p>
              <a:p>
                <a:pPr lvl="1"/>
                <a:r>
                  <a:rPr lang="en-US" sz="2400" dirty="0">
                    <a:solidFill>
                      <a:srgbClr val="002060"/>
                    </a:solidFill>
                  </a:rPr>
                  <a:t>transitive edges </a:t>
                </a:r>
              </a:p>
              <a:p>
                <a:r>
                  <a:rPr lang="en-US" sz="2400" dirty="0">
                    <a:solidFill>
                      <a:srgbClr val="002060"/>
                    </a:solidFill>
                  </a:rPr>
                  <a:t>Draw the </a:t>
                </a:r>
                <a:r>
                  <a:rPr lang="en-US" sz="2400" b="1" dirty="0">
                    <a:solidFill>
                      <a:srgbClr val="002060"/>
                    </a:solidFill>
                  </a:rPr>
                  <a:t>Hasse diagram</a:t>
                </a:r>
                <a:r>
                  <a:rPr lang="en-US" sz="2400" dirty="0">
                    <a:solidFill>
                      <a:srgbClr val="002060"/>
                    </a:solidFill>
                  </a:rPr>
                  <a:t> of </a:t>
                </a:r>
                <a14:m>
                  <m:oMath xmlns:m="http://schemas.openxmlformats.org/officeDocument/2006/math">
                    <m:d>
                      <m:dPr>
                        <m:sepChr m:val=","/>
                        <m:ctrlPr>
                          <a:rPr lang="ar-AE" sz="2400" i="1">
                            <a:solidFill>
                              <a:srgbClr val="002060"/>
                            </a:solidFill>
                            <a:latin typeface="Cambria Math" panose="02040503050406030204" pitchFamily="18" charset="0"/>
                          </a:rPr>
                        </m:ctrlPr>
                      </m:dPr>
                      <m:e>
                        <m:r>
                          <a:rPr lang="ar-AE" sz="2400" i="1">
                            <a:solidFill>
                              <a:srgbClr val="002060"/>
                            </a:solidFill>
                            <a:latin typeface="Cambria Math" panose="02040503050406030204" pitchFamily="18" charset="0"/>
                          </a:rPr>
                          <m:t>𝑆</m:t>
                        </m:r>
                      </m:e>
                      <m:e>
                        <m:r>
                          <a:rPr lang="ar-AE" sz="2400" i="1">
                            <a:solidFill>
                              <a:srgbClr val="002060"/>
                            </a:solidFill>
                            <a:latin typeface="Cambria Math" panose="02040503050406030204" pitchFamily="18" charset="0"/>
                          </a:rPr>
                          <m:t>𝑅</m:t>
                        </m:r>
                      </m:e>
                    </m:d>
                  </m:oMath>
                </a14:m>
                <a:r>
                  <a:rPr lang="ar-AE" sz="2400" dirty="0">
                    <a:solidFill>
                      <a:srgbClr val="002060"/>
                    </a:solidFill>
                  </a:rPr>
                  <a:t>. </a:t>
                </a:r>
              </a:p>
              <a:p>
                <a:pPr marL="0" indent="0">
                  <a:buNone/>
                </a:pPr>
                <a:br>
                  <a:rPr lang="ar-AE" sz="2400" dirty="0">
                    <a:solidFill>
                      <a:srgbClr val="002060"/>
                    </a:solidFill>
                  </a:rPr>
                </a:br>
                <a:endParaRPr lang="en-US" sz="2400" dirty="0">
                  <a:solidFill>
                    <a:srgbClr val="002060"/>
                  </a:solidFill>
                </a:endParaRPr>
              </a:p>
            </p:txBody>
          </p:sp>
        </mc:Choice>
        <mc:Fallback xmlns="">
          <p:sp>
            <p:nvSpPr>
              <p:cNvPr id="5" name="Rectangle 2">
                <a:extLst>
                  <a:ext uri="{FF2B5EF4-FFF2-40B4-BE49-F238E27FC236}">
                    <a16:creationId xmlns:a16="http://schemas.microsoft.com/office/drawing/2014/main" id="{4654B625-2C0B-B758-6FC0-B5E18A0777C5}"/>
                  </a:ext>
                </a:extLst>
              </p:cNvPr>
              <p:cNvSpPr>
                <a:spLocks noGrp="1" noRot="1" noChangeAspect="1" noMove="1" noResize="1" noEditPoints="1" noAdjustHandles="1" noChangeArrowheads="1" noChangeShapeType="1" noTextEdit="1"/>
              </p:cNvSpPr>
              <p:nvPr>
                <p:ph idx="1"/>
              </p:nvPr>
            </p:nvSpPr>
            <p:spPr bwMode="auto">
              <a:xfrm>
                <a:off x="381000" y="1041757"/>
                <a:ext cx="7162801" cy="5806718"/>
              </a:xfrm>
              <a:prstGeom prst="rect">
                <a:avLst/>
              </a:prstGeom>
              <a:blipFill>
                <a:blip r:embed="rId2"/>
                <a:stretch>
                  <a:fillRect l="-681" t="-4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6054881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F3905-0E0D-6E5A-5AC0-552E0FB83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C126D-BBDA-91DB-F469-0CBB8A0983AA}"/>
              </a:ext>
            </a:extLst>
          </p:cNvPr>
          <p:cNvSpPr>
            <a:spLocks noGrp="1"/>
          </p:cNvSpPr>
          <p:nvPr>
            <p:ph type="title"/>
          </p:nvPr>
        </p:nvSpPr>
        <p:spPr>
          <a:xfrm>
            <a:off x="0" y="228600"/>
            <a:ext cx="6347713" cy="1320800"/>
          </a:xfrm>
        </p:spPr>
        <p:txBody>
          <a:bodyPr/>
          <a:lstStyle/>
          <a:p>
            <a:r>
              <a:rPr lang="en-US" dirty="0" err="1"/>
              <a:t>Hasse</a:t>
            </a:r>
            <a:r>
              <a:rPr lang="en-US" dirty="0"/>
              <a:t> Diagrams</a:t>
            </a:r>
          </a:p>
        </p:txBody>
      </p:sp>
      <mc:AlternateContent xmlns:mc="http://schemas.openxmlformats.org/markup-compatibility/2006" xmlns:a14="http://schemas.microsoft.com/office/drawing/2010/main">
        <mc:Choice Requires="a14">
          <p:sp>
            <p:nvSpPr>
              <p:cNvPr id="5" name="Rectangle 2">
                <a:extLst>
                  <a:ext uri="{FF2B5EF4-FFF2-40B4-BE49-F238E27FC236}">
                    <a16:creationId xmlns:a16="http://schemas.microsoft.com/office/drawing/2014/main" id="{1EFFEB9F-095B-D0C6-F18D-46FA7EBCD14F}"/>
                  </a:ext>
                </a:extLst>
              </p:cNvPr>
              <p:cNvSpPr>
                <a:spLocks noGrp="1" noChangeArrowheads="1"/>
              </p:cNvSpPr>
              <p:nvPr>
                <p:ph idx="1"/>
              </p:nvPr>
            </p:nvSpPr>
            <p:spPr bwMode="auto">
              <a:xfrm>
                <a:off x="152400" y="1296888"/>
                <a:ext cx="8000999" cy="406778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solidFill>
                      <a:srgbClr val="990099"/>
                    </a:solidFill>
                  </a:rPr>
                  <a:t>1. Relation </a:t>
                </a:r>
                <a14:m>
                  <m:oMath xmlns:m="http://schemas.openxmlformats.org/officeDocument/2006/math">
                    <m:r>
                      <a:rPr lang="en-US" i="1">
                        <a:solidFill>
                          <a:srgbClr val="990099"/>
                        </a:solidFill>
                        <a:latin typeface="Cambria Math" panose="02040503050406030204" pitchFamily="18" charset="0"/>
                      </a:rPr>
                      <m:t>𝑅</m:t>
                    </m:r>
                  </m:oMath>
                </a14:m>
                <a:r>
                  <a:rPr lang="en-US" sz="2000" b="1" dirty="0">
                    <a:solidFill>
                      <a:srgbClr val="990099"/>
                    </a:solidFill>
                  </a:rPr>
                  <a:t> (divides)</a:t>
                </a:r>
              </a:p>
              <a:p>
                <a:pPr marL="0" indent="0">
                  <a:buNone/>
                </a:pPr>
                <a:r>
                  <a:rPr lang="en-US" sz="2000" b="1" dirty="0"/>
                  <a:t>From 1: </a:t>
                </a:r>
                <a:r>
                  <a:rPr lang="en-US" sz="2000" dirty="0"/>
                  <a:t>1 divides everything: (1,2), (1,3), (1,5), (1,10), (1,15) </a:t>
                </a:r>
              </a:p>
              <a:p>
                <a:pPr marL="0" indent="0">
                  <a:buNone/>
                </a:pPr>
                <a:r>
                  <a:rPr lang="en-US" sz="2000" b="1" dirty="0"/>
                  <a:t>From 2: </a:t>
                </a:r>
                <a:r>
                  <a:rPr lang="en-US" sz="2000" dirty="0"/>
                  <a:t>(2,10) </a:t>
                </a:r>
              </a:p>
              <a:p>
                <a:pPr marL="0" indent="0">
                  <a:buNone/>
                </a:pPr>
                <a:r>
                  <a:rPr lang="en-US" sz="2000" b="1" dirty="0"/>
                  <a:t>From 3: </a:t>
                </a:r>
                <a:r>
                  <a:rPr lang="en-US" sz="2000" dirty="0"/>
                  <a:t>(3,15) </a:t>
                </a:r>
              </a:p>
              <a:p>
                <a:pPr marL="0" indent="0">
                  <a:buNone/>
                </a:pPr>
                <a:r>
                  <a:rPr lang="en-US" sz="2000" b="1" dirty="0"/>
                  <a:t>From 5: </a:t>
                </a:r>
                <a:r>
                  <a:rPr lang="en-US" sz="2000" dirty="0"/>
                  <a:t>(5,10), (5,15) </a:t>
                </a:r>
              </a:p>
              <a:p>
                <a:pPr marL="0" indent="0">
                  <a:buNone/>
                </a:pPr>
                <a:r>
                  <a:rPr lang="en-US" sz="2000" b="1" dirty="0"/>
                  <a:t>From 10, 15: </a:t>
                </a:r>
                <a:r>
                  <a:rPr lang="en-US" sz="2000" dirty="0"/>
                  <a:t>(10,10), (15,15)</a:t>
                </a:r>
              </a:p>
              <a:p>
                <a:pPr marL="0" indent="0">
                  <a:buNone/>
                </a:pPr>
                <a:r>
                  <a:rPr lang="en-US" sz="2000" dirty="0"/>
                  <a:t>So,</a:t>
                </a:r>
              </a:p>
              <a:p>
                <a:pPr marL="0" indent="0" algn="ctr">
                  <a:buNone/>
                </a:pPr>
                <a:br>
                  <a:rPr lang="en-US" sz="2000" dirty="0">
                    <a:solidFill>
                      <a:srgbClr val="990099"/>
                    </a:solidFill>
                  </a:rPr>
                </a:br>
                <a:r>
                  <a:rPr lang="pt-BR" sz="2000" b="1" dirty="0">
                    <a:solidFill>
                      <a:srgbClr val="CC0066"/>
                    </a:solidFill>
                  </a:rPr>
                  <a:t>R=(1,2),(1,3),(1,5),(1,10),(1,15),(2,10),(3,15),(5,10),(5,15),(10,10),(15,15)</a:t>
                </a:r>
                <a:endParaRPr lang="en-US" sz="2000" b="1" dirty="0">
                  <a:solidFill>
                    <a:srgbClr val="CC0066"/>
                  </a:solidFill>
                </a:endParaRPr>
              </a:p>
            </p:txBody>
          </p:sp>
        </mc:Choice>
        <mc:Fallback xmlns="">
          <p:sp>
            <p:nvSpPr>
              <p:cNvPr id="5" name="Rectangle 2">
                <a:extLst>
                  <a:ext uri="{FF2B5EF4-FFF2-40B4-BE49-F238E27FC236}">
                    <a16:creationId xmlns:a16="http://schemas.microsoft.com/office/drawing/2014/main" id="{1EFFEB9F-095B-D0C6-F18D-46FA7EBCD14F}"/>
                  </a:ext>
                </a:extLst>
              </p:cNvPr>
              <p:cNvSpPr>
                <a:spLocks noGrp="1" noRot="1" noChangeAspect="1" noMove="1" noResize="1" noEditPoints="1" noAdjustHandles="1" noChangeArrowheads="1" noChangeShapeType="1" noTextEdit="1"/>
              </p:cNvSpPr>
              <p:nvPr>
                <p:ph idx="1"/>
              </p:nvPr>
            </p:nvSpPr>
            <p:spPr bwMode="auto">
              <a:xfrm>
                <a:off x="152400" y="1296888"/>
                <a:ext cx="8000999" cy="4067780"/>
              </a:xfrm>
              <a:prstGeom prst="rect">
                <a:avLst/>
              </a:prstGeom>
              <a:blipFill>
                <a:blip r:embed="rId2"/>
                <a:stretch>
                  <a:fillRect l="-762" t="-600" r="-305" b="-209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15188893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480AF-2DDD-C42E-6564-42A6997C9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7CFD8A-13FE-CB59-0CD8-E8C782752033}"/>
              </a:ext>
            </a:extLst>
          </p:cNvPr>
          <p:cNvSpPr>
            <a:spLocks noGrp="1"/>
          </p:cNvSpPr>
          <p:nvPr>
            <p:ph type="title"/>
          </p:nvPr>
        </p:nvSpPr>
        <p:spPr>
          <a:xfrm>
            <a:off x="0" y="228600"/>
            <a:ext cx="6347713" cy="1320800"/>
          </a:xfrm>
        </p:spPr>
        <p:txBody>
          <a:bodyPr/>
          <a:lstStyle/>
          <a:p>
            <a:r>
              <a:rPr lang="en-US" dirty="0" err="1"/>
              <a:t>Hasse</a:t>
            </a:r>
            <a:r>
              <a:rPr lang="en-US" dirty="0"/>
              <a:t> Diagrams</a:t>
            </a:r>
          </a:p>
        </p:txBody>
      </p:sp>
      <mc:AlternateContent xmlns:mc="http://schemas.openxmlformats.org/markup-compatibility/2006" xmlns:a14="http://schemas.microsoft.com/office/drawing/2010/main">
        <mc:Choice Requires="a14">
          <p:sp>
            <p:nvSpPr>
              <p:cNvPr id="5" name="Rectangle 2">
                <a:extLst>
                  <a:ext uri="{FF2B5EF4-FFF2-40B4-BE49-F238E27FC236}">
                    <a16:creationId xmlns:a16="http://schemas.microsoft.com/office/drawing/2014/main" id="{CCF5189E-2E0C-97BF-0768-35473A206523}"/>
                  </a:ext>
                </a:extLst>
              </p:cNvPr>
              <p:cNvSpPr>
                <a:spLocks noGrp="1" noChangeArrowheads="1"/>
              </p:cNvSpPr>
              <p:nvPr>
                <p:ph idx="1"/>
              </p:nvPr>
            </p:nvSpPr>
            <p:spPr bwMode="auto">
              <a:xfrm>
                <a:off x="152400" y="990600"/>
                <a:ext cx="6347712" cy="547329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solidFill>
                      <a:srgbClr val="990099"/>
                    </a:solidFill>
                  </a:rPr>
                  <a:t>2. Remove reflexive pairs (loops)</a:t>
                </a:r>
              </a:p>
              <a:p>
                <a:pPr marL="0" indent="0">
                  <a:buNone/>
                </a:pPr>
                <a:r>
                  <a:rPr lang="en-US" sz="2000" dirty="0"/>
                  <a:t>(1,1), (2,2), (3,3), (5,5), (10,10), (15,15)</a:t>
                </a:r>
              </a:p>
              <a:p>
                <a:r>
                  <a:rPr lang="en-US" sz="2000" b="1" dirty="0">
                    <a:solidFill>
                      <a:srgbClr val="990099"/>
                    </a:solidFill>
                  </a:rPr>
                  <a:t>3. Remove transitive edges</a:t>
                </a:r>
              </a:p>
              <a:p>
                <a:pPr marL="0" indent="0">
                  <a:buNone/>
                </a:pPr>
                <a:r>
                  <a:rPr lang="en-US" sz="2000" b="1" dirty="0"/>
                  <a:t>Remove:</a:t>
                </a:r>
              </a:p>
              <a:p>
                <a:pPr marL="0" indent="0">
                  <a:buNone/>
                </a:pPr>
                <a:r>
                  <a:rPr lang="en-US" sz="2000" dirty="0"/>
                  <a:t>1 → 10 (because 1 → 2 → 10) </a:t>
                </a:r>
              </a:p>
              <a:p>
                <a:r>
                  <a:rPr lang="en-US" sz="2000" dirty="0"/>
                  <a:t>1 → 15 (because 1 → 3 → 15)</a:t>
                </a:r>
              </a:p>
              <a:p>
                <a:pPr marL="0" indent="0">
                  <a:buNone/>
                </a:pPr>
                <a:endParaRPr lang="en-US" sz="2000" b="1" dirty="0"/>
              </a:p>
              <a:p>
                <a:pPr marL="0" indent="0">
                  <a:buNone/>
                </a:pPr>
                <a:r>
                  <a:rPr lang="en-US" sz="2000" b="1" dirty="0">
                    <a:solidFill>
                      <a:srgbClr val="990099"/>
                    </a:solidFill>
                  </a:rPr>
                  <a:t>Final Hasse edges </a:t>
                </a:r>
                <a14:m>
                  <m:oMath xmlns:m="http://schemas.openxmlformats.org/officeDocument/2006/math">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2</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3</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5</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2</m:t>
                        </m:r>
                      </m:e>
                      <m:e>
                        <m:r>
                          <a:rPr lang="ar-AE">
                            <a:latin typeface="Cambria Math" panose="02040503050406030204" pitchFamily="18" charset="0"/>
                          </a:rPr>
                          <m:t>10</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3</m:t>
                        </m:r>
                      </m:e>
                      <m:e>
                        <m:r>
                          <a:rPr lang="ar-AE">
                            <a:latin typeface="Cambria Math" panose="02040503050406030204" pitchFamily="18" charset="0"/>
                          </a:rPr>
                          <m:t>15</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5</m:t>
                        </m:r>
                      </m:e>
                      <m:e>
                        <m:r>
                          <a:rPr lang="ar-AE">
                            <a:latin typeface="Cambria Math" panose="02040503050406030204" pitchFamily="18" charset="0"/>
                          </a:rPr>
                          <m:t>10</m:t>
                        </m:r>
                      </m:e>
                    </m:d>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5</m:t>
                        </m:r>
                      </m:e>
                      <m:e>
                        <m:r>
                          <a:rPr lang="ar-AE">
                            <a:latin typeface="Cambria Math" panose="02040503050406030204" pitchFamily="18" charset="0"/>
                          </a:rPr>
                          <m:t>15</m:t>
                        </m:r>
                      </m:e>
                    </m:d>
                  </m:oMath>
                </a14:m>
                <a:endParaRPr lang="en-US" sz="2000" dirty="0"/>
              </a:p>
              <a:p>
                <a:r>
                  <a:rPr lang="en-US" sz="2000" b="1" dirty="0">
                    <a:solidFill>
                      <a:srgbClr val="002060"/>
                    </a:solidFill>
                  </a:rPr>
                  <a:t>Visual Levels:</a:t>
                </a:r>
              </a:p>
              <a:p>
                <a:r>
                  <a:rPr lang="en-US" sz="2000" b="1" dirty="0">
                    <a:solidFill>
                      <a:srgbClr val="002060"/>
                    </a:solidFill>
                  </a:rPr>
                  <a:t>Top: </a:t>
                </a:r>
                <a:r>
                  <a:rPr lang="en-US" sz="2000" dirty="0">
                    <a:solidFill>
                      <a:srgbClr val="002060"/>
                    </a:solidFill>
                  </a:rPr>
                  <a:t>10, 15</a:t>
                </a:r>
              </a:p>
              <a:p>
                <a:r>
                  <a:rPr lang="en-US" sz="2000" b="1" dirty="0">
                    <a:solidFill>
                      <a:srgbClr val="002060"/>
                    </a:solidFill>
                  </a:rPr>
                  <a:t>Middle: </a:t>
                </a:r>
                <a:r>
                  <a:rPr lang="en-US" sz="2000" dirty="0">
                    <a:solidFill>
                      <a:srgbClr val="002060"/>
                    </a:solidFill>
                  </a:rPr>
                  <a:t>2, 3, 5 </a:t>
                </a:r>
              </a:p>
              <a:p>
                <a:r>
                  <a:rPr lang="en-US" sz="2000" b="1" dirty="0">
                    <a:solidFill>
                      <a:srgbClr val="002060"/>
                    </a:solidFill>
                  </a:rPr>
                  <a:t>Bottom:</a:t>
                </a:r>
                <a:r>
                  <a:rPr lang="en-US" sz="2000" dirty="0">
                    <a:solidFill>
                      <a:srgbClr val="002060"/>
                    </a:solidFill>
                  </a:rPr>
                  <a:t>1 </a:t>
                </a:r>
                <a:endParaRPr lang="ar-AE" sz="2000" dirty="0">
                  <a:solidFill>
                    <a:srgbClr val="002060"/>
                  </a:solidFill>
                </a:endParaRPr>
              </a:p>
            </p:txBody>
          </p:sp>
        </mc:Choice>
        <mc:Fallback xmlns="">
          <p:sp>
            <p:nvSpPr>
              <p:cNvPr id="5" name="Rectangle 2">
                <a:extLst>
                  <a:ext uri="{FF2B5EF4-FFF2-40B4-BE49-F238E27FC236}">
                    <a16:creationId xmlns:a16="http://schemas.microsoft.com/office/drawing/2014/main" id="{CCF5189E-2E0C-97BF-0768-35473A206523}"/>
                  </a:ext>
                </a:extLst>
              </p:cNvPr>
              <p:cNvSpPr>
                <a:spLocks noGrp="1" noRot="1" noChangeAspect="1" noMove="1" noResize="1" noEditPoints="1" noAdjustHandles="1" noChangeArrowheads="1" noChangeShapeType="1" noTextEdit="1"/>
              </p:cNvSpPr>
              <p:nvPr>
                <p:ph idx="1"/>
              </p:nvPr>
            </p:nvSpPr>
            <p:spPr bwMode="auto">
              <a:xfrm>
                <a:off x="152400" y="990600"/>
                <a:ext cx="6347712" cy="5473293"/>
              </a:xfrm>
              <a:prstGeom prst="rect">
                <a:avLst/>
              </a:prstGeom>
              <a:blipFill>
                <a:blip r:embed="rId2"/>
                <a:stretch>
                  <a:fillRect l="-961" t="-334" b="-15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7" name="Picture 6">
            <a:extLst>
              <a:ext uri="{FF2B5EF4-FFF2-40B4-BE49-F238E27FC236}">
                <a16:creationId xmlns:a16="http://schemas.microsoft.com/office/drawing/2014/main" id="{83A0E505-F8EC-DA07-F69C-70A1F9F6D291}"/>
              </a:ext>
            </a:extLst>
          </p:cNvPr>
          <p:cNvPicPr>
            <a:picLocks noChangeAspect="1"/>
          </p:cNvPicPr>
          <p:nvPr/>
        </p:nvPicPr>
        <p:blipFill>
          <a:blip r:embed="rId3"/>
          <a:srcRect l="4980" t="3484" r="3473"/>
          <a:stretch>
            <a:fillRect/>
          </a:stretch>
        </p:blipFill>
        <p:spPr>
          <a:xfrm>
            <a:off x="5591175" y="76200"/>
            <a:ext cx="3514725" cy="4222753"/>
          </a:xfrm>
          <a:prstGeom prst="rect">
            <a:avLst/>
          </a:prstGeom>
        </p:spPr>
      </p:pic>
    </p:spTree>
    <p:extLst>
      <p:ext uri="{BB962C8B-B14F-4D97-AF65-F5344CB8AC3E}">
        <p14:creationId xmlns:p14="http://schemas.microsoft.com/office/powerpoint/2010/main" val="29449487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ll}&#10;0&amp;1 &amp; 0&amp; 0 &amp; 0\\&#10;1 &amp;0&amp; 1 &amp; 1 &amp; 0\\&#10;1&amp; 0 &amp; 1 &amp; 0 &amp; 1&#10;\end{array}&#10;\right]?&#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igcup_{a \in A}[a]_{R} = A.$$.&#10;&#10;\end{document}"/>
  <p:tag name="IGUANATEXSIZE" val="20"/>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890</TotalTime>
  <Words>7695</Words>
  <Application>Microsoft Office PowerPoint</Application>
  <PresentationFormat>On-screen Show (4:3)</PresentationFormat>
  <Paragraphs>787</Paragraphs>
  <Slides>68</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68</vt:i4>
      </vt:variant>
    </vt:vector>
  </HeadingPairs>
  <TitlesOfParts>
    <vt:vector size="80" baseType="lpstr">
      <vt:lpstr>Aptos</vt:lpstr>
      <vt:lpstr>Arial</vt:lpstr>
      <vt:lpstr>Cambria Math</vt:lpstr>
      <vt:lpstr>Courier New</vt:lpstr>
      <vt:lpstr>Lucida Sans Unicode</vt:lpstr>
      <vt:lpstr>quote-cjk-patch</vt:lpstr>
      <vt:lpstr>Symbol</vt:lpstr>
      <vt:lpstr>Times New Roman</vt:lpstr>
      <vt:lpstr>Trebuchet MS</vt:lpstr>
      <vt:lpstr>Wingdings</vt:lpstr>
      <vt:lpstr>Wingdings 3</vt:lpstr>
      <vt:lpstr>Facet</vt:lpstr>
      <vt:lpstr>PowerPoint Presentation</vt:lpstr>
      <vt:lpstr>WHY STUDY RELATIONS ?</vt:lpstr>
      <vt:lpstr>DOMAIN &amp; RANGE OF RELATIONS</vt:lpstr>
      <vt:lpstr>EXAMPLE</vt:lpstr>
      <vt:lpstr>PROPERTIES OF RELATIONS</vt:lpstr>
      <vt:lpstr>REFLEXIVE RELATION</vt:lpstr>
      <vt:lpstr>REFLEXIVE RELATION</vt:lpstr>
      <vt:lpstr>SYMMETRIC &amp; ANTISYMMETRIC RELATION</vt:lpstr>
      <vt:lpstr>EXAMPLE I</vt:lpstr>
      <vt:lpstr>TRANSITIVE RELATION</vt:lpstr>
      <vt:lpstr>TRANSITIVE RELATION</vt:lpstr>
      <vt:lpstr>METHODS FOR REPRESENTING RELATIONS</vt:lpstr>
      <vt:lpstr>REPRESENTING RELATIONS USING MATRICES</vt:lpstr>
      <vt:lpstr>PowerPoint Presentation</vt:lpstr>
      <vt:lpstr>Examples of Representing Relations Using Matrices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Determining which Properties a Relation has from its Digraph</vt:lpstr>
      <vt:lpstr>DIRECTED GRAPH OF A REFLEXIVE RELATION</vt:lpstr>
      <vt:lpstr>PowerPoint Presentation</vt:lpstr>
      <vt:lpstr>GRAPH OF A SYMMETRIC RELATION</vt:lpstr>
      <vt:lpstr>PowerPoint Presentation</vt:lpstr>
      <vt:lpstr>DIRECTED GRAPH OF A TRANSITIVE RELATION</vt:lpstr>
      <vt:lpstr>PowerPoint Presentation</vt:lpstr>
      <vt:lpstr>PowerPoint Presentation</vt:lpstr>
      <vt:lpstr>PowerPoint Presentation</vt:lpstr>
      <vt:lpstr>PowerPoint Presentation</vt:lpstr>
      <vt:lpstr>Power of a Relation</vt:lpstr>
      <vt:lpstr>Power-Example</vt:lpstr>
      <vt:lpstr>Power-Example</vt:lpstr>
      <vt:lpstr>PowerPoint Presentation</vt:lpstr>
      <vt:lpstr>Equivalence Relations</vt:lpstr>
      <vt:lpstr>Equivalence Relations</vt:lpstr>
      <vt:lpstr>Strings (Length of words)</vt:lpstr>
      <vt:lpstr>Congruence Modulo m</vt:lpstr>
      <vt:lpstr>Divides</vt:lpstr>
      <vt:lpstr>Equivalence Classes</vt:lpstr>
      <vt:lpstr>Equivalence Classes</vt:lpstr>
      <vt:lpstr>Equivalence Classes</vt:lpstr>
      <vt:lpstr>Partition of a Set</vt:lpstr>
      <vt:lpstr>Equivalence Relation Creates a Partition</vt:lpstr>
      <vt:lpstr>An Equivalence Relation- Partitions a Set</vt:lpstr>
      <vt:lpstr>An Equivalence Relation Partitions a Set</vt:lpstr>
      <vt:lpstr>An Equivalence Relation Partitions a Set</vt:lpstr>
      <vt:lpstr>Partial Orderings</vt:lpstr>
      <vt:lpstr>Partial Ordering</vt:lpstr>
      <vt:lpstr>Partial Ordering</vt:lpstr>
      <vt:lpstr>Partial Ordering</vt:lpstr>
      <vt:lpstr>Partial Orderings (continued)</vt:lpstr>
      <vt:lpstr>Comparability</vt:lpstr>
      <vt:lpstr>Totally Ordered Set</vt:lpstr>
      <vt:lpstr>Totally Ordered Set</vt:lpstr>
      <vt:lpstr>Well Ordered Set</vt:lpstr>
      <vt:lpstr>Lexicographic Set</vt:lpstr>
      <vt:lpstr>Lexicographic Set</vt:lpstr>
      <vt:lpstr>Lexicographic Set</vt:lpstr>
      <vt:lpstr>Hasse Diagrams</vt:lpstr>
      <vt:lpstr>Hasse Diagrams</vt:lpstr>
      <vt:lpstr>PowerPoint Presentation</vt:lpstr>
      <vt:lpstr>Hasse Diagrams</vt:lpstr>
      <vt:lpstr>Hasse Diagrams</vt:lpstr>
      <vt:lpstr>Hasse Diagrams</vt:lpstr>
      <vt:lpstr>Hasse Diagrams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 Use Notice: The material used in this presentation i.e., pictures/graphs/text, etc. is solely intended for educational/teaching purpose, offered free of cost to the students for use under special circumstances of Online Education due to COVID-19 Lockdown situation and may include copyrighted material - the use of which may not have been specifically authorised by Copyright Owners. It’s application constitutes Fair Use of any such copyrighted material as provided in globally accepted law of many countries. The contents of presentations are intended only for the attendees of the class being conducted by the presenter.</dc:title>
  <dc:creator>nauman junejo</dc:creator>
  <cp:lastModifiedBy>Dua Agha</cp:lastModifiedBy>
  <cp:revision>21</cp:revision>
  <dcterms:created xsi:type="dcterms:W3CDTF">2026-02-16T05:03:29Z</dcterms:created>
  <dcterms:modified xsi:type="dcterms:W3CDTF">2026-04-16T05:48:28Z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2020-07-14T00:00:00Z</vt:filetime>
  </property>
  <property fmtid="{D5CDD505-2E9C-101B-9397-08002B2CF9AE}" pid="3" name="Creator">
    <vt:lpwstr>Microsoft® PowerPoint® 2016</vt:lpwstr>
  </property>
  <property fmtid="{D5CDD505-2E9C-101B-9397-08002B2CF9AE}" pid="4" name="LastSaved">
    <vt:filetime>2026-02-16T00:00:00Z</vt:filetime>
  </property>
  <property fmtid="{D5CDD505-2E9C-101B-9397-08002B2CF9AE}" pid="5" name="Producer">
    <vt:lpwstr>Microsoft® PowerPoint® 2016</vt:lpwstr>
  </property>
</Properties>
</file>