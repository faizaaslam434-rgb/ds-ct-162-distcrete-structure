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81" r:id="rId4"/>
    <p:sldId id="348" r:id="rId5"/>
    <p:sldId id="319" r:id="rId6"/>
    <p:sldId id="284" r:id="rId7"/>
    <p:sldId id="349" r:id="rId8"/>
    <p:sldId id="298" r:id="rId9"/>
    <p:sldId id="338" r:id="rId10"/>
    <p:sldId id="350" r:id="rId11"/>
    <p:sldId id="300" r:id="rId12"/>
    <p:sldId id="259" r:id="rId13"/>
    <p:sldId id="351" r:id="rId14"/>
    <p:sldId id="320" r:id="rId15"/>
    <p:sldId id="352" r:id="rId16"/>
    <p:sldId id="289" r:id="rId17"/>
    <p:sldId id="353" r:id="rId18"/>
    <p:sldId id="292" r:id="rId19"/>
    <p:sldId id="288" r:id="rId20"/>
    <p:sldId id="312" r:id="rId21"/>
    <p:sldId id="321" r:id="rId22"/>
    <p:sldId id="314" r:id="rId23"/>
    <p:sldId id="341" r:id="rId24"/>
    <p:sldId id="342" r:id="rId2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Constantia" panose="02030602050306030303" pitchFamily="18" charset="0"/>
      <p:regular r:id="rId28"/>
      <p:bold r:id="rId29"/>
      <p:italic r:id="rId30"/>
      <p:boldItalic r:id="rId31"/>
    </p:embeddedFont>
    <p:embeddedFont>
      <p:font typeface="Wingdings 2" panose="05020102010507070707" pitchFamily="18" charset="2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6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B134D-0EB3-42CB-9322-AA369738187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31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6482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Question/Answer Animations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0" y="6552228"/>
            <a:ext cx="91440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2833" tIns="51417" rIns="102833" bIns="51417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000" dirty="0"/>
              <a:t>Copyright ©  McGraw-Hill Education.  All rights reserved. No reproduction or distribution without the prior written consent of McGraw-Hill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Basics of 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/>
              <a:t>.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Figuring out how many possible outcomes there are</a:t>
            </a:r>
            <a:r>
              <a:rPr lang="en-US" dirty="0">
                <a:solidFill>
                  <a:srgbClr val="002060"/>
                </a:solidFill>
              </a:rPr>
              <a:t> without listing them all.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Instead of writing every possibility (which can be huge), we use rules to calculate the total quickly.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40E5-37EC-8D35-835E-EC959FA1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1122-EC87-8615-6325-205338C3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Basic Counting Principles: The Product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78EB-21FB-F070-5E95-E88C08F57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5480"/>
            <a:ext cx="6096000" cy="438912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Product Rule</a:t>
            </a:r>
            <a:r>
              <a:rPr lang="en-US" dirty="0">
                <a:solidFill>
                  <a:srgbClr val="7030A0"/>
                </a:solidFill>
              </a:rPr>
              <a:t> says: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If a process happens in steps, you </a:t>
            </a:r>
            <a:r>
              <a:rPr lang="en-US" b="1" dirty="0">
                <a:solidFill>
                  <a:srgbClr val="7030A0"/>
                </a:solidFill>
              </a:rPr>
              <a:t>multiply</a:t>
            </a:r>
            <a:r>
              <a:rPr lang="en-US" dirty="0">
                <a:solidFill>
                  <a:srgbClr val="7030A0"/>
                </a:solidFill>
              </a:rPr>
              <a:t> the number of choices at each step.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In simple terms: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Step 1 has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n₁ choices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Step 2 has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n₂ choices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Total outcomes = </a:t>
            </a:r>
            <a:r>
              <a:rPr lang="en-US" b="1" dirty="0">
                <a:solidFill>
                  <a:srgbClr val="002060"/>
                </a:solidFill>
              </a:rPr>
              <a:t>n₁ × n₂</a:t>
            </a:r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r>
              <a:rPr lang="en-US" dirty="0">
                <a:solidFill>
                  <a:srgbClr val="D60093"/>
                </a:solidFill>
              </a:rPr>
              <a:t>If there are more steps, just keep multiplying.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09D0F-17C6-FE91-5A8E-D44CCE2446E7}"/>
              </a:ext>
            </a:extLst>
          </p:cNvPr>
          <p:cNvSpPr txBox="1"/>
          <p:nvPr/>
        </p:nvSpPr>
        <p:spPr>
          <a:xfrm>
            <a:off x="5105400" y="3352800"/>
            <a:ext cx="35814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You choose a shirt (3 options)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Then choose pants (2 options) 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Total outfits = </a:t>
            </a:r>
            <a:r>
              <a:rPr lang="en-US" b="1" dirty="0">
                <a:solidFill>
                  <a:srgbClr val="002060"/>
                </a:solidFill>
              </a:rPr>
              <a:t>3 × 2 = 6 outfits</a:t>
            </a:r>
            <a:endParaRPr lang="en-US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Because for </a:t>
            </a:r>
            <a:r>
              <a:rPr lang="en-US" i="1" dirty="0">
                <a:solidFill>
                  <a:srgbClr val="C00000"/>
                </a:solidFill>
              </a:rPr>
              <a:t>each shirt</a:t>
            </a:r>
            <a:r>
              <a:rPr lang="en-US" dirty="0">
                <a:solidFill>
                  <a:srgbClr val="C00000"/>
                </a:solidFill>
              </a:rPr>
              <a:t>, you can pair </a:t>
            </a:r>
            <a:r>
              <a:rPr lang="en-US" i="1" dirty="0">
                <a:solidFill>
                  <a:srgbClr val="C00000"/>
                </a:solidFill>
              </a:rPr>
              <a:t>any pants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567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66271"/>
            <a:ext cx="8229600" cy="1143000"/>
          </a:xfrm>
        </p:spPr>
        <p:txBody>
          <a:bodyPr/>
          <a:lstStyle/>
          <a:p>
            <a:r>
              <a:rPr lang="en-US" dirty="0"/>
              <a:t>The Product Rule</a:t>
            </a:r>
          </a:p>
        </p:txBody>
      </p:sp>
      <p:pic>
        <p:nvPicPr>
          <p:cNvPr id="4" name="Picture 3" descr="05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72200" y="5715000"/>
            <a:ext cx="2019180" cy="914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E2E41-6B2D-A28A-5E29-2EBDBD24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34440"/>
            <a:ext cx="4572000" cy="438912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2060"/>
                </a:solidFill>
                <a:latin typeface="+mj-lt"/>
              </a:rPr>
              <a:t>Example 1: Bit strings of length 7</a:t>
            </a:r>
          </a:p>
          <a:p>
            <a:r>
              <a:rPr lang="en-US" dirty="0">
                <a:solidFill>
                  <a:srgbClr val="C00000"/>
                </a:solidFill>
                <a:latin typeface="+mj-lt"/>
              </a:rPr>
              <a:t>A 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bit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 is either: 0, 1 </a:t>
            </a:r>
          </a:p>
          <a:p>
            <a:r>
              <a:rPr lang="en-US" dirty="0">
                <a:solidFill>
                  <a:srgbClr val="002060"/>
                </a:solidFill>
                <a:latin typeface="+mj-lt"/>
              </a:rPr>
              <a:t>So each position has </a:t>
            </a:r>
            <a:r>
              <a:rPr lang="en-US" b="1" dirty="0">
                <a:solidFill>
                  <a:srgbClr val="002060"/>
                </a:solidFill>
                <a:latin typeface="+mj-lt"/>
              </a:rPr>
              <a:t>2 choices</a:t>
            </a:r>
            <a:r>
              <a:rPr lang="en-US" dirty="0">
                <a:solidFill>
                  <a:srgbClr val="002060"/>
                </a:solidFill>
                <a:latin typeface="+mj-lt"/>
              </a:rPr>
              <a:t>.</a:t>
            </a:r>
          </a:p>
          <a:p>
            <a:r>
              <a:rPr lang="en-US" dirty="0">
                <a:solidFill>
                  <a:srgbClr val="D60093"/>
                </a:solidFill>
                <a:latin typeface="+mj-lt"/>
              </a:rPr>
              <a:t>There are </a:t>
            </a:r>
            <a:r>
              <a:rPr lang="en-US" b="1" dirty="0">
                <a:solidFill>
                  <a:srgbClr val="D60093"/>
                </a:solidFill>
                <a:latin typeface="+mj-lt"/>
              </a:rPr>
              <a:t>7 positions</a:t>
            </a:r>
            <a:r>
              <a:rPr lang="en-US" dirty="0">
                <a:solidFill>
                  <a:srgbClr val="D60093"/>
                </a:solidFill>
                <a:latin typeface="+mj-lt"/>
              </a:rPr>
              <a:t>, so:</a:t>
            </a:r>
          </a:p>
          <a:p>
            <a:r>
              <a:rPr lang="en-US" dirty="0">
                <a:solidFill>
                  <a:srgbClr val="D60093"/>
                </a:solidFill>
                <a:latin typeface="+mj-lt"/>
              </a:rPr>
              <a:t>Total = 2 × 2 × 2 × 2 × 2 × 2 × 2</a:t>
            </a:r>
            <a:br>
              <a:rPr lang="en-US" dirty="0">
                <a:solidFill>
                  <a:srgbClr val="D60093"/>
                </a:solidFill>
                <a:latin typeface="+mj-lt"/>
              </a:rPr>
            </a:br>
            <a:r>
              <a:rPr lang="en-US" dirty="0">
                <a:solidFill>
                  <a:srgbClr val="D60093"/>
                </a:solidFill>
                <a:latin typeface="+mj-lt"/>
              </a:rPr>
              <a:t>= </a:t>
            </a:r>
            <a:r>
              <a:rPr lang="en-US" b="1" dirty="0">
                <a:solidFill>
                  <a:srgbClr val="D60093"/>
                </a:solidFill>
                <a:latin typeface="+mj-lt"/>
              </a:rPr>
              <a:t>2⁷ = 128</a:t>
            </a:r>
            <a:endParaRPr lang="en-US" dirty="0">
              <a:solidFill>
                <a:srgbClr val="D60093"/>
              </a:solidFill>
              <a:latin typeface="+mj-lt"/>
            </a:endParaRPr>
          </a:p>
          <a:p>
            <a:r>
              <a:rPr lang="en-US" dirty="0">
                <a:solidFill>
                  <a:srgbClr val="C00000"/>
                </a:solidFill>
                <a:latin typeface="+mj-lt"/>
              </a:rPr>
              <a:t>So, there are 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128 possible bit strings</a:t>
            </a:r>
            <a:endParaRPr lang="en-US" dirty="0">
              <a:solidFill>
                <a:srgbClr val="C00000"/>
              </a:solidFill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E0AEF-CCEC-7999-5840-CD2B6A7E88A9}"/>
              </a:ext>
            </a:extLst>
          </p:cNvPr>
          <p:cNvSpPr txBox="1"/>
          <p:nvPr/>
        </p:nvSpPr>
        <p:spPr>
          <a:xfrm>
            <a:off x="4791364" y="969597"/>
            <a:ext cx="4200236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Example 2: License plates</a:t>
            </a:r>
          </a:p>
          <a:p>
            <a:pPr algn="ctr">
              <a:buNone/>
            </a:pPr>
            <a:r>
              <a:rPr lang="en-US" sz="2400" dirty="0">
                <a:solidFill>
                  <a:srgbClr val="C00000"/>
                </a:solidFill>
              </a:rPr>
              <a:t>3 letters + 3 digits</a:t>
            </a: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Condition: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Each letter: 26 choices (A–Z)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Each digit: 10 choices (0–9) </a:t>
            </a:r>
          </a:p>
          <a:p>
            <a:pPr>
              <a:buNone/>
            </a:pPr>
            <a:r>
              <a:rPr lang="en-US" sz="2400" dirty="0">
                <a:solidFill>
                  <a:srgbClr val="D60093"/>
                </a:solidFill>
              </a:rPr>
              <a:t>So:</a:t>
            </a:r>
          </a:p>
          <a:p>
            <a:pPr>
              <a:buNone/>
            </a:pPr>
            <a:r>
              <a:rPr lang="en-US" sz="2400" dirty="0">
                <a:solidFill>
                  <a:srgbClr val="D60093"/>
                </a:solidFill>
              </a:rPr>
              <a:t>Total=</a:t>
            </a:r>
          </a:p>
          <a:p>
            <a:pPr>
              <a:buNone/>
            </a:pPr>
            <a:r>
              <a:rPr lang="en-US" sz="2400" dirty="0">
                <a:solidFill>
                  <a:srgbClr val="D60093"/>
                </a:solidFill>
              </a:rPr>
              <a:t>=26 × 26 × 26 × 10 × 10 × 10</a:t>
            </a:r>
            <a:br>
              <a:rPr lang="en-US" sz="2400" dirty="0">
                <a:solidFill>
                  <a:srgbClr val="D60093"/>
                </a:solidFill>
              </a:rPr>
            </a:br>
            <a:r>
              <a:rPr lang="en-US" sz="2400" dirty="0">
                <a:solidFill>
                  <a:srgbClr val="D60093"/>
                </a:solidFill>
              </a:rPr>
              <a:t>= </a:t>
            </a:r>
            <a:r>
              <a:rPr lang="en-US" sz="2400" b="1" dirty="0">
                <a:solidFill>
                  <a:srgbClr val="D60093"/>
                </a:solidFill>
              </a:rPr>
              <a:t>26³ × 10³</a:t>
            </a:r>
            <a:br>
              <a:rPr lang="en-US" sz="2400" dirty="0">
                <a:solidFill>
                  <a:srgbClr val="D60093"/>
                </a:solidFill>
              </a:rPr>
            </a:br>
            <a:r>
              <a:rPr lang="en-US" sz="2400" dirty="0">
                <a:solidFill>
                  <a:srgbClr val="D60093"/>
                </a:solidFill>
              </a:rPr>
              <a:t>= </a:t>
            </a:r>
            <a:r>
              <a:rPr lang="en-US" sz="2400" b="1" dirty="0">
                <a:solidFill>
                  <a:srgbClr val="D60093"/>
                </a:solidFill>
              </a:rPr>
              <a:t>17,576,000</a:t>
            </a:r>
            <a:endParaRPr lang="en-US" sz="2400" dirty="0">
              <a:solidFill>
                <a:srgbClr val="D60093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That’s over </a:t>
            </a:r>
            <a:r>
              <a:rPr lang="en-US" sz="2400" b="1" dirty="0">
                <a:solidFill>
                  <a:srgbClr val="C00000"/>
                </a:solidFill>
              </a:rPr>
              <a:t>17 million possible plates!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function</a:t>
                </a:r>
                <a:r>
                  <a:rPr lang="en-US" dirty="0"/>
                  <a:t> means: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Every input (from the domain) chooses exactly </a:t>
                </a:r>
                <a:r>
                  <a:rPr lang="en-US" b="1" dirty="0">
                    <a:solidFill>
                      <a:srgbClr val="7030A0"/>
                    </a:solidFill>
                  </a:rPr>
                  <a:t>one output</a:t>
                </a:r>
                <a:r>
                  <a:rPr lang="en-US" dirty="0">
                    <a:solidFill>
                      <a:srgbClr val="7030A0"/>
                    </a:solidFill>
                  </a:rPr>
                  <a:t> (from the codomain)</a:t>
                </a: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Example: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You have </a:t>
                </a:r>
                <a:r>
                  <a:rPr lang="en-US" b="1" dirty="0">
                    <a:solidFill>
                      <a:srgbClr val="002060"/>
                    </a:solidFill>
                  </a:rPr>
                  <a:t>m inputs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Each input can go to </a:t>
                </a:r>
                <a:r>
                  <a:rPr lang="en-US" b="1" dirty="0">
                    <a:solidFill>
                      <a:srgbClr val="002060"/>
                    </a:solidFill>
                  </a:rPr>
                  <a:t>any of n outputs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So for each input, you have </a:t>
                </a:r>
                <a:r>
                  <a:rPr lang="en-US" b="1" dirty="0">
                    <a:solidFill>
                      <a:srgbClr val="002060"/>
                    </a:solidFill>
                  </a:rPr>
                  <a:t>n choices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D60093"/>
                    </a:solidFill>
                  </a:rPr>
                  <a:t>Apply the product rule:</a:t>
                </a:r>
              </a:p>
              <a:p>
                <a:pPr marL="39319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ar-AE" i="1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ar-AE" i="1">
                              <a:solidFill>
                                <a:srgbClr val="D60093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rgbClr val="D60093"/>
                              </a:solidFill>
                            </a:rPr>
                            <m:t>times</m:t>
                          </m:r>
                        </m:e>
                      </m:d>
                      <m:r>
                        <a:rPr lang="ar-AE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ar-AE" i="1">
                              <a:solidFill>
                                <a:srgbClr val="D6009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pPr lvl="1"/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D4D92-8813-B389-3FEC-7E86A36B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5562-AE3E-06F2-A92E-FBD519E5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4D08A-6E28-E732-09B5-152006A60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2. One-to-One Functions (Injective)</a:t>
            </a:r>
          </a:p>
          <a:p>
            <a:r>
              <a:rPr lang="en-US" dirty="0">
                <a:solidFill>
                  <a:srgbClr val="002060"/>
                </a:solidFill>
              </a:rPr>
              <a:t>Now there’s a restriction:</a:t>
            </a:r>
          </a:p>
          <a:p>
            <a:pPr lvl="1"/>
            <a:r>
              <a:rPr lang="en-US" b="1" dirty="0">
                <a:solidFill>
                  <a:srgbClr val="D60093"/>
                </a:solidFill>
              </a:rPr>
              <a:t>No two inputs can go to the same output</a:t>
            </a:r>
            <a:endParaRPr lang="en-US" dirty="0">
              <a:solidFill>
                <a:srgbClr val="D60093"/>
              </a:solidFill>
            </a:endParaRPr>
          </a:p>
          <a:p>
            <a:pPr lvl="1"/>
            <a:r>
              <a:rPr lang="en-US" dirty="0">
                <a:solidFill>
                  <a:srgbClr val="D60093"/>
                </a:solidFill>
              </a:rPr>
              <a:t>So choices decrease each time.</a:t>
            </a:r>
          </a:p>
          <a:p>
            <a:pPr lvl="1"/>
            <a:endParaRPr lang="en-US" dirty="0">
              <a:solidFill>
                <a:srgbClr val="D60093"/>
              </a:solidFill>
            </a:endParaRPr>
          </a:p>
          <a:p>
            <a:pPr lvl="1"/>
            <a:endParaRPr lang="en-US" dirty="0">
              <a:solidFill>
                <a:srgbClr val="D60093"/>
              </a:solidFill>
            </a:endParaRPr>
          </a:p>
          <a:p>
            <a:pPr lvl="1"/>
            <a:endParaRPr lang="en-US" dirty="0">
              <a:solidFill>
                <a:srgbClr val="D60093"/>
              </a:solidFill>
            </a:endParaRPr>
          </a:p>
          <a:p>
            <a:pPr lvl="1"/>
            <a:endParaRPr lang="en-US" dirty="0">
              <a:solidFill>
                <a:srgbClr val="D60093"/>
              </a:solidFill>
            </a:endParaRPr>
          </a:p>
          <a:p>
            <a:pPr marL="393192" lvl="1" indent="0">
              <a:buNone/>
            </a:pPr>
            <a:endParaRPr lang="en-US" dirty="0">
              <a:solidFill>
                <a:srgbClr val="D60093"/>
              </a:solidFill>
            </a:endParaRPr>
          </a:p>
          <a:p>
            <a:pPr marL="393192" lvl="1" indent="0" algn="ctr">
              <a:buNone/>
            </a:pPr>
            <a:r>
              <a:rPr lang="pt-BR" sz="3000" dirty="0">
                <a:solidFill>
                  <a:srgbClr val="D60093"/>
                </a:solidFill>
              </a:rPr>
              <a:t>n×(n−1)×(n−2)×…</a:t>
            </a:r>
          </a:p>
          <a:p>
            <a:pPr marL="27432" indent="0">
              <a:buNone/>
            </a:pPr>
            <a:r>
              <a:rPr lang="en-US" dirty="0">
                <a:solidFill>
                  <a:srgbClr val="002060"/>
                </a:solidFill>
              </a:rPr>
              <a:t>This only works if </a:t>
            </a:r>
            <a:r>
              <a:rPr lang="en-US" b="1" dirty="0">
                <a:solidFill>
                  <a:srgbClr val="002060"/>
                </a:solidFill>
              </a:rPr>
              <a:t>m ≤ n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(otherwise impossible to assign unique outputs)</a:t>
            </a:r>
            <a:endParaRPr lang="pt-BR" dirty="0">
              <a:solidFill>
                <a:srgbClr val="002060"/>
              </a:solidFill>
            </a:endParaRPr>
          </a:p>
          <a:p>
            <a:pPr marL="393192" lvl="1" indent="0">
              <a:buNone/>
            </a:pPr>
            <a:endParaRPr lang="pt-BR" dirty="0">
              <a:solidFill>
                <a:srgbClr val="D60093"/>
              </a:solidFill>
            </a:endParaRPr>
          </a:p>
          <a:p>
            <a:pPr marL="393192" lvl="1" indent="0">
              <a:buNone/>
            </a:pPr>
            <a:endParaRPr lang="en-US" dirty="0">
              <a:solidFill>
                <a:srgbClr val="D60093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6DFDE8-FCB9-F6DF-31B9-FF1A40403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314432"/>
            <a:ext cx="67056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rgbClr val="C00000"/>
                </a:solidFill>
              </a:rPr>
              <a:t>Like: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First input → n choices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Second input → n−1 choices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Third input → n−2 choices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Keep going...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66520-A31E-C6D3-A30F-45151E3EAB03}"/>
              </a:ext>
            </a:extLst>
          </p:cNvPr>
          <p:cNvSpPr txBox="1"/>
          <p:nvPr/>
        </p:nvSpPr>
        <p:spPr>
          <a:xfrm>
            <a:off x="6324600" y="3006655"/>
            <a:ext cx="2671618" cy="224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02060"/>
                </a:solidFill>
              </a:rPr>
              <a:t>m = 3 inputs 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002060"/>
                </a:solidFill>
              </a:rPr>
              <a:t>n = 5 outputs</a:t>
            </a:r>
          </a:p>
          <a:p>
            <a:pPr algn="ctr">
              <a:buNone/>
            </a:pPr>
            <a:r>
              <a:rPr lang="en-US" sz="2000" dirty="0">
                <a:solidFill>
                  <a:srgbClr val="002060"/>
                </a:solidFill>
              </a:rPr>
              <a:t>Choices: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1st → 5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2nd → 4</a:t>
            </a: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3rd → 3</a:t>
            </a:r>
          </a:p>
          <a:p>
            <a:pPr algn="ctr">
              <a:buNone/>
            </a:pPr>
            <a:r>
              <a:rPr lang="en-US" sz="2000" dirty="0">
                <a:solidFill>
                  <a:srgbClr val="002060"/>
                </a:solidFill>
              </a:rPr>
              <a:t>Total = </a:t>
            </a:r>
            <a:r>
              <a:rPr lang="en-US" sz="2000" b="1" dirty="0">
                <a:solidFill>
                  <a:srgbClr val="002060"/>
                </a:solidFill>
              </a:rPr>
              <a:t>5 × 4 × 3 = 60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56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Telephone Numbering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    Example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: The </a:t>
            </a:r>
            <a:r>
              <a:rPr lang="en-US" i="1" dirty="0">
                <a:solidFill>
                  <a:schemeClr val="accent3">
                    <a:lumMod val="50000"/>
                  </a:schemeClr>
                </a:solidFill>
              </a:rPr>
              <a:t>North American numbering plan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i="1" dirty="0">
                <a:solidFill>
                  <a:schemeClr val="accent3">
                    <a:lumMod val="50000"/>
                  </a:schemeClr>
                </a:solidFill>
              </a:rPr>
              <a:t>NANP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) specifies that a telephone number consists of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digits, consisting of a three-digit area code, a three-digit office code, and a four-digit station code.  There are some restrictions on the digits.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Let </a:t>
            </a:r>
            <a:r>
              <a:rPr lang="en-US" i="1" dirty="0">
                <a:solidFill>
                  <a:srgbClr val="7030A0"/>
                </a:solidFill>
              </a:rPr>
              <a:t>X</a:t>
            </a:r>
            <a:r>
              <a:rPr lang="en-US" dirty="0">
                <a:solidFill>
                  <a:srgbClr val="7030A0"/>
                </a:solidFill>
              </a:rPr>
              <a:t> denote a digit from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7030A0"/>
                </a:solidFill>
              </a:rPr>
              <a:t> through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9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→ 10 choices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Let </a:t>
            </a:r>
            <a:r>
              <a:rPr lang="en-US" i="1" dirty="0">
                <a:solidFill>
                  <a:srgbClr val="7030A0"/>
                </a:solidFill>
              </a:rPr>
              <a:t>N</a:t>
            </a:r>
            <a:r>
              <a:rPr lang="en-US" dirty="0">
                <a:solidFill>
                  <a:srgbClr val="7030A0"/>
                </a:solidFill>
              </a:rPr>
              <a:t> denote a digit from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solidFill>
                  <a:srgbClr val="7030A0"/>
                </a:solidFill>
              </a:rPr>
              <a:t> through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9</a:t>
            </a:r>
            <a:r>
              <a:rPr lang="en-US" dirty="0">
                <a:solidFill>
                  <a:srgbClr val="7030A0"/>
                </a:solidFill>
              </a:rPr>
              <a:t> → </a:t>
            </a:r>
            <a:r>
              <a:rPr lang="en-US" b="1" dirty="0">
                <a:solidFill>
                  <a:srgbClr val="7030A0"/>
                </a:solidFill>
              </a:rPr>
              <a:t>8 choices</a:t>
            </a:r>
            <a:endParaRPr lang="en-US" dirty="0">
              <a:solidFill>
                <a:srgbClr val="7030A0"/>
              </a:solidFill>
            </a:endParaRPr>
          </a:p>
          <a:p>
            <a:pPr lvl="1"/>
            <a:r>
              <a:rPr lang="en-US" dirty="0">
                <a:solidFill>
                  <a:srgbClr val="7030A0"/>
                </a:solidFill>
              </a:rPr>
              <a:t>Let </a:t>
            </a:r>
            <a:r>
              <a:rPr lang="en-US" i="1" dirty="0">
                <a:solidFill>
                  <a:srgbClr val="7030A0"/>
                </a:solidFill>
              </a:rPr>
              <a:t>Y</a:t>
            </a:r>
            <a:r>
              <a:rPr lang="en-US" dirty="0">
                <a:solidFill>
                  <a:srgbClr val="7030A0"/>
                </a:solidFill>
              </a:rPr>
              <a:t> denote a digit that is 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>
                <a:solidFill>
                  <a:srgbClr val="7030A0"/>
                </a:solidFill>
              </a:rPr>
              <a:t> or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solidFill>
                  <a:srgbClr val="7030A0"/>
                </a:solidFill>
              </a:rPr>
              <a:t> → </a:t>
            </a:r>
            <a:r>
              <a:rPr lang="en-US" b="1" dirty="0">
                <a:solidFill>
                  <a:srgbClr val="7030A0"/>
                </a:solidFill>
              </a:rPr>
              <a:t>2 choices</a:t>
            </a:r>
            <a:endParaRPr lang="en-US" dirty="0">
              <a:solidFill>
                <a:srgbClr val="7030A0"/>
              </a:solidFill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In the old plan (in use in the </a:t>
            </a:r>
            <a:r>
              <a:rPr lang="en-US" b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1960</a:t>
            </a:r>
            <a:r>
              <a:rPr lang="en-US" b="1" dirty="0">
                <a:solidFill>
                  <a:srgbClr val="002060"/>
                </a:solidFill>
              </a:rPr>
              <a:t>s) the format was </a:t>
            </a:r>
            <a:r>
              <a:rPr lang="en-US" b="1" i="1" dirty="0">
                <a:solidFill>
                  <a:srgbClr val="002060"/>
                </a:solidFill>
              </a:rPr>
              <a:t>NYX</a:t>
            </a:r>
            <a:r>
              <a:rPr lang="en-US" b="1" dirty="0">
                <a:solidFill>
                  <a:srgbClr val="002060"/>
                </a:solidFill>
              </a:rPr>
              <a:t>-</a:t>
            </a:r>
            <a:r>
              <a:rPr lang="en-US" b="1" i="1" dirty="0">
                <a:solidFill>
                  <a:srgbClr val="002060"/>
                </a:solidFill>
              </a:rPr>
              <a:t>NNX-XXX</a:t>
            </a:r>
            <a:r>
              <a:rPr lang="en-US" b="1" dirty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In the new plan, the format is </a:t>
            </a:r>
            <a:r>
              <a:rPr lang="en-US" b="1" i="1" dirty="0">
                <a:solidFill>
                  <a:srgbClr val="002060"/>
                </a:solidFill>
              </a:rPr>
              <a:t>NXX</a:t>
            </a:r>
            <a:r>
              <a:rPr lang="en-US" b="1" dirty="0">
                <a:solidFill>
                  <a:srgbClr val="002060"/>
                </a:solidFill>
              </a:rPr>
              <a:t>-</a:t>
            </a:r>
            <a:r>
              <a:rPr lang="en-US" b="1" i="1" dirty="0">
                <a:solidFill>
                  <a:srgbClr val="002060"/>
                </a:solidFill>
              </a:rPr>
              <a:t>NXX</a:t>
            </a:r>
            <a:r>
              <a:rPr lang="en-US" b="1" dirty="0">
                <a:solidFill>
                  <a:srgbClr val="002060"/>
                </a:solidFill>
              </a:rPr>
              <a:t>-</a:t>
            </a:r>
            <a:r>
              <a:rPr lang="en-US" b="1" i="1" dirty="0">
                <a:solidFill>
                  <a:srgbClr val="002060"/>
                </a:solidFill>
              </a:rPr>
              <a:t>XXX</a:t>
            </a:r>
            <a:r>
              <a:rPr lang="en-US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dirty="0">
                <a:solidFill>
                  <a:srgbClr val="D60093"/>
                </a:solidFill>
              </a:rPr>
              <a:t>     How many different telephone numbers are possible under the old plan and the new plan?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4582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Area Code (NYX)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N → 8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Y → 2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X → 10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Total 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8 × 2 × 10 = 160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Office Code (NNX)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N → 8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N → 8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X → 10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2060"/>
                    </a:solidFill>
                  </a:rPr>
                  <a:t>Total 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8 × 8 × 10 = 640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Station Code (XXXX)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4 digits → each 10 choices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 Total 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10⁴ = 10,000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D60093"/>
                    </a:solidFill>
                  </a:rPr>
                  <a:t>So,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160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640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024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n-US" sz="1800" dirty="0">
                  <a:solidFill>
                    <a:srgbClr val="D60093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D60093"/>
                    </a:solidFill>
                  </a:rPr>
                  <a:t>Old plan: 1,024,000,000 numbers</a:t>
                </a:r>
                <a:endParaRPr lang="en-US" sz="1800" dirty="0">
                  <a:solidFill>
                    <a:srgbClr val="D60093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4582"/>
                <a:ext cx="8229600" cy="4389120"/>
              </a:xfrm>
              <a:blipFill>
                <a:blip r:embed="rId2"/>
                <a:stretch>
                  <a:fillRect l="-667" t="-694" b="-2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Telephone Numbering Plan…Continue</a:t>
            </a:r>
          </a:p>
        </p:txBody>
      </p:sp>
    </p:spTree>
    <p:extLst>
      <p:ext uri="{BB962C8B-B14F-4D97-AF65-F5344CB8AC3E}">
        <p14:creationId xmlns:p14="http://schemas.microsoft.com/office/powerpoint/2010/main" val="186838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27116-DB06-FCEC-B9F8-F742D608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A85B1-5B26-B73F-C646-DE903474E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4582"/>
                <a:ext cx="8229600" cy="43891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Area Code (NXX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)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N → 8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X → 10 </a:t>
                </a:r>
              </a:p>
              <a:p>
                <a:r>
                  <a:rPr lang="en-US" sz="1800" dirty="0">
                    <a:solidFill>
                      <a:srgbClr val="002060"/>
                    </a:solidFill>
                  </a:rPr>
                  <a:t>X → 10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2060"/>
                    </a:solidFill>
                  </a:rPr>
                  <a:t>Total 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8 × 10 × 10 = 800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Office Code (NXX)= </a:t>
                </a:r>
                <a:r>
                  <a:rPr lang="en-US" sz="1800" dirty="0">
                    <a:solidFill>
                      <a:srgbClr val="002060"/>
                    </a:solidFill>
                  </a:rPr>
                  <a:t>Same as above: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800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Station Code (XXXX)=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10,000</a:t>
                </a:r>
                <a:endParaRPr lang="en-US" sz="18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So,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800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800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400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mtClean="0">
                          <a:solidFill>
                            <a:srgbClr val="D60093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n-US" sz="1800" dirty="0">
                  <a:solidFill>
                    <a:srgbClr val="D60093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D60093"/>
                    </a:solidFill>
                  </a:rPr>
                  <a:t> </a:t>
                </a:r>
                <a:r>
                  <a:rPr lang="en-US" sz="1800" b="1" dirty="0">
                    <a:solidFill>
                      <a:srgbClr val="D60093"/>
                    </a:solidFill>
                  </a:rPr>
                  <a:t>New plan: 6,400,000,000 numbers</a:t>
                </a:r>
                <a:endParaRPr lang="en-US" sz="1800" dirty="0">
                  <a:solidFill>
                    <a:srgbClr val="D6009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A85B1-5B26-B73F-C646-DE903474E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4582"/>
                <a:ext cx="8229600" cy="4389120"/>
              </a:xfrm>
              <a:blipFill>
                <a:blip r:embed="rId2"/>
                <a:stretch>
                  <a:fillRect l="-1333" t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>
            <a:extLst>
              <a:ext uri="{FF2B5EF4-FFF2-40B4-BE49-F238E27FC236}">
                <a16:creationId xmlns:a16="http://schemas.microsoft.com/office/drawing/2014/main" id="{A012E3E2-C3B5-8131-A972-25D00BED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Telephone Numbering Plan…Continue</a:t>
            </a:r>
          </a:p>
        </p:txBody>
      </p:sp>
    </p:spTree>
    <p:extLst>
      <p:ext uri="{BB962C8B-B14F-4D97-AF65-F5344CB8AC3E}">
        <p14:creationId xmlns:p14="http://schemas.microsoft.com/office/powerpoint/2010/main" val="241358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Rule in Terms of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0273" y="2133600"/>
                <a:ext cx="8229600" cy="4389120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/>
                  <a:t>If you have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2200" dirty="0"/>
                  <a:t>,</a:t>
                </a:r>
              </a:p>
              <a:p>
                <a:r>
                  <a:rPr lang="en-US" sz="2200" dirty="0"/>
                  <a:t>The Cartesian product means: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Apply product rule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r>
                  <a:rPr lang="en-US" sz="2200" dirty="0"/>
                  <a:t>Let: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2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sz="2200" dirty="0"/>
                  <a:t>→ </a:t>
                </a:r>
                <a:r>
                  <a:rPr lang="ar-AE" sz="2200" dirty="0">
                    <a:solidFill>
                      <a:srgbClr val="D60093"/>
                    </a:solidFill>
                  </a:rPr>
                  <a:t>2 </a:t>
                </a:r>
                <a:r>
                  <a:rPr lang="en-US" sz="2200" dirty="0">
                    <a:solidFill>
                      <a:srgbClr val="D60093"/>
                    </a:solidFill>
                  </a:rPr>
                  <a:t>elements 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ar-AE" sz="2200" dirty="0"/>
                  <a:t>→ </a:t>
                </a:r>
                <a:r>
                  <a:rPr lang="ar-AE" sz="2200" dirty="0">
                    <a:solidFill>
                      <a:srgbClr val="D60093"/>
                    </a:solidFill>
                  </a:rPr>
                  <a:t>3 </a:t>
                </a:r>
                <a:r>
                  <a:rPr lang="en-US" sz="2200" dirty="0">
                    <a:solidFill>
                      <a:srgbClr val="D60093"/>
                    </a:solidFill>
                  </a:rPr>
                  <a:t>elements </a:t>
                </a:r>
              </a:p>
              <a:p>
                <a:r>
                  <a:rPr lang="en-US" sz="2200" b="1" dirty="0"/>
                  <a:t>Cartesian product: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ar-AE" sz="2200" dirty="0"/>
              </a:p>
              <a:p>
                <a:r>
                  <a:rPr lang="en-US" sz="2200" dirty="0"/>
                  <a:t>Total = </a:t>
                </a:r>
                <a:r>
                  <a:rPr lang="en-US" sz="2200" b="1" dirty="0"/>
                  <a:t>2 × 3 = 6</a:t>
                </a:r>
                <a:endParaRPr lang="en-US" sz="2200" dirty="0"/>
              </a:p>
              <a:p>
                <a:endParaRPr lang="en-US" sz="2200" dirty="0">
                  <a:solidFill>
                    <a:srgbClr val="D60093"/>
                  </a:solidFill>
                </a:endParaRP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0273" y="2133600"/>
                <a:ext cx="8229600" cy="4389120"/>
              </a:xfrm>
              <a:blipFill>
                <a:blip r:embed="rId2"/>
                <a:stretch>
                  <a:fillRect l="-667" t="-166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shows a series of mathematical expressions with variables and multiplication symbols, indicating a pattern of algebraic multiplication.&#10;&#10;AI-generated content may be incorrect.">
            <a:extLst>
              <a:ext uri="{FF2B5EF4-FFF2-40B4-BE49-F238E27FC236}">
                <a16:creationId xmlns:a16="http://schemas.microsoft.com/office/drawing/2014/main" id="{262433F3-E719-387E-F8BB-2343C7F53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905052"/>
            <a:ext cx="2905530" cy="523948"/>
          </a:xfrm>
          <a:prstGeom prst="rect">
            <a:avLst/>
          </a:prstGeom>
        </p:spPr>
      </p:pic>
      <p:pic>
        <p:nvPicPr>
          <p:cNvPr id="9" name="Picture 8" descr="The image shows a series of mathematical symbols, specifically two instances of the letter 'A' followed by a period, separated by a line.&#10;&#10;AI-generated content may be incorrect.">
            <a:extLst>
              <a:ext uri="{FF2B5EF4-FFF2-40B4-BE49-F238E27FC236}">
                <a16:creationId xmlns:a16="http://schemas.microsoft.com/office/drawing/2014/main" id="{4FCC9526-2BFF-86D2-C1C5-32DA1E35B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10" y="3757166"/>
            <a:ext cx="3191320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Basic Counting Principles:  The Sum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rgbClr val="7030A0"/>
                    </a:solidFill>
                  </a:rPr>
                  <a:t>If a task can be done in different </a:t>
                </a:r>
                <a:r>
                  <a:rPr lang="en-US" b="1" dirty="0">
                    <a:solidFill>
                      <a:srgbClr val="7030A0"/>
                    </a:solidFill>
                  </a:rPr>
                  <a:t>separate ways</a:t>
                </a:r>
                <a:r>
                  <a:rPr lang="en-US" dirty="0">
                    <a:solidFill>
                      <a:srgbClr val="7030A0"/>
                    </a:solidFill>
                  </a:rPr>
                  <a:t>,</a:t>
                </a:r>
                <a:br>
                  <a:rPr lang="en-US" dirty="0">
                    <a:solidFill>
                      <a:srgbClr val="7030A0"/>
                    </a:solidFill>
                  </a:rPr>
                </a:br>
                <a:r>
                  <a:rPr lang="en-US" dirty="0">
                    <a:solidFill>
                      <a:srgbClr val="7030A0"/>
                    </a:solidFill>
                  </a:rPr>
                  <a:t>just </a:t>
                </a:r>
                <a:r>
                  <a:rPr lang="en-US" b="1" dirty="0">
                    <a:solidFill>
                      <a:srgbClr val="7030A0"/>
                    </a:solidFill>
                  </a:rPr>
                  <a:t>add the number of ways</a:t>
                </a:r>
                <a:r>
                  <a:rPr lang="en-US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ctr">
                  <a:buNone/>
                </a:pPr>
                <a:r>
                  <a:rPr lang="en-US" b="1" dirty="0">
                    <a:solidFill>
                      <a:srgbClr val="D60093"/>
                    </a:solidFill>
                  </a:rPr>
                  <a:t>Different options → add them</a:t>
                </a:r>
              </a:p>
              <a:p>
                <a:pPr marL="0" indent="0">
                  <a:buNone/>
                </a:pPr>
                <a:r>
                  <a:rPr lang="en-US" dirty="0"/>
                  <a:t>If:</a:t>
                </a:r>
              </a:p>
              <a:p>
                <a:pPr lvl="1"/>
                <a:r>
                  <a:rPr lang="en-US" dirty="0"/>
                  <a:t>one task can be done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ways </a:t>
                </a:r>
              </a:p>
              <a:p>
                <a:pPr lvl="1"/>
                <a:r>
                  <a:rPr lang="en-US" dirty="0"/>
                  <a:t>another (separate) task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ways </a:t>
                </a:r>
              </a:p>
              <a:p>
                <a:pPr lvl="1"/>
                <a:r>
                  <a:rPr lang="en-US" dirty="0"/>
                  <a:t>and they </a:t>
                </a:r>
                <a:r>
                  <a:rPr lang="en-US" b="1" dirty="0"/>
                  <a:t>don’t overlap</a:t>
                </a:r>
                <a:r>
                  <a:rPr lang="en-US" dirty="0"/>
                  <a:t> </a:t>
                </a:r>
              </a:p>
              <a:p>
                <a:r>
                  <a:rPr lang="en-US" dirty="0">
                    <a:solidFill>
                      <a:srgbClr val="D60093"/>
                    </a:solidFill>
                  </a:rPr>
                  <a:t>Total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D600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D6009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>
                            <a:solidFill>
                              <a:srgbClr val="D6009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solidFill>
                              <a:srgbClr val="D600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D6009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>
                            <a:solidFill>
                              <a:srgbClr val="D6009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solidFill>
                    <a:srgbClr val="D60093"/>
                  </a:solidFill>
                </a:endParaRPr>
              </a:p>
              <a:p>
                <a:pPr>
                  <a:buNone/>
                </a:pPr>
                <a:endParaRPr lang="en-US" b="1" dirty="0">
                  <a:solidFill>
                    <a:srgbClr val="D6009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7025-3353-F306-711B-F6785EA2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67B6-062C-6D80-C793-5CA0423B5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Basic Counting Principles:  The Sum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D089-D313-9831-A360-008B8A148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Example: </a:t>
            </a:r>
            <a:r>
              <a:rPr lang="en-US" dirty="0">
                <a:solidFill>
                  <a:srgbClr val="002060"/>
                </a:solidFill>
              </a:rPr>
              <a:t>The mathematics department must choose either a student or a faculty member as a representative for a university committee. How many choices are there for this representative if there are 37 members of the mathematics faculty and 83 mathematics majors and no one is both a faculty member and a student.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Solution: By the sum rule it follows that there are </a:t>
            </a:r>
          </a:p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37 + 83 = 120 possible ways to pick a representative.</a:t>
            </a:r>
          </a:p>
        </p:txBody>
      </p:sp>
    </p:spTree>
    <p:extLst>
      <p:ext uri="{BB962C8B-B14F-4D97-AF65-F5344CB8AC3E}">
        <p14:creationId xmlns:p14="http://schemas.microsoft.com/office/powerpoint/2010/main" val="1514563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Combining the Sum and Product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Use:</a:t>
            </a:r>
          </a:p>
          <a:p>
            <a:pPr lvl="1"/>
            <a:r>
              <a:rPr lang="en-US" b="1" dirty="0"/>
              <a:t>Sum rule ( + )</a:t>
            </a:r>
            <a:r>
              <a:rPr lang="en-US" dirty="0"/>
              <a:t> when you choose between cases (OR) </a:t>
            </a:r>
          </a:p>
          <a:p>
            <a:pPr lvl="1"/>
            <a:r>
              <a:rPr lang="en-US" b="1" dirty="0"/>
              <a:t>Product rule ( × )</a:t>
            </a:r>
            <a:r>
              <a:rPr lang="en-US" dirty="0"/>
              <a:t> when steps happen together (AND)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69F4-D686-3C7C-4AB0-FB17FDF3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6C76-B7F2-CD8D-9253-6653B18C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Combining the Sum and Product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A8C29D-0231-80EA-31AF-DE44C744FA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buNone/>
                </a:pPr>
                <a:r>
                  <a:rPr lang="en-US" b="1" dirty="0"/>
                  <a:t>   Example</a:t>
                </a:r>
                <a:r>
                  <a:rPr lang="en-US" dirty="0"/>
                  <a:t>: Suppose statement labels in a programming language can be either a single letter or a letter followed by a digit. Find the number of possible labels.</a:t>
                </a:r>
              </a:p>
              <a:p>
                <a:pPr>
                  <a:buNone/>
                </a:pPr>
                <a:r>
                  <a:rPr lang="en-US" b="1" dirty="0"/>
                  <a:t>    Solution</a:t>
                </a:r>
                <a:r>
                  <a:rPr lang="en-US" dirty="0"/>
                  <a:t>:  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Label is either: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1 letter OR 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letter + digit </a:t>
                </a: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Step: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Single letter: 26 ways 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Letter + digit: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260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>
                    <a:solidFill>
                      <a:srgbClr val="D60093"/>
                    </a:solidFill>
                  </a:rPr>
                  <a:t>Total (sum rule):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260</m:t>
                    </m:r>
                    <m:r>
                      <a:rPr lang="en-US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286</m:t>
                    </m:r>
                  </m:oMath>
                </a14:m>
                <a:endParaRPr lang="en-US" dirty="0">
                  <a:solidFill>
                    <a:srgbClr val="D60093"/>
                  </a:solidFill>
                </a:endParaRPr>
              </a:p>
              <a:p>
                <a:r>
                  <a:rPr lang="en-US" b="1" dirty="0">
                    <a:solidFill>
                      <a:srgbClr val="7030A0"/>
                    </a:solidFill>
                  </a:rPr>
                  <a:t>Or direct: Use the product rule.</a:t>
                </a:r>
              </a:p>
              <a:p>
                <a:pPr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         </a:t>
                </a:r>
                <a:r>
                  <a:rPr lang="en-US" b="1" dirty="0">
                    <a:solidFill>
                      <a:srgbClr val="7030A0"/>
                    </a:solidFill>
                    <a:latin typeface="Cambria Math" pitchFamily="18" charset="0"/>
                    <a:ea typeface="Cambria Math" pitchFamily="18" charset="0"/>
                  </a:rPr>
                  <a:t>26</a:t>
                </a:r>
                <a:r>
                  <a:rPr lang="en-US" b="1" dirty="0">
                    <a:solidFill>
                      <a:srgbClr val="7030A0"/>
                    </a:solidFill>
                  </a:rPr>
                  <a:t> + </a:t>
                </a:r>
                <a:r>
                  <a:rPr lang="en-US" b="1" dirty="0">
                    <a:solidFill>
                      <a:srgbClr val="7030A0"/>
                    </a:solidFill>
                    <a:latin typeface="Cambria Math" pitchFamily="18" charset="0"/>
                    <a:ea typeface="Cambria Math" pitchFamily="18" charset="0"/>
                  </a:rPr>
                  <a:t>26 </a:t>
                </a:r>
                <a:r>
                  <a:rPr lang="en-US" b="1" dirty="0">
                    <a:solidFill>
                      <a:srgbClr val="7030A0"/>
                    </a:solidFill>
                    <a:latin typeface="Cambria Math"/>
                    <a:ea typeface="Cambria Math"/>
                  </a:rPr>
                  <a:t>∙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  <a:latin typeface="Cambria Math" pitchFamily="18" charset="0"/>
                    <a:ea typeface="Cambria Math" pitchFamily="18" charset="0"/>
                  </a:rPr>
                  <a:t>10</a:t>
                </a:r>
                <a:r>
                  <a:rPr lang="en-US" b="1" dirty="0">
                    <a:solidFill>
                      <a:srgbClr val="7030A0"/>
                    </a:solidFill>
                  </a:rPr>
                  <a:t> = </a:t>
                </a:r>
                <a:r>
                  <a:rPr lang="en-US" b="1" dirty="0">
                    <a:solidFill>
                      <a:srgbClr val="7030A0"/>
                    </a:solidFill>
                    <a:latin typeface="Cambria Math" pitchFamily="18" charset="0"/>
                    <a:ea typeface="Cambria Math" pitchFamily="18" charset="0"/>
                  </a:rPr>
                  <a:t>286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A8C29D-0231-80EA-31AF-DE44C744FA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2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29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Passwords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Combining the sum and product rule allows us to solve more complex problems.</a:t>
                </a:r>
              </a:p>
              <a:p>
                <a:pPr>
                  <a:buNone/>
                </a:pPr>
                <a:r>
                  <a:rPr lang="en-US" b="1" dirty="0"/>
                  <a:t>      Example</a:t>
                </a:r>
                <a:r>
                  <a:rPr lang="en-US" dirty="0"/>
                  <a:t>: Each user on a computer system has a password, which is six to eight characters long, where each character is an uppercase letter or a digit. Each password must contain at least one digit. How many possible passwords are there?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      Solution</a:t>
                </a:r>
                <a:r>
                  <a:rPr lang="en-US" dirty="0"/>
                  <a:t>:  Let </a:t>
                </a:r>
                <a:r>
                  <a:rPr lang="en-US" i="1" dirty="0"/>
                  <a:t>P</a:t>
                </a:r>
                <a:r>
                  <a:rPr lang="en-US" dirty="0"/>
                  <a:t> be the total number of passwords, and let </a:t>
                </a:r>
                <a:r>
                  <a:rPr lang="en-US" i="1" dirty="0"/>
                  <a:t>P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6</a:t>
                </a:r>
                <a:r>
                  <a:rPr lang="en-US" dirty="0"/>
                  <a:t>, </a:t>
                </a:r>
                <a:r>
                  <a:rPr lang="en-US" i="1" dirty="0"/>
                  <a:t>P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7</a:t>
                </a:r>
                <a:r>
                  <a:rPr lang="en-US" dirty="0"/>
                  <a:t>, and </a:t>
                </a:r>
                <a:r>
                  <a:rPr lang="en-US" i="1" dirty="0"/>
                  <a:t>P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8</a:t>
                </a:r>
                <a:r>
                  <a:rPr lang="en-US" dirty="0"/>
                  <a:t> be the passwords of length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6</a:t>
                </a:r>
                <a:r>
                  <a:rPr lang="en-US" dirty="0"/>
                  <a:t>, </a:t>
                </a:r>
                <a:r>
                  <a:rPr lang="en-US" dirty="0">
                    <a:latin typeface="Cambria Math" pitchFamily="18" charset="0"/>
                    <a:ea typeface="Cambria Math" pitchFamily="18" charset="0"/>
                  </a:rPr>
                  <a:t>7</a:t>
                </a:r>
                <a:r>
                  <a:rPr lang="en-US" dirty="0"/>
                  <a:t>, and 8. </a:t>
                </a:r>
              </a:p>
              <a:p>
                <a:pPr lvl="1"/>
                <a:r>
                  <a:rPr lang="en-US" dirty="0"/>
                  <a:t>By the sum rule </a:t>
                </a:r>
                <a:r>
                  <a:rPr lang="en-US" i="1" dirty="0"/>
                  <a:t>P</a:t>
                </a:r>
                <a:r>
                  <a:rPr lang="en-US" dirty="0"/>
                  <a:t> = </a:t>
                </a:r>
                <a:r>
                  <a:rPr lang="en-US" i="1" dirty="0"/>
                  <a:t>P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6</a:t>
                </a:r>
                <a:r>
                  <a:rPr lang="en-US" dirty="0"/>
                  <a:t> + </a:t>
                </a:r>
                <a:r>
                  <a:rPr lang="en-US" i="1" dirty="0"/>
                  <a:t>P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7</a:t>
                </a:r>
                <a:r>
                  <a:rPr lang="en-US" dirty="0"/>
                  <a:t> +</a:t>
                </a:r>
                <a:r>
                  <a:rPr lang="en-US" i="1" dirty="0"/>
                  <a:t>P</a:t>
                </a:r>
                <a:r>
                  <a:rPr lang="en-US" baseline="-25000" dirty="0">
                    <a:latin typeface="Cambria Math" pitchFamily="18" charset="0"/>
                    <a:ea typeface="Cambria Math" pitchFamily="18" charset="0"/>
                  </a:rPr>
                  <a:t>8</a:t>
                </a:r>
                <a:r>
                  <a:rPr lang="en-US" dirty="0"/>
                  <a:t>. </a:t>
                </a:r>
              </a:p>
              <a:p>
                <a:r>
                  <a:rPr lang="en-US" b="1" dirty="0"/>
                  <a:t>For each length:</a:t>
                </a: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Step 1: total possibilities (letters + digits)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  <m:sup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rgbClr val="002060"/>
                  </a:solidFill>
                </a:endParaRP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Step 2: remove invalid (only letters)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  <m:sup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rgbClr val="002060"/>
                  </a:solidFill>
                </a:endParaRP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So valid passwords: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  <m:sup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AE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  <m:sup>
                          <m:r>
                            <a:rPr lang="ar-AE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So Final: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a:rPr lang="ar-AE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a:rPr lang="ar-AE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ar-AE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FAF8-B548-0846-2422-0779418E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D4AF-2D73-7686-5FCC-BA248C9F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D2A8-EEF0-C2B3-139D-7269DA38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US" dirty="0"/>
              <a:t>By the sum rule </a:t>
            </a:r>
            <a:r>
              <a:rPr lang="en-US" i="1" dirty="0"/>
              <a:t>P</a:t>
            </a:r>
            <a:r>
              <a:rPr lang="en-US" dirty="0"/>
              <a:t> = </a:t>
            </a:r>
            <a:r>
              <a:rPr lang="en-US" i="1" dirty="0"/>
              <a:t>P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/>
              <a:t> + </a:t>
            </a:r>
            <a:r>
              <a:rPr lang="en-US" i="1" dirty="0"/>
              <a:t>P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/>
              <a:t> +</a:t>
            </a:r>
            <a:r>
              <a:rPr lang="en-US" i="1" dirty="0"/>
              <a:t>P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To find each of </a:t>
            </a:r>
            <a:r>
              <a:rPr lang="en-US" i="1" dirty="0"/>
              <a:t>P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/>
              <a:t>, and </a:t>
            </a:r>
            <a:r>
              <a:rPr lang="en-US" i="1" dirty="0"/>
              <a:t>P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dirty="0"/>
              <a:t> , we find the number of passwords of the specified length composed of letters and digits and subtract the number composed only of letters. We find that:</a:t>
            </a:r>
          </a:p>
          <a:p>
            <a:pPr lvl="2">
              <a:buNone/>
            </a:pPr>
            <a:r>
              <a:rPr lang="en-US" dirty="0"/>
              <a:t>     </a:t>
            </a:r>
          </a:p>
          <a:p>
            <a:pPr algn="ctr">
              <a:buNone/>
            </a:pPr>
            <a:r>
              <a:rPr lang="en-US" i="1" dirty="0">
                <a:solidFill>
                  <a:srgbClr val="FF0000"/>
                </a:solidFill>
              </a:rPr>
              <a:t>           P</a:t>
            </a:r>
            <a:r>
              <a:rPr lang="en-US" baseline="-25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36</a:t>
            </a:r>
            <a:r>
              <a:rPr lang="en-US" baseline="30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26</a:t>
            </a:r>
            <a:r>
              <a:rPr lang="en-US" baseline="30000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  =</a:t>
            </a:r>
            <a:r>
              <a:rPr lang="en-US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2,176,782,336 </a:t>
            </a:r>
            <a:r>
              <a:rPr lang="en-US" dirty="0">
                <a:solidFill>
                  <a:srgbClr val="FF0000"/>
                </a:solidFill>
                <a:latin typeface="Cambria Math"/>
                <a:ea typeface="Cambria Math"/>
              </a:rPr>
              <a:t>−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308,915,776</a:t>
            </a:r>
            <a:r>
              <a:rPr lang="en-US" dirty="0">
                <a:solidFill>
                  <a:srgbClr val="FF0000"/>
                </a:solidFill>
              </a:rPr>
              <a:t> =</a:t>
            </a:r>
            <a:r>
              <a:rPr lang="en-US" dirty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1,867,866,560.</a:t>
            </a:r>
          </a:p>
          <a:p>
            <a:pPr algn="ctr">
              <a:buNone/>
            </a:pPr>
            <a:r>
              <a:rPr lang="en-US" i="1" dirty="0">
                <a:solidFill>
                  <a:srgbClr val="D60093"/>
                </a:solidFill>
              </a:rPr>
              <a:t>           P</a:t>
            </a:r>
            <a:r>
              <a:rPr lang="en-US" baseline="-25000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>
                <a:solidFill>
                  <a:srgbClr val="D60093"/>
                </a:solidFill>
              </a:rPr>
              <a:t> = </a:t>
            </a:r>
            <a:r>
              <a:rPr lang="en-US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36</a:t>
            </a:r>
            <a:r>
              <a:rPr lang="en-US" baseline="30000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>
                <a:solidFill>
                  <a:srgbClr val="D60093"/>
                </a:solidFill>
              </a:rPr>
              <a:t> </a:t>
            </a:r>
            <a:r>
              <a:rPr lang="en-US" dirty="0">
                <a:solidFill>
                  <a:srgbClr val="D60093"/>
                </a:solidFill>
                <a:latin typeface="Cambria Math"/>
                <a:ea typeface="Cambria Math"/>
              </a:rPr>
              <a:t>−</a:t>
            </a:r>
            <a:r>
              <a:rPr lang="en-US" dirty="0">
                <a:solidFill>
                  <a:srgbClr val="D60093"/>
                </a:solidFill>
              </a:rPr>
              <a:t> </a:t>
            </a:r>
            <a:r>
              <a:rPr lang="en-US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26</a:t>
            </a:r>
            <a:r>
              <a:rPr lang="en-US" baseline="30000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>
                <a:solidFill>
                  <a:srgbClr val="D60093"/>
                </a:solidFill>
              </a:rPr>
              <a:t>  = </a:t>
            </a:r>
            <a:r>
              <a:rPr lang="en-US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78,364,164,096 </a:t>
            </a:r>
            <a:r>
              <a:rPr lang="en-US" dirty="0">
                <a:solidFill>
                  <a:srgbClr val="D60093"/>
                </a:solidFill>
                <a:latin typeface="Cambria Math"/>
                <a:ea typeface="Cambria Math"/>
              </a:rPr>
              <a:t>−</a:t>
            </a:r>
            <a:r>
              <a:rPr lang="en-US" dirty="0">
                <a:solidFill>
                  <a:srgbClr val="D60093"/>
                </a:solidFill>
              </a:rPr>
              <a:t> 8,</a:t>
            </a:r>
            <a:r>
              <a:rPr lang="en-US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031,810,176</a:t>
            </a:r>
            <a:r>
              <a:rPr lang="en-US" dirty="0">
                <a:solidFill>
                  <a:srgbClr val="D60093"/>
                </a:solidFill>
              </a:rPr>
              <a:t> </a:t>
            </a:r>
            <a:br>
              <a:rPr lang="en-US" dirty="0">
                <a:solidFill>
                  <a:srgbClr val="D60093"/>
                </a:solidFill>
              </a:rPr>
            </a:br>
            <a:r>
              <a:rPr lang="en-US" dirty="0">
                <a:solidFill>
                  <a:srgbClr val="D60093"/>
                </a:solidFill>
              </a:rPr>
              <a:t>=  </a:t>
            </a:r>
            <a:r>
              <a:rPr lang="en-US" dirty="0">
                <a:solidFill>
                  <a:srgbClr val="D60093"/>
                </a:solidFill>
                <a:latin typeface="Cambria Math" pitchFamily="18" charset="0"/>
                <a:ea typeface="Cambria Math" pitchFamily="18" charset="0"/>
              </a:rPr>
              <a:t>70,332,353,920.</a:t>
            </a:r>
            <a:endParaRPr lang="en-US" dirty="0">
              <a:solidFill>
                <a:srgbClr val="D60093"/>
              </a:solidFill>
            </a:endParaRPr>
          </a:p>
          <a:p>
            <a:pPr algn="ctr">
              <a:buNone/>
            </a:pPr>
            <a:r>
              <a:rPr lang="en-US" i="1" dirty="0">
                <a:solidFill>
                  <a:srgbClr val="002060"/>
                </a:solidFill>
              </a:rPr>
              <a:t>           P</a:t>
            </a:r>
            <a:r>
              <a:rPr lang="en-US" baseline="-25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dirty="0">
                <a:solidFill>
                  <a:srgbClr val="002060"/>
                </a:solidFill>
              </a:rPr>
              <a:t> = 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36</a:t>
            </a:r>
            <a:r>
              <a:rPr lang="en-US" baseline="30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  <a:latin typeface="Cambria Math"/>
                <a:ea typeface="Cambria Math"/>
              </a:rPr>
              <a:t>−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26</a:t>
            </a:r>
            <a:r>
              <a:rPr lang="en-US" baseline="30000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dirty="0">
                <a:solidFill>
                  <a:srgbClr val="002060"/>
                </a:solidFill>
              </a:rPr>
              <a:t>  = 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2,821,109,907,456 </a:t>
            </a:r>
            <a:r>
              <a:rPr lang="en-US" dirty="0">
                <a:solidFill>
                  <a:srgbClr val="002060"/>
                </a:solidFill>
                <a:latin typeface="Cambria Math"/>
                <a:ea typeface="Cambria Math"/>
              </a:rPr>
              <a:t>−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208,827,064,576</a:t>
            </a:r>
            <a:r>
              <a:rPr lang="en-US" dirty="0">
                <a:solidFill>
                  <a:srgbClr val="002060"/>
                </a:solidFill>
              </a:rPr>
              <a:t> =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</a:rPr>
              <a:t>2,612,282,842,880.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7030A0"/>
                </a:solidFill>
              </a:rPr>
              <a:t>Consequently, </a:t>
            </a:r>
            <a:r>
              <a:rPr lang="en-US" i="1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rgbClr val="7030A0"/>
                </a:solidFill>
              </a:rPr>
              <a:t> = </a:t>
            </a:r>
            <a:r>
              <a:rPr lang="en-US" i="1" dirty="0">
                <a:solidFill>
                  <a:srgbClr val="7030A0"/>
                </a:solidFill>
              </a:rPr>
              <a:t>P</a:t>
            </a:r>
            <a:r>
              <a:rPr lang="en-US" baseline="-25000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6</a:t>
            </a:r>
            <a:r>
              <a:rPr lang="en-US" dirty="0">
                <a:solidFill>
                  <a:srgbClr val="7030A0"/>
                </a:solidFill>
              </a:rPr>
              <a:t> + </a:t>
            </a:r>
            <a:r>
              <a:rPr lang="en-US" i="1" dirty="0">
                <a:solidFill>
                  <a:srgbClr val="7030A0"/>
                </a:solidFill>
              </a:rPr>
              <a:t>P</a:t>
            </a:r>
            <a:r>
              <a:rPr lang="en-US" baseline="-25000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7</a:t>
            </a:r>
            <a:r>
              <a:rPr lang="en-US" dirty="0">
                <a:solidFill>
                  <a:srgbClr val="7030A0"/>
                </a:solidFill>
              </a:rPr>
              <a:t> +</a:t>
            </a:r>
            <a:r>
              <a:rPr lang="en-US" i="1" dirty="0">
                <a:solidFill>
                  <a:srgbClr val="7030A0"/>
                </a:solidFill>
              </a:rPr>
              <a:t>P</a:t>
            </a:r>
            <a:r>
              <a:rPr lang="en-US" baseline="-25000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dirty="0">
                <a:solidFill>
                  <a:srgbClr val="7030A0"/>
                </a:solidFill>
              </a:rPr>
              <a:t> = </a:t>
            </a:r>
            <a:r>
              <a:rPr lang="en-US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</a:rPr>
              <a:t>2,684,483,063,360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5283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Counting Principles: Subtraction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   Subtraction Rule</a:t>
                </a:r>
                <a:r>
                  <a:rPr lang="en-US" dirty="0"/>
                  <a:t>: When you </a:t>
                </a:r>
                <a:r>
                  <a:rPr lang="en-US" b="1" dirty="0"/>
                  <a:t>add two groups</a:t>
                </a:r>
                <a:r>
                  <a:rPr lang="en-US" dirty="0"/>
                  <a:t>, but some results are counted twice, you </a:t>
                </a:r>
                <a:r>
                  <a:rPr lang="en-US" b="1" dirty="0"/>
                  <a:t>subtract the overlap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Total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common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en-US" i="1"/>
                            <m:t>ways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Also known as, the </a:t>
                </a:r>
                <a:r>
                  <a:rPr lang="en-US" i="1" dirty="0"/>
                  <a:t>principle of inclusion-exclusion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 t="-1250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209800" y="4648200"/>
            <a:ext cx="4812030" cy="380048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92C8DC3-724E-F806-3F7E-05500E905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799261"/>
            <a:ext cx="6705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Ways from set A = 10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Ways from set B = 8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Overlap (common ways) = 3 </a:t>
            </a:r>
          </a:p>
          <a:p>
            <a:pPr lvl="1"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02060"/>
                </a:solidFill>
                <a:latin typeface="Arial" panose="020B0604020202020204" pitchFamily="34" charset="0"/>
              </a:rPr>
              <a:t>So, 10+8−3=15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6.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891" y="190500"/>
            <a:ext cx="8229600" cy="1143000"/>
          </a:xfrm>
        </p:spPr>
        <p:txBody>
          <a:bodyPr/>
          <a:lstStyle/>
          <a:p>
            <a:r>
              <a:rPr lang="en-US" dirty="0"/>
              <a:t>The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91" y="1418590"/>
            <a:ext cx="8229600" cy="438912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The core idea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If you have </a:t>
            </a:r>
            <a:r>
              <a:rPr lang="en-US" sz="2000" b="1" dirty="0">
                <a:solidFill>
                  <a:srgbClr val="002060"/>
                </a:solidFill>
              </a:rPr>
              <a:t>more things than containers</a:t>
            </a:r>
            <a:r>
              <a:rPr lang="en-US" sz="2000" dirty="0">
                <a:solidFill>
                  <a:srgbClr val="002060"/>
                </a:solidFill>
              </a:rPr>
              <a:t>, then </a:t>
            </a:r>
            <a:r>
              <a:rPr lang="en-US" sz="2000" b="1" dirty="0">
                <a:solidFill>
                  <a:srgbClr val="002060"/>
                </a:solidFill>
              </a:rPr>
              <a:t>some container must hold more than one thing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r>
              <a:rPr lang="en-US" sz="2000" b="1" dirty="0"/>
              <a:t>Why this is true (no math first)</a:t>
            </a:r>
          </a:p>
          <a:p>
            <a:r>
              <a:rPr lang="en-US" sz="2000" dirty="0">
                <a:solidFill>
                  <a:srgbClr val="7030A0"/>
                </a:solidFill>
              </a:rPr>
              <a:t>Imagine: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3 pigeonholes (boxes) 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4 pigeons (objects) </a:t>
            </a:r>
          </a:p>
          <a:p>
            <a:r>
              <a:rPr lang="en-US" sz="2000" dirty="0">
                <a:solidFill>
                  <a:srgbClr val="7030A0"/>
                </a:solidFill>
              </a:rPr>
              <a:t>Try to place them: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Put 1 pigeon in each hole → 3 pigeons used 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1 pigeon is left </a:t>
            </a:r>
          </a:p>
          <a:p>
            <a:r>
              <a:rPr lang="en-US" sz="2000" dirty="0">
                <a:solidFill>
                  <a:srgbClr val="7030A0"/>
                </a:solidFill>
              </a:rPr>
              <a:t>That pigeon must go into an already filled hole</a:t>
            </a:r>
          </a:p>
          <a:p>
            <a:r>
              <a:rPr lang="en-US" sz="2000" dirty="0">
                <a:solidFill>
                  <a:srgbClr val="7030A0"/>
                </a:solidFill>
              </a:rPr>
              <a:t>So one hole has </a:t>
            </a:r>
            <a:r>
              <a:rPr lang="en-US" sz="2000" b="1" dirty="0">
                <a:solidFill>
                  <a:srgbClr val="7030A0"/>
                </a:solidFill>
              </a:rPr>
              <a:t>at least 2 pigeons</a:t>
            </a:r>
          </a:p>
          <a:p>
            <a:pPr algn="ctr"/>
            <a:r>
              <a:rPr lang="en-US" sz="2000" b="1" dirty="0">
                <a:solidFill>
                  <a:srgbClr val="D60093"/>
                </a:solidFill>
              </a:rPr>
              <a:t>“</a:t>
            </a:r>
            <a:r>
              <a:rPr lang="en-US" sz="2000" dirty="0">
                <a:solidFill>
                  <a:srgbClr val="D60093"/>
                </a:solidFill>
              </a:rPr>
              <a:t>You cannot evenly distribute too many things into too few places without overlap.</a:t>
            </a:r>
            <a:r>
              <a:rPr lang="en-US" sz="2000" b="1" dirty="0">
                <a:solidFill>
                  <a:srgbClr val="D60093"/>
                </a:solidFill>
              </a:rPr>
              <a:t>”</a:t>
            </a:r>
            <a:endParaRPr lang="en-US" sz="2000" dirty="0">
              <a:solidFill>
                <a:srgbClr val="D60093"/>
              </a:solidFill>
            </a:endParaRPr>
          </a:p>
          <a:p>
            <a:endParaRPr lang="en-US" sz="2000" dirty="0"/>
          </a:p>
        </p:txBody>
      </p:sp>
      <p:sp>
        <p:nvSpPr>
          <p:cNvPr id="5" name="Isosceles Triangle 4"/>
          <p:cNvSpPr/>
          <p:nvPr/>
        </p:nvSpPr>
        <p:spPr>
          <a:xfrm rot="5400000" flipV="1">
            <a:off x="8305800" y="5943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   Corollary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A function </a:t>
            </a:r>
            <a:r>
              <a:rPr lang="en-US" i="1" dirty="0"/>
              <a:t>f</a:t>
            </a:r>
            <a:r>
              <a:rPr lang="en-US" dirty="0"/>
              <a:t> from a set with </a:t>
            </a:r>
            <a:r>
              <a:rPr lang="en-US" i="1" dirty="0"/>
              <a:t>k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elements to a set with </a:t>
            </a:r>
            <a:r>
              <a:rPr lang="en-US" i="1" dirty="0"/>
              <a:t>k</a:t>
            </a:r>
            <a:r>
              <a:rPr lang="en-US" dirty="0"/>
              <a:t> elements is not one-to-one.</a:t>
            </a:r>
          </a:p>
          <a:p>
            <a:pPr>
              <a:buNone/>
            </a:pPr>
            <a:r>
              <a:rPr lang="en-US" b="1" dirty="0"/>
              <a:t>   Proof</a:t>
            </a:r>
            <a:r>
              <a:rPr lang="en-US" dirty="0"/>
              <a:t>: Use the pigeonhole principle.</a:t>
            </a:r>
          </a:p>
          <a:p>
            <a:r>
              <a:rPr lang="en-US" dirty="0"/>
              <a:t>Think of each output value in the codomain as a </a:t>
            </a:r>
            <a:r>
              <a:rPr lang="en-US" b="1" dirty="0"/>
              <a:t>box</a:t>
            </a:r>
            <a:r>
              <a:rPr lang="en-US" dirty="0"/>
              <a:t>. </a:t>
            </a:r>
          </a:p>
          <a:p>
            <a:r>
              <a:rPr lang="en-US" dirty="0"/>
              <a:t>Think of each input value in the domain as an </a:t>
            </a:r>
            <a:r>
              <a:rPr lang="en-US" b="1" dirty="0"/>
              <a:t>object</a:t>
            </a:r>
            <a:r>
              <a:rPr lang="en-US" dirty="0"/>
              <a:t>. </a:t>
            </a:r>
          </a:p>
          <a:p>
            <a:r>
              <a:rPr lang="en-US" dirty="0"/>
              <a:t>Place each input into the box of its output. </a:t>
            </a:r>
          </a:p>
          <a:p>
            <a:pPr marL="0" indent="0">
              <a:buNone/>
            </a:pPr>
            <a:r>
              <a:rPr lang="en-US" dirty="0"/>
              <a:t>    Since there are:</a:t>
            </a:r>
          </a:p>
          <a:p>
            <a:r>
              <a:rPr lang="en-US" b="1" dirty="0"/>
              <a:t>k + 1 inputs</a:t>
            </a:r>
            <a:r>
              <a:rPr lang="en-US" dirty="0"/>
              <a:t> </a:t>
            </a:r>
          </a:p>
          <a:p>
            <a:r>
              <a:rPr lang="en-US" dirty="0"/>
              <a:t>only </a:t>
            </a:r>
            <a:r>
              <a:rPr lang="en-US" b="1" dirty="0"/>
              <a:t>k output boxes</a:t>
            </a:r>
            <a:r>
              <a:rPr lang="en-US" dirty="0"/>
              <a:t> </a:t>
            </a:r>
          </a:p>
          <a:p>
            <a:r>
              <a:rPr lang="en-US" dirty="0"/>
              <a:t>At least one box must contain </a:t>
            </a:r>
            <a:r>
              <a:rPr lang="en-US" b="1" dirty="0"/>
              <a:t>two or more inputs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This means:</a:t>
            </a:r>
          </a:p>
          <a:p>
            <a:r>
              <a:rPr lang="en-US" dirty="0"/>
              <a:t>Two different inputs have the same output. </a:t>
            </a:r>
          </a:p>
          <a:p>
            <a:r>
              <a:rPr lang="en-US" dirty="0"/>
              <a:t>Therefore, the function </a:t>
            </a:r>
            <a:r>
              <a:rPr lang="en-US" b="1" dirty="0"/>
              <a:t>cannot be one-to-one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229600" y="5562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Generalized Pigeonhole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458200" cy="43891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Instead of just “2 in a box”, we ask:</a:t>
            </a:r>
          </a:p>
          <a:p>
            <a:r>
              <a:rPr lang="en-US" b="1" dirty="0">
                <a:solidFill>
                  <a:srgbClr val="D60093"/>
                </a:solidFill>
              </a:rPr>
              <a:t> how crowded must a box be?</a:t>
            </a:r>
          </a:p>
          <a:p>
            <a:pPr marL="0" indent="0">
              <a:buNone/>
            </a:pPr>
            <a:r>
              <a:rPr lang="en-US" b="1" dirty="0"/>
              <a:t> Formula idea</a:t>
            </a:r>
          </a:p>
          <a:p>
            <a:r>
              <a:rPr lang="en-US" dirty="0"/>
              <a:t>If:</a:t>
            </a:r>
          </a:p>
          <a:p>
            <a:r>
              <a:rPr lang="en-US" dirty="0"/>
              <a:t>N objects </a:t>
            </a:r>
          </a:p>
          <a:p>
            <a:r>
              <a:rPr lang="en-US" dirty="0"/>
              <a:t>k boxes </a:t>
            </a:r>
          </a:p>
          <a:p>
            <a:r>
              <a:rPr lang="en-US" dirty="0"/>
              <a:t>Then at least one box has: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D60093"/>
                </a:solidFill>
              </a:rPr>
              <a:t>“On average each box gets N/k items, so at least one box gets that much or more.”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657600"/>
            <a:ext cx="1343492" cy="16579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Example 1: Students in Classes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   Suppose</a:t>
            </a:r>
          </a:p>
          <a:p>
            <a:r>
              <a:rPr lang="en-US" sz="2000" dirty="0">
                <a:solidFill>
                  <a:srgbClr val="002060"/>
                </a:solidFill>
              </a:rPr>
              <a:t>50 students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6 classes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   Calculate:</a:t>
            </a:r>
          </a:p>
          <a:p>
            <a:r>
              <a:rPr lang="en-US" sz="2000" dirty="0">
                <a:solidFill>
                  <a:srgbClr val="002060"/>
                </a:solidFill>
              </a:rPr>
              <a:t>Round up:</a:t>
            </a:r>
          </a:p>
          <a:p>
            <a:pPr marL="393192" lvl="1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                  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Answer:</a:t>
            </a:r>
          </a:p>
          <a:p>
            <a:r>
              <a:rPr lang="en-US" sz="2000" dirty="0">
                <a:solidFill>
                  <a:srgbClr val="002060"/>
                </a:solidFill>
              </a:rPr>
              <a:t>At least </a:t>
            </a:r>
            <a:r>
              <a:rPr lang="en-US" sz="2000" b="1" dirty="0">
                <a:solidFill>
                  <a:srgbClr val="002060"/>
                </a:solidFill>
              </a:rPr>
              <a:t>one class</a:t>
            </a:r>
            <a:r>
              <a:rPr lang="en-US" sz="2000" dirty="0">
                <a:solidFill>
                  <a:srgbClr val="002060"/>
                </a:solidFill>
              </a:rPr>
              <a:t> must have </a:t>
            </a:r>
            <a:r>
              <a:rPr lang="en-US" sz="2000" b="1" dirty="0">
                <a:solidFill>
                  <a:srgbClr val="002060"/>
                </a:solidFill>
              </a:rPr>
              <a:t>9 students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r>
              <a:rPr lang="en-US" sz="2000" dirty="0">
                <a:solidFill>
                  <a:srgbClr val="002060"/>
                </a:solidFill>
              </a:rPr>
              <a:t>Because if every class had only 8 students:</a:t>
            </a:r>
          </a:p>
          <a:p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2" y="3423094"/>
            <a:ext cx="1523999" cy="5393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60" y="4191000"/>
            <a:ext cx="1419225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5486400"/>
            <a:ext cx="1447800" cy="4943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6760" y="6096753"/>
            <a:ext cx="8301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But there are 50 students, so 2 extra students must go somewhere.</a:t>
            </a:r>
          </a:p>
        </p:txBody>
      </p:sp>
    </p:spTree>
    <p:extLst>
      <p:ext uri="{BB962C8B-B14F-4D97-AF65-F5344CB8AC3E}">
        <p14:creationId xmlns:p14="http://schemas.microsoft.com/office/powerpoint/2010/main" val="2724827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/>
          <a:p>
            <a:r>
              <a:rPr lang="en-US" b="1" dirty="0"/>
              <a:t>Example 2: Birth Months</a:t>
            </a:r>
          </a:p>
          <a:p>
            <a:r>
              <a:rPr lang="en-US" dirty="0"/>
              <a:t>100 people </a:t>
            </a:r>
          </a:p>
          <a:p>
            <a:r>
              <a:rPr lang="en-US" dirty="0"/>
              <a:t>12 months </a:t>
            </a:r>
          </a:p>
          <a:p>
            <a:r>
              <a:rPr lang="en-US" dirty="0"/>
              <a:t>100/12 = 8.33</a:t>
            </a:r>
          </a:p>
          <a:p>
            <a:r>
              <a:rPr lang="en-US" dirty="0"/>
              <a:t>Round up: 9 Answer</a:t>
            </a:r>
            <a:endParaRPr lang="en-US" b="1" dirty="0"/>
          </a:p>
          <a:p>
            <a:r>
              <a:rPr lang="en-US" dirty="0"/>
              <a:t>At least </a:t>
            </a:r>
            <a:r>
              <a:rPr lang="en-US" b="1" dirty="0"/>
              <a:t>9 people</a:t>
            </a:r>
            <a:r>
              <a:rPr lang="en-US" dirty="0"/>
              <a:t> were born in the same month.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6705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|A \cup B| = |A| + |B| - |A \cap B|$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31232</TotalTime>
  <Words>1724</Words>
  <Application>Microsoft Office PowerPoint</Application>
  <PresentationFormat>On-screen Show (4:3)</PresentationFormat>
  <Paragraphs>244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Constantia</vt:lpstr>
      <vt:lpstr>Calibri</vt:lpstr>
      <vt:lpstr>Cambria Math</vt:lpstr>
      <vt:lpstr>Arial</vt:lpstr>
      <vt:lpstr>Wingdings 2</vt:lpstr>
      <vt:lpstr>Flow</vt:lpstr>
      <vt:lpstr>Counting</vt:lpstr>
      <vt:lpstr>The Basics of Counting</vt:lpstr>
      <vt:lpstr>Counting</vt:lpstr>
      <vt:lpstr>Basic Counting Principles: The Product Rule</vt:lpstr>
      <vt:lpstr>The Product Rule</vt:lpstr>
      <vt:lpstr>Counting Functions</vt:lpstr>
      <vt:lpstr>Counting Functions</vt:lpstr>
      <vt:lpstr>Telephone Numbering Plan</vt:lpstr>
      <vt:lpstr>Telephone Numbering Plan…Continue</vt:lpstr>
      <vt:lpstr>Telephone Numbering Plan…Continue</vt:lpstr>
      <vt:lpstr>Product Rule in Terms of Sets</vt:lpstr>
      <vt:lpstr>Basic Counting Principles:  The Sum Rule</vt:lpstr>
      <vt:lpstr>Basic Counting Principles:  The Sum Rule</vt:lpstr>
      <vt:lpstr>Combining the Sum and Product Rule</vt:lpstr>
      <vt:lpstr>Combining the Sum and Product Rule</vt:lpstr>
      <vt:lpstr>Counting Passwords</vt:lpstr>
      <vt:lpstr>Counting Passwords</vt:lpstr>
      <vt:lpstr>Basic Counting Principles: Subtraction Rule</vt:lpstr>
      <vt:lpstr>The Pigeonhole Principle</vt:lpstr>
      <vt:lpstr>The Pigeonhole Principle</vt:lpstr>
      <vt:lpstr>The Pigeonhole Principle</vt:lpstr>
      <vt:lpstr>The Generalized Pigeonhole Principle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Dua Agha</cp:lastModifiedBy>
  <cp:revision>557</cp:revision>
  <cp:lastPrinted>2011-09-18T13:59:11Z</cp:lastPrinted>
  <dcterms:created xsi:type="dcterms:W3CDTF">2011-09-18T13:59:01Z</dcterms:created>
  <dcterms:modified xsi:type="dcterms:W3CDTF">2026-04-30T06:31:07Z</dcterms:modified>
</cp:coreProperties>
</file>