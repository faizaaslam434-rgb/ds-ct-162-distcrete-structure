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sldIdLst>
    <p:sldId id="256" r:id="rId2"/>
    <p:sldId id="278" r:id="rId3"/>
    <p:sldId id="279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80" r:id="rId14"/>
    <p:sldId id="281" r:id="rId15"/>
    <p:sldId id="275" r:id="rId16"/>
    <p:sldId id="277" r:id="rId17"/>
    <p:sldId id="273" r:id="rId18"/>
    <p:sldId id="282" r:id="rId19"/>
    <p:sldId id="286" r:id="rId20"/>
    <p:sldId id="287" r:id="rId21"/>
    <p:sldId id="283" r:id="rId22"/>
    <p:sldId id="284" r:id="rId23"/>
    <p:sldId id="285" r:id="rId24"/>
    <p:sldId id="288" r:id="rId2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1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4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0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7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2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1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9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802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0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6283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2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20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3"/>
            <a:ext cx="5825202" cy="1096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Chapter 5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Induction and recursion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060B-A6E2-D9E7-E841-B1B05447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5C6A32-4FF1-5B3E-BFFF-99B6616F9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3736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What is 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sz="3600" spc="-10" dirty="0">
                <a:latin typeface="Times New Roman"/>
                <a:cs typeface="Times New Roman"/>
              </a:rPr>
              <a:t>nduction?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BFEB002-70B7-92A0-4078-BFF4819585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1000" y="0"/>
            <a:ext cx="7162800" cy="5576911"/>
          </a:xfrm>
          <a:prstGeom prst="rect">
            <a:avLst/>
          </a:prstGeom>
        </p:spPr>
        <p:txBody>
          <a:bodyPr vert="horz" wrap="square" lIns="0" tIns="1029716" rIns="0" bIns="0" rtlCol="0">
            <a:spAutoFit/>
          </a:bodyPr>
          <a:lstStyle/>
          <a:p>
            <a:pPr marL="1290320" algn="l">
              <a:spcBef>
                <a:spcPts val="100"/>
              </a:spcBef>
            </a:pPr>
            <a:endParaRPr lang="en-US" dirty="0"/>
          </a:p>
          <a:p>
            <a:pPr algn="l"/>
            <a:r>
              <a:rPr lang="en-US" b="1" dirty="0">
                <a:solidFill>
                  <a:srgbClr val="7030A0"/>
                </a:solidFill>
              </a:rPr>
              <a:t>INDUCTION</a:t>
            </a:r>
            <a:r>
              <a:rPr lang="en-US" b="1" spc="-10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IS</a:t>
            </a:r>
            <a:r>
              <a:rPr lang="en-US" b="1" spc="-95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A</a:t>
            </a:r>
            <a:r>
              <a:rPr lang="en-US" b="1" spc="-95" dirty="0">
                <a:solidFill>
                  <a:srgbClr val="7030A0"/>
                </a:solidFill>
              </a:rPr>
              <a:t> </a:t>
            </a:r>
            <a:r>
              <a:rPr lang="en-US" b="1" spc="-20" dirty="0">
                <a:solidFill>
                  <a:srgbClr val="7030A0"/>
                </a:solidFill>
              </a:rPr>
              <a:t>PROOF</a:t>
            </a:r>
            <a:r>
              <a:rPr lang="en-US" b="1" spc="-100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TECHNIQUE</a:t>
            </a:r>
          </a:p>
          <a:p>
            <a:pPr algn="l"/>
            <a:r>
              <a:rPr lang="en-US" b="1" dirty="0">
                <a:solidFill>
                  <a:srgbClr val="0070C0"/>
                </a:solidFill>
              </a:rPr>
              <a:t>Mathematical induction is a way to prove something is true for all numbers (1, 2, 3, …).</a:t>
            </a:r>
          </a:p>
          <a:p>
            <a:pPr algn="l"/>
            <a:endParaRPr lang="en-US" b="1" dirty="0">
              <a:solidFill>
                <a:srgbClr val="C00000"/>
              </a:solidFill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</a:rPr>
              <a:t>Domino Example 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Suppose</a:t>
            </a:r>
            <a:r>
              <a:rPr lang="en-US" spc="5" dirty="0">
                <a:solidFill>
                  <a:srgbClr val="000000"/>
                </a:solidFill>
              </a:rPr>
              <a:t> </a:t>
            </a:r>
            <a:r>
              <a:rPr lang="en-US" spc="-25" dirty="0">
                <a:solidFill>
                  <a:srgbClr val="000000"/>
                </a:solidFill>
              </a:rPr>
              <a:t>we</a:t>
            </a:r>
            <a:r>
              <a:rPr lang="en-US" spc="-25" dirty="0"/>
              <a:t> </a:t>
            </a:r>
            <a:r>
              <a:rPr lang="en-US" dirty="0">
                <a:solidFill>
                  <a:srgbClr val="000000"/>
                </a:solidFill>
              </a:rPr>
              <a:t>align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an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infinite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number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of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dominoes,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such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that</a:t>
            </a:r>
            <a:r>
              <a:rPr lang="en-US" spc="-3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if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spc="-20" dirty="0">
                <a:solidFill>
                  <a:srgbClr val="000000"/>
                </a:solidFill>
              </a:rPr>
              <a:t>some </a:t>
            </a:r>
            <a:r>
              <a:rPr lang="en-US" dirty="0">
                <a:solidFill>
                  <a:srgbClr val="000000"/>
                </a:solidFill>
              </a:rPr>
              <a:t>domino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falls,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the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next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one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in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line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falls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as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well.</a:t>
            </a:r>
            <a:r>
              <a:rPr lang="en-US" spc="-60" dirty="0">
                <a:solidFill>
                  <a:srgbClr val="000000"/>
                </a:solidFill>
              </a:rPr>
              <a:t> </a:t>
            </a:r>
            <a:r>
              <a:rPr lang="en-US" spc="-20" dirty="0">
                <a:solidFill>
                  <a:srgbClr val="000000"/>
                </a:solidFill>
              </a:rPr>
              <a:t>What </a:t>
            </a:r>
            <a:r>
              <a:rPr lang="en-US" dirty="0">
                <a:solidFill>
                  <a:srgbClr val="000000"/>
                </a:solidFill>
              </a:rPr>
              <a:t>happens</a:t>
            </a:r>
            <a:r>
              <a:rPr lang="en-US" spc="-3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when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we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knock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down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the</a:t>
            </a:r>
            <a:r>
              <a:rPr lang="en-US" spc="-3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first</a:t>
            </a:r>
            <a:r>
              <a:rPr lang="en-US" spc="39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domino?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So what happens?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All the dominoes fall.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spc="-10" dirty="0">
              <a:solidFill>
                <a:srgbClr val="0070C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This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intuition</a:t>
            </a:r>
            <a:r>
              <a:rPr lang="en-US" spc="-1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is</a:t>
            </a:r>
            <a:r>
              <a:rPr lang="en-US" spc="-25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formalized</a:t>
            </a:r>
            <a:r>
              <a:rPr lang="en-US" spc="-2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in</a:t>
            </a:r>
            <a:r>
              <a:rPr lang="en-US" spc="-25" dirty="0">
                <a:solidFill>
                  <a:srgbClr val="000000"/>
                </a:solidFill>
              </a:rPr>
              <a:t> the </a:t>
            </a:r>
            <a:r>
              <a:rPr lang="en-US" b="1" dirty="0">
                <a:solidFill>
                  <a:srgbClr val="00AFEF"/>
                </a:solidFill>
              </a:rPr>
              <a:t>principle</a:t>
            </a:r>
            <a:r>
              <a:rPr lang="en-US" b="1" spc="-50" dirty="0">
                <a:solidFill>
                  <a:srgbClr val="00AFEF"/>
                </a:solidFill>
              </a:rPr>
              <a:t> </a:t>
            </a:r>
            <a:r>
              <a:rPr lang="en-US" b="1" dirty="0">
                <a:solidFill>
                  <a:srgbClr val="00AFEF"/>
                </a:solidFill>
              </a:rPr>
              <a:t>of</a:t>
            </a:r>
            <a:r>
              <a:rPr lang="en-US" b="1" spc="-45" dirty="0">
                <a:solidFill>
                  <a:srgbClr val="00AFEF"/>
                </a:solidFill>
              </a:rPr>
              <a:t> </a:t>
            </a:r>
            <a:r>
              <a:rPr lang="en-US" b="1" dirty="0">
                <a:solidFill>
                  <a:srgbClr val="00AFEF"/>
                </a:solidFill>
              </a:rPr>
              <a:t>mathematical</a:t>
            </a:r>
            <a:r>
              <a:rPr lang="en-US" b="1" spc="-45" dirty="0">
                <a:solidFill>
                  <a:srgbClr val="00AFEF"/>
                </a:solidFill>
              </a:rPr>
              <a:t> </a:t>
            </a:r>
            <a:r>
              <a:rPr lang="en-US" b="1" spc="-10" dirty="0">
                <a:solidFill>
                  <a:srgbClr val="00AFEF"/>
                </a:solidFill>
              </a:rPr>
              <a:t>induction</a:t>
            </a:r>
            <a:r>
              <a:rPr lang="en-US" b="1" spc="-10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pPr marL="1290320" algn="l">
              <a:spcBef>
                <a:spcPts val="100"/>
              </a:spcBef>
            </a:pPr>
            <a:endParaRPr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F86D722-3F81-2728-13FF-3E3A87DA1A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0320" y="4038600"/>
            <a:ext cx="2743200" cy="263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8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AAC24-7930-7524-6210-2566B804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DA810E-0E80-5F1C-D184-7E0DAE2FC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6324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latin typeface="Times New Roman"/>
                <a:cs typeface="Times New Roman"/>
              </a:rPr>
              <a:t>How this relates to induction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A444A61-4528-2A21-E4E6-C9F2AD0A4BA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381000" y="0"/>
                <a:ext cx="7162800" cy="3086486"/>
              </a:xfrm>
              <a:prstGeom prst="rect">
                <a:avLst/>
              </a:prstGeom>
            </p:spPr>
            <p:txBody>
              <a:bodyPr vert="horz" wrap="square" lIns="0" tIns="1029716" rIns="0" bIns="0" rtlCol="0">
                <a:spAutoFit/>
              </a:bodyPr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To prove something for all numbers:</a:t>
                </a:r>
              </a:p>
              <a:p>
                <a:r>
                  <a:rPr lang="en-US" b="1" dirty="0">
                    <a:solidFill>
                      <a:srgbClr val="CC3399"/>
                    </a:solidFill>
                  </a:rPr>
                  <a:t>Start it (first domino):</a:t>
                </a:r>
                <a:br>
                  <a:rPr lang="en-US" dirty="0"/>
                </a:br>
                <a:r>
                  <a:rPr lang="en-US" dirty="0"/>
                  <a:t>Show it works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C3399"/>
                    </a:solidFill>
                  </a:rPr>
                  <a:t>Keep it going (domino effect):</a:t>
                </a:r>
                <a:br>
                  <a:rPr lang="en-US" dirty="0"/>
                </a:br>
                <a:r>
                  <a:rPr lang="en-US" dirty="0"/>
                  <a:t>Show that if it works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then it also works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A444A61-4528-2A21-E4E6-C9F2AD0A4BA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0"/>
                <a:ext cx="7162800" cy="3086486"/>
              </a:xfrm>
              <a:prstGeom prst="rect">
                <a:avLst/>
              </a:prstGeom>
              <a:blipFill>
                <a:blip r:embed="rId2"/>
                <a:stretch>
                  <a:fillRect l="-2043" b="-3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3">
            <a:extLst>
              <a:ext uri="{FF2B5EF4-FFF2-40B4-BE49-F238E27FC236}">
                <a16:creationId xmlns:a16="http://schemas.microsoft.com/office/drawing/2014/main" id="{028B368B-8B22-94E4-8918-1B8DC346751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3764128"/>
            <a:ext cx="2743200" cy="263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70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6347713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Why</a:t>
            </a:r>
            <a:r>
              <a:rPr sz="3600" spc="-15" dirty="0"/>
              <a:t> </a:t>
            </a:r>
            <a:r>
              <a:rPr sz="3600" dirty="0"/>
              <a:t>Induction</a:t>
            </a:r>
            <a:r>
              <a:rPr sz="3600" spc="-35" dirty="0"/>
              <a:t> </a:t>
            </a:r>
            <a:r>
              <a:rPr sz="3600" spc="-50" dirty="0"/>
              <a:t>?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064512"/>
            <a:ext cx="6931660" cy="4629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Induction is a useful method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things,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ideas,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writing programs. </a:t>
            </a:r>
          </a:p>
          <a:p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 algorithms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it helps us: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 that a program works correctly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fast it runs 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though problems can be big and complex, induction helps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breaking them into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steps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one step at a time (like falling dominoes)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C3399"/>
                </a:solidFill>
              </a:rPr>
              <a:t>Induction makes big problems easier by solving them step by step.</a:t>
            </a:r>
            <a:endParaRPr lang="en-US" sz="2000" b="1" dirty="0">
              <a:solidFill>
                <a:srgbClr val="CC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00049"/>
            <a:ext cx="5750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5" dirty="0"/>
              <a:t>MATHEMATICAL</a:t>
            </a:r>
            <a:r>
              <a:rPr sz="3600" spc="-185" dirty="0"/>
              <a:t> </a:t>
            </a:r>
            <a:r>
              <a:rPr sz="3600" spc="-10" dirty="0"/>
              <a:t>INDUCTION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8739" y="1244853"/>
            <a:ext cx="7083425" cy="33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Induction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special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way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proving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things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only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steps:</a:t>
            </a:r>
            <a:endParaRPr sz="1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Verify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first</a:t>
            </a:r>
            <a:r>
              <a:rPr sz="18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one</a:t>
            </a:r>
            <a:r>
              <a:rPr sz="18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2.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any</a:t>
            </a:r>
            <a:r>
              <a:rPr sz="18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one</a:t>
            </a:r>
            <a:r>
              <a:rPr sz="18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next</a:t>
            </a:r>
            <a:r>
              <a:rPr sz="1800" b="1" spc="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one</a:t>
            </a:r>
            <a:r>
              <a:rPr sz="18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Domino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effect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first</a:t>
            </a:r>
            <a:r>
              <a:rPr sz="18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domino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falls</a:t>
            </a:r>
            <a:endParaRPr sz="1800" dirty="0">
              <a:latin typeface="Times New Roman"/>
              <a:cs typeface="Times New Roman"/>
            </a:endParaRPr>
          </a:p>
          <a:p>
            <a:pPr marL="355600" marR="1640205" indent="114300">
              <a:lnSpc>
                <a:spcPts val="3160"/>
              </a:lnSpc>
              <a:spcBef>
                <a:spcPts val="275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2.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any</a:t>
            </a:r>
            <a:r>
              <a:rPr sz="18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domino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falls,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next</a:t>
            </a:r>
            <a:r>
              <a:rPr sz="18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domino</a:t>
            </a:r>
            <a:r>
              <a:rPr sz="18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falls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...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r>
              <a:rPr sz="1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dominos will</a:t>
            </a:r>
            <a:r>
              <a:rPr sz="18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fall!</a:t>
            </a:r>
            <a:endParaRPr sz="1800" dirty="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725"/>
              </a:spcBef>
            </a:pP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That’s</a:t>
            </a:r>
            <a:r>
              <a:rPr sz="1800" b="1" spc="-8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how</a:t>
            </a:r>
            <a:r>
              <a:rPr sz="1800" b="1" spc="-7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7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Induction</a:t>
            </a:r>
            <a:r>
              <a:rPr sz="1800" b="1" spc="-7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works.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648200"/>
            <a:ext cx="3509772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0411" y="95503"/>
            <a:ext cx="54806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 marR="5080" indent="-172148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Principal</a:t>
            </a:r>
            <a:r>
              <a:rPr sz="3600" spc="-5" dirty="0"/>
              <a:t> </a:t>
            </a:r>
            <a:r>
              <a:rPr sz="3600" dirty="0"/>
              <a:t>of </a:t>
            </a:r>
            <a:r>
              <a:rPr sz="3600" spc="-10" dirty="0"/>
              <a:t>Mathematical Induction</a:t>
            </a:r>
            <a:endParaRPr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7347904" cy="629339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55600" marR="347980">
                  <a:spcBef>
                    <a:spcPts val="95"/>
                  </a:spcBef>
                  <a:tabLst>
                    <a:tab pos="354965" algn="l"/>
                  </a:tabLst>
                </a:pPr>
                <a:r>
                  <a:rPr lang="en-US" dirty="0">
                    <a:latin typeface="Trebuchet MS (Body)"/>
                  </a:rPr>
                  <a:t>We want to prove a statement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latin typeface="Trebuchet MS (Body)"/>
                  </a:rPr>
                  <a:t>is true for </a:t>
                </a:r>
                <a:r>
                  <a:rPr lang="en-US" b="1" dirty="0">
                    <a:latin typeface="Trebuchet MS (Body)"/>
                  </a:rPr>
                  <a:t>all positive integers</a:t>
                </a:r>
                <a:r>
                  <a:rPr lang="en-US" dirty="0">
                    <a:latin typeface="Trebuchet MS (Body)"/>
                  </a:rPr>
                  <a:t>.</a:t>
                </a:r>
              </a:p>
              <a:p>
                <a:r>
                  <a:rPr lang="en-US" b="1" dirty="0">
                    <a:solidFill>
                      <a:srgbClr val="CC3399"/>
                    </a:solidFill>
                    <a:latin typeface="Trebuchet MS (Body)"/>
                  </a:rPr>
                  <a:t>Step 1: Base Step (Start)</a:t>
                </a:r>
              </a:p>
              <a:p>
                <a:r>
                  <a:rPr lang="en-US" dirty="0">
                    <a:latin typeface="Trebuchet MS (Body)"/>
                  </a:rPr>
                  <a:t>Show it is true for the first value: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true</m:t>
                      </m:r>
                    </m:oMath>
                  </m:oMathPara>
                </a14:m>
                <a:endParaRPr lang="en-US" b="0" dirty="0">
                  <a:latin typeface="Trebuchet MS (Body)"/>
                </a:endParaRPr>
              </a:p>
              <a:p>
                <a:r>
                  <a:rPr lang="en-US" b="1" dirty="0">
                    <a:solidFill>
                      <a:srgbClr val="CC3399"/>
                    </a:solidFill>
                    <a:latin typeface="Trebuchet MS (Body)"/>
                  </a:rPr>
                  <a:t>Step 2: Inductive Step (Continue)</a:t>
                </a:r>
              </a:p>
              <a:p>
                <a:r>
                  <a:rPr lang="en-US" dirty="0">
                    <a:latin typeface="Trebuchet MS (Body)"/>
                  </a:rPr>
                  <a:t>Assume it is true for some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Trebuchet MS (Body)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true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this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the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∗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inductive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hypothesis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∗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)</m:t>
                      </m:r>
                    </m:oMath>
                  </m:oMathPara>
                </a14:m>
                <a:endParaRPr lang="en-US" b="0" dirty="0">
                  <a:latin typeface="Trebuchet MS (Body)"/>
                </a:endParaRPr>
              </a:p>
              <a:p>
                <a:r>
                  <a:rPr lang="en-US" dirty="0">
                    <a:latin typeface="Trebuchet MS (Body)"/>
                  </a:rPr>
                  <a:t>Then prove it is also true for the next number: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is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Trebuchet MS (Body)"/>
                        </a:rPr>
                        <m:t>true</m:t>
                      </m:r>
                    </m:oMath>
                  </m:oMathPara>
                </a14:m>
                <a:endParaRPr lang="en-US" b="0" dirty="0">
                  <a:latin typeface="Trebuchet MS (Body)"/>
                </a:endParaRPr>
              </a:p>
              <a:p>
                <a:pPr marL="0" indent="0">
                  <a:buNone/>
                </a:pPr>
                <a:endParaRPr lang="en-US" dirty="0">
                  <a:latin typeface="Trebuchet MS (Body)"/>
                </a:endParaRPr>
              </a:p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  <a:t>If:</a:t>
                </a:r>
              </a:p>
              <a:p>
                <a:pPr marL="457200" lvl="1" indent="0">
                  <a:buNone/>
                </a:pP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  <a:t>it works for the first number, and </a:t>
                </a:r>
                <a:b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</a:b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  <a:t>each step leads to the next </a:t>
                </a:r>
                <a:b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</a:b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Trebuchet MS (Body)"/>
                  </a:rPr>
                  <a:t>then it works for all numbers</a:t>
                </a:r>
              </a:p>
              <a:p>
                <a:pPr marL="0" indent="0">
                  <a:buNone/>
                </a:pPr>
                <a:endParaRPr lang="en-US" b="0" dirty="0">
                  <a:latin typeface="Trebuchet MS (Body)"/>
                </a:endParaRPr>
              </a:p>
              <a:p>
                <a:pPr marL="0" indent="0">
                  <a:buNone/>
                </a:pPr>
                <a:endParaRPr lang="en-US" b="0" dirty="0">
                  <a:latin typeface="Trebuchet MS (Body)"/>
                </a:endParaRPr>
              </a:p>
              <a:p>
                <a:pPr marL="355600" marR="347980">
                  <a:spcBef>
                    <a:spcPts val="95"/>
                  </a:spcBef>
                  <a:tabLst>
                    <a:tab pos="354965" algn="l"/>
                  </a:tabLst>
                </a:pPr>
                <a:endParaRPr dirty="0">
                  <a:latin typeface="Trebuchet MS (Body)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7347904" cy="6293390"/>
              </a:xfrm>
              <a:prstGeom prst="rect">
                <a:avLst/>
              </a:prstGeom>
              <a:blipFill>
                <a:blip r:embed="rId2"/>
                <a:stretch>
                  <a:fillRect l="-1494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9A4B51-F424-5DA0-6376-E0AD5CF370DB}"/>
                  </a:ext>
                </a:extLst>
              </p:cNvPr>
              <p:cNvSpPr txBox="1"/>
              <p:nvPr/>
            </p:nvSpPr>
            <p:spPr>
              <a:xfrm>
                <a:off x="4495800" y="4953000"/>
                <a:ext cx="4419600" cy="6463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2060"/>
                    </a:solidFill>
                  </a:rPr>
                  <a:t>Prove first case + prove next step works → true for all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9A4B51-F424-5DA0-6376-E0AD5CF37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953000"/>
                <a:ext cx="4419600" cy="646331"/>
              </a:xfrm>
              <a:prstGeom prst="rect">
                <a:avLst/>
              </a:prstGeom>
              <a:blipFill>
                <a:blip r:embed="rId3"/>
                <a:stretch>
                  <a:fillRect l="-1241" t="-660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685800"/>
            <a:ext cx="4297680" cy="59824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7939" y="166115"/>
            <a:ext cx="63938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92D050"/>
                </a:solidFill>
                <a:latin typeface="Arial"/>
                <a:cs typeface="Arial"/>
              </a:rPr>
              <a:t>CLIMBING</a:t>
            </a:r>
            <a:r>
              <a:rPr sz="3200" spc="-14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92D050"/>
                </a:solidFill>
                <a:latin typeface="Arial"/>
                <a:cs typeface="Arial"/>
              </a:rPr>
              <a:t>AN</a:t>
            </a:r>
            <a:r>
              <a:rPr sz="3200" spc="-2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92D050"/>
                </a:solidFill>
                <a:latin typeface="Arial"/>
                <a:cs typeface="Arial"/>
              </a:rPr>
              <a:t>INFINITE</a:t>
            </a:r>
            <a:r>
              <a:rPr sz="3200" spc="-3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92D050"/>
                </a:solidFill>
                <a:latin typeface="Arial"/>
                <a:cs typeface="Arial"/>
              </a:rPr>
              <a:t>LADDER</a:t>
            </a:r>
            <a:r>
              <a:rPr sz="1800" spc="-1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9236"/>
            <a:ext cx="6347713" cy="1320800"/>
          </a:xfrm>
          <a:prstGeom prst="rect">
            <a:avLst/>
          </a:prstGeom>
        </p:spPr>
        <p:txBody>
          <a:bodyPr vert="horz" wrap="square" lIns="0" tIns="222503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Proof by</a:t>
            </a:r>
            <a:r>
              <a:rPr sz="3600" spc="-15" dirty="0"/>
              <a:t> </a:t>
            </a:r>
            <a:r>
              <a:rPr sz="3600" spc="-10" dirty="0"/>
              <a:t>INDUCTION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5852" y="1168653"/>
            <a:ext cx="7064375" cy="302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AutoNum type="arabicPeriod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AFEF"/>
                </a:solidFill>
                <a:latin typeface="Times New Roman"/>
                <a:cs typeface="Times New Roman"/>
              </a:rPr>
              <a:t>“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Induction</a:t>
            </a:r>
            <a:r>
              <a:rPr sz="18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Basis</a:t>
            </a:r>
            <a:r>
              <a:rPr sz="1800" dirty="0">
                <a:solidFill>
                  <a:srgbClr val="00AFEF"/>
                </a:solidFill>
                <a:latin typeface="Times New Roman"/>
                <a:cs typeface="Times New Roman"/>
              </a:rPr>
              <a:t>”.</a:t>
            </a:r>
            <a:r>
              <a:rPr sz="1800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is,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satisfies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claim.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(This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often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easy,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crucially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important,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should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never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omitted!)</a:t>
            </a:r>
            <a:endParaRPr sz="1800" dirty="0">
              <a:latin typeface="Times New Roman"/>
              <a:cs typeface="Times New Roman"/>
            </a:endParaRPr>
          </a:p>
          <a:p>
            <a:pPr marL="469900" marR="56515" indent="-4572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arabicPeriod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Assume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AFEF"/>
                </a:solidFill>
                <a:latin typeface="Times New Roman"/>
                <a:cs typeface="Times New Roman"/>
              </a:rPr>
              <a:t>“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Induction</a:t>
            </a:r>
            <a:r>
              <a:rPr sz="18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Hypothesis</a:t>
            </a:r>
            <a:r>
              <a:rPr sz="1800" dirty="0">
                <a:solidFill>
                  <a:srgbClr val="00AFEF"/>
                </a:solidFill>
                <a:latin typeface="Times New Roman"/>
                <a:cs typeface="Times New Roman"/>
              </a:rPr>
              <a:t>”.</a:t>
            </a:r>
            <a:r>
              <a:rPr sz="1800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is,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state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assumption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that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claim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holds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positive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integer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K.</a:t>
            </a:r>
            <a:endParaRPr sz="1800" dirty="0">
              <a:latin typeface="Times New Roman"/>
              <a:cs typeface="Times New Roman"/>
            </a:endParaRPr>
          </a:p>
          <a:p>
            <a:pPr marL="469900" marR="40005" indent="-4572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AutoNum type="arabicPeriod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Prove,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Induction</a:t>
            </a:r>
            <a:r>
              <a:rPr sz="18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Hypothesis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claim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holds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K+1.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proof</a:t>
            </a:r>
            <a:r>
              <a:rPr sz="18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should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consist</a:t>
            </a:r>
            <a:r>
              <a:rPr sz="18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chain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clear</a:t>
            </a:r>
            <a:r>
              <a:rPr sz="18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statements,</a:t>
            </a:r>
            <a:r>
              <a:rPr sz="18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each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logically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following</a:t>
            </a:r>
            <a:r>
              <a:rPr sz="18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from</a:t>
            </a:r>
            <a:r>
              <a:rPr sz="18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previous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ones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combined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with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our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shared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knowledge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base.</a:t>
            </a:r>
            <a:r>
              <a:rPr sz="1800" spc="-6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final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statement</a:t>
            </a:r>
            <a:r>
              <a:rPr sz="18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in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b="1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chain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should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state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that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claim</a:t>
            </a:r>
            <a:r>
              <a:rPr sz="18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holds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for</a:t>
            </a:r>
            <a:r>
              <a:rPr sz="1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k</a:t>
            </a:r>
            <a:r>
              <a:rPr sz="1800" b="1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+</a:t>
            </a:r>
            <a:r>
              <a:rPr sz="1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1.</a:t>
            </a:r>
            <a:endParaRPr sz="1800" b="1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182" y="173989"/>
            <a:ext cx="2117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EXAMPLE</a:t>
            </a:r>
            <a:r>
              <a:rPr sz="3200" spc="-125" dirty="0"/>
              <a:t> </a:t>
            </a:r>
            <a:r>
              <a:rPr sz="3200" spc="-50" dirty="0"/>
              <a:t>1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031" y="778509"/>
            <a:ext cx="4523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1.</a:t>
            </a:r>
            <a:r>
              <a:rPr sz="1450" b="1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induction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7784" y="1107058"/>
            <a:ext cx="613410" cy="200025"/>
          </a:xfrm>
          <a:custGeom>
            <a:avLst/>
            <a:gdLst/>
            <a:ahLst/>
            <a:cxnLst/>
            <a:rect l="l" t="t" r="r" b="b"/>
            <a:pathLst>
              <a:path w="613410" h="200025">
                <a:moveTo>
                  <a:pt x="193408" y="6223"/>
                </a:moveTo>
                <a:lnTo>
                  <a:pt x="191262" y="0"/>
                </a:lnTo>
                <a:lnTo>
                  <a:pt x="180035" y="4051"/>
                </a:lnTo>
                <a:lnTo>
                  <a:pt x="170205" y="9906"/>
                </a:lnTo>
                <a:lnTo>
                  <a:pt x="145135" y="50012"/>
                </a:lnTo>
                <a:lnTo>
                  <a:pt x="141986" y="77343"/>
                </a:lnTo>
                <a:lnTo>
                  <a:pt x="142684" y="90106"/>
                </a:lnTo>
                <a:lnTo>
                  <a:pt x="154686" y="127508"/>
                </a:lnTo>
                <a:lnTo>
                  <a:pt x="191262" y="154559"/>
                </a:lnTo>
                <a:lnTo>
                  <a:pt x="193167" y="148209"/>
                </a:lnTo>
                <a:lnTo>
                  <a:pt x="184404" y="144310"/>
                </a:lnTo>
                <a:lnTo>
                  <a:pt x="176809" y="138874"/>
                </a:lnTo>
                <a:lnTo>
                  <a:pt x="158369" y="102476"/>
                </a:lnTo>
                <a:lnTo>
                  <a:pt x="156108" y="77343"/>
                </a:lnTo>
                <a:lnTo>
                  <a:pt x="156070" y="76454"/>
                </a:lnTo>
                <a:lnTo>
                  <a:pt x="165227" y="30734"/>
                </a:lnTo>
                <a:lnTo>
                  <a:pt x="184505" y="10109"/>
                </a:lnTo>
                <a:lnTo>
                  <a:pt x="193408" y="6223"/>
                </a:lnTo>
                <a:close/>
              </a:path>
              <a:path w="613410" h="200025">
                <a:moveTo>
                  <a:pt x="598678" y="77343"/>
                </a:moveTo>
                <a:lnTo>
                  <a:pt x="591540" y="37985"/>
                </a:lnTo>
                <a:lnTo>
                  <a:pt x="560616" y="4051"/>
                </a:lnTo>
                <a:lnTo>
                  <a:pt x="549402" y="0"/>
                </a:lnTo>
                <a:lnTo>
                  <a:pt x="547243" y="6223"/>
                </a:lnTo>
                <a:lnTo>
                  <a:pt x="556145" y="10109"/>
                </a:lnTo>
                <a:lnTo>
                  <a:pt x="563816" y="15481"/>
                </a:lnTo>
                <a:lnTo>
                  <a:pt x="582295" y="51269"/>
                </a:lnTo>
                <a:lnTo>
                  <a:pt x="583984" y="63131"/>
                </a:lnTo>
                <a:lnTo>
                  <a:pt x="584009" y="63296"/>
                </a:lnTo>
                <a:lnTo>
                  <a:pt x="584581" y="76454"/>
                </a:lnTo>
                <a:lnTo>
                  <a:pt x="584009" y="90106"/>
                </a:lnTo>
                <a:lnTo>
                  <a:pt x="582295" y="102476"/>
                </a:lnTo>
                <a:lnTo>
                  <a:pt x="563841" y="138874"/>
                </a:lnTo>
                <a:lnTo>
                  <a:pt x="547497" y="148209"/>
                </a:lnTo>
                <a:lnTo>
                  <a:pt x="549402" y="154559"/>
                </a:lnTo>
                <a:lnTo>
                  <a:pt x="585978" y="127508"/>
                </a:lnTo>
                <a:lnTo>
                  <a:pt x="597877" y="91490"/>
                </a:lnTo>
                <a:lnTo>
                  <a:pt x="598678" y="77343"/>
                </a:lnTo>
                <a:close/>
              </a:path>
              <a:path w="613410" h="200025">
                <a:moveTo>
                  <a:pt x="613397" y="185559"/>
                </a:moveTo>
                <a:lnTo>
                  <a:pt x="0" y="185559"/>
                </a:lnTo>
                <a:lnTo>
                  <a:pt x="0" y="200025"/>
                </a:lnTo>
                <a:lnTo>
                  <a:pt x="613397" y="200025"/>
                </a:lnTo>
                <a:lnTo>
                  <a:pt x="613397" y="18555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6086" y="1123696"/>
            <a:ext cx="248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 + 2 + 3 +</a:t>
            </a:r>
            <a:r>
              <a:rPr sz="18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... +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 = </a:t>
            </a:r>
            <a:r>
              <a:rPr sz="1950" baseline="44871" dirty="0">
                <a:solidFill>
                  <a:srgbClr val="404040"/>
                </a:solidFill>
                <a:latin typeface="Cambria Math"/>
                <a:cs typeface="Cambria Math"/>
              </a:rPr>
              <a:t>𝑵</a:t>
            </a:r>
            <a:r>
              <a:rPr sz="1950" spc="390" baseline="44871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950" spc="-37" baseline="44871" dirty="0">
                <a:solidFill>
                  <a:srgbClr val="404040"/>
                </a:solidFill>
                <a:latin typeface="Cambria Math"/>
                <a:cs typeface="Cambria Math"/>
              </a:rPr>
              <a:t>𝑵+𝟏</a:t>
            </a:r>
            <a:endParaRPr sz="1950" baseline="44871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486" y="1300226"/>
            <a:ext cx="2980690" cy="459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739140" algn="r">
              <a:lnSpc>
                <a:spcPts val="1400"/>
              </a:lnSpc>
              <a:spcBef>
                <a:spcPts val="114"/>
              </a:spcBef>
            </a:pPr>
            <a:r>
              <a:rPr sz="1300" spc="-50" dirty="0">
                <a:solidFill>
                  <a:srgbClr val="404040"/>
                </a:solidFill>
                <a:latin typeface="Cambria Math"/>
                <a:cs typeface="Cambria Math"/>
              </a:rPr>
              <a:t>𝟐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ts val="2000"/>
              </a:lnSpc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positive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integers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&gt;=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031" y="2262378"/>
            <a:ext cx="237299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sz="1800" b="1"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Let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statement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(n)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031" y="3284220"/>
            <a:ext cx="18122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 + 2 + 3 +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... + n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7160" y="3267328"/>
            <a:ext cx="615315" cy="200025"/>
          </a:xfrm>
          <a:custGeom>
            <a:avLst/>
            <a:gdLst/>
            <a:ahLst/>
            <a:cxnLst/>
            <a:rect l="l" t="t" r="r" b="b"/>
            <a:pathLst>
              <a:path w="615314" h="200025">
                <a:moveTo>
                  <a:pt x="194945" y="6223"/>
                </a:moveTo>
                <a:lnTo>
                  <a:pt x="192786" y="0"/>
                </a:lnTo>
                <a:lnTo>
                  <a:pt x="181559" y="4051"/>
                </a:lnTo>
                <a:lnTo>
                  <a:pt x="171729" y="9906"/>
                </a:lnTo>
                <a:lnTo>
                  <a:pt x="146659" y="50012"/>
                </a:lnTo>
                <a:lnTo>
                  <a:pt x="143510" y="77343"/>
                </a:lnTo>
                <a:lnTo>
                  <a:pt x="144208" y="90106"/>
                </a:lnTo>
                <a:lnTo>
                  <a:pt x="156210" y="127508"/>
                </a:lnTo>
                <a:lnTo>
                  <a:pt x="192786" y="154559"/>
                </a:lnTo>
                <a:lnTo>
                  <a:pt x="194691" y="148209"/>
                </a:lnTo>
                <a:lnTo>
                  <a:pt x="185928" y="144310"/>
                </a:lnTo>
                <a:lnTo>
                  <a:pt x="178333" y="138874"/>
                </a:lnTo>
                <a:lnTo>
                  <a:pt x="159893" y="102476"/>
                </a:lnTo>
                <a:lnTo>
                  <a:pt x="157607" y="76454"/>
                </a:lnTo>
                <a:lnTo>
                  <a:pt x="158178" y="63296"/>
                </a:lnTo>
                <a:lnTo>
                  <a:pt x="171932" y="22352"/>
                </a:lnTo>
                <a:lnTo>
                  <a:pt x="186029" y="10109"/>
                </a:lnTo>
                <a:lnTo>
                  <a:pt x="194945" y="6223"/>
                </a:lnTo>
                <a:close/>
              </a:path>
              <a:path w="615314" h="200025">
                <a:moveTo>
                  <a:pt x="600202" y="77343"/>
                </a:moveTo>
                <a:lnTo>
                  <a:pt x="593064" y="37985"/>
                </a:lnTo>
                <a:lnTo>
                  <a:pt x="562140" y="4051"/>
                </a:lnTo>
                <a:lnTo>
                  <a:pt x="550926" y="0"/>
                </a:lnTo>
                <a:lnTo>
                  <a:pt x="548767" y="6223"/>
                </a:lnTo>
                <a:lnTo>
                  <a:pt x="557669" y="10109"/>
                </a:lnTo>
                <a:lnTo>
                  <a:pt x="565340" y="15481"/>
                </a:lnTo>
                <a:lnTo>
                  <a:pt x="583806" y="51269"/>
                </a:lnTo>
                <a:lnTo>
                  <a:pt x="586105" y="76454"/>
                </a:lnTo>
                <a:lnTo>
                  <a:pt x="585520" y="90106"/>
                </a:lnTo>
                <a:lnTo>
                  <a:pt x="571766" y="131927"/>
                </a:lnTo>
                <a:lnTo>
                  <a:pt x="549021" y="148209"/>
                </a:lnTo>
                <a:lnTo>
                  <a:pt x="550926" y="154559"/>
                </a:lnTo>
                <a:lnTo>
                  <a:pt x="587502" y="127508"/>
                </a:lnTo>
                <a:lnTo>
                  <a:pt x="599401" y="91490"/>
                </a:lnTo>
                <a:lnTo>
                  <a:pt x="600202" y="77343"/>
                </a:lnTo>
                <a:close/>
              </a:path>
              <a:path w="615314" h="200025">
                <a:moveTo>
                  <a:pt x="614934" y="185547"/>
                </a:moveTo>
                <a:lnTo>
                  <a:pt x="0" y="185547"/>
                </a:lnTo>
                <a:lnTo>
                  <a:pt x="0" y="200025"/>
                </a:lnTo>
                <a:lnTo>
                  <a:pt x="614934" y="200025"/>
                </a:lnTo>
                <a:lnTo>
                  <a:pt x="614934" y="185547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4714" y="3211830"/>
            <a:ext cx="57086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dirty="0">
                <a:solidFill>
                  <a:srgbClr val="404040"/>
                </a:solidFill>
                <a:latin typeface="Cambria Math"/>
                <a:cs typeface="Cambria Math"/>
              </a:rPr>
              <a:t>𝑁</a:t>
            </a:r>
            <a:r>
              <a:rPr sz="1300" spc="3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300" spc="-25" dirty="0">
                <a:solidFill>
                  <a:srgbClr val="404040"/>
                </a:solidFill>
                <a:latin typeface="Cambria Math"/>
                <a:cs typeface="Cambria Math"/>
              </a:rPr>
              <a:t>𝑁+1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3794" y="3461003"/>
            <a:ext cx="12255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031" y="4020820"/>
            <a:ext cx="603377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STEP</a:t>
            </a:r>
            <a:r>
              <a:rPr sz="1800" b="1" spc="-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1(Induction</a:t>
            </a:r>
            <a:r>
              <a:rPr sz="18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Basis):</a:t>
            </a:r>
            <a:r>
              <a:rPr sz="18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(1)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43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(n=1)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LHS 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RHS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 (1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1) /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Both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sides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statement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equal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hence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P(1)</a:t>
            </a:r>
            <a:r>
              <a:rPr sz="1800" b="1" spc="-2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is</a:t>
            </a:r>
            <a:r>
              <a:rPr sz="1800" b="1" spc="-2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true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228854"/>
            <a:ext cx="42697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700" b="1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7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now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assume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p(k)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(n</a:t>
            </a:r>
            <a:r>
              <a:rPr sz="17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k)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6920" y="509777"/>
            <a:ext cx="574040" cy="189865"/>
          </a:xfrm>
          <a:custGeom>
            <a:avLst/>
            <a:gdLst/>
            <a:ahLst/>
            <a:cxnLst/>
            <a:rect l="l" t="t" r="r" b="b"/>
            <a:pathLst>
              <a:path w="574039" h="189865">
                <a:moveTo>
                  <a:pt x="181356" y="5842"/>
                </a:moveTo>
                <a:lnTo>
                  <a:pt x="179324" y="0"/>
                </a:lnTo>
                <a:lnTo>
                  <a:pt x="168719" y="3810"/>
                </a:lnTo>
                <a:lnTo>
                  <a:pt x="159423" y="9334"/>
                </a:lnTo>
                <a:lnTo>
                  <a:pt x="135737" y="47282"/>
                </a:lnTo>
                <a:lnTo>
                  <a:pt x="132715" y="73025"/>
                </a:lnTo>
                <a:lnTo>
                  <a:pt x="133400" y="85178"/>
                </a:lnTo>
                <a:lnTo>
                  <a:pt x="133464" y="86487"/>
                </a:lnTo>
                <a:lnTo>
                  <a:pt x="151434" y="129476"/>
                </a:lnTo>
                <a:lnTo>
                  <a:pt x="179324" y="146050"/>
                </a:lnTo>
                <a:lnTo>
                  <a:pt x="181229" y="140081"/>
                </a:lnTo>
                <a:lnTo>
                  <a:pt x="172859" y="136423"/>
                </a:lnTo>
                <a:lnTo>
                  <a:pt x="165671" y="131305"/>
                </a:lnTo>
                <a:lnTo>
                  <a:pt x="148221" y="96875"/>
                </a:lnTo>
                <a:lnTo>
                  <a:pt x="146050" y="72263"/>
                </a:lnTo>
                <a:lnTo>
                  <a:pt x="146583" y="59791"/>
                </a:lnTo>
                <a:lnTo>
                  <a:pt x="159639" y="21158"/>
                </a:lnTo>
                <a:lnTo>
                  <a:pt x="172974" y="9563"/>
                </a:lnTo>
                <a:lnTo>
                  <a:pt x="181356" y="5842"/>
                </a:lnTo>
                <a:close/>
              </a:path>
              <a:path w="574039" h="189865">
                <a:moveTo>
                  <a:pt x="560578" y="73025"/>
                </a:moveTo>
                <a:lnTo>
                  <a:pt x="548513" y="25527"/>
                </a:lnTo>
                <a:lnTo>
                  <a:pt x="513969" y="0"/>
                </a:lnTo>
                <a:lnTo>
                  <a:pt x="511937" y="5842"/>
                </a:lnTo>
                <a:lnTo>
                  <a:pt x="520382" y="9563"/>
                </a:lnTo>
                <a:lnTo>
                  <a:pt x="527646" y="14655"/>
                </a:lnTo>
                <a:lnTo>
                  <a:pt x="546684" y="59639"/>
                </a:lnTo>
                <a:lnTo>
                  <a:pt x="546709" y="59791"/>
                </a:lnTo>
                <a:lnTo>
                  <a:pt x="547243" y="72263"/>
                </a:lnTo>
                <a:lnTo>
                  <a:pt x="546709" y="85178"/>
                </a:lnTo>
                <a:lnTo>
                  <a:pt x="545109" y="96875"/>
                </a:lnTo>
                <a:lnTo>
                  <a:pt x="527685" y="131305"/>
                </a:lnTo>
                <a:lnTo>
                  <a:pt x="512191" y="140081"/>
                </a:lnTo>
                <a:lnTo>
                  <a:pt x="513969" y="146050"/>
                </a:lnTo>
                <a:lnTo>
                  <a:pt x="548640" y="120523"/>
                </a:lnTo>
                <a:lnTo>
                  <a:pt x="559828" y="86487"/>
                </a:lnTo>
                <a:lnTo>
                  <a:pt x="560578" y="73025"/>
                </a:lnTo>
                <a:close/>
              </a:path>
              <a:path w="574039" h="189865">
                <a:moveTo>
                  <a:pt x="573786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573786" y="189738"/>
                </a:lnTo>
                <a:lnTo>
                  <a:pt x="573786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56027" y="692150"/>
            <a:ext cx="116839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526033"/>
            <a:ext cx="61302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165600" algn="l"/>
              </a:tabLst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+ 3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...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7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75" baseline="44444" dirty="0">
                <a:solidFill>
                  <a:srgbClr val="404040"/>
                </a:solidFill>
                <a:latin typeface="Cambria Math"/>
                <a:cs typeface="Cambria Math"/>
              </a:rPr>
              <a:t>𝐾</a:t>
            </a:r>
            <a:r>
              <a:rPr sz="1875" spc="405" baseline="4444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875" spc="-37" baseline="44444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875" baseline="44444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700" b="1" dirty="0">
                <a:solidFill>
                  <a:srgbClr val="00AFEF"/>
                </a:solidFill>
                <a:latin typeface="Times New Roman"/>
                <a:cs typeface="Times New Roman"/>
              </a:rPr>
              <a:t>Induction</a:t>
            </a:r>
            <a:r>
              <a:rPr sz="17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hypothesis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1940" y="2890265"/>
            <a:ext cx="574040" cy="189865"/>
          </a:xfrm>
          <a:custGeom>
            <a:avLst/>
            <a:gdLst/>
            <a:ahLst/>
            <a:cxnLst/>
            <a:rect l="l" t="t" r="r" b="b"/>
            <a:pathLst>
              <a:path w="574040" h="189864">
                <a:moveTo>
                  <a:pt x="181406" y="5842"/>
                </a:moveTo>
                <a:lnTo>
                  <a:pt x="179336" y="0"/>
                </a:lnTo>
                <a:lnTo>
                  <a:pt x="168732" y="3810"/>
                </a:lnTo>
                <a:lnTo>
                  <a:pt x="159448" y="9334"/>
                </a:lnTo>
                <a:lnTo>
                  <a:pt x="135750" y="47282"/>
                </a:lnTo>
                <a:lnTo>
                  <a:pt x="132740" y="73025"/>
                </a:lnTo>
                <a:lnTo>
                  <a:pt x="133413" y="85178"/>
                </a:lnTo>
                <a:lnTo>
                  <a:pt x="151409" y="129476"/>
                </a:lnTo>
                <a:lnTo>
                  <a:pt x="179336" y="146050"/>
                </a:lnTo>
                <a:lnTo>
                  <a:pt x="181178" y="140081"/>
                </a:lnTo>
                <a:lnTo>
                  <a:pt x="172847" y="136423"/>
                </a:lnTo>
                <a:lnTo>
                  <a:pt x="165658" y="131305"/>
                </a:lnTo>
                <a:lnTo>
                  <a:pt x="148221" y="96875"/>
                </a:lnTo>
                <a:lnTo>
                  <a:pt x="146062" y="72263"/>
                </a:lnTo>
                <a:lnTo>
                  <a:pt x="146596" y="59791"/>
                </a:lnTo>
                <a:lnTo>
                  <a:pt x="159639" y="21158"/>
                </a:lnTo>
                <a:lnTo>
                  <a:pt x="172974" y="9563"/>
                </a:lnTo>
                <a:lnTo>
                  <a:pt x="181406" y="5842"/>
                </a:lnTo>
                <a:close/>
              </a:path>
              <a:path w="574040" h="189864">
                <a:moveTo>
                  <a:pt x="560616" y="73025"/>
                </a:moveTo>
                <a:lnTo>
                  <a:pt x="548563" y="25527"/>
                </a:lnTo>
                <a:lnTo>
                  <a:pt x="514019" y="0"/>
                </a:lnTo>
                <a:lnTo>
                  <a:pt x="511937" y="5842"/>
                </a:lnTo>
                <a:lnTo>
                  <a:pt x="520395" y="9563"/>
                </a:lnTo>
                <a:lnTo>
                  <a:pt x="527672" y="14655"/>
                </a:lnTo>
                <a:lnTo>
                  <a:pt x="546722" y="59639"/>
                </a:lnTo>
                <a:lnTo>
                  <a:pt x="546747" y="59791"/>
                </a:lnTo>
                <a:lnTo>
                  <a:pt x="547293" y="72263"/>
                </a:lnTo>
                <a:lnTo>
                  <a:pt x="546747" y="85178"/>
                </a:lnTo>
                <a:lnTo>
                  <a:pt x="545122" y="96875"/>
                </a:lnTo>
                <a:lnTo>
                  <a:pt x="527685" y="131305"/>
                </a:lnTo>
                <a:lnTo>
                  <a:pt x="512178" y="140081"/>
                </a:lnTo>
                <a:lnTo>
                  <a:pt x="514019" y="146050"/>
                </a:lnTo>
                <a:lnTo>
                  <a:pt x="548601" y="120523"/>
                </a:lnTo>
                <a:lnTo>
                  <a:pt x="559854" y="86487"/>
                </a:lnTo>
                <a:lnTo>
                  <a:pt x="560616" y="73025"/>
                </a:lnTo>
                <a:close/>
              </a:path>
              <a:path w="574040" h="189864">
                <a:moveTo>
                  <a:pt x="573786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573786" y="189738"/>
                </a:lnTo>
                <a:lnTo>
                  <a:pt x="573786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240" y="2838195"/>
            <a:ext cx="53530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𝐾</a:t>
            </a:r>
            <a:r>
              <a:rPr sz="1250" spc="2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541" y="2986723"/>
            <a:ext cx="251460" cy="677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770"/>
              </a:spcBef>
            </a:pP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=&gt;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4089" y="2906775"/>
            <a:ext cx="552831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solidFill>
                  <a:srgbClr val="404040"/>
                </a:solidFill>
                <a:latin typeface="Cambria Math"/>
                <a:cs typeface="Cambria Math"/>
              </a:rPr>
              <a:t>𝐮𝐬𝐢𝐧𝐠</a:t>
            </a:r>
            <a:r>
              <a:rPr sz="1700" spc="-3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00AFEF"/>
                </a:solidFill>
                <a:latin typeface="Cambria Math"/>
                <a:cs typeface="Cambria Math"/>
              </a:rPr>
              <a:t>𝐈𝐧𝐝𝐮𝐜𝐭𝐢𝐨𝐧</a:t>
            </a:r>
            <a:r>
              <a:rPr sz="1700" spc="-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00AFEF"/>
                </a:solidFill>
                <a:latin typeface="Cambria Math"/>
                <a:cs typeface="Cambria Math"/>
              </a:rPr>
              <a:t>𝐇𝐲𝐩𝐨𝐭𝐡𝐞𝐬𝐢𝐬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7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Therefore</a:t>
            </a:r>
            <a:r>
              <a:rPr sz="17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eq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now</a:t>
            </a:r>
            <a:r>
              <a:rPr sz="17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becomes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83614" y="3363467"/>
            <a:ext cx="608965" cy="189865"/>
          </a:xfrm>
          <a:custGeom>
            <a:avLst/>
            <a:gdLst/>
            <a:ahLst/>
            <a:cxnLst/>
            <a:rect l="l" t="t" r="r" b="b"/>
            <a:pathLst>
              <a:path w="608964" h="189864">
                <a:moveTo>
                  <a:pt x="216408" y="5842"/>
                </a:moveTo>
                <a:lnTo>
                  <a:pt x="214376" y="0"/>
                </a:lnTo>
                <a:lnTo>
                  <a:pt x="203771" y="3810"/>
                </a:lnTo>
                <a:lnTo>
                  <a:pt x="194475" y="9334"/>
                </a:lnTo>
                <a:lnTo>
                  <a:pt x="170789" y="47282"/>
                </a:lnTo>
                <a:lnTo>
                  <a:pt x="167767" y="73025"/>
                </a:lnTo>
                <a:lnTo>
                  <a:pt x="168452" y="85178"/>
                </a:lnTo>
                <a:lnTo>
                  <a:pt x="168516" y="86487"/>
                </a:lnTo>
                <a:lnTo>
                  <a:pt x="186486" y="129476"/>
                </a:lnTo>
                <a:lnTo>
                  <a:pt x="214376" y="146050"/>
                </a:lnTo>
                <a:lnTo>
                  <a:pt x="216281" y="140081"/>
                </a:lnTo>
                <a:lnTo>
                  <a:pt x="207911" y="136423"/>
                </a:lnTo>
                <a:lnTo>
                  <a:pt x="200723" y="131305"/>
                </a:lnTo>
                <a:lnTo>
                  <a:pt x="183273" y="96875"/>
                </a:lnTo>
                <a:lnTo>
                  <a:pt x="181102" y="72263"/>
                </a:lnTo>
                <a:lnTo>
                  <a:pt x="181635" y="59791"/>
                </a:lnTo>
                <a:lnTo>
                  <a:pt x="194691" y="21158"/>
                </a:lnTo>
                <a:lnTo>
                  <a:pt x="208026" y="9563"/>
                </a:lnTo>
                <a:lnTo>
                  <a:pt x="216408" y="5842"/>
                </a:lnTo>
                <a:close/>
              </a:path>
              <a:path w="608964" h="189864">
                <a:moveTo>
                  <a:pt x="595630" y="73025"/>
                </a:moveTo>
                <a:lnTo>
                  <a:pt x="583565" y="25527"/>
                </a:lnTo>
                <a:lnTo>
                  <a:pt x="549021" y="0"/>
                </a:lnTo>
                <a:lnTo>
                  <a:pt x="546989" y="5842"/>
                </a:lnTo>
                <a:lnTo>
                  <a:pt x="555434" y="9563"/>
                </a:lnTo>
                <a:lnTo>
                  <a:pt x="562698" y="14655"/>
                </a:lnTo>
                <a:lnTo>
                  <a:pt x="581736" y="59639"/>
                </a:lnTo>
                <a:lnTo>
                  <a:pt x="581761" y="59791"/>
                </a:lnTo>
                <a:lnTo>
                  <a:pt x="582295" y="72263"/>
                </a:lnTo>
                <a:lnTo>
                  <a:pt x="581761" y="85178"/>
                </a:lnTo>
                <a:lnTo>
                  <a:pt x="580161" y="96875"/>
                </a:lnTo>
                <a:lnTo>
                  <a:pt x="562737" y="131305"/>
                </a:lnTo>
                <a:lnTo>
                  <a:pt x="547243" y="140081"/>
                </a:lnTo>
                <a:lnTo>
                  <a:pt x="549021" y="146050"/>
                </a:lnTo>
                <a:lnTo>
                  <a:pt x="583692" y="120523"/>
                </a:lnTo>
                <a:lnTo>
                  <a:pt x="594880" y="86487"/>
                </a:lnTo>
                <a:lnTo>
                  <a:pt x="595630" y="73025"/>
                </a:lnTo>
                <a:close/>
              </a:path>
              <a:path w="608964" h="189864">
                <a:moveTo>
                  <a:pt x="608838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608838" y="189738"/>
                </a:lnTo>
                <a:lnTo>
                  <a:pt x="608838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27250" y="3379977"/>
            <a:ext cx="966469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(k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1)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34868" y="3363467"/>
            <a:ext cx="909319" cy="189865"/>
          </a:xfrm>
          <a:custGeom>
            <a:avLst/>
            <a:gdLst/>
            <a:ahLst/>
            <a:cxnLst/>
            <a:rect l="l" t="t" r="r" b="b"/>
            <a:pathLst>
              <a:path w="909320" h="189864">
                <a:moveTo>
                  <a:pt x="62484" y="5842"/>
                </a:moveTo>
                <a:lnTo>
                  <a:pt x="60452" y="0"/>
                </a:lnTo>
                <a:lnTo>
                  <a:pt x="49847" y="3810"/>
                </a:lnTo>
                <a:lnTo>
                  <a:pt x="40551" y="9334"/>
                </a:lnTo>
                <a:lnTo>
                  <a:pt x="16865" y="47282"/>
                </a:lnTo>
                <a:lnTo>
                  <a:pt x="13843" y="73025"/>
                </a:lnTo>
                <a:lnTo>
                  <a:pt x="14528" y="85178"/>
                </a:lnTo>
                <a:lnTo>
                  <a:pt x="14592" y="86487"/>
                </a:lnTo>
                <a:lnTo>
                  <a:pt x="32562" y="129476"/>
                </a:lnTo>
                <a:lnTo>
                  <a:pt x="60452" y="146050"/>
                </a:lnTo>
                <a:lnTo>
                  <a:pt x="62357" y="140081"/>
                </a:lnTo>
                <a:lnTo>
                  <a:pt x="53987" y="136423"/>
                </a:lnTo>
                <a:lnTo>
                  <a:pt x="46799" y="131305"/>
                </a:lnTo>
                <a:lnTo>
                  <a:pt x="29349" y="96875"/>
                </a:lnTo>
                <a:lnTo>
                  <a:pt x="27178" y="72263"/>
                </a:lnTo>
                <a:lnTo>
                  <a:pt x="27711" y="59791"/>
                </a:lnTo>
                <a:lnTo>
                  <a:pt x="40767" y="21158"/>
                </a:lnTo>
                <a:lnTo>
                  <a:pt x="54102" y="9563"/>
                </a:lnTo>
                <a:lnTo>
                  <a:pt x="62484" y="5842"/>
                </a:lnTo>
                <a:close/>
              </a:path>
              <a:path w="909320" h="189864">
                <a:moveTo>
                  <a:pt x="440944" y="73025"/>
                </a:moveTo>
                <a:lnTo>
                  <a:pt x="428879" y="25527"/>
                </a:lnTo>
                <a:lnTo>
                  <a:pt x="394335" y="0"/>
                </a:lnTo>
                <a:lnTo>
                  <a:pt x="392303" y="5842"/>
                </a:lnTo>
                <a:lnTo>
                  <a:pt x="400748" y="9563"/>
                </a:lnTo>
                <a:lnTo>
                  <a:pt x="408012" y="14655"/>
                </a:lnTo>
                <a:lnTo>
                  <a:pt x="427050" y="59639"/>
                </a:lnTo>
                <a:lnTo>
                  <a:pt x="427075" y="59791"/>
                </a:lnTo>
                <a:lnTo>
                  <a:pt x="427609" y="72263"/>
                </a:lnTo>
                <a:lnTo>
                  <a:pt x="427075" y="85178"/>
                </a:lnTo>
                <a:lnTo>
                  <a:pt x="425475" y="96875"/>
                </a:lnTo>
                <a:lnTo>
                  <a:pt x="408051" y="131305"/>
                </a:lnTo>
                <a:lnTo>
                  <a:pt x="392557" y="140081"/>
                </a:lnTo>
                <a:lnTo>
                  <a:pt x="394335" y="146050"/>
                </a:lnTo>
                <a:lnTo>
                  <a:pt x="429006" y="120523"/>
                </a:lnTo>
                <a:lnTo>
                  <a:pt x="440194" y="86487"/>
                </a:lnTo>
                <a:lnTo>
                  <a:pt x="440944" y="73025"/>
                </a:lnTo>
                <a:close/>
              </a:path>
              <a:path w="909320" h="189864">
                <a:moveTo>
                  <a:pt x="517398" y="5842"/>
                </a:moveTo>
                <a:lnTo>
                  <a:pt x="515366" y="0"/>
                </a:lnTo>
                <a:lnTo>
                  <a:pt x="504761" y="3810"/>
                </a:lnTo>
                <a:lnTo>
                  <a:pt x="495465" y="9334"/>
                </a:lnTo>
                <a:lnTo>
                  <a:pt x="471779" y="47282"/>
                </a:lnTo>
                <a:lnTo>
                  <a:pt x="468757" y="73025"/>
                </a:lnTo>
                <a:lnTo>
                  <a:pt x="469442" y="85178"/>
                </a:lnTo>
                <a:lnTo>
                  <a:pt x="469506" y="86487"/>
                </a:lnTo>
                <a:lnTo>
                  <a:pt x="487476" y="129476"/>
                </a:lnTo>
                <a:lnTo>
                  <a:pt x="515366" y="146050"/>
                </a:lnTo>
                <a:lnTo>
                  <a:pt x="517271" y="140081"/>
                </a:lnTo>
                <a:lnTo>
                  <a:pt x="508901" y="136423"/>
                </a:lnTo>
                <a:lnTo>
                  <a:pt x="501713" y="131305"/>
                </a:lnTo>
                <a:lnTo>
                  <a:pt x="484263" y="96875"/>
                </a:lnTo>
                <a:lnTo>
                  <a:pt x="482092" y="72263"/>
                </a:lnTo>
                <a:lnTo>
                  <a:pt x="482625" y="59791"/>
                </a:lnTo>
                <a:lnTo>
                  <a:pt x="495681" y="21158"/>
                </a:lnTo>
                <a:lnTo>
                  <a:pt x="509003" y="9563"/>
                </a:lnTo>
                <a:lnTo>
                  <a:pt x="517398" y="5842"/>
                </a:lnTo>
                <a:close/>
              </a:path>
              <a:path w="909320" h="189864">
                <a:moveTo>
                  <a:pt x="895858" y="73025"/>
                </a:moveTo>
                <a:lnTo>
                  <a:pt x="883793" y="25527"/>
                </a:lnTo>
                <a:lnTo>
                  <a:pt x="849249" y="0"/>
                </a:lnTo>
                <a:lnTo>
                  <a:pt x="847217" y="5842"/>
                </a:lnTo>
                <a:lnTo>
                  <a:pt x="855662" y="9563"/>
                </a:lnTo>
                <a:lnTo>
                  <a:pt x="862926" y="14655"/>
                </a:lnTo>
                <a:lnTo>
                  <a:pt x="881964" y="59639"/>
                </a:lnTo>
                <a:lnTo>
                  <a:pt x="881989" y="59791"/>
                </a:lnTo>
                <a:lnTo>
                  <a:pt x="882523" y="72263"/>
                </a:lnTo>
                <a:lnTo>
                  <a:pt x="881989" y="85178"/>
                </a:lnTo>
                <a:lnTo>
                  <a:pt x="880389" y="96875"/>
                </a:lnTo>
                <a:lnTo>
                  <a:pt x="862965" y="131305"/>
                </a:lnTo>
                <a:lnTo>
                  <a:pt x="847471" y="140081"/>
                </a:lnTo>
                <a:lnTo>
                  <a:pt x="849249" y="146050"/>
                </a:lnTo>
                <a:lnTo>
                  <a:pt x="883920" y="120523"/>
                </a:lnTo>
                <a:lnTo>
                  <a:pt x="895108" y="86487"/>
                </a:lnTo>
                <a:lnTo>
                  <a:pt x="895858" y="73025"/>
                </a:lnTo>
                <a:close/>
              </a:path>
              <a:path w="909320" h="189864">
                <a:moveTo>
                  <a:pt x="909066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909066" y="189738"/>
                </a:lnTo>
                <a:lnTo>
                  <a:pt x="909066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05966" y="3311397"/>
            <a:ext cx="248729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94180" algn="l"/>
                <a:tab pos="2149475" algn="l"/>
              </a:tabLst>
            </a:pP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𝐾</a:t>
            </a:r>
            <a:r>
              <a:rPr sz="1250" spc="2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0248" y="3546094"/>
            <a:ext cx="191833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13560" algn="l"/>
              </a:tabLst>
            </a:pP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9240" y="4129277"/>
            <a:ext cx="19621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50" dirty="0">
                <a:solidFill>
                  <a:srgbClr val="90C225"/>
                </a:solidFill>
                <a:latin typeface="Symbol"/>
                <a:cs typeface="Symbol"/>
              </a:rPr>
              <a:t>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9140" y="4069460"/>
            <a:ext cx="1355725" cy="190500"/>
          </a:xfrm>
          <a:custGeom>
            <a:avLst/>
            <a:gdLst/>
            <a:ahLst/>
            <a:cxnLst/>
            <a:rect l="l" t="t" r="r" b="b"/>
            <a:pathLst>
              <a:path w="1355725" h="190500">
                <a:moveTo>
                  <a:pt x="56451" y="0"/>
                </a:moveTo>
                <a:lnTo>
                  <a:pt x="54457" y="0"/>
                </a:lnTo>
                <a:lnTo>
                  <a:pt x="45961" y="673"/>
                </a:lnTo>
                <a:lnTo>
                  <a:pt x="18402" y="32258"/>
                </a:lnTo>
                <a:lnTo>
                  <a:pt x="18402" y="36449"/>
                </a:lnTo>
                <a:lnTo>
                  <a:pt x="19011" y="41402"/>
                </a:lnTo>
                <a:lnTo>
                  <a:pt x="20218" y="46736"/>
                </a:lnTo>
                <a:lnTo>
                  <a:pt x="21424" y="52197"/>
                </a:lnTo>
                <a:lnTo>
                  <a:pt x="22021" y="55880"/>
                </a:lnTo>
                <a:lnTo>
                  <a:pt x="22021" y="61214"/>
                </a:lnTo>
                <a:lnTo>
                  <a:pt x="20802" y="64135"/>
                </a:lnTo>
                <a:lnTo>
                  <a:pt x="18364" y="66421"/>
                </a:lnTo>
                <a:lnTo>
                  <a:pt x="15925" y="68580"/>
                </a:lnTo>
                <a:lnTo>
                  <a:pt x="11874" y="69977"/>
                </a:lnTo>
                <a:lnTo>
                  <a:pt x="7315" y="69977"/>
                </a:lnTo>
                <a:lnTo>
                  <a:pt x="7315" y="76454"/>
                </a:lnTo>
                <a:lnTo>
                  <a:pt x="12242" y="76454"/>
                </a:lnTo>
                <a:lnTo>
                  <a:pt x="15925" y="77597"/>
                </a:lnTo>
                <a:lnTo>
                  <a:pt x="18364" y="79883"/>
                </a:lnTo>
                <a:lnTo>
                  <a:pt x="20802" y="82042"/>
                </a:lnTo>
                <a:lnTo>
                  <a:pt x="22021" y="84963"/>
                </a:lnTo>
                <a:lnTo>
                  <a:pt x="22021" y="90424"/>
                </a:lnTo>
                <a:lnTo>
                  <a:pt x="21424" y="93980"/>
                </a:lnTo>
                <a:lnTo>
                  <a:pt x="19011" y="104902"/>
                </a:lnTo>
                <a:lnTo>
                  <a:pt x="18402" y="109728"/>
                </a:lnTo>
                <a:lnTo>
                  <a:pt x="18402" y="114046"/>
                </a:lnTo>
                <a:lnTo>
                  <a:pt x="18961" y="121818"/>
                </a:lnTo>
                <a:lnTo>
                  <a:pt x="54457" y="146939"/>
                </a:lnTo>
                <a:lnTo>
                  <a:pt x="56451" y="146939"/>
                </a:lnTo>
                <a:lnTo>
                  <a:pt x="56451" y="141097"/>
                </a:lnTo>
                <a:lnTo>
                  <a:pt x="47853" y="141097"/>
                </a:lnTo>
                <a:lnTo>
                  <a:pt x="42024" y="139065"/>
                </a:lnTo>
                <a:lnTo>
                  <a:pt x="37820" y="135255"/>
                </a:lnTo>
                <a:lnTo>
                  <a:pt x="33604" y="131318"/>
                </a:lnTo>
                <a:lnTo>
                  <a:pt x="31496" y="124714"/>
                </a:lnTo>
                <a:lnTo>
                  <a:pt x="31496" y="111760"/>
                </a:lnTo>
                <a:lnTo>
                  <a:pt x="32016" y="107315"/>
                </a:lnTo>
                <a:lnTo>
                  <a:pt x="34074" y="96774"/>
                </a:lnTo>
                <a:lnTo>
                  <a:pt x="34582" y="92964"/>
                </a:lnTo>
                <a:lnTo>
                  <a:pt x="34582" y="86360"/>
                </a:lnTo>
                <a:lnTo>
                  <a:pt x="33299" y="82804"/>
                </a:lnTo>
                <a:lnTo>
                  <a:pt x="28168" y="77216"/>
                </a:lnTo>
                <a:lnTo>
                  <a:pt x="25107" y="75184"/>
                </a:lnTo>
                <a:lnTo>
                  <a:pt x="21564" y="73787"/>
                </a:lnTo>
                <a:lnTo>
                  <a:pt x="21564" y="72390"/>
                </a:lnTo>
                <a:lnTo>
                  <a:pt x="25107" y="71120"/>
                </a:lnTo>
                <a:lnTo>
                  <a:pt x="28168" y="69088"/>
                </a:lnTo>
                <a:lnTo>
                  <a:pt x="30734" y="66167"/>
                </a:lnTo>
                <a:lnTo>
                  <a:pt x="33299" y="63373"/>
                </a:lnTo>
                <a:lnTo>
                  <a:pt x="34582" y="59817"/>
                </a:lnTo>
                <a:lnTo>
                  <a:pt x="34582" y="53213"/>
                </a:lnTo>
                <a:lnTo>
                  <a:pt x="34074" y="49403"/>
                </a:lnTo>
                <a:lnTo>
                  <a:pt x="32016" y="38862"/>
                </a:lnTo>
                <a:lnTo>
                  <a:pt x="31496" y="34417"/>
                </a:lnTo>
                <a:lnTo>
                  <a:pt x="31496" y="21971"/>
                </a:lnTo>
                <a:lnTo>
                  <a:pt x="33604" y="15621"/>
                </a:lnTo>
                <a:lnTo>
                  <a:pt x="37820" y="11684"/>
                </a:lnTo>
                <a:lnTo>
                  <a:pt x="42024" y="7874"/>
                </a:lnTo>
                <a:lnTo>
                  <a:pt x="47853" y="5842"/>
                </a:lnTo>
                <a:lnTo>
                  <a:pt x="56451" y="5842"/>
                </a:lnTo>
                <a:lnTo>
                  <a:pt x="56451" y="0"/>
                </a:lnTo>
                <a:close/>
              </a:path>
              <a:path w="1355725" h="190500">
                <a:moveTo>
                  <a:pt x="242366" y="6223"/>
                </a:moveTo>
                <a:lnTo>
                  <a:pt x="240296" y="381"/>
                </a:lnTo>
                <a:lnTo>
                  <a:pt x="229692" y="4191"/>
                </a:lnTo>
                <a:lnTo>
                  <a:pt x="220408" y="9715"/>
                </a:lnTo>
                <a:lnTo>
                  <a:pt x="196710" y="47663"/>
                </a:lnTo>
                <a:lnTo>
                  <a:pt x="193700" y="73406"/>
                </a:lnTo>
                <a:lnTo>
                  <a:pt x="194373" y="85559"/>
                </a:lnTo>
                <a:lnTo>
                  <a:pt x="212369" y="129857"/>
                </a:lnTo>
                <a:lnTo>
                  <a:pt x="240296" y="146431"/>
                </a:lnTo>
                <a:lnTo>
                  <a:pt x="242138" y="140462"/>
                </a:lnTo>
                <a:lnTo>
                  <a:pt x="233807" y="136804"/>
                </a:lnTo>
                <a:lnTo>
                  <a:pt x="226618" y="131686"/>
                </a:lnTo>
                <a:lnTo>
                  <a:pt x="209181" y="97256"/>
                </a:lnTo>
                <a:lnTo>
                  <a:pt x="207022" y="72644"/>
                </a:lnTo>
                <a:lnTo>
                  <a:pt x="207556" y="60172"/>
                </a:lnTo>
                <a:lnTo>
                  <a:pt x="220599" y="21539"/>
                </a:lnTo>
                <a:lnTo>
                  <a:pt x="233934" y="9944"/>
                </a:lnTo>
                <a:lnTo>
                  <a:pt x="242366" y="6223"/>
                </a:lnTo>
                <a:close/>
              </a:path>
              <a:path w="1355725" h="190500">
                <a:moveTo>
                  <a:pt x="621538" y="73406"/>
                </a:moveTo>
                <a:lnTo>
                  <a:pt x="609473" y="25908"/>
                </a:lnTo>
                <a:lnTo>
                  <a:pt x="574929" y="381"/>
                </a:lnTo>
                <a:lnTo>
                  <a:pt x="572897" y="6223"/>
                </a:lnTo>
                <a:lnTo>
                  <a:pt x="581342" y="9944"/>
                </a:lnTo>
                <a:lnTo>
                  <a:pt x="588606" y="15036"/>
                </a:lnTo>
                <a:lnTo>
                  <a:pt x="607644" y="60020"/>
                </a:lnTo>
                <a:lnTo>
                  <a:pt x="607669" y="60172"/>
                </a:lnTo>
                <a:lnTo>
                  <a:pt x="608203" y="72644"/>
                </a:lnTo>
                <a:lnTo>
                  <a:pt x="607669" y="85559"/>
                </a:lnTo>
                <a:lnTo>
                  <a:pt x="606069" y="97256"/>
                </a:lnTo>
                <a:lnTo>
                  <a:pt x="588645" y="131686"/>
                </a:lnTo>
                <a:lnTo>
                  <a:pt x="573151" y="140462"/>
                </a:lnTo>
                <a:lnTo>
                  <a:pt x="574929" y="146431"/>
                </a:lnTo>
                <a:lnTo>
                  <a:pt x="609600" y="120904"/>
                </a:lnTo>
                <a:lnTo>
                  <a:pt x="620788" y="86868"/>
                </a:lnTo>
                <a:lnTo>
                  <a:pt x="621538" y="73406"/>
                </a:lnTo>
                <a:close/>
              </a:path>
              <a:path w="1355725" h="190500">
                <a:moveTo>
                  <a:pt x="902970" y="6223"/>
                </a:moveTo>
                <a:lnTo>
                  <a:pt x="900925" y="381"/>
                </a:lnTo>
                <a:lnTo>
                  <a:pt x="890333" y="4191"/>
                </a:lnTo>
                <a:lnTo>
                  <a:pt x="881037" y="9715"/>
                </a:lnTo>
                <a:lnTo>
                  <a:pt x="857351" y="47663"/>
                </a:lnTo>
                <a:lnTo>
                  <a:pt x="854329" y="73406"/>
                </a:lnTo>
                <a:lnTo>
                  <a:pt x="855014" y="85559"/>
                </a:lnTo>
                <a:lnTo>
                  <a:pt x="855078" y="86868"/>
                </a:lnTo>
                <a:lnTo>
                  <a:pt x="873048" y="129857"/>
                </a:lnTo>
                <a:lnTo>
                  <a:pt x="900925" y="146431"/>
                </a:lnTo>
                <a:lnTo>
                  <a:pt x="902830" y="140462"/>
                </a:lnTo>
                <a:lnTo>
                  <a:pt x="894473" y="136804"/>
                </a:lnTo>
                <a:lnTo>
                  <a:pt x="887285" y="131686"/>
                </a:lnTo>
                <a:lnTo>
                  <a:pt x="869835" y="97256"/>
                </a:lnTo>
                <a:lnTo>
                  <a:pt x="867664" y="72644"/>
                </a:lnTo>
                <a:lnTo>
                  <a:pt x="868197" y="60172"/>
                </a:lnTo>
                <a:lnTo>
                  <a:pt x="881253" y="21539"/>
                </a:lnTo>
                <a:lnTo>
                  <a:pt x="894588" y="9944"/>
                </a:lnTo>
                <a:lnTo>
                  <a:pt x="902970" y="6223"/>
                </a:lnTo>
                <a:close/>
              </a:path>
              <a:path w="1355725" h="190500">
                <a:moveTo>
                  <a:pt x="1281430" y="73406"/>
                </a:moveTo>
                <a:lnTo>
                  <a:pt x="1269365" y="25908"/>
                </a:lnTo>
                <a:lnTo>
                  <a:pt x="1234821" y="381"/>
                </a:lnTo>
                <a:lnTo>
                  <a:pt x="1232789" y="6223"/>
                </a:lnTo>
                <a:lnTo>
                  <a:pt x="1241234" y="9944"/>
                </a:lnTo>
                <a:lnTo>
                  <a:pt x="1248498" y="15036"/>
                </a:lnTo>
                <a:lnTo>
                  <a:pt x="1267536" y="60020"/>
                </a:lnTo>
                <a:lnTo>
                  <a:pt x="1267561" y="60172"/>
                </a:lnTo>
                <a:lnTo>
                  <a:pt x="1268095" y="72644"/>
                </a:lnTo>
                <a:lnTo>
                  <a:pt x="1267561" y="85559"/>
                </a:lnTo>
                <a:lnTo>
                  <a:pt x="1265961" y="97256"/>
                </a:lnTo>
                <a:lnTo>
                  <a:pt x="1248537" y="131686"/>
                </a:lnTo>
                <a:lnTo>
                  <a:pt x="1233043" y="140462"/>
                </a:lnTo>
                <a:lnTo>
                  <a:pt x="1234821" y="146431"/>
                </a:lnTo>
                <a:lnTo>
                  <a:pt x="1269492" y="120904"/>
                </a:lnTo>
                <a:lnTo>
                  <a:pt x="1280680" y="86868"/>
                </a:lnTo>
                <a:lnTo>
                  <a:pt x="1281430" y="73406"/>
                </a:lnTo>
                <a:close/>
              </a:path>
              <a:path w="1355725" h="190500">
                <a:moveTo>
                  <a:pt x="1348359" y="70104"/>
                </a:moveTo>
                <a:lnTo>
                  <a:pt x="1343406" y="69850"/>
                </a:lnTo>
                <a:lnTo>
                  <a:pt x="1339723" y="68707"/>
                </a:lnTo>
                <a:lnTo>
                  <a:pt x="1337310" y="66421"/>
                </a:lnTo>
                <a:lnTo>
                  <a:pt x="1334897" y="64262"/>
                </a:lnTo>
                <a:lnTo>
                  <a:pt x="1333627" y="61341"/>
                </a:lnTo>
                <a:lnTo>
                  <a:pt x="1333627" y="56007"/>
                </a:lnTo>
                <a:lnTo>
                  <a:pt x="1334262" y="52324"/>
                </a:lnTo>
                <a:lnTo>
                  <a:pt x="1335532" y="46863"/>
                </a:lnTo>
                <a:lnTo>
                  <a:pt x="1336675" y="41402"/>
                </a:lnTo>
                <a:lnTo>
                  <a:pt x="1337310" y="36576"/>
                </a:lnTo>
                <a:lnTo>
                  <a:pt x="1337310" y="32258"/>
                </a:lnTo>
                <a:lnTo>
                  <a:pt x="1309712" y="673"/>
                </a:lnTo>
                <a:lnTo>
                  <a:pt x="1301242" y="0"/>
                </a:lnTo>
                <a:lnTo>
                  <a:pt x="1299210" y="0"/>
                </a:lnTo>
                <a:lnTo>
                  <a:pt x="1299210" y="5842"/>
                </a:lnTo>
                <a:lnTo>
                  <a:pt x="1307846" y="5842"/>
                </a:lnTo>
                <a:lnTo>
                  <a:pt x="1313688" y="7874"/>
                </a:lnTo>
                <a:lnTo>
                  <a:pt x="1317879" y="11684"/>
                </a:lnTo>
                <a:lnTo>
                  <a:pt x="1322070" y="15621"/>
                </a:lnTo>
                <a:lnTo>
                  <a:pt x="1324229" y="21971"/>
                </a:lnTo>
                <a:lnTo>
                  <a:pt x="1324229" y="34544"/>
                </a:lnTo>
                <a:lnTo>
                  <a:pt x="1323721" y="38989"/>
                </a:lnTo>
                <a:lnTo>
                  <a:pt x="1321689" y="49530"/>
                </a:lnTo>
                <a:lnTo>
                  <a:pt x="1321181" y="53340"/>
                </a:lnTo>
                <a:lnTo>
                  <a:pt x="1321181" y="59944"/>
                </a:lnTo>
                <a:lnTo>
                  <a:pt x="1322451" y="63500"/>
                </a:lnTo>
                <a:lnTo>
                  <a:pt x="1327531" y="69088"/>
                </a:lnTo>
                <a:lnTo>
                  <a:pt x="1330579" y="71120"/>
                </a:lnTo>
                <a:lnTo>
                  <a:pt x="1334135" y="72517"/>
                </a:lnTo>
                <a:lnTo>
                  <a:pt x="1334135" y="73914"/>
                </a:lnTo>
                <a:lnTo>
                  <a:pt x="1330579" y="75184"/>
                </a:lnTo>
                <a:lnTo>
                  <a:pt x="1327531" y="77343"/>
                </a:lnTo>
                <a:lnTo>
                  <a:pt x="1322451" y="82931"/>
                </a:lnTo>
                <a:lnTo>
                  <a:pt x="1321181" y="86487"/>
                </a:lnTo>
                <a:lnTo>
                  <a:pt x="1321181" y="93091"/>
                </a:lnTo>
                <a:lnTo>
                  <a:pt x="1321689" y="96901"/>
                </a:lnTo>
                <a:lnTo>
                  <a:pt x="1323721" y="107442"/>
                </a:lnTo>
                <a:lnTo>
                  <a:pt x="1324229" y="111887"/>
                </a:lnTo>
                <a:lnTo>
                  <a:pt x="1324229" y="124714"/>
                </a:lnTo>
                <a:lnTo>
                  <a:pt x="1322070" y="131318"/>
                </a:lnTo>
                <a:lnTo>
                  <a:pt x="1317879" y="135255"/>
                </a:lnTo>
                <a:lnTo>
                  <a:pt x="1313688" y="139065"/>
                </a:lnTo>
                <a:lnTo>
                  <a:pt x="1307846" y="141097"/>
                </a:lnTo>
                <a:lnTo>
                  <a:pt x="1299210" y="141097"/>
                </a:lnTo>
                <a:lnTo>
                  <a:pt x="1299210" y="146939"/>
                </a:lnTo>
                <a:lnTo>
                  <a:pt x="1301242" y="146939"/>
                </a:lnTo>
                <a:lnTo>
                  <a:pt x="1309712" y="146278"/>
                </a:lnTo>
                <a:lnTo>
                  <a:pt x="1337310" y="114046"/>
                </a:lnTo>
                <a:lnTo>
                  <a:pt x="1337310" y="109855"/>
                </a:lnTo>
                <a:lnTo>
                  <a:pt x="1336675" y="105029"/>
                </a:lnTo>
                <a:lnTo>
                  <a:pt x="1335532" y="99568"/>
                </a:lnTo>
                <a:lnTo>
                  <a:pt x="1334262" y="94107"/>
                </a:lnTo>
                <a:lnTo>
                  <a:pt x="1333627" y="90424"/>
                </a:lnTo>
                <a:lnTo>
                  <a:pt x="1333627" y="85090"/>
                </a:lnTo>
                <a:lnTo>
                  <a:pt x="1334897" y="82169"/>
                </a:lnTo>
                <a:lnTo>
                  <a:pt x="1337310" y="79883"/>
                </a:lnTo>
                <a:lnTo>
                  <a:pt x="1339723" y="77724"/>
                </a:lnTo>
                <a:lnTo>
                  <a:pt x="1343406" y="76454"/>
                </a:lnTo>
                <a:lnTo>
                  <a:pt x="1348359" y="76454"/>
                </a:lnTo>
                <a:lnTo>
                  <a:pt x="1348359" y="70104"/>
                </a:lnTo>
                <a:close/>
              </a:path>
              <a:path w="1355725" h="190500">
                <a:moveTo>
                  <a:pt x="1355598" y="176403"/>
                </a:moveTo>
                <a:lnTo>
                  <a:pt x="0" y="176403"/>
                </a:lnTo>
                <a:lnTo>
                  <a:pt x="0" y="190119"/>
                </a:lnTo>
                <a:lnTo>
                  <a:pt x="1355598" y="190119"/>
                </a:lnTo>
                <a:lnTo>
                  <a:pt x="1355598" y="176403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30298" y="4074943"/>
            <a:ext cx="18669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i="1" spc="29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99538" y="4069841"/>
            <a:ext cx="909319" cy="189865"/>
          </a:xfrm>
          <a:custGeom>
            <a:avLst/>
            <a:gdLst/>
            <a:ahLst/>
            <a:cxnLst/>
            <a:rect l="l" t="t" r="r" b="b"/>
            <a:pathLst>
              <a:path w="909320" h="189864">
                <a:moveTo>
                  <a:pt x="62484" y="5842"/>
                </a:moveTo>
                <a:lnTo>
                  <a:pt x="60452" y="0"/>
                </a:lnTo>
                <a:lnTo>
                  <a:pt x="49847" y="3810"/>
                </a:lnTo>
                <a:lnTo>
                  <a:pt x="40551" y="9334"/>
                </a:lnTo>
                <a:lnTo>
                  <a:pt x="16865" y="47282"/>
                </a:lnTo>
                <a:lnTo>
                  <a:pt x="13843" y="73025"/>
                </a:lnTo>
                <a:lnTo>
                  <a:pt x="14528" y="85178"/>
                </a:lnTo>
                <a:lnTo>
                  <a:pt x="14592" y="86487"/>
                </a:lnTo>
                <a:lnTo>
                  <a:pt x="32562" y="129476"/>
                </a:lnTo>
                <a:lnTo>
                  <a:pt x="60452" y="146050"/>
                </a:lnTo>
                <a:lnTo>
                  <a:pt x="62357" y="140081"/>
                </a:lnTo>
                <a:lnTo>
                  <a:pt x="53987" y="136423"/>
                </a:lnTo>
                <a:lnTo>
                  <a:pt x="46799" y="131305"/>
                </a:lnTo>
                <a:lnTo>
                  <a:pt x="29349" y="96875"/>
                </a:lnTo>
                <a:lnTo>
                  <a:pt x="27178" y="72263"/>
                </a:lnTo>
                <a:lnTo>
                  <a:pt x="27711" y="59791"/>
                </a:lnTo>
                <a:lnTo>
                  <a:pt x="40767" y="21158"/>
                </a:lnTo>
                <a:lnTo>
                  <a:pt x="54102" y="9563"/>
                </a:lnTo>
                <a:lnTo>
                  <a:pt x="62484" y="5842"/>
                </a:lnTo>
                <a:close/>
              </a:path>
              <a:path w="909320" h="189864">
                <a:moveTo>
                  <a:pt x="440944" y="73025"/>
                </a:moveTo>
                <a:lnTo>
                  <a:pt x="428879" y="25527"/>
                </a:lnTo>
                <a:lnTo>
                  <a:pt x="394335" y="0"/>
                </a:lnTo>
                <a:lnTo>
                  <a:pt x="392303" y="5842"/>
                </a:lnTo>
                <a:lnTo>
                  <a:pt x="400748" y="9563"/>
                </a:lnTo>
                <a:lnTo>
                  <a:pt x="408012" y="14655"/>
                </a:lnTo>
                <a:lnTo>
                  <a:pt x="427050" y="59639"/>
                </a:lnTo>
                <a:lnTo>
                  <a:pt x="427075" y="59791"/>
                </a:lnTo>
                <a:lnTo>
                  <a:pt x="427609" y="72263"/>
                </a:lnTo>
                <a:lnTo>
                  <a:pt x="427075" y="85178"/>
                </a:lnTo>
                <a:lnTo>
                  <a:pt x="425475" y="96875"/>
                </a:lnTo>
                <a:lnTo>
                  <a:pt x="408051" y="131305"/>
                </a:lnTo>
                <a:lnTo>
                  <a:pt x="392557" y="140081"/>
                </a:lnTo>
                <a:lnTo>
                  <a:pt x="394335" y="146050"/>
                </a:lnTo>
                <a:lnTo>
                  <a:pt x="429006" y="120523"/>
                </a:lnTo>
                <a:lnTo>
                  <a:pt x="440194" y="86487"/>
                </a:lnTo>
                <a:lnTo>
                  <a:pt x="440944" y="73025"/>
                </a:lnTo>
                <a:close/>
              </a:path>
              <a:path w="909320" h="189864">
                <a:moveTo>
                  <a:pt x="517398" y="5842"/>
                </a:moveTo>
                <a:lnTo>
                  <a:pt x="515366" y="0"/>
                </a:lnTo>
                <a:lnTo>
                  <a:pt x="504761" y="3810"/>
                </a:lnTo>
                <a:lnTo>
                  <a:pt x="495465" y="9334"/>
                </a:lnTo>
                <a:lnTo>
                  <a:pt x="471779" y="47282"/>
                </a:lnTo>
                <a:lnTo>
                  <a:pt x="468757" y="73025"/>
                </a:lnTo>
                <a:lnTo>
                  <a:pt x="469442" y="85178"/>
                </a:lnTo>
                <a:lnTo>
                  <a:pt x="469506" y="86487"/>
                </a:lnTo>
                <a:lnTo>
                  <a:pt x="487476" y="129476"/>
                </a:lnTo>
                <a:lnTo>
                  <a:pt x="515366" y="146050"/>
                </a:lnTo>
                <a:lnTo>
                  <a:pt x="517271" y="140081"/>
                </a:lnTo>
                <a:lnTo>
                  <a:pt x="508901" y="136423"/>
                </a:lnTo>
                <a:lnTo>
                  <a:pt x="501713" y="131305"/>
                </a:lnTo>
                <a:lnTo>
                  <a:pt x="484263" y="96875"/>
                </a:lnTo>
                <a:lnTo>
                  <a:pt x="482092" y="72263"/>
                </a:lnTo>
                <a:lnTo>
                  <a:pt x="482625" y="59791"/>
                </a:lnTo>
                <a:lnTo>
                  <a:pt x="495681" y="21158"/>
                </a:lnTo>
                <a:lnTo>
                  <a:pt x="509016" y="9563"/>
                </a:lnTo>
                <a:lnTo>
                  <a:pt x="517398" y="5842"/>
                </a:lnTo>
                <a:close/>
              </a:path>
              <a:path w="909320" h="189864">
                <a:moveTo>
                  <a:pt x="895858" y="73025"/>
                </a:moveTo>
                <a:lnTo>
                  <a:pt x="883780" y="25527"/>
                </a:lnTo>
                <a:lnTo>
                  <a:pt x="849249" y="0"/>
                </a:lnTo>
                <a:lnTo>
                  <a:pt x="847217" y="5842"/>
                </a:lnTo>
                <a:lnTo>
                  <a:pt x="855662" y="9563"/>
                </a:lnTo>
                <a:lnTo>
                  <a:pt x="862926" y="14655"/>
                </a:lnTo>
                <a:lnTo>
                  <a:pt x="881964" y="59639"/>
                </a:lnTo>
                <a:lnTo>
                  <a:pt x="881989" y="59791"/>
                </a:lnTo>
                <a:lnTo>
                  <a:pt x="882523" y="72263"/>
                </a:lnTo>
                <a:lnTo>
                  <a:pt x="881989" y="85178"/>
                </a:lnTo>
                <a:lnTo>
                  <a:pt x="880389" y="96875"/>
                </a:lnTo>
                <a:lnTo>
                  <a:pt x="862965" y="131305"/>
                </a:lnTo>
                <a:lnTo>
                  <a:pt x="847471" y="140081"/>
                </a:lnTo>
                <a:lnTo>
                  <a:pt x="849249" y="146050"/>
                </a:lnTo>
                <a:lnTo>
                  <a:pt x="883920" y="120523"/>
                </a:lnTo>
                <a:lnTo>
                  <a:pt x="895108" y="86487"/>
                </a:lnTo>
                <a:lnTo>
                  <a:pt x="895858" y="73025"/>
                </a:lnTo>
                <a:close/>
              </a:path>
              <a:path w="909320" h="189864">
                <a:moveTo>
                  <a:pt x="909053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909053" y="189738"/>
                </a:lnTo>
                <a:lnTo>
                  <a:pt x="909053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7400" y="4018026"/>
            <a:ext cx="247015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77670" algn="l"/>
                <a:tab pos="2132330" algn="l"/>
              </a:tabLst>
            </a:pP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𝐾</a:t>
            </a:r>
            <a:r>
              <a:rPr sz="1250" spc="2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spc="2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+2</a:t>
            </a:r>
            <a:r>
              <a:rPr sz="1250" spc="25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8900" y="4252721"/>
            <a:ext cx="155448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49705" algn="l"/>
              </a:tabLst>
            </a:pP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</a:t>
            </a: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545" y="4792979"/>
            <a:ext cx="2692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=&gt;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3910" y="4776215"/>
            <a:ext cx="909319" cy="189865"/>
          </a:xfrm>
          <a:custGeom>
            <a:avLst/>
            <a:gdLst/>
            <a:ahLst/>
            <a:cxnLst/>
            <a:rect l="l" t="t" r="r" b="b"/>
            <a:pathLst>
              <a:path w="909319" h="189864">
                <a:moveTo>
                  <a:pt x="62534" y="5842"/>
                </a:moveTo>
                <a:lnTo>
                  <a:pt x="60464" y="0"/>
                </a:lnTo>
                <a:lnTo>
                  <a:pt x="49860" y="3810"/>
                </a:lnTo>
                <a:lnTo>
                  <a:pt x="40576" y="9334"/>
                </a:lnTo>
                <a:lnTo>
                  <a:pt x="16878" y="47282"/>
                </a:lnTo>
                <a:lnTo>
                  <a:pt x="13906" y="72263"/>
                </a:lnTo>
                <a:lnTo>
                  <a:pt x="13855" y="73025"/>
                </a:lnTo>
                <a:lnTo>
                  <a:pt x="25869" y="120523"/>
                </a:lnTo>
                <a:lnTo>
                  <a:pt x="60464" y="146050"/>
                </a:lnTo>
                <a:lnTo>
                  <a:pt x="62306" y="140081"/>
                </a:lnTo>
                <a:lnTo>
                  <a:pt x="53975" y="136423"/>
                </a:lnTo>
                <a:lnTo>
                  <a:pt x="46786" y="131305"/>
                </a:lnTo>
                <a:lnTo>
                  <a:pt x="29349" y="96875"/>
                </a:lnTo>
                <a:lnTo>
                  <a:pt x="27190" y="72263"/>
                </a:lnTo>
                <a:lnTo>
                  <a:pt x="27724" y="59791"/>
                </a:lnTo>
                <a:lnTo>
                  <a:pt x="40767" y="21158"/>
                </a:lnTo>
                <a:lnTo>
                  <a:pt x="54102" y="9563"/>
                </a:lnTo>
                <a:lnTo>
                  <a:pt x="62534" y="5842"/>
                </a:lnTo>
                <a:close/>
              </a:path>
              <a:path w="909319" h="189864">
                <a:moveTo>
                  <a:pt x="441744" y="73025"/>
                </a:moveTo>
                <a:lnTo>
                  <a:pt x="429691" y="25527"/>
                </a:lnTo>
                <a:lnTo>
                  <a:pt x="395147" y="0"/>
                </a:lnTo>
                <a:lnTo>
                  <a:pt x="393065" y="5842"/>
                </a:lnTo>
                <a:lnTo>
                  <a:pt x="401523" y="9563"/>
                </a:lnTo>
                <a:lnTo>
                  <a:pt x="408800" y="14655"/>
                </a:lnTo>
                <a:lnTo>
                  <a:pt x="427850" y="59639"/>
                </a:lnTo>
                <a:lnTo>
                  <a:pt x="427875" y="59791"/>
                </a:lnTo>
                <a:lnTo>
                  <a:pt x="428421" y="72263"/>
                </a:lnTo>
                <a:lnTo>
                  <a:pt x="427875" y="85178"/>
                </a:lnTo>
                <a:lnTo>
                  <a:pt x="426250" y="96875"/>
                </a:lnTo>
                <a:lnTo>
                  <a:pt x="408813" y="131305"/>
                </a:lnTo>
                <a:lnTo>
                  <a:pt x="393306" y="140081"/>
                </a:lnTo>
                <a:lnTo>
                  <a:pt x="395147" y="146050"/>
                </a:lnTo>
                <a:lnTo>
                  <a:pt x="429729" y="120523"/>
                </a:lnTo>
                <a:lnTo>
                  <a:pt x="440982" y="86487"/>
                </a:lnTo>
                <a:lnTo>
                  <a:pt x="441744" y="73025"/>
                </a:lnTo>
                <a:close/>
              </a:path>
              <a:path w="909319" h="189864">
                <a:moveTo>
                  <a:pt x="518160" y="5842"/>
                </a:moveTo>
                <a:lnTo>
                  <a:pt x="516128" y="0"/>
                </a:lnTo>
                <a:lnTo>
                  <a:pt x="505523" y="3810"/>
                </a:lnTo>
                <a:lnTo>
                  <a:pt x="496227" y="9334"/>
                </a:lnTo>
                <a:lnTo>
                  <a:pt x="472541" y="47282"/>
                </a:lnTo>
                <a:lnTo>
                  <a:pt x="469519" y="73025"/>
                </a:lnTo>
                <a:lnTo>
                  <a:pt x="470204" y="85178"/>
                </a:lnTo>
                <a:lnTo>
                  <a:pt x="470268" y="86487"/>
                </a:lnTo>
                <a:lnTo>
                  <a:pt x="488238" y="129476"/>
                </a:lnTo>
                <a:lnTo>
                  <a:pt x="516128" y="146050"/>
                </a:lnTo>
                <a:lnTo>
                  <a:pt x="518033" y="140081"/>
                </a:lnTo>
                <a:lnTo>
                  <a:pt x="509663" y="136423"/>
                </a:lnTo>
                <a:lnTo>
                  <a:pt x="502475" y="131305"/>
                </a:lnTo>
                <a:lnTo>
                  <a:pt x="485025" y="96875"/>
                </a:lnTo>
                <a:lnTo>
                  <a:pt x="482854" y="72263"/>
                </a:lnTo>
                <a:lnTo>
                  <a:pt x="483387" y="59791"/>
                </a:lnTo>
                <a:lnTo>
                  <a:pt x="496443" y="21158"/>
                </a:lnTo>
                <a:lnTo>
                  <a:pt x="509778" y="9563"/>
                </a:lnTo>
                <a:lnTo>
                  <a:pt x="518160" y="5842"/>
                </a:lnTo>
                <a:close/>
              </a:path>
              <a:path w="909319" h="189864">
                <a:moveTo>
                  <a:pt x="896620" y="73025"/>
                </a:moveTo>
                <a:lnTo>
                  <a:pt x="884555" y="25527"/>
                </a:lnTo>
                <a:lnTo>
                  <a:pt x="849998" y="0"/>
                </a:lnTo>
                <a:lnTo>
                  <a:pt x="847979" y="5842"/>
                </a:lnTo>
                <a:lnTo>
                  <a:pt x="856424" y="9563"/>
                </a:lnTo>
                <a:lnTo>
                  <a:pt x="863688" y="14655"/>
                </a:lnTo>
                <a:lnTo>
                  <a:pt x="882726" y="59639"/>
                </a:lnTo>
                <a:lnTo>
                  <a:pt x="882751" y="59791"/>
                </a:lnTo>
                <a:lnTo>
                  <a:pt x="883285" y="72263"/>
                </a:lnTo>
                <a:lnTo>
                  <a:pt x="882751" y="85178"/>
                </a:lnTo>
                <a:lnTo>
                  <a:pt x="881151" y="96875"/>
                </a:lnTo>
                <a:lnTo>
                  <a:pt x="863727" y="131305"/>
                </a:lnTo>
                <a:lnTo>
                  <a:pt x="848233" y="140081"/>
                </a:lnTo>
                <a:lnTo>
                  <a:pt x="849998" y="146050"/>
                </a:lnTo>
                <a:lnTo>
                  <a:pt x="884682" y="120523"/>
                </a:lnTo>
                <a:lnTo>
                  <a:pt x="895870" y="86487"/>
                </a:lnTo>
                <a:lnTo>
                  <a:pt x="896620" y="73025"/>
                </a:lnTo>
                <a:close/>
              </a:path>
              <a:path w="909319" h="189864">
                <a:moveTo>
                  <a:pt x="909066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909066" y="189738"/>
                </a:lnTo>
                <a:lnTo>
                  <a:pt x="909066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56741" y="4678984"/>
            <a:ext cx="805815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>
              <a:lnSpc>
                <a:spcPct val="123200"/>
              </a:lnSpc>
              <a:spcBef>
                <a:spcPts val="100"/>
              </a:spcBef>
              <a:tabLst>
                <a:tab pos="467995" algn="l"/>
              </a:tabLst>
            </a:pP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𝐾+2 </a:t>
            </a: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62835" y="4792979"/>
            <a:ext cx="14732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59508" y="4776215"/>
            <a:ext cx="909319" cy="189865"/>
          </a:xfrm>
          <a:custGeom>
            <a:avLst/>
            <a:gdLst/>
            <a:ahLst/>
            <a:cxnLst/>
            <a:rect l="l" t="t" r="r" b="b"/>
            <a:pathLst>
              <a:path w="909319" h="189864">
                <a:moveTo>
                  <a:pt x="62484" y="5842"/>
                </a:moveTo>
                <a:lnTo>
                  <a:pt x="60452" y="0"/>
                </a:lnTo>
                <a:lnTo>
                  <a:pt x="49847" y="3810"/>
                </a:lnTo>
                <a:lnTo>
                  <a:pt x="40551" y="9334"/>
                </a:lnTo>
                <a:lnTo>
                  <a:pt x="16865" y="47282"/>
                </a:lnTo>
                <a:lnTo>
                  <a:pt x="13843" y="73025"/>
                </a:lnTo>
                <a:lnTo>
                  <a:pt x="14528" y="85178"/>
                </a:lnTo>
                <a:lnTo>
                  <a:pt x="14592" y="86487"/>
                </a:lnTo>
                <a:lnTo>
                  <a:pt x="32562" y="129476"/>
                </a:lnTo>
                <a:lnTo>
                  <a:pt x="60452" y="146050"/>
                </a:lnTo>
                <a:lnTo>
                  <a:pt x="62357" y="140081"/>
                </a:lnTo>
                <a:lnTo>
                  <a:pt x="53987" y="136423"/>
                </a:lnTo>
                <a:lnTo>
                  <a:pt x="46799" y="131305"/>
                </a:lnTo>
                <a:lnTo>
                  <a:pt x="29349" y="96875"/>
                </a:lnTo>
                <a:lnTo>
                  <a:pt x="27178" y="72263"/>
                </a:lnTo>
                <a:lnTo>
                  <a:pt x="27711" y="59791"/>
                </a:lnTo>
                <a:lnTo>
                  <a:pt x="40767" y="21158"/>
                </a:lnTo>
                <a:lnTo>
                  <a:pt x="54102" y="9563"/>
                </a:lnTo>
                <a:lnTo>
                  <a:pt x="62484" y="5842"/>
                </a:lnTo>
                <a:close/>
              </a:path>
              <a:path w="909319" h="189864">
                <a:moveTo>
                  <a:pt x="441706" y="73025"/>
                </a:moveTo>
                <a:lnTo>
                  <a:pt x="429641" y="25527"/>
                </a:lnTo>
                <a:lnTo>
                  <a:pt x="395097" y="0"/>
                </a:lnTo>
                <a:lnTo>
                  <a:pt x="393065" y="5842"/>
                </a:lnTo>
                <a:lnTo>
                  <a:pt x="401510" y="9563"/>
                </a:lnTo>
                <a:lnTo>
                  <a:pt x="408774" y="14655"/>
                </a:lnTo>
                <a:lnTo>
                  <a:pt x="427812" y="59639"/>
                </a:lnTo>
                <a:lnTo>
                  <a:pt x="427837" y="59791"/>
                </a:lnTo>
                <a:lnTo>
                  <a:pt x="428371" y="72263"/>
                </a:lnTo>
                <a:lnTo>
                  <a:pt x="427837" y="85178"/>
                </a:lnTo>
                <a:lnTo>
                  <a:pt x="426237" y="96875"/>
                </a:lnTo>
                <a:lnTo>
                  <a:pt x="408813" y="131305"/>
                </a:lnTo>
                <a:lnTo>
                  <a:pt x="393319" y="140081"/>
                </a:lnTo>
                <a:lnTo>
                  <a:pt x="395097" y="146050"/>
                </a:lnTo>
                <a:lnTo>
                  <a:pt x="429768" y="120523"/>
                </a:lnTo>
                <a:lnTo>
                  <a:pt x="440956" y="86487"/>
                </a:lnTo>
                <a:lnTo>
                  <a:pt x="441706" y="73025"/>
                </a:lnTo>
                <a:close/>
              </a:path>
              <a:path w="909319" h="189864">
                <a:moveTo>
                  <a:pt x="518160" y="5842"/>
                </a:moveTo>
                <a:lnTo>
                  <a:pt x="516128" y="0"/>
                </a:lnTo>
                <a:lnTo>
                  <a:pt x="505523" y="3810"/>
                </a:lnTo>
                <a:lnTo>
                  <a:pt x="496227" y="9334"/>
                </a:lnTo>
                <a:lnTo>
                  <a:pt x="472541" y="47282"/>
                </a:lnTo>
                <a:lnTo>
                  <a:pt x="469519" y="73025"/>
                </a:lnTo>
                <a:lnTo>
                  <a:pt x="470204" y="85178"/>
                </a:lnTo>
                <a:lnTo>
                  <a:pt x="470268" y="86487"/>
                </a:lnTo>
                <a:lnTo>
                  <a:pt x="488238" y="129476"/>
                </a:lnTo>
                <a:lnTo>
                  <a:pt x="516128" y="146050"/>
                </a:lnTo>
                <a:lnTo>
                  <a:pt x="518033" y="140081"/>
                </a:lnTo>
                <a:lnTo>
                  <a:pt x="509663" y="136423"/>
                </a:lnTo>
                <a:lnTo>
                  <a:pt x="502475" y="131305"/>
                </a:lnTo>
                <a:lnTo>
                  <a:pt x="485025" y="96875"/>
                </a:lnTo>
                <a:lnTo>
                  <a:pt x="482854" y="72263"/>
                </a:lnTo>
                <a:lnTo>
                  <a:pt x="483387" y="59791"/>
                </a:lnTo>
                <a:lnTo>
                  <a:pt x="496443" y="21158"/>
                </a:lnTo>
                <a:lnTo>
                  <a:pt x="509778" y="9563"/>
                </a:lnTo>
                <a:lnTo>
                  <a:pt x="518160" y="5842"/>
                </a:lnTo>
                <a:close/>
              </a:path>
              <a:path w="909319" h="189864">
                <a:moveTo>
                  <a:pt x="896620" y="73025"/>
                </a:moveTo>
                <a:lnTo>
                  <a:pt x="884555" y="25527"/>
                </a:lnTo>
                <a:lnTo>
                  <a:pt x="850011" y="0"/>
                </a:lnTo>
                <a:lnTo>
                  <a:pt x="847979" y="5842"/>
                </a:lnTo>
                <a:lnTo>
                  <a:pt x="856424" y="9563"/>
                </a:lnTo>
                <a:lnTo>
                  <a:pt x="863688" y="14655"/>
                </a:lnTo>
                <a:lnTo>
                  <a:pt x="882726" y="59639"/>
                </a:lnTo>
                <a:lnTo>
                  <a:pt x="882751" y="59791"/>
                </a:lnTo>
                <a:lnTo>
                  <a:pt x="883285" y="72263"/>
                </a:lnTo>
                <a:lnTo>
                  <a:pt x="882751" y="85178"/>
                </a:lnTo>
                <a:lnTo>
                  <a:pt x="881151" y="96875"/>
                </a:lnTo>
                <a:lnTo>
                  <a:pt x="863714" y="131305"/>
                </a:lnTo>
                <a:lnTo>
                  <a:pt x="848233" y="140081"/>
                </a:lnTo>
                <a:lnTo>
                  <a:pt x="850011" y="146050"/>
                </a:lnTo>
                <a:lnTo>
                  <a:pt x="884682" y="120523"/>
                </a:lnTo>
                <a:lnTo>
                  <a:pt x="895870" y="86487"/>
                </a:lnTo>
                <a:lnTo>
                  <a:pt x="896620" y="73025"/>
                </a:lnTo>
                <a:close/>
              </a:path>
              <a:path w="909319" h="189864">
                <a:moveTo>
                  <a:pt x="909066" y="176022"/>
                </a:moveTo>
                <a:lnTo>
                  <a:pt x="0" y="176022"/>
                </a:lnTo>
                <a:lnTo>
                  <a:pt x="0" y="189738"/>
                </a:lnTo>
                <a:lnTo>
                  <a:pt x="909066" y="189738"/>
                </a:lnTo>
                <a:lnTo>
                  <a:pt x="909066" y="17602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12594" y="4678984"/>
            <a:ext cx="805815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>
              <a:lnSpc>
                <a:spcPct val="123200"/>
              </a:lnSpc>
              <a:spcBef>
                <a:spcPts val="100"/>
              </a:spcBef>
              <a:tabLst>
                <a:tab pos="467995" algn="l"/>
              </a:tabLst>
            </a:pP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𝐾+1</a:t>
            </a:r>
            <a:r>
              <a:rPr sz="1250" dirty="0">
                <a:solidFill>
                  <a:srgbClr val="404040"/>
                </a:solidFill>
                <a:latin typeface="Cambria Math"/>
                <a:cs typeface="Cambria Math"/>
              </a:rPr>
              <a:t>		</a:t>
            </a:r>
            <a:r>
              <a:rPr sz="1250" spc="-25" dirty="0">
                <a:solidFill>
                  <a:srgbClr val="404040"/>
                </a:solidFill>
                <a:latin typeface="Cambria Math"/>
                <a:cs typeface="Cambria Math"/>
              </a:rPr>
              <a:t>𝐾+2 </a:t>
            </a:r>
            <a:r>
              <a:rPr sz="1250" spc="-50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12694" y="5099761"/>
            <a:ext cx="1758314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100"/>
              </a:spcBef>
            </a:pPr>
            <a:r>
              <a:rPr sz="1700" b="1" dirty="0">
                <a:solidFill>
                  <a:srgbClr val="E6B81E"/>
                </a:solidFill>
                <a:latin typeface="Times New Roman"/>
                <a:cs typeface="Times New Roman"/>
              </a:rPr>
              <a:t>L.H.S</a:t>
            </a:r>
            <a:r>
              <a:rPr sz="1700" b="1" spc="-1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E6B81E"/>
                </a:solidFill>
                <a:latin typeface="Times New Roman"/>
                <a:cs typeface="Times New Roman"/>
              </a:rPr>
              <a:t>=</a:t>
            </a:r>
            <a:r>
              <a:rPr sz="1700" b="1" spc="-2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700" b="1" spc="-20" dirty="0">
                <a:solidFill>
                  <a:srgbClr val="E6B81E"/>
                </a:solidFill>
                <a:latin typeface="Times New Roman"/>
                <a:cs typeface="Times New Roman"/>
              </a:rPr>
              <a:t>R.H.S </a:t>
            </a:r>
            <a:r>
              <a:rPr sz="1700" b="1" dirty="0">
                <a:solidFill>
                  <a:srgbClr val="E6B81E"/>
                </a:solidFill>
                <a:latin typeface="Times New Roman"/>
                <a:cs typeface="Times New Roman"/>
              </a:rPr>
              <a:t>HENCE</a:t>
            </a:r>
            <a:r>
              <a:rPr sz="1700" b="1" spc="-6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PROVED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81350" y="628650"/>
            <a:ext cx="742950" cy="114300"/>
          </a:xfrm>
          <a:custGeom>
            <a:avLst/>
            <a:gdLst/>
            <a:ahLst/>
            <a:cxnLst/>
            <a:rect l="l" t="t" r="r" b="b"/>
            <a:pathLst>
              <a:path w="742950" h="114300">
                <a:moveTo>
                  <a:pt x="628650" y="0"/>
                </a:moveTo>
                <a:lnTo>
                  <a:pt x="628650" y="114300"/>
                </a:lnTo>
                <a:lnTo>
                  <a:pt x="704850" y="76200"/>
                </a:lnTo>
                <a:lnTo>
                  <a:pt x="647700" y="76200"/>
                </a:lnTo>
                <a:lnTo>
                  <a:pt x="655123" y="74705"/>
                </a:lnTo>
                <a:lnTo>
                  <a:pt x="661177" y="70627"/>
                </a:lnTo>
                <a:lnTo>
                  <a:pt x="665255" y="64573"/>
                </a:lnTo>
                <a:lnTo>
                  <a:pt x="666750" y="57150"/>
                </a:lnTo>
                <a:lnTo>
                  <a:pt x="665255" y="49726"/>
                </a:lnTo>
                <a:lnTo>
                  <a:pt x="661177" y="43672"/>
                </a:lnTo>
                <a:lnTo>
                  <a:pt x="655123" y="39594"/>
                </a:lnTo>
                <a:lnTo>
                  <a:pt x="647700" y="38100"/>
                </a:lnTo>
                <a:lnTo>
                  <a:pt x="704850" y="38100"/>
                </a:lnTo>
                <a:lnTo>
                  <a:pt x="628650" y="0"/>
                </a:lnTo>
                <a:close/>
              </a:path>
              <a:path w="742950" h="114300">
                <a:moveTo>
                  <a:pt x="628650" y="38100"/>
                </a:moveTo>
                <a:lnTo>
                  <a:pt x="19050" y="38100"/>
                </a:lnTo>
                <a:lnTo>
                  <a:pt x="11626" y="39594"/>
                </a:lnTo>
                <a:lnTo>
                  <a:pt x="5572" y="43672"/>
                </a:lnTo>
                <a:lnTo>
                  <a:pt x="1494" y="49726"/>
                </a:lnTo>
                <a:lnTo>
                  <a:pt x="0" y="57150"/>
                </a:lnTo>
                <a:lnTo>
                  <a:pt x="1494" y="64573"/>
                </a:lnTo>
                <a:lnTo>
                  <a:pt x="5572" y="70627"/>
                </a:lnTo>
                <a:lnTo>
                  <a:pt x="11626" y="74705"/>
                </a:lnTo>
                <a:lnTo>
                  <a:pt x="19050" y="76200"/>
                </a:lnTo>
                <a:lnTo>
                  <a:pt x="628650" y="76200"/>
                </a:lnTo>
                <a:lnTo>
                  <a:pt x="628650" y="38100"/>
                </a:lnTo>
                <a:close/>
              </a:path>
              <a:path w="742950" h="114300">
                <a:moveTo>
                  <a:pt x="704850" y="38100"/>
                </a:moveTo>
                <a:lnTo>
                  <a:pt x="647700" y="38100"/>
                </a:lnTo>
                <a:lnTo>
                  <a:pt x="655123" y="39594"/>
                </a:lnTo>
                <a:lnTo>
                  <a:pt x="661177" y="43672"/>
                </a:lnTo>
                <a:lnTo>
                  <a:pt x="665255" y="49726"/>
                </a:lnTo>
                <a:lnTo>
                  <a:pt x="666750" y="57150"/>
                </a:lnTo>
                <a:lnTo>
                  <a:pt x="665255" y="64573"/>
                </a:lnTo>
                <a:lnTo>
                  <a:pt x="661177" y="70627"/>
                </a:lnTo>
                <a:lnTo>
                  <a:pt x="655123" y="74705"/>
                </a:lnTo>
                <a:lnTo>
                  <a:pt x="647700" y="76200"/>
                </a:lnTo>
                <a:lnTo>
                  <a:pt x="704850" y="76200"/>
                </a:lnTo>
                <a:lnTo>
                  <a:pt x="742950" y="57150"/>
                </a:lnTo>
                <a:lnTo>
                  <a:pt x="704850" y="3810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3970" y="1462768"/>
          <a:ext cx="5234305" cy="53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69"/>
                        </a:spcBef>
                        <a:tabLst>
                          <a:tab pos="1385570" algn="l"/>
                          <a:tab pos="1606550" algn="l"/>
                          <a:tab pos="1826895" algn="l"/>
                        </a:tabLst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	+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k+(</a:t>
                      </a:r>
                      <a:r>
                        <a:rPr sz="1800" i="1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1800" i="1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1)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3189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3189" marB="0"/>
                </a:tc>
                <a:tc>
                  <a:txBody>
                    <a:bodyPr/>
                    <a:lstStyle/>
                    <a:p>
                      <a:pPr marL="303530" algn="ctr">
                        <a:lnSpc>
                          <a:spcPts val="2050"/>
                        </a:lnSpc>
                      </a:pP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18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1)(</a:t>
                      </a:r>
                      <a:r>
                        <a:rPr sz="1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1800" i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328930" algn="ctr">
                        <a:lnSpc>
                          <a:spcPts val="2100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269240" y="807974"/>
            <a:ext cx="6433185" cy="195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95"/>
              </a:spcBef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Assuming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now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proof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axiom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its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ts val="1939"/>
              </a:lnSpc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successor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i.e.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p(k+1).</a:t>
            </a:r>
            <a:r>
              <a:rPr sz="17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must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L.H.S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R.H.s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700">
              <a:latin typeface="Times New Roman"/>
              <a:cs typeface="Times New Roman"/>
            </a:endParaRPr>
          </a:p>
          <a:p>
            <a:pPr marL="1895475" algn="ctr">
              <a:lnSpc>
                <a:spcPct val="100000"/>
              </a:lnSpc>
            </a:pPr>
            <a:r>
              <a:rPr sz="2400" b="1" spc="-50" dirty="0">
                <a:solidFill>
                  <a:srgbClr val="00AFEF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L.H.S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eq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1,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1+2+3+…+k</a:t>
            </a:r>
            <a:r>
              <a:rPr sz="17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replaced</a:t>
            </a:r>
            <a:r>
              <a:rPr sz="17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by: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54502" y="1725193"/>
            <a:ext cx="1093470" cy="571500"/>
            <a:chOff x="3254502" y="1725193"/>
            <a:chExt cx="1093470" cy="57150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4502" y="1725193"/>
              <a:ext cx="1093444" cy="57147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293364" y="1738883"/>
              <a:ext cx="946150" cy="462280"/>
            </a:xfrm>
            <a:custGeom>
              <a:avLst/>
              <a:gdLst/>
              <a:ahLst/>
              <a:cxnLst/>
              <a:rect l="l" t="t" r="r" b="b"/>
              <a:pathLst>
                <a:path w="946150" h="462280">
                  <a:moveTo>
                    <a:pt x="869823" y="385952"/>
                  </a:moveTo>
                  <a:lnTo>
                    <a:pt x="869823" y="462152"/>
                  </a:lnTo>
                  <a:lnTo>
                    <a:pt x="920876" y="436625"/>
                  </a:lnTo>
                  <a:lnTo>
                    <a:pt x="889508" y="436625"/>
                  </a:lnTo>
                  <a:lnTo>
                    <a:pt x="895096" y="431038"/>
                  </a:lnTo>
                  <a:lnTo>
                    <a:pt x="895096" y="417067"/>
                  </a:lnTo>
                  <a:lnTo>
                    <a:pt x="889508" y="411479"/>
                  </a:lnTo>
                  <a:lnTo>
                    <a:pt x="920876" y="411479"/>
                  </a:lnTo>
                  <a:lnTo>
                    <a:pt x="869823" y="385952"/>
                  </a:lnTo>
                  <a:close/>
                </a:path>
                <a:path w="946150" h="462280">
                  <a:moveTo>
                    <a:pt x="466725" y="12573"/>
                  </a:moveTo>
                  <a:lnTo>
                    <a:pt x="466725" y="431038"/>
                  </a:lnTo>
                  <a:lnTo>
                    <a:pt x="472313" y="436625"/>
                  </a:lnTo>
                  <a:lnTo>
                    <a:pt x="869823" y="436625"/>
                  </a:lnTo>
                  <a:lnTo>
                    <a:pt x="869823" y="424052"/>
                  </a:lnTo>
                  <a:lnTo>
                    <a:pt x="491871" y="424052"/>
                  </a:lnTo>
                  <a:lnTo>
                    <a:pt x="479298" y="411479"/>
                  </a:lnTo>
                  <a:lnTo>
                    <a:pt x="491871" y="411479"/>
                  </a:lnTo>
                  <a:lnTo>
                    <a:pt x="491871" y="25145"/>
                  </a:lnTo>
                  <a:lnTo>
                    <a:pt x="479298" y="25145"/>
                  </a:lnTo>
                  <a:lnTo>
                    <a:pt x="466725" y="12573"/>
                  </a:lnTo>
                  <a:close/>
                </a:path>
                <a:path w="946150" h="462280">
                  <a:moveTo>
                    <a:pt x="920876" y="411479"/>
                  </a:moveTo>
                  <a:lnTo>
                    <a:pt x="889508" y="411479"/>
                  </a:lnTo>
                  <a:lnTo>
                    <a:pt x="895096" y="417067"/>
                  </a:lnTo>
                  <a:lnTo>
                    <a:pt x="895096" y="431038"/>
                  </a:lnTo>
                  <a:lnTo>
                    <a:pt x="889508" y="436625"/>
                  </a:lnTo>
                  <a:lnTo>
                    <a:pt x="920876" y="436625"/>
                  </a:lnTo>
                  <a:lnTo>
                    <a:pt x="946023" y="424052"/>
                  </a:lnTo>
                  <a:lnTo>
                    <a:pt x="920876" y="411479"/>
                  </a:lnTo>
                  <a:close/>
                </a:path>
                <a:path w="946150" h="462280">
                  <a:moveTo>
                    <a:pt x="491871" y="411479"/>
                  </a:moveTo>
                  <a:lnTo>
                    <a:pt x="479298" y="411479"/>
                  </a:lnTo>
                  <a:lnTo>
                    <a:pt x="491871" y="424052"/>
                  </a:lnTo>
                  <a:lnTo>
                    <a:pt x="491871" y="411479"/>
                  </a:lnTo>
                  <a:close/>
                </a:path>
                <a:path w="946150" h="462280">
                  <a:moveTo>
                    <a:pt x="869823" y="411479"/>
                  </a:moveTo>
                  <a:lnTo>
                    <a:pt x="491871" y="411479"/>
                  </a:lnTo>
                  <a:lnTo>
                    <a:pt x="491871" y="424052"/>
                  </a:lnTo>
                  <a:lnTo>
                    <a:pt x="869823" y="424052"/>
                  </a:lnTo>
                  <a:lnTo>
                    <a:pt x="869823" y="411479"/>
                  </a:lnTo>
                  <a:close/>
                </a:path>
                <a:path w="946150" h="462280">
                  <a:moveTo>
                    <a:pt x="486283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19557"/>
                  </a:lnTo>
                  <a:lnTo>
                    <a:pt x="5587" y="25145"/>
                  </a:lnTo>
                  <a:lnTo>
                    <a:pt x="466725" y="25145"/>
                  </a:lnTo>
                  <a:lnTo>
                    <a:pt x="466725" y="12573"/>
                  </a:lnTo>
                  <a:lnTo>
                    <a:pt x="491871" y="12573"/>
                  </a:lnTo>
                  <a:lnTo>
                    <a:pt x="491871" y="5587"/>
                  </a:lnTo>
                  <a:lnTo>
                    <a:pt x="486283" y="0"/>
                  </a:lnTo>
                  <a:close/>
                </a:path>
                <a:path w="946150" h="462280">
                  <a:moveTo>
                    <a:pt x="491871" y="12573"/>
                  </a:moveTo>
                  <a:lnTo>
                    <a:pt x="466725" y="12573"/>
                  </a:lnTo>
                  <a:lnTo>
                    <a:pt x="479298" y="25145"/>
                  </a:lnTo>
                  <a:lnTo>
                    <a:pt x="491871" y="25145"/>
                  </a:lnTo>
                  <a:lnTo>
                    <a:pt x="491871" y="12573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048" y="19303"/>
            <a:ext cx="2377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160" dirty="0"/>
              <a:t> </a:t>
            </a:r>
            <a:r>
              <a:rPr sz="3600" spc="-50" dirty="0"/>
              <a:t>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2431" y="863600"/>
            <a:ext cx="5290185" cy="512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 marR="669290" indent="-457834">
              <a:lnSpc>
                <a:spcPct val="100000"/>
              </a:lnSpc>
              <a:spcBef>
                <a:spcPts val="100"/>
              </a:spcBef>
              <a:tabLst>
                <a:tab pos="571500" algn="l"/>
              </a:tabLst>
            </a:pPr>
            <a:r>
              <a:rPr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2.</a:t>
            </a:r>
            <a:r>
              <a:rPr sz="1450" b="1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induction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b="1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i="1" spc="195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b="1" i="1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="1" i="1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51435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every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natural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 &gt;=1.</a:t>
            </a: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130"/>
              </a:spcBef>
            </a:pPr>
            <a:r>
              <a:rPr sz="18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SOLUTION: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Let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statement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(n)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b="1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i="1" spc="195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b="1" i="1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="1" i="1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endParaRPr sz="1800" baseline="25462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(Induction</a:t>
            </a:r>
            <a:r>
              <a:rPr sz="18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Basis):</a:t>
            </a:r>
            <a:endParaRPr sz="1800" dirty="0">
              <a:latin typeface="Times New Roman"/>
              <a:cs typeface="Times New Roman"/>
            </a:endParaRPr>
          </a:p>
          <a:p>
            <a:pPr marL="171450" marR="1689735" indent="-57150">
              <a:lnSpc>
                <a:spcPct val="114999"/>
              </a:lnSpc>
              <a:spcBef>
                <a:spcPts val="2000"/>
              </a:spcBef>
            </a:pP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(1)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(n=1)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.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21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4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spc="-3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21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;</a:t>
            </a:r>
            <a:r>
              <a:rPr sz="1800" spc="43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21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Both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sides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statement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equal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hence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P(1)</a:t>
            </a:r>
            <a:r>
              <a:rPr sz="1800" b="1" spc="-2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is</a:t>
            </a:r>
            <a:r>
              <a:rPr sz="1800" b="1" spc="-2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true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330200"/>
            <a:ext cx="6306185" cy="1249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STEP</a:t>
            </a:r>
            <a:r>
              <a:rPr sz="1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now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assume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p(k)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(n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k)</a:t>
            </a:r>
            <a:endParaRPr sz="1800" dirty="0">
              <a:latin typeface="Times New Roman"/>
              <a:cs typeface="Times New Roman"/>
            </a:endParaRPr>
          </a:p>
          <a:p>
            <a:pPr marL="76200" algn="just">
              <a:lnSpc>
                <a:spcPct val="100000"/>
              </a:lnSpc>
              <a:tabLst>
                <a:tab pos="3276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b="1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b="1" i="1" spc="21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b="1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="1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b="1" i="1" spc="442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………</a:t>
            </a:r>
            <a:r>
              <a:rPr sz="1800" b="1" i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00AFEF"/>
                </a:solidFill>
                <a:latin typeface="Times New Roman"/>
                <a:cs typeface="Times New Roman"/>
              </a:rPr>
              <a:t>Induction</a:t>
            </a:r>
            <a:r>
              <a:rPr sz="18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hypothesis</a:t>
            </a:r>
            <a:endParaRPr sz="1800" dirty="0">
              <a:latin typeface="Times New Roman"/>
              <a:cs typeface="Times New Roman"/>
            </a:endParaRPr>
          </a:p>
          <a:p>
            <a:pPr marL="76200" marR="30480" algn="just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Assuming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now have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proof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his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true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(k+1).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must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L.H.S=R.H.S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eq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" y="1955800"/>
            <a:ext cx="293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ab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1800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 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225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 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+ 1</a:t>
            </a:r>
            <a:r>
              <a:rPr sz="1800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i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i="1" spc="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7950" y="781050"/>
            <a:ext cx="704850" cy="114300"/>
          </a:xfrm>
          <a:custGeom>
            <a:avLst/>
            <a:gdLst/>
            <a:ahLst/>
            <a:cxnLst/>
            <a:rect l="l" t="t" r="r" b="b"/>
            <a:pathLst>
              <a:path w="704850" h="114300">
                <a:moveTo>
                  <a:pt x="590550" y="0"/>
                </a:moveTo>
                <a:lnTo>
                  <a:pt x="590550" y="114300"/>
                </a:lnTo>
                <a:lnTo>
                  <a:pt x="666750" y="76200"/>
                </a:lnTo>
                <a:lnTo>
                  <a:pt x="609600" y="76200"/>
                </a:lnTo>
                <a:lnTo>
                  <a:pt x="617023" y="74705"/>
                </a:lnTo>
                <a:lnTo>
                  <a:pt x="623077" y="70627"/>
                </a:lnTo>
                <a:lnTo>
                  <a:pt x="627155" y="64573"/>
                </a:lnTo>
                <a:lnTo>
                  <a:pt x="628650" y="57150"/>
                </a:lnTo>
                <a:lnTo>
                  <a:pt x="627155" y="49726"/>
                </a:lnTo>
                <a:lnTo>
                  <a:pt x="623077" y="43672"/>
                </a:lnTo>
                <a:lnTo>
                  <a:pt x="617023" y="39594"/>
                </a:lnTo>
                <a:lnTo>
                  <a:pt x="609600" y="38100"/>
                </a:lnTo>
                <a:lnTo>
                  <a:pt x="666750" y="38100"/>
                </a:lnTo>
                <a:lnTo>
                  <a:pt x="590550" y="0"/>
                </a:lnTo>
                <a:close/>
              </a:path>
              <a:path w="704850" h="114300">
                <a:moveTo>
                  <a:pt x="590550" y="38100"/>
                </a:moveTo>
                <a:lnTo>
                  <a:pt x="19050" y="38100"/>
                </a:lnTo>
                <a:lnTo>
                  <a:pt x="11626" y="39594"/>
                </a:lnTo>
                <a:lnTo>
                  <a:pt x="5572" y="43672"/>
                </a:lnTo>
                <a:lnTo>
                  <a:pt x="1494" y="49726"/>
                </a:lnTo>
                <a:lnTo>
                  <a:pt x="0" y="57150"/>
                </a:lnTo>
                <a:lnTo>
                  <a:pt x="1494" y="64573"/>
                </a:lnTo>
                <a:lnTo>
                  <a:pt x="5572" y="70627"/>
                </a:lnTo>
                <a:lnTo>
                  <a:pt x="11626" y="74705"/>
                </a:lnTo>
                <a:lnTo>
                  <a:pt x="19050" y="76200"/>
                </a:lnTo>
                <a:lnTo>
                  <a:pt x="590550" y="76200"/>
                </a:lnTo>
                <a:lnTo>
                  <a:pt x="590550" y="38100"/>
                </a:lnTo>
                <a:close/>
              </a:path>
              <a:path w="704850" h="114300">
                <a:moveTo>
                  <a:pt x="666750" y="38100"/>
                </a:moveTo>
                <a:lnTo>
                  <a:pt x="609600" y="38100"/>
                </a:lnTo>
                <a:lnTo>
                  <a:pt x="617023" y="39594"/>
                </a:lnTo>
                <a:lnTo>
                  <a:pt x="623077" y="43672"/>
                </a:lnTo>
                <a:lnTo>
                  <a:pt x="627155" y="49726"/>
                </a:lnTo>
                <a:lnTo>
                  <a:pt x="628650" y="57150"/>
                </a:lnTo>
                <a:lnTo>
                  <a:pt x="627155" y="64573"/>
                </a:lnTo>
                <a:lnTo>
                  <a:pt x="623077" y="70627"/>
                </a:lnTo>
                <a:lnTo>
                  <a:pt x="617023" y="74705"/>
                </a:lnTo>
                <a:lnTo>
                  <a:pt x="609600" y="76200"/>
                </a:lnTo>
                <a:lnTo>
                  <a:pt x="666750" y="76200"/>
                </a:lnTo>
                <a:lnTo>
                  <a:pt x="704850" y="57150"/>
                </a:lnTo>
                <a:lnTo>
                  <a:pt x="666750" y="3810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42808" y="2579751"/>
            <a:ext cx="76517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25" i="1" spc="89" baseline="-19713" dirty="0">
                <a:latin typeface="Times New Roman"/>
                <a:cs typeface="Times New Roman"/>
              </a:rPr>
              <a:t>a</a:t>
            </a:r>
            <a:r>
              <a:rPr sz="1000" i="1" spc="60" dirty="0">
                <a:latin typeface="Times New Roman"/>
                <a:cs typeface="Times New Roman"/>
              </a:rPr>
              <a:t>k+1</a:t>
            </a:r>
            <a:r>
              <a:rPr sz="2325" i="1" spc="89" baseline="-19713" dirty="0">
                <a:latin typeface="Times New Roman"/>
                <a:cs typeface="Times New Roman"/>
              </a:rPr>
              <a:t>b</a:t>
            </a:r>
            <a:r>
              <a:rPr sz="1000" i="1" spc="60" dirty="0">
                <a:latin typeface="Times New Roman"/>
                <a:cs typeface="Times New Roman"/>
              </a:rPr>
              <a:t>k+1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4569" y="2651679"/>
            <a:ext cx="15176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60" dirty="0">
                <a:latin typeface="Times New Roman"/>
                <a:cs typeface="Times New Roman"/>
              </a:rPr>
              <a:t>=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2200" y="2579751"/>
            <a:ext cx="76517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25" i="1" spc="89" baseline="-19713" dirty="0">
                <a:latin typeface="Times New Roman"/>
                <a:cs typeface="Times New Roman"/>
              </a:rPr>
              <a:t>a</a:t>
            </a:r>
            <a:r>
              <a:rPr sz="1000" i="1" spc="60" dirty="0">
                <a:latin typeface="Times New Roman"/>
                <a:cs typeface="Times New Roman"/>
              </a:rPr>
              <a:t>k+1</a:t>
            </a:r>
            <a:r>
              <a:rPr sz="2325" i="1" spc="89" baseline="-19713" dirty="0">
                <a:latin typeface="Times New Roman"/>
                <a:cs typeface="Times New Roman"/>
              </a:rPr>
              <a:t>b</a:t>
            </a:r>
            <a:r>
              <a:rPr sz="1000" i="1" spc="60" dirty="0">
                <a:latin typeface="Times New Roman"/>
                <a:cs typeface="Times New Roman"/>
              </a:rPr>
              <a:t>k+1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67150" y="2152650"/>
            <a:ext cx="933450" cy="114300"/>
          </a:xfrm>
          <a:custGeom>
            <a:avLst/>
            <a:gdLst/>
            <a:ahLst/>
            <a:cxnLst/>
            <a:rect l="l" t="t" r="r" b="b"/>
            <a:pathLst>
              <a:path w="933450" h="114300">
                <a:moveTo>
                  <a:pt x="819150" y="0"/>
                </a:moveTo>
                <a:lnTo>
                  <a:pt x="819150" y="114300"/>
                </a:lnTo>
                <a:lnTo>
                  <a:pt x="895350" y="76200"/>
                </a:lnTo>
                <a:lnTo>
                  <a:pt x="838200" y="76200"/>
                </a:lnTo>
                <a:lnTo>
                  <a:pt x="845623" y="74705"/>
                </a:lnTo>
                <a:lnTo>
                  <a:pt x="851677" y="70627"/>
                </a:lnTo>
                <a:lnTo>
                  <a:pt x="855755" y="64573"/>
                </a:lnTo>
                <a:lnTo>
                  <a:pt x="857250" y="57150"/>
                </a:lnTo>
                <a:lnTo>
                  <a:pt x="855755" y="49726"/>
                </a:lnTo>
                <a:lnTo>
                  <a:pt x="851677" y="43672"/>
                </a:lnTo>
                <a:lnTo>
                  <a:pt x="845623" y="39594"/>
                </a:lnTo>
                <a:lnTo>
                  <a:pt x="838200" y="38100"/>
                </a:lnTo>
                <a:lnTo>
                  <a:pt x="895350" y="38100"/>
                </a:lnTo>
                <a:lnTo>
                  <a:pt x="819150" y="0"/>
                </a:lnTo>
                <a:close/>
              </a:path>
              <a:path w="933450" h="114300">
                <a:moveTo>
                  <a:pt x="819150" y="38100"/>
                </a:moveTo>
                <a:lnTo>
                  <a:pt x="19050" y="38100"/>
                </a:lnTo>
                <a:lnTo>
                  <a:pt x="11626" y="39594"/>
                </a:lnTo>
                <a:lnTo>
                  <a:pt x="5572" y="43672"/>
                </a:lnTo>
                <a:lnTo>
                  <a:pt x="1494" y="49726"/>
                </a:lnTo>
                <a:lnTo>
                  <a:pt x="0" y="57150"/>
                </a:lnTo>
                <a:lnTo>
                  <a:pt x="1494" y="64573"/>
                </a:lnTo>
                <a:lnTo>
                  <a:pt x="5572" y="70627"/>
                </a:lnTo>
                <a:lnTo>
                  <a:pt x="11626" y="74705"/>
                </a:lnTo>
                <a:lnTo>
                  <a:pt x="19050" y="76200"/>
                </a:lnTo>
                <a:lnTo>
                  <a:pt x="819150" y="76200"/>
                </a:lnTo>
                <a:lnTo>
                  <a:pt x="819150" y="38100"/>
                </a:lnTo>
                <a:close/>
              </a:path>
              <a:path w="933450" h="114300">
                <a:moveTo>
                  <a:pt x="895350" y="38100"/>
                </a:moveTo>
                <a:lnTo>
                  <a:pt x="838200" y="38100"/>
                </a:lnTo>
                <a:lnTo>
                  <a:pt x="845623" y="39594"/>
                </a:lnTo>
                <a:lnTo>
                  <a:pt x="851677" y="43672"/>
                </a:lnTo>
                <a:lnTo>
                  <a:pt x="855755" y="49726"/>
                </a:lnTo>
                <a:lnTo>
                  <a:pt x="857250" y="57150"/>
                </a:lnTo>
                <a:lnTo>
                  <a:pt x="855755" y="64573"/>
                </a:lnTo>
                <a:lnTo>
                  <a:pt x="851677" y="70627"/>
                </a:lnTo>
                <a:lnTo>
                  <a:pt x="845623" y="74705"/>
                </a:lnTo>
                <a:lnTo>
                  <a:pt x="838200" y="76200"/>
                </a:lnTo>
                <a:lnTo>
                  <a:pt x="895350" y="76200"/>
                </a:lnTo>
                <a:lnTo>
                  <a:pt x="933450" y="57150"/>
                </a:lnTo>
                <a:lnTo>
                  <a:pt x="895350" y="3810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67020" y="2003044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AFEF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9190" y="3026248"/>
            <a:ext cx="1861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L.H.S = </a:t>
            </a: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R.H.S </a:t>
            </a:r>
            <a:r>
              <a:rPr sz="1800" b="1" dirty="0">
                <a:solidFill>
                  <a:srgbClr val="E6B81E"/>
                </a:solidFill>
                <a:latin typeface="Times New Roman"/>
                <a:cs typeface="Times New Roman"/>
              </a:rPr>
              <a:t>HENCE </a:t>
            </a: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PROVED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1F21-C0F0-2415-9E22-53997579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0D5A42-5E77-BB53-0FF2-02D4C1263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0048" y="19303"/>
            <a:ext cx="2377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160" dirty="0"/>
              <a:t> </a:t>
            </a:r>
            <a:r>
              <a:rPr lang="en-US" spc="-50" dirty="0"/>
              <a:t>3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02F044B-4D6B-28B5-9E3D-A219C10D8C00}"/>
                  </a:ext>
                </a:extLst>
              </p:cNvPr>
              <p:cNvSpPr txBox="1"/>
              <p:nvPr/>
            </p:nvSpPr>
            <p:spPr>
              <a:xfrm>
                <a:off x="228600" y="838200"/>
                <a:ext cx="7567169" cy="51757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71500" marR="669290" indent="-457834">
                  <a:spcBef>
                    <a:spcPts val="100"/>
                  </a:spcBef>
                  <a:tabLst>
                    <a:tab pos="571500" algn="l"/>
                  </a:tabLst>
                </a:pPr>
                <a:r>
                  <a:rPr lang="en-US"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  <a:t>Prove using induction that: 1 + 3 + 5 + ... + (2n−1) = n^2</a:t>
                </a:r>
                <a:br>
                  <a:rPr lang="en-US"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</a:b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for</a:t>
                </a:r>
                <a:r>
                  <a:rPr lang="en-US" spc="20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all</a:t>
                </a:r>
                <a:r>
                  <a:rPr lang="en-US" spc="1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integers</a:t>
                </a:r>
                <a:r>
                  <a:rPr lang="en-US" spc="2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n</a:t>
                </a:r>
                <a:r>
                  <a:rPr lang="en-US" spc="3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spc="-25" dirty="0">
                    <a:solidFill>
                      <a:srgbClr val="404040"/>
                    </a:solidFill>
                    <a:latin typeface="Symbol"/>
                    <a:cs typeface="Symbol"/>
                  </a:rPr>
                  <a:t></a:t>
                </a:r>
                <a:r>
                  <a:rPr lang="en-US" spc="-25" dirty="0">
                    <a:solidFill>
                      <a:srgbClr val="404040"/>
                    </a:solidFill>
                    <a:cs typeface="Trebuchet MS"/>
                  </a:rPr>
                  <a:t>1.</a:t>
                </a:r>
                <a:endParaRPr lang="en-US" dirty="0">
                  <a:cs typeface="Trebuchet MS"/>
                </a:endParaRPr>
              </a:p>
              <a:p>
                <a:pPr marL="571500" marR="669290" indent="-457834">
                  <a:lnSpc>
                    <a:spcPct val="100000"/>
                  </a:lnSpc>
                  <a:spcBef>
                    <a:spcPts val="100"/>
                  </a:spcBef>
                  <a:tabLst>
                    <a:tab pos="571500" algn="l"/>
                  </a:tabLst>
                </a:pPr>
                <a:endParaRPr lang="en-US" sz="1800" b="1" dirty="0">
                  <a:solidFill>
                    <a:srgbClr val="404040"/>
                  </a:solidFill>
                  <a:latin typeface="Trebuchet MS (Body)"/>
                  <a:cs typeface="Times New Roman"/>
                </a:endParaRPr>
              </a:p>
              <a:p>
                <a:pPr marL="114300">
                  <a:lnSpc>
                    <a:spcPct val="100000"/>
                  </a:lnSpc>
                  <a:spcBef>
                    <a:spcPts val="1130"/>
                  </a:spcBef>
                </a:pPr>
                <a:r>
                  <a:rPr sz="1800" b="1" u="sng" spc="-10" dirty="0">
                    <a:solidFill>
                      <a:srgbClr val="001F5F"/>
                    </a:solidFill>
                    <a:uFill>
                      <a:solidFill>
                        <a:srgbClr val="001F5F"/>
                      </a:solidFill>
                    </a:uFill>
                    <a:latin typeface="Trebuchet MS (Body)"/>
                    <a:cs typeface="Times New Roman"/>
                  </a:rPr>
                  <a:t>SOLUTION:</a:t>
                </a:r>
                <a:endParaRPr sz="1800" dirty="0">
                  <a:latin typeface="Trebuchet MS (Body)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250"/>
                  </a:spcBef>
                </a:pPr>
                <a:endParaRPr sz="1800" dirty="0">
                  <a:latin typeface="Trebuchet MS (Body)"/>
                  <a:cs typeface="Times New Roman"/>
                </a:endParaRPr>
              </a:p>
              <a:p>
                <a:pPr marL="114300">
                  <a:lnSpc>
                    <a:spcPct val="100000"/>
                  </a:lnSpc>
                </a:pPr>
                <a:r>
                  <a:rPr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  <a:t>STEP</a:t>
                </a:r>
                <a:r>
                  <a:rPr sz="1800" b="1" spc="-114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  <a:t> </a:t>
                </a:r>
                <a:r>
                  <a:rPr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  <a:t>1</a:t>
                </a:r>
                <a:r>
                  <a:rPr lang="en-US" b="1" dirty="0">
                    <a:solidFill>
                      <a:srgbClr val="0070C0"/>
                    </a:solidFill>
                    <a:latin typeface="Trebuchet MS (Body)"/>
                    <a:cs typeface="Times New Roman"/>
                  </a:rPr>
                  <a:t>: </a:t>
                </a:r>
                <a:r>
                  <a:rPr sz="1800" b="1" dirty="0">
                    <a:solidFill>
                      <a:srgbClr val="0070C0"/>
                    </a:solidFill>
                    <a:latin typeface="Trebuchet MS (Body)"/>
                    <a:cs typeface="Times New Roman"/>
                  </a:rPr>
                  <a:t>Induction</a:t>
                </a:r>
                <a:r>
                  <a:rPr sz="1800" b="1" spc="-40" dirty="0">
                    <a:solidFill>
                      <a:srgbClr val="0070C0"/>
                    </a:solidFill>
                    <a:latin typeface="Trebuchet MS (Body)"/>
                    <a:cs typeface="Times New Roman"/>
                  </a:rPr>
                  <a:t> </a:t>
                </a:r>
                <a:r>
                  <a:rPr sz="1800" b="1" spc="-10" dirty="0">
                    <a:solidFill>
                      <a:srgbClr val="0070C0"/>
                    </a:solidFill>
                    <a:latin typeface="Trebuchet MS (Body)"/>
                    <a:cs typeface="Times New Roman"/>
                  </a:rPr>
                  <a:t>Basis</a:t>
                </a:r>
                <a:endParaRPr sz="1800" dirty="0">
                  <a:solidFill>
                    <a:srgbClr val="0070C0"/>
                  </a:solidFill>
                  <a:latin typeface="Trebuchet MS (Body)"/>
                  <a:cs typeface="Times New Roman"/>
                </a:endParaRPr>
              </a:p>
              <a:p>
                <a:r>
                  <a:rPr lang="en-US" dirty="0">
                    <a:latin typeface="Trebuchet MS (Body)"/>
                  </a:rPr>
                  <a:t>LHS: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Trebuchet MS (Body)"/>
                </a:endParaRPr>
              </a:p>
              <a:p>
                <a:r>
                  <a:rPr lang="en-US" dirty="0">
                    <a:latin typeface="Trebuchet MS (Body)"/>
                  </a:rPr>
                  <a:t>RHS: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>
                  <a:latin typeface="Trebuchet MS (Body)"/>
                </a:endParaRPr>
              </a:p>
              <a:p>
                <a:r>
                  <a:rPr lang="en-US" b="1" dirty="0">
                    <a:solidFill>
                      <a:srgbClr val="7030A0"/>
                    </a:solidFill>
                    <a:latin typeface="Trebuchet MS (Body)"/>
                  </a:rPr>
                  <a:t>LHS = RHS → Base case is true</a:t>
                </a: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  <a:p>
                <a:r>
                  <a:rPr lang="en-US" b="1" dirty="0">
                    <a:latin typeface="Trebuchet MS (Body)"/>
                  </a:rPr>
                  <a:t>Step 2: </a:t>
                </a:r>
                <a:r>
                  <a:rPr lang="en-US" b="1" dirty="0">
                    <a:solidFill>
                      <a:srgbClr val="0070C0"/>
                    </a:solidFill>
                    <a:latin typeface="Trebuchet MS (Body)"/>
                  </a:rPr>
                  <a:t>Inductive Hypothesis</a:t>
                </a:r>
              </a:p>
              <a:p>
                <a:r>
                  <a:rPr lang="en-US" dirty="0">
                    <a:latin typeface="Trebuchet MS (Body)"/>
                  </a:rPr>
                  <a:t>Assume the statement is true for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Trebuchet MS (Body)"/>
                  </a:rPr>
                  <a:t>, i.e.,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rebuchet MS (Body)"/>
                </a:endParaRP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02F044B-4D6B-28B5-9E3D-A219C10D8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838200"/>
                <a:ext cx="7567169" cy="5175776"/>
              </a:xfrm>
              <a:prstGeom prst="rect">
                <a:avLst/>
              </a:prstGeom>
              <a:blipFill>
                <a:blip r:embed="rId2"/>
                <a:stretch>
                  <a:fillRect l="-1934" t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446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8E59-D2C8-B049-9DEE-74BD370A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C1AFC9-FDA7-66E5-B1EF-2386A1494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0048" y="19303"/>
            <a:ext cx="2377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160" dirty="0"/>
              <a:t> </a:t>
            </a:r>
            <a:r>
              <a:rPr lang="en-US" spc="-50" dirty="0"/>
              <a:t>3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3204AD1C-4BE5-CD3E-BECA-4017A2FCD85A}"/>
                  </a:ext>
                </a:extLst>
              </p:cNvPr>
              <p:cNvSpPr txBox="1"/>
              <p:nvPr/>
            </p:nvSpPr>
            <p:spPr>
              <a:xfrm>
                <a:off x="228600" y="838200"/>
                <a:ext cx="7567169" cy="490134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71500" marR="669290" indent="-457834">
                  <a:spcBef>
                    <a:spcPts val="100"/>
                  </a:spcBef>
                  <a:tabLst>
                    <a:tab pos="571500" algn="l"/>
                  </a:tabLst>
                </a:pPr>
                <a:r>
                  <a:rPr lang="en-US"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  <a:t>Prove using induction that: 1 + 3 + 5 + ... + (2n−1) = n^2</a:t>
                </a:r>
                <a:br>
                  <a:rPr lang="en-US" sz="1800" b="1" dirty="0">
                    <a:solidFill>
                      <a:srgbClr val="404040"/>
                    </a:solidFill>
                    <a:latin typeface="Trebuchet MS (Body)"/>
                    <a:cs typeface="Times New Roman"/>
                  </a:rPr>
                </a:b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for</a:t>
                </a:r>
                <a:r>
                  <a:rPr lang="en-US" spc="20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all</a:t>
                </a:r>
                <a:r>
                  <a:rPr lang="en-US" spc="1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integers</a:t>
                </a:r>
                <a:r>
                  <a:rPr lang="en-US" spc="2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dirty="0">
                    <a:solidFill>
                      <a:srgbClr val="404040"/>
                    </a:solidFill>
                    <a:cs typeface="Trebuchet MS"/>
                  </a:rPr>
                  <a:t>n</a:t>
                </a:r>
                <a:r>
                  <a:rPr lang="en-US" spc="35" dirty="0">
                    <a:solidFill>
                      <a:srgbClr val="404040"/>
                    </a:solidFill>
                    <a:cs typeface="Trebuchet MS"/>
                  </a:rPr>
                  <a:t> </a:t>
                </a:r>
                <a:r>
                  <a:rPr lang="en-US" spc="-25" dirty="0">
                    <a:solidFill>
                      <a:srgbClr val="404040"/>
                    </a:solidFill>
                    <a:latin typeface="Symbol"/>
                    <a:cs typeface="Symbol"/>
                  </a:rPr>
                  <a:t></a:t>
                </a:r>
                <a:r>
                  <a:rPr lang="en-US" spc="-25" dirty="0">
                    <a:solidFill>
                      <a:srgbClr val="404040"/>
                    </a:solidFill>
                    <a:cs typeface="Trebuchet MS"/>
                  </a:rPr>
                  <a:t>1.</a:t>
                </a:r>
                <a:endParaRPr lang="en-US" sz="1800" b="1" dirty="0">
                  <a:solidFill>
                    <a:srgbClr val="404040"/>
                  </a:solidFill>
                  <a:latin typeface="Trebuchet MS (Body)"/>
                  <a:cs typeface="Times New Roman"/>
                </a:endParaRPr>
              </a:p>
              <a:p>
                <a:pPr marL="114300">
                  <a:lnSpc>
                    <a:spcPct val="100000"/>
                  </a:lnSpc>
                  <a:spcBef>
                    <a:spcPts val="1130"/>
                  </a:spcBef>
                </a:pPr>
                <a:r>
                  <a:rPr sz="1800" b="1" u="sng" spc="-10" dirty="0">
                    <a:solidFill>
                      <a:srgbClr val="001F5F"/>
                    </a:solidFill>
                    <a:uFill>
                      <a:solidFill>
                        <a:srgbClr val="001F5F"/>
                      </a:solidFill>
                    </a:uFill>
                    <a:latin typeface="Trebuchet MS (Body)"/>
                    <a:cs typeface="Times New Roman"/>
                  </a:rPr>
                  <a:t>SOLUTION:</a:t>
                </a:r>
                <a:endParaRPr sz="1800" dirty="0">
                  <a:latin typeface="Trebuchet MS (Body)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250"/>
                  </a:spcBef>
                </a:pPr>
                <a:endParaRPr sz="1800" dirty="0">
                  <a:latin typeface="Trebuchet MS (Body)"/>
                  <a:cs typeface="Times New Roman"/>
                </a:endParaRP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Step 3: Inductive Step (prove for n = k+1)</a:t>
                </a:r>
              </a:p>
              <a:p>
                <a:r>
                  <a:rPr lang="en-US" dirty="0"/>
                  <a:t>We need to show: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Start with LHS: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b="1" dirty="0">
                    <a:solidFill>
                      <a:srgbClr val="CC3399"/>
                    </a:solidFill>
                  </a:rPr>
                  <a:t>This matches RHS</a:t>
                </a:r>
                <a:endParaRPr lang="ar-AE" b="1" dirty="0">
                  <a:solidFill>
                    <a:srgbClr val="CC3399"/>
                  </a:solidFill>
                </a:endParaRPr>
              </a:p>
              <a:p>
                <a:endParaRPr lang="ar-AE" dirty="0">
                  <a:latin typeface="Trebuchet MS (Body)"/>
                </a:endParaRP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  <a:p>
                <a:endParaRPr lang="en-US" b="1" dirty="0">
                  <a:solidFill>
                    <a:srgbClr val="7030A0"/>
                  </a:solidFill>
                  <a:latin typeface="Trebuchet MS (Body)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3204AD1C-4BE5-CD3E-BECA-4017A2FC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838200"/>
                <a:ext cx="7567169" cy="4901342"/>
              </a:xfrm>
              <a:prstGeom prst="rect">
                <a:avLst/>
              </a:prstGeom>
              <a:blipFill>
                <a:blip r:embed="rId2"/>
                <a:stretch>
                  <a:fillRect l="-1934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6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9020">
              <a:lnSpc>
                <a:spcPct val="100000"/>
              </a:lnSpc>
              <a:spcBef>
                <a:spcPts val="100"/>
              </a:spcBef>
            </a:pPr>
            <a:r>
              <a:rPr dirty="0"/>
              <a:t>EXERCISE</a:t>
            </a:r>
            <a:r>
              <a:rPr spc="-270" dirty="0"/>
              <a:t> </a:t>
            </a:r>
            <a:r>
              <a:rPr spc="-50"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2929382"/>
            <a:ext cx="2026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lang="en-US"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4</a:t>
            </a:r>
            <a:r>
              <a:rPr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.</a:t>
            </a:r>
            <a:r>
              <a:rPr sz="1450" b="1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THAT: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440" y="1197610"/>
            <a:ext cx="6351270" cy="1386918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AutoNum type="arabicPeriod"/>
              <a:tabLst>
                <a:tab pos="48196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that: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b="1" spc="202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b="1" spc="209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b="1" spc="21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...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b="1" spc="195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¼n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(n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1)</a:t>
            </a:r>
            <a:r>
              <a:rPr sz="1800" b="1" spc="-37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1800" baseline="25462" dirty="0">
              <a:latin typeface="Times New Roman"/>
              <a:cs typeface="Times New Roman"/>
            </a:endParaRPr>
          </a:p>
          <a:p>
            <a:pPr marL="481965" indent="-4565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AutoNum type="arabicPeriod"/>
              <a:tabLst>
                <a:tab pos="48196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that: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1+2+2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b="1" spc="209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…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spc="195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b="1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n+1</a:t>
            </a:r>
            <a:r>
              <a:rPr sz="1800" b="1" spc="202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integers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Symbol"/>
                <a:cs typeface="Symbol"/>
              </a:rPr>
              <a:t>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1800" dirty="0">
              <a:latin typeface="Trebuchet MS"/>
              <a:cs typeface="Trebuchet MS"/>
            </a:endParaRPr>
          </a:p>
          <a:p>
            <a:pPr marL="550545" indent="-525145">
              <a:lnSpc>
                <a:spcPts val="2085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Trebuchet MS"/>
              <a:buAutoNum type="arabicPeriod"/>
              <a:tabLst>
                <a:tab pos="550545" algn="l"/>
                <a:tab pos="265366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Prove that:</a:t>
            </a:r>
            <a:r>
              <a:rPr sz="18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Times New Roman"/>
                <a:cs typeface="Times New Roman"/>
              </a:rPr>
              <a:t>1</a:t>
            </a:r>
            <a:r>
              <a:rPr sz="975" baseline="8547" dirty="0">
                <a:latin typeface="Times New Roman"/>
                <a:cs typeface="Times New Roman"/>
              </a:rPr>
              <a:t>2</a:t>
            </a:r>
            <a:r>
              <a:rPr sz="975" spc="232" baseline="8547" dirty="0"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Symbol"/>
                <a:cs typeface="Symbol"/>
              </a:rPr>
              <a:t></a:t>
            </a:r>
            <a:r>
              <a:rPr sz="1725" spc="-97" baseline="-21739" dirty="0"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Times New Roman"/>
                <a:cs typeface="Times New Roman"/>
              </a:rPr>
              <a:t>2</a:t>
            </a:r>
            <a:r>
              <a:rPr sz="975" baseline="8547" dirty="0">
                <a:latin typeface="Times New Roman"/>
                <a:cs typeface="Times New Roman"/>
              </a:rPr>
              <a:t>2</a:t>
            </a:r>
            <a:r>
              <a:rPr sz="975" spc="232" baseline="8547" dirty="0"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Symbol"/>
                <a:cs typeface="Symbol"/>
              </a:rPr>
              <a:t></a:t>
            </a:r>
            <a:r>
              <a:rPr sz="1725" spc="-157" baseline="-21739" dirty="0"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Times New Roman"/>
                <a:cs typeface="Times New Roman"/>
              </a:rPr>
              <a:t>3</a:t>
            </a:r>
            <a:r>
              <a:rPr sz="975" baseline="8547" dirty="0">
                <a:latin typeface="Times New Roman"/>
                <a:cs typeface="Times New Roman"/>
              </a:rPr>
              <a:t>2</a:t>
            </a:r>
            <a:r>
              <a:rPr sz="975" spc="232" baseline="8547" dirty="0">
                <a:latin typeface="Times New Roman"/>
                <a:cs typeface="Times New Roman"/>
              </a:rPr>
              <a:t> </a:t>
            </a:r>
            <a:r>
              <a:rPr sz="1725" spc="-75" baseline="-21739" dirty="0">
                <a:latin typeface="Symbol"/>
                <a:cs typeface="Symbol"/>
              </a:rPr>
              <a:t></a:t>
            </a:r>
            <a:r>
              <a:rPr sz="1725" baseline="-21739" dirty="0">
                <a:latin typeface="Times New Roman"/>
                <a:cs typeface="Times New Roman"/>
              </a:rPr>
              <a:t>	</a:t>
            </a:r>
            <a:r>
              <a:rPr sz="1725" baseline="-21739" dirty="0">
                <a:latin typeface="Symbol"/>
                <a:cs typeface="Symbol"/>
              </a:rPr>
              <a:t></a:t>
            </a:r>
            <a:r>
              <a:rPr sz="1725" spc="-82" baseline="-21739" dirty="0">
                <a:latin typeface="Times New Roman"/>
                <a:cs typeface="Times New Roman"/>
              </a:rPr>
              <a:t> </a:t>
            </a:r>
            <a:r>
              <a:rPr sz="1725" i="1" baseline="-21739" dirty="0">
                <a:latin typeface="Times New Roman"/>
                <a:cs typeface="Times New Roman"/>
              </a:rPr>
              <a:t>n</a:t>
            </a:r>
            <a:r>
              <a:rPr sz="975" baseline="8547" dirty="0">
                <a:latin typeface="Times New Roman"/>
                <a:cs typeface="Times New Roman"/>
              </a:rPr>
              <a:t>2</a:t>
            </a:r>
            <a:r>
              <a:rPr sz="975" spc="390" baseline="8547" dirty="0">
                <a:latin typeface="Times New Roman"/>
                <a:cs typeface="Times New Roman"/>
              </a:rPr>
              <a:t> </a:t>
            </a:r>
            <a:r>
              <a:rPr sz="1725" baseline="-21739" dirty="0">
                <a:latin typeface="Symbol"/>
                <a:cs typeface="Symbol"/>
              </a:rPr>
              <a:t></a:t>
            </a:r>
            <a:r>
              <a:rPr sz="1725" spc="44" baseline="-21739" dirty="0">
                <a:latin typeface="Times New Roman"/>
                <a:cs typeface="Times New Roman"/>
              </a:rPr>
              <a:t> </a:t>
            </a:r>
            <a:r>
              <a:rPr sz="1725" i="1" u="sng" spc="-322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25" i="1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725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1725" i="1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725" i="1" u="sng" spc="-97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25" u="sng" baseline="1449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1725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1)(2</a:t>
            </a:r>
            <a:r>
              <a:rPr sz="1725" i="1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725" i="1" u="sng" spc="-89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25" u="sng" baseline="1449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1725" u="sng" baseline="1449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1)</a:t>
            </a:r>
            <a:r>
              <a:rPr sz="1725" spc="434" baseline="14492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integers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Symbol"/>
                <a:cs typeface="Symbol"/>
              </a:rPr>
              <a:t>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endParaRPr sz="1800" dirty="0">
              <a:latin typeface="Trebuchet MS"/>
              <a:cs typeface="Trebuchet MS"/>
            </a:endParaRPr>
          </a:p>
          <a:p>
            <a:pPr marL="687705" algn="ctr">
              <a:lnSpc>
                <a:spcPts val="1305"/>
              </a:lnSpc>
            </a:pPr>
            <a:r>
              <a:rPr sz="1150" spc="-50" dirty="0">
                <a:latin typeface="Times New Roman"/>
                <a:cs typeface="Times New Roman"/>
              </a:rPr>
              <a:t>6</a:t>
            </a:r>
            <a:endParaRPr sz="11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3603" y="2705664"/>
            <a:ext cx="609806" cy="1531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42852" y="2964478"/>
            <a:ext cx="252729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spc="200" dirty="0">
                <a:latin typeface="Times New Roman"/>
                <a:cs typeface="Times New Roman"/>
              </a:rPr>
              <a:t>n</a:t>
            </a:r>
            <a:r>
              <a:rPr sz="700" spc="200" dirty="0">
                <a:latin typeface="Symbol"/>
                <a:cs typeface="Symbol"/>
              </a:rPr>
              <a:t></a:t>
            </a:r>
            <a:r>
              <a:rPr sz="700" spc="200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8376" y="3125115"/>
            <a:ext cx="22161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spc="120" dirty="0">
                <a:latin typeface="Times New Roman"/>
                <a:cs typeface="Times New Roman"/>
              </a:rPr>
              <a:t>i</a:t>
            </a:r>
            <a:r>
              <a:rPr sz="700" i="1" spc="-100" dirty="0">
                <a:latin typeface="Times New Roman"/>
                <a:cs typeface="Times New Roman"/>
              </a:rPr>
              <a:t> </a:t>
            </a:r>
            <a:r>
              <a:rPr sz="700" spc="170" dirty="0">
                <a:latin typeface="Symbol"/>
                <a:cs typeface="Symbol"/>
              </a:rPr>
              <a:t></a:t>
            </a:r>
            <a:r>
              <a:rPr sz="700" spc="170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5238" y="2996628"/>
            <a:ext cx="4164329" cy="210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150745" algn="l"/>
              </a:tabLst>
            </a:pPr>
            <a:r>
              <a:rPr sz="1200" i="1" spc="260" dirty="0">
                <a:latin typeface="Times New Roman"/>
                <a:cs typeface="Times New Roman"/>
              </a:rPr>
              <a:t>i</a:t>
            </a:r>
            <a:r>
              <a:rPr sz="1200" spc="260" dirty="0">
                <a:latin typeface="Times New Roman"/>
                <a:cs typeface="Times New Roman"/>
              </a:rPr>
              <a:t>2</a:t>
            </a:r>
            <a:r>
              <a:rPr sz="1050" i="1" spc="390" baseline="43650" dirty="0">
                <a:latin typeface="Times New Roman"/>
                <a:cs typeface="Times New Roman"/>
              </a:rPr>
              <a:t>i</a:t>
            </a:r>
            <a:r>
              <a:rPr sz="1050" i="1" spc="742" baseline="43650" dirty="0">
                <a:latin typeface="Times New Roman"/>
                <a:cs typeface="Times New Roman"/>
              </a:rPr>
              <a:t> </a:t>
            </a:r>
            <a:r>
              <a:rPr sz="1200" spc="440" dirty="0">
                <a:latin typeface="Symbol"/>
                <a:cs typeface="Symbol"/>
              </a:rPr>
              <a:t>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i="1" spc="405" dirty="0">
                <a:latin typeface="Times New Roman"/>
                <a:cs typeface="Times New Roman"/>
              </a:rPr>
              <a:t>n</a:t>
            </a:r>
            <a:r>
              <a:rPr sz="1200" i="1" spc="-95" dirty="0">
                <a:latin typeface="Times New Roman"/>
                <a:cs typeface="Times New Roman"/>
              </a:rPr>
              <a:t> </a:t>
            </a:r>
            <a:r>
              <a:rPr sz="1200" spc="200" dirty="0">
                <a:latin typeface="Symbol"/>
                <a:cs typeface="Symbol"/>
              </a:rPr>
              <a:t>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300" dirty="0">
                <a:latin typeface="Times New Roman"/>
                <a:cs typeface="Times New Roman"/>
              </a:rPr>
              <a:t>2</a:t>
            </a:r>
            <a:r>
              <a:rPr sz="1050" i="1" spc="450" baseline="43650" dirty="0">
                <a:latin typeface="Times New Roman"/>
                <a:cs typeface="Times New Roman"/>
              </a:rPr>
              <a:t>n</a:t>
            </a:r>
            <a:r>
              <a:rPr sz="1050" spc="450" baseline="43650" dirty="0">
                <a:latin typeface="Symbol"/>
                <a:cs typeface="Symbol"/>
              </a:rPr>
              <a:t></a:t>
            </a:r>
            <a:r>
              <a:rPr sz="1050" spc="450" baseline="43650" dirty="0">
                <a:latin typeface="Times New Roman"/>
                <a:cs typeface="Times New Roman"/>
              </a:rPr>
              <a:t>2</a:t>
            </a:r>
            <a:r>
              <a:rPr sz="1050" spc="487" baseline="43650" dirty="0">
                <a:latin typeface="Times New Roman"/>
                <a:cs typeface="Times New Roman"/>
              </a:rPr>
              <a:t> </a:t>
            </a:r>
            <a:r>
              <a:rPr sz="1200" spc="440" dirty="0">
                <a:latin typeface="Symbol"/>
                <a:cs typeface="Symbol"/>
              </a:rPr>
              <a:t>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240" dirty="0">
                <a:latin typeface="Times New Roman"/>
                <a:cs typeface="Times New Roman"/>
              </a:rPr>
              <a:t>2,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285" dirty="0">
                <a:latin typeface="Times New Roman"/>
                <a:cs typeface="Times New Roman"/>
              </a:rPr>
              <a:t>for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229" dirty="0">
                <a:latin typeface="Times New Roman"/>
                <a:cs typeface="Times New Roman"/>
              </a:rPr>
              <a:t>all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285" dirty="0">
                <a:latin typeface="Times New Roman"/>
                <a:cs typeface="Times New Roman"/>
              </a:rPr>
              <a:t>integers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i="1" spc="405" dirty="0">
                <a:latin typeface="Times New Roman"/>
                <a:cs typeface="Times New Roman"/>
              </a:rPr>
              <a:t>n</a:t>
            </a:r>
            <a:r>
              <a:rPr sz="1200" i="1" spc="85" dirty="0">
                <a:latin typeface="Times New Roman"/>
                <a:cs typeface="Times New Roman"/>
              </a:rPr>
              <a:t> </a:t>
            </a:r>
            <a:r>
              <a:rPr sz="1200" spc="440" dirty="0">
                <a:latin typeface="Symbol"/>
                <a:cs typeface="Symbol"/>
              </a:rPr>
              <a:t>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355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1051" y="2954726"/>
            <a:ext cx="30035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810" dirty="0">
                <a:latin typeface="Symbol"/>
                <a:cs typeface="Symbol"/>
              </a:rPr>
              <a:t></a:t>
            </a:r>
            <a:endParaRPr sz="1800" dirty="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7010" y="19303"/>
            <a:ext cx="2411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EXERCISE</a:t>
            </a:r>
            <a:r>
              <a:rPr sz="3600" spc="-175" dirty="0"/>
              <a:t> </a:t>
            </a:r>
            <a:r>
              <a:rPr sz="3600" spc="-50" dirty="0"/>
              <a:t>B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47725" y="573859"/>
            <a:ext cx="3799204" cy="11550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60"/>
              </a:spcBef>
            </a:pPr>
            <a:r>
              <a:rPr sz="2700" spc="-30" baseline="1543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2700" spc="-427" baseline="1543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mathematical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induction</a:t>
            </a:r>
            <a:endParaRPr sz="1800" dirty="0">
              <a:latin typeface="Times New Roman"/>
              <a:cs typeface="Times New Roman"/>
            </a:endParaRPr>
          </a:p>
          <a:p>
            <a:pPr marL="800100" algn="ctr">
              <a:lnSpc>
                <a:spcPct val="100000"/>
              </a:lnSpc>
              <a:spcBef>
                <a:spcPts val="1015"/>
              </a:spcBef>
              <a:tabLst>
                <a:tab pos="2163445" algn="l"/>
                <a:tab pos="2637155" algn="l"/>
                <a:tab pos="3053080" algn="l"/>
                <a:tab pos="3729354" algn="l"/>
              </a:tabLst>
            </a:pPr>
            <a:r>
              <a:rPr sz="1800" u="sng" spc="3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00" u="sng" spc="3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2700" baseline="-35493" dirty="0">
                <a:latin typeface="Symbol"/>
                <a:cs typeface="Symbol"/>
              </a:rPr>
              <a:t></a:t>
            </a:r>
            <a:r>
              <a:rPr sz="2700" spc="-104" baseline="-35493" dirty="0">
                <a:latin typeface="Times New Roman"/>
                <a:cs typeface="Times New Roman"/>
              </a:rPr>
              <a:t> </a:t>
            </a:r>
            <a:r>
              <a:rPr sz="1800" u="sng" spc="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00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2700" spc="-75" baseline="-35493" dirty="0">
                <a:latin typeface="Symbol"/>
                <a:cs typeface="Symbol"/>
              </a:rPr>
              <a:t></a:t>
            </a:r>
            <a:r>
              <a:rPr sz="2700" baseline="-35493" dirty="0">
                <a:latin typeface="Times New Roman"/>
                <a:cs typeface="Times New Roman"/>
              </a:rPr>
              <a:t>	</a:t>
            </a:r>
            <a:r>
              <a:rPr sz="2700" baseline="-35493" dirty="0">
                <a:latin typeface="Symbol"/>
                <a:cs typeface="Symbol"/>
              </a:rPr>
              <a:t></a:t>
            </a:r>
            <a:r>
              <a:rPr sz="2700" baseline="-35493" dirty="0"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2700" baseline="-35493" dirty="0">
                <a:latin typeface="Symbol"/>
                <a:cs typeface="Symbol"/>
              </a:rPr>
              <a:t></a:t>
            </a:r>
            <a:r>
              <a:rPr sz="2700" baseline="-35493" dirty="0">
                <a:latin typeface="Times New Roman"/>
                <a:cs typeface="Times New Roman"/>
              </a:rPr>
              <a:t> </a:t>
            </a:r>
            <a:r>
              <a:rPr sz="1800" i="1" u="sng" spc="2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	</a:t>
            </a:r>
            <a:endParaRPr sz="1800" dirty="0">
              <a:latin typeface="Times New Roman"/>
              <a:cs typeface="Times New Roman"/>
            </a:endParaRPr>
          </a:p>
          <a:p>
            <a:pPr marL="797560" algn="ctr">
              <a:lnSpc>
                <a:spcPct val="100000"/>
              </a:lnSpc>
              <a:spcBef>
                <a:spcPts val="430"/>
              </a:spcBef>
              <a:tabLst>
                <a:tab pos="1374140" algn="l"/>
                <a:tab pos="2364105" algn="l"/>
                <a:tab pos="3326765" algn="l"/>
              </a:tabLst>
            </a:pP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2</a:t>
            </a:r>
            <a:r>
              <a:rPr sz="1800" spc="-2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Symbol"/>
                <a:cs typeface="Symbol"/>
              </a:rPr>
              <a:t></a:t>
            </a:r>
            <a:r>
              <a:rPr sz="1800" spc="-25" dirty="0">
                <a:latin typeface="Times New Roman"/>
                <a:cs typeface="Times New Roman"/>
              </a:rPr>
              <a:t>1)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1800" spc="60" dirty="0">
                <a:latin typeface="Symbol"/>
                <a:cs typeface="Symbol"/>
              </a:rPr>
              <a:t></a:t>
            </a:r>
            <a:r>
              <a:rPr sz="1800" spc="60" dirty="0"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148" y="1301826"/>
            <a:ext cx="941437" cy="2358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22394" y="1340103"/>
            <a:ext cx="1771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integers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Symbol"/>
                <a:cs typeface="Symbol"/>
              </a:rPr>
              <a:t>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186" y="2146808"/>
            <a:ext cx="4030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2.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mathematical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induction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8940" y="3003381"/>
            <a:ext cx="1918970" cy="18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455" algn="l"/>
                <a:tab pos="1838325" algn="l"/>
              </a:tabLst>
            </a:pPr>
            <a:r>
              <a:rPr sz="1050" spc="-50" dirty="0">
                <a:latin typeface="Times New Roman"/>
                <a:cs typeface="Times New Roman"/>
              </a:rPr>
              <a:t>2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Times New Roman"/>
                <a:cs typeface="Times New Roman"/>
              </a:rPr>
              <a:t>2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9174" y="3009126"/>
            <a:ext cx="274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075" algn="l"/>
                <a:tab pos="1835785" algn="l"/>
                <a:tab pos="2500630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2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5679" y="2830844"/>
            <a:ext cx="16567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89" baseline="30864" dirty="0">
                <a:latin typeface="Symbol"/>
                <a:cs typeface="Symbol"/>
              </a:rPr>
              <a:t></a:t>
            </a:r>
            <a:r>
              <a:rPr sz="1800" spc="60" dirty="0">
                <a:latin typeface="Times New Roman"/>
                <a:cs typeface="Times New Roman"/>
              </a:rPr>
              <a:t>1</a:t>
            </a:r>
            <a:r>
              <a:rPr sz="1800" spc="60" dirty="0">
                <a:latin typeface="Symbol"/>
                <a:cs typeface="Symbol"/>
              </a:rPr>
              <a:t>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2700" u="sng" spc="22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sng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700" u="sng" spc="15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spc="-322" baseline="35493" dirty="0">
                <a:latin typeface="Times New Roman"/>
                <a:cs typeface="Times New Roman"/>
              </a:rPr>
              <a:t> </a:t>
            </a:r>
            <a:r>
              <a:rPr sz="2700" baseline="30864" dirty="0">
                <a:latin typeface="Symbol"/>
                <a:cs typeface="Symbol"/>
              </a:rPr>
              <a:t></a:t>
            </a:r>
            <a:r>
              <a:rPr sz="2700" spc="-375" baseline="30864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Symbol"/>
                <a:cs typeface="Symbol"/>
              </a:rPr>
              <a:t></a:t>
            </a:r>
            <a:r>
              <a:rPr sz="2700" spc="127" baseline="30864" dirty="0">
                <a:latin typeface="Symbol"/>
                <a:cs typeface="Symbol"/>
              </a:rPr>
              <a:t></a:t>
            </a:r>
            <a:r>
              <a:rPr sz="1800" spc="85" dirty="0">
                <a:latin typeface="Times New Roman"/>
                <a:cs typeface="Times New Roman"/>
              </a:rPr>
              <a:t>1</a:t>
            </a:r>
            <a:r>
              <a:rPr sz="1800" spc="85" dirty="0">
                <a:latin typeface="Symbol"/>
                <a:cs typeface="Symbol"/>
              </a:rPr>
              <a:t>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2700" u="sng" spc="-67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sng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700" u="sng" spc="-67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spc="-322" baseline="35493" dirty="0">
                <a:latin typeface="Times New Roman"/>
                <a:cs typeface="Times New Roman"/>
              </a:rPr>
              <a:t> </a:t>
            </a:r>
            <a:r>
              <a:rPr sz="2700" spc="-75" baseline="30864" dirty="0">
                <a:latin typeface="Symbol"/>
                <a:cs typeface="Symbol"/>
              </a:rPr>
              <a:t></a:t>
            </a:r>
            <a:endParaRPr sz="2700" baseline="30864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8424" y="2686487"/>
            <a:ext cx="14839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89" baseline="-4629" dirty="0">
                <a:latin typeface="Symbol"/>
                <a:cs typeface="Symbol"/>
              </a:rPr>
              <a:t></a:t>
            </a:r>
            <a:r>
              <a:rPr sz="2700" spc="89" baseline="-35493" dirty="0">
                <a:latin typeface="Times New Roman"/>
                <a:cs typeface="Times New Roman"/>
              </a:rPr>
              <a:t>1</a:t>
            </a:r>
            <a:r>
              <a:rPr sz="2700" spc="89" baseline="-35493" dirty="0">
                <a:latin typeface="Symbol"/>
                <a:cs typeface="Symbol"/>
              </a:rPr>
              <a:t></a:t>
            </a:r>
            <a:r>
              <a:rPr sz="2700" spc="-187" baseline="-35493" dirty="0">
                <a:latin typeface="Times New Roman"/>
                <a:cs typeface="Times New Roman"/>
              </a:rPr>
              <a:t> </a:t>
            </a:r>
            <a:r>
              <a:rPr sz="18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00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spc="-220" dirty="0">
                <a:latin typeface="Times New Roman"/>
                <a:cs typeface="Times New Roman"/>
              </a:rPr>
              <a:t> </a:t>
            </a:r>
            <a:r>
              <a:rPr sz="2700" baseline="-4629" dirty="0">
                <a:latin typeface="Symbol"/>
                <a:cs typeface="Symbol"/>
              </a:rPr>
              <a:t></a:t>
            </a:r>
            <a:r>
              <a:rPr sz="2700" spc="-82" baseline="-4629" dirty="0">
                <a:latin typeface="Times New Roman"/>
                <a:cs typeface="Times New Roman"/>
              </a:rPr>
              <a:t> </a:t>
            </a:r>
            <a:r>
              <a:rPr sz="2700" baseline="-35493" dirty="0">
                <a:latin typeface="Symbol"/>
                <a:cs typeface="Symbol"/>
              </a:rPr>
              <a:t></a:t>
            </a:r>
            <a:r>
              <a:rPr sz="2700" spc="-7" baseline="-35493" dirty="0">
                <a:latin typeface="Times New Roman"/>
                <a:cs typeface="Times New Roman"/>
              </a:rPr>
              <a:t> </a:t>
            </a:r>
            <a:r>
              <a:rPr sz="1800" i="1" u="sng" spc="-3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800" i="1" u="sng" spc="-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3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18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1079" y="2891917"/>
            <a:ext cx="1938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8655" algn="l"/>
                <a:tab pos="1503045" algn="l"/>
                <a:tab pos="1835150" algn="l"/>
              </a:tabLst>
            </a:pPr>
            <a:r>
              <a:rPr sz="1800" spc="-50" dirty="0">
                <a:latin typeface="Symbol"/>
                <a:cs typeface="Symbol"/>
              </a:rPr>
              <a:t>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Symbol"/>
                <a:cs typeface="Symbol"/>
              </a:rPr>
              <a:t>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Symbol"/>
                <a:cs typeface="Symbol"/>
              </a:rPr>
              <a:t>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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3278" y="2891917"/>
            <a:ext cx="114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Symbol"/>
                <a:cs typeface="Symbol"/>
              </a:rPr>
              <a:t>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1079" y="3035371"/>
            <a:ext cx="2597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8655" algn="l"/>
                <a:tab pos="1503045" algn="l"/>
                <a:tab pos="1835150" algn="l"/>
                <a:tab pos="2494280" algn="l"/>
              </a:tabLst>
            </a:pPr>
            <a:r>
              <a:rPr sz="1800" spc="-50" dirty="0">
                <a:latin typeface="Symbol"/>
                <a:cs typeface="Symbol"/>
              </a:rPr>
              <a:t>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Symbol"/>
                <a:cs typeface="Symbol"/>
              </a:rPr>
              <a:t>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Symbol"/>
                <a:cs typeface="Symbol"/>
              </a:rPr>
              <a:t>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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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828" y="2890479"/>
            <a:ext cx="913864" cy="23201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26458" y="2891790"/>
            <a:ext cx="1828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integers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Symbol"/>
                <a:cs typeface="Symbol"/>
              </a:rPr>
              <a:t></a:t>
            </a:r>
            <a:r>
              <a:rPr sz="1800" spc="-2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367998"/>
            <a:ext cx="6728714" cy="1646302"/>
          </a:xfrm>
        </p:spPr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5.3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BDBE-7D51-3504-989B-BD0B11582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B60E58-C1AA-86E9-011E-6CDF9525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6172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latin typeface="Times New Roman"/>
                <a:cs typeface="Times New Roman"/>
              </a:rPr>
              <a:t>What is a Recursive Definition?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CB8FFA6-ACC6-A29A-13BB-393AEDC402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1000" y="228600"/>
            <a:ext cx="7162800" cy="6867008"/>
          </a:xfrm>
          <a:prstGeom prst="rect">
            <a:avLst/>
          </a:prstGeom>
        </p:spPr>
        <p:txBody>
          <a:bodyPr vert="horz" wrap="square" lIns="0" tIns="1029716" rIns="0" bIns="0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 </a:t>
            </a:r>
            <a:r>
              <a:rPr lang="en-US" sz="2400" b="1" dirty="0">
                <a:solidFill>
                  <a:srgbClr val="002060"/>
                </a:solidFill>
              </a:rPr>
              <a:t>recursive definition</a:t>
            </a:r>
            <a:r>
              <a:rPr lang="en-US" sz="2400" dirty="0">
                <a:solidFill>
                  <a:srgbClr val="002060"/>
                </a:solidFill>
              </a:rPr>
              <a:t> defines something in terms of </a:t>
            </a:r>
            <a:r>
              <a:rPr lang="en-US" sz="2400" i="1" dirty="0">
                <a:solidFill>
                  <a:srgbClr val="002060"/>
                </a:solidFill>
              </a:rPr>
              <a:t>smaller versions of itself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It always has </a:t>
            </a:r>
            <a:r>
              <a:rPr lang="en-US" sz="2400" b="1" dirty="0">
                <a:solidFill>
                  <a:srgbClr val="002060"/>
                </a:solidFill>
              </a:rPr>
              <a:t>two parts</a:t>
            </a:r>
            <a:r>
              <a:rPr lang="en-US" sz="2400" dirty="0">
                <a:solidFill>
                  <a:srgbClr val="002060"/>
                </a:solidFill>
              </a:rPr>
              <a:t>:</a:t>
            </a:r>
          </a:p>
          <a:p>
            <a:r>
              <a:rPr lang="en-US" sz="2400" b="1" dirty="0">
                <a:solidFill>
                  <a:srgbClr val="CC3399"/>
                </a:solidFill>
              </a:rPr>
              <a:t>Basis Step (Base Case)</a:t>
            </a:r>
          </a:p>
          <a:p>
            <a:r>
              <a:rPr lang="en-US" sz="2400" dirty="0">
                <a:solidFill>
                  <a:srgbClr val="7030A0"/>
                </a:solidFill>
              </a:rPr>
              <a:t>This tells you where to start (the simplest value).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Example: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rgbClr val="7030A0"/>
                </a:solidFill>
              </a:rPr>
              <a:t>f(0) = 3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CC3399"/>
                </a:solidFill>
              </a:rPr>
              <a:t>Recursive Step</a:t>
            </a:r>
          </a:p>
          <a:p>
            <a:r>
              <a:rPr lang="en-US" sz="2400" dirty="0">
                <a:solidFill>
                  <a:srgbClr val="7030A0"/>
                </a:solidFill>
              </a:rPr>
              <a:t>This tells you how to build new values from earlier ones.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Example: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rgbClr val="7030A0"/>
                </a:solidFill>
              </a:rPr>
              <a:t>f(n + 1) = 2f(n) + 3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5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6347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93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45" dirty="0"/>
              <a:t> 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143000"/>
            <a:ext cx="8011160" cy="3608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Let</a:t>
            </a:r>
            <a:r>
              <a:rPr sz="24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{a</a:t>
            </a:r>
            <a:r>
              <a:rPr sz="2400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}</a:t>
            </a:r>
            <a:r>
              <a:rPr sz="24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be</a:t>
            </a:r>
            <a:r>
              <a:rPr sz="2400" spc="-6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2400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sequence</a:t>
            </a:r>
            <a:r>
              <a:rPr sz="24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that</a:t>
            </a:r>
            <a:r>
              <a:rPr sz="24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satisfies</a:t>
            </a:r>
            <a:r>
              <a:rPr sz="2400" spc="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2400" spc="-6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recurrence</a:t>
            </a:r>
            <a:r>
              <a:rPr sz="24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2060"/>
                </a:solidFill>
                <a:latin typeface="Times New Roman"/>
                <a:cs typeface="Times New Roman"/>
              </a:rPr>
              <a:t>relation</a:t>
            </a:r>
            <a:endParaRPr sz="240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25400" marR="17780">
              <a:lnSpc>
                <a:spcPct val="100000"/>
              </a:lnSpc>
              <a:tabLst>
                <a:tab pos="1397000" algn="l"/>
              </a:tabLst>
            </a:pP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n</a:t>
            </a:r>
            <a:r>
              <a:rPr sz="2400" spc="202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n−1</a:t>
            </a:r>
            <a:r>
              <a:rPr sz="2400" spc="37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+</a:t>
            </a:r>
            <a:r>
              <a:rPr sz="24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2060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	for n</a:t>
            </a:r>
            <a:r>
              <a:rPr sz="2400" spc="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24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1,</a:t>
            </a:r>
            <a:r>
              <a:rPr sz="24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2,</a:t>
            </a:r>
            <a:r>
              <a:rPr sz="24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3,…,</a:t>
            </a:r>
            <a:r>
              <a:rPr sz="24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suppose</a:t>
            </a:r>
            <a:r>
              <a:rPr sz="24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0</a:t>
            </a:r>
            <a:r>
              <a:rPr sz="2400" spc="225" baseline="-20833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2060"/>
                </a:solidFill>
                <a:latin typeface="Times New Roman"/>
                <a:cs typeface="Times New Roman"/>
              </a:rPr>
              <a:t>2.</a:t>
            </a:r>
            <a:r>
              <a:rPr sz="24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endParaRPr lang="en-US" sz="2400" spc="-45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25400" marR="17780">
              <a:lnSpc>
                <a:spcPct val="100000"/>
              </a:lnSpc>
              <a:tabLst>
                <a:tab pos="13970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37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a</a:t>
            </a:r>
            <a:r>
              <a:rPr sz="2400" spc="-37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10"/>
              </a:spcBef>
            </a:pP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SOLUTION:</a:t>
            </a:r>
            <a:endParaRPr sz="24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10"/>
              </a:spcBef>
            </a:pPr>
            <a:r>
              <a:rPr sz="2400" spc="-60" dirty="0">
                <a:solidFill>
                  <a:srgbClr val="CC3399"/>
                </a:solidFill>
                <a:latin typeface="Times New Roman"/>
                <a:cs typeface="Times New Roman"/>
              </a:rPr>
              <a:t>We</a:t>
            </a:r>
            <a:r>
              <a:rPr sz="2400" spc="-3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see</a:t>
            </a:r>
            <a:r>
              <a:rPr sz="2400" spc="-2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from</a:t>
            </a:r>
            <a:r>
              <a:rPr sz="2400" spc="-5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the</a:t>
            </a:r>
            <a:r>
              <a:rPr sz="2400" spc="-4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recurrence</a:t>
            </a:r>
            <a:r>
              <a:rPr sz="2400" spc="-5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relation</a:t>
            </a:r>
            <a:r>
              <a:rPr sz="2400" spc="-5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CC3399"/>
                </a:solidFill>
                <a:latin typeface="Times New Roman"/>
                <a:cs typeface="Times New Roman"/>
              </a:rPr>
              <a:t>that</a:t>
            </a:r>
            <a:endParaRPr sz="2400" dirty="0">
              <a:solidFill>
                <a:srgbClr val="CC3399"/>
              </a:solidFill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85"/>
              </a:spcBef>
            </a:pP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1</a:t>
            </a:r>
            <a:r>
              <a:rPr sz="2400" spc="225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0</a:t>
            </a:r>
            <a:r>
              <a:rPr sz="2400" spc="225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+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24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2+3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CC3399"/>
                </a:solidFill>
                <a:latin typeface="Times New Roman"/>
                <a:cs typeface="Times New Roman"/>
              </a:rPr>
              <a:t>.</a:t>
            </a:r>
            <a:endParaRPr sz="2400" dirty="0">
              <a:solidFill>
                <a:srgbClr val="CC3399"/>
              </a:solidFill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It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then</a:t>
            </a:r>
            <a:r>
              <a:rPr sz="2400" spc="-3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follows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CC3399"/>
                </a:solidFill>
                <a:latin typeface="Times New Roman"/>
                <a:cs typeface="Times New Roman"/>
              </a:rPr>
              <a:t>that</a:t>
            </a:r>
            <a:endParaRPr sz="2400" dirty="0">
              <a:solidFill>
                <a:srgbClr val="CC3399"/>
              </a:solidFill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10"/>
              </a:spcBef>
              <a:tabLst>
                <a:tab pos="2312035" algn="l"/>
              </a:tabLst>
            </a:pP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2400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2</a:t>
            </a:r>
            <a:r>
              <a:rPr sz="2400" spc="225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5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+</a:t>
            </a:r>
            <a:r>
              <a:rPr sz="24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24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8</a:t>
            </a:r>
            <a:r>
              <a:rPr sz="2400" spc="35" dirty="0">
                <a:solidFill>
                  <a:srgbClr val="CC3399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CC3399"/>
                </a:solidFill>
                <a:latin typeface="Times New Roman"/>
                <a:cs typeface="Times New Roman"/>
              </a:rPr>
              <a:t>and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	a</a:t>
            </a:r>
            <a:r>
              <a:rPr sz="2400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2400" spc="225" baseline="-20833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8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+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CC3399"/>
                </a:solidFill>
                <a:latin typeface="Times New Roman"/>
                <a:cs typeface="Times New Roman"/>
              </a:rPr>
              <a:t>11.</a:t>
            </a:r>
            <a:endParaRPr sz="2400" dirty="0">
              <a:solidFill>
                <a:srgbClr val="CC3399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453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35" dirty="0"/>
              <a:t> </a:t>
            </a:r>
            <a:r>
              <a:rPr spc="-50" dirty="0"/>
              <a:t>6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AB1288D-0531-DB4B-2F42-A77234D74DD5}"/>
              </a:ext>
            </a:extLst>
          </p:cNvPr>
          <p:cNvSpPr txBox="1"/>
          <p:nvPr/>
        </p:nvSpPr>
        <p:spPr>
          <a:xfrm>
            <a:off x="572387" y="1600200"/>
            <a:ext cx="8495413" cy="2463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Let</a:t>
            </a:r>
            <a:r>
              <a:rPr sz="18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{a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n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}</a:t>
            </a:r>
            <a:r>
              <a:rPr sz="18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be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sequence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that</a:t>
            </a:r>
            <a:r>
              <a:rPr sz="18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satisfies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recurrence</a:t>
            </a:r>
            <a:r>
              <a:rPr sz="1800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relation</a:t>
            </a:r>
            <a:endParaRPr sz="180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n</a:t>
            </a:r>
            <a:r>
              <a:rPr sz="8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n−1</a:t>
            </a:r>
            <a:r>
              <a:rPr sz="800" spc="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−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n−2</a:t>
            </a:r>
            <a:r>
              <a:rPr sz="800" spc="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for n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2,</a:t>
            </a:r>
            <a:r>
              <a:rPr sz="18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3,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4,…,</a:t>
            </a:r>
            <a:r>
              <a:rPr sz="1800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suppose</a:t>
            </a:r>
            <a:r>
              <a:rPr sz="1800" spc="-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that 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0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3</a:t>
            </a:r>
            <a:r>
              <a:rPr sz="18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002060"/>
                </a:solidFill>
                <a:latin typeface="Times New Roman"/>
                <a:cs typeface="Times New Roman"/>
              </a:rPr>
              <a:t>1</a:t>
            </a:r>
            <a:r>
              <a:rPr sz="800" spc="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2060"/>
                </a:solidFill>
                <a:latin typeface="Times New Roman"/>
                <a:cs typeface="Times New Roman"/>
              </a:rPr>
              <a:t>5.</a:t>
            </a:r>
            <a:r>
              <a:rPr sz="1800" spc="-6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endParaRPr lang="en-US" sz="1800" spc="-65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lang="en-US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8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800" spc="-2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1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SOLUTION:</a:t>
            </a:r>
            <a:endParaRPr sz="1800" dirty="0">
              <a:latin typeface="Times New Roman"/>
              <a:cs typeface="Times New Roman"/>
            </a:endParaRPr>
          </a:p>
          <a:p>
            <a:pPr marL="70485" marR="2689860" indent="-58419">
              <a:lnSpc>
                <a:spcPct val="145600"/>
              </a:lnSpc>
              <a:spcBef>
                <a:spcPts val="25"/>
              </a:spcBef>
            </a:pPr>
            <a:r>
              <a:rPr sz="1800" spc="-55" dirty="0">
                <a:solidFill>
                  <a:srgbClr val="CC3399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see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from</a:t>
            </a:r>
            <a:r>
              <a:rPr sz="1800" spc="-3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recurrence</a:t>
            </a:r>
            <a:r>
              <a:rPr sz="1800" spc="-4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relation</a:t>
            </a:r>
            <a:r>
              <a:rPr sz="1800" spc="-4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that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2</a:t>
            </a:r>
            <a:r>
              <a:rPr sz="8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1</a:t>
            </a:r>
            <a:r>
              <a:rPr sz="8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−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0</a:t>
            </a:r>
            <a:r>
              <a:rPr sz="800" spc="2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5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−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CC3399"/>
                </a:solidFill>
                <a:latin typeface="Times New Roman"/>
                <a:cs typeface="Times New Roman"/>
              </a:rPr>
              <a:t>2</a:t>
            </a:r>
            <a:endParaRPr sz="1800" dirty="0">
              <a:solidFill>
                <a:srgbClr val="CC3399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and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3</a:t>
            </a:r>
            <a:r>
              <a:rPr sz="8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2</a:t>
            </a:r>
            <a:r>
              <a:rPr sz="800" spc="3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−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1</a:t>
            </a:r>
            <a:r>
              <a:rPr sz="8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2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−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5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CC3399"/>
                </a:solidFill>
                <a:latin typeface="Times New Roman"/>
                <a:cs typeface="Times New Roman"/>
              </a:rPr>
              <a:t>−3.</a:t>
            </a:r>
            <a:endParaRPr sz="1800" dirty="0">
              <a:solidFill>
                <a:srgbClr val="CC3399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55" dirty="0">
                <a:solidFill>
                  <a:srgbClr val="CC3399"/>
                </a:solidFill>
                <a:latin typeface="Times New Roman"/>
                <a:cs typeface="Times New Roman"/>
              </a:rPr>
              <a:t>We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can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find</a:t>
            </a:r>
            <a:r>
              <a:rPr sz="1800" spc="-3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4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800" dirty="0">
                <a:solidFill>
                  <a:srgbClr val="CC3399"/>
                </a:solidFill>
                <a:latin typeface="Times New Roman"/>
                <a:cs typeface="Times New Roman"/>
              </a:rPr>
              <a:t>5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,</a:t>
            </a:r>
            <a:r>
              <a:rPr sz="1800" spc="-4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each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successive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term</a:t>
            </a:r>
            <a:r>
              <a:rPr sz="1800" spc="-4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a</a:t>
            </a:r>
            <a:r>
              <a:rPr sz="1800" spc="-40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99"/>
                </a:solidFill>
                <a:latin typeface="Times New Roman"/>
                <a:cs typeface="Times New Roman"/>
              </a:rPr>
              <a:t>similar</a:t>
            </a:r>
            <a:r>
              <a:rPr sz="1800" spc="-5" dirty="0">
                <a:solidFill>
                  <a:srgbClr val="CC339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CC3399"/>
                </a:solidFill>
                <a:latin typeface="Times New Roman"/>
                <a:cs typeface="Times New Roman"/>
              </a:rPr>
              <a:t>way.</a:t>
            </a:r>
            <a:endParaRPr sz="1800" dirty="0">
              <a:solidFill>
                <a:srgbClr val="CC3399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6347713" cy="1320800"/>
          </a:xfrm>
        </p:spPr>
        <p:txBody>
          <a:bodyPr>
            <a:normAutofit/>
          </a:bodyPr>
          <a:lstStyle/>
          <a:p>
            <a:r>
              <a:rPr lang="en-US" dirty="0"/>
              <a:t>Recursively 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239000" cy="38807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   Example</a:t>
            </a:r>
            <a:r>
              <a:rPr lang="en-US" sz="2000" dirty="0">
                <a:solidFill>
                  <a:srgbClr val="002060"/>
                </a:solidFill>
              </a:rPr>
              <a:t>:  Suppose </a:t>
            </a:r>
            <a:r>
              <a:rPr lang="en-US" sz="2000" i="1" dirty="0">
                <a:solidFill>
                  <a:srgbClr val="002060"/>
                </a:solidFill>
              </a:rPr>
              <a:t>f </a:t>
            </a:r>
            <a:r>
              <a:rPr lang="en-US" sz="2000" dirty="0">
                <a:solidFill>
                  <a:srgbClr val="002060"/>
                </a:solidFill>
              </a:rPr>
              <a:t>is defined by:</a:t>
            </a:r>
          </a:p>
          <a:p>
            <a:pPr>
              <a:buNone/>
            </a:pPr>
            <a:r>
              <a:rPr lang="en-US" sz="2000" i="1" dirty="0">
                <a:solidFill>
                  <a:srgbClr val="002060"/>
                </a:solidFill>
              </a:rPr>
              <a:t>         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i="1" dirty="0">
                <a:solidFill>
                  <a:srgbClr val="002060"/>
                </a:solidFill>
              </a:rPr>
              <a:t> =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3,</a:t>
            </a:r>
          </a:p>
          <a:p>
            <a:pPr>
              <a:buNone/>
            </a:pPr>
            <a:r>
              <a:rPr lang="en-US" sz="2000" i="1" dirty="0">
                <a:solidFill>
                  <a:srgbClr val="002060"/>
                </a:solidFill>
              </a:rPr>
              <a:t>         f(n +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i="1" dirty="0">
                <a:solidFill>
                  <a:srgbClr val="002060"/>
                </a:solidFill>
              </a:rPr>
              <a:t> =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i="1" dirty="0">
                <a:solidFill>
                  <a:srgbClr val="002060"/>
                </a:solidFill>
              </a:rPr>
              <a:t>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i="1" dirty="0">
                <a:solidFill>
                  <a:srgbClr val="002060"/>
                </a:solidFill>
              </a:rPr>
              <a:t>n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i="1" dirty="0">
                <a:solidFill>
                  <a:srgbClr val="002060"/>
                </a:solidFill>
              </a:rPr>
              <a:t> +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3</a:t>
            </a:r>
          </a:p>
          <a:p>
            <a:pPr>
              <a:buNone/>
            </a:pPr>
            <a:r>
              <a:rPr lang="en-US" sz="2000" dirty="0"/>
              <a:t>    </a:t>
            </a:r>
            <a:r>
              <a:rPr lang="en-US" sz="2000" dirty="0">
                <a:solidFill>
                  <a:srgbClr val="FF0000"/>
                </a:solidFill>
              </a:rPr>
              <a:t>Find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sz="2000" dirty="0"/>
              <a:t>    </a:t>
            </a:r>
            <a:r>
              <a:rPr lang="en-US" sz="2000" b="1" dirty="0">
                <a:solidFill>
                  <a:srgbClr val="7030A0"/>
                </a:solidFill>
              </a:rPr>
              <a:t>Solution:</a:t>
            </a:r>
          </a:p>
          <a:p>
            <a:pPr lvl="2"/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/>
              <a:t>) 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/>
              <a:t>)</a:t>
            </a:r>
            <a:r>
              <a:rPr lang="en-US" sz="2000" i="1" dirty="0"/>
              <a:t> +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 = 2</a:t>
            </a:r>
            <a:r>
              <a:rPr lang="en-US" sz="2000" dirty="0">
                <a:latin typeface="Cambria Math"/>
                <a:ea typeface="Cambria Math"/>
              </a:rPr>
              <a:t>∙3 + 3 = 9</a:t>
            </a:r>
          </a:p>
          <a:p>
            <a:pPr lvl="2"/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/>
              <a:t>) 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ea typeface="Cambria Math" pitchFamily="18" charset="0"/>
              </a:rPr>
              <a:t>)</a:t>
            </a:r>
            <a:r>
              <a:rPr lang="en-US" sz="2000" i="1" dirty="0"/>
              <a:t>+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 = 2</a:t>
            </a:r>
            <a:r>
              <a:rPr lang="en-US" sz="2000" dirty="0">
                <a:latin typeface="Cambria Math"/>
                <a:ea typeface="Cambria Math"/>
              </a:rPr>
              <a:t>∙9 + 3 = 21</a:t>
            </a:r>
          </a:p>
          <a:p>
            <a:pPr lvl="2"/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) 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/>
              <a:t>)</a:t>
            </a:r>
            <a:r>
              <a:rPr lang="en-US" sz="2000" i="1" dirty="0"/>
              <a:t> +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 = 2</a:t>
            </a:r>
            <a:r>
              <a:rPr lang="en-US" sz="2000" dirty="0">
                <a:latin typeface="Cambria Math"/>
                <a:ea typeface="Cambria Math"/>
              </a:rPr>
              <a:t>∙21 + 3 = 45</a:t>
            </a:r>
          </a:p>
          <a:p>
            <a:pPr lvl="2"/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/>
              <a:t>) 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)</a:t>
            </a:r>
            <a:r>
              <a:rPr lang="en-US" sz="2000" i="1" dirty="0"/>
              <a:t> +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 = 2</a:t>
            </a:r>
            <a:r>
              <a:rPr lang="en-US" sz="2000" dirty="0">
                <a:latin typeface="Cambria Math"/>
                <a:ea typeface="Cambria Math"/>
              </a:rPr>
              <a:t>∙45 + 3 = 93</a:t>
            </a:r>
          </a:p>
          <a:p>
            <a:pPr lvl="2">
              <a:buNone/>
            </a:pP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000" b="1" dirty="0"/>
              <a:t>   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65723-F170-AE51-9BB2-9FF850C5B911}"/>
              </a:ext>
            </a:extLst>
          </p:cNvPr>
          <p:cNvSpPr txBox="1"/>
          <p:nvPr/>
        </p:nvSpPr>
        <p:spPr>
          <a:xfrm>
            <a:off x="457200" y="5095508"/>
            <a:ext cx="563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C3399"/>
                </a:solidFill>
              </a:rPr>
              <a:t>Key Idea:</a:t>
            </a:r>
          </a:p>
          <a:p>
            <a:pPr>
              <a:buNone/>
            </a:pPr>
            <a:r>
              <a:rPr lang="en-US" dirty="0">
                <a:solidFill>
                  <a:srgbClr val="CC3399"/>
                </a:solidFill>
              </a:rPr>
              <a:t>You </a:t>
            </a:r>
            <a:r>
              <a:rPr lang="en-US" i="1" dirty="0">
                <a:solidFill>
                  <a:srgbClr val="CC3399"/>
                </a:solidFill>
              </a:rPr>
              <a:t>must</a:t>
            </a:r>
            <a:r>
              <a:rPr lang="en-US" dirty="0">
                <a:solidFill>
                  <a:srgbClr val="CC3399"/>
                </a:solidFill>
              </a:rPr>
              <a:t> go in order. </a:t>
            </a:r>
          </a:p>
          <a:p>
            <a:pPr>
              <a:buNone/>
            </a:pPr>
            <a:r>
              <a:rPr lang="en-US" dirty="0">
                <a:solidFill>
                  <a:srgbClr val="CC3399"/>
                </a:solidFill>
              </a:rPr>
              <a:t>You can’t jump to f(4) without knowing f(3).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D692-936C-FD70-A91F-4E7A326F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46FE-E85D-DB15-4AB5-FF0C9B83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6347713" cy="1320800"/>
          </a:xfrm>
        </p:spPr>
        <p:txBody>
          <a:bodyPr>
            <a:normAutofit/>
          </a:bodyPr>
          <a:lstStyle/>
          <a:p>
            <a:r>
              <a:rPr lang="en-US" dirty="0"/>
              <a:t>Recursively 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C23B-E875-8472-501B-F0EC1E7C3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7239000" cy="38807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Example:  </a:t>
            </a:r>
            <a:r>
              <a:rPr lang="en-US" sz="2000" dirty="0">
                <a:solidFill>
                  <a:srgbClr val="002060"/>
                </a:solidFill>
              </a:rPr>
              <a:t>Give a recursive definition of the factorial function </a:t>
            </a:r>
            <a:r>
              <a:rPr lang="en-US" sz="2000" i="1" dirty="0">
                <a:solidFill>
                  <a:srgbClr val="002060"/>
                </a:solidFill>
              </a:rPr>
              <a:t>n</a:t>
            </a:r>
            <a:r>
              <a:rPr lang="en-US" sz="2000" dirty="0">
                <a:solidFill>
                  <a:srgbClr val="002060"/>
                </a:solidFill>
              </a:rPr>
              <a:t>!</a:t>
            </a:r>
          </a:p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Suppose f is defined by:</a:t>
            </a:r>
          </a:p>
          <a:p>
            <a:pPr lvl="1">
              <a:buNone/>
            </a:pPr>
            <a:r>
              <a:rPr lang="en-US" sz="2000" i="1" dirty="0">
                <a:solidFill>
                  <a:srgbClr val="002060"/>
                </a:solidFill>
              </a:rPr>
              <a:t>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i="1" dirty="0">
                <a:solidFill>
                  <a:srgbClr val="002060"/>
                </a:solidFill>
              </a:rPr>
              <a:t> =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971550" lvl="1" indent="-514350">
              <a:buNone/>
            </a:pPr>
            <a:r>
              <a:rPr lang="en-US" sz="2000" i="1" dirty="0">
                <a:solidFill>
                  <a:srgbClr val="002060"/>
                </a:solidFill>
              </a:rPr>
              <a:t>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i="1" dirty="0">
                <a:solidFill>
                  <a:srgbClr val="002060"/>
                </a:solidFill>
              </a:rPr>
              <a:t>n +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i="1" dirty="0">
                <a:solidFill>
                  <a:srgbClr val="002060"/>
                </a:solidFill>
              </a:rPr>
              <a:t> = 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i="1" dirty="0">
                <a:solidFill>
                  <a:srgbClr val="002060"/>
                </a:solidFill>
              </a:rPr>
              <a:t>n + </a:t>
            </a:r>
            <a:r>
              <a:rPr lang="en-US" sz="2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  <a:r>
              <a:rPr lang="en-US" sz="2000" dirty="0">
                <a:solidFill>
                  <a:srgbClr val="002060"/>
                </a:solidFill>
                <a:latin typeface="Cambria Math"/>
                <a:ea typeface="Cambria Math"/>
              </a:rPr>
              <a:t>∙</a:t>
            </a:r>
            <a:r>
              <a:rPr lang="en-US" sz="2000" i="1" dirty="0">
                <a:solidFill>
                  <a:srgbClr val="002060"/>
                </a:solidFill>
              </a:rPr>
              <a:t> f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i="1" dirty="0">
                <a:solidFill>
                  <a:srgbClr val="002060"/>
                </a:solidFill>
              </a:rPr>
              <a:t>n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pPr marL="971550" lvl="1" indent="-514350">
              <a:buNone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Find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),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  <a:p>
            <a:pPr marL="971550" lvl="1" indent="-514350">
              <a:buNone/>
            </a:pPr>
            <a:endParaRPr lang="en-US" sz="2000" dirty="0">
              <a:solidFill>
                <a:srgbClr val="002060"/>
              </a:solidFill>
            </a:endParaRPr>
          </a:p>
          <a:p>
            <a:pPr lvl="2">
              <a:buNone/>
            </a:pPr>
            <a:endParaRPr lang="en-US" sz="2000" dirty="0">
              <a:latin typeface="Cambria Math"/>
              <a:ea typeface="Cambria Math"/>
            </a:endParaRPr>
          </a:p>
          <a:p>
            <a:pPr lvl="2"/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59B6D-8726-967D-C2EE-4883D7B61C4F}"/>
              </a:ext>
            </a:extLst>
          </p:cNvPr>
          <p:cNvSpPr txBox="1"/>
          <p:nvPr/>
        </p:nvSpPr>
        <p:spPr>
          <a:xfrm>
            <a:off x="4419600" y="2828835"/>
            <a:ext cx="4585716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002060"/>
                </a:solidFill>
              </a:rPr>
              <a:t>Factorial means:</a:t>
            </a:r>
          </a:p>
          <a:p>
            <a:pPr algn="ctr">
              <a:buNone/>
            </a:pPr>
            <a:r>
              <a:rPr lang="en-US" b="1" dirty="0">
                <a:solidFill>
                  <a:srgbClr val="002060"/>
                </a:solidFill>
              </a:rPr>
              <a:t>n! = n × (n−1) × (n−2) × ... × 1</a:t>
            </a:r>
          </a:p>
          <a:p>
            <a:pPr algn="ctr">
              <a:buNone/>
            </a:pPr>
            <a:r>
              <a:rPr lang="en-US" b="1" dirty="0">
                <a:solidFill>
                  <a:srgbClr val="CC3399"/>
                </a:solidFill>
              </a:rPr>
              <a:t>Recursive definition just breaks that into steps.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5DDD9-DCE1-2989-4D27-0978A8FF32A5}"/>
              </a:ext>
            </a:extLst>
          </p:cNvPr>
          <p:cNvSpPr txBox="1"/>
          <p:nvPr/>
        </p:nvSpPr>
        <p:spPr>
          <a:xfrm>
            <a:off x="609600" y="3825677"/>
            <a:ext cx="4585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buNone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Solution:</a:t>
            </a:r>
            <a:endParaRPr lang="en-US" sz="2400" dirty="0">
              <a:solidFill>
                <a:srgbClr val="FF0000"/>
              </a:solidFill>
            </a:endParaRPr>
          </a:p>
          <a:p>
            <a:pPr lvl="2"/>
            <a:r>
              <a:rPr lang="en-US" sz="2400" dirty="0"/>
              <a:t>f(0) = 1 </a:t>
            </a:r>
          </a:p>
          <a:p>
            <a:pPr lvl="2"/>
            <a:r>
              <a:rPr lang="en-US" sz="2400" dirty="0"/>
              <a:t>f(1) = 1 × f(0) = 1 </a:t>
            </a:r>
          </a:p>
          <a:p>
            <a:pPr lvl="2"/>
            <a:r>
              <a:rPr lang="en-US" sz="2400" dirty="0"/>
              <a:t>f(2) = 2 × f(1) = 2 </a:t>
            </a:r>
          </a:p>
          <a:p>
            <a:pPr lvl="2"/>
            <a:r>
              <a:rPr lang="en-US" sz="2400" dirty="0"/>
              <a:t>f(3) = 3 × f(2) = 6 </a:t>
            </a:r>
          </a:p>
          <a:p>
            <a:pPr lvl="2"/>
            <a:r>
              <a:rPr lang="en-US" sz="2400" dirty="0"/>
              <a:t>f(4) = 4 × f(3) = 24 </a:t>
            </a:r>
          </a:p>
        </p:txBody>
      </p:sp>
    </p:spTree>
    <p:extLst>
      <p:ext uri="{BB962C8B-B14F-4D97-AF65-F5344CB8AC3E}">
        <p14:creationId xmlns:p14="http://schemas.microsoft.com/office/powerpoint/2010/main" val="273208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B807-FF26-3E88-3F76-07714B1C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79CE-F1DE-6632-E598-F23E750F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6347713" cy="1320800"/>
          </a:xfrm>
        </p:spPr>
        <p:txBody>
          <a:bodyPr>
            <a:normAutofit/>
          </a:bodyPr>
          <a:lstStyle/>
          <a:p>
            <a:r>
              <a:rPr lang="en-US" dirty="0"/>
              <a:t>Recursively 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77421-0CB6-F300-82EA-DF226686F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7239000" cy="38807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   Example</a:t>
            </a:r>
            <a:r>
              <a:rPr lang="en-US" sz="2400" dirty="0">
                <a:solidFill>
                  <a:srgbClr val="002060"/>
                </a:solidFill>
              </a:rPr>
              <a:t>:  The Fibonacci numbers are defined as follows:</a:t>
            </a:r>
          </a:p>
          <a:p>
            <a:pPr marL="971550" lvl="1" indent="-514350">
              <a:buNone/>
            </a:pPr>
            <a:r>
              <a:rPr lang="en-US" sz="2400" i="1" dirty="0">
                <a:solidFill>
                  <a:srgbClr val="002060"/>
                </a:solidFill>
              </a:rPr>
              <a:t>f</a:t>
            </a:r>
            <a:r>
              <a:rPr lang="en-US" sz="2400" baseline="-25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sz="2400" i="1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0</a:t>
            </a:r>
          </a:p>
          <a:p>
            <a:pPr marL="971550" lvl="1" indent="-514350">
              <a:buNone/>
            </a:pPr>
            <a:r>
              <a:rPr lang="en-US" sz="2400" i="1" dirty="0">
                <a:solidFill>
                  <a:srgbClr val="002060"/>
                </a:solidFill>
              </a:rPr>
              <a:t>f</a:t>
            </a:r>
            <a:r>
              <a:rPr lang="en-US" sz="2400" baseline="-25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i="1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971550" lvl="1" indent="-514350">
              <a:buNone/>
            </a:pPr>
            <a:r>
              <a:rPr lang="en-US" sz="2400" i="1" dirty="0" err="1">
                <a:solidFill>
                  <a:srgbClr val="002060"/>
                </a:solidFill>
              </a:rPr>
              <a:t>f</a:t>
            </a:r>
            <a:r>
              <a:rPr lang="en-US" sz="2400" i="1" baseline="-25000" dirty="0" err="1">
                <a:solidFill>
                  <a:srgbClr val="002060"/>
                </a:solidFill>
                <a:ea typeface="Cambria Math" pitchFamily="18" charset="0"/>
              </a:rPr>
              <a:t>n</a:t>
            </a:r>
            <a:r>
              <a:rPr lang="en-US" sz="2400" i="1" dirty="0">
                <a:solidFill>
                  <a:srgbClr val="002060"/>
                </a:solidFill>
              </a:rPr>
              <a:t> = f</a:t>
            </a:r>
            <a:r>
              <a:rPr lang="en-US" sz="2400" i="1" baseline="-25000" dirty="0">
                <a:solidFill>
                  <a:srgbClr val="002060"/>
                </a:solidFill>
              </a:rPr>
              <a:t>n</a:t>
            </a:r>
            <a:r>
              <a:rPr lang="en-US" sz="2400" i="1" baseline="-25000" dirty="0">
                <a:solidFill>
                  <a:srgbClr val="002060"/>
                </a:solidFill>
                <a:latin typeface="Cambria Math"/>
                <a:ea typeface="Cambria Math"/>
              </a:rPr>
              <a:t>−</a:t>
            </a:r>
            <a:r>
              <a:rPr lang="en-US" sz="2400" baseline="-25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i="1" dirty="0">
                <a:solidFill>
                  <a:srgbClr val="002060"/>
                </a:solidFill>
              </a:rPr>
              <a:t>  + f</a:t>
            </a:r>
            <a:r>
              <a:rPr lang="en-US" sz="2400" i="1" baseline="-25000" dirty="0">
                <a:solidFill>
                  <a:srgbClr val="002060"/>
                </a:solidFill>
              </a:rPr>
              <a:t>n</a:t>
            </a:r>
            <a:r>
              <a:rPr lang="en-US" sz="2400" i="1" baseline="-25000" dirty="0">
                <a:solidFill>
                  <a:srgbClr val="002060"/>
                </a:solidFill>
                <a:latin typeface="Cambria Math"/>
                <a:ea typeface="Cambria Math"/>
              </a:rPr>
              <a:t>−</a:t>
            </a:r>
            <a:r>
              <a:rPr lang="en-US" sz="2400" baseline="-25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</a:t>
            </a:r>
            <a:endParaRPr lang="en-US" sz="2400" baseline="-25000" dirty="0">
              <a:solidFill>
                <a:srgbClr val="002060"/>
              </a:solidFill>
            </a:endParaRPr>
          </a:p>
          <a:p>
            <a:pPr marL="571500" indent="-514350">
              <a:buNone/>
            </a:pPr>
            <a:r>
              <a:rPr lang="en-US" sz="2400" dirty="0">
                <a:solidFill>
                  <a:srgbClr val="FF0000"/>
                </a:solidFill>
              </a:rPr>
              <a:t>    Find</a:t>
            </a:r>
            <a:r>
              <a:rPr lang="en-US" sz="2400" i="1" dirty="0">
                <a:solidFill>
                  <a:srgbClr val="FF0000"/>
                </a:solidFill>
              </a:rPr>
              <a:t> f</a:t>
            </a:r>
            <a:r>
              <a:rPr lang="en-US" sz="2400" baseline="-25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FF0000"/>
                </a:solidFill>
              </a:rPr>
              <a:t>, f</a:t>
            </a:r>
            <a:r>
              <a:rPr lang="en-US" sz="2400" baseline="-25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i="1" dirty="0">
                <a:solidFill>
                  <a:srgbClr val="FF0000"/>
                </a:solidFill>
              </a:rPr>
              <a:t>, f</a:t>
            </a:r>
            <a:r>
              <a:rPr lang="en-US" sz="2400" baseline="-25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i="1" dirty="0">
                <a:solidFill>
                  <a:srgbClr val="FF0000"/>
                </a:solidFill>
              </a:rPr>
              <a:t>, f</a:t>
            </a:r>
            <a:r>
              <a:rPr lang="en-US" sz="2400" baseline="-25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en-US" sz="2400" dirty="0"/>
              <a:t>    </a:t>
            </a:r>
            <a:endParaRPr lang="en-US" sz="24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b="1" dirty="0"/>
              <a:t>   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AF57B-8F93-C84F-E507-9557841574C8}"/>
              </a:ext>
            </a:extLst>
          </p:cNvPr>
          <p:cNvSpPr txBox="1"/>
          <p:nvPr/>
        </p:nvSpPr>
        <p:spPr>
          <a:xfrm>
            <a:off x="1109598" y="4114800"/>
            <a:ext cx="45857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</a:rPr>
              <a:t>Solution:</a:t>
            </a:r>
          </a:p>
          <a:p>
            <a:pPr marL="1211580" lvl="2" indent="-514350"/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 </a:t>
            </a:r>
            <a:r>
              <a:rPr lang="en-US" sz="2800" i="1" dirty="0"/>
              <a:t>=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i="1" dirty="0"/>
              <a:t>  +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/>
              <a:t> +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1211580" lvl="2" indent="-514350"/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 </a:t>
            </a:r>
            <a:r>
              <a:rPr lang="en-US" sz="2800" i="1" dirty="0"/>
              <a:t>=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i="1" dirty="0"/>
              <a:t>  +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/>
              <a:t> +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marL="1211580" lvl="2" indent="-514350"/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800" dirty="0"/>
              <a:t> </a:t>
            </a:r>
            <a:r>
              <a:rPr lang="en-US" sz="2800" i="1" dirty="0"/>
              <a:t>=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i="1" dirty="0"/>
              <a:t>  +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dirty="0"/>
              <a:t> +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</a:t>
            </a:r>
          </a:p>
          <a:p>
            <a:pPr marL="1211580" lvl="2" indent="-514350"/>
            <a:r>
              <a:rPr lang="en-US" sz="2800" i="1" dirty="0"/>
              <a:t>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800" dirty="0"/>
              <a:t> </a:t>
            </a:r>
            <a:r>
              <a:rPr lang="en-US" sz="2800" i="1" dirty="0"/>
              <a:t>=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i="1" dirty="0"/>
              <a:t>  + f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800" dirty="0"/>
              <a:t> +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909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DD2F-A9DF-76D7-6B0E-DB17180B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1D7F23B-7900-F5D3-32AC-9C5C2727F5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-761"/>
            <a:ext cx="6914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31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EXERCISE</a:t>
            </a:r>
            <a:r>
              <a:rPr spc="-150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E068DFA-E772-8EB8-B85A-961F7A2927BE}"/>
              </a:ext>
            </a:extLst>
          </p:cNvPr>
          <p:cNvSpPr txBox="1"/>
          <p:nvPr/>
        </p:nvSpPr>
        <p:spPr>
          <a:xfrm>
            <a:off x="142239" y="735169"/>
            <a:ext cx="7386320" cy="471805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5770" indent="-344170">
              <a:lnSpc>
                <a:spcPct val="100000"/>
              </a:lnSpc>
              <a:spcBef>
                <a:spcPts val="1105"/>
              </a:spcBef>
              <a:buClr>
                <a:srgbClr val="90C225"/>
              </a:buClr>
              <a:buSzPct val="80555"/>
              <a:buAutoNum type="arabicPeriod"/>
              <a:tabLst>
                <a:tab pos="445770" algn="l"/>
              </a:tabLst>
            </a:pPr>
            <a:r>
              <a:rPr sz="1800" b="1" dirty="0">
                <a:latin typeface="Times New Roman"/>
                <a:cs typeface="Times New Roman"/>
              </a:rPr>
              <a:t>Find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first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four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terms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following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recursively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defined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sequence.</a:t>
            </a:r>
            <a:endParaRPr sz="1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05"/>
              </a:spcBef>
              <a:tabLst>
                <a:tab pos="1016000" algn="l"/>
                <a:tab pos="284543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19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b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spc="19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k-1</a:t>
            </a:r>
            <a:r>
              <a:rPr sz="1800" spc="202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 ·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k,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for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integers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k </a:t>
            </a:r>
            <a:r>
              <a:rPr sz="1800" dirty="0">
                <a:solidFill>
                  <a:srgbClr val="404040"/>
                </a:solidFill>
                <a:latin typeface="Symbol"/>
                <a:cs typeface="Symbol"/>
              </a:rPr>
              <a:t>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445770" indent="-344170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SzPct val="80555"/>
              <a:buAutoNum type="arabicPeriod" startAt="2"/>
              <a:tabLst>
                <a:tab pos="44577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Find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five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terms</a:t>
            </a:r>
            <a:r>
              <a:rPr sz="1800" b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recursively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defined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sequence.</a:t>
            </a:r>
            <a:endParaRPr sz="1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05"/>
              </a:spcBef>
              <a:tabLst>
                <a:tab pos="1016000" algn="l"/>
                <a:tab pos="1684020" algn="l"/>
                <a:tab pos="375983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1800" spc="232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4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8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1,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t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spc="232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,</a:t>
            </a:r>
            <a:r>
              <a:rPr sz="1800" spc="4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spc="19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 t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k-1</a:t>
            </a:r>
            <a:r>
              <a:rPr sz="1800" spc="19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·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18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k-</a:t>
            </a:r>
            <a:r>
              <a:rPr sz="1800" spc="-37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for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integers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Symbol"/>
                <a:cs typeface="Symbol"/>
              </a:rPr>
              <a:t>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tabLst>
                <a:tab pos="461009" algn="l"/>
              </a:tabLst>
            </a:pPr>
            <a:r>
              <a:rPr sz="1400" b="1" dirty="0">
                <a:solidFill>
                  <a:srgbClr val="90C225"/>
                </a:solidFill>
                <a:latin typeface="Trebuchet MS"/>
                <a:cs typeface="Trebuchet MS"/>
              </a:rPr>
              <a:t>3</a:t>
            </a:r>
            <a:r>
              <a:rPr sz="1400" b="1" spc="-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90C225"/>
                </a:solidFill>
                <a:latin typeface="Trebuchet MS"/>
                <a:cs typeface="Trebuchet MS"/>
              </a:rPr>
              <a:t>.</a:t>
            </a:r>
            <a:r>
              <a:rPr sz="1400" b="1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Find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(1),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(2),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(3),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(4)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(n)</a:t>
            </a:r>
            <a:r>
              <a:rPr sz="1800" b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defined</a:t>
            </a:r>
            <a:r>
              <a:rPr sz="1800" b="1" spc="4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recursively</a:t>
            </a:r>
            <a:r>
              <a:rPr sz="1800" b="1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b="1" spc="4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(0)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0,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1,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2,…</a:t>
            </a:r>
            <a:endParaRPr sz="1800">
              <a:latin typeface="Times New Roman"/>
              <a:cs typeface="Times New Roman"/>
            </a:endParaRPr>
          </a:p>
          <a:p>
            <a:pPr marL="347980" indent="-246379">
              <a:lnSpc>
                <a:spcPct val="100000"/>
              </a:lnSpc>
              <a:spcBef>
                <a:spcPts val="1010"/>
              </a:spcBef>
              <a:buFont typeface="Times New Roman"/>
              <a:buAutoNum type="alphaLcParenR"/>
              <a:tabLst>
                <a:tab pos="34798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1)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(n)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2.</a:t>
            </a:r>
            <a:endParaRPr sz="1800">
              <a:latin typeface="Times New Roman"/>
              <a:cs typeface="Times New Roman"/>
            </a:endParaRPr>
          </a:p>
          <a:p>
            <a:pPr marL="360045" indent="-258445">
              <a:lnSpc>
                <a:spcPct val="100000"/>
              </a:lnSpc>
              <a:spcBef>
                <a:spcPts val="1010"/>
              </a:spcBef>
              <a:buFont typeface="Times New Roman"/>
              <a:buAutoNum type="alphaLcParenR"/>
              <a:tabLst>
                <a:tab pos="3600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 (n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1)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3f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(n).</a:t>
            </a:r>
            <a:endParaRPr sz="1800">
              <a:latin typeface="Times New Roman"/>
              <a:cs typeface="Times New Roman"/>
            </a:endParaRPr>
          </a:p>
          <a:p>
            <a:pPr marL="335280" indent="-233679">
              <a:lnSpc>
                <a:spcPct val="100000"/>
              </a:lnSpc>
              <a:spcBef>
                <a:spcPts val="985"/>
              </a:spcBef>
              <a:buFont typeface="Times New Roman"/>
              <a:buAutoNum type="alphaLcParenR"/>
              <a:tabLst>
                <a:tab pos="33528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 (n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1)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2f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(n).</a:t>
            </a:r>
            <a:endParaRPr sz="1800">
              <a:latin typeface="Times New Roman"/>
              <a:cs typeface="Times New Roman"/>
            </a:endParaRPr>
          </a:p>
          <a:p>
            <a:pPr marL="360045" indent="-258445">
              <a:lnSpc>
                <a:spcPct val="100000"/>
              </a:lnSpc>
              <a:spcBef>
                <a:spcPts val="1010"/>
              </a:spcBef>
              <a:buFont typeface="Times New Roman"/>
              <a:buAutoNum type="alphaLcParenR"/>
              <a:tabLst>
                <a:tab pos="3600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 (n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1) =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(n)2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(n)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61128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</TotalTime>
  <Words>2326</Words>
  <Application>Microsoft Office PowerPoint</Application>
  <PresentationFormat>On-screen Show (4:3)</PresentationFormat>
  <Paragraphs>270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Cambria</vt:lpstr>
      <vt:lpstr>Cambria Math</vt:lpstr>
      <vt:lpstr>Lucida Sans Unicode</vt:lpstr>
      <vt:lpstr>Symbol</vt:lpstr>
      <vt:lpstr>Times New Roman</vt:lpstr>
      <vt:lpstr>Trebuchet MS</vt:lpstr>
      <vt:lpstr>Trebuchet MS (Body)</vt:lpstr>
      <vt:lpstr>Wingdings 3</vt:lpstr>
      <vt:lpstr>Facet</vt:lpstr>
      <vt:lpstr>Induction and recursion</vt:lpstr>
      <vt:lpstr>What is Induction?</vt:lpstr>
      <vt:lpstr>How this relates to induction ?</vt:lpstr>
      <vt:lpstr>Why Induction ?</vt:lpstr>
      <vt:lpstr>MATHEMATICAL INDUCTION</vt:lpstr>
      <vt:lpstr>Principal of Mathematical Induction</vt:lpstr>
      <vt:lpstr>CLIMBING AN INFINITE LADDER.</vt:lpstr>
      <vt:lpstr>Proof by INDUCTION</vt:lpstr>
      <vt:lpstr>EXAMPLE 1</vt:lpstr>
      <vt:lpstr>PowerPoint Presentation</vt:lpstr>
      <vt:lpstr>EXAMPLE 2</vt:lpstr>
      <vt:lpstr>PowerPoint Presentation</vt:lpstr>
      <vt:lpstr>EXAMPLE 3</vt:lpstr>
      <vt:lpstr>EXAMPLE 3</vt:lpstr>
      <vt:lpstr>EXERCISE A</vt:lpstr>
      <vt:lpstr>EXERCISE B</vt:lpstr>
      <vt:lpstr>Recursion</vt:lpstr>
      <vt:lpstr>What is a Recursive Definition?</vt:lpstr>
      <vt:lpstr>EXAMPLE </vt:lpstr>
      <vt:lpstr>EXAMPLE 6</vt:lpstr>
      <vt:lpstr>Recursively Defined Functions</vt:lpstr>
      <vt:lpstr>Recursively Defined Functions</vt:lpstr>
      <vt:lpstr>Recursively Defined Functions</vt:lpstr>
      <vt:lpstr>EXERCISE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Dua Agha</dc:creator>
  <cp:lastModifiedBy>Syeda Faiza Aslam</cp:lastModifiedBy>
  <cp:revision>5</cp:revision>
  <cp:lastPrinted>2026-05-07T11:03:24Z</cp:lastPrinted>
  <dcterms:created xsi:type="dcterms:W3CDTF">2026-04-20T04:17:04Z</dcterms:created>
  <dcterms:modified xsi:type="dcterms:W3CDTF">2026-05-07T11:03:36Z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2026-04-20T00:00:00Z</vt:filetime>
  </property>
  <property fmtid="{D5CDD505-2E9C-101B-9397-08002B2CF9AE}" pid="3" name="LastSaved">
    <vt:filetime>2026-04-20T00:00:00Z</vt:filetime>
  </property>
  <property fmtid="{D5CDD505-2E9C-101B-9397-08002B2CF9AE}" pid="4" name="Producer">
    <vt:lpwstr>iLovePDF</vt:lpwstr>
  </property>
</Properties>
</file>