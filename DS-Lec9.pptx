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4"/>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305" r:id="rId15"/>
    <p:sldId id="270" r:id="rId16"/>
    <p:sldId id="271" r:id="rId17"/>
    <p:sldId id="303" r:id="rId18"/>
    <p:sldId id="272" r:id="rId19"/>
    <p:sldId id="273" r:id="rId20"/>
    <p:sldId id="304" r:id="rId21"/>
    <p:sldId id="275" r:id="rId22"/>
    <p:sldId id="276" r:id="rId23"/>
    <p:sldId id="277" r:id="rId24"/>
    <p:sldId id="278" r:id="rId25"/>
    <p:sldId id="306" r:id="rId26"/>
    <p:sldId id="279" r:id="rId27"/>
    <p:sldId id="307" r:id="rId28"/>
    <p:sldId id="308" r:id="rId29"/>
    <p:sldId id="280" r:id="rId30"/>
    <p:sldId id="309" r:id="rId31"/>
    <p:sldId id="281" r:id="rId32"/>
    <p:sldId id="286" r:id="rId33"/>
    <p:sldId id="287" r:id="rId34"/>
    <p:sldId id="313" r:id="rId35"/>
    <p:sldId id="288" r:id="rId36"/>
    <p:sldId id="310" r:id="rId37"/>
    <p:sldId id="311" r:id="rId38"/>
    <p:sldId id="312" r:id="rId39"/>
    <p:sldId id="314" r:id="rId40"/>
    <p:sldId id="316" r:id="rId41"/>
    <p:sldId id="317" r:id="rId42"/>
    <p:sldId id="318" r:id="rId43"/>
    <p:sldId id="319" r:id="rId44"/>
    <p:sldId id="289" r:id="rId45"/>
    <p:sldId id="370" r:id="rId46"/>
    <p:sldId id="291" r:id="rId47"/>
    <p:sldId id="292" r:id="rId48"/>
    <p:sldId id="294" r:id="rId49"/>
    <p:sldId id="295" r:id="rId50"/>
    <p:sldId id="299" r:id="rId51"/>
    <p:sldId id="300" r:id="rId52"/>
    <p:sldId id="372" r:id="rId53"/>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66"/>
    <a:srgbClr val="D600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0353" autoAdjust="0"/>
  </p:normalViewPr>
  <p:slideViewPr>
    <p:cSldViewPr>
      <p:cViewPr varScale="1">
        <p:scale>
          <a:sx n="65" d="100"/>
          <a:sy n="65" d="100"/>
        </p:scale>
        <p:origin x="1536" y="6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651E9B8B-033A-48F6-AAF4-AF02260CA4D1}" type="datetimeFigureOut">
              <a:rPr lang="en-US" smtClean="0"/>
              <a:t>2/18/2026</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CD763FEE-9E0D-4194-AC06-376AC85BF477}" type="slidenum">
              <a:rPr lang="en-US" smtClean="0"/>
              <a:t>‹#›</a:t>
            </a:fld>
            <a:endParaRPr lang="en-US"/>
          </a:p>
        </p:txBody>
      </p:sp>
    </p:spTree>
    <p:extLst>
      <p:ext uri="{BB962C8B-B14F-4D97-AF65-F5344CB8AC3E}">
        <p14:creationId xmlns:p14="http://schemas.microsoft.com/office/powerpoint/2010/main" val="17713596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763FEE-9E0D-4194-AC06-376AC85BF477}" type="slidenum">
              <a:rPr lang="en-US" smtClean="0"/>
              <a:t>3</a:t>
            </a:fld>
            <a:endParaRPr lang="en-US"/>
          </a:p>
        </p:txBody>
      </p:sp>
    </p:spTree>
    <p:extLst>
      <p:ext uri="{BB962C8B-B14F-4D97-AF65-F5344CB8AC3E}">
        <p14:creationId xmlns:p14="http://schemas.microsoft.com/office/powerpoint/2010/main" val="264733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 order does not matter</a:t>
            </a:r>
            <a:br>
              <a:rPr lang="en-US" dirty="0"/>
            </a:br>
            <a:r>
              <a:rPr lang="en-US" dirty="0"/>
              <a:t>Ordered pair → order matters</a:t>
            </a:r>
            <a:br>
              <a:rPr lang="en-US" dirty="0"/>
            </a:br>
            <a:r>
              <a:rPr lang="en-US" dirty="0"/>
              <a:t>Cartesian product → all possible ordered pairs from two sets</a:t>
            </a:r>
          </a:p>
        </p:txBody>
      </p:sp>
      <p:sp>
        <p:nvSpPr>
          <p:cNvPr id="4" name="Slide Number Placeholder 3"/>
          <p:cNvSpPr>
            <a:spLocks noGrp="1"/>
          </p:cNvSpPr>
          <p:nvPr>
            <p:ph type="sldNum" sz="quarter" idx="5"/>
          </p:nvPr>
        </p:nvSpPr>
        <p:spPr/>
        <p:txBody>
          <a:bodyPr/>
          <a:lstStyle/>
          <a:p>
            <a:fld id="{CD763FEE-9E0D-4194-AC06-376AC85BF477}" type="slidenum">
              <a:rPr lang="en-US" smtClean="0"/>
              <a:t>6</a:t>
            </a:fld>
            <a:endParaRPr lang="en-US"/>
          </a:p>
        </p:txBody>
      </p:sp>
    </p:spTree>
    <p:extLst>
      <p:ext uri="{BB962C8B-B14F-4D97-AF65-F5344CB8AC3E}">
        <p14:creationId xmlns:p14="http://schemas.microsoft.com/office/powerpoint/2010/main" val="20708360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t>
            </a:r>
            <a:r>
              <a:rPr lang="en-US" b="1" dirty="0"/>
              <a:t>Binary Relation from A to B</a:t>
            </a:r>
            <a:r>
              <a:rPr lang="en-US" dirty="0"/>
              <a:t> is:  </a:t>
            </a:r>
            <a:r>
              <a:rPr lang="en-US" b="1" dirty="0"/>
              <a:t>Any subset of A × B</a:t>
            </a:r>
            <a:endParaRPr lang="en-US" dirty="0"/>
          </a:p>
          <a:p>
            <a:r>
              <a:rPr lang="en-US" dirty="0"/>
              <a:t>That means:</a:t>
            </a:r>
          </a:p>
          <a:p>
            <a:r>
              <a:rPr lang="en-US" dirty="0"/>
              <a:t>First find A × B</a:t>
            </a:r>
            <a:br>
              <a:rPr lang="en-US" dirty="0"/>
            </a:br>
            <a:r>
              <a:rPr lang="en-US" dirty="0"/>
              <a:t>Then choose ANY pairs from it</a:t>
            </a:r>
            <a:br>
              <a:rPr lang="en-US" dirty="0"/>
            </a:br>
            <a:r>
              <a:rPr lang="en-US" dirty="0"/>
              <a:t>That chosen set is a relation</a:t>
            </a:r>
          </a:p>
          <a:p>
            <a:endParaRPr lang="en-US" dirty="0"/>
          </a:p>
        </p:txBody>
      </p:sp>
      <p:sp>
        <p:nvSpPr>
          <p:cNvPr id="4" name="Slide Number Placeholder 3"/>
          <p:cNvSpPr>
            <a:spLocks noGrp="1"/>
          </p:cNvSpPr>
          <p:nvPr>
            <p:ph type="sldNum" sz="quarter" idx="5"/>
          </p:nvPr>
        </p:nvSpPr>
        <p:spPr/>
        <p:txBody>
          <a:bodyPr/>
          <a:lstStyle/>
          <a:p>
            <a:fld id="{CD763FEE-9E0D-4194-AC06-376AC85BF477}" type="slidenum">
              <a:rPr lang="en-US" smtClean="0"/>
              <a:t>9</a:t>
            </a:fld>
            <a:endParaRPr lang="en-US"/>
          </a:p>
        </p:txBody>
      </p:sp>
    </p:spTree>
    <p:extLst>
      <p:ext uri="{BB962C8B-B14F-4D97-AF65-F5344CB8AC3E}">
        <p14:creationId xmlns:p14="http://schemas.microsoft.com/office/powerpoint/2010/main" val="8708830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A6B134D-0EB3-42CB-9322-AA369738187D}" type="slidenum">
              <a:rPr lang="en-US" smtClean="0"/>
              <a:pPr/>
              <a:t>45</a:t>
            </a:fld>
            <a:endParaRPr lang="en-US"/>
          </a:p>
        </p:txBody>
      </p:sp>
    </p:spTree>
    <p:extLst>
      <p:ext uri="{BB962C8B-B14F-4D97-AF65-F5344CB8AC3E}">
        <p14:creationId xmlns:p14="http://schemas.microsoft.com/office/powerpoint/2010/main" val="17169586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558795" y="38608"/>
            <a:ext cx="2450465" cy="585723"/>
          </a:xfrm>
          <a:prstGeom prst="rect">
            <a:avLst/>
          </a:prstGeom>
        </p:spPr>
        <p:txBody>
          <a:bodyPr wrap="square" lIns="0" tIns="0" rIns="0" bIns="0">
            <a:spAutoFit/>
          </a:bodyPr>
          <a:lstStyle>
            <a:lvl1pPr>
              <a:defRPr sz="3600" b="1" i="0">
                <a:solidFill>
                  <a:srgbClr val="90C225"/>
                </a:solidFill>
                <a:latin typeface="Trebuchet MS"/>
                <a:cs typeface="Trebuchet MS"/>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1800" b="0" i="0">
                <a:solidFill>
                  <a:srgbClr val="404040"/>
                </a:solidFill>
                <a:latin typeface="Trebuchet MS"/>
                <a:cs typeface="Trebuchet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90C225"/>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sz="1800" b="0" i="0">
                <a:solidFill>
                  <a:srgbClr val="404040"/>
                </a:solidFill>
                <a:latin typeface="Trebuchet MS"/>
                <a:cs typeface="Trebuchet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90C225"/>
                </a:solidFill>
                <a:latin typeface="Trebuchet MS"/>
                <a:cs typeface="Trebuchet MS"/>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2/18/2026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90C225"/>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2/18/2026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2/18/2026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 y="4065757"/>
            <a:ext cx="447675" cy="2792730"/>
          </a:xfrm>
          <a:custGeom>
            <a:avLst/>
            <a:gdLst/>
            <a:ahLst/>
            <a:cxnLst/>
            <a:rect l="l" t="t" r="r" b="b"/>
            <a:pathLst>
              <a:path w="447675" h="2792729">
                <a:moveTo>
                  <a:pt x="1" y="0"/>
                </a:moveTo>
                <a:lnTo>
                  <a:pt x="0" y="2792313"/>
                </a:lnTo>
                <a:lnTo>
                  <a:pt x="447487" y="2792313"/>
                </a:lnTo>
                <a:lnTo>
                  <a:pt x="1" y="0"/>
                </a:lnTo>
                <a:close/>
              </a:path>
            </a:pathLst>
          </a:custGeom>
          <a:solidFill>
            <a:srgbClr val="90C225">
              <a:alpha val="85096"/>
            </a:srgbClr>
          </a:solidFill>
        </p:spPr>
        <p:txBody>
          <a:bodyPr wrap="square" lIns="0" tIns="0" rIns="0" bIns="0" rtlCol="0"/>
          <a:lstStyle/>
          <a:p>
            <a:endParaRPr/>
          </a:p>
        </p:txBody>
      </p:sp>
      <p:sp>
        <p:nvSpPr>
          <p:cNvPr id="17" name="bg object 17"/>
          <p:cNvSpPr/>
          <p:nvPr/>
        </p:nvSpPr>
        <p:spPr>
          <a:xfrm>
            <a:off x="5131731" y="4182408"/>
            <a:ext cx="4012565" cy="2675890"/>
          </a:xfrm>
          <a:custGeom>
            <a:avLst/>
            <a:gdLst/>
            <a:ahLst/>
            <a:cxnLst/>
            <a:rect l="l" t="t" r="r" b="b"/>
            <a:pathLst>
              <a:path w="4012565" h="2675890">
                <a:moveTo>
                  <a:pt x="0" y="2675591"/>
                </a:moveTo>
                <a:lnTo>
                  <a:pt x="4012268" y="0"/>
                </a:lnTo>
              </a:path>
            </a:pathLst>
          </a:custGeom>
          <a:ln w="9906">
            <a:solidFill>
              <a:srgbClr val="D9D9D9"/>
            </a:solidFill>
          </a:ln>
        </p:spPr>
        <p:txBody>
          <a:bodyPr wrap="square" lIns="0" tIns="0" rIns="0" bIns="0" rtlCol="0"/>
          <a:lstStyle/>
          <a:p>
            <a:endParaRPr/>
          </a:p>
        </p:txBody>
      </p:sp>
      <p:sp>
        <p:nvSpPr>
          <p:cNvPr id="18" name="bg object 18"/>
          <p:cNvSpPr/>
          <p:nvPr/>
        </p:nvSpPr>
        <p:spPr>
          <a:xfrm>
            <a:off x="7042785" y="380"/>
            <a:ext cx="1219200" cy="6858000"/>
          </a:xfrm>
          <a:custGeom>
            <a:avLst/>
            <a:gdLst/>
            <a:ahLst/>
            <a:cxnLst/>
            <a:rect l="l" t="t" r="r" b="b"/>
            <a:pathLst>
              <a:path w="1219200" h="6858000">
                <a:moveTo>
                  <a:pt x="0" y="0"/>
                </a:moveTo>
                <a:lnTo>
                  <a:pt x="1219200" y="6857999"/>
                </a:lnTo>
              </a:path>
            </a:pathLst>
          </a:custGeom>
          <a:ln w="9906">
            <a:solidFill>
              <a:srgbClr val="BEBEBE"/>
            </a:solidFill>
          </a:ln>
        </p:spPr>
        <p:txBody>
          <a:bodyPr wrap="square" lIns="0" tIns="0" rIns="0" bIns="0" rtlCol="0"/>
          <a:lstStyle/>
          <a:p>
            <a:endParaRPr/>
          </a:p>
        </p:txBody>
      </p:sp>
      <p:sp>
        <p:nvSpPr>
          <p:cNvPr id="19" name="bg object 19"/>
          <p:cNvSpPr/>
          <p:nvPr/>
        </p:nvSpPr>
        <p:spPr>
          <a:xfrm>
            <a:off x="6891528" y="0"/>
            <a:ext cx="2252980" cy="6858000"/>
          </a:xfrm>
          <a:custGeom>
            <a:avLst/>
            <a:gdLst/>
            <a:ahLst/>
            <a:cxnLst/>
            <a:rect l="l" t="t" r="r" b="b"/>
            <a:pathLst>
              <a:path w="2252979" h="6858000">
                <a:moveTo>
                  <a:pt x="2023999" y="0"/>
                </a:moveTo>
                <a:lnTo>
                  <a:pt x="0" y="6858000"/>
                </a:lnTo>
                <a:lnTo>
                  <a:pt x="2252472" y="6858000"/>
                </a:lnTo>
                <a:lnTo>
                  <a:pt x="2252472" y="8199"/>
                </a:lnTo>
                <a:lnTo>
                  <a:pt x="2023999" y="0"/>
                </a:lnTo>
                <a:close/>
              </a:path>
            </a:pathLst>
          </a:custGeom>
          <a:solidFill>
            <a:srgbClr val="90C225">
              <a:alpha val="30195"/>
            </a:srgbClr>
          </a:solidFill>
        </p:spPr>
        <p:txBody>
          <a:bodyPr wrap="square" lIns="0" tIns="0" rIns="0" bIns="0" rtlCol="0"/>
          <a:lstStyle/>
          <a:p>
            <a:endParaRPr/>
          </a:p>
        </p:txBody>
      </p:sp>
      <p:sp>
        <p:nvSpPr>
          <p:cNvPr id="20" name="bg object 20"/>
          <p:cNvSpPr/>
          <p:nvPr/>
        </p:nvSpPr>
        <p:spPr>
          <a:xfrm>
            <a:off x="7206939" y="0"/>
            <a:ext cx="1937385" cy="6858000"/>
          </a:xfrm>
          <a:custGeom>
            <a:avLst/>
            <a:gdLst/>
            <a:ahLst/>
            <a:cxnLst/>
            <a:rect l="l" t="t" r="r" b="b"/>
            <a:pathLst>
              <a:path w="1937384" h="6858000">
                <a:moveTo>
                  <a:pt x="1937060" y="0"/>
                </a:moveTo>
                <a:lnTo>
                  <a:pt x="0" y="0"/>
                </a:lnTo>
                <a:lnTo>
                  <a:pt x="1200460" y="6858000"/>
                </a:lnTo>
                <a:lnTo>
                  <a:pt x="1937060" y="6858000"/>
                </a:lnTo>
                <a:lnTo>
                  <a:pt x="1937060" y="0"/>
                </a:lnTo>
                <a:close/>
              </a:path>
            </a:pathLst>
          </a:custGeom>
          <a:solidFill>
            <a:srgbClr val="90C225">
              <a:alpha val="19999"/>
            </a:srgbClr>
          </a:solidFill>
        </p:spPr>
        <p:txBody>
          <a:bodyPr wrap="square" lIns="0" tIns="0" rIns="0" bIns="0" rtlCol="0"/>
          <a:lstStyle/>
          <a:p>
            <a:endParaRPr/>
          </a:p>
        </p:txBody>
      </p:sp>
      <p:sp>
        <p:nvSpPr>
          <p:cNvPr id="21" name="bg object 21"/>
          <p:cNvSpPr/>
          <p:nvPr/>
        </p:nvSpPr>
        <p:spPr>
          <a:xfrm>
            <a:off x="6637782" y="3921067"/>
            <a:ext cx="2506345" cy="2937510"/>
          </a:xfrm>
          <a:custGeom>
            <a:avLst/>
            <a:gdLst/>
            <a:ahLst/>
            <a:cxnLst/>
            <a:rect l="l" t="t" r="r" b="b"/>
            <a:pathLst>
              <a:path w="2506345" h="2937509">
                <a:moveTo>
                  <a:pt x="2506218" y="0"/>
                </a:moveTo>
                <a:lnTo>
                  <a:pt x="0" y="2936932"/>
                </a:lnTo>
                <a:lnTo>
                  <a:pt x="2506218" y="2936932"/>
                </a:lnTo>
                <a:lnTo>
                  <a:pt x="2506218" y="0"/>
                </a:lnTo>
                <a:close/>
              </a:path>
            </a:pathLst>
          </a:custGeom>
          <a:solidFill>
            <a:srgbClr val="539F20">
              <a:alpha val="72155"/>
            </a:srgbClr>
          </a:solidFill>
        </p:spPr>
        <p:txBody>
          <a:bodyPr wrap="square" lIns="0" tIns="0" rIns="0" bIns="0" rtlCol="0"/>
          <a:lstStyle/>
          <a:p>
            <a:endParaRPr/>
          </a:p>
        </p:txBody>
      </p:sp>
      <p:sp>
        <p:nvSpPr>
          <p:cNvPr id="22" name="bg object 22"/>
          <p:cNvSpPr/>
          <p:nvPr/>
        </p:nvSpPr>
        <p:spPr>
          <a:xfrm>
            <a:off x="7012666" y="0"/>
            <a:ext cx="2131695" cy="6858000"/>
          </a:xfrm>
          <a:custGeom>
            <a:avLst/>
            <a:gdLst/>
            <a:ahLst/>
            <a:cxnLst/>
            <a:rect l="l" t="t" r="r" b="b"/>
            <a:pathLst>
              <a:path w="2131695" h="6858000">
                <a:moveTo>
                  <a:pt x="2131333" y="0"/>
                </a:moveTo>
                <a:lnTo>
                  <a:pt x="0" y="0"/>
                </a:lnTo>
                <a:lnTo>
                  <a:pt x="1854346" y="6858000"/>
                </a:lnTo>
                <a:lnTo>
                  <a:pt x="2131333" y="6849803"/>
                </a:lnTo>
                <a:lnTo>
                  <a:pt x="2131333" y="0"/>
                </a:lnTo>
                <a:close/>
              </a:path>
            </a:pathLst>
          </a:custGeom>
          <a:solidFill>
            <a:srgbClr val="3E7818">
              <a:alpha val="70195"/>
            </a:srgbClr>
          </a:solidFill>
        </p:spPr>
        <p:txBody>
          <a:bodyPr wrap="square" lIns="0" tIns="0" rIns="0" bIns="0" rtlCol="0"/>
          <a:lstStyle/>
          <a:p>
            <a:endParaRPr/>
          </a:p>
        </p:txBody>
      </p:sp>
      <p:sp>
        <p:nvSpPr>
          <p:cNvPr id="23" name="bg object 23"/>
          <p:cNvSpPr/>
          <p:nvPr/>
        </p:nvSpPr>
        <p:spPr>
          <a:xfrm>
            <a:off x="8295894" y="0"/>
            <a:ext cx="848360" cy="6858000"/>
          </a:xfrm>
          <a:custGeom>
            <a:avLst/>
            <a:gdLst/>
            <a:ahLst/>
            <a:cxnLst/>
            <a:rect l="l" t="t" r="r" b="b"/>
            <a:pathLst>
              <a:path w="848359" h="6858000">
                <a:moveTo>
                  <a:pt x="848105" y="0"/>
                </a:moveTo>
                <a:lnTo>
                  <a:pt x="675956" y="0"/>
                </a:lnTo>
                <a:lnTo>
                  <a:pt x="0" y="6858000"/>
                </a:lnTo>
                <a:lnTo>
                  <a:pt x="848105" y="6858000"/>
                </a:lnTo>
                <a:lnTo>
                  <a:pt x="848105" y="0"/>
                </a:lnTo>
                <a:close/>
              </a:path>
            </a:pathLst>
          </a:custGeom>
          <a:solidFill>
            <a:srgbClr val="C0E374">
              <a:alpha val="70195"/>
            </a:srgbClr>
          </a:solidFill>
        </p:spPr>
        <p:txBody>
          <a:bodyPr wrap="square" lIns="0" tIns="0" rIns="0" bIns="0" rtlCol="0"/>
          <a:lstStyle/>
          <a:p>
            <a:endParaRPr/>
          </a:p>
        </p:txBody>
      </p:sp>
      <p:sp>
        <p:nvSpPr>
          <p:cNvPr id="24" name="bg object 24"/>
          <p:cNvSpPr/>
          <p:nvPr/>
        </p:nvSpPr>
        <p:spPr>
          <a:xfrm>
            <a:off x="8078346" y="0"/>
            <a:ext cx="1066165" cy="6858000"/>
          </a:xfrm>
          <a:custGeom>
            <a:avLst/>
            <a:gdLst/>
            <a:ahLst/>
            <a:cxnLst/>
            <a:rect l="l" t="t" r="r" b="b"/>
            <a:pathLst>
              <a:path w="1066165" h="6858000">
                <a:moveTo>
                  <a:pt x="1051168" y="0"/>
                </a:moveTo>
                <a:lnTo>
                  <a:pt x="0" y="0"/>
                </a:lnTo>
                <a:lnTo>
                  <a:pt x="937511" y="6858000"/>
                </a:lnTo>
                <a:lnTo>
                  <a:pt x="1065400" y="6858000"/>
                </a:lnTo>
                <a:lnTo>
                  <a:pt x="1065654" y="6196203"/>
                </a:lnTo>
                <a:lnTo>
                  <a:pt x="1050984" y="398926"/>
                </a:lnTo>
                <a:lnTo>
                  <a:pt x="1051168" y="0"/>
                </a:lnTo>
                <a:close/>
              </a:path>
            </a:pathLst>
          </a:custGeom>
          <a:solidFill>
            <a:srgbClr val="90C225">
              <a:alpha val="65097"/>
            </a:srgbClr>
          </a:solidFill>
        </p:spPr>
        <p:txBody>
          <a:bodyPr wrap="square" lIns="0" tIns="0" rIns="0" bIns="0" rtlCol="0"/>
          <a:lstStyle/>
          <a:p>
            <a:endParaRPr/>
          </a:p>
        </p:txBody>
      </p:sp>
      <p:sp>
        <p:nvSpPr>
          <p:cNvPr id="25" name="bg object 25"/>
          <p:cNvSpPr/>
          <p:nvPr/>
        </p:nvSpPr>
        <p:spPr>
          <a:xfrm>
            <a:off x="8060436" y="4903642"/>
            <a:ext cx="1083945" cy="1954530"/>
          </a:xfrm>
          <a:custGeom>
            <a:avLst/>
            <a:gdLst/>
            <a:ahLst/>
            <a:cxnLst/>
            <a:rect l="l" t="t" r="r" b="b"/>
            <a:pathLst>
              <a:path w="1083945" h="1954529">
                <a:moveTo>
                  <a:pt x="1083564" y="0"/>
                </a:moveTo>
                <a:lnTo>
                  <a:pt x="0" y="1954357"/>
                </a:lnTo>
                <a:lnTo>
                  <a:pt x="1083564" y="1949317"/>
                </a:lnTo>
                <a:lnTo>
                  <a:pt x="1083564" y="0"/>
                </a:lnTo>
                <a:close/>
              </a:path>
            </a:pathLst>
          </a:custGeom>
          <a:solidFill>
            <a:srgbClr val="90C225">
              <a:alpha val="79998"/>
            </a:srgbClr>
          </a:solidFill>
        </p:spPr>
        <p:txBody>
          <a:bodyPr wrap="square" lIns="0" tIns="0" rIns="0" bIns="0" rtlCol="0"/>
          <a:lstStyle/>
          <a:p>
            <a:endParaRPr/>
          </a:p>
        </p:txBody>
      </p:sp>
      <p:sp>
        <p:nvSpPr>
          <p:cNvPr id="2" name="Holder 2"/>
          <p:cNvSpPr>
            <a:spLocks noGrp="1"/>
          </p:cNvSpPr>
          <p:nvPr>
            <p:ph type="title"/>
          </p:nvPr>
        </p:nvSpPr>
        <p:spPr>
          <a:xfrm>
            <a:off x="278129" y="56642"/>
            <a:ext cx="8587740" cy="574675"/>
          </a:xfrm>
          <a:prstGeom prst="rect">
            <a:avLst/>
          </a:prstGeom>
        </p:spPr>
        <p:txBody>
          <a:bodyPr wrap="square" lIns="0" tIns="0" rIns="0" bIns="0">
            <a:spAutoFit/>
          </a:bodyPr>
          <a:lstStyle>
            <a:lvl1pPr>
              <a:defRPr sz="3600" b="1" i="0">
                <a:solidFill>
                  <a:srgbClr val="90C225"/>
                </a:solidFill>
                <a:latin typeface="Trebuchet MS"/>
                <a:cs typeface="Trebuchet MS"/>
              </a:defRPr>
            </a:lvl1pPr>
          </a:lstStyle>
          <a:p>
            <a:endParaRPr/>
          </a:p>
        </p:txBody>
      </p:sp>
      <p:sp>
        <p:nvSpPr>
          <p:cNvPr id="3" name="Holder 3"/>
          <p:cNvSpPr>
            <a:spLocks noGrp="1"/>
          </p:cNvSpPr>
          <p:nvPr>
            <p:ph type="body" idx="1"/>
          </p:nvPr>
        </p:nvSpPr>
        <p:spPr>
          <a:xfrm>
            <a:off x="256540" y="1301699"/>
            <a:ext cx="6637020" cy="3368040"/>
          </a:xfrm>
          <a:prstGeom prst="rect">
            <a:avLst/>
          </a:prstGeom>
        </p:spPr>
        <p:txBody>
          <a:bodyPr wrap="square" lIns="0" tIns="0" rIns="0" bIns="0">
            <a:spAutoFit/>
          </a:bodyPr>
          <a:lstStyle>
            <a:lvl1pPr>
              <a:defRPr sz="1800" b="0" i="0">
                <a:solidFill>
                  <a:srgbClr val="404040"/>
                </a:solidFill>
                <a:latin typeface="Trebuchet MS"/>
                <a:cs typeface="Trebuchet MS"/>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2/18/2026</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2.png"/><Relationship Id="rId3" Type="http://schemas.openxmlformats.org/officeDocument/2006/relationships/image" Target="../media/image22.png"/><Relationship Id="rId7" Type="http://schemas.openxmlformats.org/officeDocument/2006/relationships/image" Target="../media/image26.png"/><Relationship Id="rId12" Type="http://schemas.openxmlformats.org/officeDocument/2006/relationships/image" Target="../media/image31.png"/><Relationship Id="rId2" Type="http://schemas.openxmlformats.org/officeDocument/2006/relationships/image" Target="../media/image21.png"/><Relationship Id="rId1" Type="http://schemas.openxmlformats.org/officeDocument/2006/relationships/slideLayout" Target="../slideLayouts/slideLayout5.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 Id="rId14" Type="http://schemas.openxmlformats.org/officeDocument/2006/relationships/image" Target="../media/image3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png"/><Relationship Id="rId3" Type="http://schemas.openxmlformats.org/officeDocument/2006/relationships/image" Target="../media/image35.png"/><Relationship Id="rId7" Type="http://schemas.openxmlformats.org/officeDocument/2006/relationships/image" Target="../media/image39.png"/><Relationship Id="rId12" Type="http://schemas.openxmlformats.org/officeDocument/2006/relationships/image" Target="../media/image44.png"/><Relationship Id="rId2" Type="http://schemas.openxmlformats.org/officeDocument/2006/relationships/image" Target="../media/image34.png"/><Relationship Id="rId1" Type="http://schemas.openxmlformats.org/officeDocument/2006/relationships/slideLayout" Target="../slideLayouts/slideLayout5.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37.png"/><Relationship Id="rId15" Type="http://schemas.openxmlformats.org/officeDocument/2006/relationships/image" Target="../media/image47.pn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png"/><Relationship Id="rId14" Type="http://schemas.openxmlformats.org/officeDocument/2006/relationships/image" Target="../media/image4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8" Type="http://schemas.openxmlformats.org/officeDocument/2006/relationships/image" Target="../media/image54.png"/><Relationship Id="rId13" Type="http://schemas.openxmlformats.org/officeDocument/2006/relationships/image" Target="../media/image59.png"/><Relationship Id="rId3" Type="http://schemas.openxmlformats.org/officeDocument/2006/relationships/image" Target="../media/image49.png"/><Relationship Id="rId7" Type="http://schemas.openxmlformats.org/officeDocument/2006/relationships/image" Target="../media/image53.png"/><Relationship Id="rId12" Type="http://schemas.openxmlformats.org/officeDocument/2006/relationships/image" Target="../media/image58.png"/><Relationship Id="rId2" Type="http://schemas.openxmlformats.org/officeDocument/2006/relationships/image" Target="../media/image48.png"/><Relationship Id="rId1" Type="http://schemas.openxmlformats.org/officeDocument/2006/relationships/slideLayout" Target="../slideLayouts/slideLayout5.xml"/><Relationship Id="rId6" Type="http://schemas.openxmlformats.org/officeDocument/2006/relationships/image" Target="../media/image52.png"/><Relationship Id="rId11" Type="http://schemas.openxmlformats.org/officeDocument/2006/relationships/image" Target="../media/image57.png"/><Relationship Id="rId5" Type="http://schemas.openxmlformats.org/officeDocument/2006/relationships/image" Target="../media/image51.png"/><Relationship Id="rId10" Type="http://schemas.openxmlformats.org/officeDocument/2006/relationships/image" Target="../media/image56.png"/><Relationship Id="rId4" Type="http://schemas.openxmlformats.org/officeDocument/2006/relationships/image" Target="../media/image50.png"/><Relationship Id="rId9" Type="http://schemas.openxmlformats.org/officeDocument/2006/relationships/image" Target="../media/image55.png"/></Relationships>
</file>

<file path=ppt/slides/_rels/slide5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126778" y="-4572"/>
            <a:ext cx="4022725" cy="6868159"/>
            <a:chOff x="5126778" y="-4572"/>
            <a:chExt cx="4022725" cy="6868159"/>
          </a:xfrm>
        </p:grpSpPr>
        <p:sp>
          <p:nvSpPr>
            <p:cNvPr id="3" name="object 3"/>
            <p:cNvSpPr/>
            <p:nvPr/>
          </p:nvSpPr>
          <p:spPr>
            <a:xfrm>
              <a:off x="5131731" y="4182408"/>
              <a:ext cx="4012565" cy="2675890"/>
            </a:xfrm>
            <a:custGeom>
              <a:avLst/>
              <a:gdLst/>
              <a:ahLst/>
              <a:cxnLst/>
              <a:rect l="l" t="t" r="r" b="b"/>
              <a:pathLst>
                <a:path w="4012565" h="2675890">
                  <a:moveTo>
                    <a:pt x="0" y="2675591"/>
                  </a:moveTo>
                  <a:lnTo>
                    <a:pt x="4012268" y="0"/>
                  </a:lnTo>
                </a:path>
              </a:pathLst>
            </a:custGeom>
            <a:ln w="9906">
              <a:solidFill>
                <a:srgbClr val="D9D9D9"/>
              </a:solidFill>
            </a:ln>
          </p:spPr>
          <p:txBody>
            <a:bodyPr wrap="square" lIns="0" tIns="0" rIns="0" bIns="0" rtlCol="0"/>
            <a:lstStyle/>
            <a:p>
              <a:endParaRPr/>
            </a:p>
          </p:txBody>
        </p:sp>
        <p:sp>
          <p:nvSpPr>
            <p:cNvPr id="4" name="object 4"/>
            <p:cNvSpPr/>
            <p:nvPr/>
          </p:nvSpPr>
          <p:spPr>
            <a:xfrm>
              <a:off x="7042785" y="380"/>
              <a:ext cx="1219200" cy="6858000"/>
            </a:xfrm>
            <a:custGeom>
              <a:avLst/>
              <a:gdLst/>
              <a:ahLst/>
              <a:cxnLst/>
              <a:rect l="l" t="t" r="r" b="b"/>
              <a:pathLst>
                <a:path w="1219200" h="6858000">
                  <a:moveTo>
                    <a:pt x="0" y="0"/>
                  </a:moveTo>
                  <a:lnTo>
                    <a:pt x="1219200" y="6857999"/>
                  </a:lnTo>
                </a:path>
              </a:pathLst>
            </a:custGeom>
            <a:ln w="9906">
              <a:solidFill>
                <a:srgbClr val="BEBEBE"/>
              </a:solidFill>
            </a:ln>
          </p:spPr>
          <p:txBody>
            <a:bodyPr wrap="square" lIns="0" tIns="0" rIns="0" bIns="0" rtlCol="0"/>
            <a:lstStyle/>
            <a:p>
              <a:endParaRPr/>
            </a:p>
          </p:txBody>
        </p:sp>
        <p:sp>
          <p:nvSpPr>
            <p:cNvPr id="5" name="object 5"/>
            <p:cNvSpPr/>
            <p:nvPr/>
          </p:nvSpPr>
          <p:spPr>
            <a:xfrm>
              <a:off x="6891528" y="0"/>
              <a:ext cx="2252980" cy="6858000"/>
            </a:xfrm>
            <a:custGeom>
              <a:avLst/>
              <a:gdLst/>
              <a:ahLst/>
              <a:cxnLst/>
              <a:rect l="l" t="t" r="r" b="b"/>
              <a:pathLst>
                <a:path w="2252979" h="6858000">
                  <a:moveTo>
                    <a:pt x="2023999" y="0"/>
                  </a:moveTo>
                  <a:lnTo>
                    <a:pt x="0" y="6858000"/>
                  </a:lnTo>
                  <a:lnTo>
                    <a:pt x="2252472" y="6858000"/>
                  </a:lnTo>
                  <a:lnTo>
                    <a:pt x="2252472" y="8199"/>
                  </a:lnTo>
                  <a:lnTo>
                    <a:pt x="2023999" y="0"/>
                  </a:lnTo>
                  <a:close/>
                </a:path>
              </a:pathLst>
            </a:custGeom>
            <a:solidFill>
              <a:srgbClr val="90C225">
                <a:alpha val="30195"/>
              </a:srgbClr>
            </a:solidFill>
          </p:spPr>
          <p:txBody>
            <a:bodyPr wrap="square" lIns="0" tIns="0" rIns="0" bIns="0" rtlCol="0"/>
            <a:lstStyle/>
            <a:p>
              <a:endParaRPr/>
            </a:p>
          </p:txBody>
        </p:sp>
        <p:sp>
          <p:nvSpPr>
            <p:cNvPr id="6" name="object 6"/>
            <p:cNvSpPr/>
            <p:nvPr/>
          </p:nvSpPr>
          <p:spPr>
            <a:xfrm>
              <a:off x="7206939" y="0"/>
              <a:ext cx="1937385" cy="6858000"/>
            </a:xfrm>
            <a:custGeom>
              <a:avLst/>
              <a:gdLst/>
              <a:ahLst/>
              <a:cxnLst/>
              <a:rect l="l" t="t" r="r" b="b"/>
              <a:pathLst>
                <a:path w="1937384" h="6858000">
                  <a:moveTo>
                    <a:pt x="1937060" y="0"/>
                  </a:moveTo>
                  <a:lnTo>
                    <a:pt x="0" y="0"/>
                  </a:lnTo>
                  <a:lnTo>
                    <a:pt x="1200460" y="6858000"/>
                  </a:lnTo>
                  <a:lnTo>
                    <a:pt x="1937060" y="6858000"/>
                  </a:lnTo>
                  <a:lnTo>
                    <a:pt x="1937060" y="0"/>
                  </a:lnTo>
                  <a:close/>
                </a:path>
              </a:pathLst>
            </a:custGeom>
            <a:solidFill>
              <a:srgbClr val="90C225">
                <a:alpha val="19999"/>
              </a:srgbClr>
            </a:solidFill>
          </p:spPr>
          <p:txBody>
            <a:bodyPr wrap="square" lIns="0" tIns="0" rIns="0" bIns="0" rtlCol="0"/>
            <a:lstStyle/>
            <a:p>
              <a:endParaRPr/>
            </a:p>
          </p:txBody>
        </p:sp>
        <p:sp>
          <p:nvSpPr>
            <p:cNvPr id="7" name="object 7"/>
            <p:cNvSpPr/>
            <p:nvPr/>
          </p:nvSpPr>
          <p:spPr>
            <a:xfrm>
              <a:off x="6637782" y="3921067"/>
              <a:ext cx="2506345" cy="2937510"/>
            </a:xfrm>
            <a:custGeom>
              <a:avLst/>
              <a:gdLst/>
              <a:ahLst/>
              <a:cxnLst/>
              <a:rect l="l" t="t" r="r" b="b"/>
              <a:pathLst>
                <a:path w="2506345" h="2937509">
                  <a:moveTo>
                    <a:pt x="2506218" y="0"/>
                  </a:moveTo>
                  <a:lnTo>
                    <a:pt x="0" y="2936932"/>
                  </a:lnTo>
                  <a:lnTo>
                    <a:pt x="2506218" y="2936932"/>
                  </a:lnTo>
                  <a:lnTo>
                    <a:pt x="2506218" y="0"/>
                  </a:lnTo>
                  <a:close/>
                </a:path>
              </a:pathLst>
            </a:custGeom>
            <a:solidFill>
              <a:srgbClr val="539F20">
                <a:alpha val="72155"/>
              </a:srgbClr>
            </a:solidFill>
          </p:spPr>
          <p:txBody>
            <a:bodyPr wrap="square" lIns="0" tIns="0" rIns="0" bIns="0" rtlCol="0"/>
            <a:lstStyle/>
            <a:p>
              <a:endParaRPr/>
            </a:p>
          </p:txBody>
        </p:sp>
        <p:sp>
          <p:nvSpPr>
            <p:cNvPr id="8" name="object 8"/>
            <p:cNvSpPr/>
            <p:nvPr/>
          </p:nvSpPr>
          <p:spPr>
            <a:xfrm>
              <a:off x="7012666" y="0"/>
              <a:ext cx="2131695" cy="6858000"/>
            </a:xfrm>
            <a:custGeom>
              <a:avLst/>
              <a:gdLst/>
              <a:ahLst/>
              <a:cxnLst/>
              <a:rect l="l" t="t" r="r" b="b"/>
              <a:pathLst>
                <a:path w="2131695" h="6858000">
                  <a:moveTo>
                    <a:pt x="2131333" y="0"/>
                  </a:moveTo>
                  <a:lnTo>
                    <a:pt x="0" y="0"/>
                  </a:lnTo>
                  <a:lnTo>
                    <a:pt x="1854346" y="6858000"/>
                  </a:lnTo>
                  <a:lnTo>
                    <a:pt x="2131333" y="6849803"/>
                  </a:lnTo>
                  <a:lnTo>
                    <a:pt x="2131333" y="0"/>
                  </a:lnTo>
                  <a:close/>
                </a:path>
              </a:pathLst>
            </a:custGeom>
            <a:solidFill>
              <a:srgbClr val="3E7818">
                <a:alpha val="70195"/>
              </a:srgbClr>
            </a:solidFill>
          </p:spPr>
          <p:txBody>
            <a:bodyPr wrap="square" lIns="0" tIns="0" rIns="0" bIns="0" rtlCol="0"/>
            <a:lstStyle/>
            <a:p>
              <a:endParaRPr/>
            </a:p>
          </p:txBody>
        </p:sp>
        <p:sp>
          <p:nvSpPr>
            <p:cNvPr id="9" name="object 9"/>
            <p:cNvSpPr/>
            <p:nvPr/>
          </p:nvSpPr>
          <p:spPr>
            <a:xfrm>
              <a:off x="8295894" y="0"/>
              <a:ext cx="848360" cy="6858000"/>
            </a:xfrm>
            <a:custGeom>
              <a:avLst/>
              <a:gdLst/>
              <a:ahLst/>
              <a:cxnLst/>
              <a:rect l="l" t="t" r="r" b="b"/>
              <a:pathLst>
                <a:path w="848359" h="6858000">
                  <a:moveTo>
                    <a:pt x="848105" y="0"/>
                  </a:moveTo>
                  <a:lnTo>
                    <a:pt x="675956" y="0"/>
                  </a:lnTo>
                  <a:lnTo>
                    <a:pt x="0" y="6858000"/>
                  </a:lnTo>
                  <a:lnTo>
                    <a:pt x="848105" y="6858000"/>
                  </a:lnTo>
                  <a:lnTo>
                    <a:pt x="848105" y="0"/>
                  </a:lnTo>
                  <a:close/>
                </a:path>
              </a:pathLst>
            </a:custGeom>
            <a:solidFill>
              <a:srgbClr val="C0E374">
                <a:alpha val="70195"/>
              </a:srgbClr>
            </a:solidFill>
          </p:spPr>
          <p:txBody>
            <a:bodyPr wrap="square" lIns="0" tIns="0" rIns="0" bIns="0" rtlCol="0"/>
            <a:lstStyle/>
            <a:p>
              <a:endParaRPr/>
            </a:p>
          </p:txBody>
        </p:sp>
        <p:sp>
          <p:nvSpPr>
            <p:cNvPr id="10" name="object 10"/>
            <p:cNvSpPr/>
            <p:nvPr/>
          </p:nvSpPr>
          <p:spPr>
            <a:xfrm>
              <a:off x="8078346" y="0"/>
              <a:ext cx="1066165" cy="6858000"/>
            </a:xfrm>
            <a:custGeom>
              <a:avLst/>
              <a:gdLst/>
              <a:ahLst/>
              <a:cxnLst/>
              <a:rect l="l" t="t" r="r" b="b"/>
              <a:pathLst>
                <a:path w="1066165" h="6858000">
                  <a:moveTo>
                    <a:pt x="1051168" y="0"/>
                  </a:moveTo>
                  <a:lnTo>
                    <a:pt x="0" y="0"/>
                  </a:lnTo>
                  <a:lnTo>
                    <a:pt x="937511" y="6858000"/>
                  </a:lnTo>
                  <a:lnTo>
                    <a:pt x="1065400" y="6858000"/>
                  </a:lnTo>
                  <a:lnTo>
                    <a:pt x="1065654" y="6196203"/>
                  </a:lnTo>
                  <a:lnTo>
                    <a:pt x="1050984" y="398926"/>
                  </a:lnTo>
                  <a:lnTo>
                    <a:pt x="1051168" y="0"/>
                  </a:lnTo>
                  <a:close/>
                </a:path>
              </a:pathLst>
            </a:custGeom>
            <a:solidFill>
              <a:srgbClr val="90C225">
                <a:alpha val="65097"/>
              </a:srgbClr>
            </a:solidFill>
          </p:spPr>
          <p:txBody>
            <a:bodyPr wrap="square" lIns="0" tIns="0" rIns="0" bIns="0" rtlCol="0"/>
            <a:lstStyle/>
            <a:p>
              <a:endParaRPr/>
            </a:p>
          </p:txBody>
        </p:sp>
        <p:sp>
          <p:nvSpPr>
            <p:cNvPr id="11" name="object 11"/>
            <p:cNvSpPr/>
            <p:nvPr/>
          </p:nvSpPr>
          <p:spPr>
            <a:xfrm>
              <a:off x="8060436" y="4903642"/>
              <a:ext cx="1083945" cy="1954530"/>
            </a:xfrm>
            <a:custGeom>
              <a:avLst/>
              <a:gdLst/>
              <a:ahLst/>
              <a:cxnLst/>
              <a:rect l="l" t="t" r="r" b="b"/>
              <a:pathLst>
                <a:path w="1083945" h="1954529">
                  <a:moveTo>
                    <a:pt x="1083564" y="0"/>
                  </a:moveTo>
                  <a:lnTo>
                    <a:pt x="0" y="1954357"/>
                  </a:lnTo>
                  <a:lnTo>
                    <a:pt x="1083564" y="1949317"/>
                  </a:lnTo>
                  <a:lnTo>
                    <a:pt x="1083564" y="0"/>
                  </a:lnTo>
                  <a:close/>
                </a:path>
              </a:pathLst>
            </a:custGeom>
            <a:solidFill>
              <a:srgbClr val="90C225">
                <a:alpha val="79998"/>
              </a:srgbClr>
            </a:solidFill>
          </p:spPr>
          <p:txBody>
            <a:bodyPr wrap="square" lIns="0" tIns="0" rIns="0" bIns="0" rtlCol="0"/>
            <a:lstStyle/>
            <a:p>
              <a:endParaRPr/>
            </a:p>
          </p:txBody>
        </p:sp>
      </p:grpSp>
      <p:sp>
        <p:nvSpPr>
          <p:cNvPr id="12" name="object 12"/>
          <p:cNvSpPr/>
          <p:nvPr/>
        </p:nvSpPr>
        <p:spPr>
          <a:xfrm>
            <a:off x="0" y="44"/>
            <a:ext cx="855344" cy="5634990"/>
          </a:xfrm>
          <a:custGeom>
            <a:avLst/>
            <a:gdLst/>
            <a:ahLst/>
            <a:cxnLst/>
            <a:rect l="l" t="t" r="r" b="b"/>
            <a:pathLst>
              <a:path w="855344" h="5634990">
                <a:moveTo>
                  <a:pt x="854963" y="0"/>
                </a:moveTo>
                <a:lnTo>
                  <a:pt x="0" y="0"/>
                </a:lnTo>
                <a:lnTo>
                  <a:pt x="0" y="5634650"/>
                </a:lnTo>
                <a:lnTo>
                  <a:pt x="854963" y="8464"/>
                </a:lnTo>
                <a:lnTo>
                  <a:pt x="854963" y="0"/>
                </a:lnTo>
                <a:close/>
              </a:path>
            </a:pathLst>
          </a:custGeom>
          <a:solidFill>
            <a:srgbClr val="90C225">
              <a:alpha val="85096"/>
            </a:srgbClr>
          </a:solidFill>
        </p:spPr>
        <p:txBody>
          <a:bodyPr wrap="square" lIns="0" tIns="0" rIns="0" bIns="0" rtlCol="0"/>
          <a:lstStyle/>
          <a:p>
            <a:endParaRPr/>
          </a:p>
        </p:txBody>
      </p:sp>
      <p:sp>
        <p:nvSpPr>
          <p:cNvPr id="13" name="object 13"/>
          <p:cNvSpPr txBox="1"/>
          <p:nvPr/>
        </p:nvSpPr>
        <p:spPr>
          <a:xfrm>
            <a:off x="1284224" y="2157730"/>
            <a:ext cx="5875655" cy="1479892"/>
          </a:xfrm>
          <a:prstGeom prst="rect">
            <a:avLst/>
          </a:prstGeom>
        </p:spPr>
        <p:txBody>
          <a:bodyPr vert="horz" wrap="square" lIns="0" tIns="12700" rIns="0" bIns="0" rtlCol="0">
            <a:spAutoFit/>
          </a:bodyPr>
          <a:lstStyle/>
          <a:p>
            <a:pPr algn="ctr">
              <a:lnSpc>
                <a:spcPct val="100000"/>
              </a:lnSpc>
              <a:spcBef>
                <a:spcPts val="100"/>
              </a:spcBef>
              <a:tabLst>
                <a:tab pos="2571115" algn="l"/>
              </a:tabLst>
            </a:pPr>
            <a:r>
              <a:rPr sz="4300" b="1" spc="-10" dirty="0">
                <a:solidFill>
                  <a:srgbClr val="2C3B43"/>
                </a:solidFill>
                <a:latin typeface="Trebuchet MS"/>
                <a:cs typeface="Trebuchet MS"/>
              </a:rPr>
              <a:t>DISCRETE</a:t>
            </a:r>
            <a:r>
              <a:rPr sz="4300" b="1" dirty="0">
                <a:solidFill>
                  <a:srgbClr val="2C3B43"/>
                </a:solidFill>
                <a:latin typeface="Trebuchet MS"/>
                <a:cs typeface="Trebuchet MS"/>
              </a:rPr>
              <a:t>	</a:t>
            </a:r>
            <a:r>
              <a:rPr sz="4300" b="1" spc="-10" dirty="0">
                <a:solidFill>
                  <a:srgbClr val="2C3B43"/>
                </a:solidFill>
                <a:latin typeface="Trebuchet MS"/>
                <a:cs typeface="Trebuchet MS"/>
              </a:rPr>
              <a:t>STRUCTURES</a:t>
            </a:r>
            <a:endParaRPr sz="4300" dirty="0">
              <a:latin typeface="Trebuchet MS"/>
              <a:cs typeface="Trebuchet MS"/>
            </a:endParaRPr>
          </a:p>
          <a:p>
            <a:pPr marL="89535" algn="ctr">
              <a:lnSpc>
                <a:spcPct val="100000"/>
              </a:lnSpc>
              <a:spcBef>
                <a:spcPts val="1025"/>
              </a:spcBef>
            </a:pPr>
            <a:r>
              <a:rPr sz="4400" b="1" spc="-10" dirty="0">
                <a:solidFill>
                  <a:srgbClr val="90C225"/>
                </a:solidFill>
                <a:latin typeface="Trebuchet MS"/>
                <a:cs typeface="Trebuchet MS"/>
              </a:rPr>
              <a:t>RELATIONS</a:t>
            </a:r>
            <a:endParaRPr sz="4400" dirty="0">
              <a:latin typeface="Trebuchet MS"/>
              <a:cs typeface="Trebuchet M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8340" y="628649"/>
            <a:ext cx="5560060" cy="574675"/>
          </a:xfrm>
          <a:prstGeom prst="rect">
            <a:avLst/>
          </a:prstGeom>
        </p:spPr>
        <p:txBody>
          <a:bodyPr vert="horz" wrap="square" lIns="0" tIns="12700" rIns="0" bIns="0" rtlCol="0">
            <a:spAutoFit/>
          </a:bodyPr>
          <a:lstStyle/>
          <a:p>
            <a:pPr marL="12700">
              <a:lnSpc>
                <a:spcPct val="100000"/>
              </a:lnSpc>
              <a:spcBef>
                <a:spcPts val="100"/>
              </a:spcBef>
            </a:pPr>
            <a:r>
              <a:rPr dirty="0"/>
              <a:t>WHY</a:t>
            </a:r>
            <a:r>
              <a:rPr spc="-155" dirty="0"/>
              <a:t> </a:t>
            </a:r>
            <a:r>
              <a:rPr dirty="0"/>
              <a:t>STUDY</a:t>
            </a:r>
            <a:r>
              <a:rPr spc="-160" dirty="0"/>
              <a:t> </a:t>
            </a:r>
            <a:r>
              <a:rPr spc="-25" dirty="0"/>
              <a:t>RELATIONS</a:t>
            </a:r>
            <a:r>
              <a:rPr spc="-114" dirty="0"/>
              <a:t> </a:t>
            </a:r>
            <a:r>
              <a:rPr spc="-50" dirty="0"/>
              <a:t>?</a:t>
            </a:r>
          </a:p>
        </p:txBody>
      </p:sp>
      <p:sp>
        <p:nvSpPr>
          <p:cNvPr id="3" name="object 3"/>
          <p:cNvSpPr txBox="1"/>
          <p:nvPr/>
        </p:nvSpPr>
        <p:spPr>
          <a:xfrm>
            <a:off x="688340" y="1473453"/>
            <a:ext cx="7236460" cy="5011628"/>
          </a:xfrm>
          <a:prstGeom prst="rect">
            <a:avLst/>
          </a:prstGeom>
        </p:spPr>
        <p:txBody>
          <a:bodyPr vert="horz" wrap="square" lIns="0" tIns="12700" rIns="0" bIns="0" rtlCol="0">
            <a:spAutoFit/>
          </a:bodyPr>
          <a:lstStyle/>
          <a:p>
            <a:pPr marL="355600" marR="805180" indent="-342900" algn="just">
              <a:lnSpc>
                <a:spcPct val="100000"/>
              </a:lnSpc>
              <a:spcBef>
                <a:spcPts val="100"/>
              </a:spcBef>
            </a:pPr>
            <a:r>
              <a:rPr lang="en-US" dirty="0">
                <a:latin typeface="Times New Roman" panose="02020603050405020304" pitchFamily="18" charset="0"/>
                <a:cs typeface="Times New Roman" panose="02020603050405020304" pitchFamily="18" charset="0"/>
              </a:rPr>
              <a:t>We study relations because they help us understand and model </a:t>
            </a:r>
            <a:r>
              <a:rPr lang="en-US" b="1" dirty="0">
                <a:latin typeface="Times New Roman" panose="02020603050405020304" pitchFamily="18" charset="0"/>
                <a:cs typeface="Times New Roman" panose="02020603050405020304" pitchFamily="18" charset="0"/>
              </a:rPr>
              <a:t>connections between things</a:t>
            </a:r>
            <a:r>
              <a:rPr lang="en-US" dirty="0">
                <a:latin typeface="Times New Roman" panose="02020603050405020304" pitchFamily="18" charset="0"/>
                <a:cs typeface="Times New Roman" panose="02020603050405020304" pitchFamily="18" charset="0"/>
              </a:rPr>
              <a:t> in mathematics, computer science, and real life.</a:t>
            </a:r>
          </a:p>
          <a:p>
            <a:pPr lvl="2"/>
            <a:r>
              <a:rPr lang="en-US" dirty="0">
                <a:solidFill>
                  <a:srgbClr val="00B050"/>
                </a:solidFill>
                <a:latin typeface="Times New Roman" panose="02020603050405020304" pitchFamily="18" charset="0"/>
                <a:cs typeface="Times New Roman" panose="02020603050405020304" pitchFamily="18" charset="0"/>
              </a:rPr>
              <a:t>▶ </a:t>
            </a:r>
            <a:r>
              <a:rPr lang="en-US" b="1" dirty="0">
                <a:solidFill>
                  <a:srgbClr val="00B050"/>
                </a:solidFill>
                <a:latin typeface="Times New Roman" panose="02020603050405020304" pitchFamily="18" charset="0"/>
                <a:cs typeface="Times New Roman" panose="02020603050405020304" pitchFamily="18" charset="0"/>
              </a:rPr>
              <a:t>In Mathematics: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Relations help us study connections between numbers.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For example: One number </a:t>
            </a:r>
            <a:r>
              <a:rPr lang="en-US" b="1" dirty="0">
                <a:latin typeface="Times New Roman" panose="02020603050405020304" pitchFamily="18" charset="0"/>
                <a:cs typeface="Times New Roman" panose="02020603050405020304" pitchFamily="18" charset="0"/>
              </a:rPr>
              <a:t>divides</a:t>
            </a:r>
            <a:r>
              <a:rPr lang="en-US" dirty="0">
                <a:latin typeface="Times New Roman" panose="02020603050405020304" pitchFamily="18" charset="0"/>
                <a:cs typeface="Times New Roman" panose="02020603050405020304" pitchFamily="18" charset="0"/>
              </a:rPr>
              <a:t> another (like 2 divides 6).</a:t>
            </a:r>
          </a:p>
          <a:p>
            <a:endParaRPr lang="en-US" dirty="0">
              <a:latin typeface="Times New Roman" panose="02020603050405020304" pitchFamily="18" charset="0"/>
              <a:cs typeface="Times New Roman" panose="02020603050405020304" pitchFamily="18" charset="0"/>
            </a:endParaRPr>
          </a:p>
          <a:p>
            <a:r>
              <a:rPr lang="en-US" dirty="0">
                <a:solidFill>
                  <a:srgbClr val="00B050"/>
                </a:solidFill>
                <a:latin typeface="Times New Roman" panose="02020603050405020304" pitchFamily="18" charset="0"/>
                <a:cs typeface="Times New Roman" panose="02020603050405020304" pitchFamily="18" charset="0"/>
              </a:rPr>
              <a:t>▶ </a:t>
            </a:r>
            <a:r>
              <a:rPr lang="en-US" b="1" dirty="0">
                <a:solidFill>
                  <a:srgbClr val="00B050"/>
                </a:solidFill>
                <a:latin typeface="Times New Roman" panose="02020603050405020304" pitchFamily="18" charset="0"/>
                <a:cs typeface="Times New Roman" panose="02020603050405020304" pitchFamily="18" charset="0"/>
              </a:rPr>
              <a:t>In Computers: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Relations describe connections such as: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a:t>
            </a:r>
            <a:r>
              <a:rPr lang="en-US" b="1" dirty="0">
                <a:latin typeface="Times New Roman" panose="02020603050405020304" pitchFamily="18" charset="0"/>
                <a:cs typeface="Times New Roman" panose="02020603050405020304" pitchFamily="18" charset="0"/>
              </a:rPr>
              <a:t>program</a:t>
            </a:r>
            <a:r>
              <a:rPr lang="en-US" dirty="0">
                <a:latin typeface="Times New Roman" panose="02020603050405020304" pitchFamily="18" charset="0"/>
                <a:cs typeface="Times New Roman" panose="02020603050405020304" pitchFamily="18" charset="0"/>
              </a:rPr>
              <a:t> and the </a:t>
            </a:r>
            <a:r>
              <a:rPr lang="en-US" b="1" dirty="0">
                <a:latin typeface="Times New Roman" panose="02020603050405020304" pitchFamily="18" charset="0"/>
                <a:cs typeface="Times New Roman" panose="02020603050405020304" pitchFamily="18" charset="0"/>
              </a:rPr>
              <a:t>variables</a:t>
            </a:r>
            <a:r>
              <a:rPr lang="en-US" dirty="0">
                <a:latin typeface="Times New Roman" panose="02020603050405020304" pitchFamily="18" charset="0"/>
                <a:cs typeface="Times New Roman" panose="02020603050405020304" pitchFamily="18" charset="0"/>
              </a:rPr>
              <a:t> it uses.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a:t>
            </a:r>
            <a:r>
              <a:rPr lang="en-US" b="1" dirty="0">
                <a:latin typeface="Times New Roman" panose="02020603050405020304" pitchFamily="18" charset="0"/>
                <a:cs typeface="Times New Roman" panose="02020603050405020304" pitchFamily="18" charset="0"/>
              </a:rPr>
              <a:t>programming language</a:t>
            </a:r>
            <a:r>
              <a:rPr lang="en-US" dirty="0">
                <a:latin typeface="Times New Roman" panose="02020603050405020304" pitchFamily="18" charset="0"/>
                <a:cs typeface="Times New Roman" panose="02020603050405020304" pitchFamily="18" charset="0"/>
              </a:rPr>
              <a:t> and its </a:t>
            </a:r>
            <a:r>
              <a:rPr lang="en-US" b="1" dirty="0">
                <a:latin typeface="Times New Roman" panose="02020603050405020304" pitchFamily="18" charset="0"/>
                <a:cs typeface="Times New Roman" panose="02020603050405020304" pitchFamily="18" charset="0"/>
              </a:rPr>
              <a:t>valid statements</a:t>
            </a:r>
            <a:r>
              <a:rPr lang="en-US"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a:t>
            </a:r>
            <a:r>
              <a:rPr lang="en-US" b="1" dirty="0">
                <a:latin typeface="Times New Roman" panose="02020603050405020304" pitchFamily="18" charset="0"/>
                <a:cs typeface="Times New Roman" panose="02020603050405020304" pitchFamily="18" charset="0"/>
              </a:rPr>
              <a:t>database</a:t>
            </a:r>
            <a:r>
              <a:rPr lang="en-US" dirty="0">
                <a:latin typeface="Times New Roman" panose="02020603050405020304" pitchFamily="18" charset="0"/>
                <a:cs typeface="Times New Roman" panose="02020603050405020304" pitchFamily="18" charset="0"/>
              </a:rPr>
              <a:t> storing related information.</a:t>
            </a:r>
          </a:p>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r>
              <a:rPr lang="en-US" dirty="0">
                <a:solidFill>
                  <a:srgbClr val="00B050"/>
                </a:solidFill>
                <a:latin typeface="Times New Roman" panose="02020603050405020304" pitchFamily="18" charset="0"/>
                <a:cs typeface="Times New Roman" panose="02020603050405020304" pitchFamily="18" charset="0"/>
              </a:rPr>
              <a:t>▶ </a:t>
            </a:r>
            <a:r>
              <a:rPr lang="en-US" b="1" dirty="0">
                <a:solidFill>
                  <a:srgbClr val="00B050"/>
                </a:solidFill>
                <a:latin typeface="Times New Roman" panose="02020603050405020304" pitchFamily="18" charset="0"/>
                <a:cs typeface="Times New Roman" panose="02020603050405020304" pitchFamily="18" charset="0"/>
              </a:rPr>
              <a:t>In Real-World Problems: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Relations help us solve practical problems, such as: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Finding which </a:t>
            </a:r>
            <a:r>
              <a:rPr lang="en-US" b="1" dirty="0">
                <a:latin typeface="Times New Roman" panose="02020603050405020304" pitchFamily="18" charset="0"/>
                <a:cs typeface="Times New Roman" panose="02020603050405020304" pitchFamily="18" charset="0"/>
              </a:rPr>
              <a:t>cities are connected by flights</a:t>
            </a:r>
            <a:r>
              <a:rPr lang="en-US"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Deciding the correct </a:t>
            </a:r>
            <a:r>
              <a:rPr lang="en-US" b="1" dirty="0">
                <a:latin typeface="Times New Roman" panose="02020603050405020304" pitchFamily="18" charset="0"/>
                <a:cs typeface="Times New Roman" panose="02020603050405020304" pitchFamily="18" charset="0"/>
              </a:rPr>
              <a:t>order of tasks in a project</a:t>
            </a:r>
            <a:r>
              <a:rPr lang="en-US" dirty="0">
                <a:latin typeface="Times New Roman" panose="02020603050405020304" pitchFamily="18" charset="0"/>
                <a:cs typeface="Times New Roman" panose="02020603050405020304" pitchFamily="18" charset="0"/>
              </a:rPr>
              <a:t>.</a:t>
            </a:r>
          </a:p>
          <a:p>
            <a:pPr marL="355600" marR="805180" indent="-342900" algn="just">
              <a:lnSpc>
                <a:spcPct val="100000"/>
              </a:lnSpc>
              <a:spcBef>
                <a:spcPts val="100"/>
              </a:spcBef>
            </a:pP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152400"/>
            <a:ext cx="6324600" cy="1123315"/>
          </a:xfrm>
          <a:prstGeom prst="rect">
            <a:avLst/>
          </a:prstGeom>
        </p:spPr>
        <p:txBody>
          <a:bodyPr vert="horz" wrap="square" lIns="0" tIns="12700" rIns="0" bIns="0" rtlCol="0">
            <a:spAutoFit/>
          </a:bodyPr>
          <a:lstStyle/>
          <a:p>
            <a:pPr marL="12700" marR="5080" indent="929640">
              <a:lnSpc>
                <a:spcPct val="100000"/>
              </a:lnSpc>
              <a:spcBef>
                <a:spcPts val="100"/>
              </a:spcBef>
            </a:pPr>
            <a:r>
              <a:rPr dirty="0"/>
              <a:t>STRUCTURES</a:t>
            </a:r>
            <a:r>
              <a:rPr spc="-75" dirty="0"/>
              <a:t> </a:t>
            </a:r>
            <a:r>
              <a:rPr spc="-25" dirty="0"/>
              <a:t>FOR </a:t>
            </a:r>
            <a:r>
              <a:rPr dirty="0"/>
              <a:t>REPRESENTING</a:t>
            </a:r>
            <a:r>
              <a:rPr spc="-70" dirty="0"/>
              <a:t> </a:t>
            </a:r>
            <a:r>
              <a:rPr spc="-45" dirty="0"/>
              <a:t>RELATIONS</a:t>
            </a:r>
          </a:p>
        </p:txBody>
      </p:sp>
      <p:sp>
        <p:nvSpPr>
          <p:cNvPr id="3" name="object 3"/>
          <p:cNvSpPr txBox="1"/>
          <p:nvPr/>
        </p:nvSpPr>
        <p:spPr>
          <a:xfrm>
            <a:off x="304800" y="1431266"/>
            <a:ext cx="7848600" cy="5245026"/>
          </a:xfrm>
          <a:prstGeom prst="rect">
            <a:avLst/>
          </a:prstGeom>
        </p:spPr>
        <p:txBody>
          <a:bodyPr vert="horz" wrap="square" lIns="0" tIns="12700" rIns="0" bIns="0" rtlCol="0">
            <a:spAutoFit/>
          </a:bodyPr>
          <a:lstStyle/>
          <a:p>
            <a:pPr marL="355600" marR="5080" indent="-342900">
              <a:lnSpc>
                <a:spcPct val="100000"/>
              </a:lnSpc>
              <a:spcBef>
                <a:spcPts val="100"/>
              </a:spcBef>
              <a:tabLst>
                <a:tab pos="354965" algn="l"/>
              </a:tabLst>
            </a:pPr>
            <a:r>
              <a:rPr sz="2000" spc="65" dirty="0">
                <a:solidFill>
                  <a:srgbClr val="90C225"/>
                </a:solidFill>
                <a:latin typeface="Lucida Sans Unicode"/>
                <a:cs typeface="Lucida Sans Unicode"/>
              </a:rPr>
              <a:t>▶</a:t>
            </a:r>
            <a:r>
              <a:rPr sz="2000" dirty="0">
                <a:solidFill>
                  <a:srgbClr val="90C225"/>
                </a:solidFill>
                <a:latin typeface="Lucida Sans Unicode"/>
                <a:cs typeface="Lucida Sans Unicode"/>
              </a:rPr>
              <a:t>	</a:t>
            </a:r>
            <a:r>
              <a:rPr sz="2000" dirty="0">
                <a:solidFill>
                  <a:srgbClr val="002060"/>
                </a:solidFill>
                <a:latin typeface="Times New Roman"/>
                <a:cs typeface="Times New Roman"/>
              </a:rPr>
              <a:t>Relationships</a:t>
            </a:r>
            <a:r>
              <a:rPr sz="2000" spc="-35" dirty="0">
                <a:solidFill>
                  <a:srgbClr val="002060"/>
                </a:solidFill>
                <a:latin typeface="Times New Roman"/>
                <a:cs typeface="Times New Roman"/>
              </a:rPr>
              <a:t> </a:t>
            </a:r>
            <a:r>
              <a:rPr sz="2000" dirty="0">
                <a:solidFill>
                  <a:srgbClr val="002060"/>
                </a:solidFill>
                <a:latin typeface="Times New Roman"/>
                <a:cs typeface="Times New Roman"/>
              </a:rPr>
              <a:t>between</a:t>
            </a:r>
            <a:r>
              <a:rPr sz="2000" spc="-35" dirty="0">
                <a:solidFill>
                  <a:srgbClr val="002060"/>
                </a:solidFill>
                <a:latin typeface="Times New Roman"/>
                <a:cs typeface="Times New Roman"/>
              </a:rPr>
              <a:t> </a:t>
            </a:r>
            <a:r>
              <a:rPr sz="2000" b="1" dirty="0">
                <a:solidFill>
                  <a:srgbClr val="002060"/>
                </a:solidFill>
                <a:latin typeface="Times New Roman"/>
                <a:cs typeface="Times New Roman"/>
              </a:rPr>
              <a:t>elements</a:t>
            </a:r>
            <a:r>
              <a:rPr sz="2000" b="1" spc="-30" dirty="0">
                <a:solidFill>
                  <a:srgbClr val="002060"/>
                </a:solidFill>
                <a:latin typeface="Times New Roman"/>
                <a:cs typeface="Times New Roman"/>
              </a:rPr>
              <a:t> </a:t>
            </a:r>
            <a:r>
              <a:rPr sz="2000" b="1" dirty="0">
                <a:solidFill>
                  <a:srgbClr val="002060"/>
                </a:solidFill>
                <a:latin typeface="Times New Roman"/>
                <a:cs typeface="Times New Roman"/>
              </a:rPr>
              <a:t>of</a:t>
            </a:r>
            <a:r>
              <a:rPr sz="2000" b="1" spc="-35" dirty="0">
                <a:solidFill>
                  <a:srgbClr val="002060"/>
                </a:solidFill>
                <a:latin typeface="Times New Roman"/>
                <a:cs typeface="Times New Roman"/>
              </a:rPr>
              <a:t> </a:t>
            </a:r>
            <a:r>
              <a:rPr sz="2000" b="1" dirty="0">
                <a:solidFill>
                  <a:srgbClr val="002060"/>
                </a:solidFill>
                <a:latin typeface="Times New Roman"/>
                <a:cs typeface="Times New Roman"/>
              </a:rPr>
              <a:t>two</a:t>
            </a:r>
            <a:r>
              <a:rPr sz="2000" b="1" spc="-35" dirty="0">
                <a:solidFill>
                  <a:srgbClr val="002060"/>
                </a:solidFill>
                <a:latin typeface="Times New Roman"/>
                <a:cs typeface="Times New Roman"/>
              </a:rPr>
              <a:t> </a:t>
            </a:r>
            <a:r>
              <a:rPr sz="2000" b="1" dirty="0">
                <a:solidFill>
                  <a:srgbClr val="002060"/>
                </a:solidFill>
                <a:latin typeface="Times New Roman"/>
                <a:cs typeface="Times New Roman"/>
              </a:rPr>
              <a:t>sets</a:t>
            </a:r>
            <a:r>
              <a:rPr sz="2000" b="1" spc="-35" dirty="0">
                <a:solidFill>
                  <a:srgbClr val="002060"/>
                </a:solidFill>
                <a:latin typeface="Times New Roman"/>
                <a:cs typeface="Times New Roman"/>
              </a:rPr>
              <a:t> </a:t>
            </a:r>
            <a:r>
              <a:rPr sz="2000" dirty="0">
                <a:solidFill>
                  <a:srgbClr val="002060"/>
                </a:solidFill>
                <a:latin typeface="Times New Roman"/>
                <a:cs typeface="Times New Roman"/>
              </a:rPr>
              <a:t>are</a:t>
            </a:r>
            <a:r>
              <a:rPr sz="2000" spc="-35" dirty="0">
                <a:solidFill>
                  <a:srgbClr val="002060"/>
                </a:solidFill>
                <a:latin typeface="Times New Roman"/>
                <a:cs typeface="Times New Roman"/>
              </a:rPr>
              <a:t> </a:t>
            </a:r>
            <a:r>
              <a:rPr sz="2000" dirty="0">
                <a:solidFill>
                  <a:srgbClr val="002060"/>
                </a:solidFill>
                <a:latin typeface="Times New Roman"/>
                <a:cs typeface="Times New Roman"/>
              </a:rPr>
              <a:t>represented</a:t>
            </a:r>
            <a:r>
              <a:rPr sz="2000" spc="-35" dirty="0">
                <a:solidFill>
                  <a:srgbClr val="002060"/>
                </a:solidFill>
                <a:latin typeface="Times New Roman"/>
                <a:cs typeface="Times New Roman"/>
              </a:rPr>
              <a:t> </a:t>
            </a:r>
            <a:r>
              <a:rPr sz="2000" spc="-10" dirty="0">
                <a:solidFill>
                  <a:srgbClr val="002060"/>
                </a:solidFill>
                <a:latin typeface="Times New Roman"/>
                <a:cs typeface="Times New Roman"/>
              </a:rPr>
              <a:t>using </a:t>
            </a:r>
            <a:r>
              <a:rPr sz="2000" dirty="0">
                <a:solidFill>
                  <a:srgbClr val="002060"/>
                </a:solidFill>
                <a:latin typeface="Times New Roman"/>
                <a:cs typeface="Times New Roman"/>
              </a:rPr>
              <a:t>the</a:t>
            </a:r>
            <a:r>
              <a:rPr sz="2000" spc="-25" dirty="0">
                <a:solidFill>
                  <a:srgbClr val="002060"/>
                </a:solidFill>
                <a:latin typeface="Times New Roman"/>
                <a:cs typeface="Times New Roman"/>
              </a:rPr>
              <a:t> </a:t>
            </a:r>
            <a:r>
              <a:rPr sz="2000" dirty="0">
                <a:solidFill>
                  <a:srgbClr val="002060"/>
                </a:solidFill>
                <a:latin typeface="Times New Roman"/>
                <a:cs typeface="Times New Roman"/>
              </a:rPr>
              <a:t>structure</a:t>
            </a:r>
            <a:r>
              <a:rPr sz="2000" spc="-25" dirty="0">
                <a:solidFill>
                  <a:srgbClr val="002060"/>
                </a:solidFill>
                <a:latin typeface="Times New Roman"/>
                <a:cs typeface="Times New Roman"/>
              </a:rPr>
              <a:t> </a:t>
            </a:r>
            <a:r>
              <a:rPr sz="2000" dirty="0">
                <a:solidFill>
                  <a:srgbClr val="002060"/>
                </a:solidFill>
                <a:latin typeface="Times New Roman"/>
                <a:cs typeface="Times New Roman"/>
              </a:rPr>
              <a:t>called</a:t>
            </a:r>
            <a:r>
              <a:rPr sz="2000" spc="-25" dirty="0">
                <a:solidFill>
                  <a:srgbClr val="002060"/>
                </a:solidFill>
                <a:latin typeface="Times New Roman"/>
                <a:cs typeface="Times New Roman"/>
              </a:rPr>
              <a:t> </a:t>
            </a:r>
            <a:r>
              <a:rPr sz="2000" dirty="0">
                <a:solidFill>
                  <a:srgbClr val="002060"/>
                </a:solidFill>
                <a:latin typeface="Times New Roman"/>
                <a:cs typeface="Times New Roman"/>
              </a:rPr>
              <a:t>a</a:t>
            </a:r>
            <a:r>
              <a:rPr sz="2000" spc="-15" dirty="0">
                <a:solidFill>
                  <a:srgbClr val="002060"/>
                </a:solidFill>
                <a:latin typeface="Times New Roman"/>
                <a:cs typeface="Times New Roman"/>
              </a:rPr>
              <a:t> </a:t>
            </a:r>
            <a:r>
              <a:rPr sz="2000" b="1" dirty="0">
                <a:solidFill>
                  <a:srgbClr val="00AFEF"/>
                </a:solidFill>
                <a:latin typeface="Times New Roman"/>
                <a:cs typeface="Times New Roman"/>
              </a:rPr>
              <a:t>binary</a:t>
            </a:r>
            <a:r>
              <a:rPr sz="2000" b="1" spc="-25" dirty="0">
                <a:solidFill>
                  <a:srgbClr val="00AFEF"/>
                </a:solidFill>
                <a:latin typeface="Times New Roman"/>
                <a:cs typeface="Times New Roman"/>
              </a:rPr>
              <a:t> </a:t>
            </a:r>
            <a:r>
              <a:rPr sz="2000" b="1" dirty="0">
                <a:solidFill>
                  <a:srgbClr val="00AFEF"/>
                </a:solidFill>
                <a:latin typeface="Times New Roman"/>
                <a:cs typeface="Times New Roman"/>
              </a:rPr>
              <a:t>relation</a:t>
            </a:r>
            <a:r>
              <a:rPr sz="2000" dirty="0">
                <a:solidFill>
                  <a:srgbClr val="404040"/>
                </a:solidFill>
                <a:latin typeface="Times New Roman"/>
                <a:cs typeface="Times New Roman"/>
              </a:rPr>
              <a:t>,</a:t>
            </a:r>
            <a:r>
              <a:rPr sz="2000" spc="-20" dirty="0">
                <a:solidFill>
                  <a:srgbClr val="404040"/>
                </a:solidFill>
                <a:latin typeface="Times New Roman"/>
                <a:cs typeface="Times New Roman"/>
              </a:rPr>
              <a:t> </a:t>
            </a:r>
            <a:r>
              <a:rPr sz="2000" dirty="0">
                <a:solidFill>
                  <a:srgbClr val="00B050"/>
                </a:solidFill>
                <a:latin typeface="Times New Roman"/>
                <a:cs typeface="Times New Roman"/>
              </a:rPr>
              <a:t>which</a:t>
            </a:r>
            <a:r>
              <a:rPr sz="2000" spc="-25" dirty="0">
                <a:solidFill>
                  <a:srgbClr val="00B050"/>
                </a:solidFill>
                <a:latin typeface="Times New Roman"/>
                <a:cs typeface="Times New Roman"/>
              </a:rPr>
              <a:t> </a:t>
            </a:r>
            <a:r>
              <a:rPr sz="2000" dirty="0">
                <a:solidFill>
                  <a:srgbClr val="00B050"/>
                </a:solidFill>
                <a:latin typeface="Times New Roman"/>
                <a:cs typeface="Times New Roman"/>
              </a:rPr>
              <a:t>is</a:t>
            </a:r>
            <a:r>
              <a:rPr sz="2000" spc="-25" dirty="0">
                <a:solidFill>
                  <a:srgbClr val="00B050"/>
                </a:solidFill>
                <a:latin typeface="Times New Roman"/>
                <a:cs typeface="Times New Roman"/>
              </a:rPr>
              <a:t> </a:t>
            </a:r>
            <a:r>
              <a:rPr sz="2000" dirty="0">
                <a:solidFill>
                  <a:srgbClr val="00B050"/>
                </a:solidFill>
                <a:latin typeface="Times New Roman"/>
                <a:cs typeface="Times New Roman"/>
              </a:rPr>
              <a:t>just</a:t>
            </a:r>
            <a:r>
              <a:rPr sz="2000" spc="-25" dirty="0">
                <a:solidFill>
                  <a:srgbClr val="00B050"/>
                </a:solidFill>
                <a:latin typeface="Times New Roman"/>
                <a:cs typeface="Times New Roman"/>
              </a:rPr>
              <a:t> </a:t>
            </a:r>
            <a:r>
              <a:rPr sz="2000" dirty="0">
                <a:solidFill>
                  <a:srgbClr val="00B050"/>
                </a:solidFill>
                <a:latin typeface="Times New Roman"/>
                <a:cs typeface="Times New Roman"/>
              </a:rPr>
              <a:t>a</a:t>
            </a:r>
            <a:r>
              <a:rPr sz="2000" spc="-25" dirty="0">
                <a:solidFill>
                  <a:srgbClr val="00B050"/>
                </a:solidFill>
                <a:latin typeface="Times New Roman"/>
                <a:cs typeface="Times New Roman"/>
              </a:rPr>
              <a:t> </a:t>
            </a:r>
            <a:r>
              <a:rPr sz="2000" dirty="0">
                <a:solidFill>
                  <a:srgbClr val="00B050"/>
                </a:solidFill>
                <a:latin typeface="Times New Roman"/>
                <a:cs typeface="Times New Roman"/>
              </a:rPr>
              <a:t>subset</a:t>
            </a:r>
            <a:r>
              <a:rPr sz="2000" spc="-20" dirty="0">
                <a:solidFill>
                  <a:srgbClr val="00B050"/>
                </a:solidFill>
                <a:latin typeface="Times New Roman"/>
                <a:cs typeface="Times New Roman"/>
              </a:rPr>
              <a:t> </a:t>
            </a:r>
            <a:r>
              <a:rPr sz="2000" dirty="0">
                <a:solidFill>
                  <a:srgbClr val="00B050"/>
                </a:solidFill>
                <a:latin typeface="Times New Roman"/>
                <a:cs typeface="Times New Roman"/>
              </a:rPr>
              <a:t>of</a:t>
            </a:r>
            <a:r>
              <a:rPr sz="2000" spc="-25" dirty="0">
                <a:solidFill>
                  <a:srgbClr val="00B050"/>
                </a:solidFill>
                <a:latin typeface="Times New Roman"/>
                <a:cs typeface="Times New Roman"/>
              </a:rPr>
              <a:t> the </a:t>
            </a:r>
            <a:r>
              <a:rPr sz="2000" dirty="0">
                <a:solidFill>
                  <a:srgbClr val="00B050"/>
                </a:solidFill>
                <a:latin typeface="Times New Roman"/>
                <a:cs typeface="Times New Roman"/>
              </a:rPr>
              <a:t>Cartesian</a:t>
            </a:r>
            <a:r>
              <a:rPr sz="2000" spc="-45" dirty="0">
                <a:solidFill>
                  <a:srgbClr val="00B050"/>
                </a:solidFill>
                <a:latin typeface="Times New Roman"/>
                <a:cs typeface="Times New Roman"/>
              </a:rPr>
              <a:t> </a:t>
            </a:r>
            <a:r>
              <a:rPr sz="2000" dirty="0">
                <a:solidFill>
                  <a:srgbClr val="00B050"/>
                </a:solidFill>
                <a:latin typeface="Times New Roman"/>
                <a:cs typeface="Times New Roman"/>
              </a:rPr>
              <a:t>product</a:t>
            </a:r>
            <a:r>
              <a:rPr sz="2000" spc="-40" dirty="0">
                <a:solidFill>
                  <a:srgbClr val="00B050"/>
                </a:solidFill>
                <a:latin typeface="Times New Roman"/>
                <a:cs typeface="Times New Roman"/>
              </a:rPr>
              <a:t> </a:t>
            </a:r>
            <a:r>
              <a:rPr sz="2000" dirty="0">
                <a:solidFill>
                  <a:srgbClr val="00B050"/>
                </a:solidFill>
                <a:latin typeface="Times New Roman"/>
                <a:cs typeface="Times New Roman"/>
              </a:rPr>
              <a:t>of</a:t>
            </a:r>
            <a:r>
              <a:rPr sz="2000" spc="-40" dirty="0">
                <a:solidFill>
                  <a:srgbClr val="00B050"/>
                </a:solidFill>
                <a:latin typeface="Times New Roman"/>
                <a:cs typeface="Times New Roman"/>
              </a:rPr>
              <a:t> </a:t>
            </a:r>
            <a:r>
              <a:rPr sz="2000" dirty="0">
                <a:solidFill>
                  <a:srgbClr val="00B050"/>
                </a:solidFill>
                <a:latin typeface="Times New Roman"/>
                <a:cs typeface="Times New Roman"/>
              </a:rPr>
              <a:t>the</a:t>
            </a:r>
            <a:r>
              <a:rPr sz="2000" spc="-40" dirty="0">
                <a:solidFill>
                  <a:srgbClr val="00B050"/>
                </a:solidFill>
                <a:latin typeface="Times New Roman"/>
                <a:cs typeface="Times New Roman"/>
              </a:rPr>
              <a:t> </a:t>
            </a:r>
            <a:r>
              <a:rPr sz="2000" spc="-10" dirty="0">
                <a:solidFill>
                  <a:srgbClr val="00B050"/>
                </a:solidFill>
                <a:latin typeface="Times New Roman"/>
                <a:cs typeface="Times New Roman"/>
              </a:rPr>
              <a:t>Sets.</a:t>
            </a:r>
            <a:br>
              <a:rPr lang="en-US" sz="2000" spc="-10" dirty="0">
                <a:solidFill>
                  <a:srgbClr val="00B050"/>
                </a:solidFill>
                <a:latin typeface="Times New Roman"/>
                <a:cs typeface="Times New Roman"/>
              </a:rPr>
            </a:br>
            <a:r>
              <a:rPr lang="en-US" sz="2000" spc="-10" dirty="0">
                <a:solidFill>
                  <a:srgbClr val="7030A0"/>
                </a:solidFill>
                <a:latin typeface="Times New Roman"/>
                <a:cs typeface="Times New Roman"/>
              </a:rPr>
              <a:t>Example: "Student studies Subject“, A = {Ali, Ahmed}</a:t>
            </a:r>
          </a:p>
          <a:p>
            <a:pPr marL="355600" marR="5080" lvl="2" indent="-342900">
              <a:spcBef>
                <a:spcPts val="100"/>
              </a:spcBef>
              <a:tabLst>
                <a:tab pos="354965" algn="l"/>
              </a:tabLst>
            </a:pPr>
            <a:r>
              <a:rPr lang="en-US" sz="2000" spc="-10" dirty="0">
                <a:solidFill>
                  <a:srgbClr val="7030A0"/>
                </a:solidFill>
                <a:latin typeface="Times New Roman"/>
                <a:cs typeface="Times New Roman"/>
              </a:rPr>
              <a:t>        B = {Math, English}</a:t>
            </a:r>
            <a:br>
              <a:rPr lang="en-US" sz="2000" spc="-10" dirty="0">
                <a:solidFill>
                  <a:srgbClr val="7030A0"/>
                </a:solidFill>
                <a:latin typeface="Times New Roman"/>
                <a:cs typeface="Times New Roman"/>
              </a:rPr>
            </a:br>
            <a:r>
              <a:rPr lang="en-US" sz="2000" b="1" spc="-10" dirty="0">
                <a:solidFill>
                  <a:srgbClr val="0070C0"/>
                </a:solidFill>
                <a:latin typeface="Times New Roman"/>
                <a:cs typeface="Times New Roman"/>
              </a:rPr>
              <a:t>R = {(Ali, Math), (Ahmed, English)} This is a binary relation because: </a:t>
            </a:r>
          </a:p>
          <a:p>
            <a:pPr marL="355600" marR="5080" lvl="8" indent="-342900">
              <a:spcBef>
                <a:spcPts val="100"/>
              </a:spcBef>
              <a:buFont typeface="Arial" panose="020B0604020202020204" pitchFamily="34" charset="0"/>
              <a:buChar char="•"/>
              <a:tabLst>
                <a:tab pos="354965" algn="l"/>
              </a:tabLst>
            </a:pPr>
            <a:r>
              <a:rPr lang="en-US" sz="2000" spc="-10" dirty="0">
                <a:solidFill>
                  <a:srgbClr val="0070C0"/>
                </a:solidFill>
                <a:latin typeface="Times New Roman"/>
                <a:cs typeface="Times New Roman"/>
              </a:rPr>
              <a:t>It connects elements of two sets, </a:t>
            </a:r>
          </a:p>
          <a:p>
            <a:pPr marL="355600" marR="5080" lvl="8" indent="-342900">
              <a:spcBef>
                <a:spcPts val="100"/>
              </a:spcBef>
              <a:buFont typeface="Arial" panose="020B0604020202020204" pitchFamily="34" charset="0"/>
              <a:buChar char="•"/>
              <a:tabLst>
                <a:tab pos="354965" algn="l"/>
              </a:tabLst>
            </a:pPr>
            <a:r>
              <a:rPr lang="en-US" sz="2000" spc="-10" dirty="0">
                <a:solidFill>
                  <a:srgbClr val="0070C0"/>
                </a:solidFill>
                <a:latin typeface="Times New Roman"/>
                <a:cs typeface="Times New Roman"/>
              </a:rPr>
              <a:t>Each pair has 2 elements</a:t>
            </a:r>
          </a:p>
          <a:p>
            <a:pPr marL="355600" marR="5080" lvl="8" indent="-342900">
              <a:spcBef>
                <a:spcPts val="100"/>
              </a:spcBef>
              <a:buFont typeface="Arial" panose="020B0604020202020204" pitchFamily="34" charset="0"/>
              <a:buChar char="•"/>
              <a:tabLst>
                <a:tab pos="354965" algn="l"/>
              </a:tabLst>
            </a:pPr>
            <a:r>
              <a:rPr lang="en-US" sz="2000" spc="-10" dirty="0">
                <a:solidFill>
                  <a:srgbClr val="0070C0"/>
                </a:solidFill>
                <a:latin typeface="Times New Roman"/>
                <a:cs typeface="Times New Roman"/>
              </a:rPr>
              <a:t>R ⊆ A × B</a:t>
            </a:r>
            <a:endParaRPr lang="en-US" sz="2000" dirty="0">
              <a:solidFill>
                <a:srgbClr val="0070C0"/>
              </a:solidFill>
              <a:latin typeface="Times New Roman"/>
              <a:cs typeface="Times New Roman"/>
            </a:endParaRPr>
          </a:p>
          <a:p>
            <a:pPr marL="355600" marR="219710" indent="-342900">
              <a:lnSpc>
                <a:spcPct val="100000"/>
              </a:lnSpc>
              <a:spcBef>
                <a:spcPts val="994"/>
              </a:spcBef>
              <a:tabLst>
                <a:tab pos="354965" algn="l"/>
              </a:tabLst>
            </a:pPr>
            <a:r>
              <a:rPr sz="2000" spc="65" dirty="0">
                <a:solidFill>
                  <a:srgbClr val="90C225"/>
                </a:solidFill>
                <a:latin typeface="Lucida Sans Unicode"/>
                <a:cs typeface="Lucida Sans Unicode"/>
              </a:rPr>
              <a:t>▶</a:t>
            </a:r>
            <a:r>
              <a:rPr sz="2000" dirty="0">
                <a:solidFill>
                  <a:srgbClr val="90C225"/>
                </a:solidFill>
                <a:latin typeface="Lucida Sans Unicode"/>
                <a:cs typeface="Lucida Sans Unicode"/>
              </a:rPr>
              <a:t>	</a:t>
            </a:r>
            <a:r>
              <a:rPr sz="2000" dirty="0">
                <a:solidFill>
                  <a:srgbClr val="002060"/>
                </a:solidFill>
                <a:latin typeface="Times New Roman"/>
                <a:cs typeface="Times New Roman"/>
              </a:rPr>
              <a:t>Relationships</a:t>
            </a:r>
            <a:r>
              <a:rPr sz="2000" spc="-30" dirty="0">
                <a:solidFill>
                  <a:srgbClr val="002060"/>
                </a:solidFill>
                <a:latin typeface="Times New Roman"/>
                <a:cs typeface="Times New Roman"/>
              </a:rPr>
              <a:t> </a:t>
            </a:r>
            <a:r>
              <a:rPr sz="2000" dirty="0">
                <a:solidFill>
                  <a:srgbClr val="002060"/>
                </a:solidFill>
                <a:latin typeface="Times New Roman"/>
                <a:cs typeface="Times New Roman"/>
              </a:rPr>
              <a:t>between</a:t>
            </a:r>
            <a:r>
              <a:rPr sz="2000" spc="-30" dirty="0">
                <a:solidFill>
                  <a:srgbClr val="002060"/>
                </a:solidFill>
                <a:latin typeface="Times New Roman"/>
                <a:cs typeface="Times New Roman"/>
              </a:rPr>
              <a:t> </a:t>
            </a:r>
            <a:r>
              <a:rPr sz="2000" b="1" dirty="0">
                <a:solidFill>
                  <a:srgbClr val="002060"/>
                </a:solidFill>
                <a:latin typeface="Times New Roman"/>
                <a:cs typeface="Times New Roman"/>
              </a:rPr>
              <a:t>elements</a:t>
            </a:r>
            <a:r>
              <a:rPr sz="2000" b="1" spc="-25" dirty="0">
                <a:solidFill>
                  <a:srgbClr val="002060"/>
                </a:solidFill>
                <a:latin typeface="Times New Roman"/>
                <a:cs typeface="Times New Roman"/>
              </a:rPr>
              <a:t> </a:t>
            </a:r>
            <a:r>
              <a:rPr sz="2000" b="1" dirty="0">
                <a:solidFill>
                  <a:srgbClr val="002060"/>
                </a:solidFill>
                <a:latin typeface="Times New Roman"/>
                <a:cs typeface="Times New Roman"/>
              </a:rPr>
              <a:t>of</a:t>
            </a:r>
            <a:r>
              <a:rPr sz="2000" b="1" spc="-35" dirty="0">
                <a:solidFill>
                  <a:srgbClr val="002060"/>
                </a:solidFill>
                <a:latin typeface="Times New Roman"/>
                <a:cs typeface="Times New Roman"/>
              </a:rPr>
              <a:t> </a:t>
            </a:r>
            <a:r>
              <a:rPr sz="2000" b="1" dirty="0">
                <a:solidFill>
                  <a:srgbClr val="002060"/>
                </a:solidFill>
                <a:latin typeface="Times New Roman"/>
                <a:cs typeface="Times New Roman"/>
              </a:rPr>
              <a:t>more</a:t>
            </a:r>
            <a:r>
              <a:rPr sz="2000" b="1" spc="-30" dirty="0">
                <a:solidFill>
                  <a:srgbClr val="002060"/>
                </a:solidFill>
                <a:latin typeface="Times New Roman"/>
                <a:cs typeface="Times New Roman"/>
              </a:rPr>
              <a:t> </a:t>
            </a:r>
            <a:r>
              <a:rPr sz="2000" b="1" dirty="0">
                <a:solidFill>
                  <a:srgbClr val="002060"/>
                </a:solidFill>
                <a:latin typeface="Times New Roman"/>
                <a:cs typeface="Times New Roman"/>
              </a:rPr>
              <a:t>than</a:t>
            </a:r>
            <a:r>
              <a:rPr sz="2000" b="1" spc="-30" dirty="0">
                <a:solidFill>
                  <a:srgbClr val="002060"/>
                </a:solidFill>
                <a:latin typeface="Times New Roman"/>
                <a:cs typeface="Times New Roman"/>
              </a:rPr>
              <a:t> </a:t>
            </a:r>
            <a:r>
              <a:rPr sz="2000" b="1" dirty="0">
                <a:solidFill>
                  <a:srgbClr val="002060"/>
                </a:solidFill>
                <a:latin typeface="Times New Roman"/>
                <a:cs typeface="Times New Roman"/>
              </a:rPr>
              <a:t>two</a:t>
            </a:r>
            <a:r>
              <a:rPr sz="2000" b="1" spc="-35" dirty="0">
                <a:solidFill>
                  <a:srgbClr val="002060"/>
                </a:solidFill>
                <a:latin typeface="Times New Roman"/>
                <a:cs typeface="Times New Roman"/>
              </a:rPr>
              <a:t> </a:t>
            </a:r>
            <a:r>
              <a:rPr sz="2000" b="1" dirty="0">
                <a:solidFill>
                  <a:srgbClr val="002060"/>
                </a:solidFill>
                <a:latin typeface="Times New Roman"/>
                <a:cs typeface="Times New Roman"/>
              </a:rPr>
              <a:t>sets</a:t>
            </a:r>
            <a:r>
              <a:rPr sz="2000" b="1" spc="-30" dirty="0">
                <a:solidFill>
                  <a:srgbClr val="002060"/>
                </a:solidFill>
                <a:latin typeface="Times New Roman"/>
                <a:cs typeface="Times New Roman"/>
              </a:rPr>
              <a:t> </a:t>
            </a:r>
            <a:r>
              <a:rPr sz="2000" b="1" dirty="0">
                <a:solidFill>
                  <a:srgbClr val="002060"/>
                </a:solidFill>
                <a:latin typeface="Times New Roman"/>
                <a:cs typeface="Times New Roman"/>
              </a:rPr>
              <a:t>arise</a:t>
            </a:r>
            <a:r>
              <a:rPr sz="2000" b="1" spc="-30" dirty="0">
                <a:solidFill>
                  <a:srgbClr val="002060"/>
                </a:solidFill>
                <a:latin typeface="Times New Roman"/>
                <a:cs typeface="Times New Roman"/>
              </a:rPr>
              <a:t> </a:t>
            </a:r>
            <a:r>
              <a:rPr sz="2000" b="1" spc="-25" dirty="0">
                <a:solidFill>
                  <a:srgbClr val="002060"/>
                </a:solidFill>
                <a:latin typeface="Times New Roman"/>
                <a:cs typeface="Times New Roman"/>
              </a:rPr>
              <a:t>in </a:t>
            </a:r>
            <a:r>
              <a:rPr sz="2000" b="1" dirty="0">
                <a:solidFill>
                  <a:srgbClr val="002060"/>
                </a:solidFill>
                <a:latin typeface="Times New Roman"/>
                <a:cs typeface="Times New Roman"/>
              </a:rPr>
              <a:t>many</a:t>
            </a:r>
            <a:r>
              <a:rPr sz="2000" b="1" spc="-40" dirty="0">
                <a:solidFill>
                  <a:srgbClr val="002060"/>
                </a:solidFill>
                <a:latin typeface="Times New Roman"/>
                <a:cs typeface="Times New Roman"/>
              </a:rPr>
              <a:t> </a:t>
            </a:r>
            <a:r>
              <a:rPr sz="2000" b="1" dirty="0">
                <a:solidFill>
                  <a:srgbClr val="002060"/>
                </a:solidFill>
                <a:latin typeface="Times New Roman"/>
                <a:cs typeface="Times New Roman"/>
              </a:rPr>
              <a:t>contexts.</a:t>
            </a:r>
            <a:r>
              <a:rPr sz="2000" spc="-70" dirty="0">
                <a:solidFill>
                  <a:srgbClr val="002060"/>
                </a:solidFill>
                <a:latin typeface="Times New Roman"/>
                <a:cs typeface="Times New Roman"/>
              </a:rPr>
              <a:t> </a:t>
            </a:r>
            <a:r>
              <a:rPr sz="2000" dirty="0">
                <a:solidFill>
                  <a:srgbClr val="404040"/>
                </a:solidFill>
                <a:latin typeface="Times New Roman"/>
                <a:cs typeface="Times New Roman"/>
              </a:rPr>
              <a:t>These</a:t>
            </a:r>
            <a:r>
              <a:rPr sz="2000" spc="-40" dirty="0">
                <a:solidFill>
                  <a:srgbClr val="404040"/>
                </a:solidFill>
                <a:latin typeface="Times New Roman"/>
                <a:cs typeface="Times New Roman"/>
              </a:rPr>
              <a:t> </a:t>
            </a:r>
            <a:r>
              <a:rPr sz="2000" dirty="0">
                <a:solidFill>
                  <a:srgbClr val="404040"/>
                </a:solidFill>
                <a:latin typeface="Times New Roman"/>
                <a:cs typeface="Times New Roman"/>
              </a:rPr>
              <a:t>relationships</a:t>
            </a:r>
            <a:r>
              <a:rPr sz="2000" spc="-35" dirty="0">
                <a:solidFill>
                  <a:srgbClr val="404040"/>
                </a:solidFill>
                <a:latin typeface="Times New Roman"/>
                <a:cs typeface="Times New Roman"/>
              </a:rPr>
              <a:t> </a:t>
            </a:r>
            <a:r>
              <a:rPr sz="2000" dirty="0">
                <a:solidFill>
                  <a:srgbClr val="404040"/>
                </a:solidFill>
                <a:latin typeface="Times New Roman"/>
                <a:cs typeface="Times New Roman"/>
              </a:rPr>
              <a:t>can</a:t>
            </a:r>
            <a:r>
              <a:rPr sz="2000" spc="-35" dirty="0">
                <a:solidFill>
                  <a:srgbClr val="404040"/>
                </a:solidFill>
                <a:latin typeface="Times New Roman"/>
                <a:cs typeface="Times New Roman"/>
              </a:rPr>
              <a:t> </a:t>
            </a:r>
            <a:r>
              <a:rPr sz="2000" dirty="0">
                <a:solidFill>
                  <a:srgbClr val="404040"/>
                </a:solidFill>
                <a:latin typeface="Times New Roman"/>
                <a:cs typeface="Times New Roman"/>
              </a:rPr>
              <a:t>be</a:t>
            </a:r>
            <a:r>
              <a:rPr sz="2000" spc="-40" dirty="0">
                <a:solidFill>
                  <a:srgbClr val="404040"/>
                </a:solidFill>
                <a:latin typeface="Times New Roman"/>
                <a:cs typeface="Times New Roman"/>
              </a:rPr>
              <a:t> </a:t>
            </a:r>
            <a:r>
              <a:rPr sz="2000" dirty="0">
                <a:solidFill>
                  <a:srgbClr val="404040"/>
                </a:solidFill>
                <a:latin typeface="Times New Roman"/>
                <a:cs typeface="Times New Roman"/>
              </a:rPr>
              <a:t>represented</a:t>
            </a:r>
            <a:r>
              <a:rPr sz="2000" spc="-35" dirty="0">
                <a:solidFill>
                  <a:srgbClr val="404040"/>
                </a:solidFill>
                <a:latin typeface="Times New Roman"/>
                <a:cs typeface="Times New Roman"/>
              </a:rPr>
              <a:t> </a:t>
            </a:r>
            <a:r>
              <a:rPr sz="2000" dirty="0">
                <a:solidFill>
                  <a:srgbClr val="404040"/>
                </a:solidFill>
                <a:latin typeface="Times New Roman"/>
                <a:cs typeface="Times New Roman"/>
              </a:rPr>
              <a:t>by</a:t>
            </a:r>
            <a:r>
              <a:rPr sz="2000" spc="-30" dirty="0">
                <a:solidFill>
                  <a:srgbClr val="404040"/>
                </a:solidFill>
                <a:latin typeface="Times New Roman"/>
                <a:cs typeface="Times New Roman"/>
              </a:rPr>
              <a:t> </a:t>
            </a:r>
            <a:r>
              <a:rPr sz="2000" b="1" i="1" spc="-10" dirty="0">
                <a:solidFill>
                  <a:srgbClr val="00AFEF"/>
                </a:solidFill>
                <a:latin typeface="Times New Roman"/>
                <a:cs typeface="Times New Roman"/>
              </a:rPr>
              <a:t>n</a:t>
            </a:r>
            <a:r>
              <a:rPr sz="2000" b="1" spc="-10" dirty="0">
                <a:solidFill>
                  <a:srgbClr val="00AFEF"/>
                </a:solidFill>
                <a:latin typeface="Times New Roman"/>
                <a:cs typeface="Times New Roman"/>
              </a:rPr>
              <a:t>-</a:t>
            </a:r>
            <a:r>
              <a:rPr sz="2000" b="1" spc="-25" dirty="0">
                <a:solidFill>
                  <a:srgbClr val="00AFEF"/>
                </a:solidFill>
                <a:latin typeface="Times New Roman"/>
                <a:cs typeface="Times New Roman"/>
              </a:rPr>
              <a:t>ary </a:t>
            </a:r>
            <a:r>
              <a:rPr sz="2000" b="1" dirty="0">
                <a:solidFill>
                  <a:srgbClr val="00AFEF"/>
                </a:solidFill>
                <a:latin typeface="Times New Roman"/>
                <a:cs typeface="Times New Roman"/>
              </a:rPr>
              <a:t>relations</a:t>
            </a:r>
            <a:r>
              <a:rPr sz="2000" dirty="0">
                <a:solidFill>
                  <a:srgbClr val="404040"/>
                </a:solidFill>
                <a:latin typeface="Times New Roman"/>
                <a:cs typeface="Times New Roman"/>
              </a:rPr>
              <a:t>,</a:t>
            </a:r>
            <a:r>
              <a:rPr sz="2000" spc="-30" dirty="0">
                <a:solidFill>
                  <a:srgbClr val="404040"/>
                </a:solidFill>
                <a:latin typeface="Times New Roman"/>
                <a:cs typeface="Times New Roman"/>
              </a:rPr>
              <a:t> </a:t>
            </a:r>
            <a:r>
              <a:rPr sz="2000" dirty="0">
                <a:solidFill>
                  <a:srgbClr val="00B050"/>
                </a:solidFill>
                <a:latin typeface="Times New Roman"/>
                <a:cs typeface="Times New Roman"/>
              </a:rPr>
              <a:t>which</a:t>
            </a:r>
            <a:r>
              <a:rPr sz="2000" spc="-20" dirty="0">
                <a:solidFill>
                  <a:srgbClr val="00B050"/>
                </a:solidFill>
                <a:latin typeface="Times New Roman"/>
                <a:cs typeface="Times New Roman"/>
              </a:rPr>
              <a:t> </a:t>
            </a:r>
            <a:r>
              <a:rPr sz="2000" dirty="0">
                <a:solidFill>
                  <a:srgbClr val="00B050"/>
                </a:solidFill>
                <a:latin typeface="Times New Roman"/>
                <a:cs typeface="Times New Roman"/>
              </a:rPr>
              <a:t>are</a:t>
            </a:r>
            <a:r>
              <a:rPr sz="2000" spc="-15" dirty="0">
                <a:solidFill>
                  <a:srgbClr val="00B050"/>
                </a:solidFill>
                <a:latin typeface="Times New Roman"/>
                <a:cs typeface="Times New Roman"/>
              </a:rPr>
              <a:t> </a:t>
            </a:r>
            <a:r>
              <a:rPr sz="2000" dirty="0">
                <a:solidFill>
                  <a:srgbClr val="00B050"/>
                </a:solidFill>
                <a:latin typeface="Times New Roman"/>
                <a:cs typeface="Times New Roman"/>
              </a:rPr>
              <a:t>collections</a:t>
            </a:r>
            <a:r>
              <a:rPr sz="2000" spc="-15" dirty="0">
                <a:solidFill>
                  <a:srgbClr val="00B050"/>
                </a:solidFill>
                <a:latin typeface="Times New Roman"/>
                <a:cs typeface="Times New Roman"/>
              </a:rPr>
              <a:t> </a:t>
            </a:r>
            <a:r>
              <a:rPr sz="2000" dirty="0">
                <a:solidFill>
                  <a:srgbClr val="00B050"/>
                </a:solidFill>
                <a:latin typeface="Times New Roman"/>
                <a:cs typeface="Times New Roman"/>
              </a:rPr>
              <a:t>of</a:t>
            </a:r>
            <a:r>
              <a:rPr sz="2000" spc="-25" dirty="0">
                <a:solidFill>
                  <a:srgbClr val="00B050"/>
                </a:solidFill>
                <a:latin typeface="Times New Roman"/>
                <a:cs typeface="Times New Roman"/>
              </a:rPr>
              <a:t> </a:t>
            </a:r>
            <a:r>
              <a:rPr sz="2000" i="1" spc="-10" dirty="0">
                <a:solidFill>
                  <a:srgbClr val="00B050"/>
                </a:solidFill>
                <a:latin typeface="Times New Roman"/>
                <a:cs typeface="Times New Roman"/>
              </a:rPr>
              <a:t>n</a:t>
            </a:r>
            <a:r>
              <a:rPr sz="2000" spc="-10" dirty="0">
                <a:solidFill>
                  <a:srgbClr val="00B050"/>
                </a:solidFill>
                <a:latin typeface="Times New Roman"/>
                <a:cs typeface="Times New Roman"/>
              </a:rPr>
              <a:t>-tuples.</a:t>
            </a:r>
            <a:br>
              <a:rPr lang="en-US" sz="2000" spc="-10" dirty="0">
                <a:solidFill>
                  <a:srgbClr val="00B050"/>
                </a:solidFill>
                <a:latin typeface="Times New Roman"/>
                <a:cs typeface="Times New Roman"/>
              </a:rPr>
            </a:br>
            <a:r>
              <a:rPr lang="en-US" sz="2000" spc="-10" dirty="0">
                <a:solidFill>
                  <a:srgbClr val="7030A0"/>
                </a:solidFill>
                <a:latin typeface="Times New Roman"/>
                <a:cs typeface="Times New Roman"/>
              </a:rPr>
              <a:t>Example: (Student, Course, Grade),</a:t>
            </a:r>
            <a:br>
              <a:rPr lang="en-US" sz="2000" spc="-10" dirty="0">
                <a:solidFill>
                  <a:srgbClr val="00B050"/>
                </a:solidFill>
                <a:latin typeface="Times New Roman"/>
                <a:cs typeface="Times New Roman"/>
              </a:rPr>
            </a:br>
            <a:r>
              <a:rPr lang="en-US" sz="2000" spc="-10" dirty="0">
                <a:solidFill>
                  <a:srgbClr val="0070C0"/>
                </a:solidFill>
                <a:latin typeface="Times New Roman"/>
                <a:cs typeface="Times New Roman"/>
              </a:rPr>
              <a:t>R = {(Ali, Math, 85), (Ahmed, English, 90)} -</a:t>
            </a:r>
            <a:r>
              <a:rPr lang="en-US" sz="1600" spc="-10" dirty="0">
                <a:solidFill>
                  <a:srgbClr val="CC0066"/>
                </a:solidFill>
                <a:latin typeface="Times New Roman"/>
                <a:cs typeface="Times New Roman"/>
              </a:rPr>
              <a:t>R involve more than two sets.</a:t>
            </a:r>
            <a:endParaRPr sz="1600" dirty="0">
              <a:solidFill>
                <a:srgbClr val="CC0066"/>
              </a:solidFill>
              <a:latin typeface="Times New Roman"/>
              <a:cs typeface="Times New Roman"/>
            </a:endParaRPr>
          </a:p>
          <a:p>
            <a:pPr marL="355600" marR="109855" indent="-342900">
              <a:lnSpc>
                <a:spcPct val="100000"/>
              </a:lnSpc>
              <a:spcBef>
                <a:spcPts val="1005"/>
              </a:spcBef>
              <a:tabLst>
                <a:tab pos="354965" algn="l"/>
              </a:tabLst>
            </a:pPr>
            <a:r>
              <a:rPr sz="2000" spc="65" dirty="0">
                <a:solidFill>
                  <a:srgbClr val="90C225"/>
                </a:solidFill>
                <a:latin typeface="Lucida Sans Unicode"/>
                <a:cs typeface="Lucida Sans Unicode"/>
              </a:rPr>
              <a:t>▶</a:t>
            </a:r>
            <a:r>
              <a:rPr sz="2000" dirty="0">
                <a:solidFill>
                  <a:srgbClr val="90C225"/>
                </a:solidFill>
                <a:latin typeface="Lucida Sans Unicode"/>
                <a:cs typeface="Lucida Sans Unicode"/>
              </a:rPr>
              <a:t>	</a:t>
            </a:r>
            <a:r>
              <a:rPr sz="2000" dirty="0">
                <a:solidFill>
                  <a:srgbClr val="CC0066"/>
                </a:solidFill>
                <a:latin typeface="Times New Roman"/>
                <a:cs typeface="Times New Roman"/>
              </a:rPr>
              <a:t>Such</a:t>
            </a:r>
            <a:r>
              <a:rPr sz="2000" spc="-30" dirty="0">
                <a:solidFill>
                  <a:srgbClr val="CC0066"/>
                </a:solidFill>
                <a:latin typeface="Times New Roman"/>
                <a:cs typeface="Times New Roman"/>
              </a:rPr>
              <a:t> </a:t>
            </a:r>
            <a:r>
              <a:rPr sz="2000" dirty="0">
                <a:solidFill>
                  <a:srgbClr val="CC0066"/>
                </a:solidFill>
                <a:latin typeface="Times New Roman"/>
                <a:cs typeface="Times New Roman"/>
              </a:rPr>
              <a:t>relations</a:t>
            </a:r>
            <a:r>
              <a:rPr sz="2000" spc="-25" dirty="0">
                <a:solidFill>
                  <a:srgbClr val="CC0066"/>
                </a:solidFill>
                <a:latin typeface="Times New Roman"/>
                <a:cs typeface="Times New Roman"/>
              </a:rPr>
              <a:t> </a:t>
            </a:r>
            <a:r>
              <a:rPr sz="2000" dirty="0">
                <a:solidFill>
                  <a:srgbClr val="CC0066"/>
                </a:solidFill>
                <a:latin typeface="Times New Roman"/>
                <a:cs typeface="Times New Roman"/>
              </a:rPr>
              <a:t>are</a:t>
            </a:r>
            <a:r>
              <a:rPr sz="2000" spc="-25" dirty="0">
                <a:solidFill>
                  <a:srgbClr val="CC0066"/>
                </a:solidFill>
                <a:latin typeface="Times New Roman"/>
                <a:cs typeface="Times New Roman"/>
              </a:rPr>
              <a:t> </a:t>
            </a:r>
            <a:r>
              <a:rPr sz="2000" dirty="0">
                <a:solidFill>
                  <a:srgbClr val="CC0066"/>
                </a:solidFill>
                <a:latin typeface="Times New Roman"/>
                <a:cs typeface="Times New Roman"/>
              </a:rPr>
              <a:t>the</a:t>
            </a:r>
            <a:r>
              <a:rPr sz="2000" spc="-25" dirty="0">
                <a:solidFill>
                  <a:srgbClr val="CC0066"/>
                </a:solidFill>
                <a:latin typeface="Times New Roman"/>
                <a:cs typeface="Times New Roman"/>
              </a:rPr>
              <a:t> </a:t>
            </a:r>
            <a:r>
              <a:rPr sz="2000" dirty="0">
                <a:solidFill>
                  <a:srgbClr val="CC0066"/>
                </a:solidFill>
                <a:latin typeface="Times New Roman"/>
                <a:cs typeface="Times New Roman"/>
              </a:rPr>
              <a:t>basis</a:t>
            </a:r>
            <a:r>
              <a:rPr sz="2000" spc="-30" dirty="0">
                <a:solidFill>
                  <a:srgbClr val="CC0066"/>
                </a:solidFill>
                <a:latin typeface="Times New Roman"/>
                <a:cs typeface="Times New Roman"/>
              </a:rPr>
              <a:t> </a:t>
            </a:r>
            <a:r>
              <a:rPr sz="2000" dirty="0">
                <a:solidFill>
                  <a:srgbClr val="CC0066"/>
                </a:solidFill>
                <a:latin typeface="Times New Roman"/>
                <a:cs typeface="Times New Roman"/>
              </a:rPr>
              <a:t>of</a:t>
            </a:r>
            <a:r>
              <a:rPr sz="2000" spc="-25" dirty="0">
                <a:solidFill>
                  <a:srgbClr val="CC0066"/>
                </a:solidFill>
                <a:latin typeface="Times New Roman"/>
                <a:cs typeface="Times New Roman"/>
              </a:rPr>
              <a:t> </a:t>
            </a:r>
            <a:r>
              <a:rPr sz="2000" dirty="0">
                <a:solidFill>
                  <a:srgbClr val="CC0066"/>
                </a:solidFill>
                <a:latin typeface="Times New Roman"/>
                <a:cs typeface="Times New Roman"/>
              </a:rPr>
              <a:t>the</a:t>
            </a:r>
            <a:r>
              <a:rPr sz="2000" spc="-30" dirty="0">
                <a:solidFill>
                  <a:srgbClr val="CC0066"/>
                </a:solidFill>
                <a:latin typeface="Times New Roman"/>
                <a:cs typeface="Times New Roman"/>
              </a:rPr>
              <a:t> </a:t>
            </a:r>
            <a:r>
              <a:rPr sz="2000" dirty="0">
                <a:solidFill>
                  <a:srgbClr val="CC0066"/>
                </a:solidFill>
                <a:latin typeface="Times New Roman"/>
                <a:cs typeface="Times New Roman"/>
              </a:rPr>
              <a:t>relational</a:t>
            </a:r>
            <a:r>
              <a:rPr sz="2000" spc="-20" dirty="0">
                <a:solidFill>
                  <a:srgbClr val="CC0066"/>
                </a:solidFill>
                <a:latin typeface="Times New Roman"/>
                <a:cs typeface="Times New Roman"/>
              </a:rPr>
              <a:t> </a:t>
            </a:r>
            <a:r>
              <a:rPr sz="2000" dirty="0">
                <a:solidFill>
                  <a:srgbClr val="CC0066"/>
                </a:solidFill>
                <a:latin typeface="Times New Roman"/>
                <a:cs typeface="Times New Roman"/>
              </a:rPr>
              <a:t>data</a:t>
            </a:r>
            <a:r>
              <a:rPr sz="2000" spc="-25" dirty="0">
                <a:solidFill>
                  <a:srgbClr val="CC0066"/>
                </a:solidFill>
                <a:latin typeface="Times New Roman"/>
                <a:cs typeface="Times New Roman"/>
              </a:rPr>
              <a:t> </a:t>
            </a:r>
            <a:r>
              <a:rPr sz="2000" dirty="0">
                <a:solidFill>
                  <a:srgbClr val="CC0066"/>
                </a:solidFill>
                <a:latin typeface="Times New Roman"/>
                <a:cs typeface="Times New Roman"/>
              </a:rPr>
              <a:t>model,</a:t>
            </a:r>
            <a:r>
              <a:rPr sz="2000" spc="-30" dirty="0">
                <a:solidFill>
                  <a:srgbClr val="CC0066"/>
                </a:solidFill>
                <a:latin typeface="Times New Roman"/>
                <a:cs typeface="Times New Roman"/>
              </a:rPr>
              <a:t> </a:t>
            </a:r>
            <a:r>
              <a:rPr sz="2000" dirty="0">
                <a:solidFill>
                  <a:srgbClr val="CC0066"/>
                </a:solidFill>
                <a:latin typeface="Times New Roman"/>
                <a:cs typeface="Times New Roman"/>
              </a:rPr>
              <a:t>the</a:t>
            </a:r>
            <a:r>
              <a:rPr sz="2000" spc="-25" dirty="0">
                <a:solidFill>
                  <a:srgbClr val="CC0066"/>
                </a:solidFill>
                <a:latin typeface="Times New Roman"/>
                <a:cs typeface="Times New Roman"/>
              </a:rPr>
              <a:t> </a:t>
            </a:r>
            <a:r>
              <a:rPr sz="2000" spc="-20" dirty="0">
                <a:solidFill>
                  <a:srgbClr val="CC0066"/>
                </a:solidFill>
                <a:latin typeface="Times New Roman"/>
                <a:cs typeface="Times New Roman"/>
              </a:rPr>
              <a:t>most </a:t>
            </a:r>
            <a:r>
              <a:rPr sz="2000" dirty="0">
                <a:solidFill>
                  <a:srgbClr val="CC0066"/>
                </a:solidFill>
                <a:latin typeface="Times New Roman"/>
                <a:cs typeface="Times New Roman"/>
              </a:rPr>
              <a:t>common</a:t>
            </a:r>
            <a:r>
              <a:rPr sz="2000" spc="-50" dirty="0">
                <a:solidFill>
                  <a:srgbClr val="CC0066"/>
                </a:solidFill>
                <a:latin typeface="Times New Roman"/>
                <a:cs typeface="Times New Roman"/>
              </a:rPr>
              <a:t> </a:t>
            </a:r>
            <a:r>
              <a:rPr sz="2000" dirty="0">
                <a:solidFill>
                  <a:srgbClr val="CC0066"/>
                </a:solidFill>
                <a:latin typeface="Times New Roman"/>
                <a:cs typeface="Times New Roman"/>
              </a:rPr>
              <a:t>way</a:t>
            </a:r>
            <a:r>
              <a:rPr sz="2000" spc="-40" dirty="0">
                <a:solidFill>
                  <a:srgbClr val="CC0066"/>
                </a:solidFill>
                <a:latin typeface="Times New Roman"/>
                <a:cs typeface="Times New Roman"/>
              </a:rPr>
              <a:t> </a:t>
            </a:r>
            <a:r>
              <a:rPr sz="2000" dirty="0">
                <a:solidFill>
                  <a:srgbClr val="CC0066"/>
                </a:solidFill>
                <a:latin typeface="Times New Roman"/>
                <a:cs typeface="Times New Roman"/>
              </a:rPr>
              <a:t>to</a:t>
            </a:r>
            <a:r>
              <a:rPr sz="2000" spc="-35" dirty="0">
                <a:solidFill>
                  <a:srgbClr val="CC0066"/>
                </a:solidFill>
                <a:latin typeface="Times New Roman"/>
                <a:cs typeface="Times New Roman"/>
              </a:rPr>
              <a:t> </a:t>
            </a:r>
            <a:r>
              <a:rPr sz="2000" dirty="0">
                <a:solidFill>
                  <a:srgbClr val="CC0066"/>
                </a:solidFill>
                <a:latin typeface="Times New Roman"/>
                <a:cs typeface="Times New Roman"/>
              </a:rPr>
              <a:t>store</a:t>
            </a:r>
            <a:r>
              <a:rPr sz="2000" spc="-40" dirty="0">
                <a:solidFill>
                  <a:srgbClr val="CC0066"/>
                </a:solidFill>
                <a:latin typeface="Times New Roman"/>
                <a:cs typeface="Times New Roman"/>
              </a:rPr>
              <a:t> </a:t>
            </a:r>
            <a:r>
              <a:rPr sz="2000" dirty="0">
                <a:solidFill>
                  <a:srgbClr val="CC0066"/>
                </a:solidFill>
                <a:latin typeface="Times New Roman"/>
                <a:cs typeface="Times New Roman"/>
              </a:rPr>
              <a:t>information</a:t>
            </a:r>
            <a:r>
              <a:rPr sz="2000" spc="-35" dirty="0">
                <a:solidFill>
                  <a:srgbClr val="CC0066"/>
                </a:solidFill>
                <a:latin typeface="Times New Roman"/>
                <a:cs typeface="Times New Roman"/>
              </a:rPr>
              <a:t> </a:t>
            </a:r>
            <a:r>
              <a:rPr sz="2000" dirty="0">
                <a:solidFill>
                  <a:srgbClr val="CC0066"/>
                </a:solidFill>
                <a:latin typeface="Times New Roman"/>
                <a:cs typeface="Times New Roman"/>
              </a:rPr>
              <a:t>in</a:t>
            </a:r>
            <a:r>
              <a:rPr sz="2000" spc="-40" dirty="0">
                <a:solidFill>
                  <a:srgbClr val="CC0066"/>
                </a:solidFill>
                <a:latin typeface="Times New Roman"/>
                <a:cs typeface="Times New Roman"/>
              </a:rPr>
              <a:t> </a:t>
            </a:r>
            <a:r>
              <a:rPr sz="2000" dirty="0">
                <a:solidFill>
                  <a:srgbClr val="CC0066"/>
                </a:solidFill>
                <a:latin typeface="Times New Roman"/>
                <a:cs typeface="Times New Roman"/>
              </a:rPr>
              <a:t>computer</a:t>
            </a:r>
            <a:r>
              <a:rPr sz="2000" spc="-35" dirty="0">
                <a:solidFill>
                  <a:srgbClr val="CC0066"/>
                </a:solidFill>
                <a:latin typeface="Times New Roman"/>
                <a:cs typeface="Times New Roman"/>
              </a:rPr>
              <a:t> </a:t>
            </a:r>
            <a:r>
              <a:rPr sz="2000" spc="-10" dirty="0">
                <a:solidFill>
                  <a:srgbClr val="CC0066"/>
                </a:solidFill>
                <a:latin typeface="Times New Roman"/>
                <a:cs typeface="Times New Roman"/>
              </a:rPr>
              <a:t>databases.</a:t>
            </a:r>
            <a:endParaRPr sz="2000" dirty="0">
              <a:solidFill>
                <a:srgbClr val="CC0066"/>
              </a:solidFill>
              <a:latin typeface="Times New Roman"/>
              <a:cs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34719" y="323849"/>
            <a:ext cx="6398260" cy="1123315"/>
          </a:xfrm>
          <a:prstGeom prst="rect">
            <a:avLst/>
          </a:prstGeom>
        </p:spPr>
        <p:txBody>
          <a:bodyPr vert="horz" wrap="square" lIns="0" tIns="12700" rIns="0" bIns="0" rtlCol="0">
            <a:spAutoFit/>
          </a:bodyPr>
          <a:lstStyle/>
          <a:p>
            <a:pPr marL="12700" marR="5080" indent="1278890">
              <a:lnSpc>
                <a:spcPct val="100000"/>
              </a:lnSpc>
              <a:spcBef>
                <a:spcPts val="100"/>
              </a:spcBef>
            </a:pPr>
            <a:r>
              <a:rPr dirty="0"/>
              <a:t>METHODS</a:t>
            </a:r>
            <a:r>
              <a:rPr spc="-110" dirty="0"/>
              <a:t> </a:t>
            </a:r>
            <a:r>
              <a:rPr spc="-25" dirty="0"/>
              <a:t>FOR </a:t>
            </a:r>
            <a:r>
              <a:rPr dirty="0"/>
              <a:t>REPRESENTING</a:t>
            </a:r>
            <a:r>
              <a:rPr spc="-60" dirty="0"/>
              <a:t> </a:t>
            </a:r>
            <a:r>
              <a:rPr spc="-45" dirty="0"/>
              <a:t>RELATIONS</a:t>
            </a:r>
          </a:p>
        </p:txBody>
      </p:sp>
      <p:sp>
        <p:nvSpPr>
          <p:cNvPr id="3" name="object 3"/>
          <p:cNvSpPr txBox="1"/>
          <p:nvPr/>
        </p:nvSpPr>
        <p:spPr>
          <a:xfrm>
            <a:off x="685800" y="2057400"/>
            <a:ext cx="6398260" cy="1987724"/>
          </a:xfrm>
          <a:prstGeom prst="rect">
            <a:avLst/>
          </a:prstGeom>
        </p:spPr>
        <p:txBody>
          <a:bodyPr vert="horz" wrap="square" lIns="0" tIns="12700" rIns="0" bIns="0" rtlCol="0">
            <a:spAutoFit/>
          </a:bodyPr>
          <a:lstStyle/>
          <a:p>
            <a:pPr marL="12700">
              <a:lnSpc>
                <a:spcPct val="100000"/>
              </a:lnSpc>
              <a:spcBef>
                <a:spcPts val="100"/>
              </a:spcBef>
              <a:tabLst>
                <a:tab pos="354965" algn="l"/>
              </a:tabLst>
            </a:pPr>
            <a:r>
              <a:rPr sz="2400" spc="65" dirty="0">
                <a:solidFill>
                  <a:srgbClr val="90C225"/>
                </a:solidFill>
                <a:latin typeface="Lucida Sans Unicode"/>
                <a:cs typeface="Lucida Sans Unicode"/>
              </a:rPr>
              <a:t>▶</a:t>
            </a:r>
            <a:r>
              <a:rPr sz="2400" dirty="0">
                <a:solidFill>
                  <a:srgbClr val="90C225"/>
                </a:solidFill>
                <a:latin typeface="Lucida Sans Unicode"/>
                <a:cs typeface="Lucida Sans Unicode"/>
              </a:rPr>
              <a:t>	</a:t>
            </a:r>
            <a:r>
              <a:rPr sz="2400" spc="-35" dirty="0">
                <a:solidFill>
                  <a:srgbClr val="404040"/>
                </a:solidFill>
                <a:latin typeface="Times New Roman"/>
                <a:cs typeface="Times New Roman"/>
              </a:rPr>
              <a:t>Two</a:t>
            </a:r>
            <a:r>
              <a:rPr sz="2400" spc="-65" dirty="0">
                <a:solidFill>
                  <a:srgbClr val="404040"/>
                </a:solidFill>
                <a:latin typeface="Times New Roman"/>
                <a:cs typeface="Times New Roman"/>
              </a:rPr>
              <a:t> </a:t>
            </a:r>
            <a:r>
              <a:rPr sz="2400" dirty="0">
                <a:solidFill>
                  <a:srgbClr val="404040"/>
                </a:solidFill>
                <a:latin typeface="Times New Roman"/>
                <a:cs typeface="Times New Roman"/>
              </a:rPr>
              <a:t>methods</a:t>
            </a:r>
            <a:r>
              <a:rPr sz="2400" spc="-60" dirty="0">
                <a:solidFill>
                  <a:srgbClr val="404040"/>
                </a:solidFill>
                <a:latin typeface="Times New Roman"/>
                <a:cs typeface="Times New Roman"/>
              </a:rPr>
              <a:t> </a:t>
            </a:r>
            <a:r>
              <a:rPr sz="2400" dirty="0">
                <a:solidFill>
                  <a:srgbClr val="404040"/>
                </a:solidFill>
                <a:latin typeface="Times New Roman"/>
                <a:cs typeface="Times New Roman"/>
              </a:rPr>
              <a:t>for</a:t>
            </a:r>
            <a:r>
              <a:rPr sz="2400" spc="-60" dirty="0">
                <a:solidFill>
                  <a:srgbClr val="404040"/>
                </a:solidFill>
                <a:latin typeface="Times New Roman"/>
                <a:cs typeface="Times New Roman"/>
              </a:rPr>
              <a:t> </a:t>
            </a:r>
            <a:r>
              <a:rPr sz="2400" dirty="0">
                <a:solidFill>
                  <a:srgbClr val="404040"/>
                </a:solidFill>
                <a:latin typeface="Times New Roman"/>
                <a:cs typeface="Times New Roman"/>
              </a:rPr>
              <a:t>representing</a:t>
            </a:r>
            <a:r>
              <a:rPr sz="2400" spc="-55" dirty="0">
                <a:solidFill>
                  <a:srgbClr val="404040"/>
                </a:solidFill>
                <a:latin typeface="Times New Roman"/>
                <a:cs typeface="Times New Roman"/>
              </a:rPr>
              <a:t> </a:t>
            </a:r>
            <a:r>
              <a:rPr sz="2400" spc="-10" dirty="0">
                <a:solidFill>
                  <a:srgbClr val="404040"/>
                </a:solidFill>
                <a:latin typeface="Times New Roman"/>
                <a:cs typeface="Times New Roman"/>
              </a:rPr>
              <a:t>relations:</a:t>
            </a:r>
            <a:endParaRPr sz="2400" dirty="0">
              <a:latin typeface="Times New Roman"/>
              <a:cs typeface="Times New Roman"/>
            </a:endParaRPr>
          </a:p>
          <a:p>
            <a:pPr>
              <a:lnSpc>
                <a:spcPct val="100000"/>
              </a:lnSpc>
              <a:spcBef>
                <a:spcPts val="25"/>
              </a:spcBef>
            </a:pPr>
            <a:endParaRPr sz="2400" dirty="0">
              <a:latin typeface="Times New Roman"/>
              <a:cs typeface="Times New Roman"/>
            </a:endParaRPr>
          </a:p>
          <a:p>
            <a:pPr marL="863600" indent="-393700">
              <a:lnSpc>
                <a:spcPct val="100000"/>
              </a:lnSpc>
              <a:buClr>
                <a:srgbClr val="90C225"/>
              </a:buClr>
              <a:buSzPct val="78125"/>
              <a:buFont typeface="Times New Roman"/>
              <a:buAutoNum type="arabicPeriod"/>
              <a:tabLst>
                <a:tab pos="863600" algn="l"/>
              </a:tabLst>
            </a:pPr>
            <a:r>
              <a:rPr sz="2400" b="1" dirty="0">
                <a:solidFill>
                  <a:srgbClr val="6F2F9F"/>
                </a:solidFill>
                <a:latin typeface="Times New Roman"/>
                <a:cs typeface="Times New Roman"/>
              </a:rPr>
              <a:t>Square</a:t>
            </a:r>
            <a:r>
              <a:rPr sz="2400" b="1" spc="-55" dirty="0">
                <a:solidFill>
                  <a:srgbClr val="6F2F9F"/>
                </a:solidFill>
                <a:latin typeface="Times New Roman"/>
                <a:cs typeface="Times New Roman"/>
              </a:rPr>
              <a:t> </a:t>
            </a:r>
            <a:r>
              <a:rPr sz="2400" b="1" spc="-10" dirty="0">
                <a:solidFill>
                  <a:srgbClr val="6F2F9F"/>
                </a:solidFill>
                <a:latin typeface="Times New Roman"/>
                <a:cs typeface="Times New Roman"/>
              </a:rPr>
              <a:t>Matrices</a:t>
            </a:r>
            <a:endParaRPr sz="2400" dirty="0">
              <a:latin typeface="Times New Roman"/>
              <a:cs typeface="Times New Roman"/>
            </a:endParaRPr>
          </a:p>
          <a:p>
            <a:pPr marL="863600" indent="-393700">
              <a:lnSpc>
                <a:spcPct val="100000"/>
              </a:lnSpc>
              <a:spcBef>
                <a:spcPts val="1005"/>
              </a:spcBef>
              <a:buClr>
                <a:srgbClr val="90C225"/>
              </a:buClr>
              <a:buSzPct val="78125"/>
              <a:buAutoNum type="arabicPeriod"/>
              <a:tabLst>
                <a:tab pos="863600" algn="l"/>
              </a:tabLst>
            </a:pPr>
            <a:r>
              <a:rPr sz="2400" b="1" dirty="0">
                <a:solidFill>
                  <a:srgbClr val="6F2F9F"/>
                </a:solidFill>
                <a:latin typeface="Times New Roman"/>
                <a:cs typeface="Times New Roman"/>
              </a:rPr>
              <a:t>Directed</a:t>
            </a:r>
            <a:r>
              <a:rPr sz="2400" b="1" spc="-45" dirty="0">
                <a:solidFill>
                  <a:srgbClr val="6F2F9F"/>
                </a:solidFill>
                <a:latin typeface="Times New Roman"/>
                <a:cs typeface="Times New Roman"/>
              </a:rPr>
              <a:t> </a:t>
            </a:r>
            <a:r>
              <a:rPr sz="2400" b="1" dirty="0">
                <a:solidFill>
                  <a:srgbClr val="6F2F9F"/>
                </a:solidFill>
                <a:latin typeface="Times New Roman"/>
                <a:cs typeface="Times New Roman"/>
              </a:rPr>
              <a:t>Graphs</a:t>
            </a:r>
            <a:r>
              <a:rPr sz="2400" b="1" spc="-50" dirty="0">
                <a:solidFill>
                  <a:srgbClr val="6F2F9F"/>
                </a:solidFill>
                <a:latin typeface="Times New Roman"/>
                <a:cs typeface="Times New Roman"/>
              </a:rPr>
              <a:t> </a:t>
            </a:r>
            <a:r>
              <a:rPr sz="2400" dirty="0">
                <a:solidFill>
                  <a:srgbClr val="404040"/>
                </a:solidFill>
                <a:latin typeface="Times New Roman"/>
                <a:cs typeface="Times New Roman"/>
              </a:rPr>
              <a:t>(consisting</a:t>
            </a:r>
            <a:r>
              <a:rPr sz="2400" spc="-35" dirty="0">
                <a:solidFill>
                  <a:srgbClr val="404040"/>
                </a:solidFill>
                <a:latin typeface="Times New Roman"/>
                <a:cs typeface="Times New Roman"/>
              </a:rPr>
              <a:t> </a:t>
            </a:r>
            <a:r>
              <a:rPr sz="2400" dirty="0">
                <a:solidFill>
                  <a:srgbClr val="404040"/>
                </a:solidFill>
                <a:latin typeface="Times New Roman"/>
                <a:cs typeface="Times New Roman"/>
              </a:rPr>
              <a:t>of</a:t>
            </a:r>
            <a:r>
              <a:rPr sz="2400" spc="-45" dirty="0">
                <a:solidFill>
                  <a:srgbClr val="404040"/>
                </a:solidFill>
                <a:latin typeface="Times New Roman"/>
                <a:cs typeface="Times New Roman"/>
              </a:rPr>
              <a:t> </a:t>
            </a:r>
            <a:r>
              <a:rPr sz="2400" dirty="0">
                <a:solidFill>
                  <a:srgbClr val="404040"/>
                </a:solidFill>
                <a:latin typeface="Times New Roman"/>
                <a:cs typeface="Times New Roman"/>
              </a:rPr>
              <a:t>vertices</a:t>
            </a:r>
            <a:r>
              <a:rPr sz="2400" spc="-35" dirty="0">
                <a:solidFill>
                  <a:srgbClr val="404040"/>
                </a:solidFill>
                <a:latin typeface="Times New Roman"/>
                <a:cs typeface="Times New Roman"/>
              </a:rPr>
              <a:t> </a:t>
            </a:r>
            <a:r>
              <a:rPr sz="2400" dirty="0">
                <a:solidFill>
                  <a:srgbClr val="404040"/>
                </a:solidFill>
                <a:latin typeface="Times New Roman"/>
                <a:cs typeface="Times New Roman"/>
              </a:rPr>
              <a:t>and</a:t>
            </a:r>
            <a:r>
              <a:rPr sz="2400" spc="-50" dirty="0">
                <a:solidFill>
                  <a:srgbClr val="404040"/>
                </a:solidFill>
                <a:latin typeface="Times New Roman"/>
                <a:cs typeface="Times New Roman"/>
              </a:rPr>
              <a:t> </a:t>
            </a:r>
            <a:r>
              <a:rPr sz="2400" dirty="0">
                <a:solidFill>
                  <a:srgbClr val="404040"/>
                </a:solidFill>
                <a:latin typeface="Times New Roman"/>
                <a:cs typeface="Times New Roman"/>
              </a:rPr>
              <a:t>directed</a:t>
            </a:r>
            <a:r>
              <a:rPr sz="2400" spc="-40" dirty="0">
                <a:solidFill>
                  <a:srgbClr val="404040"/>
                </a:solidFill>
                <a:latin typeface="Times New Roman"/>
                <a:cs typeface="Times New Roman"/>
              </a:rPr>
              <a:t> </a:t>
            </a:r>
            <a:r>
              <a:rPr sz="2400" spc="-10" dirty="0">
                <a:solidFill>
                  <a:srgbClr val="404040"/>
                </a:solidFill>
                <a:latin typeface="Times New Roman"/>
                <a:cs typeface="Times New Roman"/>
              </a:rPr>
              <a:t>edges)</a:t>
            </a:r>
            <a:endParaRPr sz="2400" dirty="0">
              <a:latin typeface="Times New Roman"/>
              <a:cs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2118" y="228600"/>
            <a:ext cx="5742433" cy="1123315"/>
          </a:xfrm>
          <a:prstGeom prst="rect">
            <a:avLst/>
          </a:prstGeom>
        </p:spPr>
        <p:txBody>
          <a:bodyPr vert="horz" wrap="square" lIns="0" tIns="12700" rIns="0" bIns="0" rtlCol="0">
            <a:spAutoFit/>
          </a:bodyPr>
          <a:lstStyle/>
          <a:p>
            <a:pPr marL="514350" marR="5080" indent="-502284">
              <a:lnSpc>
                <a:spcPct val="100000"/>
              </a:lnSpc>
              <a:spcBef>
                <a:spcPts val="100"/>
              </a:spcBef>
            </a:pPr>
            <a:r>
              <a:rPr spc="-20" dirty="0"/>
              <a:t>BINARY</a:t>
            </a:r>
            <a:r>
              <a:rPr spc="-175" dirty="0"/>
              <a:t> </a:t>
            </a:r>
            <a:r>
              <a:rPr spc="-45" dirty="0"/>
              <a:t>RELATIONS</a:t>
            </a:r>
            <a:r>
              <a:rPr spc="-225" dirty="0"/>
              <a:t> </a:t>
            </a:r>
            <a:r>
              <a:rPr spc="-25" dirty="0"/>
              <a:t>AND </a:t>
            </a:r>
            <a:r>
              <a:rPr dirty="0"/>
              <a:t>THEIR</a:t>
            </a:r>
            <a:r>
              <a:rPr spc="-125" dirty="0"/>
              <a:t> </a:t>
            </a:r>
            <a:r>
              <a:rPr spc="-10" dirty="0"/>
              <a:t>PROPERTIES</a:t>
            </a:r>
          </a:p>
        </p:txBody>
      </p:sp>
      <p:sp>
        <p:nvSpPr>
          <p:cNvPr id="3" name="object 3"/>
          <p:cNvSpPr txBox="1"/>
          <p:nvPr/>
        </p:nvSpPr>
        <p:spPr>
          <a:xfrm>
            <a:off x="383540" y="1502664"/>
            <a:ext cx="7388860" cy="5180905"/>
          </a:xfrm>
          <a:prstGeom prst="rect">
            <a:avLst/>
          </a:prstGeom>
        </p:spPr>
        <p:txBody>
          <a:bodyPr vert="horz" wrap="square" lIns="0" tIns="12700" rIns="0" bIns="0" rtlCol="0">
            <a:spAutoFit/>
          </a:bodyPr>
          <a:lstStyle/>
          <a:p>
            <a:pPr marL="355600" marR="34290" indent="-342900">
              <a:lnSpc>
                <a:spcPct val="100000"/>
              </a:lnSpc>
              <a:spcBef>
                <a:spcPts val="100"/>
              </a:spcBef>
              <a:tabLst>
                <a:tab pos="354965" algn="l"/>
              </a:tabLst>
            </a:pPr>
            <a:r>
              <a:rPr sz="2000" spc="65" dirty="0">
                <a:solidFill>
                  <a:srgbClr val="90C225"/>
                </a:solidFill>
                <a:latin typeface="Lucida Sans Unicode"/>
                <a:cs typeface="Lucida Sans Unicode"/>
              </a:rPr>
              <a:t>▶</a:t>
            </a:r>
            <a:r>
              <a:rPr sz="2000" dirty="0">
                <a:solidFill>
                  <a:srgbClr val="CC0066"/>
                </a:solidFill>
                <a:latin typeface="Lucida Sans Unicode"/>
                <a:cs typeface="Lucida Sans Unicode"/>
              </a:rPr>
              <a:t>	</a:t>
            </a:r>
            <a:r>
              <a:rPr lang="en-US" sz="2000" dirty="0">
                <a:solidFill>
                  <a:srgbClr val="CC0066"/>
                </a:solidFill>
                <a:latin typeface="Times New Roman"/>
                <a:cs typeface="Times New Roman"/>
              </a:rPr>
              <a:t>The easiest way to show a relationship between two sets is by using ordered pairs like (a, b).</a:t>
            </a:r>
          </a:p>
          <a:p>
            <a:pPr marL="355600" marR="34290" indent="-342900">
              <a:lnSpc>
                <a:spcPct val="100000"/>
              </a:lnSpc>
              <a:spcBef>
                <a:spcPts val="100"/>
              </a:spcBef>
              <a:buFont typeface="Arial" panose="020B0604020202020204" pitchFamily="34" charset="0"/>
              <a:buChar char="•"/>
              <a:tabLst>
                <a:tab pos="354965" algn="l"/>
              </a:tabLst>
            </a:pPr>
            <a:r>
              <a:rPr lang="en-US" sz="2000" dirty="0">
                <a:solidFill>
                  <a:srgbClr val="0070C0"/>
                </a:solidFill>
                <a:latin typeface="Times New Roman"/>
                <a:cs typeface="Times New Roman"/>
              </a:rPr>
              <a:t>Because we use pairs of two elements, this is called a binary relation.</a:t>
            </a:r>
          </a:p>
          <a:p>
            <a:pPr marL="355600" marR="34290" indent="-342900">
              <a:lnSpc>
                <a:spcPct val="100000"/>
              </a:lnSpc>
              <a:spcBef>
                <a:spcPts val="100"/>
              </a:spcBef>
              <a:tabLst>
                <a:tab pos="354965" algn="l"/>
              </a:tabLst>
            </a:pPr>
            <a:endParaRPr lang="en-US" sz="2000" b="1" u="sng" dirty="0">
              <a:solidFill>
                <a:srgbClr val="404040"/>
              </a:solidFill>
              <a:uFill>
                <a:solidFill>
                  <a:srgbClr val="6F2F9F"/>
                </a:solidFill>
              </a:uFill>
              <a:latin typeface="Times New Roman"/>
              <a:cs typeface="Times New Roman"/>
            </a:endParaRPr>
          </a:p>
          <a:p>
            <a:pPr marL="355600" marR="34290" indent="-342900">
              <a:lnSpc>
                <a:spcPct val="100000"/>
              </a:lnSpc>
              <a:spcBef>
                <a:spcPts val="100"/>
              </a:spcBef>
              <a:tabLst>
                <a:tab pos="354965" algn="l"/>
              </a:tabLst>
            </a:pPr>
            <a:r>
              <a:rPr sz="2000" b="1" u="sng" dirty="0">
                <a:solidFill>
                  <a:srgbClr val="6F2F9F"/>
                </a:solidFill>
                <a:uFill>
                  <a:solidFill>
                    <a:srgbClr val="6F2F9F"/>
                  </a:solidFill>
                </a:uFill>
                <a:latin typeface="Times New Roman"/>
                <a:cs typeface="Times New Roman"/>
              </a:rPr>
              <a:t>DEFINITION:</a:t>
            </a:r>
            <a:r>
              <a:rPr sz="2000" b="1" u="sng" spc="440" dirty="0">
                <a:solidFill>
                  <a:srgbClr val="6F2F9F"/>
                </a:solidFill>
                <a:uFill>
                  <a:solidFill>
                    <a:srgbClr val="6F2F9F"/>
                  </a:solidFill>
                </a:uFill>
                <a:latin typeface="Times New Roman"/>
                <a:cs typeface="Times New Roman"/>
              </a:rPr>
              <a:t> </a:t>
            </a:r>
            <a:r>
              <a:rPr sz="2000" b="1" dirty="0">
                <a:solidFill>
                  <a:srgbClr val="404040"/>
                </a:solidFill>
                <a:latin typeface="Times New Roman"/>
                <a:cs typeface="Times New Roman"/>
              </a:rPr>
              <a:t>Let</a:t>
            </a:r>
            <a:r>
              <a:rPr sz="2000" b="1" spc="-5" dirty="0">
                <a:solidFill>
                  <a:srgbClr val="404040"/>
                </a:solidFill>
                <a:latin typeface="Times New Roman"/>
                <a:cs typeface="Times New Roman"/>
              </a:rPr>
              <a:t> </a:t>
            </a:r>
            <a:r>
              <a:rPr sz="2000" b="1" i="1" dirty="0">
                <a:solidFill>
                  <a:srgbClr val="404040"/>
                </a:solidFill>
                <a:latin typeface="Times New Roman"/>
                <a:cs typeface="Times New Roman"/>
              </a:rPr>
              <a:t>A</a:t>
            </a:r>
            <a:r>
              <a:rPr sz="2000" b="1" i="1" spc="-110" dirty="0">
                <a:solidFill>
                  <a:srgbClr val="404040"/>
                </a:solidFill>
                <a:latin typeface="Times New Roman"/>
                <a:cs typeface="Times New Roman"/>
              </a:rPr>
              <a:t> </a:t>
            </a:r>
            <a:r>
              <a:rPr sz="2000" b="1" dirty="0">
                <a:solidFill>
                  <a:srgbClr val="404040"/>
                </a:solidFill>
                <a:latin typeface="Times New Roman"/>
                <a:cs typeface="Times New Roman"/>
              </a:rPr>
              <a:t>and </a:t>
            </a:r>
            <a:r>
              <a:rPr sz="2000" b="1" i="1" dirty="0">
                <a:solidFill>
                  <a:srgbClr val="404040"/>
                </a:solidFill>
                <a:latin typeface="Times New Roman"/>
                <a:cs typeface="Times New Roman"/>
              </a:rPr>
              <a:t>B</a:t>
            </a:r>
            <a:r>
              <a:rPr sz="2000" b="1" i="1" spc="-5" dirty="0">
                <a:solidFill>
                  <a:srgbClr val="404040"/>
                </a:solidFill>
                <a:latin typeface="Times New Roman"/>
                <a:cs typeface="Times New Roman"/>
              </a:rPr>
              <a:t> </a:t>
            </a:r>
            <a:r>
              <a:rPr sz="2000" b="1" dirty="0">
                <a:solidFill>
                  <a:srgbClr val="404040"/>
                </a:solidFill>
                <a:latin typeface="Times New Roman"/>
                <a:cs typeface="Times New Roman"/>
              </a:rPr>
              <a:t>be</a:t>
            </a:r>
            <a:r>
              <a:rPr sz="2000" b="1" spc="-5" dirty="0">
                <a:solidFill>
                  <a:srgbClr val="404040"/>
                </a:solidFill>
                <a:latin typeface="Times New Roman"/>
                <a:cs typeface="Times New Roman"/>
              </a:rPr>
              <a:t> </a:t>
            </a:r>
            <a:r>
              <a:rPr sz="2000" b="1" spc="-10" dirty="0">
                <a:solidFill>
                  <a:srgbClr val="404040"/>
                </a:solidFill>
                <a:latin typeface="Times New Roman"/>
                <a:cs typeface="Times New Roman"/>
              </a:rPr>
              <a:t>sets.</a:t>
            </a:r>
            <a:r>
              <a:rPr sz="2000" b="1" spc="-100" dirty="0">
                <a:solidFill>
                  <a:srgbClr val="404040"/>
                </a:solidFill>
                <a:latin typeface="Times New Roman"/>
                <a:cs typeface="Times New Roman"/>
              </a:rPr>
              <a:t> </a:t>
            </a:r>
            <a:r>
              <a:rPr sz="2000" b="1" dirty="0">
                <a:solidFill>
                  <a:srgbClr val="404040"/>
                </a:solidFill>
                <a:latin typeface="Times New Roman"/>
                <a:cs typeface="Times New Roman"/>
              </a:rPr>
              <a:t>A</a:t>
            </a:r>
            <a:r>
              <a:rPr sz="2000" b="1" spc="-105" dirty="0">
                <a:solidFill>
                  <a:srgbClr val="404040"/>
                </a:solidFill>
                <a:latin typeface="Times New Roman"/>
                <a:cs typeface="Times New Roman"/>
              </a:rPr>
              <a:t> </a:t>
            </a:r>
            <a:r>
              <a:rPr sz="2000" b="1" i="1" dirty="0">
                <a:solidFill>
                  <a:srgbClr val="404040"/>
                </a:solidFill>
                <a:latin typeface="Times New Roman"/>
                <a:cs typeface="Times New Roman"/>
              </a:rPr>
              <a:t>binary</a:t>
            </a:r>
            <a:r>
              <a:rPr sz="2000" b="1" i="1" spc="-5" dirty="0">
                <a:solidFill>
                  <a:srgbClr val="404040"/>
                </a:solidFill>
                <a:latin typeface="Times New Roman"/>
                <a:cs typeface="Times New Roman"/>
              </a:rPr>
              <a:t> </a:t>
            </a:r>
            <a:r>
              <a:rPr sz="2000" b="1" i="1" dirty="0">
                <a:solidFill>
                  <a:srgbClr val="404040"/>
                </a:solidFill>
                <a:latin typeface="Times New Roman"/>
                <a:cs typeface="Times New Roman"/>
              </a:rPr>
              <a:t>relation</a:t>
            </a:r>
            <a:r>
              <a:rPr sz="2000" b="1" i="1" spc="5" dirty="0">
                <a:solidFill>
                  <a:srgbClr val="404040"/>
                </a:solidFill>
                <a:latin typeface="Times New Roman"/>
                <a:cs typeface="Times New Roman"/>
              </a:rPr>
              <a:t> </a:t>
            </a:r>
            <a:r>
              <a:rPr sz="2000" b="1" i="1" dirty="0">
                <a:solidFill>
                  <a:srgbClr val="404040"/>
                </a:solidFill>
                <a:latin typeface="Times New Roman"/>
                <a:cs typeface="Times New Roman"/>
              </a:rPr>
              <a:t>from</a:t>
            </a:r>
            <a:r>
              <a:rPr sz="2000" b="1" i="1" spc="-75" dirty="0">
                <a:solidFill>
                  <a:srgbClr val="404040"/>
                </a:solidFill>
                <a:latin typeface="Times New Roman"/>
                <a:cs typeface="Times New Roman"/>
              </a:rPr>
              <a:t> </a:t>
            </a:r>
            <a:r>
              <a:rPr sz="2000" b="1" i="1" dirty="0">
                <a:solidFill>
                  <a:srgbClr val="404040"/>
                </a:solidFill>
                <a:latin typeface="Times New Roman"/>
                <a:cs typeface="Times New Roman"/>
              </a:rPr>
              <a:t>A</a:t>
            </a:r>
            <a:r>
              <a:rPr sz="2000" b="1" i="1" spc="-100" dirty="0">
                <a:solidFill>
                  <a:srgbClr val="404040"/>
                </a:solidFill>
                <a:latin typeface="Times New Roman"/>
                <a:cs typeface="Times New Roman"/>
              </a:rPr>
              <a:t> </a:t>
            </a:r>
            <a:r>
              <a:rPr sz="2000" b="1" i="1" dirty="0">
                <a:solidFill>
                  <a:srgbClr val="404040"/>
                </a:solidFill>
                <a:latin typeface="Times New Roman"/>
                <a:cs typeface="Times New Roman"/>
              </a:rPr>
              <a:t>to</a:t>
            </a:r>
            <a:r>
              <a:rPr sz="2000" b="1" i="1" spc="-5" dirty="0">
                <a:solidFill>
                  <a:srgbClr val="404040"/>
                </a:solidFill>
                <a:latin typeface="Times New Roman"/>
                <a:cs typeface="Times New Roman"/>
              </a:rPr>
              <a:t> </a:t>
            </a:r>
            <a:r>
              <a:rPr sz="2000" b="1" i="1" dirty="0">
                <a:solidFill>
                  <a:srgbClr val="404040"/>
                </a:solidFill>
                <a:latin typeface="Times New Roman"/>
                <a:cs typeface="Times New Roman"/>
              </a:rPr>
              <a:t>B </a:t>
            </a:r>
            <a:r>
              <a:rPr sz="2000" b="1" dirty="0">
                <a:solidFill>
                  <a:srgbClr val="404040"/>
                </a:solidFill>
                <a:latin typeface="Times New Roman"/>
                <a:cs typeface="Times New Roman"/>
              </a:rPr>
              <a:t>is </a:t>
            </a:r>
            <a:r>
              <a:rPr sz="2000" b="1" spc="-50" dirty="0">
                <a:solidFill>
                  <a:srgbClr val="404040"/>
                </a:solidFill>
                <a:latin typeface="Times New Roman"/>
                <a:cs typeface="Times New Roman"/>
              </a:rPr>
              <a:t>a </a:t>
            </a:r>
            <a:r>
              <a:rPr sz="2000" b="1" dirty="0">
                <a:solidFill>
                  <a:srgbClr val="404040"/>
                </a:solidFill>
                <a:latin typeface="Times New Roman"/>
                <a:cs typeface="Times New Roman"/>
              </a:rPr>
              <a:t>subset</a:t>
            </a:r>
            <a:r>
              <a:rPr sz="2000" b="1" spc="-20" dirty="0">
                <a:solidFill>
                  <a:srgbClr val="404040"/>
                </a:solidFill>
                <a:latin typeface="Times New Roman"/>
                <a:cs typeface="Times New Roman"/>
              </a:rPr>
              <a:t> </a:t>
            </a:r>
            <a:r>
              <a:rPr sz="2000" b="1" dirty="0">
                <a:solidFill>
                  <a:srgbClr val="404040"/>
                </a:solidFill>
                <a:latin typeface="Times New Roman"/>
                <a:cs typeface="Times New Roman"/>
              </a:rPr>
              <a:t>of</a:t>
            </a:r>
            <a:r>
              <a:rPr sz="2000" b="1" spc="-10" dirty="0">
                <a:solidFill>
                  <a:srgbClr val="404040"/>
                </a:solidFill>
                <a:latin typeface="Times New Roman"/>
                <a:cs typeface="Times New Roman"/>
              </a:rPr>
              <a:t> </a:t>
            </a:r>
            <a:r>
              <a:rPr sz="2000" b="1" i="1" dirty="0">
                <a:solidFill>
                  <a:srgbClr val="404040"/>
                </a:solidFill>
                <a:latin typeface="Times New Roman"/>
                <a:cs typeface="Times New Roman"/>
              </a:rPr>
              <a:t>A</a:t>
            </a:r>
            <a:r>
              <a:rPr sz="2000" b="1" i="1" spc="-110" dirty="0">
                <a:solidFill>
                  <a:srgbClr val="404040"/>
                </a:solidFill>
                <a:latin typeface="Times New Roman"/>
                <a:cs typeface="Times New Roman"/>
              </a:rPr>
              <a:t> </a:t>
            </a:r>
            <a:r>
              <a:rPr sz="2000" b="1" dirty="0">
                <a:solidFill>
                  <a:srgbClr val="404040"/>
                </a:solidFill>
                <a:latin typeface="Times New Roman"/>
                <a:cs typeface="Times New Roman"/>
              </a:rPr>
              <a:t>×</a:t>
            </a:r>
            <a:r>
              <a:rPr sz="2000" b="1" spc="-5" dirty="0">
                <a:solidFill>
                  <a:srgbClr val="404040"/>
                </a:solidFill>
                <a:latin typeface="Times New Roman"/>
                <a:cs typeface="Times New Roman"/>
              </a:rPr>
              <a:t> </a:t>
            </a:r>
            <a:r>
              <a:rPr sz="2000" b="1" i="1" spc="-25" dirty="0">
                <a:solidFill>
                  <a:srgbClr val="404040"/>
                </a:solidFill>
                <a:latin typeface="Times New Roman"/>
                <a:cs typeface="Times New Roman"/>
              </a:rPr>
              <a:t>B</a:t>
            </a:r>
            <a:r>
              <a:rPr sz="2000" b="1" spc="-25" dirty="0">
                <a:solidFill>
                  <a:srgbClr val="404040"/>
                </a:solidFill>
                <a:latin typeface="Times New Roman"/>
                <a:cs typeface="Times New Roman"/>
              </a:rPr>
              <a:t>.</a:t>
            </a:r>
            <a:endParaRPr sz="2000" dirty="0">
              <a:latin typeface="Times New Roman"/>
              <a:cs typeface="Times New Roman"/>
            </a:endParaRPr>
          </a:p>
          <a:p>
            <a:pPr marL="355600" marR="5080" indent="-342900">
              <a:lnSpc>
                <a:spcPct val="100000"/>
              </a:lnSpc>
              <a:spcBef>
                <a:spcPts val="1000"/>
              </a:spcBef>
              <a:tabLst>
                <a:tab pos="354965" algn="l"/>
              </a:tabLst>
            </a:pPr>
            <a:r>
              <a:rPr sz="2000" spc="65" dirty="0">
                <a:solidFill>
                  <a:srgbClr val="90C225"/>
                </a:solidFill>
                <a:latin typeface="Lucida Sans Unicode"/>
                <a:cs typeface="Lucida Sans Unicode"/>
              </a:rPr>
              <a:t>▶</a:t>
            </a:r>
            <a:r>
              <a:rPr sz="2000" dirty="0">
                <a:solidFill>
                  <a:srgbClr val="90C225"/>
                </a:solidFill>
                <a:latin typeface="Lucida Sans Unicode"/>
                <a:cs typeface="Lucida Sans Unicode"/>
              </a:rPr>
              <a:t>	</a:t>
            </a:r>
            <a:r>
              <a:rPr sz="2000" dirty="0">
                <a:solidFill>
                  <a:srgbClr val="404040"/>
                </a:solidFill>
                <a:latin typeface="Times New Roman"/>
                <a:cs typeface="Times New Roman"/>
              </a:rPr>
              <a:t>In</a:t>
            </a:r>
            <a:r>
              <a:rPr sz="2000" spc="-20" dirty="0">
                <a:solidFill>
                  <a:srgbClr val="404040"/>
                </a:solidFill>
                <a:latin typeface="Times New Roman"/>
                <a:cs typeface="Times New Roman"/>
              </a:rPr>
              <a:t> </a:t>
            </a:r>
            <a:r>
              <a:rPr sz="2000" dirty="0">
                <a:solidFill>
                  <a:srgbClr val="404040"/>
                </a:solidFill>
                <a:latin typeface="Times New Roman"/>
                <a:cs typeface="Times New Roman"/>
              </a:rPr>
              <a:t>other</a:t>
            </a:r>
            <a:r>
              <a:rPr sz="2000" spc="-20" dirty="0">
                <a:solidFill>
                  <a:srgbClr val="404040"/>
                </a:solidFill>
                <a:latin typeface="Times New Roman"/>
                <a:cs typeface="Times New Roman"/>
              </a:rPr>
              <a:t> </a:t>
            </a:r>
            <a:r>
              <a:rPr sz="2000" dirty="0">
                <a:solidFill>
                  <a:srgbClr val="404040"/>
                </a:solidFill>
                <a:latin typeface="Times New Roman"/>
                <a:cs typeface="Times New Roman"/>
              </a:rPr>
              <a:t>words,</a:t>
            </a:r>
            <a:r>
              <a:rPr sz="2000" spc="-20" dirty="0">
                <a:solidFill>
                  <a:srgbClr val="404040"/>
                </a:solidFill>
                <a:latin typeface="Times New Roman"/>
                <a:cs typeface="Times New Roman"/>
              </a:rPr>
              <a:t> </a:t>
            </a:r>
            <a:r>
              <a:rPr sz="2000" dirty="0">
                <a:solidFill>
                  <a:srgbClr val="404040"/>
                </a:solidFill>
                <a:latin typeface="Times New Roman"/>
                <a:cs typeface="Times New Roman"/>
              </a:rPr>
              <a:t>a</a:t>
            </a:r>
            <a:r>
              <a:rPr sz="2000" spc="-20" dirty="0">
                <a:solidFill>
                  <a:srgbClr val="404040"/>
                </a:solidFill>
                <a:latin typeface="Times New Roman"/>
                <a:cs typeface="Times New Roman"/>
              </a:rPr>
              <a:t> </a:t>
            </a:r>
            <a:r>
              <a:rPr sz="2000" dirty="0">
                <a:solidFill>
                  <a:srgbClr val="404040"/>
                </a:solidFill>
                <a:latin typeface="Times New Roman"/>
                <a:cs typeface="Times New Roman"/>
              </a:rPr>
              <a:t>binary</a:t>
            </a:r>
            <a:r>
              <a:rPr sz="2000" spc="-20" dirty="0">
                <a:solidFill>
                  <a:srgbClr val="404040"/>
                </a:solidFill>
                <a:latin typeface="Times New Roman"/>
                <a:cs typeface="Times New Roman"/>
              </a:rPr>
              <a:t> </a:t>
            </a:r>
            <a:r>
              <a:rPr sz="2000" dirty="0">
                <a:solidFill>
                  <a:srgbClr val="404040"/>
                </a:solidFill>
                <a:latin typeface="Times New Roman"/>
                <a:cs typeface="Times New Roman"/>
              </a:rPr>
              <a:t>relation</a:t>
            </a:r>
            <a:r>
              <a:rPr sz="2000" spc="-15" dirty="0">
                <a:solidFill>
                  <a:srgbClr val="404040"/>
                </a:solidFill>
                <a:latin typeface="Times New Roman"/>
                <a:cs typeface="Times New Roman"/>
              </a:rPr>
              <a:t> </a:t>
            </a:r>
            <a:r>
              <a:rPr sz="2000" dirty="0">
                <a:solidFill>
                  <a:srgbClr val="404040"/>
                </a:solidFill>
                <a:latin typeface="Times New Roman"/>
                <a:cs typeface="Times New Roman"/>
              </a:rPr>
              <a:t>from</a:t>
            </a:r>
            <a:r>
              <a:rPr sz="2000" spc="-10" dirty="0">
                <a:solidFill>
                  <a:srgbClr val="404040"/>
                </a:solidFill>
                <a:latin typeface="Times New Roman"/>
                <a:cs typeface="Times New Roman"/>
              </a:rPr>
              <a:t> </a:t>
            </a:r>
            <a:r>
              <a:rPr sz="2000" i="1" dirty="0">
                <a:solidFill>
                  <a:srgbClr val="404040"/>
                </a:solidFill>
                <a:latin typeface="Times New Roman"/>
                <a:cs typeface="Times New Roman"/>
              </a:rPr>
              <a:t>A</a:t>
            </a:r>
            <a:r>
              <a:rPr sz="2000" i="1" spc="-50" dirty="0">
                <a:solidFill>
                  <a:srgbClr val="404040"/>
                </a:solidFill>
                <a:latin typeface="Times New Roman"/>
                <a:cs typeface="Times New Roman"/>
              </a:rPr>
              <a:t> </a:t>
            </a:r>
            <a:r>
              <a:rPr sz="2000" dirty="0">
                <a:solidFill>
                  <a:srgbClr val="404040"/>
                </a:solidFill>
                <a:latin typeface="Times New Roman"/>
                <a:cs typeface="Times New Roman"/>
              </a:rPr>
              <a:t>to</a:t>
            </a:r>
            <a:r>
              <a:rPr sz="2000" spc="-25" dirty="0">
                <a:solidFill>
                  <a:srgbClr val="404040"/>
                </a:solidFill>
                <a:latin typeface="Times New Roman"/>
                <a:cs typeface="Times New Roman"/>
              </a:rPr>
              <a:t> </a:t>
            </a:r>
            <a:r>
              <a:rPr sz="2000" i="1" dirty="0">
                <a:solidFill>
                  <a:srgbClr val="404040"/>
                </a:solidFill>
                <a:latin typeface="Times New Roman"/>
                <a:cs typeface="Times New Roman"/>
              </a:rPr>
              <a:t>B</a:t>
            </a:r>
            <a:r>
              <a:rPr sz="2000" i="1" spc="-20" dirty="0">
                <a:solidFill>
                  <a:srgbClr val="404040"/>
                </a:solidFill>
                <a:latin typeface="Times New Roman"/>
                <a:cs typeface="Times New Roman"/>
              </a:rPr>
              <a:t> </a:t>
            </a:r>
            <a:r>
              <a:rPr sz="2000" dirty="0">
                <a:solidFill>
                  <a:srgbClr val="404040"/>
                </a:solidFill>
                <a:latin typeface="Times New Roman"/>
                <a:cs typeface="Times New Roman"/>
              </a:rPr>
              <a:t>is</a:t>
            </a:r>
            <a:r>
              <a:rPr sz="2000" spc="-20" dirty="0">
                <a:solidFill>
                  <a:srgbClr val="404040"/>
                </a:solidFill>
                <a:latin typeface="Times New Roman"/>
                <a:cs typeface="Times New Roman"/>
              </a:rPr>
              <a:t> </a:t>
            </a:r>
            <a:r>
              <a:rPr sz="2000" dirty="0">
                <a:solidFill>
                  <a:srgbClr val="404040"/>
                </a:solidFill>
                <a:latin typeface="Times New Roman"/>
                <a:cs typeface="Times New Roman"/>
              </a:rPr>
              <a:t>a</a:t>
            </a:r>
            <a:r>
              <a:rPr sz="2000" spc="-20" dirty="0">
                <a:solidFill>
                  <a:srgbClr val="404040"/>
                </a:solidFill>
                <a:latin typeface="Times New Roman"/>
                <a:cs typeface="Times New Roman"/>
              </a:rPr>
              <a:t> </a:t>
            </a:r>
            <a:r>
              <a:rPr sz="2000" dirty="0">
                <a:solidFill>
                  <a:srgbClr val="404040"/>
                </a:solidFill>
                <a:latin typeface="Times New Roman"/>
                <a:cs typeface="Times New Roman"/>
              </a:rPr>
              <a:t>set</a:t>
            </a:r>
            <a:r>
              <a:rPr sz="2000" spc="-25" dirty="0">
                <a:solidFill>
                  <a:srgbClr val="404040"/>
                </a:solidFill>
                <a:latin typeface="Times New Roman"/>
                <a:cs typeface="Times New Roman"/>
              </a:rPr>
              <a:t> </a:t>
            </a:r>
            <a:r>
              <a:rPr sz="2000" i="1" dirty="0">
                <a:solidFill>
                  <a:srgbClr val="404040"/>
                </a:solidFill>
                <a:latin typeface="Times New Roman"/>
                <a:cs typeface="Times New Roman"/>
              </a:rPr>
              <a:t>R</a:t>
            </a:r>
            <a:r>
              <a:rPr sz="2000" i="1" spc="-20" dirty="0">
                <a:solidFill>
                  <a:srgbClr val="404040"/>
                </a:solidFill>
                <a:latin typeface="Times New Roman"/>
                <a:cs typeface="Times New Roman"/>
              </a:rPr>
              <a:t> </a:t>
            </a:r>
            <a:r>
              <a:rPr sz="2000" dirty="0">
                <a:solidFill>
                  <a:srgbClr val="404040"/>
                </a:solidFill>
                <a:latin typeface="Times New Roman"/>
                <a:cs typeface="Times New Roman"/>
              </a:rPr>
              <a:t>of</a:t>
            </a:r>
            <a:r>
              <a:rPr sz="2000" spc="-20" dirty="0">
                <a:solidFill>
                  <a:srgbClr val="404040"/>
                </a:solidFill>
                <a:latin typeface="Times New Roman"/>
                <a:cs typeface="Times New Roman"/>
              </a:rPr>
              <a:t> </a:t>
            </a:r>
            <a:r>
              <a:rPr sz="2000" dirty="0">
                <a:solidFill>
                  <a:srgbClr val="404040"/>
                </a:solidFill>
                <a:latin typeface="Times New Roman"/>
                <a:cs typeface="Times New Roman"/>
              </a:rPr>
              <a:t>ordered</a:t>
            </a:r>
            <a:r>
              <a:rPr sz="2000" spc="-15" dirty="0">
                <a:solidFill>
                  <a:srgbClr val="404040"/>
                </a:solidFill>
                <a:latin typeface="Times New Roman"/>
                <a:cs typeface="Times New Roman"/>
              </a:rPr>
              <a:t> </a:t>
            </a:r>
            <a:r>
              <a:rPr sz="2000" spc="-10" dirty="0">
                <a:solidFill>
                  <a:srgbClr val="404040"/>
                </a:solidFill>
                <a:latin typeface="Times New Roman"/>
                <a:cs typeface="Times New Roman"/>
              </a:rPr>
              <a:t>pairs, </a:t>
            </a:r>
            <a:r>
              <a:rPr sz="2000" dirty="0">
                <a:solidFill>
                  <a:srgbClr val="00B050"/>
                </a:solidFill>
                <a:latin typeface="Times New Roman"/>
                <a:cs typeface="Times New Roman"/>
              </a:rPr>
              <a:t>where</a:t>
            </a:r>
            <a:r>
              <a:rPr sz="2000" spc="-10" dirty="0">
                <a:solidFill>
                  <a:srgbClr val="00B050"/>
                </a:solidFill>
                <a:latin typeface="Times New Roman"/>
                <a:cs typeface="Times New Roman"/>
              </a:rPr>
              <a:t> </a:t>
            </a:r>
            <a:r>
              <a:rPr sz="2000" dirty="0">
                <a:solidFill>
                  <a:srgbClr val="00B050"/>
                </a:solidFill>
                <a:latin typeface="Times New Roman"/>
                <a:cs typeface="Times New Roman"/>
              </a:rPr>
              <a:t>the</a:t>
            </a:r>
            <a:r>
              <a:rPr sz="2000" spc="-5" dirty="0">
                <a:solidFill>
                  <a:srgbClr val="00B050"/>
                </a:solidFill>
                <a:latin typeface="Times New Roman"/>
                <a:cs typeface="Times New Roman"/>
              </a:rPr>
              <a:t> </a:t>
            </a:r>
            <a:r>
              <a:rPr sz="2000" dirty="0">
                <a:solidFill>
                  <a:srgbClr val="00B050"/>
                </a:solidFill>
                <a:latin typeface="Times New Roman"/>
                <a:cs typeface="Times New Roman"/>
              </a:rPr>
              <a:t>first</a:t>
            </a:r>
            <a:r>
              <a:rPr sz="2000" spc="-5" dirty="0">
                <a:solidFill>
                  <a:srgbClr val="00B050"/>
                </a:solidFill>
                <a:latin typeface="Times New Roman"/>
                <a:cs typeface="Times New Roman"/>
              </a:rPr>
              <a:t> </a:t>
            </a:r>
            <a:r>
              <a:rPr sz="2000" dirty="0">
                <a:solidFill>
                  <a:srgbClr val="00B050"/>
                </a:solidFill>
                <a:latin typeface="Times New Roman"/>
                <a:cs typeface="Times New Roman"/>
              </a:rPr>
              <a:t>element</a:t>
            </a:r>
            <a:r>
              <a:rPr sz="2000" spc="-10" dirty="0">
                <a:solidFill>
                  <a:srgbClr val="00B050"/>
                </a:solidFill>
                <a:latin typeface="Times New Roman"/>
                <a:cs typeface="Times New Roman"/>
              </a:rPr>
              <a:t> </a:t>
            </a:r>
            <a:r>
              <a:rPr sz="2000" dirty="0">
                <a:solidFill>
                  <a:srgbClr val="00B050"/>
                </a:solidFill>
                <a:latin typeface="Times New Roman"/>
                <a:cs typeface="Times New Roman"/>
              </a:rPr>
              <a:t>of</a:t>
            </a:r>
            <a:r>
              <a:rPr sz="2000" spc="-5" dirty="0">
                <a:solidFill>
                  <a:srgbClr val="00B050"/>
                </a:solidFill>
                <a:latin typeface="Times New Roman"/>
                <a:cs typeface="Times New Roman"/>
              </a:rPr>
              <a:t> </a:t>
            </a:r>
            <a:r>
              <a:rPr sz="2000" dirty="0">
                <a:solidFill>
                  <a:srgbClr val="00B050"/>
                </a:solidFill>
                <a:latin typeface="Times New Roman"/>
                <a:cs typeface="Times New Roman"/>
              </a:rPr>
              <a:t>each</a:t>
            </a:r>
            <a:r>
              <a:rPr sz="2000" spc="-5" dirty="0">
                <a:solidFill>
                  <a:srgbClr val="00B050"/>
                </a:solidFill>
                <a:latin typeface="Times New Roman"/>
                <a:cs typeface="Times New Roman"/>
              </a:rPr>
              <a:t> </a:t>
            </a:r>
            <a:r>
              <a:rPr sz="2000" dirty="0">
                <a:solidFill>
                  <a:srgbClr val="00B050"/>
                </a:solidFill>
                <a:latin typeface="Times New Roman"/>
                <a:cs typeface="Times New Roman"/>
              </a:rPr>
              <a:t>ordered</a:t>
            </a:r>
            <a:r>
              <a:rPr sz="2000" spc="-5" dirty="0">
                <a:solidFill>
                  <a:srgbClr val="00B050"/>
                </a:solidFill>
                <a:latin typeface="Times New Roman"/>
                <a:cs typeface="Times New Roman"/>
              </a:rPr>
              <a:t> </a:t>
            </a:r>
            <a:r>
              <a:rPr sz="2000" dirty="0">
                <a:solidFill>
                  <a:srgbClr val="00B050"/>
                </a:solidFill>
                <a:latin typeface="Times New Roman"/>
                <a:cs typeface="Times New Roman"/>
              </a:rPr>
              <a:t>pair</a:t>
            </a:r>
            <a:r>
              <a:rPr sz="2000" spc="-10" dirty="0">
                <a:solidFill>
                  <a:srgbClr val="00B050"/>
                </a:solidFill>
                <a:latin typeface="Times New Roman"/>
                <a:cs typeface="Times New Roman"/>
              </a:rPr>
              <a:t> </a:t>
            </a:r>
            <a:r>
              <a:rPr sz="2000" dirty="0">
                <a:solidFill>
                  <a:srgbClr val="00B050"/>
                </a:solidFill>
                <a:latin typeface="Times New Roman"/>
                <a:cs typeface="Times New Roman"/>
              </a:rPr>
              <a:t>comes</a:t>
            </a:r>
            <a:r>
              <a:rPr sz="2000" spc="-5" dirty="0">
                <a:solidFill>
                  <a:srgbClr val="00B050"/>
                </a:solidFill>
                <a:latin typeface="Times New Roman"/>
                <a:cs typeface="Times New Roman"/>
              </a:rPr>
              <a:t> </a:t>
            </a:r>
            <a:r>
              <a:rPr sz="2000" dirty="0">
                <a:solidFill>
                  <a:srgbClr val="00B050"/>
                </a:solidFill>
                <a:latin typeface="Times New Roman"/>
                <a:cs typeface="Times New Roman"/>
              </a:rPr>
              <a:t>from</a:t>
            </a:r>
            <a:r>
              <a:rPr sz="2000" spc="5" dirty="0">
                <a:solidFill>
                  <a:srgbClr val="00B050"/>
                </a:solidFill>
                <a:latin typeface="Times New Roman"/>
                <a:cs typeface="Times New Roman"/>
              </a:rPr>
              <a:t> </a:t>
            </a:r>
            <a:r>
              <a:rPr sz="2000" i="1" dirty="0">
                <a:solidFill>
                  <a:srgbClr val="00B050"/>
                </a:solidFill>
                <a:latin typeface="Times New Roman"/>
                <a:cs typeface="Times New Roman"/>
              </a:rPr>
              <a:t>A</a:t>
            </a:r>
            <a:r>
              <a:rPr sz="2000" i="1" spc="-40" dirty="0">
                <a:solidFill>
                  <a:srgbClr val="00B050"/>
                </a:solidFill>
                <a:latin typeface="Times New Roman"/>
                <a:cs typeface="Times New Roman"/>
              </a:rPr>
              <a:t> </a:t>
            </a:r>
            <a:r>
              <a:rPr sz="2000" dirty="0">
                <a:solidFill>
                  <a:srgbClr val="00B050"/>
                </a:solidFill>
                <a:latin typeface="Times New Roman"/>
                <a:cs typeface="Times New Roman"/>
              </a:rPr>
              <a:t>and</a:t>
            </a:r>
            <a:r>
              <a:rPr sz="2000" spc="-10" dirty="0">
                <a:solidFill>
                  <a:srgbClr val="00B050"/>
                </a:solidFill>
                <a:latin typeface="Times New Roman"/>
                <a:cs typeface="Times New Roman"/>
              </a:rPr>
              <a:t> </a:t>
            </a:r>
            <a:r>
              <a:rPr sz="2000" spc="-25" dirty="0">
                <a:solidFill>
                  <a:srgbClr val="00B050"/>
                </a:solidFill>
                <a:latin typeface="Times New Roman"/>
                <a:cs typeface="Times New Roman"/>
              </a:rPr>
              <a:t>the </a:t>
            </a:r>
            <a:r>
              <a:rPr sz="2000" dirty="0">
                <a:solidFill>
                  <a:srgbClr val="00B050"/>
                </a:solidFill>
                <a:latin typeface="Times New Roman"/>
                <a:cs typeface="Times New Roman"/>
              </a:rPr>
              <a:t>second</a:t>
            </a:r>
            <a:r>
              <a:rPr sz="2000" spc="-50" dirty="0">
                <a:solidFill>
                  <a:srgbClr val="00B050"/>
                </a:solidFill>
                <a:latin typeface="Times New Roman"/>
                <a:cs typeface="Times New Roman"/>
              </a:rPr>
              <a:t> </a:t>
            </a:r>
            <a:r>
              <a:rPr sz="2000" dirty="0">
                <a:solidFill>
                  <a:srgbClr val="00B050"/>
                </a:solidFill>
                <a:latin typeface="Times New Roman"/>
                <a:cs typeface="Times New Roman"/>
              </a:rPr>
              <a:t>element</a:t>
            </a:r>
            <a:r>
              <a:rPr sz="2000" spc="-45" dirty="0">
                <a:solidFill>
                  <a:srgbClr val="00B050"/>
                </a:solidFill>
                <a:latin typeface="Times New Roman"/>
                <a:cs typeface="Times New Roman"/>
              </a:rPr>
              <a:t> </a:t>
            </a:r>
            <a:r>
              <a:rPr sz="2000" dirty="0">
                <a:solidFill>
                  <a:srgbClr val="00B050"/>
                </a:solidFill>
                <a:latin typeface="Times New Roman"/>
                <a:cs typeface="Times New Roman"/>
              </a:rPr>
              <a:t>comes</a:t>
            </a:r>
            <a:r>
              <a:rPr sz="2000" spc="-50" dirty="0">
                <a:solidFill>
                  <a:srgbClr val="00B050"/>
                </a:solidFill>
                <a:latin typeface="Times New Roman"/>
                <a:cs typeface="Times New Roman"/>
              </a:rPr>
              <a:t> </a:t>
            </a:r>
            <a:r>
              <a:rPr sz="2000" dirty="0">
                <a:solidFill>
                  <a:srgbClr val="00B050"/>
                </a:solidFill>
                <a:latin typeface="Times New Roman"/>
                <a:cs typeface="Times New Roman"/>
              </a:rPr>
              <a:t>from</a:t>
            </a:r>
            <a:r>
              <a:rPr sz="2000" spc="-45" dirty="0">
                <a:solidFill>
                  <a:srgbClr val="00B050"/>
                </a:solidFill>
                <a:latin typeface="Times New Roman"/>
                <a:cs typeface="Times New Roman"/>
              </a:rPr>
              <a:t> </a:t>
            </a:r>
            <a:r>
              <a:rPr sz="2000" i="1" spc="-25" dirty="0">
                <a:solidFill>
                  <a:srgbClr val="00B050"/>
                </a:solidFill>
                <a:latin typeface="Times New Roman"/>
                <a:cs typeface="Times New Roman"/>
              </a:rPr>
              <a:t>B</a:t>
            </a:r>
            <a:r>
              <a:rPr sz="2000" spc="-25" dirty="0">
                <a:solidFill>
                  <a:srgbClr val="00B050"/>
                </a:solidFill>
                <a:latin typeface="Times New Roman"/>
                <a:cs typeface="Times New Roman"/>
              </a:rPr>
              <a:t>.</a:t>
            </a:r>
            <a:endParaRPr sz="2000" dirty="0">
              <a:solidFill>
                <a:srgbClr val="00B050"/>
              </a:solidFill>
              <a:latin typeface="Times New Roman"/>
              <a:cs typeface="Times New Roman"/>
            </a:endParaRPr>
          </a:p>
          <a:p>
            <a:pPr marL="355600" marR="57150" indent="-342900">
              <a:lnSpc>
                <a:spcPct val="100000"/>
              </a:lnSpc>
              <a:spcBef>
                <a:spcPts val="1005"/>
              </a:spcBef>
              <a:tabLst>
                <a:tab pos="354965" algn="l"/>
              </a:tabLst>
            </a:pPr>
            <a:r>
              <a:rPr sz="2000" spc="65" dirty="0">
                <a:solidFill>
                  <a:srgbClr val="90C225"/>
                </a:solidFill>
                <a:latin typeface="Lucida Sans Unicode"/>
                <a:cs typeface="Lucida Sans Unicode"/>
              </a:rPr>
              <a:t>▶</a:t>
            </a:r>
            <a:r>
              <a:rPr sz="2000" dirty="0">
                <a:solidFill>
                  <a:srgbClr val="90C225"/>
                </a:solidFill>
                <a:latin typeface="Lucida Sans Unicode"/>
                <a:cs typeface="Lucida Sans Unicode"/>
              </a:rPr>
              <a:t>	</a:t>
            </a:r>
            <a:r>
              <a:rPr sz="2000" spc="-65" dirty="0">
                <a:solidFill>
                  <a:srgbClr val="404040"/>
                </a:solidFill>
                <a:latin typeface="Times New Roman"/>
                <a:cs typeface="Times New Roman"/>
              </a:rPr>
              <a:t>We</a:t>
            </a:r>
            <a:r>
              <a:rPr sz="2000" spc="-15" dirty="0">
                <a:solidFill>
                  <a:srgbClr val="404040"/>
                </a:solidFill>
                <a:latin typeface="Times New Roman"/>
                <a:cs typeface="Times New Roman"/>
              </a:rPr>
              <a:t> </a:t>
            </a:r>
            <a:r>
              <a:rPr sz="2000" dirty="0">
                <a:solidFill>
                  <a:srgbClr val="404040"/>
                </a:solidFill>
                <a:latin typeface="Times New Roman"/>
                <a:cs typeface="Times New Roman"/>
              </a:rPr>
              <a:t>use</a:t>
            </a:r>
            <a:r>
              <a:rPr sz="2000" spc="-15" dirty="0">
                <a:solidFill>
                  <a:srgbClr val="404040"/>
                </a:solidFill>
                <a:latin typeface="Times New Roman"/>
                <a:cs typeface="Times New Roman"/>
              </a:rPr>
              <a:t> </a:t>
            </a:r>
            <a:r>
              <a:rPr sz="2000" dirty="0">
                <a:solidFill>
                  <a:srgbClr val="404040"/>
                </a:solidFill>
                <a:latin typeface="Times New Roman"/>
                <a:cs typeface="Times New Roman"/>
              </a:rPr>
              <a:t>the</a:t>
            </a:r>
            <a:r>
              <a:rPr sz="2000" spc="-10" dirty="0">
                <a:solidFill>
                  <a:srgbClr val="404040"/>
                </a:solidFill>
                <a:latin typeface="Times New Roman"/>
                <a:cs typeface="Times New Roman"/>
              </a:rPr>
              <a:t> </a:t>
            </a:r>
            <a:r>
              <a:rPr sz="2000" dirty="0">
                <a:solidFill>
                  <a:srgbClr val="404040"/>
                </a:solidFill>
                <a:latin typeface="Times New Roman"/>
                <a:cs typeface="Times New Roman"/>
              </a:rPr>
              <a:t>notation </a:t>
            </a:r>
            <a:r>
              <a:rPr sz="2000" b="1" i="1" dirty="0">
                <a:solidFill>
                  <a:srgbClr val="00AFEF"/>
                </a:solidFill>
                <a:latin typeface="Times New Roman"/>
                <a:cs typeface="Times New Roman"/>
              </a:rPr>
              <a:t>a</a:t>
            </a:r>
            <a:r>
              <a:rPr sz="2000" b="1" i="1" spc="-10" dirty="0">
                <a:solidFill>
                  <a:srgbClr val="00AFEF"/>
                </a:solidFill>
                <a:latin typeface="Times New Roman"/>
                <a:cs typeface="Times New Roman"/>
              </a:rPr>
              <a:t> </a:t>
            </a:r>
            <a:r>
              <a:rPr sz="2000" b="1" i="1" dirty="0">
                <a:solidFill>
                  <a:srgbClr val="00AFEF"/>
                </a:solidFill>
                <a:latin typeface="Times New Roman"/>
                <a:cs typeface="Times New Roman"/>
              </a:rPr>
              <a:t>R</a:t>
            </a:r>
            <a:r>
              <a:rPr sz="2000" b="1" i="1" spc="-15" dirty="0">
                <a:solidFill>
                  <a:srgbClr val="00AFEF"/>
                </a:solidFill>
                <a:latin typeface="Times New Roman"/>
                <a:cs typeface="Times New Roman"/>
              </a:rPr>
              <a:t> </a:t>
            </a:r>
            <a:r>
              <a:rPr sz="2000" b="1" i="1" dirty="0">
                <a:solidFill>
                  <a:srgbClr val="00AFEF"/>
                </a:solidFill>
                <a:latin typeface="Times New Roman"/>
                <a:cs typeface="Times New Roman"/>
              </a:rPr>
              <a:t>b</a:t>
            </a:r>
            <a:r>
              <a:rPr sz="2000" b="1" i="1" spc="-15" dirty="0">
                <a:solidFill>
                  <a:srgbClr val="00AFEF"/>
                </a:solidFill>
                <a:latin typeface="Times New Roman"/>
                <a:cs typeface="Times New Roman"/>
              </a:rPr>
              <a:t> </a:t>
            </a:r>
            <a:r>
              <a:rPr sz="2000" dirty="0">
                <a:solidFill>
                  <a:srgbClr val="404040"/>
                </a:solidFill>
                <a:latin typeface="Times New Roman"/>
                <a:cs typeface="Times New Roman"/>
              </a:rPr>
              <a:t>to</a:t>
            </a:r>
            <a:r>
              <a:rPr sz="2000" spc="-15" dirty="0">
                <a:solidFill>
                  <a:srgbClr val="404040"/>
                </a:solidFill>
                <a:latin typeface="Times New Roman"/>
                <a:cs typeface="Times New Roman"/>
              </a:rPr>
              <a:t> </a:t>
            </a:r>
            <a:r>
              <a:rPr sz="2000" dirty="0">
                <a:solidFill>
                  <a:srgbClr val="404040"/>
                </a:solidFill>
                <a:latin typeface="Times New Roman"/>
                <a:cs typeface="Times New Roman"/>
              </a:rPr>
              <a:t>denote</a:t>
            </a:r>
            <a:r>
              <a:rPr sz="2000" spc="-15" dirty="0">
                <a:solidFill>
                  <a:srgbClr val="404040"/>
                </a:solidFill>
                <a:latin typeface="Times New Roman"/>
                <a:cs typeface="Times New Roman"/>
              </a:rPr>
              <a:t> </a:t>
            </a:r>
            <a:r>
              <a:rPr sz="2000" dirty="0">
                <a:solidFill>
                  <a:srgbClr val="404040"/>
                </a:solidFill>
                <a:latin typeface="Times New Roman"/>
                <a:cs typeface="Times New Roman"/>
              </a:rPr>
              <a:t>that</a:t>
            </a:r>
            <a:r>
              <a:rPr sz="2000" spc="-5" dirty="0">
                <a:solidFill>
                  <a:srgbClr val="404040"/>
                </a:solidFill>
                <a:latin typeface="Times New Roman"/>
                <a:cs typeface="Times New Roman"/>
              </a:rPr>
              <a:t> </a:t>
            </a:r>
            <a:r>
              <a:rPr sz="2000" b="1" dirty="0">
                <a:solidFill>
                  <a:srgbClr val="E6B81E"/>
                </a:solidFill>
                <a:latin typeface="Times New Roman"/>
                <a:cs typeface="Times New Roman"/>
              </a:rPr>
              <a:t>(</a:t>
            </a:r>
            <a:r>
              <a:rPr sz="2000" b="1" i="1" dirty="0">
                <a:solidFill>
                  <a:srgbClr val="E6B81E"/>
                </a:solidFill>
                <a:latin typeface="Times New Roman"/>
                <a:cs typeface="Times New Roman"/>
              </a:rPr>
              <a:t>a,</a:t>
            </a:r>
            <a:r>
              <a:rPr sz="2000" b="1" i="1" spc="-15" dirty="0">
                <a:solidFill>
                  <a:srgbClr val="E6B81E"/>
                </a:solidFill>
                <a:latin typeface="Times New Roman"/>
                <a:cs typeface="Times New Roman"/>
              </a:rPr>
              <a:t> </a:t>
            </a:r>
            <a:r>
              <a:rPr sz="2000" b="1" i="1" dirty="0">
                <a:solidFill>
                  <a:srgbClr val="E6B81E"/>
                </a:solidFill>
                <a:latin typeface="Times New Roman"/>
                <a:cs typeface="Times New Roman"/>
              </a:rPr>
              <a:t>b</a:t>
            </a:r>
            <a:r>
              <a:rPr sz="2000" b="1" dirty="0">
                <a:solidFill>
                  <a:srgbClr val="E6B81E"/>
                </a:solidFill>
                <a:latin typeface="Times New Roman"/>
                <a:cs typeface="Times New Roman"/>
              </a:rPr>
              <a:t>)</a:t>
            </a:r>
            <a:r>
              <a:rPr sz="2000" b="1" spc="-10" dirty="0">
                <a:solidFill>
                  <a:srgbClr val="E6B81E"/>
                </a:solidFill>
                <a:latin typeface="Times New Roman"/>
                <a:cs typeface="Times New Roman"/>
              </a:rPr>
              <a:t> </a:t>
            </a:r>
            <a:r>
              <a:rPr sz="2000" dirty="0">
                <a:solidFill>
                  <a:srgbClr val="E6B81E"/>
                </a:solidFill>
                <a:latin typeface="Cambria Math"/>
                <a:cs typeface="Cambria Math"/>
              </a:rPr>
              <a:t>∈</a:t>
            </a:r>
            <a:r>
              <a:rPr sz="2000" spc="15" dirty="0">
                <a:solidFill>
                  <a:srgbClr val="E6B81E"/>
                </a:solidFill>
                <a:latin typeface="Cambria Math"/>
                <a:cs typeface="Cambria Math"/>
              </a:rPr>
              <a:t> </a:t>
            </a:r>
            <a:r>
              <a:rPr sz="2000" b="1" i="1" dirty="0">
                <a:solidFill>
                  <a:srgbClr val="E6B81E"/>
                </a:solidFill>
                <a:latin typeface="Times New Roman"/>
                <a:cs typeface="Times New Roman"/>
              </a:rPr>
              <a:t>R</a:t>
            </a:r>
            <a:r>
              <a:rPr sz="2000" b="1" i="1" spc="-10" dirty="0">
                <a:solidFill>
                  <a:srgbClr val="E6B81E"/>
                </a:solidFill>
                <a:latin typeface="Times New Roman"/>
                <a:cs typeface="Times New Roman"/>
              </a:rPr>
              <a:t> </a:t>
            </a:r>
            <a:r>
              <a:rPr sz="2000" dirty="0">
                <a:solidFill>
                  <a:srgbClr val="404040"/>
                </a:solidFill>
                <a:latin typeface="Times New Roman"/>
                <a:cs typeface="Times New Roman"/>
              </a:rPr>
              <a:t>and</a:t>
            </a:r>
            <a:r>
              <a:rPr sz="2000" spc="-10" dirty="0">
                <a:solidFill>
                  <a:srgbClr val="404040"/>
                </a:solidFill>
                <a:latin typeface="Times New Roman"/>
                <a:cs typeface="Times New Roman"/>
              </a:rPr>
              <a:t> </a:t>
            </a:r>
            <a:r>
              <a:rPr sz="2000" b="1" i="1" dirty="0">
                <a:solidFill>
                  <a:srgbClr val="00AFEF"/>
                </a:solidFill>
                <a:latin typeface="Times New Roman"/>
                <a:cs typeface="Times New Roman"/>
              </a:rPr>
              <a:t>a</a:t>
            </a:r>
            <a:r>
              <a:rPr sz="2000" b="1" i="1" spc="-10" dirty="0">
                <a:solidFill>
                  <a:srgbClr val="00AFEF"/>
                </a:solidFill>
                <a:latin typeface="Times New Roman"/>
                <a:cs typeface="Times New Roman"/>
              </a:rPr>
              <a:t> </a:t>
            </a:r>
            <a:r>
              <a:rPr sz="2000" b="1" dirty="0">
                <a:solidFill>
                  <a:srgbClr val="00AFEF"/>
                </a:solidFill>
                <a:latin typeface="Times New Roman"/>
                <a:cs typeface="Times New Roman"/>
              </a:rPr>
              <a:t≯</a:t>
            </a:r>
            <a:r>
              <a:rPr sz="2000" b="1" i="1" dirty="0">
                <a:solidFill>
                  <a:srgbClr val="00AFEF"/>
                </a:solidFill>
                <a:latin typeface="Times New Roman"/>
                <a:cs typeface="Times New Roman"/>
              </a:rPr>
              <a:t>R</a:t>
            </a:r>
            <a:r>
              <a:rPr sz="2000" b="1" i="1" spc="-20" dirty="0">
                <a:solidFill>
                  <a:srgbClr val="00AFEF"/>
                </a:solidFill>
                <a:latin typeface="Times New Roman"/>
                <a:cs typeface="Times New Roman"/>
              </a:rPr>
              <a:t> </a:t>
            </a:r>
            <a:r>
              <a:rPr sz="2000" b="1" i="1" dirty="0">
                <a:solidFill>
                  <a:srgbClr val="00AFEF"/>
                </a:solidFill>
                <a:latin typeface="Times New Roman"/>
                <a:cs typeface="Times New Roman"/>
              </a:rPr>
              <a:t>b</a:t>
            </a:r>
            <a:r>
              <a:rPr sz="2000" b="1" i="1" spc="-10" dirty="0">
                <a:solidFill>
                  <a:srgbClr val="00AFEF"/>
                </a:solidFill>
                <a:latin typeface="Times New Roman"/>
                <a:cs typeface="Times New Roman"/>
              </a:rPr>
              <a:t> </a:t>
            </a:r>
            <a:r>
              <a:rPr sz="2000" dirty="0">
                <a:solidFill>
                  <a:srgbClr val="404040"/>
                </a:solidFill>
                <a:latin typeface="Times New Roman"/>
                <a:cs typeface="Times New Roman"/>
              </a:rPr>
              <a:t>to</a:t>
            </a:r>
            <a:r>
              <a:rPr sz="2000" spc="-15" dirty="0">
                <a:solidFill>
                  <a:srgbClr val="404040"/>
                </a:solidFill>
                <a:latin typeface="Times New Roman"/>
                <a:cs typeface="Times New Roman"/>
              </a:rPr>
              <a:t> </a:t>
            </a:r>
            <a:r>
              <a:rPr sz="2000" spc="-10" dirty="0">
                <a:solidFill>
                  <a:srgbClr val="404040"/>
                </a:solidFill>
                <a:latin typeface="Times New Roman"/>
                <a:cs typeface="Times New Roman"/>
              </a:rPr>
              <a:t>denote </a:t>
            </a:r>
            <a:r>
              <a:rPr sz="2000" dirty="0">
                <a:solidFill>
                  <a:srgbClr val="404040"/>
                </a:solidFill>
                <a:latin typeface="Times New Roman"/>
                <a:cs typeface="Times New Roman"/>
              </a:rPr>
              <a:t>that</a:t>
            </a:r>
            <a:r>
              <a:rPr sz="2000" spc="-10" dirty="0">
                <a:solidFill>
                  <a:srgbClr val="404040"/>
                </a:solidFill>
                <a:latin typeface="Times New Roman"/>
                <a:cs typeface="Times New Roman"/>
              </a:rPr>
              <a:t> </a:t>
            </a:r>
            <a:r>
              <a:rPr sz="2000" b="1" dirty="0">
                <a:solidFill>
                  <a:srgbClr val="E6B81E"/>
                </a:solidFill>
                <a:latin typeface="Times New Roman"/>
                <a:cs typeface="Times New Roman"/>
              </a:rPr>
              <a:t>(</a:t>
            </a:r>
            <a:r>
              <a:rPr sz="2000" b="1" i="1" dirty="0">
                <a:solidFill>
                  <a:srgbClr val="E6B81E"/>
                </a:solidFill>
                <a:latin typeface="Times New Roman"/>
                <a:cs typeface="Times New Roman"/>
              </a:rPr>
              <a:t>a,</a:t>
            </a:r>
            <a:r>
              <a:rPr sz="2000" b="1" i="1" spc="-10" dirty="0">
                <a:solidFill>
                  <a:srgbClr val="E6B81E"/>
                </a:solidFill>
                <a:latin typeface="Times New Roman"/>
                <a:cs typeface="Times New Roman"/>
              </a:rPr>
              <a:t> </a:t>
            </a:r>
            <a:r>
              <a:rPr sz="2000" b="1" i="1" dirty="0">
                <a:solidFill>
                  <a:srgbClr val="E6B81E"/>
                </a:solidFill>
                <a:latin typeface="Times New Roman"/>
                <a:cs typeface="Times New Roman"/>
              </a:rPr>
              <a:t>b</a:t>
            </a:r>
            <a:r>
              <a:rPr sz="2000" b="1" dirty="0">
                <a:solidFill>
                  <a:srgbClr val="E6B81E"/>
                </a:solidFill>
                <a:latin typeface="Times New Roman"/>
                <a:cs typeface="Times New Roman"/>
              </a:rPr>
              <a:t>)</a:t>
            </a:r>
            <a:r>
              <a:rPr sz="2000" b="1" spc="-10" dirty="0">
                <a:solidFill>
                  <a:srgbClr val="E6B81E"/>
                </a:solidFill>
                <a:latin typeface="Times New Roman"/>
                <a:cs typeface="Times New Roman"/>
              </a:rPr>
              <a:t> </a:t>
            </a:r>
            <a:r>
              <a:rPr sz="2000" dirty="0">
                <a:solidFill>
                  <a:srgbClr val="E6B81E"/>
                </a:solidFill>
                <a:latin typeface="Cambria Math"/>
                <a:cs typeface="Cambria Math"/>
              </a:rPr>
              <a:t>∉</a:t>
            </a:r>
            <a:r>
              <a:rPr sz="2000" spc="20" dirty="0">
                <a:solidFill>
                  <a:srgbClr val="E6B81E"/>
                </a:solidFill>
                <a:latin typeface="Cambria Math"/>
                <a:cs typeface="Cambria Math"/>
              </a:rPr>
              <a:t> </a:t>
            </a:r>
            <a:r>
              <a:rPr sz="2000" b="1" i="1" spc="-35" dirty="0">
                <a:solidFill>
                  <a:srgbClr val="E6B81E"/>
                </a:solidFill>
                <a:latin typeface="Times New Roman"/>
                <a:cs typeface="Times New Roman"/>
              </a:rPr>
              <a:t>R</a:t>
            </a:r>
            <a:r>
              <a:rPr sz="2000" spc="-35" dirty="0">
                <a:solidFill>
                  <a:srgbClr val="404040"/>
                </a:solidFill>
                <a:latin typeface="Times New Roman"/>
                <a:cs typeface="Times New Roman"/>
              </a:rPr>
              <a:t>.</a:t>
            </a:r>
            <a:endParaRPr sz="2000" dirty="0">
              <a:latin typeface="Times New Roman"/>
              <a:cs typeface="Times New Roman"/>
            </a:endParaRPr>
          </a:p>
          <a:p>
            <a:pPr marL="12700">
              <a:lnSpc>
                <a:spcPct val="100000"/>
              </a:lnSpc>
              <a:spcBef>
                <a:spcPts val="994"/>
              </a:spcBef>
              <a:tabLst>
                <a:tab pos="354965" algn="l"/>
              </a:tabLst>
            </a:pPr>
            <a:r>
              <a:rPr sz="2000" spc="65" dirty="0">
                <a:solidFill>
                  <a:srgbClr val="90C225"/>
                </a:solidFill>
                <a:latin typeface="Lucida Sans Unicode"/>
                <a:cs typeface="Lucida Sans Unicode"/>
              </a:rPr>
              <a:t>▶</a:t>
            </a:r>
            <a:r>
              <a:rPr sz="2000" dirty="0">
                <a:solidFill>
                  <a:srgbClr val="90C225"/>
                </a:solidFill>
                <a:latin typeface="Lucida Sans Unicode"/>
                <a:cs typeface="Lucida Sans Unicode"/>
              </a:rPr>
              <a:t>	</a:t>
            </a:r>
            <a:r>
              <a:rPr sz="2000" spc="-10" dirty="0">
                <a:solidFill>
                  <a:srgbClr val="404040"/>
                </a:solidFill>
                <a:latin typeface="Times New Roman"/>
                <a:cs typeface="Times New Roman"/>
              </a:rPr>
              <a:t>Moreover,</a:t>
            </a:r>
            <a:r>
              <a:rPr sz="2000" spc="-20" dirty="0">
                <a:solidFill>
                  <a:srgbClr val="404040"/>
                </a:solidFill>
                <a:latin typeface="Times New Roman"/>
                <a:cs typeface="Times New Roman"/>
              </a:rPr>
              <a:t> </a:t>
            </a:r>
            <a:r>
              <a:rPr lang="en-US" sz="2000" dirty="0">
                <a:solidFill>
                  <a:srgbClr val="00B050"/>
                </a:solidFill>
                <a:latin typeface="Times New Roman"/>
                <a:cs typeface="Times New Roman"/>
              </a:rPr>
              <a:t>If (a, b) belongs to R, </a:t>
            </a:r>
            <a:r>
              <a:rPr lang="en-US" sz="2000" dirty="0">
                <a:solidFill>
                  <a:srgbClr val="404040"/>
                </a:solidFill>
                <a:latin typeface="Times New Roman"/>
                <a:cs typeface="Times New Roman"/>
              </a:rPr>
              <a:t>we say</a:t>
            </a:r>
            <a:r>
              <a:rPr lang="en-US" sz="2000" b="1" dirty="0">
                <a:solidFill>
                  <a:srgbClr val="0070C0"/>
                </a:solidFill>
                <a:latin typeface="Times New Roman"/>
                <a:cs typeface="Times New Roman"/>
              </a:rPr>
              <a:t>: “a is related to b by R”</a:t>
            </a:r>
            <a:r>
              <a:rPr sz="2000" b="1" spc="-25" dirty="0">
                <a:solidFill>
                  <a:srgbClr val="0070C0"/>
                </a:solidFill>
                <a:latin typeface="Times New Roman"/>
                <a:cs typeface="Times New Roman"/>
              </a:rPr>
              <a:t>.</a:t>
            </a:r>
            <a:endParaRPr sz="2000" b="1" dirty="0">
              <a:solidFill>
                <a:srgbClr val="0070C0"/>
              </a:solidFill>
              <a:latin typeface="Times New Roman"/>
              <a:cs typeface="Times New Roman"/>
            </a:endParaRPr>
          </a:p>
          <a:p>
            <a:pPr marL="355600" marR="255904" indent="-342900">
              <a:lnSpc>
                <a:spcPct val="100000"/>
              </a:lnSpc>
              <a:spcBef>
                <a:spcPts val="1005"/>
              </a:spcBef>
              <a:tabLst>
                <a:tab pos="354965" algn="l"/>
              </a:tabLst>
            </a:pPr>
            <a:r>
              <a:rPr sz="2000" spc="65" dirty="0">
                <a:solidFill>
                  <a:srgbClr val="90C225"/>
                </a:solidFill>
                <a:latin typeface="Lucida Sans Unicode"/>
                <a:cs typeface="Lucida Sans Unicode"/>
              </a:rPr>
              <a:t>▶</a:t>
            </a:r>
            <a:r>
              <a:rPr sz="2000" dirty="0">
                <a:solidFill>
                  <a:srgbClr val="90C225"/>
                </a:solidFill>
                <a:latin typeface="Lucida Sans Unicode"/>
                <a:cs typeface="Lucida Sans Unicode"/>
              </a:rPr>
              <a:t>	</a:t>
            </a:r>
            <a:r>
              <a:rPr sz="2000" dirty="0">
                <a:solidFill>
                  <a:srgbClr val="CC0066"/>
                </a:solidFill>
                <a:latin typeface="Times New Roman"/>
                <a:cs typeface="Times New Roman"/>
              </a:rPr>
              <a:t>Binary</a:t>
            </a:r>
            <a:r>
              <a:rPr sz="2000" spc="-50" dirty="0">
                <a:solidFill>
                  <a:srgbClr val="CC0066"/>
                </a:solidFill>
                <a:latin typeface="Times New Roman"/>
                <a:cs typeface="Times New Roman"/>
              </a:rPr>
              <a:t> </a:t>
            </a:r>
            <a:r>
              <a:rPr sz="2000" dirty="0">
                <a:solidFill>
                  <a:srgbClr val="CC0066"/>
                </a:solidFill>
                <a:latin typeface="Times New Roman"/>
                <a:cs typeface="Times New Roman"/>
              </a:rPr>
              <a:t>relations</a:t>
            </a:r>
            <a:r>
              <a:rPr sz="2000" spc="-40" dirty="0">
                <a:solidFill>
                  <a:srgbClr val="CC0066"/>
                </a:solidFill>
                <a:latin typeface="Times New Roman"/>
                <a:cs typeface="Times New Roman"/>
              </a:rPr>
              <a:t> </a:t>
            </a:r>
            <a:r>
              <a:rPr sz="2000" dirty="0">
                <a:solidFill>
                  <a:srgbClr val="CC0066"/>
                </a:solidFill>
                <a:latin typeface="Times New Roman"/>
                <a:cs typeface="Times New Roman"/>
              </a:rPr>
              <a:t>represent</a:t>
            </a:r>
            <a:r>
              <a:rPr sz="2000" spc="-45" dirty="0">
                <a:solidFill>
                  <a:srgbClr val="CC0066"/>
                </a:solidFill>
                <a:latin typeface="Times New Roman"/>
                <a:cs typeface="Times New Roman"/>
              </a:rPr>
              <a:t> </a:t>
            </a:r>
            <a:r>
              <a:rPr sz="2000" dirty="0">
                <a:solidFill>
                  <a:srgbClr val="CC0066"/>
                </a:solidFill>
                <a:latin typeface="Times New Roman"/>
                <a:cs typeface="Times New Roman"/>
              </a:rPr>
              <a:t>relationships</a:t>
            </a:r>
            <a:r>
              <a:rPr sz="2000" spc="-45" dirty="0">
                <a:solidFill>
                  <a:srgbClr val="CC0066"/>
                </a:solidFill>
                <a:latin typeface="Times New Roman"/>
                <a:cs typeface="Times New Roman"/>
              </a:rPr>
              <a:t> </a:t>
            </a:r>
            <a:r>
              <a:rPr sz="2000" dirty="0">
                <a:solidFill>
                  <a:srgbClr val="CC0066"/>
                </a:solidFill>
                <a:latin typeface="Times New Roman"/>
                <a:cs typeface="Times New Roman"/>
              </a:rPr>
              <a:t>between</a:t>
            </a:r>
            <a:r>
              <a:rPr sz="2000" spc="-45" dirty="0">
                <a:solidFill>
                  <a:srgbClr val="CC0066"/>
                </a:solidFill>
                <a:latin typeface="Times New Roman"/>
                <a:cs typeface="Times New Roman"/>
              </a:rPr>
              <a:t> </a:t>
            </a:r>
            <a:r>
              <a:rPr sz="2000" dirty="0">
                <a:solidFill>
                  <a:srgbClr val="CC0066"/>
                </a:solidFill>
                <a:latin typeface="Times New Roman"/>
                <a:cs typeface="Times New Roman"/>
              </a:rPr>
              <a:t>the</a:t>
            </a:r>
            <a:r>
              <a:rPr sz="2000" spc="-45" dirty="0">
                <a:solidFill>
                  <a:srgbClr val="CC0066"/>
                </a:solidFill>
                <a:latin typeface="Times New Roman"/>
                <a:cs typeface="Times New Roman"/>
              </a:rPr>
              <a:t> </a:t>
            </a:r>
            <a:r>
              <a:rPr sz="2000" dirty="0">
                <a:solidFill>
                  <a:srgbClr val="CC0066"/>
                </a:solidFill>
                <a:latin typeface="Times New Roman"/>
                <a:cs typeface="Times New Roman"/>
              </a:rPr>
              <a:t>elements</a:t>
            </a:r>
            <a:r>
              <a:rPr sz="2000" spc="-40" dirty="0">
                <a:solidFill>
                  <a:srgbClr val="CC0066"/>
                </a:solidFill>
                <a:latin typeface="Times New Roman"/>
                <a:cs typeface="Times New Roman"/>
              </a:rPr>
              <a:t> </a:t>
            </a:r>
            <a:r>
              <a:rPr sz="2000" dirty="0">
                <a:solidFill>
                  <a:srgbClr val="CC0066"/>
                </a:solidFill>
                <a:latin typeface="Times New Roman"/>
                <a:cs typeface="Times New Roman"/>
              </a:rPr>
              <a:t>of</a:t>
            </a:r>
            <a:r>
              <a:rPr sz="2000" spc="-45" dirty="0">
                <a:solidFill>
                  <a:srgbClr val="CC0066"/>
                </a:solidFill>
                <a:latin typeface="Times New Roman"/>
                <a:cs typeface="Times New Roman"/>
              </a:rPr>
              <a:t> </a:t>
            </a:r>
            <a:r>
              <a:rPr sz="2000" spc="-25" dirty="0">
                <a:solidFill>
                  <a:srgbClr val="CC0066"/>
                </a:solidFill>
                <a:latin typeface="Times New Roman"/>
                <a:cs typeface="Times New Roman"/>
              </a:rPr>
              <a:t>two </a:t>
            </a:r>
            <a:r>
              <a:rPr sz="2000" spc="-20" dirty="0">
                <a:solidFill>
                  <a:srgbClr val="CC0066"/>
                </a:solidFill>
                <a:latin typeface="Times New Roman"/>
                <a:cs typeface="Times New Roman"/>
              </a:rPr>
              <a:t>sets</a:t>
            </a:r>
            <a:endParaRPr sz="2000" dirty="0">
              <a:solidFill>
                <a:srgbClr val="CC0066"/>
              </a:solidFill>
              <a:latin typeface="Times New Roman"/>
              <a:cs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0032" y="247903"/>
            <a:ext cx="6611367" cy="1123315"/>
          </a:xfrm>
          <a:prstGeom prst="rect">
            <a:avLst/>
          </a:prstGeom>
        </p:spPr>
        <p:txBody>
          <a:bodyPr vert="horz" wrap="square" lIns="0" tIns="12700" rIns="0" bIns="0" rtlCol="0">
            <a:spAutoFit/>
          </a:bodyPr>
          <a:lstStyle/>
          <a:p>
            <a:pPr marL="1986914" marR="5080" indent="-1974850">
              <a:lnSpc>
                <a:spcPct val="100000"/>
              </a:lnSpc>
              <a:spcBef>
                <a:spcPts val="100"/>
              </a:spcBef>
            </a:pPr>
            <a:r>
              <a:rPr dirty="0"/>
              <a:t>ORDERED</a:t>
            </a:r>
            <a:r>
              <a:rPr spc="-125" dirty="0"/>
              <a:t> </a:t>
            </a:r>
            <a:r>
              <a:rPr spc="-10" dirty="0"/>
              <a:t>PAIR</a:t>
            </a:r>
            <a:r>
              <a:rPr spc="-135" dirty="0"/>
              <a:t> </a:t>
            </a:r>
            <a:r>
              <a:rPr dirty="0"/>
              <a:t>&amp;</a:t>
            </a:r>
            <a:r>
              <a:rPr spc="-135" dirty="0"/>
              <a:t> </a:t>
            </a:r>
            <a:r>
              <a:rPr spc="-10" dirty="0"/>
              <a:t>CARTESIAN PRODUCT</a:t>
            </a:r>
          </a:p>
        </p:txBody>
      </p:sp>
      <p:sp>
        <p:nvSpPr>
          <p:cNvPr id="3" name="object 3"/>
          <p:cNvSpPr txBox="1"/>
          <p:nvPr/>
        </p:nvSpPr>
        <p:spPr>
          <a:xfrm>
            <a:off x="381000" y="1600200"/>
            <a:ext cx="7693660" cy="5145639"/>
          </a:xfrm>
          <a:prstGeom prst="rect">
            <a:avLst/>
          </a:prstGeom>
        </p:spPr>
        <p:txBody>
          <a:bodyPr vert="horz" wrap="square" lIns="0" tIns="41275" rIns="0" bIns="0" rtlCol="0">
            <a:spAutoFit/>
          </a:bodyPr>
          <a:lstStyle/>
          <a:p>
            <a:pPr marL="355600" marR="5080" indent="-342900">
              <a:lnSpc>
                <a:spcPts val="1839"/>
              </a:lnSpc>
              <a:spcBef>
                <a:spcPts val="325"/>
              </a:spcBef>
              <a:tabLst>
                <a:tab pos="354965" algn="l"/>
              </a:tabLst>
            </a:pPr>
            <a:r>
              <a:rPr sz="2000" spc="65" dirty="0">
                <a:solidFill>
                  <a:srgbClr val="90C225"/>
                </a:solidFill>
                <a:latin typeface="Lucida Sans Unicode"/>
                <a:cs typeface="Lucida Sans Unicode"/>
              </a:rPr>
              <a:t>▶</a:t>
            </a:r>
            <a:r>
              <a:rPr sz="2000" dirty="0">
                <a:solidFill>
                  <a:srgbClr val="90C225"/>
                </a:solidFill>
                <a:latin typeface="Lucida Sans Unicode"/>
                <a:cs typeface="Lucida Sans Unicode"/>
              </a:rPr>
              <a:t>	</a:t>
            </a:r>
            <a:r>
              <a:rPr sz="2000" dirty="0">
                <a:solidFill>
                  <a:srgbClr val="404040"/>
                </a:solidFill>
                <a:latin typeface="Times New Roman"/>
                <a:cs typeface="Times New Roman"/>
              </a:rPr>
              <a:t>The</a:t>
            </a:r>
            <a:r>
              <a:rPr sz="2000" spc="-25" dirty="0">
                <a:solidFill>
                  <a:srgbClr val="404040"/>
                </a:solidFill>
                <a:latin typeface="Times New Roman"/>
                <a:cs typeface="Times New Roman"/>
              </a:rPr>
              <a:t> </a:t>
            </a:r>
            <a:r>
              <a:rPr sz="2000" dirty="0">
                <a:solidFill>
                  <a:srgbClr val="404040"/>
                </a:solidFill>
                <a:latin typeface="Times New Roman"/>
                <a:cs typeface="Times New Roman"/>
              </a:rPr>
              <a:t>definition</a:t>
            </a:r>
            <a:r>
              <a:rPr sz="2000" spc="-20" dirty="0">
                <a:solidFill>
                  <a:srgbClr val="404040"/>
                </a:solidFill>
                <a:latin typeface="Times New Roman"/>
                <a:cs typeface="Times New Roman"/>
              </a:rPr>
              <a:t> </a:t>
            </a:r>
            <a:r>
              <a:rPr sz="2000" dirty="0">
                <a:solidFill>
                  <a:srgbClr val="404040"/>
                </a:solidFill>
                <a:latin typeface="Times New Roman"/>
                <a:cs typeface="Times New Roman"/>
              </a:rPr>
              <a:t>of</a:t>
            </a:r>
            <a:r>
              <a:rPr sz="2000" spc="-15" dirty="0">
                <a:solidFill>
                  <a:srgbClr val="404040"/>
                </a:solidFill>
                <a:latin typeface="Times New Roman"/>
                <a:cs typeface="Times New Roman"/>
              </a:rPr>
              <a:t> </a:t>
            </a:r>
            <a:r>
              <a:rPr sz="2000" dirty="0">
                <a:solidFill>
                  <a:srgbClr val="404040"/>
                </a:solidFill>
                <a:latin typeface="Times New Roman"/>
                <a:cs typeface="Times New Roman"/>
              </a:rPr>
              <a:t>a</a:t>
            </a:r>
            <a:r>
              <a:rPr sz="2000" spc="-25" dirty="0">
                <a:solidFill>
                  <a:srgbClr val="404040"/>
                </a:solidFill>
                <a:latin typeface="Times New Roman"/>
                <a:cs typeface="Times New Roman"/>
              </a:rPr>
              <a:t> </a:t>
            </a:r>
            <a:r>
              <a:rPr sz="2000" dirty="0">
                <a:solidFill>
                  <a:srgbClr val="404040"/>
                </a:solidFill>
                <a:latin typeface="Times New Roman"/>
                <a:cs typeface="Times New Roman"/>
              </a:rPr>
              <a:t>set</a:t>
            </a:r>
            <a:r>
              <a:rPr sz="2000" spc="-15" dirty="0">
                <a:solidFill>
                  <a:srgbClr val="404040"/>
                </a:solidFill>
                <a:latin typeface="Times New Roman"/>
                <a:cs typeface="Times New Roman"/>
              </a:rPr>
              <a:t> </a:t>
            </a:r>
            <a:r>
              <a:rPr sz="2000" dirty="0">
                <a:solidFill>
                  <a:srgbClr val="404040"/>
                </a:solidFill>
                <a:latin typeface="Times New Roman"/>
                <a:cs typeface="Times New Roman"/>
              </a:rPr>
              <a:t>explicitly</a:t>
            </a:r>
            <a:r>
              <a:rPr sz="2000" spc="-25" dirty="0">
                <a:solidFill>
                  <a:srgbClr val="404040"/>
                </a:solidFill>
                <a:latin typeface="Times New Roman"/>
                <a:cs typeface="Times New Roman"/>
              </a:rPr>
              <a:t> </a:t>
            </a:r>
            <a:r>
              <a:rPr sz="2000" dirty="0">
                <a:solidFill>
                  <a:srgbClr val="404040"/>
                </a:solidFill>
                <a:latin typeface="Times New Roman"/>
                <a:cs typeface="Times New Roman"/>
              </a:rPr>
              <a:t>disregards</a:t>
            </a:r>
            <a:r>
              <a:rPr sz="2000" spc="-25" dirty="0">
                <a:solidFill>
                  <a:srgbClr val="404040"/>
                </a:solidFill>
                <a:latin typeface="Times New Roman"/>
                <a:cs typeface="Times New Roman"/>
              </a:rPr>
              <a:t> </a:t>
            </a:r>
            <a:r>
              <a:rPr sz="2000" dirty="0">
                <a:solidFill>
                  <a:srgbClr val="404040"/>
                </a:solidFill>
                <a:latin typeface="Times New Roman"/>
                <a:cs typeface="Times New Roman"/>
              </a:rPr>
              <a:t>the</a:t>
            </a:r>
            <a:r>
              <a:rPr sz="2000" spc="-15" dirty="0">
                <a:solidFill>
                  <a:srgbClr val="404040"/>
                </a:solidFill>
                <a:latin typeface="Times New Roman"/>
                <a:cs typeface="Times New Roman"/>
              </a:rPr>
              <a:t> </a:t>
            </a:r>
            <a:r>
              <a:rPr sz="2000" dirty="0">
                <a:solidFill>
                  <a:srgbClr val="404040"/>
                </a:solidFill>
                <a:latin typeface="Times New Roman"/>
                <a:cs typeface="Times New Roman"/>
              </a:rPr>
              <a:t>order</a:t>
            </a:r>
            <a:r>
              <a:rPr sz="2000" spc="-30" dirty="0">
                <a:solidFill>
                  <a:srgbClr val="404040"/>
                </a:solidFill>
                <a:latin typeface="Times New Roman"/>
                <a:cs typeface="Times New Roman"/>
              </a:rPr>
              <a:t> </a:t>
            </a:r>
            <a:r>
              <a:rPr sz="2000" dirty="0">
                <a:solidFill>
                  <a:srgbClr val="404040"/>
                </a:solidFill>
                <a:latin typeface="Times New Roman"/>
                <a:cs typeface="Times New Roman"/>
              </a:rPr>
              <a:t>of</a:t>
            </a:r>
            <a:r>
              <a:rPr sz="2000" spc="-20" dirty="0">
                <a:solidFill>
                  <a:srgbClr val="404040"/>
                </a:solidFill>
                <a:latin typeface="Times New Roman"/>
                <a:cs typeface="Times New Roman"/>
              </a:rPr>
              <a:t> </a:t>
            </a:r>
            <a:r>
              <a:rPr sz="2000" dirty="0">
                <a:solidFill>
                  <a:srgbClr val="404040"/>
                </a:solidFill>
                <a:latin typeface="Times New Roman"/>
                <a:cs typeface="Times New Roman"/>
              </a:rPr>
              <a:t>the</a:t>
            </a:r>
            <a:r>
              <a:rPr sz="2000" spc="-15" dirty="0">
                <a:solidFill>
                  <a:srgbClr val="404040"/>
                </a:solidFill>
                <a:latin typeface="Times New Roman"/>
                <a:cs typeface="Times New Roman"/>
              </a:rPr>
              <a:t> </a:t>
            </a:r>
            <a:r>
              <a:rPr sz="2000" dirty="0">
                <a:solidFill>
                  <a:srgbClr val="404040"/>
                </a:solidFill>
                <a:latin typeface="Times New Roman"/>
                <a:cs typeface="Times New Roman"/>
              </a:rPr>
              <a:t>set</a:t>
            </a:r>
            <a:r>
              <a:rPr sz="2000" spc="-20" dirty="0">
                <a:solidFill>
                  <a:srgbClr val="404040"/>
                </a:solidFill>
                <a:latin typeface="Times New Roman"/>
                <a:cs typeface="Times New Roman"/>
              </a:rPr>
              <a:t> </a:t>
            </a:r>
            <a:r>
              <a:rPr sz="2000" spc="-10" dirty="0">
                <a:solidFill>
                  <a:srgbClr val="404040"/>
                </a:solidFill>
                <a:latin typeface="Times New Roman"/>
                <a:cs typeface="Times New Roman"/>
              </a:rPr>
              <a:t>elements,</a:t>
            </a:r>
            <a:r>
              <a:rPr lang="en-US" sz="2000" spc="-10" dirty="0">
                <a:solidFill>
                  <a:srgbClr val="404040"/>
                </a:solidFill>
                <a:latin typeface="Times New Roman"/>
                <a:cs typeface="Times New Roman"/>
              </a:rPr>
              <a:t> </a:t>
            </a:r>
            <a:r>
              <a:rPr sz="2000" dirty="0">
                <a:solidFill>
                  <a:srgbClr val="404040"/>
                </a:solidFill>
                <a:latin typeface="Times New Roman"/>
                <a:cs typeface="Times New Roman"/>
              </a:rPr>
              <a:t>However,</a:t>
            </a:r>
            <a:r>
              <a:rPr sz="2000" spc="-60" dirty="0">
                <a:solidFill>
                  <a:srgbClr val="404040"/>
                </a:solidFill>
                <a:latin typeface="Times New Roman"/>
                <a:cs typeface="Times New Roman"/>
              </a:rPr>
              <a:t> </a:t>
            </a:r>
            <a:r>
              <a:rPr sz="2000" dirty="0">
                <a:solidFill>
                  <a:srgbClr val="404040"/>
                </a:solidFill>
                <a:latin typeface="Times New Roman"/>
                <a:cs typeface="Times New Roman"/>
              </a:rPr>
              <a:t>sometimes</a:t>
            </a:r>
            <a:r>
              <a:rPr sz="2000" spc="-35" dirty="0">
                <a:solidFill>
                  <a:srgbClr val="404040"/>
                </a:solidFill>
                <a:latin typeface="Times New Roman"/>
                <a:cs typeface="Times New Roman"/>
              </a:rPr>
              <a:t> </a:t>
            </a:r>
            <a:r>
              <a:rPr sz="2000" spc="-25" dirty="0">
                <a:solidFill>
                  <a:srgbClr val="404040"/>
                </a:solidFill>
                <a:latin typeface="Times New Roman"/>
                <a:cs typeface="Times New Roman"/>
              </a:rPr>
              <a:t>the </a:t>
            </a:r>
            <a:r>
              <a:rPr sz="2000" dirty="0">
                <a:solidFill>
                  <a:srgbClr val="404040"/>
                </a:solidFill>
                <a:latin typeface="Times New Roman"/>
                <a:cs typeface="Times New Roman"/>
              </a:rPr>
              <a:t>order</a:t>
            </a:r>
            <a:r>
              <a:rPr sz="2000" spc="-20" dirty="0">
                <a:solidFill>
                  <a:srgbClr val="404040"/>
                </a:solidFill>
                <a:latin typeface="Times New Roman"/>
                <a:cs typeface="Times New Roman"/>
              </a:rPr>
              <a:t> </a:t>
            </a:r>
            <a:r>
              <a:rPr sz="2000" dirty="0">
                <a:solidFill>
                  <a:srgbClr val="404040"/>
                </a:solidFill>
                <a:latin typeface="Times New Roman"/>
                <a:cs typeface="Times New Roman"/>
              </a:rPr>
              <a:t>is</a:t>
            </a:r>
            <a:r>
              <a:rPr sz="2000" spc="-10" dirty="0">
                <a:solidFill>
                  <a:srgbClr val="404040"/>
                </a:solidFill>
                <a:latin typeface="Times New Roman"/>
                <a:cs typeface="Times New Roman"/>
              </a:rPr>
              <a:t> important.</a:t>
            </a:r>
            <a:endParaRPr sz="2000" dirty="0">
              <a:latin typeface="Times New Roman"/>
              <a:cs typeface="Times New Roman"/>
            </a:endParaRPr>
          </a:p>
          <a:p>
            <a:pPr marL="355600" marR="343535" indent="-342900">
              <a:lnSpc>
                <a:spcPts val="1839"/>
              </a:lnSpc>
              <a:spcBef>
                <a:spcPts val="985"/>
              </a:spcBef>
              <a:tabLst>
                <a:tab pos="354965" algn="l"/>
              </a:tabLst>
            </a:pPr>
            <a:r>
              <a:rPr sz="2000" spc="65" dirty="0">
                <a:solidFill>
                  <a:srgbClr val="90C225"/>
                </a:solidFill>
                <a:latin typeface="Lucida Sans Unicode"/>
                <a:cs typeface="Lucida Sans Unicode"/>
              </a:rPr>
              <a:t>▶</a:t>
            </a:r>
            <a:r>
              <a:rPr sz="2000" dirty="0">
                <a:solidFill>
                  <a:srgbClr val="90C225"/>
                </a:solidFill>
                <a:latin typeface="Lucida Sans Unicode"/>
                <a:cs typeface="Lucida Sans Unicode"/>
              </a:rPr>
              <a:t>	</a:t>
            </a:r>
            <a:r>
              <a:rPr sz="2000" dirty="0">
                <a:solidFill>
                  <a:srgbClr val="404040"/>
                </a:solidFill>
                <a:latin typeface="Times New Roman"/>
                <a:cs typeface="Times New Roman"/>
              </a:rPr>
              <a:t>This</a:t>
            </a:r>
            <a:r>
              <a:rPr sz="2000" spc="-25" dirty="0">
                <a:solidFill>
                  <a:srgbClr val="404040"/>
                </a:solidFill>
                <a:latin typeface="Times New Roman"/>
                <a:cs typeface="Times New Roman"/>
              </a:rPr>
              <a:t> </a:t>
            </a:r>
            <a:r>
              <a:rPr sz="2000" dirty="0">
                <a:solidFill>
                  <a:srgbClr val="404040"/>
                </a:solidFill>
                <a:latin typeface="Times New Roman"/>
                <a:cs typeface="Times New Roman"/>
              </a:rPr>
              <a:t>leads</a:t>
            </a:r>
            <a:r>
              <a:rPr sz="2000" spc="-30" dirty="0">
                <a:solidFill>
                  <a:srgbClr val="404040"/>
                </a:solidFill>
                <a:latin typeface="Times New Roman"/>
                <a:cs typeface="Times New Roman"/>
              </a:rPr>
              <a:t> </a:t>
            </a:r>
            <a:r>
              <a:rPr sz="2000" dirty="0">
                <a:solidFill>
                  <a:srgbClr val="404040"/>
                </a:solidFill>
                <a:latin typeface="Times New Roman"/>
                <a:cs typeface="Times New Roman"/>
              </a:rPr>
              <a:t>to</a:t>
            </a:r>
            <a:r>
              <a:rPr sz="2000" spc="-20" dirty="0">
                <a:solidFill>
                  <a:srgbClr val="404040"/>
                </a:solidFill>
                <a:latin typeface="Times New Roman"/>
                <a:cs typeface="Times New Roman"/>
              </a:rPr>
              <a:t> </a:t>
            </a:r>
            <a:r>
              <a:rPr sz="2000" dirty="0">
                <a:solidFill>
                  <a:srgbClr val="404040"/>
                </a:solidFill>
                <a:latin typeface="Times New Roman"/>
                <a:cs typeface="Times New Roman"/>
              </a:rPr>
              <a:t>the</a:t>
            </a:r>
            <a:r>
              <a:rPr sz="2000" spc="-25" dirty="0">
                <a:solidFill>
                  <a:srgbClr val="404040"/>
                </a:solidFill>
                <a:latin typeface="Times New Roman"/>
                <a:cs typeface="Times New Roman"/>
              </a:rPr>
              <a:t> </a:t>
            </a:r>
            <a:r>
              <a:rPr sz="2000" dirty="0">
                <a:solidFill>
                  <a:srgbClr val="404040"/>
                </a:solidFill>
                <a:latin typeface="Times New Roman"/>
                <a:cs typeface="Times New Roman"/>
              </a:rPr>
              <a:t>notion</a:t>
            </a:r>
            <a:r>
              <a:rPr sz="2000" spc="-25" dirty="0">
                <a:solidFill>
                  <a:srgbClr val="404040"/>
                </a:solidFill>
                <a:latin typeface="Times New Roman"/>
                <a:cs typeface="Times New Roman"/>
              </a:rPr>
              <a:t> </a:t>
            </a:r>
            <a:r>
              <a:rPr sz="2000" dirty="0">
                <a:solidFill>
                  <a:srgbClr val="404040"/>
                </a:solidFill>
                <a:latin typeface="Times New Roman"/>
                <a:cs typeface="Times New Roman"/>
              </a:rPr>
              <a:t>of</a:t>
            </a:r>
            <a:r>
              <a:rPr sz="2000" spc="-5" dirty="0">
                <a:solidFill>
                  <a:srgbClr val="404040"/>
                </a:solidFill>
                <a:latin typeface="Times New Roman"/>
                <a:cs typeface="Times New Roman"/>
              </a:rPr>
              <a:t> </a:t>
            </a:r>
            <a:r>
              <a:rPr sz="2000" b="1" dirty="0">
                <a:solidFill>
                  <a:srgbClr val="00AFEF"/>
                </a:solidFill>
                <a:latin typeface="Times New Roman"/>
                <a:cs typeface="Times New Roman"/>
              </a:rPr>
              <a:t>an</a:t>
            </a:r>
            <a:r>
              <a:rPr sz="2000" b="1" spc="-20" dirty="0">
                <a:solidFill>
                  <a:srgbClr val="00AFEF"/>
                </a:solidFill>
                <a:latin typeface="Times New Roman"/>
                <a:cs typeface="Times New Roman"/>
              </a:rPr>
              <a:t> </a:t>
            </a:r>
            <a:r>
              <a:rPr sz="2000" b="1" dirty="0">
                <a:solidFill>
                  <a:srgbClr val="00AFEF"/>
                </a:solidFill>
                <a:latin typeface="Times New Roman"/>
                <a:cs typeface="Times New Roman"/>
              </a:rPr>
              <a:t>ordered</a:t>
            </a:r>
            <a:r>
              <a:rPr sz="2000" b="1" spc="-35" dirty="0">
                <a:solidFill>
                  <a:srgbClr val="00AFEF"/>
                </a:solidFill>
                <a:latin typeface="Times New Roman"/>
                <a:cs typeface="Times New Roman"/>
              </a:rPr>
              <a:t> </a:t>
            </a:r>
            <a:r>
              <a:rPr sz="2000" b="1" dirty="0">
                <a:solidFill>
                  <a:srgbClr val="00AFEF"/>
                </a:solidFill>
                <a:latin typeface="Times New Roman"/>
                <a:cs typeface="Times New Roman"/>
              </a:rPr>
              <a:t>pair</a:t>
            </a:r>
            <a:r>
              <a:rPr sz="2000" b="1" spc="-40" dirty="0">
                <a:solidFill>
                  <a:srgbClr val="00AFEF"/>
                </a:solidFill>
                <a:latin typeface="Times New Roman"/>
                <a:cs typeface="Times New Roman"/>
              </a:rPr>
              <a:t> </a:t>
            </a:r>
            <a:r>
              <a:rPr sz="2000" dirty="0">
                <a:solidFill>
                  <a:srgbClr val="404040"/>
                </a:solidFill>
                <a:latin typeface="Times New Roman"/>
                <a:cs typeface="Times New Roman"/>
              </a:rPr>
              <a:t>of</a:t>
            </a:r>
            <a:r>
              <a:rPr sz="2000" spc="-25" dirty="0">
                <a:solidFill>
                  <a:srgbClr val="404040"/>
                </a:solidFill>
                <a:latin typeface="Times New Roman"/>
                <a:cs typeface="Times New Roman"/>
              </a:rPr>
              <a:t> </a:t>
            </a:r>
            <a:r>
              <a:rPr sz="2000" dirty="0">
                <a:solidFill>
                  <a:srgbClr val="404040"/>
                </a:solidFill>
                <a:latin typeface="Times New Roman"/>
                <a:cs typeface="Times New Roman"/>
              </a:rPr>
              <a:t>two</a:t>
            </a:r>
            <a:r>
              <a:rPr sz="2000" spc="-20" dirty="0">
                <a:solidFill>
                  <a:srgbClr val="404040"/>
                </a:solidFill>
                <a:latin typeface="Times New Roman"/>
                <a:cs typeface="Times New Roman"/>
              </a:rPr>
              <a:t> </a:t>
            </a:r>
            <a:r>
              <a:rPr sz="2000" dirty="0">
                <a:solidFill>
                  <a:srgbClr val="404040"/>
                </a:solidFill>
                <a:latin typeface="Times New Roman"/>
                <a:cs typeface="Times New Roman"/>
              </a:rPr>
              <a:t>elements</a:t>
            </a:r>
            <a:r>
              <a:rPr sz="2000" spc="-25" dirty="0">
                <a:solidFill>
                  <a:srgbClr val="404040"/>
                </a:solidFill>
                <a:latin typeface="Times New Roman"/>
                <a:cs typeface="Times New Roman"/>
              </a:rPr>
              <a:t> </a:t>
            </a:r>
            <a:r>
              <a:rPr sz="2000" dirty="0">
                <a:solidFill>
                  <a:srgbClr val="404040"/>
                </a:solidFill>
                <a:latin typeface="Times New Roman"/>
                <a:cs typeface="Times New Roman"/>
              </a:rPr>
              <a:t>x</a:t>
            </a:r>
            <a:r>
              <a:rPr sz="2000" spc="-20" dirty="0">
                <a:solidFill>
                  <a:srgbClr val="404040"/>
                </a:solidFill>
                <a:latin typeface="Times New Roman"/>
                <a:cs typeface="Times New Roman"/>
              </a:rPr>
              <a:t> </a:t>
            </a:r>
            <a:r>
              <a:rPr sz="2000" dirty="0">
                <a:solidFill>
                  <a:srgbClr val="404040"/>
                </a:solidFill>
                <a:latin typeface="Times New Roman"/>
                <a:cs typeface="Times New Roman"/>
              </a:rPr>
              <a:t>and</a:t>
            </a:r>
            <a:r>
              <a:rPr sz="2000" spc="-30" dirty="0">
                <a:solidFill>
                  <a:srgbClr val="404040"/>
                </a:solidFill>
                <a:latin typeface="Times New Roman"/>
                <a:cs typeface="Times New Roman"/>
              </a:rPr>
              <a:t> </a:t>
            </a:r>
            <a:r>
              <a:rPr sz="2000" spc="-25" dirty="0">
                <a:solidFill>
                  <a:srgbClr val="404040"/>
                </a:solidFill>
                <a:latin typeface="Times New Roman"/>
                <a:cs typeface="Times New Roman"/>
              </a:rPr>
              <a:t>y, </a:t>
            </a:r>
            <a:r>
              <a:rPr sz="2000" dirty="0">
                <a:solidFill>
                  <a:srgbClr val="404040"/>
                </a:solidFill>
                <a:latin typeface="Times New Roman"/>
                <a:cs typeface="Times New Roman"/>
              </a:rPr>
              <a:t>denoted</a:t>
            </a:r>
            <a:r>
              <a:rPr sz="2000" spc="-25" dirty="0">
                <a:solidFill>
                  <a:srgbClr val="404040"/>
                </a:solidFill>
                <a:latin typeface="Times New Roman"/>
                <a:cs typeface="Times New Roman"/>
              </a:rPr>
              <a:t> </a:t>
            </a:r>
            <a:r>
              <a:rPr sz="2000" dirty="0">
                <a:solidFill>
                  <a:srgbClr val="404040"/>
                </a:solidFill>
                <a:latin typeface="Times New Roman"/>
                <a:cs typeface="Times New Roman"/>
              </a:rPr>
              <a:t>(x,</a:t>
            </a:r>
            <a:r>
              <a:rPr sz="2000" spc="-15" dirty="0">
                <a:solidFill>
                  <a:srgbClr val="404040"/>
                </a:solidFill>
                <a:latin typeface="Times New Roman"/>
                <a:cs typeface="Times New Roman"/>
              </a:rPr>
              <a:t> </a:t>
            </a:r>
            <a:r>
              <a:rPr sz="2000" spc="-25" dirty="0">
                <a:solidFill>
                  <a:srgbClr val="404040"/>
                </a:solidFill>
                <a:latin typeface="Times New Roman"/>
                <a:cs typeface="Times New Roman"/>
              </a:rPr>
              <a:t>y).</a:t>
            </a:r>
            <a:endParaRPr sz="2000" dirty="0">
              <a:latin typeface="Times New Roman"/>
              <a:cs typeface="Times New Roman"/>
            </a:endParaRPr>
          </a:p>
          <a:p>
            <a:pPr marL="12700">
              <a:lnSpc>
                <a:spcPct val="100000"/>
              </a:lnSpc>
              <a:spcBef>
                <a:spcPts val="765"/>
              </a:spcBef>
              <a:tabLst>
                <a:tab pos="354965" algn="l"/>
              </a:tabLst>
            </a:pPr>
            <a:r>
              <a:rPr sz="2000" spc="65" dirty="0">
                <a:solidFill>
                  <a:srgbClr val="90C225"/>
                </a:solidFill>
                <a:latin typeface="Lucida Sans Unicode"/>
                <a:cs typeface="Lucida Sans Unicode"/>
              </a:rPr>
              <a:t>▶</a:t>
            </a:r>
            <a:r>
              <a:rPr sz="2000" dirty="0">
                <a:solidFill>
                  <a:srgbClr val="90C225"/>
                </a:solidFill>
                <a:latin typeface="Lucida Sans Unicode"/>
                <a:cs typeface="Lucida Sans Unicode"/>
              </a:rPr>
              <a:t>	</a:t>
            </a:r>
            <a:r>
              <a:rPr sz="2000" dirty="0">
                <a:solidFill>
                  <a:srgbClr val="404040"/>
                </a:solidFill>
                <a:latin typeface="Times New Roman"/>
                <a:cs typeface="Times New Roman"/>
              </a:rPr>
              <a:t>The</a:t>
            </a:r>
            <a:r>
              <a:rPr sz="2000" spc="-15" dirty="0">
                <a:solidFill>
                  <a:srgbClr val="404040"/>
                </a:solidFill>
                <a:latin typeface="Times New Roman"/>
                <a:cs typeface="Times New Roman"/>
              </a:rPr>
              <a:t> </a:t>
            </a:r>
            <a:r>
              <a:rPr sz="2000" dirty="0">
                <a:solidFill>
                  <a:srgbClr val="404040"/>
                </a:solidFill>
                <a:latin typeface="Times New Roman"/>
                <a:cs typeface="Times New Roman"/>
              </a:rPr>
              <a:t>crucial</a:t>
            </a:r>
            <a:r>
              <a:rPr sz="2000" spc="-20" dirty="0">
                <a:solidFill>
                  <a:srgbClr val="404040"/>
                </a:solidFill>
                <a:latin typeface="Times New Roman"/>
                <a:cs typeface="Times New Roman"/>
              </a:rPr>
              <a:t> </a:t>
            </a:r>
            <a:r>
              <a:rPr sz="2000" dirty="0">
                <a:solidFill>
                  <a:srgbClr val="404040"/>
                </a:solidFill>
                <a:latin typeface="Times New Roman"/>
                <a:cs typeface="Times New Roman"/>
              </a:rPr>
              <a:t>property</a:t>
            </a:r>
            <a:r>
              <a:rPr sz="2000" spc="-20" dirty="0">
                <a:solidFill>
                  <a:srgbClr val="404040"/>
                </a:solidFill>
                <a:latin typeface="Times New Roman"/>
                <a:cs typeface="Times New Roman"/>
              </a:rPr>
              <a:t> </a:t>
            </a:r>
            <a:r>
              <a:rPr sz="2000" spc="-25" dirty="0">
                <a:solidFill>
                  <a:srgbClr val="404040"/>
                </a:solidFill>
                <a:latin typeface="Times New Roman"/>
                <a:cs typeface="Times New Roman"/>
              </a:rPr>
              <a:t>is:</a:t>
            </a:r>
            <a:endParaRPr sz="2000" dirty="0">
              <a:latin typeface="Times New Roman"/>
              <a:cs typeface="Times New Roman"/>
            </a:endParaRPr>
          </a:p>
          <a:p>
            <a:pPr marL="927100">
              <a:lnSpc>
                <a:spcPct val="100000"/>
              </a:lnSpc>
              <a:spcBef>
                <a:spcPts val="800"/>
              </a:spcBef>
            </a:pPr>
            <a:r>
              <a:rPr sz="2000" b="1" dirty="0">
                <a:solidFill>
                  <a:srgbClr val="6F2F9F"/>
                </a:solidFill>
                <a:latin typeface="Times New Roman"/>
                <a:cs typeface="Times New Roman"/>
              </a:rPr>
              <a:t>(x,</a:t>
            </a:r>
            <a:r>
              <a:rPr sz="2000" b="1" spc="-25" dirty="0">
                <a:solidFill>
                  <a:srgbClr val="6F2F9F"/>
                </a:solidFill>
                <a:latin typeface="Times New Roman"/>
                <a:cs typeface="Times New Roman"/>
              </a:rPr>
              <a:t> </a:t>
            </a:r>
            <a:r>
              <a:rPr sz="2000" b="1" dirty="0">
                <a:solidFill>
                  <a:srgbClr val="6F2F9F"/>
                </a:solidFill>
                <a:latin typeface="Times New Roman"/>
                <a:cs typeface="Times New Roman"/>
              </a:rPr>
              <a:t>y)</a:t>
            </a:r>
            <a:r>
              <a:rPr sz="2000" b="1" spc="-20" dirty="0">
                <a:solidFill>
                  <a:srgbClr val="6F2F9F"/>
                </a:solidFill>
                <a:latin typeface="Times New Roman"/>
                <a:cs typeface="Times New Roman"/>
              </a:rPr>
              <a:t> </a:t>
            </a:r>
            <a:r>
              <a:rPr sz="2000" b="1" dirty="0">
                <a:solidFill>
                  <a:srgbClr val="6F2F9F"/>
                </a:solidFill>
                <a:latin typeface="Times New Roman"/>
                <a:cs typeface="Times New Roman"/>
              </a:rPr>
              <a:t>EQUALS</a:t>
            </a:r>
            <a:r>
              <a:rPr sz="2000" b="1" spc="-30" dirty="0">
                <a:solidFill>
                  <a:srgbClr val="6F2F9F"/>
                </a:solidFill>
                <a:latin typeface="Times New Roman"/>
                <a:cs typeface="Times New Roman"/>
              </a:rPr>
              <a:t> </a:t>
            </a:r>
            <a:r>
              <a:rPr sz="2000" b="1" dirty="0">
                <a:solidFill>
                  <a:srgbClr val="6F2F9F"/>
                </a:solidFill>
                <a:latin typeface="Times New Roman"/>
                <a:cs typeface="Times New Roman"/>
              </a:rPr>
              <a:t>TO</a:t>
            </a:r>
            <a:r>
              <a:rPr sz="2000" b="1" spc="395" dirty="0">
                <a:solidFill>
                  <a:srgbClr val="6F2F9F"/>
                </a:solidFill>
                <a:latin typeface="Times New Roman"/>
                <a:cs typeface="Times New Roman"/>
              </a:rPr>
              <a:t> </a:t>
            </a:r>
            <a:r>
              <a:rPr sz="2000" b="1" dirty="0">
                <a:solidFill>
                  <a:srgbClr val="6F2F9F"/>
                </a:solidFill>
                <a:latin typeface="Times New Roman"/>
                <a:cs typeface="Times New Roman"/>
              </a:rPr>
              <a:t>(u,</a:t>
            </a:r>
            <a:r>
              <a:rPr sz="2000" b="1" spc="-20" dirty="0">
                <a:solidFill>
                  <a:srgbClr val="6F2F9F"/>
                </a:solidFill>
                <a:latin typeface="Times New Roman"/>
                <a:cs typeface="Times New Roman"/>
              </a:rPr>
              <a:t> </a:t>
            </a:r>
            <a:r>
              <a:rPr sz="2000" b="1" dirty="0">
                <a:solidFill>
                  <a:srgbClr val="6F2F9F"/>
                </a:solidFill>
                <a:latin typeface="Times New Roman"/>
                <a:cs typeface="Times New Roman"/>
              </a:rPr>
              <a:t>v)</a:t>
            </a:r>
            <a:r>
              <a:rPr sz="2000" b="1" spc="-20" dirty="0">
                <a:solidFill>
                  <a:srgbClr val="6F2F9F"/>
                </a:solidFill>
                <a:latin typeface="Times New Roman"/>
                <a:cs typeface="Times New Roman"/>
              </a:rPr>
              <a:t> </a:t>
            </a:r>
            <a:r>
              <a:rPr sz="2000" b="1" dirty="0">
                <a:solidFill>
                  <a:srgbClr val="6F2F9F"/>
                </a:solidFill>
                <a:latin typeface="Times New Roman"/>
                <a:cs typeface="Times New Roman"/>
              </a:rPr>
              <a:t>if</a:t>
            </a:r>
            <a:r>
              <a:rPr sz="2000" b="1" spc="-20" dirty="0">
                <a:solidFill>
                  <a:srgbClr val="6F2F9F"/>
                </a:solidFill>
                <a:latin typeface="Times New Roman"/>
                <a:cs typeface="Times New Roman"/>
              </a:rPr>
              <a:t> </a:t>
            </a:r>
            <a:r>
              <a:rPr sz="2000" b="1" dirty="0">
                <a:solidFill>
                  <a:srgbClr val="6F2F9F"/>
                </a:solidFill>
                <a:latin typeface="Times New Roman"/>
                <a:cs typeface="Times New Roman"/>
              </a:rPr>
              <a:t>and</a:t>
            </a:r>
            <a:r>
              <a:rPr sz="2000" b="1" spc="-15" dirty="0">
                <a:solidFill>
                  <a:srgbClr val="6F2F9F"/>
                </a:solidFill>
                <a:latin typeface="Times New Roman"/>
                <a:cs typeface="Times New Roman"/>
              </a:rPr>
              <a:t> </a:t>
            </a:r>
            <a:r>
              <a:rPr sz="2000" b="1" dirty="0">
                <a:solidFill>
                  <a:srgbClr val="6F2F9F"/>
                </a:solidFill>
                <a:latin typeface="Times New Roman"/>
                <a:cs typeface="Times New Roman"/>
              </a:rPr>
              <a:t>only</a:t>
            </a:r>
            <a:r>
              <a:rPr sz="2000" b="1" spc="-15" dirty="0">
                <a:solidFill>
                  <a:srgbClr val="6F2F9F"/>
                </a:solidFill>
                <a:latin typeface="Times New Roman"/>
                <a:cs typeface="Times New Roman"/>
              </a:rPr>
              <a:t> </a:t>
            </a:r>
            <a:r>
              <a:rPr sz="2000" b="1" dirty="0">
                <a:solidFill>
                  <a:srgbClr val="6F2F9F"/>
                </a:solidFill>
                <a:latin typeface="Times New Roman"/>
                <a:cs typeface="Times New Roman"/>
              </a:rPr>
              <a:t>if</a:t>
            </a:r>
            <a:r>
              <a:rPr sz="2000" b="1" spc="-25" dirty="0">
                <a:solidFill>
                  <a:srgbClr val="6F2F9F"/>
                </a:solidFill>
                <a:latin typeface="Times New Roman"/>
                <a:cs typeface="Times New Roman"/>
              </a:rPr>
              <a:t> </a:t>
            </a:r>
            <a:r>
              <a:rPr sz="2000" b="1" dirty="0">
                <a:solidFill>
                  <a:srgbClr val="6F2F9F"/>
                </a:solidFill>
                <a:latin typeface="Times New Roman"/>
                <a:cs typeface="Times New Roman"/>
              </a:rPr>
              <a:t>x</a:t>
            </a:r>
            <a:r>
              <a:rPr sz="2000" b="1" spc="-15" dirty="0">
                <a:solidFill>
                  <a:srgbClr val="6F2F9F"/>
                </a:solidFill>
                <a:latin typeface="Times New Roman"/>
                <a:cs typeface="Times New Roman"/>
              </a:rPr>
              <a:t> </a:t>
            </a:r>
            <a:r>
              <a:rPr sz="2000" b="1" dirty="0">
                <a:solidFill>
                  <a:srgbClr val="6F2F9F"/>
                </a:solidFill>
                <a:latin typeface="Times New Roman"/>
                <a:cs typeface="Times New Roman"/>
              </a:rPr>
              <a:t>=</a:t>
            </a:r>
            <a:r>
              <a:rPr sz="2000" b="1" spc="-20" dirty="0">
                <a:solidFill>
                  <a:srgbClr val="6F2F9F"/>
                </a:solidFill>
                <a:latin typeface="Times New Roman"/>
                <a:cs typeface="Times New Roman"/>
              </a:rPr>
              <a:t> </a:t>
            </a:r>
            <a:r>
              <a:rPr sz="2000" b="1" dirty="0">
                <a:solidFill>
                  <a:srgbClr val="6F2F9F"/>
                </a:solidFill>
                <a:latin typeface="Times New Roman"/>
                <a:cs typeface="Times New Roman"/>
              </a:rPr>
              <a:t>u</a:t>
            </a:r>
            <a:r>
              <a:rPr sz="2000" b="1" spc="-25" dirty="0">
                <a:solidFill>
                  <a:srgbClr val="6F2F9F"/>
                </a:solidFill>
                <a:latin typeface="Times New Roman"/>
                <a:cs typeface="Times New Roman"/>
              </a:rPr>
              <a:t> </a:t>
            </a:r>
            <a:r>
              <a:rPr sz="2000" b="1" dirty="0">
                <a:solidFill>
                  <a:srgbClr val="6F2F9F"/>
                </a:solidFill>
                <a:latin typeface="Times New Roman"/>
                <a:cs typeface="Times New Roman"/>
              </a:rPr>
              <a:t>and</a:t>
            </a:r>
            <a:r>
              <a:rPr sz="2000" b="1" spc="-10" dirty="0">
                <a:solidFill>
                  <a:srgbClr val="6F2F9F"/>
                </a:solidFill>
                <a:latin typeface="Times New Roman"/>
                <a:cs typeface="Times New Roman"/>
              </a:rPr>
              <a:t> </a:t>
            </a:r>
            <a:r>
              <a:rPr sz="2000" b="1" dirty="0">
                <a:solidFill>
                  <a:srgbClr val="6F2F9F"/>
                </a:solidFill>
                <a:latin typeface="Times New Roman"/>
                <a:cs typeface="Times New Roman"/>
              </a:rPr>
              <a:t>y</a:t>
            </a:r>
            <a:r>
              <a:rPr sz="2000" b="1" spc="-25" dirty="0">
                <a:solidFill>
                  <a:srgbClr val="6F2F9F"/>
                </a:solidFill>
                <a:latin typeface="Times New Roman"/>
                <a:cs typeface="Times New Roman"/>
              </a:rPr>
              <a:t> </a:t>
            </a:r>
            <a:r>
              <a:rPr sz="2000" b="1" dirty="0">
                <a:solidFill>
                  <a:srgbClr val="6F2F9F"/>
                </a:solidFill>
                <a:latin typeface="Times New Roman"/>
                <a:cs typeface="Times New Roman"/>
              </a:rPr>
              <a:t>=</a:t>
            </a:r>
            <a:r>
              <a:rPr sz="2000" b="1" spc="-20" dirty="0">
                <a:solidFill>
                  <a:srgbClr val="6F2F9F"/>
                </a:solidFill>
                <a:latin typeface="Times New Roman"/>
                <a:cs typeface="Times New Roman"/>
              </a:rPr>
              <a:t> </a:t>
            </a:r>
            <a:r>
              <a:rPr sz="2000" b="1" spc="-50" dirty="0">
                <a:solidFill>
                  <a:srgbClr val="6F2F9F"/>
                </a:solidFill>
                <a:latin typeface="Times New Roman"/>
                <a:cs typeface="Times New Roman"/>
              </a:rPr>
              <a:t>v</a:t>
            </a:r>
            <a:endParaRPr sz="2000" dirty="0">
              <a:latin typeface="Times New Roman"/>
              <a:cs typeface="Times New Roman"/>
            </a:endParaRPr>
          </a:p>
          <a:p>
            <a:pPr marL="355600" marR="10160" indent="-342900">
              <a:lnSpc>
                <a:spcPts val="1839"/>
              </a:lnSpc>
              <a:spcBef>
                <a:spcPts val="1020"/>
              </a:spcBef>
              <a:tabLst>
                <a:tab pos="354965" algn="l"/>
              </a:tabLst>
            </a:pPr>
            <a:r>
              <a:rPr sz="2000" spc="65" dirty="0">
                <a:solidFill>
                  <a:srgbClr val="90C225"/>
                </a:solidFill>
                <a:latin typeface="Lucida Sans Unicode"/>
                <a:cs typeface="Lucida Sans Unicode"/>
              </a:rPr>
              <a:t>▶</a:t>
            </a:r>
            <a:r>
              <a:rPr lang="en-US" sz="2000" spc="65" dirty="0">
                <a:solidFill>
                  <a:srgbClr val="90C225"/>
                </a:solidFill>
                <a:latin typeface="Lucida Sans Unicode"/>
                <a:cs typeface="Lucida Sans Unicode"/>
              </a:rPr>
              <a:t> </a:t>
            </a:r>
            <a:r>
              <a:rPr lang="en-US" sz="2000" spc="65" dirty="0">
                <a:solidFill>
                  <a:srgbClr val="CC0066"/>
                </a:solidFill>
                <a:latin typeface="Times New Roman" panose="02020603050405020304" pitchFamily="18" charset="0"/>
                <a:cs typeface="Times New Roman" panose="02020603050405020304" pitchFamily="18" charset="0"/>
              </a:rPr>
              <a:t>If the order changes, the pair is different. Example:(1,2) ≠ (2,1)</a:t>
            </a:r>
            <a:r>
              <a:rPr sz="2000" dirty="0">
                <a:solidFill>
                  <a:srgbClr val="90C225"/>
                </a:solidFill>
                <a:latin typeface="Lucida Sans Unicode"/>
                <a:cs typeface="Lucida Sans Unicode"/>
              </a:rPr>
              <a:t>	</a:t>
            </a:r>
            <a:endParaRPr lang="en-US" sz="2000" dirty="0">
              <a:solidFill>
                <a:srgbClr val="90C225"/>
              </a:solidFill>
              <a:latin typeface="Lucida Sans Unicode"/>
              <a:cs typeface="Lucida Sans Unicode"/>
            </a:endParaRPr>
          </a:p>
          <a:p>
            <a:pPr marL="355600" marR="10160" indent="-342900">
              <a:lnSpc>
                <a:spcPts val="1839"/>
              </a:lnSpc>
              <a:spcBef>
                <a:spcPts val="1020"/>
              </a:spcBef>
              <a:buFont typeface="Wingdings" panose="05000000000000000000" pitchFamily="2" charset="2"/>
              <a:buChar char="Ø"/>
              <a:tabLst>
                <a:tab pos="354965" algn="l"/>
              </a:tabLst>
            </a:pPr>
            <a:r>
              <a:rPr sz="2000" dirty="0">
                <a:solidFill>
                  <a:srgbClr val="404040"/>
                </a:solidFill>
                <a:latin typeface="Times New Roman"/>
                <a:cs typeface="Times New Roman"/>
              </a:rPr>
              <a:t>This</a:t>
            </a:r>
            <a:r>
              <a:rPr sz="2000" spc="-15" dirty="0">
                <a:solidFill>
                  <a:srgbClr val="404040"/>
                </a:solidFill>
                <a:latin typeface="Times New Roman"/>
                <a:cs typeface="Times New Roman"/>
              </a:rPr>
              <a:t> </a:t>
            </a:r>
            <a:r>
              <a:rPr sz="2000" dirty="0">
                <a:solidFill>
                  <a:srgbClr val="404040"/>
                </a:solidFill>
                <a:latin typeface="Times New Roman"/>
                <a:cs typeface="Times New Roman"/>
              </a:rPr>
              <a:t>notion</a:t>
            </a:r>
            <a:r>
              <a:rPr sz="2000" spc="-15" dirty="0">
                <a:solidFill>
                  <a:srgbClr val="404040"/>
                </a:solidFill>
                <a:latin typeface="Times New Roman"/>
                <a:cs typeface="Times New Roman"/>
              </a:rPr>
              <a:t> </a:t>
            </a:r>
            <a:r>
              <a:rPr sz="2000" dirty="0">
                <a:solidFill>
                  <a:srgbClr val="404040"/>
                </a:solidFill>
                <a:latin typeface="Times New Roman"/>
                <a:cs typeface="Times New Roman"/>
              </a:rPr>
              <a:t>can</a:t>
            </a:r>
            <a:r>
              <a:rPr sz="2000" spc="-25" dirty="0">
                <a:solidFill>
                  <a:srgbClr val="404040"/>
                </a:solidFill>
                <a:latin typeface="Times New Roman"/>
                <a:cs typeface="Times New Roman"/>
              </a:rPr>
              <a:t> </a:t>
            </a:r>
            <a:r>
              <a:rPr sz="2000" dirty="0">
                <a:solidFill>
                  <a:srgbClr val="404040"/>
                </a:solidFill>
                <a:latin typeface="Times New Roman"/>
                <a:cs typeface="Times New Roman"/>
              </a:rPr>
              <a:t>be</a:t>
            </a:r>
            <a:r>
              <a:rPr sz="2000" spc="-15" dirty="0">
                <a:solidFill>
                  <a:srgbClr val="404040"/>
                </a:solidFill>
                <a:latin typeface="Times New Roman"/>
                <a:cs typeface="Times New Roman"/>
              </a:rPr>
              <a:t> </a:t>
            </a:r>
            <a:r>
              <a:rPr sz="2000" dirty="0">
                <a:solidFill>
                  <a:srgbClr val="404040"/>
                </a:solidFill>
                <a:latin typeface="Times New Roman"/>
                <a:cs typeface="Times New Roman"/>
              </a:rPr>
              <a:t>extended</a:t>
            </a:r>
            <a:r>
              <a:rPr sz="2000" spc="-25" dirty="0">
                <a:solidFill>
                  <a:srgbClr val="404040"/>
                </a:solidFill>
                <a:latin typeface="Times New Roman"/>
                <a:cs typeface="Times New Roman"/>
              </a:rPr>
              <a:t> </a:t>
            </a:r>
            <a:r>
              <a:rPr sz="2000" dirty="0">
                <a:solidFill>
                  <a:srgbClr val="404040"/>
                </a:solidFill>
                <a:latin typeface="Times New Roman"/>
                <a:cs typeface="Times New Roman"/>
              </a:rPr>
              <a:t>naturally</a:t>
            </a:r>
            <a:r>
              <a:rPr sz="2000" spc="-25" dirty="0">
                <a:solidFill>
                  <a:srgbClr val="404040"/>
                </a:solidFill>
                <a:latin typeface="Times New Roman"/>
                <a:cs typeface="Times New Roman"/>
              </a:rPr>
              <a:t> </a:t>
            </a:r>
            <a:r>
              <a:rPr sz="2000" dirty="0">
                <a:solidFill>
                  <a:srgbClr val="404040"/>
                </a:solidFill>
                <a:latin typeface="Times New Roman"/>
                <a:cs typeface="Times New Roman"/>
              </a:rPr>
              <a:t>to</a:t>
            </a:r>
            <a:r>
              <a:rPr sz="2000" spc="-15" dirty="0">
                <a:solidFill>
                  <a:srgbClr val="404040"/>
                </a:solidFill>
                <a:latin typeface="Times New Roman"/>
                <a:cs typeface="Times New Roman"/>
              </a:rPr>
              <a:t> </a:t>
            </a:r>
            <a:r>
              <a:rPr sz="2000" dirty="0">
                <a:solidFill>
                  <a:srgbClr val="404040"/>
                </a:solidFill>
                <a:latin typeface="Times New Roman"/>
                <a:cs typeface="Times New Roman"/>
              </a:rPr>
              <a:t>define</a:t>
            </a:r>
            <a:r>
              <a:rPr sz="2000" spc="-25" dirty="0">
                <a:solidFill>
                  <a:srgbClr val="404040"/>
                </a:solidFill>
                <a:latin typeface="Times New Roman"/>
                <a:cs typeface="Times New Roman"/>
              </a:rPr>
              <a:t> </a:t>
            </a:r>
            <a:r>
              <a:rPr sz="2000" dirty="0">
                <a:solidFill>
                  <a:srgbClr val="404040"/>
                </a:solidFill>
                <a:latin typeface="Times New Roman"/>
                <a:cs typeface="Times New Roman"/>
              </a:rPr>
              <a:t>an</a:t>
            </a:r>
            <a:r>
              <a:rPr sz="2000" spc="-15" dirty="0">
                <a:solidFill>
                  <a:srgbClr val="404040"/>
                </a:solidFill>
                <a:latin typeface="Times New Roman"/>
                <a:cs typeface="Times New Roman"/>
              </a:rPr>
              <a:t> </a:t>
            </a:r>
            <a:r>
              <a:rPr sz="2000" dirty="0">
                <a:solidFill>
                  <a:srgbClr val="404040"/>
                </a:solidFill>
                <a:latin typeface="Times New Roman"/>
                <a:cs typeface="Times New Roman"/>
              </a:rPr>
              <a:t>ordered</a:t>
            </a:r>
            <a:r>
              <a:rPr sz="2000" spc="-30" dirty="0">
                <a:solidFill>
                  <a:srgbClr val="404040"/>
                </a:solidFill>
                <a:latin typeface="Times New Roman"/>
                <a:cs typeface="Times New Roman"/>
              </a:rPr>
              <a:t> </a:t>
            </a:r>
            <a:r>
              <a:rPr sz="2000" dirty="0">
                <a:solidFill>
                  <a:srgbClr val="404040"/>
                </a:solidFill>
                <a:latin typeface="Times New Roman"/>
                <a:cs typeface="Times New Roman"/>
              </a:rPr>
              <a:t>n-tuple</a:t>
            </a:r>
            <a:r>
              <a:rPr sz="2000" spc="-20" dirty="0">
                <a:solidFill>
                  <a:srgbClr val="404040"/>
                </a:solidFill>
                <a:latin typeface="Times New Roman"/>
                <a:cs typeface="Times New Roman"/>
              </a:rPr>
              <a:t> </a:t>
            </a:r>
            <a:r>
              <a:rPr sz="2000" dirty="0">
                <a:solidFill>
                  <a:srgbClr val="404040"/>
                </a:solidFill>
                <a:latin typeface="Times New Roman"/>
                <a:cs typeface="Times New Roman"/>
              </a:rPr>
              <a:t>as</a:t>
            </a:r>
            <a:r>
              <a:rPr sz="2000" spc="-15" dirty="0">
                <a:solidFill>
                  <a:srgbClr val="404040"/>
                </a:solidFill>
                <a:latin typeface="Times New Roman"/>
                <a:cs typeface="Times New Roman"/>
              </a:rPr>
              <a:t> </a:t>
            </a:r>
            <a:r>
              <a:rPr sz="2000" spc="-25" dirty="0">
                <a:solidFill>
                  <a:srgbClr val="404040"/>
                </a:solidFill>
                <a:latin typeface="Times New Roman"/>
                <a:cs typeface="Times New Roman"/>
              </a:rPr>
              <a:t>the </a:t>
            </a:r>
            <a:r>
              <a:rPr sz="2000" dirty="0">
                <a:solidFill>
                  <a:srgbClr val="404040"/>
                </a:solidFill>
                <a:latin typeface="Times New Roman"/>
                <a:cs typeface="Times New Roman"/>
              </a:rPr>
              <a:t>ordered</a:t>
            </a:r>
            <a:r>
              <a:rPr sz="2000" spc="-30" dirty="0">
                <a:solidFill>
                  <a:srgbClr val="404040"/>
                </a:solidFill>
                <a:latin typeface="Times New Roman"/>
                <a:cs typeface="Times New Roman"/>
              </a:rPr>
              <a:t> </a:t>
            </a:r>
            <a:r>
              <a:rPr sz="2000" dirty="0">
                <a:solidFill>
                  <a:srgbClr val="404040"/>
                </a:solidFill>
                <a:latin typeface="Times New Roman"/>
                <a:cs typeface="Times New Roman"/>
              </a:rPr>
              <a:t>counterpart</a:t>
            </a:r>
            <a:r>
              <a:rPr sz="2000" spc="-30" dirty="0">
                <a:solidFill>
                  <a:srgbClr val="404040"/>
                </a:solidFill>
                <a:latin typeface="Times New Roman"/>
                <a:cs typeface="Times New Roman"/>
              </a:rPr>
              <a:t> </a:t>
            </a:r>
            <a:r>
              <a:rPr sz="2000" dirty="0">
                <a:solidFill>
                  <a:srgbClr val="404040"/>
                </a:solidFill>
                <a:latin typeface="Times New Roman"/>
                <a:cs typeface="Times New Roman"/>
              </a:rPr>
              <a:t>of</a:t>
            </a:r>
            <a:r>
              <a:rPr sz="2000" spc="-15" dirty="0">
                <a:solidFill>
                  <a:srgbClr val="404040"/>
                </a:solidFill>
                <a:latin typeface="Times New Roman"/>
                <a:cs typeface="Times New Roman"/>
              </a:rPr>
              <a:t> </a:t>
            </a:r>
            <a:r>
              <a:rPr sz="2000" dirty="0">
                <a:solidFill>
                  <a:srgbClr val="404040"/>
                </a:solidFill>
                <a:latin typeface="Times New Roman"/>
                <a:cs typeface="Times New Roman"/>
              </a:rPr>
              <a:t>a</a:t>
            </a:r>
            <a:r>
              <a:rPr sz="2000" spc="-20" dirty="0">
                <a:solidFill>
                  <a:srgbClr val="404040"/>
                </a:solidFill>
                <a:latin typeface="Times New Roman"/>
                <a:cs typeface="Times New Roman"/>
              </a:rPr>
              <a:t> </a:t>
            </a:r>
            <a:r>
              <a:rPr sz="2000" dirty="0">
                <a:solidFill>
                  <a:srgbClr val="404040"/>
                </a:solidFill>
                <a:latin typeface="Times New Roman"/>
                <a:cs typeface="Times New Roman"/>
              </a:rPr>
              <a:t>set</a:t>
            </a:r>
            <a:r>
              <a:rPr sz="2000" spc="-10" dirty="0">
                <a:solidFill>
                  <a:srgbClr val="404040"/>
                </a:solidFill>
                <a:latin typeface="Times New Roman"/>
                <a:cs typeface="Times New Roman"/>
              </a:rPr>
              <a:t> </a:t>
            </a:r>
            <a:r>
              <a:rPr sz="2000" dirty="0">
                <a:solidFill>
                  <a:srgbClr val="404040"/>
                </a:solidFill>
                <a:latin typeface="Times New Roman"/>
                <a:cs typeface="Times New Roman"/>
              </a:rPr>
              <a:t>with</a:t>
            </a:r>
            <a:r>
              <a:rPr sz="2000" spc="-10" dirty="0">
                <a:solidFill>
                  <a:srgbClr val="404040"/>
                </a:solidFill>
                <a:latin typeface="Times New Roman"/>
                <a:cs typeface="Times New Roman"/>
              </a:rPr>
              <a:t> </a:t>
            </a:r>
            <a:r>
              <a:rPr sz="2000" dirty="0">
                <a:solidFill>
                  <a:srgbClr val="404040"/>
                </a:solidFill>
                <a:latin typeface="Times New Roman"/>
                <a:cs typeface="Times New Roman"/>
              </a:rPr>
              <a:t>n</a:t>
            </a:r>
            <a:r>
              <a:rPr sz="2000" spc="-15" dirty="0">
                <a:solidFill>
                  <a:srgbClr val="404040"/>
                </a:solidFill>
                <a:latin typeface="Times New Roman"/>
                <a:cs typeface="Times New Roman"/>
              </a:rPr>
              <a:t> </a:t>
            </a:r>
            <a:r>
              <a:rPr sz="2000" spc="-10" dirty="0">
                <a:solidFill>
                  <a:srgbClr val="404040"/>
                </a:solidFill>
                <a:latin typeface="Times New Roman"/>
                <a:cs typeface="Times New Roman"/>
              </a:rPr>
              <a:t>elements.</a:t>
            </a:r>
            <a:endParaRPr sz="2000" dirty="0">
              <a:latin typeface="Times New Roman"/>
              <a:cs typeface="Times New Roman"/>
            </a:endParaRPr>
          </a:p>
          <a:p>
            <a:pPr marL="355600" marR="372745" indent="-342900">
              <a:lnSpc>
                <a:spcPts val="1839"/>
              </a:lnSpc>
              <a:spcBef>
                <a:spcPts val="994"/>
              </a:spcBef>
              <a:tabLst>
                <a:tab pos="354965" algn="l"/>
              </a:tabLst>
            </a:pPr>
            <a:r>
              <a:rPr sz="2000" spc="65" dirty="0">
                <a:solidFill>
                  <a:srgbClr val="90C225"/>
                </a:solidFill>
                <a:latin typeface="Lucida Sans Unicode"/>
                <a:cs typeface="Lucida Sans Unicode"/>
              </a:rPr>
              <a:t>▶</a:t>
            </a:r>
            <a:r>
              <a:rPr sz="2000" dirty="0">
                <a:solidFill>
                  <a:srgbClr val="90C225"/>
                </a:solidFill>
                <a:latin typeface="Lucida Sans Unicode"/>
                <a:cs typeface="Lucida Sans Unicode"/>
              </a:rPr>
              <a:t>	</a:t>
            </a:r>
            <a:r>
              <a:rPr sz="2000" dirty="0">
                <a:solidFill>
                  <a:srgbClr val="404040"/>
                </a:solidFill>
                <a:latin typeface="Times New Roman"/>
                <a:cs typeface="Times New Roman"/>
              </a:rPr>
              <a:t>Give</a:t>
            </a:r>
            <a:r>
              <a:rPr sz="2000" spc="-45" dirty="0">
                <a:solidFill>
                  <a:srgbClr val="404040"/>
                </a:solidFill>
                <a:latin typeface="Times New Roman"/>
                <a:cs typeface="Times New Roman"/>
              </a:rPr>
              <a:t> </a:t>
            </a:r>
            <a:r>
              <a:rPr sz="2000" dirty="0">
                <a:solidFill>
                  <a:srgbClr val="404040"/>
                </a:solidFill>
                <a:latin typeface="Times New Roman"/>
                <a:cs typeface="Times New Roman"/>
              </a:rPr>
              <a:t>two</a:t>
            </a:r>
            <a:r>
              <a:rPr sz="2000" spc="-25" dirty="0">
                <a:solidFill>
                  <a:srgbClr val="404040"/>
                </a:solidFill>
                <a:latin typeface="Times New Roman"/>
                <a:cs typeface="Times New Roman"/>
              </a:rPr>
              <a:t> </a:t>
            </a:r>
            <a:r>
              <a:rPr sz="2000" dirty="0">
                <a:solidFill>
                  <a:srgbClr val="404040"/>
                </a:solidFill>
                <a:latin typeface="Times New Roman"/>
                <a:cs typeface="Times New Roman"/>
              </a:rPr>
              <a:t>sets</a:t>
            </a:r>
            <a:r>
              <a:rPr sz="2000" spc="-105" dirty="0">
                <a:solidFill>
                  <a:srgbClr val="404040"/>
                </a:solidFill>
                <a:latin typeface="Times New Roman"/>
                <a:cs typeface="Times New Roman"/>
              </a:rPr>
              <a:t> </a:t>
            </a:r>
            <a:r>
              <a:rPr sz="2000" dirty="0">
                <a:solidFill>
                  <a:srgbClr val="404040"/>
                </a:solidFill>
                <a:latin typeface="Times New Roman"/>
                <a:cs typeface="Times New Roman"/>
              </a:rPr>
              <a:t>A</a:t>
            </a:r>
            <a:r>
              <a:rPr sz="2000" spc="-110" dirty="0">
                <a:solidFill>
                  <a:srgbClr val="404040"/>
                </a:solidFill>
                <a:latin typeface="Times New Roman"/>
                <a:cs typeface="Times New Roman"/>
              </a:rPr>
              <a:t> </a:t>
            </a:r>
            <a:r>
              <a:rPr sz="2000" dirty="0">
                <a:solidFill>
                  <a:srgbClr val="404040"/>
                </a:solidFill>
                <a:latin typeface="Times New Roman"/>
                <a:cs typeface="Times New Roman"/>
              </a:rPr>
              <a:t>and</a:t>
            </a:r>
            <a:r>
              <a:rPr sz="2000" spc="-30" dirty="0">
                <a:solidFill>
                  <a:srgbClr val="404040"/>
                </a:solidFill>
                <a:latin typeface="Times New Roman"/>
                <a:cs typeface="Times New Roman"/>
              </a:rPr>
              <a:t> </a:t>
            </a:r>
            <a:r>
              <a:rPr sz="2000" dirty="0">
                <a:solidFill>
                  <a:srgbClr val="404040"/>
                </a:solidFill>
                <a:latin typeface="Times New Roman"/>
                <a:cs typeface="Times New Roman"/>
              </a:rPr>
              <a:t>B,</a:t>
            </a:r>
            <a:r>
              <a:rPr sz="2000" spc="-15" dirty="0">
                <a:solidFill>
                  <a:srgbClr val="404040"/>
                </a:solidFill>
                <a:latin typeface="Times New Roman"/>
                <a:cs typeface="Times New Roman"/>
              </a:rPr>
              <a:t> </a:t>
            </a:r>
            <a:r>
              <a:rPr sz="2000" dirty="0">
                <a:solidFill>
                  <a:srgbClr val="404040"/>
                </a:solidFill>
                <a:latin typeface="Times New Roman"/>
                <a:cs typeface="Times New Roman"/>
              </a:rPr>
              <a:t>their</a:t>
            </a:r>
            <a:r>
              <a:rPr sz="2000" spc="-25" dirty="0">
                <a:solidFill>
                  <a:srgbClr val="404040"/>
                </a:solidFill>
                <a:latin typeface="Times New Roman"/>
                <a:cs typeface="Times New Roman"/>
              </a:rPr>
              <a:t> </a:t>
            </a:r>
            <a:r>
              <a:rPr sz="2000" b="1" dirty="0">
                <a:solidFill>
                  <a:srgbClr val="00AFEF"/>
                </a:solidFill>
                <a:latin typeface="Times New Roman"/>
                <a:cs typeface="Times New Roman"/>
              </a:rPr>
              <a:t>cartesian</a:t>
            </a:r>
            <a:r>
              <a:rPr sz="2000" b="1" spc="-30" dirty="0">
                <a:solidFill>
                  <a:srgbClr val="00AFEF"/>
                </a:solidFill>
                <a:latin typeface="Times New Roman"/>
                <a:cs typeface="Times New Roman"/>
              </a:rPr>
              <a:t> </a:t>
            </a:r>
            <a:r>
              <a:rPr sz="2000" b="1" dirty="0">
                <a:solidFill>
                  <a:srgbClr val="00AFEF"/>
                </a:solidFill>
                <a:latin typeface="Times New Roman"/>
                <a:cs typeface="Times New Roman"/>
              </a:rPr>
              <a:t>product</a:t>
            </a:r>
            <a:r>
              <a:rPr sz="2000" b="1" spc="-20" dirty="0">
                <a:solidFill>
                  <a:srgbClr val="00AFEF"/>
                </a:solidFill>
                <a:latin typeface="Times New Roman"/>
                <a:cs typeface="Times New Roman"/>
              </a:rPr>
              <a:t> </a:t>
            </a:r>
            <a:r>
              <a:rPr sz="2000" dirty="0">
                <a:solidFill>
                  <a:srgbClr val="404040"/>
                </a:solidFill>
                <a:latin typeface="Times New Roman"/>
                <a:cs typeface="Times New Roman"/>
              </a:rPr>
              <a:t>A×B</a:t>
            </a:r>
            <a:r>
              <a:rPr sz="2000" spc="-15" dirty="0">
                <a:solidFill>
                  <a:srgbClr val="404040"/>
                </a:solidFill>
                <a:latin typeface="Times New Roman"/>
                <a:cs typeface="Times New Roman"/>
              </a:rPr>
              <a:t> </a:t>
            </a:r>
            <a:r>
              <a:rPr sz="2000" dirty="0">
                <a:solidFill>
                  <a:srgbClr val="404040"/>
                </a:solidFill>
                <a:latin typeface="Times New Roman"/>
                <a:cs typeface="Times New Roman"/>
              </a:rPr>
              <a:t>is</a:t>
            </a:r>
            <a:r>
              <a:rPr sz="2000" spc="-15" dirty="0">
                <a:solidFill>
                  <a:srgbClr val="404040"/>
                </a:solidFill>
                <a:latin typeface="Times New Roman"/>
                <a:cs typeface="Times New Roman"/>
              </a:rPr>
              <a:t> </a:t>
            </a:r>
            <a:r>
              <a:rPr sz="2000" dirty="0">
                <a:solidFill>
                  <a:srgbClr val="404040"/>
                </a:solidFill>
                <a:latin typeface="Times New Roman"/>
                <a:cs typeface="Times New Roman"/>
              </a:rPr>
              <a:t>the</a:t>
            </a:r>
            <a:r>
              <a:rPr sz="2000" spc="-35" dirty="0">
                <a:solidFill>
                  <a:srgbClr val="404040"/>
                </a:solidFill>
                <a:latin typeface="Times New Roman"/>
                <a:cs typeface="Times New Roman"/>
              </a:rPr>
              <a:t> </a:t>
            </a:r>
            <a:r>
              <a:rPr sz="2000" dirty="0">
                <a:solidFill>
                  <a:srgbClr val="404040"/>
                </a:solidFill>
                <a:latin typeface="Times New Roman"/>
                <a:cs typeface="Times New Roman"/>
              </a:rPr>
              <a:t>set</a:t>
            </a:r>
            <a:r>
              <a:rPr sz="2000" spc="-25" dirty="0">
                <a:solidFill>
                  <a:srgbClr val="404040"/>
                </a:solidFill>
                <a:latin typeface="Times New Roman"/>
                <a:cs typeface="Times New Roman"/>
              </a:rPr>
              <a:t> </a:t>
            </a:r>
            <a:r>
              <a:rPr sz="2000" dirty="0">
                <a:solidFill>
                  <a:srgbClr val="404040"/>
                </a:solidFill>
                <a:latin typeface="Times New Roman"/>
                <a:cs typeface="Times New Roman"/>
              </a:rPr>
              <a:t>of</a:t>
            </a:r>
            <a:r>
              <a:rPr sz="2000" spc="-30" dirty="0">
                <a:solidFill>
                  <a:srgbClr val="404040"/>
                </a:solidFill>
                <a:latin typeface="Times New Roman"/>
                <a:cs typeface="Times New Roman"/>
              </a:rPr>
              <a:t> </a:t>
            </a:r>
            <a:r>
              <a:rPr sz="2000" spc="-25" dirty="0">
                <a:solidFill>
                  <a:srgbClr val="404040"/>
                </a:solidFill>
                <a:latin typeface="Times New Roman"/>
                <a:cs typeface="Times New Roman"/>
              </a:rPr>
              <a:t>all </a:t>
            </a:r>
            <a:r>
              <a:rPr sz="2000" dirty="0">
                <a:solidFill>
                  <a:srgbClr val="404040"/>
                </a:solidFill>
                <a:latin typeface="Times New Roman"/>
                <a:cs typeface="Times New Roman"/>
              </a:rPr>
              <a:t>ordered</a:t>
            </a:r>
            <a:r>
              <a:rPr sz="2000" spc="-30" dirty="0">
                <a:solidFill>
                  <a:srgbClr val="404040"/>
                </a:solidFill>
                <a:latin typeface="Times New Roman"/>
                <a:cs typeface="Times New Roman"/>
              </a:rPr>
              <a:t> </a:t>
            </a:r>
            <a:r>
              <a:rPr sz="2000" dirty="0">
                <a:solidFill>
                  <a:srgbClr val="404040"/>
                </a:solidFill>
                <a:latin typeface="Times New Roman"/>
                <a:cs typeface="Times New Roman"/>
              </a:rPr>
              <a:t>pairs</a:t>
            </a:r>
            <a:r>
              <a:rPr sz="2000" spc="-15" dirty="0">
                <a:solidFill>
                  <a:srgbClr val="404040"/>
                </a:solidFill>
                <a:latin typeface="Times New Roman"/>
                <a:cs typeface="Times New Roman"/>
              </a:rPr>
              <a:t> </a:t>
            </a:r>
            <a:r>
              <a:rPr sz="2000" dirty="0">
                <a:solidFill>
                  <a:srgbClr val="404040"/>
                </a:solidFill>
                <a:latin typeface="Times New Roman"/>
                <a:cs typeface="Times New Roman"/>
              </a:rPr>
              <a:t>(x,</a:t>
            </a:r>
            <a:r>
              <a:rPr sz="2000" spc="-10" dirty="0">
                <a:solidFill>
                  <a:srgbClr val="404040"/>
                </a:solidFill>
                <a:latin typeface="Times New Roman"/>
                <a:cs typeface="Times New Roman"/>
              </a:rPr>
              <a:t> </a:t>
            </a:r>
            <a:r>
              <a:rPr sz="2000" dirty="0">
                <a:solidFill>
                  <a:srgbClr val="404040"/>
                </a:solidFill>
                <a:latin typeface="Times New Roman"/>
                <a:cs typeface="Times New Roman"/>
              </a:rPr>
              <a:t>y),</a:t>
            </a:r>
            <a:r>
              <a:rPr sz="2000" spc="-10" dirty="0">
                <a:solidFill>
                  <a:srgbClr val="404040"/>
                </a:solidFill>
                <a:latin typeface="Times New Roman"/>
                <a:cs typeface="Times New Roman"/>
              </a:rPr>
              <a:t> </a:t>
            </a:r>
            <a:r>
              <a:rPr sz="2000" dirty="0">
                <a:solidFill>
                  <a:srgbClr val="404040"/>
                </a:solidFill>
                <a:latin typeface="Times New Roman"/>
                <a:cs typeface="Times New Roman"/>
              </a:rPr>
              <a:t>such</a:t>
            </a:r>
            <a:r>
              <a:rPr sz="2000" spc="-10" dirty="0">
                <a:solidFill>
                  <a:srgbClr val="404040"/>
                </a:solidFill>
                <a:latin typeface="Times New Roman"/>
                <a:cs typeface="Times New Roman"/>
              </a:rPr>
              <a:t> </a:t>
            </a:r>
            <a:r>
              <a:rPr sz="2000" dirty="0">
                <a:solidFill>
                  <a:srgbClr val="404040"/>
                </a:solidFill>
                <a:latin typeface="Times New Roman"/>
                <a:cs typeface="Times New Roman"/>
              </a:rPr>
              <a:t>that</a:t>
            </a:r>
            <a:r>
              <a:rPr sz="2000" spc="-10" dirty="0">
                <a:solidFill>
                  <a:srgbClr val="404040"/>
                </a:solidFill>
                <a:latin typeface="Times New Roman"/>
                <a:cs typeface="Times New Roman"/>
              </a:rPr>
              <a:t> </a:t>
            </a:r>
            <a:r>
              <a:rPr sz="2000" dirty="0">
                <a:solidFill>
                  <a:srgbClr val="404040"/>
                </a:solidFill>
                <a:latin typeface="Times New Roman"/>
                <a:cs typeface="Times New Roman"/>
              </a:rPr>
              <a:t>x </a:t>
            </a:r>
            <a:r>
              <a:rPr sz="2000" dirty="0">
                <a:solidFill>
                  <a:srgbClr val="E6B81E"/>
                </a:solidFill>
                <a:latin typeface="Cambria Math"/>
                <a:cs typeface="Cambria Math"/>
              </a:rPr>
              <a:t>∈</a:t>
            </a:r>
            <a:r>
              <a:rPr sz="2000" spc="-70" dirty="0">
                <a:solidFill>
                  <a:srgbClr val="E6B81E"/>
                </a:solidFill>
                <a:latin typeface="Cambria Math"/>
                <a:cs typeface="Cambria Math"/>
              </a:rPr>
              <a:t> </a:t>
            </a:r>
            <a:r>
              <a:rPr sz="2000" dirty="0">
                <a:solidFill>
                  <a:srgbClr val="404040"/>
                </a:solidFill>
                <a:latin typeface="Times New Roman"/>
                <a:cs typeface="Times New Roman"/>
              </a:rPr>
              <a:t>A</a:t>
            </a:r>
            <a:r>
              <a:rPr sz="2000" spc="-100" dirty="0">
                <a:solidFill>
                  <a:srgbClr val="404040"/>
                </a:solidFill>
                <a:latin typeface="Times New Roman"/>
                <a:cs typeface="Times New Roman"/>
              </a:rPr>
              <a:t> </a:t>
            </a:r>
            <a:r>
              <a:rPr sz="2000" dirty="0">
                <a:solidFill>
                  <a:srgbClr val="404040"/>
                </a:solidFill>
                <a:latin typeface="Times New Roman"/>
                <a:cs typeface="Times New Roman"/>
              </a:rPr>
              <a:t>and</a:t>
            </a:r>
            <a:r>
              <a:rPr sz="2000" spc="-10" dirty="0">
                <a:solidFill>
                  <a:srgbClr val="404040"/>
                </a:solidFill>
                <a:latin typeface="Times New Roman"/>
                <a:cs typeface="Times New Roman"/>
              </a:rPr>
              <a:t> </a:t>
            </a:r>
            <a:r>
              <a:rPr sz="2000" dirty="0">
                <a:solidFill>
                  <a:srgbClr val="404040"/>
                </a:solidFill>
                <a:latin typeface="Times New Roman"/>
                <a:cs typeface="Times New Roman"/>
              </a:rPr>
              <a:t>y</a:t>
            </a:r>
            <a:r>
              <a:rPr sz="2000" spc="-5" dirty="0">
                <a:solidFill>
                  <a:srgbClr val="404040"/>
                </a:solidFill>
                <a:latin typeface="Times New Roman"/>
                <a:cs typeface="Times New Roman"/>
              </a:rPr>
              <a:t> </a:t>
            </a:r>
            <a:r>
              <a:rPr sz="2000" dirty="0">
                <a:solidFill>
                  <a:srgbClr val="E6B81E"/>
                </a:solidFill>
                <a:latin typeface="Cambria Math"/>
                <a:cs typeface="Cambria Math"/>
              </a:rPr>
              <a:t>∈</a:t>
            </a:r>
            <a:r>
              <a:rPr sz="2000" spc="25" dirty="0">
                <a:solidFill>
                  <a:srgbClr val="E6B81E"/>
                </a:solidFill>
                <a:latin typeface="Cambria Math"/>
                <a:cs typeface="Cambria Math"/>
              </a:rPr>
              <a:t> </a:t>
            </a:r>
            <a:r>
              <a:rPr sz="2000" spc="-25" dirty="0">
                <a:solidFill>
                  <a:srgbClr val="404040"/>
                </a:solidFill>
                <a:latin typeface="Times New Roman"/>
                <a:cs typeface="Times New Roman"/>
              </a:rPr>
              <a:t>B:</a:t>
            </a:r>
            <a:endParaRPr sz="2000" dirty="0">
              <a:latin typeface="Times New Roman"/>
              <a:cs typeface="Times New Roman"/>
            </a:endParaRPr>
          </a:p>
          <a:p>
            <a:pPr marL="927100">
              <a:lnSpc>
                <a:spcPct val="100000"/>
              </a:lnSpc>
              <a:spcBef>
                <a:spcPts val="765"/>
              </a:spcBef>
            </a:pPr>
            <a:r>
              <a:rPr sz="2000" b="1" dirty="0">
                <a:solidFill>
                  <a:srgbClr val="6F2F9F"/>
                </a:solidFill>
                <a:latin typeface="Times New Roman"/>
                <a:cs typeface="Times New Roman"/>
              </a:rPr>
              <a:t>A</a:t>
            </a:r>
            <a:r>
              <a:rPr sz="2000" b="1" spc="-110" dirty="0">
                <a:solidFill>
                  <a:srgbClr val="6F2F9F"/>
                </a:solidFill>
                <a:latin typeface="Times New Roman"/>
                <a:cs typeface="Times New Roman"/>
              </a:rPr>
              <a:t> </a:t>
            </a:r>
            <a:r>
              <a:rPr sz="2000" b="1" dirty="0">
                <a:solidFill>
                  <a:srgbClr val="6F2F9F"/>
                </a:solidFill>
                <a:latin typeface="Times New Roman"/>
                <a:cs typeface="Times New Roman"/>
              </a:rPr>
              <a:t>×</a:t>
            </a:r>
            <a:r>
              <a:rPr sz="2000" b="1" spc="-10" dirty="0">
                <a:solidFill>
                  <a:srgbClr val="6F2F9F"/>
                </a:solidFill>
                <a:latin typeface="Times New Roman"/>
                <a:cs typeface="Times New Roman"/>
              </a:rPr>
              <a:t> </a:t>
            </a:r>
            <a:r>
              <a:rPr sz="2000" b="1" dirty="0">
                <a:solidFill>
                  <a:srgbClr val="6F2F9F"/>
                </a:solidFill>
                <a:latin typeface="Times New Roman"/>
                <a:cs typeface="Times New Roman"/>
              </a:rPr>
              <a:t>B</a:t>
            </a:r>
            <a:r>
              <a:rPr sz="2000" b="1" spc="-10" dirty="0">
                <a:solidFill>
                  <a:srgbClr val="6F2F9F"/>
                </a:solidFill>
                <a:latin typeface="Times New Roman"/>
                <a:cs typeface="Times New Roman"/>
              </a:rPr>
              <a:t> </a:t>
            </a:r>
            <a:r>
              <a:rPr sz="2000" b="1" dirty="0">
                <a:solidFill>
                  <a:srgbClr val="6F2F9F"/>
                </a:solidFill>
                <a:latin typeface="Times New Roman"/>
                <a:cs typeface="Times New Roman"/>
              </a:rPr>
              <a:t>=</a:t>
            </a:r>
            <a:r>
              <a:rPr sz="2000" b="1" spc="-15" dirty="0">
                <a:solidFill>
                  <a:srgbClr val="6F2F9F"/>
                </a:solidFill>
                <a:latin typeface="Times New Roman"/>
                <a:cs typeface="Times New Roman"/>
              </a:rPr>
              <a:t> </a:t>
            </a:r>
            <a:r>
              <a:rPr sz="2000" b="1" dirty="0">
                <a:solidFill>
                  <a:srgbClr val="6F2F9F"/>
                </a:solidFill>
                <a:latin typeface="Times New Roman"/>
                <a:cs typeface="Times New Roman"/>
              </a:rPr>
              <a:t>{(x,</a:t>
            </a:r>
            <a:r>
              <a:rPr sz="2000" b="1" spc="-10" dirty="0">
                <a:solidFill>
                  <a:srgbClr val="6F2F9F"/>
                </a:solidFill>
                <a:latin typeface="Times New Roman"/>
                <a:cs typeface="Times New Roman"/>
              </a:rPr>
              <a:t> </a:t>
            </a:r>
            <a:r>
              <a:rPr sz="2000" b="1" dirty="0">
                <a:solidFill>
                  <a:srgbClr val="6F2F9F"/>
                </a:solidFill>
                <a:latin typeface="Times New Roman"/>
                <a:cs typeface="Times New Roman"/>
              </a:rPr>
              <a:t>y)</a:t>
            </a:r>
            <a:r>
              <a:rPr sz="2000" b="1" spc="-15" dirty="0">
                <a:solidFill>
                  <a:srgbClr val="6F2F9F"/>
                </a:solidFill>
                <a:latin typeface="Times New Roman"/>
                <a:cs typeface="Times New Roman"/>
              </a:rPr>
              <a:t> </a:t>
            </a:r>
            <a:r>
              <a:rPr sz="2000" b="1" dirty="0">
                <a:solidFill>
                  <a:srgbClr val="6F2F9F"/>
                </a:solidFill>
                <a:latin typeface="Times New Roman"/>
                <a:cs typeface="Times New Roman"/>
              </a:rPr>
              <a:t>:</a:t>
            </a:r>
            <a:r>
              <a:rPr sz="2000" b="1" spc="-15" dirty="0">
                <a:solidFill>
                  <a:srgbClr val="6F2F9F"/>
                </a:solidFill>
                <a:latin typeface="Times New Roman"/>
                <a:cs typeface="Times New Roman"/>
              </a:rPr>
              <a:t> </a:t>
            </a:r>
            <a:r>
              <a:rPr sz="2000" b="1" dirty="0">
                <a:solidFill>
                  <a:srgbClr val="6F2F9F"/>
                </a:solidFill>
                <a:latin typeface="Times New Roman"/>
                <a:cs typeface="Times New Roman"/>
              </a:rPr>
              <a:t>x</a:t>
            </a:r>
            <a:r>
              <a:rPr sz="2000" b="1" spc="-10" dirty="0">
                <a:solidFill>
                  <a:srgbClr val="6F2F9F"/>
                </a:solidFill>
                <a:latin typeface="Times New Roman"/>
                <a:cs typeface="Times New Roman"/>
              </a:rPr>
              <a:t> </a:t>
            </a:r>
            <a:r>
              <a:rPr sz="2000" dirty="0">
                <a:solidFill>
                  <a:srgbClr val="6F2F9F"/>
                </a:solidFill>
                <a:latin typeface="Cambria Math"/>
                <a:cs typeface="Cambria Math"/>
              </a:rPr>
              <a:t>∈</a:t>
            </a:r>
            <a:r>
              <a:rPr sz="2000" spc="-70" dirty="0">
                <a:solidFill>
                  <a:srgbClr val="6F2F9F"/>
                </a:solidFill>
                <a:latin typeface="Cambria Math"/>
                <a:cs typeface="Cambria Math"/>
              </a:rPr>
              <a:t> </a:t>
            </a:r>
            <a:r>
              <a:rPr sz="2000" b="1" dirty="0">
                <a:solidFill>
                  <a:srgbClr val="6F2F9F"/>
                </a:solidFill>
                <a:latin typeface="Times New Roman"/>
                <a:cs typeface="Times New Roman"/>
              </a:rPr>
              <a:t>A,</a:t>
            </a:r>
            <a:r>
              <a:rPr sz="2000" b="1" spc="-10" dirty="0">
                <a:solidFill>
                  <a:srgbClr val="6F2F9F"/>
                </a:solidFill>
                <a:latin typeface="Times New Roman"/>
                <a:cs typeface="Times New Roman"/>
              </a:rPr>
              <a:t> </a:t>
            </a:r>
            <a:r>
              <a:rPr sz="2000" b="1" dirty="0">
                <a:solidFill>
                  <a:srgbClr val="6F2F9F"/>
                </a:solidFill>
                <a:latin typeface="Times New Roman"/>
                <a:cs typeface="Times New Roman"/>
              </a:rPr>
              <a:t>y</a:t>
            </a:r>
            <a:r>
              <a:rPr sz="2000" b="1" spc="-10" dirty="0">
                <a:solidFill>
                  <a:srgbClr val="6F2F9F"/>
                </a:solidFill>
                <a:latin typeface="Times New Roman"/>
                <a:cs typeface="Times New Roman"/>
              </a:rPr>
              <a:t> </a:t>
            </a:r>
            <a:r>
              <a:rPr sz="2000" dirty="0">
                <a:solidFill>
                  <a:srgbClr val="6F2F9F"/>
                </a:solidFill>
                <a:latin typeface="Cambria Math"/>
                <a:cs typeface="Cambria Math"/>
              </a:rPr>
              <a:t>∈</a:t>
            </a:r>
            <a:r>
              <a:rPr sz="2000" spc="20" dirty="0">
                <a:solidFill>
                  <a:srgbClr val="6F2F9F"/>
                </a:solidFill>
                <a:latin typeface="Cambria Math"/>
                <a:cs typeface="Cambria Math"/>
              </a:rPr>
              <a:t> </a:t>
            </a:r>
            <a:r>
              <a:rPr sz="2000" b="1" spc="-25" dirty="0">
                <a:solidFill>
                  <a:srgbClr val="6F2F9F"/>
                </a:solidFill>
                <a:latin typeface="Times New Roman"/>
                <a:cs typeface="Times New Roman"/>
              </a:rPr>
              <a:t>B}</a:t>
            </a:r>
            <a:endParaRPr sz="2000" dirty="0">
              <a:latin typeface="Times New Roman"/>
              <a:cs typeface="Times New Roman"/>
            </a:endParaRPr>
          </a:p>
          <a:p>
            <a:pPr marL="12700">
              <a:lnSpc>
                <a:spcPts val="1935"/>
              </a:lnSpc>
              <a:spcBef>
                <a:spcPts val="800"/>
              </a:spcBef>
            </a:pPr>
            <a:r>
              <a:rPr lang="en-US" sz="2000" b="1" dirty="0">
                <a:solidFill>
                  <a:srgbClr val="0070C0"/>
                </a:solidFill>
                <a:uFill>
                  <a:solidFill>
                    <a:srgbClr val="001F5F"/>
                  </a:solidFill>
                </a:uFill>
                <a:latin typeface="Times New Roman" panose="02020603050405020304" pitchFamily="18" charset="0"/>
                <a:cs typeface="Times New Roman" panose="02020603050405020304" pitchFamily="18" charset="0"/>
              </a:rPr>
              <a:t>If A = {1,2},B = {</a:t>
            </a:r>
            <a:r>
              <a:rPr lang="en-US" sz="2000" b="1" dirty="0" err="1">
                <a:solidFill>
                  <a:srgbClr val="0070C0"/>
                </a:solidFill>
                <a:uFill>
                  <a:solidFill>
                    <a:srgbClr val="001F5F"/>
                  </a:solidFill>
                </a:uFill>
                <a:latin typeface="Times New Roman" panose="02020603050405020304" pitchFamily="18" charset="0"/>
                <a:cs typeface="Times New Roman" panose="02020603050405020304" pitchFamily="18" charset="0"/>
              </a:rPr>
              <a:t>a,b,c</a:t>
            </a:r>
            <a:r>
              <a:rPr lang="en-US" sz="2000" b="1" dirty="0">
                <a:solidFill>
                  <a:srgbClr val="0070C0"/>
                </a:solidFill>
                <a:uFill>
                  <a:solidFill>
                    <a:srgbClr val="001F5F"/>
                  </a:solidFill>
                </a:uFill>
                <a:latin typeface="Times New Roman" panose="02020603050405020304" pitchFamily="18" charset="0"/>
                <a:cs typeface="Times New Roman" panose="02020603050405020304" pitchFamily="18" charset="0"/>
              </a:rPr>
              <a:t>}</a:t>
            </a:r>
            <a:r>
              <a:rPr lang="en-US" sz="2000" b="1" dirty="0" err="1">
                <a:solidFill>
                  <a:srgbClr val="0070C0"/>
                </a:solidFill>
                <a:uFill>
                  <a:solidFill>
                    <a:srgbClr val="001F5F"/>
                  </a:solidFill>
                </a:uFill>
                <a:latin typeface="Times New Roman" panose="02020603050405020304" pitchFamily="18" charset="0"/>
                <a:cs typeface="Times New Roman" panose="02020603050405020304" pitchFamily="18" charset="0"/>
              </a:rPr>
              <a:t>Then:A</a:t>
            </a:r>
            <a:r>
              <a:rPr lang="en-US" sz="2000" b="1" dirty="0">
                <a:solidFill>
                  <a:srgbClr val="0070C0"/>
                </a:solidFill>
                <a:uFill>
                  <a:solidFill>
                    <a:srgbClr val="001F5F"/>
                  </a:solidFill>
                </a:uFill>
                <a:latin typeface="Times New Roman" panose="02020603050405020304" pitchFamily="18" charset="0"/>
                <a:cs typeface="Times New Roman" panose="02020603050405020304" pitchFamily="18" charset="0"/>
              </a:rPr>
              <a:t> × B ={(1,a), (1,b), (1,c), (2,a), (2,b), (2,c)}</a:t>
            </a:r>
          </a:p>
          <a:p>
            <a:pPr marL="12700">
              <a:lnSpc>
                <a:spcPts val="1935"/>
              </a:lnSpc>
              <a:spcBef>
                <a:spcPts val="800"/>
              </a:spcBef>
            </a:pPr>
            <a:r>
              <a:rPr sz="2000" b="1" u="sng" dirty="0">
                <a:solidFill>
                  <a:srgbClr val="001F5F"/>
                </a:solidFill>
                <a:uFill>
                  <a:solidFill>
                    <a:srgbClr val="001F5F"/>
                  </a:solidFill>
                </a:uFill>
                <a:latin typeface="Trebuchet MS"/>
                <a:cs typeface="Trebuchet MS"/>
              </a:rPr>
              <a:t>NOTE</a:t>
            </a:r>
            <a:r>
              <a:rPr sz="2000" b="1" u="sng" dirty="0">
                <a:solidFill>
                  <a:srgbClr val="001F5F"/>
                </a:solidFill>
                <a:uFill>
                  <a:solidFill>
                    <a:srgbClr val="001F5F"/>
                  </a:solidFill>
                </a:uFill>
                <a:latin typeface="Times New Roman"/>
                <a:cs typeface="Times New Roman"/>
              </a:rPr>
              <a:t>:</a:t>
            </a:r>
            <a:r>
              <a:rPr sz="2000" b="1" u="sng" spc="-25" dirty="0">
                <a:solidFill>
                  <a:srgbClr val="001F5F"/>
                </a:solidFill>
                <a:uFill>
                  <a:solidFill>
                    <a:srgbClr val="001F5F"/>
                  </a:solidFill>
                </a:uFill>
                <a:latin typeface="Times New Roman"/>
                <a:cs typeface="Times New Roman"/>
              </a:rPr>
              <a:t> </a:t>
            </a:r>
            <a:endParaRPr lang="en-US" sz="2000" b="1" u="sng" spc="-25" dirty="0">
              <a:solidFill>
                <a:srgbClr val="001F5F"/>
              </a:solidFill>
              <a:uFill>
                <a:solidFill>
                  <a:srgbClr val="001F5F"/>
                </a:solidFill>
              </a:uFill>
              <a:latin typeface="Times New Roman"/>
              <a:cs typeface="Times New Roman"/>
            </a:endParaRPr>
          </a:p>
          <a:p>
            <a:pPr marL="12700">
              <a:lnSpc>
                <a:spcPts val="1935"/>
              </a:lnSpc>
              <a:spcBef>
                <a:spcPts val="800"/>
              </a:spcBef>
            </a:pPr>
            <a:r>
              <a:rPr sz="2000" dirty="0">
                <a:solidFill>
                  <a:srgbClr val="CC0066"/>
                </a:solidFill>
                <a:latin typeface="Times New Roman"/>
                <a:cs typeface="Times New Roman"/>
              </a:rPr>
              <a:t>If</a:t>
            </a:r>
            <a:r>
              <a:rPr sz="2000" spc="-20" dirty="0">
                <a:solidFill>
                  <a:srgbClr val="CC0066"/>
                </a:solidFill>
                <a:latin typeface="Times New Roman"/>
                <a:cs typeface="Times New Roman"/>
              </a:rPr>
              <a:t> </a:t>
            </a:r>
            <a:r>
              <a:rPr sz="2000" spc="-10" dirty="0">
                <a:solidFill>
                  <a:srgbClr val="CC0066"/>
                </a:solidFill>
                <a:latin typeface="Times New Roman"/>
                <a:cs typeface="Times New Roman"/>
              </a:rPr>
              <a:t>set</a:t>
            </a:r>
            <a:r>
              <a:rPr sz="2000" spc="-95" dirty="0">
                <a:solidFill>
                  <a:srgbClr val="CC0066"/>
                </a:solidFill>
                <a:latin typeface="Times New Roman"/>
                <a:cs typeface="Times New Roman"/>
              </a:rPr>
              <a:t> </a:t>
            </a:r>
            <a:r>
              <a:rPr sz="2000" dirty="0">
                <a:solidFill>
                  <a:srgbClr val="CC0066"/>
                </a:solidFill>
                <a:latin typeface="Times New Roman"/>
                <a:cs typeface="Times New Roman"/>
              </a:rPr>
              <a:t>A</a:t>
            </a:r>
            <a:r>
              <a:rPr sz="2000" spc="-105" dirty="0">
                <a:solidFill>
                  <a:srgbClr val="CC0066"/>
                </a:solidFill>
                <a:latin typeface="Times New Roman"/>
                <a:cs typeface="Times New Roman"/>
              </a:rPr>
              <a:t> </a:t>
            </a:r>
            <a:r>
              <a:rPr sz="2000" dirty="0">
                <a:solidFill>
                  <a:srgbClr val="CC0066"/>
                </a:solidFill>
                <a:latin typeface="Times New Roman"/>
                <a:cs typeface="Times New Roman"/>
              </a:rPr>
              <a:t>has</a:t>
            </a:r>
            <a:r>
              <a:rPr sz="2000" spc="-15" dirty="0">
                <a:solidFill>
                  <a:srgbClr val="CC0066"/>
                </a:solidFill>
                <a:latin typeface="Times New Roman"/>
                <a:cs typeface="Times New Roman"/>
              </a:rPr>
              <a:t> </a:t>
            </a:r>
            <a:r>
              <a:rPr sz="2000" b="1" i="1" dirty="0">
                <a:solidFill>
                  <a:srgbClr val="CC0066"/>
                </a:solidFill>
                <a:latin typeface="Times New Roman"/>
                <a:cs typeface="Times New Roman"/>
              </a:rPr>
              <a:t>m</a:t>
            </a:r>
            <a:r>
              <a:rPr sz="2000" b="1" i="1" spc="-10" dirty="0">
                <a:solidFill>
                  <a:srgbClr val="CC0066"/>
                </a:solidFill>
                <a:latin typeface="Times New Roman"/>
                <a:cs typeface="Times New Roman"/>
              </a:rPr>
              <a:t> </a:t>
            </a:r>
            <a:r>
              <a:rPr sz="2000" dirty="0">
                <a:solidFill>
                  <a:srgbClr val="CC0066"/>
                </a:solidFill>
                <a:latin typeface="Times New Roman"/>
                <a:cs typeface="Times New Roman"/>
              </a:rPr>
              <a:t>elements</a:t>
            </a:r>
            <a:r>
              <a:rPr sz="2000" spc="-25" dirty="0">
                <a:solidFill>
                  <a:srgbClr val="CC0066"/>
                </a:solidFill>
                <a:latin typeface="Times New Roman"/>
                <a:cs typeface="Times New Roman"/>
              </a:rPr>
              <a:t> </a:t>
            </a:r>
            <a:r>
              <a:rPr sz="2000" dirty="0">
                <a:solidFill>
                  <a:srgbClr val="CC0066"/>
                </a:solidFill>
                <a:latin typeface="Times New Roman"/>
                <a:cs typeface="Times New Roman"/>
              </a:rPr>
              <a:t>and</a:t>
            </a:r>
            <a:r>
              <a:rPr sz="2000" spc="-15" dirty="0">
                <a:solidFill>
                  <a:srgbClr val="CC0066"/>
                </a:solidFill>
                <a:latin typeface="Times New Roman"/>
                <a:cs typeface="Times New Roman"/>
              </a:rPr>
              <a:t> </a:t>
            </a:r>
            <a:r>
              <a:rPr sz="2000" dirty="0">
                <a:solidFill>
                  <a:srgbClr val="CC0066"/>
                </a:solidFill>
                <a:latin typeface="Times New Roman"/>
                <a:cs typeface="Times New Roman"/>
              </a:rPr>
              <a:t>set</a:t>
            </a:r>
            <a:r>
              <a:rPr sz="2000" spc="-15" dirty="0">
                <a:solidFill>
                  <a:srgbClr val="CC0066"/>
                </a:solidFill>
                <a:latin typeface="Times New Roman"/>
                <a:cs typeface="Times New Roman"/>
              </a:rPr>
              <a:t> </a:t>
            </a:r>
            <a:r>
              <a:rPr sz="2000" dirty="0">
                <a:solidFill>
                  <a:srgbClr val="CC0066"/>
                </a:solidFill>
                <a:latin typeface="Times New Roman"/>
                <a:cs typeface="Times New Roman"/>
              </a:rPr>
              <a:t>B</a:t>
            </a:r>
            <a:r>
              <a:rPr sz="2000" spc="-5" dirty="0">
                <a:solidFill>
                  <a:srgbClr val="CC0066"/>
                </a:solidFill>
                <a:latin typeface="Times New Roman"/>
                <a:cs typeface="Times New Roman"/>
              </a:rPr>
              <a:t> </a:t>
            </a:r>
            <a:r>
              <a:rPr sz="2000" dirty="0">
                <a:solidFill>
                  <a:srgbClr val="CC0066"/>
                </a:solidFill>
                <a:latin typeface="Times New Roman"/>
                <a:cs typeface="Times New Roman"/>
              </a:rPr>
              <a:t>has</a:t>
            </a:r>
            <a:r>
              <a:rPr sz="2000" spc="-10" dirty="0">
                <a:solidFill>
                  <a:srgbClr val="CC0066"/>
                </a:solidFill>
                <a:latin typeface="Times New Roman"/>
                <a:cs typeface="Times New Roman"/>
              </a:rPr>
              <a:t> </a:t>
            </a:r>
            <a:r>
              <a:rPr sz="2000" b="1" i="1" dirty="0">
                <a:solidFill>
                  <a:srgbClr val="CC0066"/>
                </a:solidFill>
                <a:latin typeface="Times New Roman"/>
                <a:cs typeface="Times New Roman"/>
              </a:rPr>
              <a:t>n</a:t>
            </a:r>
            <a:r>
              <a:rPr sz="2000" b="1" i="1" spc="-10" dirty="0">
                <a:solidFill>
                  <a:srgbClr val="CC0066"/>
                </a:solidFill>
                <a:latin typeface="Times New Roman"/>
                <a:cs typeface="Times New Roman"/>
              </a:rPr>
              <a:t> </a:t>
            </a:r>
            <a:r>
              <a:rPr sz="2000" dirty="0">
                <a:solidFill>
                  <a:srgbClr val="CC0066"/>
                </a:solidFill>
                <a:latin typeface="Times New Roman"/>
                <a:cs typeface="Times New Roman"/>
              </a:rPr>
              <a:t>elements</a:t>
            </a:r>
            <a:r>
              <a:rPr sz="2000" spc="-25" dirty="0">
                <a:solidFill>
                  <a:srgbClr val="CC0066"/>
                </a:solidFill>
                <a:latin typeface="Times New Roman"/>
                <a:cs typeface="Times New Roman"/>
              </a:rPr>
              <a:t> </a:t>
            </a:r>
            <a:r>
              <a:rPr sz="2000" spc="-10" dirty="0">
                <a:solidFill>
                  <a:srgbClr val="CC0066"/>
                </a:solidFill>
                <a:latin typeface="Times New Roman"/>
                <a:cs typeface="Times New Roman"/>
              </a:rPr>
              <a:t>then</a:t>
            </a:r>
            <a:r>
              <a:rPr sz="2000" spc="-105" dirty="0">
                <a:solidFill>
                  <a:srgbClr val="CC0066"/>
                </a:solidFill>
                <a:latin typeface="Times New Roman"/>
                <a:cs typeface="Times New Roman"/>
              </a:rPr>
              <a:t> </a:t>
            </a:r>
            <a:r>
              <a:rPr sz="2000" dirty="0">
                <a:solidFill>
                  <a:srgbClr val="CC0066"/>
                </a:solidFill>
                <a:latin typeface="Times New Roman"/>
                <a:cs typeface="Times New Roman"/>
              </a:rPr>
              <a:t>A</a:t>
            </a:r>
            <a:r>
              <a:rPr sz="2000" spc="-90" dirty="0">
                <a:solidFill>
                  <a:srgbClr val="CC0066"/>
                </a:solidFill>
                <a:latin typeface="Times New Roman"/>
                <a:cs typeface="Times New Roman"/>
              </a:rPr>
              <a:t> </a:t>
            </a:r>
            <a:r>
              <a:rPr sz="2000" dirty="0">
                <a:solidFill>
                  <a:srgbClr val="CC0066"/>
                </a:solidFill>
                <a:latin typeface="Symbol"/>
                <a:cs typeface="Symbol"/>
              </a:rPr>
              <a:t></a:t>
            </a:r>
            <a:r>
              <a:rPr sz="2000" dirty="0">
                <a:solidFill>
                  <a:srgbClr val="CC0066"/>
                </a:solidFill>
                <a:latin typeface="Times New Roman"/>
                <a:cs typeface="Times New Roman"/>
              </a:rPr>
              <a:t>B</a:t>
            </a:r>
            <a:r>
              <a:rPr sz="2000" spc="-10" dirty="0">
                <a:solidFill>
                  <a:srgbClr val="CC0066"/>
                </a:solidFill>
                <a:latin typeface="Times New Roman"/>
                <a:cs typeface="Times New Roman"/>
              </a:rPr>
              <a:t> </a:t>
            </a:r>
            <a:r>
              <a:rPr sz="2000" dirty="0">
                <a:solidFill>
                  <a:srgbClr val="CC0066"/>
                </a:solidFill>
                <a:latin typeface="Times New Roman"/>
                <a:cs typeface="Times New Roman"/>
              </a:rPr>
              <a:t>has</a:t>
            </a:r>
            <a:r>
              <a:rPr sz="2000" spc="-10" dirty="0">
                <a:solidFill>
                  <a:srgbClr val="CC0066"/>
                </a:solidFill>
                <a:latin typeface="Times New Roman"/>
                <a:cs typeface="Times New Roman"/>
              </a:rPr>
              <a:t> </a:t>
            </a:r>
            <a:r>
              <a:rPr sz="2000" b="1" i="1" dirty="0">
                <a:solidFill>
                  <a:srgbClr val="CC0066"/>
                </a:solidFill>
                <a:latin typeface="Times New Roman"/>
                <a:cs typeface="Times New Roman"/>
              </a:rPr>
              <a:t>m</a:t>
            </a:r>
            <a:r>
              <a:rPr sz="2000" b="1" i="1" spc="-5" dirty="0">
                <a:solidFill>
                  <a:srgbClr val="CC0066"/>
                </a:solidFill>
                <a:latin typeface="Times New Roman"/>
                <a:cs typeface="Times New Roman"/>
              </a:rPr>
              <a:t> </a:t>
            </a:r>
            <a:r>
              <a:rPr sz="2000" spc="-50" dirty="0">
                <a:solidFill>
                  <a:srgbClr val="CC0066"/>
                </a:solidFill>
                <a:latin typeface="Symbol"/>
                <a:cs typeface="Symbol"/>
              </a:rPr>
              <a:t></a:t>
            </a:r>
            <a:r>
              <a:rPr lang="en-US" sz="2000" spc="-50" dirty="0">
                <a:solidFill>
                  <a:srgbClr val="CC0066"/>
                </a:solidFill>
                <a:latin typeface="Symbol"/>
                <a:cs typeface="Symbol"/>
              </a:rPr>
              <a:t> </a:t>
            </a:r>
            <a:r>
              <a:rPr sz="2000" b="1" i="1" dirty="0">
                <a:solidFill>
                  <a:srgbClr val="CC0066"/>
                </a:solidFill>
                <a:latin typeface="Times New Roman"/>
                <a:cs typeface="Times New Roman"/>
              </a:rPr>
              <a:t>n</a:t>
            </a:r>
            <a:r>
              <a:rPr sz="2000" b="1" i="1" spc="-10" dirty="0">
                <a:solidFill>
                  <a:srgbClr val="CC0066"/>
                </a:solidFill>
                <a:latin typeface="Times New Roman"/>
                <a:cs typeface="Times New Roman"/>
              </a:rPr>
              <a:t> </a:t>
            </a:r>
            <a:r>
              <a:rPr sz="2000" spc="-10" dirty="0">
                <a:solidFill>
                  <a:srgbClr val="CC0066"/>
                </a:solidFill>
                <a:latin typeface="Times New Roman"/>
                <a:cs typeface="Times New Roman"/>
              </a:rPr>
              <a:t>elements.</a:t>
            </a:r>
            <a:endParaRPr sz="2000" dirty="0">
              <a:solidFill>
                <a:srgbClr val="CC0066"/>
              </a:solidFill>
              <a:latin typeface="Times New Roman"/>
              <a:cs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43280" y="175260"/>
            <a:ext cx="6548120" cy="574675"/>
          </a:xfrm>
          <a:prstGeom prst="rect">
            <a:avLst/>
          </a:prstGeom>
        </p:spPr>
        <p:txBody>
          <a:bodyPr vert="horz" wrap="square" lIns="0" tIns="12700" rIns="0" bIns="0" rtlCol="0">
            <a:spAutoFit/>
          </a:bodyPr>
          <a:lstStyle/>
          <a:p>
            <a:pPr marL="12700">
              <a:lnSpc>
                <a:spcPct val="100000"/>
              </a:lnSpc>
              <a:spcBef>
                <a:spcPts val="100"/>
              </a:spcBef>
            </a:pPr>
            <a:r>
              <a:rPr dirty="0"/>
              <a:t>EXAMPLE</a:t>
            </a:r>
            <a:r>
              <a:rPr spc="-254" dirty="0"/>
              <a:t> </a:t>
            </a:r>
            <a:r>
              <a:rPr dirty="0"/>
              <a:t>A</a:t>
            </a:r>
            <a:r>
              <a:rPr spc="-254" dirty="0"/>
              <a:t> </a:t>
            </a:r>
            <a:r>
              <a:rPr dirty="0"/>
              <a:t>(ORDERED</a:t>
            </a:r>
            <a:r>
              <a:rPr spc="-70" dirty="0"/>
              <a:t> </a:t>
            </a:r>
            <a:r>
              <a:rPr spc="-10" dirty="0"/>
              <a:t>PAIR)</a:t>
            </a:r>
          </a:p>
        </p:txBody>
      </p:sp>
      <p:sp>
        <p:nvSpPr>
          <p:cNvPr id="3" name="object 3"/>
          <p:cNvSpPr txBox="1"/>
          <p:nvPr/>
        </p:nvSpPr>
        <p:spPr>
          <a:xfrm>
            <a:off x="688340" y="1042161"/>
            <a:ext cx="5520690" cy="1503045"/>
          </a:xfrm>
          <a:prstGeom prst="rect">
            <a:avLst/>
          </a:prstGeom>
        </p:spPr>
        <p:txBody>
          <a:bodyPr vert="horz" wrap="square" lIns="0" tIns="12700" rIns="0" bIns="0" rtlCol="0">
            <a:spAutoFit/>
          </a:bodyPr>
          <a:lstStyle/>
          <a:p>
            <a:pPr marL="12700" marR="1931035">
              <a:lnSpc>
                <a:spcPct val="146100"/>
              </a:lnSpc>
              <a:spcBef>
                <a:spcPts val="100"/>
              </a:spcBef>
            </a:pPr>
            <a:r>
              <a:rPr sz="1800" b="1" dirty="0">
                <a:solidFill>
                  <a:srgbClr val="404040"/>
                </a:solidFill>
                <a:latin typeface="Times New Roman"/>
                <a:cs typeface="Times New Roman"/>
              </a:rPr>
              <a:t>Find</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x</a:t>
            </a:r>
            <a:r>
              <a:rPr sz="1800" b="1" spc="-5" dirty="0">
                <a:solidFill>
                  <a:srgbClr val="404040"/>
                </a:solidFill>
                <a:latin typeface="Times New Roman"/>
                <a:cs typeface="Times New Roman"/>
              </a:rPr>
              <a:t> </a:t>
            </a:r>
            <a:r>
              <a:rPr sz="1800" b="1" dirty="0">
                <a:solidFill>
                  <a:srgbClr val="404040"/>
                </a:solidFill>
                <a:latin typeface="Times New Roman"/>
                <a:cs typeface="Times New Roman"/>
              </a:rPr>
              <a:t>and</a:t>
            </a:r>
            <a:r>
              <a:rPr sz="1800" b="1" spc="-5" dirty="0">
                <a:solidFill>
                  <a:srgbClr val="404040"/>
                </a:solidFill>
                <a:latin typeface="Times New Roman"/>
                <a:cs typeface="Times New Roman"/>
              </a:rPr>
              <a:t> </a:t>
            </a:r>
            <a:r>
              <a:rPr sz="1800" b="1" dirty="0">
                <a:solidFill>
                  <a:srgbClr val="404040"/>
                </a:solidFill>
                <a:latin typeface="Times New Roman"/>
                <a:cs typeface="Times New Roman"/>
              </a:rPr>
              <a:t>y</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given</a:t>
            </a:r>
            <a:r>
              <a:rPr sz="1800" b="1" spc="-5" dirty="0">
                <a:solidFill>
                  <a:srgbClr val="404040"/>
                </a:solidFill>
                <a:latin typeface="Times New Roman"/>
                <a:cs typeface="Times New Roman"/>
              </a:rPr>
              <a:t> </a:t>
            </a:r>
            <a:r>
              <a:rPr sz="1800" b="1" dirty="0">
                <a:solidFill>
                  <a:srgbClr val="404040"/>
                </a:solidFill>
                <a:latin typeface="Times New Roman"/>
                <a:cs typeface="Times New Roman"/>
              </a:rPr>
              <a:t>(2x,</a:t>
            </a:r>
            <a:r>
              <a:rPr sz="1800" b="1" spc="-5" dirty="0">
                <a:solidFill>
                  <a:srgbClr val="404040"/>
                </a:solidFill>
                <a:latin typeface="Times New Roman"/>
                <a:cs typeface="Times New Roman"/>
              </a:rPr>
              <a:t> </a:t>
            </a:r>
            <a:r>
              <a:rPr sz="1800" b="1" dirty="0">
                <a:solidFill>
                  <a:srgbClr val="404040"/>
                </a:solidFill>
                <a:latin typeface="Times New Roman"/>
                <a:cs typeface="Times New Roman"/>
              </a:rPr>
              <a:t>x</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a:t>
            </a:r>
            <a:r>
              <a:rPr sz="1800" b="1" spc="-5" dirty="0">
                <a:solidFill>
                  <a:srgbClr val="404040"/>
                </a:solidFill>
                <a:latin typeface="Times New Roman"/>
                <a:cs typeface="Times New Roman"/>
              </a:rPr>
              <a:t> </a:t>
            </a:r>
            <a:r>
              <a:rPr sz="1800" b="1" dirty="0">
                <a:solidFill>
                  <a:srgbClr val="404040"/>
                </a:solidFill>
                <a:latin typeface="Times New Roman"/>
                <a:cs typeface="Times New Roman"/>
              </a:rPr>
              <a:t>y)</a:t>
            </a:r>
            <a:r>
              <a:rPr sz="1800" b="1" spc="-5" dirty="0">
                <a:solidFill>
                  <a:srgbClr val="404040"/>
                </a:solidFill>
                <a:latin typeface="Times New Roman"/>
                <a:cs typeface="Times New Roman"/>
              </a:rPr>
              <a:t> </a:t>
            </a:r>
            <a:r>
              <a:rPr sz="1800" b="1" dirty="0">
                <a:solidFill>
                  <a:srgbClr val="404040"/>
                </a:solidFill>
                <a:latin typeface="Times New Roman"/>
                <a:cs typeface="Times New Roman"/>
              </a:rPr>
              <a:t>=</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(6,</a:t>
            </a:r>
            <a:r>
              <a:rPr sz="1800" b="1" spc="-5" dirty="0">
                <a:solidFill>
                  <a:srgbClr val="404040"/>
                </a:solidFill>
                <a:latin typeface="Times New Roman"/>
                <a:cs typeface="Times New Roman"/>
              </a:rPr>
              <a:t> </a:t>
            </a:r>
            <a:r>
              <a:rPr sz="1800" b="1" spc="-25" dirty="0">
                <a:solidFill>
                  <a:srgbClr val="404040"/>
                </a:solidFill>
                <a:latin typeface="Times New Roman"/>
                <a:cs typeface="Times New Roman"/>
              </a:rPr>
              <a:t>2) </a:t>
            </a:r>
            <a:r>
              <a:rPr sz="1800" b="1" u="sng" spc="-10" dirty="0">
                <a:solidFill>
                  <a:srgbClr val="6F2F9F"/>
                </a:solidFill>
                <a:uFill>
                  <a:solidFill>
                    <a:srgbClr val="6F2F9F"/>
                  </a:solidFill>
                </a:uFill>
                <a:latin typeface="Times New Roman"/>
                <a:cs typeface="Times New Roman"/>
              </a:rPr>
              <a:t>SOLUTION</a:t>
            </a:r>
            <a:r>
              <a:rPr sz="1800" spc="-10" dirty="0">
                <a:solidFill>
                  <a:srgbClr val="6F2F9F"/>
                </a:solidFill>
                <a:latin typeface="Times New Roman"/>
                <a:cs typeface="Times New Roman"/>
              </a:rPr>
              <a:t>:</a:t>
            </a:r>
            <a:endParaRPr sz="1800" dirty="0">
              <a:latin typeface="Times New Roman"/>
              <a:cs typeface="Times New Roman"/>
            </a:endParaRPr>
          </a:p>
          <a:p>
            <a:pPr marL="12700" marR="5080">
              <a:lnSpc>
                <a:spcPct val="100000"/>
              </a:lnSpc>
              <a:spcBef>
                <a:spcPts val="1000"/>
              </a:spcBef>
            </a:pPr>
            <a:r>
              <a:rPr sz="1800" spc="-35" dirty="0">
                <a:solidFill>
                  <a:srgbClr val="404040"/>
                </a:solidFill>
                <a:latin typeface="Times New Roman"/>
                <a:cs typeface="Times New Roman"/>
              </a:rPr>
              <a:t>Two </a:t>
            </a:r>
            <a:r>
              <a:rPr sz="1800" dirty="0">
                <a:solidFill>
                  <a:srgbClr val="404040"/>
                </a:solidFill>
                <a:latin typeface="Times New Roman"/>
                <a:cs typeface="Times New Roman"/>
              </a:rPr>
              <a:t>ordered</a:t>
            </a:r>
            <a:r>
              <a:rPr sz="1800" spc="-25" dirty="0">
                <a:solidFill>
                  <a:srgbClr val="404040"/>
                </a:solidFill>
                <a:latin typeface="Times New Roman"/>
                <a:cs typeface="Times New Roman"/>
              </a:rPr>
              <a:t> </a:t>
            </a:r>
            <a:r>
              <a:rPr sz="1800" dirty="0">
                <a:solidFill>
                  <a:srgbClr val="404040"/>
                </a:solidFill>
                <a:latin typeface="Times New Roman"/>
                <a:cs typeface="Times New Roman"/>
              </a:rPr>
              <a:t>pairs</a:t>
            </a:r>
            <a:r>
              <a:rPr sz="1800" spc="-25" dirty="0">
                <a:solidFill>
                  <a:srgbClr val="404040"/>
                </a:solidFill>
                <a:latin typeface="Times New Roman"/>
                <a:cs typeface="Times New Roman"/>
              </a:rPr>
              <a:t> </a:t>
            </a:r>
            <a:r>
              <a:rPr sz="1800" dirty="0">
                <a:solidFill>
                  <a:srgbClr val="404040"/>
                </a:solidFill>
                <a:latin typeface="Times New Roman"/>
                <a:cs typeface="Times New Roman"/>
              </a:rPr>
              <a:t>are</a:t>
            </a:r>
            <a:r>
              <a:rPr sz="1800" spc="-30" dirty="0">
                <a:solidFill>
                  <a:srgbClr val="404040"/>
                </a:solidFill>
                <a:latin typeface="Times New Roman"/>
                <a:cs typeface="Times New Roman"/>
              </a:rPr>
              <a:t> </a:t>
            </a:r>
            <a:r>
              <a:rPr sz="1800" dirty="0">
                <a:solidFill>
                  <a:srgbClr val="404040"/>
                </a:solidFill>
                <a:latin typeface="Times New Roman"/>
                <a:cs typeface="Times New Roman"/>
              </a:rPr>
              <a:t>equal</a:t>
            </a:r>
            <a:r>
              <a:rPr sz="1800" spc="-25" dirty="0">
                <a:solidFill>
                  <a:srgbClr val="404040"/>
                </a:solidFill>
                <a:latin typeface="Times New Roman"/>
                <a:cs typeface="Times New Roman"/>
              </a:rPr>
              <a:t> </a:t>
            </a:r>
            <a:r>
              <a:rPr sz="1800" dirty="0">
                <a:solidFill>
                  <a:srgbClr val="404040"/>
                </a:solidFill>
                <a:latin typeface="Times New Roman"/>
                <a:cs typeface="Times New Roman"/>
              </a:rPr>
              <a:t>if</a:t>
            </a:r>
            <a:r>
              <a:rPr sz="1800" spc="-30" dirty="0">
                <a:solidFill>
                  <a:srgbClr val="404040"/>
                </a:solidFill>
                <a:latin typeface="Times New Roman"/>
                <a:cs typeface="Times New Roman"/>
              </a:rPr>
              <a:t> </a:t>
            </a:r>
            <a:r>
              <a:rPr sz="1800" dirty="0">
                <a:solidFill>
                  <a:srgbClr val="404040"/>
                </a:solidFill>
                <a:latin typeface="Times New Roman"/>
                <a:cs typeface="Times New Roman"/>
              </a:rPr>
              <a:t>and</a:t>
            </a:r>
            <a:r>
              <a:rPr sz="1800" spc="-25" dirty="0">
                <a:solidFill>
                  <a:srgbClr val="404040"/>
                </a:solidFill>
                <a:latin typeface="Times New Roman"/>
                <a:cs typeface="Times New Roman"/>
              </a:rPr>
              <a:t> </a:t>
            </a:r>
            <a:r>
              <a:rPr sz="1800" dirty="0">
                <a:solidFill>
                  <a:srgbClr val="404040"/>
                </a:solidFill>
                <a:latin typeface="Times New Roman"/>
                <a:cs typeface="Times New Roman"/>
              </a:rPr>
              <a:t>only</a:t>
            </a:r>
            <a:r>
              <a:rPr sz="1800" spc="-30" dirty="0">
                <a:solidFill>
                  <a:srgbClr val="404040"/>
                </a:solidFill>
                <a:latin typeface="Times New Roman"/>
                <a:cs typeface="Times New Roman"/>
              </a:rPr>
              <a:t> </a:t>
            </a:r>
            <a:r>
              <a:rPr sz="1800" dirty="0">
                <a:solidFill>
                  <a:srgbClr val="404040"/>
                </a:solidFill>
                <a:latin typeface="Times New Roman"/>
                <a:cs typeface="Times New Roman"/>
              </a:rPr>
              <a:t>if</a:t>
            </a:r>
            <a:r>
              <a:rPr sz="1800" spc="-30" dirty="0">
                <a:solidFill>
                  <a:srgbClr val="404040"/>
                </a:solidFill>
                <a:latin typeface="Times New Roman"/>
                <a:cs typeface="Times New Roman"/>
              </a:rPr>
              <a:t> </a:t>
            </a:r>
            <a:r>
              <a:rPr sz="1800" dirty="0">
                <a:solidFill>
                  <a:srgbClr val="404040"/>
                </a:solidFill>
                <a:latin typeface="Times New Roman"/>
                <a:cs typeface="Times New Roman"/>
              </a:rPr>
              <a:t>the</a:t>
            </a:r>
            <a:r>
              <a:rPr sz="1800" spc="-25" dirty="0">
                <a:solidFill>
                  <a:srgbClr val="404040"/>
                </a:solidFill>
                <a:latin typeface="Times New Roman"/>
                <a:cs typeface="Times New Roman"/>
              </a:rPr>
              <a:t> </a:t>
            </a:r>
            <a:r>
              <a:rPr sz="1800" spc="-10" dirty="0">
                <a:solidFill>
                  <a:srgbClr val="404040"/>
                </a:solidFill>
                <a:latin typeface="Times New Roman"/>
                <a:cs typeface="Times New Roman"/>
              </a:rPr>
              <a:t>corresponding </a:t>
            </a:r>
            <a:r>
              <a:rPr sz="1800" dirty="0">
                <a:solidFill>
                  <a:srgbClr val="404040"/>
                </a:solidFill>
                <a:latin typeface="Times New Roman"/>
                <a:cs typeface="Times New Roman"/>
              </a:rPr>
              <a:t>components</a:t>
            </a:r>
            <a:r>
              <a:rPr sz="1800" spc="-40" dirty="0">
                <a:solidFill>
                  <a:srgbClr val="404040"/>
                </a:solidFill>
                <a:latin typeface="Times New Roman"/>
                <a:cs typeface="Times New Roman"/>
              </a:rPr>
              <a:t> </a:t>
            </a:r>
            <a:r>
              <a:rPr sz="1800" dirty="0">
                <a:solidFill>
                  <a:srgbClr val="404040"/>
                </a:solidFill>
                <a:latin typeface="Times New Roman"/>
                <a:cs typeface="Times New Roman"/>
              </a:rPr>
              <a:t>are</a:t>
            </a:r>
            <a:r>
              <a:rPr sz="1800" spc="-40" dirty="0">
                <a:solidFill>
                  <a:srgbClr val="404040"/>
                </a:solidFill>
                <a:latin typeface="Times New Roman"/>
                <a:cs typeface="Times New Roman"/>
              </a:rPr>
              <a:t> </a:t>
            </a:r>
            <a:r>
              <a:rPr sz="1800" dirty="0">
                <a:solidFill>
                  <a:srgbClr val="404040"/>
                </a:solidFill>
                <a:latin typeface="Times New Roman"/>
                <a:cs typeface="Times New Roman"/>
              </a:rPr>
              <a:t>equal.</a:t>
            </a:r>
            <a:r>
              <a:rPr sz="1800" spc="-45" dirty="0">
                <a:solidFill>
                  <a:srgbClr val="404040"/>
                </a:solidFill>
                <a:latin typeface="Times New Roman"/>
                <a:cs typeface="Times New Roman"/>
              </a:rPr>
              <a:t> </a:t>
            </a:r>
            <a:r>
              <a:rPr sz="1800" dirty="0">
                <a:solidFill>
                  <a:srgbClr val="404040"/>
                </a:solidFill>
                <a:latin typeface="Times New Roman"/>
                <a:cs typeface="Times New Roman"/>
              </a:rPr>
              <a:t>Hence,</a:t>
            </a:r>
            <a:r>
              <a:rPr sz="1800" spc="-40" dirty="0">
                <a:solidFill>
                  <a:srgbClr val="404040"/>
                </a:solidFill>
                <a:latin typeface="Times New Roman"/>
                <a:cs typeface="Times New Roman"/>
              </a:rPr>
              <a:t> </a:t>
            </a:r>
            <a:r>
              <a:rPr sz="1800" dirty="0">
                <a:solidFill>
                  <a:srgbClr val="404040"/>
                </a:solidFill>
                <a:latin typeface="Times New Roman"/>
                <a:cs typeface="Times New Roman"/>
              </a:rPr>
              <a:t>we</a:t>
            </a:r>
            <a:r>
              <a:rPr sz="1800" spc="-45" dirty="0">
                <a:solidFill>
                  <a:srgbClr val="404040"/>
                </a:solidFill>
                <a:latin typeface="Times New Roman"/>
                <a:cs typeface="Times New Roman"/>
              </a:rPr>
              <a:t> </a:t>
            </a:r>
            <a:r>
              <a:rPr sz="1800" dirty="0">
                <a:solidFill>
                  <a:srgbClr val="404040"/>
                </a:solidFill>
                <a:latin typeface="Times New Roman"/>
                <a:cs typeface="Times New Roman"/>
              </a:rPr>
              <a:t>obtain</a:t>
            </a:r>
            <a:r>
              <a:rPr sz="1800" spc="-40" dirty="0">
                <a:solidFill>
                  <a:srgbClr val="404040"/>
                </a:solidFill>
                <a:latin typeface="Times New Roman"/>
                <a:cs typeface="Times New Roman"/>
              </a:rPr>
              <a:t> </a:t>
            </a:r>
            <a:r>
              <a:rPr sz="1800" dirty="0">
                <a:solidFill>
                  <a:srgbClr val="404040"/>
                </a:solidFill>
                <a:latin typeface="Times New Roman"/>
                <a:cs typeface="Times New Roman"/>
              </a:rPr>
              <a:t>the</a:t>
            </a:r>
            <a:r>
              <a:rPr sz="1800" spc="-40" dirty="0">
                <a:solidFill>
                  <a:srgbClr val="404040"/>
                </a:solidFill>
                <a:latin typeface="Times New Roman"/>
                <a:cs typeface="Times New Roman"/>
              </a:rPr>
              <a:t> </a:t>
            </a:r>
            <a:r>
              <a:rPr sz="1800" spc="-10" dirty="0">
                <a:solidFill>
                  <a:srgbClr val="404040"/>
                </a:solidFill>
                <a:latin typeface="Times New Roman"/>
                <a:cs typeface="Times New Roman"/>
              </a:rPr>
              <a:t>equations:</a:t>
            </a:r>
            <a:endParaRPr sz="1800" dirty="0">
              <a:latin typeface="Times New Roman"/>
              <a:cs typeface="Times New Roman"/>
            </a:endParaRPr>
          </a:p>
        </p:txBody>
      </p:sp>
      <p:sp>
        <p:nvSpPr>
          <p:cNvPr id="4" name="object 4"/>
          <p:cNvSpPr txBox="1"/>
          <p:nvPr/>
        </p:nvSpPr>
        <p:spPr>
          <a:xfrm>
            <a:off x="1602739" y="2520442"/>
            <a:ext cx="855344" cy="827405"/>
          </a:xfrm>
          <a:prstGeom prst="rect">
            <a:avLst/>
          </a:prstGeom>
        </p:spPr>
        <p:txBody>
          <a:bodyPr vert="horz" wrap="square" lIns="0" tIns="139065" rIns="0" bIns="0" rtlCol="0">
            <a:spAutoFit/>
          </a:bodyPr>
          <a:lstStyle/>
          <a:p>
            <a:pPr marL="12700">
              <a:lnSpc>
                <a:spcPct val="100000"/>
              </a:lnSpc>
              <a:spcBef>
                <a:spcPts val="1095"/>
              </a:spcBef>
            </a:pPr>
            <a:r>
              <a:rPr sz="1800" dirty="0">
                <a:solidFill>
                  <a:srgbClr val="404040"/>
                </a:solidFill>
                <a:latin typeface="Times New Roman"/>
                <a:cs typeface="Times New Roman"/>
              </a:rPr>
              <a:t>2x = </a:t>
            </a:r>
            <a:r>
              <a:rPr sz="1800" spc="-50" dirty="0">
                <a:solidFill>
                  <a:srgbClr val="404040"/>
                </a:solidFill>
                <a:latin typeface="Times New Roman"/>
                <a:cs typeface="Times New Roman"/>
              </a:rPr>
              <a:t>6</a:t>
            </a:r>
            <a:endParaRPr sz="1800">
              <a:latin typeface="Times New Roman"/>
              <a:cs typeface="Times New Roman"/>
            </a:endParaRPr>
          </a:p>
          <a:p>
            <a:pPr marL="12700">
              <a:lnSpc>
                <a:spcPct val="100000"/>
              </a:lnSpc>
              <a:spcBef>
                <a:spcPts val="994"/>
              </a:spcBef>
            </a:pPr>
            <a:r>
              <a:rPr sz="1800" dirty="0">
                <a:solidFill>
                  <a:srgbClr val="404040"/>
                </a:solidFill>
                <a:latin typeface="Times New Roman"/>
                <a:cs typeface="Times New Roman"/>
              </a:rPr>
              <a:t>x + y = </a:t>
            </a:r>
            <a:r>
              <a:rPr sz="1800" spc="-50" dirty="0">
                <a:solidFill>
                  <a:srgbClr val="404040"/>
                </a:solidFill>
                <a:latin typeface="Times New Roman"/>
                <a:cs typeface="Times New Roman"/>
              </a:rPr>
              <a:t>2</a:t>
            </a:r>
            <a:endParaRPr sz="1800">
              <a:latin typeface="Times New Roman"/>
              <a:cs typeface="Times New Roman"/>
            </a:endParaRPr>
          </a:p>
        </p:txBody>
      </p:sp>
      <p:sp>
        <p:nvSpPr>
          <p:cNvPr id="5" name="object 5"/>
          <p:cNvSpPr txBox="1"/>
          <p:nvPr/>
        </p:nvSpPr>
        <p:spPr>
          <a:xfrm>
            <a:off x="2517394" y="2520442"/>
            <a:ext cx="1663700" cy="827405"/>
          </a:xfrm>
          <a:prstGeom prst="rect">
            <a:avLst/>
          </a:prstGeom>
        </p:spPr>
        <p:txBody>
          <a:bodyPr vert="horz" wrap="square" lIns="0" tIns="139065" rIns="0" bIns="0" rtlCol="0">
            <a:spAutoFit/>
          </a:bodyPr>
          <a:lstStyle/>
          <a:p>
            <a:pPr algn="ctr">
              <a:lnSpc>
                <a:spcPct val="100000"/>
              </a:lnSpc>
              <a:spcBef>
                <a:spcPts val="1095"/>
              </a:spcBef>
            </a:pPr>
            <a:r>
              <a:rPr sz="1800" spc="-10" dirty="0">
                <a:solidFill>
                  <a:srgbClr val="404040"/>
                </a:solidFill>
                <a:latin typeface="Times New Roman"/>
                <a:cs typeface="Times New Roman"/>
              </a:rPr>
              <a:t>………………(1)</a:t>
            </a:r>
            <a:endParaRPr sz="1800" dirty="0">
              <a:latin typeface="Times New Roman"/>
              <a:cs typeface="Times New Roman"/>
            </a:endParaRPr>
          </a:p>
          <a:p>
            <a:pPr marR="46355" algn="ctr">
              <a:lnSpc>
                <a:spcPct val="100000"/>
              </a:lnSpc>
              <a:spcBef>
                <a:spcPts val="994"/>
              </a:spcBef>
            </a:pPr>
            <a:r>
              <a:rPr sz="1800" spc="-10" dirty="0">
                <a:solidFill>
                  <a:srgbClr val="404040"/>
                </a:solidFill>
                <a:latin typeface="Times New Roman"/>
                <a:cs typeface="Times New Roman"/>
              </a:rPr>
              <a:t>…………(2)</a:t>
            </a:r>
            <a:endParaRPr sz="1800" dirty="0">
              <a:latin typeface="Times New Roman"/>
              <a:cs typeface="Times New Roman"/>
            </a:endParaRPr>
          </a:p>
        </p:txBody>
      </p:sp>
      <p:sp>
        <p:nvSpPr>
          <p:cNvPr id="6" name="object 6"/>
          <p:cNvSpPr txBox="1"/>
          <p:nvPr/>
        </p:nvSpPr>
        <p:spPr>
          <a:xfrm>
            <a:off x="688340" y="3449320"/>
            <a:ext cx="6181090" cy="57467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404040"/>
                </a:solidFill>
                <a:latin typeface="Times New Roman"/>
                <a:cs typeface="Times New Roman"/>
              </a:rPr>
              <a:t>Solving</a:t>
            </a:r>
            <a:r>
              <a:rPr sz="1800" spc="-20" dirty="0">
                <a:solidFill>
                  <a:srgbClr val="404040"/>
                </a:solidFill>
                <a:latin typeface="Times New Roman"/>
                <a:cs typeface="Times New Roman"/>
              </a:rPr>
              <a:t> </a:t>
            </a:r>
            <a:r>
              <a:rPr sz="1800" dirty="0">
                <a:solidFill>
                  <a:srgbClr val="404040"/>
                </a:solidFill>
                <a:latin typeface="Times New Roman"/>
                <a:cs typeface="Times New Roman"/>
              </a:rPr>
              <a:t>equation</a:t>
            </a:r>
            <a:r>
              <a:rPr sz="1800" spc="-10" dirty="0">
                <a:solidFill>
                  <a:srgbClr val="404040"/>
                </a:solidFill>
                <a:latin typeface="Times New Roman"/>
                <a:cs typeface="Times New Roman"/>
              </a:rPr>
              <a:t> </a:t>
            </a:r>
            <a:r>
              <a:rPr sz="1800" dirty="0">
                <a:solidFill>
                  <a:srgbClr val="404040"/>
                </a:solidFill>
                <a:latin typeface="Times New Roman"/>
                <a:cs typeface="Times New Roman"/>
              </a:rPr>
              <a:t>(1)</a:t>
            </a:r>
            <a:r>
              <a:rPr sz="1800" spc="-20" dirty="0">
                <a:solidFill>
                  <a:srgbClr val="404040"/>
                </a:solidFill>
                <a:latin typeface="Times New Roman"/>
                <a:cs typeface="Times New Roman"/>
              </a:rPr>
              <a:t> </a:t>
            </a:r>
            <a:r>
              <a:rPr sz="1800" dirty="0">
                <a:solidFill>
                  <a:srgbClr val="404040"/>
                </a:solidFill>
                <a:latin typeface="Times New Roman"/>
                <a:cs typeface="Times New Roman"/>
              </a:rPr>
              <a:t>we</a:t>
            </a:r>
            <a:r>
              <a:rPr sz="1800" spc="-15" dirty="0">
                <a:solidFill>
                  <a:srgbClr val="404040"/>
                </a:solidFill>
                <a:latin typeface="Times New Roman"/>
                <a:cs typeface="Times New Roman"/>
              </a:rPr>
              <a:t> </a:t>
            </a:r>
            <a:r>
              <a:rPr sz="1800" dirty="0">
                <a:solidFill>
                  <a:srgbClr val="404040"/>
                </a:solidFill>
                <a:latin typeface="Times New Roman"/>
                <a:cs typeface="Times New Roman"/>
              </a:rPr>
              <a:t>get</a:t>
            </a:r>
            <a:r>
              <a:rPr sz="1800" spc="-20" dirty="0">
                <a:solidFill>
                  <a:srgbClr val="404040"/>
                </a:solidFill>
                <a:latin typeface="Times New Roman"/>
                <a:cs typeface="Times New Roman"/>
              </a:rPr>
              <a:t> </a:t>
            </a:r>
            <a:r>
              <a:rPr sz="1800" b="1" dirty="0">
                <a:solidFill>
                  <a:srgbClr val="00AFEF"/>
                </a:solidFill>
                <a:latin typeface="Times New Roman"/>
                <a:cs typeface="Times New Roman"/>
              </a:rPr>
              <a:t>x</a:t>
            </a:r>
            <a:r>
              <a:rPr sz="1800" b="1" spc="-15" dirty="0">
                <a:solidFill>
                  <a:srgbClr val="00AFEF"/>
                </a:solidFill>
                <a:latin typeface="Times New Roman"/>
                <a:cs typeface="Times New Roman"/>
              </a:rPr>
              <a:t> </a:t>
            </a:r>
            <a:r>
              <a:rPr sz="1800" b="1" dirty="0">
                <a:solidFill>
                  <a:srgbClr val="00AFEF"/>
                </a:solidFill>
                <a:latin typeface="Times New Roman"/>
                <a:cs typeface="Times New Roman"/>
              </a:rPr>
              <a:t>=</a:t>
            </a:r>
            <a:r>
              <a:rPr sz="1800" b="1" spc="-20" dirty="0">
                <a:solidFill>
                  <a:srgbClr val="00AFEF"/>
                </a:solidFill>
                <a:latin typeface="Times New Roman"/>
                <a:cs typeface="Times New Roman"/>
              </a:rPr>
              <a:t> </a:t>
            </a:r>
            <a:r>
              <a:rPr sz="1800" b="1" dirty="0">
                <a:solidFill>
                  <a:srgbClr val="00AFEF"/>
                </a:solidFill>
                <a:latin typeface="Times New Roman"/>
                <a:cs typeface="Times New Roman"/>
              </a:rPr>
              <a:t>3</a:t>
            </a:r>
            <a:r>
              <a:rPr sz="1800" b="1" spc="-15" dirty="0">
                <a:solidFill>
                  <a:srgbClr val="00AFEF"/>
                </a:solidFill>
                <a:latin typeface="Times New Roman"/>
                <a:cs typeface="Times New Roman"/>
              </a:rPr>
              <a:t> </a:t>
            </a:r>
            <a:r>
              <a:rPr sz="1800" dirty="0">
                <a:solidFill>
                  <a:srgbClr val="404040"/>
                </a:solidFill>
                <a:latin typeface="Times New Roman"/>
                <a:cs typeface="Times New Roman"/>
              </a:rPr>
              <a:t>and</a:t>
            </a:r>
            <a:r>
              <a:rPr sz="1800" spc="-20" dirty="0">
                <a:solidFill>
                  <a:srgbClr val="404040"/>
                </a:solidFill>
                <a:latin typeface="Times New Roman"/>
                <a:cs typeface="Times New Roman"/>
              </a:rPr>
              <a:t> </a:t>
            </a:r>
            <a:r>
              <a:rPr sz="1800" dirty="0">
                <a:solidFill>
                  <a:srgbClr val="404040"/>
                </a:solidFill>
                <a:latin typeface="Times New Roman"/>
                <a:cs typeface="Times New Roman"/>
              </a:rPr>
              <a:t>when</a:t>
            </a:r>
            <a:r>
              <a:rPr sz="1800" spc="-15" dirty="0">
                <a:solidFill>
                  <a:srgbClr val="404040"/>
                </a:solidFill>
                <a:latin typeface="Times New Roman"/>
                <a:cs typeface="Times New Roman"/>
              </a:rPr>
              <a:t> </a:t>
            </a:r>
            <a:r>
              <a:rPr sz="1800" dirty="0">
                <a:solidFill>
                  <a:srgbClr val="404040"/>
                </a:solidFill>
                <a:latin typeface="Times New Roman"/>
                <a:cs typeface="Times New Roman"/>
              </a:rPr>
              <a:t>the</a:t>
            </a:r>
            <a:r>
              <a:rPr sz="1800" spc="-20" dirty="0">
                <a:solidFill>
                  <a:srgbClr val="404040"/>
                </a:solidFill>
                <a:latin typeface="Times New Roman"/>
                <a:cs typeface="Times New Roman"/>
              </a:rPr>
              <a:t> </a:t>
            </a:r>
            <a:r>
              <a:rPr sz="1800" dirty="0">
                <a:solidFill>
                  <a:srgbClr val="404040"/>
                </a:solidFill>
                <a:latin typeface="Times New Roman"/>
                <a:cs typeface="Times New Roman"/>
              </a:rPr>
              <a:t>value</a:t>
            </a:r>
            <a:r>
              <a:rPr sz="1800" spc="-15" dirty="0">
                <a:solidFill>
                  <a:srgbClr val="404040"/>
                </a:solidFill>
                <a:latin typeface="Times New Roman"/>
                <a:cs typeface="Times New Roman"/>
              </a:rPr>
              <a:t> </a:t>
            </a:r>
            <a:r>
              <a:rPr sz="1800" dirty="0">
                <a:solidFill>
                  <a:srgbClr val="404040"/>
                </a:solidFill>
                <a:latin typeface="Times New Roman"/>
                <a:cs typeface="Times New Roman"/>
              </a:rPr>
              <a:t>is</a:t>
            </a:r>
            <a:r>
              <a:rPr sz="1800" spc="-20" dirty="0">
                <a:solidFill>
                  <a:srgbClr val="404040"/>
                </a:solidFill>
                <a:latin typeface="Times New Roman"/>
                <a:cs typeface="Times New Roman"/>
              </a:rPr>
              <a:t> </a:t>
            </a:r>
            <a:r>
              <a:rPr sz="1800" spc="-10" dirty="0">
                <a:solidFill>
                  <a:srgbClr val="404040"/>
                </a:solidFill>
                <a:latin typeface="Times New Roman"/>
                <a:cs typeface="Times New Roman"/>
              </a:rPr>
              <a:t>substituted</a:t>
            </a:r>
            <a:endParaRPr sz="1800" dirty="0">
              <a:latin typeface="Times New Roman"/>
              <a:cs typeface="Times New Roman"/>
            </a:endParaRPr>
          </a:p>
          <a:p>
            <a:pPr marL="12700">
              <a:lnSpc>
                <a:spcPct val="100000"/>
              </a:lnSpc>
            </a:pPr>
            <a:r>
              <a:rPr sz="1800" dirty="0">
                <a:solidFill>
                  <a:srgbClr val="404040"/>
                </a:solidFill>
                <a:latin typeface="Times New Roman"/>
                <a:cs typeface="Times New Roman"/>
              </a:rPr>
              <a:t>in</a:t>
            </a:r>
            <a:r>
              <a:rPr sz="1800" spc="-5" dirty="0">
                <a:solidFill>
                  <a:srgbClr val="404040"/>
                </a:solidFill>
                <a:latin typeface="Times New Roman"/>
                <a:cs typeface="Times New Roman"/>
              </a:rPr>
              <a:t> </a:t>
            </a:r>
            <a:r>
              <a:rPr sz="1800" dirty="0">
                <a:solidFill>
                  <a:srgbClr val="404040"/>
                </a:solidFill>
                <a:latin typeface="Times New Roman"/>
                <a:cs typeface="Times New Roman"/>
              </a:rPr>
              <a:t>(2) we get </a:t>
            </a:r>
            <a:r>
              <a:rPr sz="1800" b="1" dirty="0">
                <a:solidFill>
                  <a:srgbClr val="00AFEF"/>
                </a:solidFill>
                <a:latin typeface="Times New Roman"/>
                <a:cs typeface="Times New Roman"/>
              </a:rPr>
              <a:t>y</a:t>
            </a:r>
            <a:r>
              <a:rPr sz="1800" b="1" spc="-5" dirty="0">
                <a:solidFill>
                  <a:srgbClr val="00AFEF"/>
                </a:solidFill>
                <a:latin typeface="Times New Roman"/>
                <a:cs typeface="Times New Roman"/>
              </a:rPr>
              <a:t> </a:t>
            </a:r>
            <a:r>
              <a:rPr sz="1800" b="1" dirty="0">
                <a:solidFill>
                  <a:srgbClr val="00AFEF"/>
                </a:solidFill>
                <a:latin typeface="Times New Roman"/>
                <a:cs typeface="Times New Roman"/>
              </a:rPr>
              <a:t>=</a:t>
            </a:r>
            <a:r>
              <a:rPr sz="1800" b="1" spc="-5" dirty="0">
                <a:solidFill>
                  <a:srgbClr val="00AFEF"/>
                </a:solidFill>
                <a:latin typeface="Times New Roman"/>
                <a:cs typeface="Times New Roman"/>
              </a:rPr>
              <a:t> </a:t>
            </a:r>
            <a:r>
              <a:rPr sz="1800" b="1" spc="-10" dirty="0">
                <a:solidFill>
                  <a:srgbClr val="00AFEF"/>
                </a:solidFill>
                <a:latin typeface="Times New Roman"/>
                <a:cs typeface="Times New Roman"/>
              </a:rPr>
              <a:t>-</a:t>
            </a:r>
            <a:r>
              <a:rPr sz="1800" b="1" spc="-25" dirty="0">
                <a:solidFill>
                  <a:srgbClr val="00AFEF"/>
                </a:solidFill>
                <a:latin typeface="Times New Roman"/>
                <a:cs typeface="Times New Roman"/>
              </a:rPr>
              <a:t>1</a:t>
            </a:r>
            <a:r>
              <a:rPr sz="1800" spc="-25" dirty="0">
                <a:solidFill>
                  <a:srgbClr val="404040"/>
                </a:solidFill>
                <a:latin typeface="Times New Roman"/>
                <a:cs typeface="Times New Roman"/>
              </a:rPr>
              <a:t>.</a:t>
            </a:r>
            <a:endParaRPr sz="1800" dirty="0">
              <a:latin typeface="Times New Roman"/>
              <a:cs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87932" y="177800"/>
            <a:ext cx="7132067" cy="513080"/>
          </a:xfrm>
          <a:prstGeom prst="rect">
            <a:avLst/>
          </a:prstGeom>
        </p:spPr>
        <p:txBody>
          <a:bodyPr vert="horz" wrap="square" lIns="0" tIns="12065" rIns="0" bIns="0" rtlCol="0">
            <a:spAutoFit/>
          </a:bodyPr>
          <a:lstStyle/>
          <a:p>
            <a:pPr marL="12700">
              <a:lnSpc>
                <a:spcPct val="100000"/>
              </a:lnSpc>
              <a:spcBef>
                <a:spcPts val="95"/>
              </a:spcBef>
            </a:pPr>
            <a:r>
              <a:rPr sz="3200" dirty="0"/>
              <a:t>EXAMPLE</a:t>
            </a:r>
            <a:r>
              <a:rPr sz="3200" spc="-165" dirty="0"/>
              <a:t> </a:t>
            </a:r>
            <a:r>
              <a:rPr sz="3200" spc="-10" dirty="0"/>
              <a:t>B(CARTESIAN</a:t>
            </a:r>
            <a:r>
              <a:rPr sz="3200" spc="-170" dirty="0"/>
              <a:t> </a:t>
            </a:r>
            <a:r>
              <a:rPr sz="3200" spc="-10" dirty="0"/>
              <a:t>PRODUCT)</a:t>
            </a:r>
            <a:endParaRPr sz="3200" dirty="0"/>
          </a:p>
        </p:txBody>
      </p:sp>
      <p:sp>
        <p:nvSpPr>
          <p:cNvPr id="3" name="object 3"/>
          <p:cNvSpPr txBox="1"/>
          <p:nvPr/>
        </p:nvSpPr>
        <p:spPr>
          <a:xfrm>
            <a:off x="304800" y="1219200"/>
            <a:ext cx="7846060" cy="5052665"/>
          </a:xfrm>
          <a:prstGeom prst="rect">
            <a:avLst/>
          </a:prstGeom>
        </p:spPr>
        <p:txBody>
          <a:bodyPr vert="horz" wrap="square" lIns="0" tIns="12700" rIns="0" bIns="0" rtlCol="0">
            <a:spAutoFit/>
          </a:bodyPr>
          <a:lstStyle/>
          <a:p>
            <a:pPr marL="12700">
              <a:lnSpc>
                <a:spcPct val="100000"/>
              </a:lnSpc>
              <a:spcBef>
                <a:spcPts val="100"/>
              </a:spcBef>
            </a:pPr>
            <a:r>
              <a:rPr sz="2000" b="1" spc="-10" dirty="0">
                <a:solidFill>
                  <a:srgbClr val="404040"/>
                </a:solidFill>
                <a:latin typeface="Trebuchet MS"/>
                <a:cs typeface="Trebuchet MS"/>
              </a:rPr>
              <a:t>Let</a:t>
            </a:r>
            <a:r>
              <a:rPr sz="2000" b="1" spc="-114" dirty="0">
                <a:solidFill>
                  <a:srgbClr val="404040"/>
                </a:solidFill>
                <a:latin typeface="Trebuchet MS"/>
                <a:cs typeface="Trebuchet MS"/>
              </a:rPr>
              <a:t> </a:t>
            </a:r>
            <a:r>
              <a:rPr sz="2000" b="1" dirty="0">
                <a:solidFill>
                  <a:srgbClr val="404040"/>
                </a:solidFill>
                <a:latin typeface="Trebuchet MS"/>
                <a:cs typeface="Trebuchet MS"/>
              </a:rPr>
              <a:t>A</a:t>
            </a:r>
            <a:r>
              <a:rPr sz="2000" b="1" spc="-110" dirty="0">
                <a:solidFill>
                  <a:srgbClr val="404040"/>
                </a:solidFill>
                <a:latin typeface="Trebuchet MS"/>
                <a:cs typeface="Trebuchet MS"/>
              </a:rPr>
              <a:t> </a:t>
            </a:r>
            <a:r>
              <a:rPr sz="2000" b="1" dirty="0">
                <a:solidFill>
                  <a:srgbClr val="404040"/>
                </a:solidFill>
                <a:latin typeface="Trebuchet MS"/>
                <a:cs typeface="Trebuchet MS"/>
              </a:rPr>
              <a:t>=</a:t>
            </a:r>
            <a:r>
              <a:rPr sz="2000" b="1" spc="-20" dirty="0">
                <a:solidFill>
                  <a:srgbClr val="404040"/>
                </a:solidFill>
                <a:latin typeface="Trebuchet MS"/>
                <a:cs typeface="Trebuchet MS"/>
              </a:rPr>
              <a:t> </a:t>
            </a:r>
            <a:r>
              <a:rPr sz="2000" b="1" dirty="0">
                <a:solidFill>
                  <a:srgbClr val="404040"/>
                </a:solidFill>
                <a:latin typeface="Trebuchet MS"/>
                <a:cs typeface="Trebuchet MS"/>
              </a:rPr>
              <a:t>{1,</a:t>
            </a:r>
            <a:r>
              <a:rPr sz="2000" b="1" spc="-30" dirty="0">
                <a:solidFill>
                  <a:srgbClr val="404040"/>
                </a:solidFill>
                <a:latin typeface="Trebuchet MS"/>
                <a:cs typeface="Trebuchet MS"/>
              </a:rPr>
              <a:t> </a:t>
            </a:r>
            <a:r>
              <a:rPr sz="2000" b="1" dirty="0">
                <a:solidFill>
                  <a:srgbClr val="404040"/>
                </a:solidFill>
                <a:latin typeface="Trebuchet MS"/>
                <a:cs typeface="Trebuchet MS"/>
              </a:rPr>
              <a:t>2},</a:t>
            </a:r>
            <a:r>
              <a:rPr sz="2000" b="1" spc="-30" dirty="0">
                <a:solidFill>
                  <a:srgbClr val="404040"/>
                </a:solidFill>
                <a:latin typeface="Trebuchet MS"/>
                <a:cs typeface="Trebuchet MS"/>
              </a:rPr>
              <a:t> </a:t>
            </a:r>
            <a:r>
              <a:rPr sz="2000" b="1" dirty="0">
                <a:solidFill>
                  <a:srgbClr val="404040"/>
                </a:solidFill>
                <a:latin typeface="Trebuchet MS"/>
                <a:cs typeface="Trebuchet MS"/>
              </a:rPr>
              <a:t>B</a:t>
            </a:r>
            <a:r>
              <a:rPr sz="2000" b="1" spc="-15" dirty="0">
                <a:solidFill>
                  <a:srgbClr val="404040"/>
                </a:solidFill>
                <a:latin typeface="Trebuchet MS"/>
                <a:cs typeface="Trebuchet MS"/>
              </a:rPr>
              <a:t> </a:t>
            </a:r>
            <a:r>
              <a:rPr sz="2000" b="1" dirty="0">
                <a:solidFill>
                  <a:srgbClr val="404040"/>
                </a:solidFill>
                <a:latin typeface="Trebuchet MS"/>
                <a:cs typeface="Trebuchet MS"/>
              </a:rPr>
              <a:t>=</a:t>
            </a:r>
            <a:r>
              <a:rPr sz="2000" b="1" spc="-20" dirty="0">
                <a:solidFill>
                  <a:srgbClr val="404040"/>
                </a:solidFill>
                <a:latin typeface="Trebuchet MS"/>
                <a:cs typeface="Trebuchet MS"/>
              </a:rPr>
              <a:t> </a:t>
            </a:r>
            <a:r>
              <a:rPr sz="2000" b="1" dirty="0">
                <a:solidFill>
                  <a:srgbClr val="404040"/>
                </a:solidFill>
                <a:latin typeface="Trebuchet MS"/>
                <a:cs typeface="Trebuchet MS"/>
              </a:rPr>
              <a:t>{a,b,c}</a:t>
            </a:r>
            <a:r>
              <a:rPr sz="2000" b="1" spc="-10" dirty="0">
                <a:solidFill>
                  <a:srgbClr val="404040"/>
                </a:solidFill>
                <a:latin typeface="Trebuchet MS"/>
                <a:cs typeface="Trebuchet MS"/>
              </a:rPr>
              <a:t> </a:t>
            </a:r>
            <a:r>
              <a:rPr sz="2000" b="1" dirty="0">
                <a:solidFill>
                  <a:srgbClr val="404040"/>
                </a:solidFill>
                <a:latin typeface="Trebuchet MS"/>
                <a:cs typeface="Trebuchet MS"/>
              </a:rPr>
              <a:t>then</a:t>
            </a:r>
            <a:r>
              <a:rPr sz="2000" b="1" spc="-20" dirty="0">
                <a:solidFill>
                  <a:srgbClr val="404040"/>
                </a:solidFill>
                <a:latin typeface="Trebuchet MS"/>
                <a:cs typeface="Trebuchet MS"/>
              </a:rPr>
              <a:t> </a:t>
            </a:r>
            <a:r>
              <a:rPr sz="2000" b="1" spc="-10" dirty="0">
                <a:solidFill>
                  <a:srgbClr val="404040"/>
                </a:solidFill>
                <a:latin typeface="Trebuchet MS"/>
                <a:cs typeface="Trebuchet MS"/>
              </a:rPr>
              <a:t>find</a:t>
            </a:r>
            <a:r>
              <a:rPr sz="2000" b="1" spc="-114" dirty="0">
                <a:solidFill>
                  <a:srgbClr val="404040"/>
                </a:solidFill>
                <a:latin typeface="Trebuchet MS"/>
                <a:cs typeface="Trebuchet MS"/>
              </a:rPr>
              <a:t> </a:t>
            </a:r>
            <a:r>
              <a:rPr sz="2000" b="1" spc="-10" dirty="0">
                <a:solidFill>
                  <a:srgbClr val="404040"/>
                </a:solidFill>
                <a:latin typeface="Trebuchet MS"/>
                <a:cs typeface="Trebuchet MS"/>
              </a:rPr>
              <a:t>AxB,BxA,AxA,BxB.</a:t>
            </a:r>
            <a:endParaRPr sz="2000" dirty="0">
              <a:latin typeface="Trebuchet MS"/>
              <a:cs typeface="Trebuchet MS"/>
            </a:endParaRPr>
          </a:p>
          <a:p>
            <a:pPr>
              <a:lnSpc>
                <a:spcPct val="100000"/>
              </a:lnSpc>
              <a:spcBef>
                <a:spcPts val="1070"/>
              </a:spcBef>
            </a:pPr>
            <a:endParaRPr sz="2000" dirty="0">
              <a:latin typeface="Trebuchet MS"/>
              <a:cs typeface="Trebuchet MS"/>
            </a:endParaRPr>
          </a:p>
          <a:p>
            <a:pPr marL="12700">
              <a:lnSpc>
                <a:spcPct val="100000"/>
              </a:lnSpc>
            </a:pPr>
            <a:r>
              <a:rPr sz="2000" b="1" u="sng" spc="-10" dirty="0">
                <a:solidFill>
                  <a:srgbClr val="6F2F9F"/>
                </a:solidFill>
                <a:uFill>
                  <a:solidFill>
                    <a:srgbClr val="6F2F9F"/>
                  </a:solidFill>
                </a:uFill>
                <a:latin typeface="Trebuchet MS"/>
                <a:cs typeface="Trebuchet MS"/>
              </a:rPr>
              <a:t>SOLUTION:</a:t>
            </a:r>
            <a:endParaRPr sz="2000" dirty="0">
              <a:latin typeface="Trebuchet MS"/>
              <a:cs typeface="Trebuchet MS"/>
            </a:endParaRPr>
          </a:p>
          <a:p>
            <a:pPr marL="12700">
              <a:lnSpc>
                <a:spcPct val="100000"/>
              </a:lnSpc>
              <a:spcBef>
                <a:spcPts val="1000"/>
              </a:spcBef>
            </a:pPr>
            <a:r>
              <a:rPr sz="2000" dirty="0">
                <a:solidFill>
                  <a:srgbClr val="404040"/>
                </a:solidFill>
                <a:latin typeface="Trebuchet MS"/>
                <a:cs typeface="Trebuchet MS"/>
              </a:rPr>
              <a:t>A</a:t>
            </a:r>
            <a:r>
              <a:rPr sz="2000" spc="-135" dirty="0">
                <a:solidFill>
                  <a:srgbClr val="404040"/>
                </a:solidFill>
                <a:latin typeface="Trebuchet MS"/>
                <a:cs typeface="Trebuchet MS"/>
              </a:rPr>
              <a:t> </a:t>
            </a:r>
            <a:r>
              <a:rPr sz="2000" dirty="0">
                <a:solidFill>
                  <a:srgbClr val="404040"/>
                </a:solidFill>
                <a:latin typeface="Symbol"/>
                <a:cs typeface="Symbol"/>
              </a:rPr>
              <a:t></a:t>
            </a:r>
            <a:r>
              <a:rPr sz="2000" dirty="0">
                <a:solidFill>
                  <a:srgbClr val="404040"/>
                </a:solidFill>
                <a:latin typeface="Trebuchet MS"/>
                <a:cs typeface="Trebuchet MS"/>
              </a:rPr>
              <a:t>B</a:t>
            </a:r>
            <a:r>
              <a:rPr sz="2000" spc="-60" dirty="0">
                <a:solidFill>
                  <a:srgbClr val="404040"/>
                </a:solidFill>
                <a:latin typeface="Trebuchet MS"/>
                <a:cs typeface="Trebuchet MS"/>
              </a:rPr>
              <a:t> </a:t>
            </a:r>
            <a:r>
              <a:rPr sz="2000" dirty="0">
                <a:solidFill>
                  <a:srgbClr val="404040"/>
                </a:solidFill>
                <a:latin typeface="Trebuchet MS"/>
                <a:cs typeface="Trebuchet MS"/>
              </a:rPr>
              <a:t>=</a:t>
            </a:r>
            <a:r>
              <a:rPr sz="2000" spc="-45" dirty="0">
                <a:solidFill>
                  <a:srgbClr val="404040"/>
                </a:solidFill>
                <a:latin typeface="Trebuchet MS"/>
                <a:cs typeface="Trebuchet MS"/>
              </a:rPr>
              <a:t> </a:t>
            </a:r>
            <a:r>
              <a:rPr sz="2000" dirty="0">
                <a:solidFill>
                  <a:srgbClr val="404040"/>
                </a:solidFill>
                <a:latin typeface="Trebuchet MS"/>
                <a:cs typeface="Trebuchet MS"/>
              </a:rPr>
              <a:t>{(1,a),</a:t>
            </a:r>
            <a:r>
              <a:rPr sz="2000" spc="-25" dirty="0">
                <a:solidFill>
                  <a:srgbClr val="404040"/>
                </a:solidFill>
                <a:latin typeface="Trebuchet MS"/>
                <a:cs typeface="Trebuchet MS"/>
              </a:rPr>
              <a:t> </a:t>
            </a:r>
            <a:r>
              <a:rPr sz="2000" dirty="0">
                <a:solidFill>
                  <a:srgbClr val="404040"/>
                </a:solidFill>
                <a:latin typeface="Trebuchet MS"/>
                <a:cs typeface="Trebuchet MS"/>
              </a:rPr>
              <a:t>(1,b),</a:t>
            </a:r>
            <a:r>
              <a:rPr sz="2000" spc="-30" dirty="0">
                <a:solidFill>
                  <a:srgbClr val="404040"/>
                </a:solidFill>
                <a:latin typeface="Trebuchet MS"/>
                <a:cs typeface="Trebuchet MS"/>
              </a:rPr>
              <a:t> </a:t>
            </a:r>
            <a:r>
              <a:rPr sz="2000" dirty="0">
                <a:solidFill>
                  <a:srgbClr val="404040"/>
                </a:solidFill>
                <a:latin typeface="Trebuchet MS"/>
                <a:cs typeface="Trebuchet MS"/>
              </a:rPr>
              <a:t>(1,c),</a:t>
            </a:r>
            <a:r>
              <a:rPr sz="2000" spc="-40" dirty="0">
                <a:solidFill>
                  <a:srgbClr val="404040"/>
                </a:solidFill>
                <a:latin typeface="Trebuchet MS"/>
                <a:cs typeface="Trebuchet MS"/>
              </a:rPr>
              <a:t> </a:t>
            </a:r>
            <a:r>
              <a:rPr sz="2000" dirty="0">
                <a:solidFill>
                  <a:srgbClr val="404040"/>
                </a:solidFill>
                <a:latin typeface="Trebuchet MS"/>
                <a:cs typeface="Trebuchet MS"/>
              </a:rPr>
              <a:t>(2,a),</a:t>
            </a:r>
            <a:r>
              <a:rPr sz="2000" spc="-25" dirty="0">
                <a:solidFill>
                  <a:srgbClr val="404040"/>
                </a:solidFill>
                <a:latin typeface="Trebuchet MS"/>
                <a:cs typeface="Trebuchet MS"/>
              </a:rPr>
              <a:t> </a:t>
            </a:r>
            <a:r>
              <a:rPr sz="2000" dirty="0">
                <a:solidFill>
                  <a:srgbClr val="404040"/>
                </a:solidFill>
                <a:latin typeface="Trebuchet MS"/>
                <a:cs typeface="Trebuchet MS"/>
              </a:rPr>
              <a:t>(2,</a:t>
            </a:r>
            <a:r>
              <a:rPr sz="2000" spc="-35" dirty="0">
                <a:solidFill>
                  <a:srgbClr val="404040"/>
                </a:solidFill>
                <a:latin typeface="Trebuchet MS"/>
                <a:cs typeface="Trebuchet MS"/>
              </a:rPr>
              <a:t> </a:t>
            </a:r>
            <a:r>
              <a:rPr sz="2000" dirty="0">
                <a:solidFill>
                  <a:srgbClr val="404040"/>
                </a:solidFill>
                <a:latin typeface="Trebuchet MS"/>
                <a:cs typeface="Trebuchet MS"/>
              </a:rPr>
              <a:t>b),</a:t>
            </a:r>
            <a:r>
              <a:rPr sz="2000" spc="-45" dirty="0">
                <a:solidFill>
                  <a:srgbClr val="404040"/>
                </a:solidFill>
                <a:latin typeface="Trebuchet MS"/>
                <a:cs typeface="Trebuchet MS"/>
              </a:rPr>
              <a:t> </a:t>
            </a:r>
            <a:r>
              <a:rPr sz="2000" dirty="0">
                <a:solidFill>
                  <a:srgbClr val="404040"/>
                </a:solidFill>
                <a:latin typeface="Trebuchet MS"/>
                <a:cs typeface="Trebuchet MS"/>
              </a:rPr>
              <a:t>(2,</a:t>
            </a:r>
            <a:r>
              <a:rPr sz="2000" spc="-35" dirty="0">
                <a:solidFill>
                  <a:srgbClr val="404040"/>
                </a:solidFill>
                <a:latin typeface="Trebuchet MS"/>
                <a:cs typeface="Trebuchet MS"/>
              </a:rPr>
              <a:t> </a:t>
            </a:r>
            <a:r>
              <a:rPr sz="2000" spc="-25" dirty="0">
                <a:solidFill>
                  <a:srgbClr val="404040"/>
                </a:solidFill>
                <a:latin typeface="Trebuchet MS"/>
                <a:cs typeface="Trebuchet MS"/>
              </a:rPr>
              <a:t>c)}</a:t>
            </a:r>
            <a:endParaRPr sz="2000" dirty="0">
              <a:latin typeface="Trebuchet MS"/>
              <a:cs typeface="Trebuchet MS"/>
            </a:endParaRPr>
          </a:p>
          <a:p>
            <a:pPr marL="12700">
              <a:lnSpc>
                <a:spcPct val="100000"/>
              </a:lnSpc>
            </a:pPr>
            <a:r>
              <a:rPr sz="2000" dirty="0">
                <a:solidFill>
                  <a:srgbClr val="404040"/>
                </a:solidFill>
                <a:latin typeface="Trebuchet MS"/>
                <a:cs typeface="Trebuchet MS"/>
              </a:rPr>
              <a:t>B</a:t>
            </a:r>
            <a:r>
              <a:rPr sz="2000" spc="-45" dirty="0">
                <a:solidFill>
                  <a:srgbClr val="404040"/>
                </a:solidFill>
                <a:latin typeface="Trebuchet MS"/>
                <a:cs typeface="Trebuchet MS"/>
              </a:rPr>
              <a:t> </a:t>
            </a:r>
            <a:r>
              <a:rPr sz="2000" dirty="0">
                <a:solidFill>
                  <a:srgbClr val="404040"/>
                </a:solidFill>
                <a:latin typeface="Symbol"/>
                <a:cs typeface="Symbol"/>
              </a:rPr>
              <a:t></a:t>
            </a:r>
            <a:r>
              <a:rPr sz="2000" dirty="0">
                <a:solidFill>
                  <a:srgbClr val="404040"/>
                </a:solidFill>
                <a:latin typeface="Trebuchet MS"/>
                <a:cs typeface="Trebuchet MS"/>
              </a:rPr>
              <a:t>A</a:t>
            </a:r>
            <a:r>
              <a:rPr sz="2000" spc="-130" dirty="0">
                <a:solidFill>
                  <a:srgbClr val="404040"/>
                </a:solidFill>
                <a:latin typeface="Trebuchet MS"/>
                <a:cs typeface="Trebuchet MS"/>
              </a:rPr>
              <a:t> </a:t>
            </a:r>
            <a:r>
              <a:rPr sz="2000" dirty="0">
                <a:solidFill>
                  <a:srgbClr val="404040"/>
                </a:solidFill>
                <a:latin typeface="Trebuchet MS"/>
                <a:cs typeface="Trebuchet MS"/>
              </a:rPr>
              <a:t>=</a:t>
            </a:r>
            <a:r>
              <a:rPr sz="2000" spc="-35" dirty="0">
                <a:solidFill>
                  <a:srgbClr val="404040"/>
                </a:solidFill>
                <a:latin typeface="Trebuchet MS"/>
                <a:cs typeface="Trebuchet MS"/>
              </a:rPr>
              <a:t> </a:t>
            </a:r>
            <a:r>
              <a:rPr sz="2000" dirty="0">
                <a:solidFill>
                  <a:srgbClr val="404040"/>
                </a:solidFill>
                <a:latin typeface="Trebuchet MS"/>
                <a:cs typeface="Trebuchet MS"/>
              </a:rPr>
              <a:t>{(a,1),</a:t>
            </a:r>
            <a:r>
              <a:rPr sz="2000" spc="-20" dirty="0">
                <a:solidFill>
                  <a:srgbClr val="404040"/>
                </a:solidFill>
                <a:latin typeface="Trebuchet MS"/>
                <a:cs typeface="Trebuchet MS"/>
              </a:rPr>
              <a:t> </a:t>
            </a:r>
            <a:r>
              <a:rPr sz="2000" dirty="0">
                <a:solidFill>
                  <a:srgbClr val="404040"/>
                </a:solidFill>
                <a:latin typeface="Trebuchet MS"/>
                <a:cs typeface="Trebuchet MS"/>
              </a:rPr>
              <a:t>(a,2),</a:t>
            </a:r>
            <a:r>
              <a:rPr sz="2000" spc="-20" dirty="0">
                <a:solidFill>
                  <a:srgbClr val="404040"/>
                </a:solidFill>
                <a:latin typeface="Trebuchet MS"/>
                <a:cs typeface="Trebuchet MS"/>
              </a:rPr>
              <a:t> </a:t>
            </a:r>
            <a:r>
              <a:rPr sz="2000" dirty="0">
                <a:solidFill>
                  <a:srgbClr val="404040"/>
                </a:solidFill>
                <a:latin typeface="Trebuchet MS"/>
                <a:cs typeface="Trebuchet MS"/>
              </a:rPr>
              <a:t>(b,</a:t>
            </a:r>
            <a:r>
              <a:rPr sz="2000" spc="-35" dirty="0">
                <a:solidFill>
                  <a:srgbClr val="404040"/>
                </a:solidFill>
                <a:latin typeface="Trebuchet MS"/>
                <a:cs typeface="Trebuchet MS"/>
              </a:rPr>
              <a:t> </a:t>
            </a:r>
            <a:r>
              <a:rPr sz="2000" dirty="0">
                <a:solidFill>
                  <a:srgbClr val="404040"/>
                </a:solidFill>
                <a:latin typeface="Trebuchet MS"/>
                <a:cs typeface="Trebuchet MS"/>
              </a:rPr>
              <a:t>1),</a:t>
            </a:r>
            <a:r>
              <a:rPr sz="2000" spc="-25" dirty="0">
                <a:solidFill>
                  <a:srgbClr val="404040"/>
                </a:solidFill>
                <a:latin typeface="Trebuchet MS"/>
                <a:cs typeface="Trebuchet MS"/>
              </a:rPr>
              <a:t> </a:t>
            </a:r>
            <a:r>
              <a:rPr sz="2000" dirty="0">
                <a:solidFill>
                  <a:srgbClr val="404040"/>
                </a:solidFill>
                <a:latin typeface="Trebuchet MS"/>
                <a:cs typeface="Trebuchet MS"/>
              </a:rPr>
              <a:t>(b,</a:t>
            </a:r>
            <a:r>
              <a:rPr sz="2000" spc="-30" dirty="0">
                <a:solidFill>
                  <a:srgbClr val="404040"/>
                </a:solidFill>
                <a:latin typeface="Trebuchet MS"/>
                <a:cs typeface="Trebuchet MS"/>
              </a:rPr>
              <a:t> </a:t>
            </a:r>
            <a:r>
              <a:rPr sz="2000" dirty="0">
                <a:solidFill>
                  <a:srgbClr val="404040"/>
                </a:solidFill>
                <a:latin typeface="Trebuchet MS"/>
                <a:cs typeface="Trebuchet MS"/>
              </a:rPr>
              <a:t>2),</a:t>
            </a:r>
            <a:r>
              <a:rPr sz="2000" spc="-25" dirty="0">
                <a:solidFill>
                  <a:srgbClr val="404040"/>
                </a:solidFill>
                <a:latin typeface="Trebuchet MS"/>
                <a:cs typeface="Trebuchet MS"/>
              </a:rPr>
              <a:t> </a:t>
            </a:r>
            <a:r>
              <a:rPr sz="2000" dirty="0">
                <a:solidFill>
                  <a:srgbClr val="404040"/>
                </a:solidFill>
                <a:latin typeface="Trebuchet MS"/>
                <a:cs typeface="Trebuchet MS"/>
              </a:rPr>
              <a:t>(c,</a:t>
            </a:r>
            <a:r>
              <a:rPr sz="2000" spc="-35" dirty="0">
                <a:solidFill>
                  <a:srgbClr val="404040"/>
                </a:solidFill>
                <a:latin typeface="Trebuchet MS"/>
                <a:cs typeface="Trebuchet MS"/>
              </a:rPr>
              <a:t> </a:t>
            </a:r>
            <a:r>
              <a:rPr sz="2000" dirty="0">
                <a:solidFill>
                  <a:srgbClr val="404040"/>
                </a:solidFill>
                <a:latin typeface="Trebuchet MS"/>
                <a:cs typeface="Trebuchet MS"/>
              </a:rPr>
              <a:t>1),</a:t>
            </a:r>
            <a:r>
              <a:rPr sz="2000" spc="-25" dirty="0">
                <a:solidFill>
                  <a:srgbClr val="404040"/>
                </a:solidFill>
                <a:latin typeface="Trebuchet MS"/>
                <a:cs typeface="Trebuchet MS"/>
              </a:rPr>
              <a:t> </a:t>
            </a:r>
            <a:r>
              <a:rPr sz="2000" dirty="0">
                <a:solidFill>
                  <a:srgbClr val="404040"/>
                </a:solidFill>
                <a:latin typeface="Trebuchet MS"/>
                <a:cs typeface="Trebuchet MS"/>
              </a:rPr>
              <a:t>(c,</a:t>
            </a:r>
            <a:r>
              <a:rPr sz="2000" spc="-35" dirty="0">
                <a:solidFill>
                  <a:srgbClr val="404040"/>
                </a:solidFill>
                <a:latin typeface="Trebuchet MS"/>
                <a:cs typeface="Trebuchet MS"/>
              </a:rPr>
              <a:t> </a:t>
            </a:r>
            <a:r>
              <a:rPr sz="2000" spc="-25" dirty="0">
                <a:solidFill>
                  <a:srgbClr val="404040"/>
                </a:solidFill>
                <a:latin typeface="Trebuchet MS"/>
                <a:cs typeface="Trebuchet MS"/>
              </a:rPr>
              <a:t>2)}</a:t>
            </a:r>
            <a:endParaRPr sz="2000" dirty="0">
              <a:latin typeface="Trebuchet MS"/>
              <a:cs typeface="Trebuchet MS"/>
            </a:endParaRPr>
          </a:p>
          <a:p>
            <a:pPr marL="12700">
              <a:lnSpc>
                <a:spcPct val="100000"/>
              </a:lnSpc>
            </a:pPr>
            <a:r>
              <a:rPr sz="2000" dirty="0">
                <a:solidFill>
                  <a:srgbClr val="404040"/>
                </a:solidFill>
                <a:latin typeface="Trebuchet MS"/>
                <a:cs typeface="Trebuchet MS"/>
              </a:rPr>
              <a:t>A</a:t>
            </a:r>
            <a:r>
              <a:rPr sz="2000" spc="-130" dirty="0">
                <a:solidFill>
                  <a:srgbClr val="404040"/>
                </a:solidFill>
                <a:latin typeface="Trebuchet MS"/>
                <a:cs typeface="Trebuchet MS"/>
              </a:rPr>
              <a:t> </a:t>
            </a:r>
            <a:r>
              <a:rPr sz="2000" dirty="0">
                <a:solidFill>
                  <a:srgbClr val="404040"/>
                </a:solidFill>
                <a:latin typeface="Symbol"/>
                <a:cs typeface="Symbol"/>
              </a:rPr>
              <a:t></a:t>
            </a:r>
            <a:r>
              <a:rPr sz="2000" dirty="0">
                <a:solidFill>
                  <a:srgbClr val="404040"/>
                </a:solidFill>
                <a:latin typeface="Trebuchet MS"/>
                <a:cs typeface="Trebuchet MS"/>
              </a:rPr>
              <a:t>A</a:t>
            </a:r>
            <a:r>
              <a:rPr sz="2000" spc="-130" dirty="0">
                <a:solidFill>
                  <a:srgbClr val="404040"/>
                </a:solidFill>
                <a:latin typeface="Trebuchet MS"/>
                <a:cs typeface="Trebuchet MS"/>
              </a:rPr>
              <a:t> </a:t>
            </a:r>
            <a:r>
              <a:rPr sz="2000" dirty="0">
                <a:solidFill>
                  <a:srgbClr val="404040"/>
                </a:solidFill>
                <a:latin typeface="Trebuchet MS"/>
                <a:cs typeface="Trebuchet MS"/>
              </a:rPr>
              <a:t>=</a:t>
            </a:r>
            <a:r>
              <a:rPr sz="2000" spc="-35" dirty="0">
                <a:solidFill>
                  <a:srgbClr val="404040"/>
                </a:solidFill>
                <a:latin typeface="Trebuchet MS"/>
                <a:cs typeface="Trebuchet MS"/>
              </a:rPr>
              <a:t> </a:t>
            </a:r>
            <a:r>
              <a:rPr sz="2000" dirty="0">
                <a:solidFill>
                  <a:srgbClr val="404040"/>
                </a:solidFill>
                <a:latin typeface="Trebuchet MS"/>
                <a:cs typeface="Trebuchet MS"/>
              </a:rPr>
              <a:t>{(1,</a:t>
            </a:r>
            <a:r>
              <a:rPr sz="2000" spc="-20" dirty="0">
                <a:solidFill>
                  <a:srgbClr val="404040"/>
                </a:solidFill>
                <a:latin typeface="Trebuchet MS"/>
                <a:cs typeface="Trebuchet MS"/>
              </a:rPr>
              <a:t> </a:t>
            </a:r>
            <a:r>
              <a:rPr sz="2000" dirty="0">
                <a:solidFill>
                  <a:srgbClr val="404040"/>
                </a:solidFill>
                <a:latin typeface="Trebuchet MS"/>
                <a:cs typeface="Trebuchet MS"/>
              </a:rPr>
              <a:t>1),</a:t>
            </a:r>
            <a:r>
              <a:rPr sz="2000" spc="-25" dirty="0">
                <a:solidFill>
                  <a:srgbClr val="404040"/>
                </a:solidFill>
                <a:latin typeface="Trebuchet MS"/>
                <a:cs typeface="Trebuchet MS"/>
              </a:rPr>
              <a:t> </a:t>
            </a:r>
            <a:r>
              <a:rPr sz="2000" dirty="0">
                <a:solidFill>
                  <a:srgbClr val="404040"/>
                </a:solidFill>
                <a:latin typeface="Trebuchet MS"/>
                <a:cs typeface="Trebuchet MS"/>
              </a:rPr>
              <a:t>(1,2),</a:t>
            </a:r>
            <a:r>
              <a:rPr sz="2000" spc="-15" dirty="0">
                <a:solidFill>
                  <a:srgbClr val="404040"/>
                </a:solidFill>
                <a:latin typeface="Trebuchet MS"/>
                <a:cs typeface="Trebuchet MS"/>
              </a:rPr>
              <a:t> </a:t>
            </a:r>
            <a:r>
              <a:rPr sz="2000" dirty="0">
                <a:solidFill>
                  <a:srgbClr val="404040"/>
                </a:solidFill>
                <a:latin typeface="Trebuchet MS"/>
                <a:cs typeface="Trebuchet MS"/>
              </a:rPr>
              <a:t>(2,</a:t>
            </a:r>
            <a:r>
              <a:rPr sz="2000" spc="-30" dirty="0">
                <a:solidFill>
                  <a:srgbClr val="404040"/>
                </a:solidFill>
                <a:latin typeface="Trebuchet MS"/>
                <a:cs typeface="Trebuchet MS"/>
              </a:rPr>
              <a:t> </a:t>
            </a:r>
            <a:r>
              <a:rPr sz="2000" dirty="0">
                <a:solidFill>
                  <a:srgbClr val="404040"/>
                </a:solidFill>
                <a:latin typeface="Trebuchet MS"/>
                <a:cs typeface="Trebuchet MS"/>
              </a:rPr>
              <a:t>1),</a:t>
            </a:r>
            <a:r>
              <a:rPr sz="2000" spc="-25" dirty="0">
                <a:solidFill>
                  <a:srgbClr val="404040"/>
                </a:solidFill>
                <a:latin typeface="Trebuchet MS"/>
                <a:cs typeface="Trebuchet MS"/>
              </a:rPr>
              <a:t> </a:t>
            </a:r>
            <a:r>
              <a:rPr sz="2000" dirty="0">
                <a:solidFill>
                  <a:srgbClr val="404040"/>
                </a:solidFill>
                <a:latin typeface="Trebuchet MS"/>
                <a:cs typeface="Trebuchet MS"/>
              </a:rPr>
              <a:t>(2,</a:t>
            </a:r>
            <a:r>
              <a:rPr sz="2000" spc="-25" dirty="0">
                <a:solidFill>
                  <a:srgbClr val="404040"/>
                </a:solidFill>
                <a:latin typeface="Trebuchet MS"/>
                <a:cs typeface="Trebuchet MS"/>
              </a:rPr>
              <a:t> 2)}</a:t>
            </a:r>
            <a:endParaRPr sz="2000" dirty="0">
              <a:latin typeface="Trebuchet MS"/>
              <a:cs typeface="Trebuchet MS"/>
            </a:endParaRPr>
          </a:p>
          <a:p>
            <a:pPr marL="12700" marR="434340">
              <a:lnSpc>
                <a:spcPct val="100000"/>
              </a:lnSpc>
            </a:pPr>
            <a:r>
              <a:rPr sz="2000" dirty="0">
                <a:solidFill>
                  <a:srgbClr val="404040"/>
                </a:solidFill>
                <a:latin typeface="Trebuchet MS"/>
                <a:cs typeface="Trebuchet MS"/>
              </a:rPr>
              <a:t>B</a:t>
            </a:r>
            <a:r>
              <a:rPr sz="2000" spc="-50" dirty="0">
                <a:solidFill>
                  <a:srgbClr val="404040"/>
                </a:solidFill>
                <a:latin typeface="Trebuchet MS"/>
                <a:cs typeface="Trebuchet MS"/>
              </a:rPr>
              <a:t> </a:t>
            </a:r>
            <a:r>
              <a:rPr sz="2000" dirty="0">
                <a:solidFill>
                  <a:srgbClr val="404040"/>
                </a:solidFill>
                <a:latin typeface="Symbol"/>
                <a:cs typeface="Symbol"/>
              </a:rPr>
              <a:t></a:t>
            </a:r>
            <a:r>
              <a:rPr sz="2000" dirty="0">
                <a:solidFill>
                  <a:srgbClr val="404040"/>
                </a:solidFill>
                <a:latin typeface="Trebuchet MS"/>
                <a:cs typeface="Trebuchet MS"/>
              </a:rPr>
              <a:t>B</a:t>
            </a:r>
            <a:r>
              <a:rPr sz="2000" spc="-50" dirty="0">
                <a:solidFill>
                  <a:srgbClr val="404040"/>
                </a:solidFill>
                <a:latin typeface="Trebuchet MS"/>
                <a:cs typeface="Trebuchet MS"/>
              </a:rPr>
              <a:t> </a:t>
            </a:r>
            <a:r>
              <a:rPr sz="2000" dirty="0">
                <a:solidFill>
                  <a:srgbClr val="404040"/>
                </a:solidFill>
                <a:latin typeface="Trebuchet MS"/>
                <a:cs typeface="Trebuchet MS"/>
              </a:rPr>
              <a:t>=</a:t>
            </a:r>
            <a:r>
              <a:rPr sz="2000" spc="-40" dirty="0">
                <a:solidFill>
                  <a:srgbClr val="404040"/>
                </a:solidFill>
                <a:latin typeface="Trebuchet MS"/>
                <a:cs typeface="Trebuchet MS"/>
              </a:rPr>
              <a:t> </a:t>
            </a:r>
            <a:r>
              <a:rPr sz="2000" dirty="0">
                <a:solidFill>
                  <a:srgbClr val="404040"/>
                </a:solidFill>
                <a:latin typeface="Trebuchet MS"/>
                <a:cs typeface="Trebuchet MS"/>
              </a:rPr>
              <a:t>{(a,a),</a:t>
            </a:r>
            <a:r>
              <a:rPr sz="2000" spc="-25" dirty="0">
                <a:solidFill>
                  <a:srgbClr val="404040"/>
                </a:solidFill>
                <a:latin typeface="Trebuchet MS"/>
                <a:cs typeface="Trebuchet MS"/>
              </a:rPr>
              <a:t> </a:t>
            </a:r>
            <a:r>
              <a:rPr sz="2000" dirty="0">
                <a:solidFill>
                  <a:srgbClr val="404040"/>
                </a:solidFill>
                <a:latin typeface="Trebuchet MS"/>
                <a:cs typeface="Trebuchet MS"/>
              </a:rPr>
              <a:t>(a,b),</a:t>
            </a:r>
            <a:r>
              <a:rPr sz="2000" spc="-40" dirty="0">
                <a:solidFill>
                  <a:srgbClr val="404040"/>
                </a:solidFill>
                <a:latin typeface="Trebuchet MS"/>
                <a:cs typeface="Trebuchet MS"/>
              </a:rPr>
              <a:t> </a:t>
            </a:r>
            <a:r>
              <a:rPr sz="2000" dirty="0">
                <a:solidFill>
                  <a:srgbClr val="404040"/>
                </a:solidFill>
                <a:latin typeface="Trebuchet MS"/>
                <a:cs typeface="Trebuchet MS"/>
              </a:rPr>
              <a:t>(a,c),</a:t>
            </a:r>
            <a:r>
              <a:rPr sz="2000" spc="-40" dirty="0">
                <a:solidFill>
                  <a:srgbClr val="404040"/>
                </a:solidFill>
                <a:latin typeface="Trebuchet MS"/>
                <a:cs typeface="Trebuchet MS"/>
              </a:rPr>
              <a:t> </a:t>
            </a:r>
            <a:r>
              <a:rPr sz="2000" dirty="0">
                <a:solidFill>
                  <a:srgbClr val="404040"/>
                </a:solidFill>
                <a:latin typeface="Trebuchet MS"/>
                <a:cs typeface="Trebuchet MS"/>
              </a:rPr>
              <a:t>(b,a),</a:t>
            </a:r>
            <a:r>
              <a:rPr sz="2000" spc="-30" dirty="0">
                <a:solidFill>
                  <a:srgbClr val="404040"/>
                </a:solidFill>
                <a:latin typeface="Trebuchet MS"/>
                <a:cs typeface="Trebuchet MS"/>
              </a:rPr>
              <a:t> </a:t>
            </a:r>
            <a:r>
              <a:rPr sz="2000" dirty="0">
                <a:solidFill>
                  <a:srgbClr val="404040"/>
                </a:solidFill>
                <a:latin typeface="Trebuchet MS"/>
                <a:cs typeface="Trebuchet MS"/>
              </a:rPr>
              <a:t>(b,</a:t>
            </a:r>
            <a:r>
              <a:rPr sz="2000" spc="-40" dirty="0">
                <a:solidFill>
                  <a:srgbClr val="404040"/>
                </a:solidFill>
                <a:latin typeface="Trebuchet MS"/>
                <a:cs typeface="Trebuchet MS"/>
              </a:rPr>
              <a:t> </a:t>
            </a:r>
            <a:r>
              <a:rPr sz="2000" dirty="0">
                <a:solidFill>
                  <a:srgbClr val="404040"/>
                </a:solidFill>
                <a:latin typeface="Trebuchet MS"/>
                <a:cs typeface="Trebuchet MS"/>
              </a:rPr>
              <a:t>b),</a:t>
            </a:r>
            <a:r>
              <a:rPr sz="2000" spc="-40" dirty="0">
                <a:solidFill>
                  <a:srgbClr val="404040"/>
                </a:solidFill>
                <a:latin typeface="Trebuchet MS"/>
                <a:cs typeface="Trebuchet MS"/>
              </a:rPr>
              <a:t> </a:t>
            </a:r>
            <a:r>
              <a:rPr sz="2000" dirty="0">
                <a:solidFill>
                  <a:srgbClr val="404040"/>
                </a:solidFill>
                <a:latin typeface="Trebuchet MS"/>
                <a:cs typeface="Trebuchet MS"/>
              </a:rPr>
              <a:t>(b,</a:t>
            </a:r>
            <a:r>
              <a:rPr sz="2000" spc="-40" dirty="0">
                <a:solidFill>
                  <a:srgbClr val="404040"/>
                </a:solidFill>
                <a:latin typeface="Trebuchet MS"/>
                <a:cs typeface="Trebuchet MS"/>
              </a:rPr>
              <a:t> </a:t>
            </a:r>
            <a:r>
              <a:rPr sz="2000" dirty="0">
                <a:solidFill>
                  <a:srgbClr val="404040"/>
                </a:solidFill>
                <a:latin typeface="Trebuchet MS"/>
                <a:cs typeface="Trebuchet MS"/>
              </a:rPr>
              <a:t>c),</a:t>
            </a:r>
            <a:r>
              <a:rPr sz="2000" spc="-50" dirty="0">
                <a:solidFill>
                  <a:srgbClr val="404040"/>
                </a:solidFill>
                <a:latin typeface="Trebuchet MS"/>
                <a:cs typeface="Trebuchet MS"/>
              </a:rPr>
              <a:t> </a:t>
            </a:r>
            <a:r>
              <a:rPr sz="2000" spc="-10" dirty="0">
                <a:solidFill>
                  <a:srgbClr val="404040"/>
                </a:solidFill>
                <a:latin typeface="Trebuchet MS"/>
                <a:cs typeface="Trebuchet MS"/>
              </a:rPr>
              <a:t>(c,a), (c,b),(c,c)}</a:t>
            </a:r>
            <a:endParaRPr sz="2000" dirty="0">
              <a:latin typeface="Trebuchet MS"/>
              <a:cs typeface="Trebuchet MS"/>
            </a:endParaRPr>
          </a:p>
          <a:p>
            <a:pPr marL="12700">
              <a:lnSpc>
                <a:spcPct val="100000"/>
              </a:lnSpc>
              <a:spcBef>
                <a:spcPts val="1000"/>
              </a:spcBef>
            </a:pPr>
            <a:r>
              <a:rPr sz="2000" b="1" u="sng" spc="-10" dirty="0">
                <a:solidFill>
                  <a:srgbClr val="001F5F"/>
                </a:solidFill>
                <a:uFill>
                  <a:solidFill>
                    <a:srgbClr val="001F5F"/>
                  </a:solidFill>
                </a:uFill>
                <a:latin typeface="Trebuchet MS"/>
                <a:cs typeface="Trebuchet MS"/>
              </a:rPr>
              <a:t>REMARK</a:t>
            </a:r>
            <a:r>
              <a:rPr sz="2000" u="sng" spc="-10" dirty="0">
                <a:solidFill>
                  <a:srgbClr val="001F5F"/>
                </a:solidFill>
                <a:uFill>
                  <a:solidFill>
                    <a:srgbClr val="001F5F"/>
                  </a:solidFill>
                </a:uFill>
                <a:latin typeface="Trebuchet MS"/>
                <a:cs typeface="Trebuchet MS"/>
              </a:rPr>
              <a:t>:</a:t>
            </a:r>
            <a:endParaRPr sz="2000" dirty="0">
              <a:latin typeface="Trebuchet MS"/>
              <a:cs typeface="Trebuchet MS"/>
            </a:endParaRPr>
          </a:p>
          <a:p>
            <a:pPr marL="469900">
              <a:lnSpc>
                <a:spcPct val="100000"/>
              </a:lnSpc>
              <a:spcBef>
                <a:spcPts val="1010"/>
              </a:spcBef>
              <a:tabLst>
                <a:tab pos="755015" algn="l"/>
              </a:tabLst>
            </a:pPr>
            <a:r>
              <a:rPr sz="2000" spc="75" dirty="0">
                <a:solidFill>
                  <a:srgbClr val="90C225"/>
                </a:solidFill>
                <a:latin typeface="Lucida Sans Unicode"/>
                <a:cs typeface="Lucida Sans Unicode"/>
              </a:rPr>
              <a:t>▶</a:t>
            </a:r>
            <a:r>
              <a:rPr sz="2000" dirty="0">
                <a:solidFill>
                  <a:srgbClr val="90C225"/>
                </a:solidFill>
                <a:latin typeface="Lucida Sans Unicode"/>
                <a:cs typeface="Lucida Sans Unicode"/>
              </a:rPr>
              <a:t>	</a:t>
            </a:r>
            <a:r>
              <a:rPr sz="2000" dirty="0">
                <a:solidFill>
                  <a:srgbClr val="404040"/>
                </a:solidFill>
                <a:latin typeface="Trebuchet MS"/>
                <a:cs typeface="Trebuchet MS"/>
              </a:rPr>
              <a:t>A</a:t>
            </a:r>
            <a:r>
              <a:rPr sz="2000" spc="-95" dirty="0">
                <a:solidFill>
                  <a:srgbClr val="404040"/>
                </a:solidFill>
                <a:latin typeface="Trebuchet MS"/>
                <a:cs typeface="Trebuchet MS"/>
              </a:rPr>
              <a:t> </a:t>
            </a:r>
            <a:r>
              <a:rPr sz="2000" dirty="0">
                <a:solidFill>
                  <a:srgbClr val="404040"/>
                </a:solidFill>
                <a:latin typeface="Symbol"/>
                <a:cs typeface="Symbol"/>
              </a:rPr>
              <a:t></a:t>
            </a:r>
            <a:r>
              <a:rPr sz="2000" spc="70" dirty="0">
                <a:solidFill>
                  <a:srgbClr val="404040"/>
                </a:solidFill>
                <a:latin typeface="Times New Roman"/>
                <a:cs typeface="Times New Roman"/>
              </a:rPr>
              <a:t> </a:t>
            </a:r>
            <a:r>
              <a:rPr sz="2000" dirty="0">
                <a:solidFill>
                  <a:srgbClr val="404040"/>
                </a:solidFill>
                <a:latin typeface="Trebuchet MS"/>
                <a:cs typeface="Trebuchet MS"/>
              </a:rPr>
              <a:t>B</a:t>
            </a:r>
            <a:r>
              <a:rPr sz="2000" spc="-20" dirty="0">
                <a:solidFill>
                  <a:srgbClr val="404040"/>
                </a:solidFill>
                <a:latin typeface="Trebuchet MS"/>
                <a:cs typeface="Trebuchet MS"/>
              </a:rPr>
              <a:t> </a:t>
            </a:r>
            <a:r>
              <a:rPr sz="2000" dirty="0">
                <a:solidFill>
                  <a:srgbClr val="404040"/>
                </a:solidFill>
                <a:latin typeface="Symbol"/>
                <a:cs typeface="Symbol"/>
              </a:rPr>
              <a:t></a:t>
            </a:r>
            <a:r>
              <a:rPr sz="2000" spc="65" dirty="0">
                <a:solidFill>
                  <a:srgbClr val="404040"/>
                </a:solidFill>
                <a:latin typeface="Times New Roman"/>
                <a:cs typeface="Times New Roman"/>
              </a:rPr>
              <a:t> </a:t>
            </a:r>
            <a:r>
              <a:rPr sz="2000" dirty="0">
                <a:solidFill>
                  <a:srgbClr val="404040"/>
                </a:solidFill>
                <a:latin typeface="Trebuchet MS"/>
                <a:cs typeface="Trebuchet MS"/>
              </a:rPr>
              <a:t>B</a:t>
            </a:r>
            <a:r>
              <a:rPr sz="2000" spc="-15" dirty="0">
                <a:solidFill>
                  <a:srgbClr val="404040"/>
                </a:solidFill>
                <a:latin typeface="Trebuchet MS"/>
                <a:cs typeface="Trebuchet MS"/>
              </a:rPr>
              <a:t> </a:t>
            </a:r>
            <a:r>
              <a:rPr sz="2000" dirty="0">
                <a:solidFill>
                  <a:srgbClr val="404040"/>
                </a:solidFill>
                <a:latin typeface="Symbol"/>
                <a:cs typeface="Symbol"/>
              </a:rPr>
              <a:t></a:t>
            </a:r>
            <a:r>
              <a:rPr sz="2000" spc="-20" dirty="0">
                <a:solidFill>
                  <a:srgbClr val="404040"/>
                </a:solidFill>
                <a:latin typeface="Times New Roman"/>
                <a:cs typeface="Times New Roman"/>
              </a:rPr>
              <a:t> </a:t>
            </a:r>
            <a:r>
              <a:rPr sz="2000" dirty="0">
                <a:solidFill>
                  <a:srgbClr val="404040"/>
                </a:solidFill>
                <a:latin typeface="Trebuchet MS"/>
                <a:cs typeface="Trebuchet MS"/>
              </a:rPr>
              <a:t>A</a:t>
            </a:r>
            <a:r>
              <a:rPr sz="2000" spc="-90" dirty="0">
                <a:solidFill>
                  <a:srgbClr val="404040"/>
                </a:solidFill>
                <a:latin typeface="Trebuchet MS"/>
                <a:cs typeface="Trebuchet MS"/>
              </a:rPr>
              <a:t> </a:t>
            </a:r>
            <a:r>
              <a:rPr sz="2000" b="1" dirty="0">
                <a:solidFill>
                  <a:srgbClr val="00AFEF"/>
                </a:solidFill>
                <a:latin typeface="Trebuchet MS"/>
                <a:cs typeface="Trebuchet MS"/>
              </a:rPr>
              <a:t>for</a:t>
            </a:r>
            <a:r>
              <a:rPr sz="2000" b="1" spc="-25" dirty="0">
                <a:solidFill>
                  <a:srgbClr val="00AFEF"/>
                </a:solidFill>
                <a:latin typeface="Trebuchet MS"/>
                <a:cs typeface="Trebuchet MS"/>
              </a:rPr>
              <a:t> </a:t>
            </a:r>
            <a:r>
              <a:rPr sz="2000" b="1" spc="-10" dirty="0">
                <a:solidFill>
                  <a:srgbClr val="00AFEF"/>
                </a:solidFill>
                <a:latin typeface="Trebuchet MS"/>
                <a:cs typeface="Trebuchet MS"/>
              </a:rPr>
              <a:t>non-</a:t>
            </a:r>
            <a:r>
              <a:rPr sz="2000" b="1" dirty="0">
                <a:solidFill>
                  <a:srgbClr val="00AFEF"/>
                </a:solidFill>
                <a:latin typeface="Trebuchet MS"/>
                <a:cs typeface="Trebuchet MS"/>
              </a:rPr>
              <a:t>empty and</a:t>
            </a:r>
            <a:r>
              <a:rPr sz="2000" b="1" spc="-10" dirty="0">
                <a:solidFill>
                  <a:srgbClr val="00AFEF"/>
                </a:solidFill>
                <a:latin typeface="Trebuchet MS"/>
                <a:cs typeface="Trebuchet MS"/>
              </a:rPr>
              <a:t> </a:t>
            </a:r>
            <a:r>
              <a:rPr sz="2000" b="1" dirty="0">
                <a:solidFill>
                  <a:srgbClr val="00AFEF"/>
                </a:solidFill>
                <a:latin typeface="Trebuchet MS"/>
                <a:cs typeface="Trebuchet MS"/>
              </a:rPr>
              <a:t>unequal</a:t>
            </a:r>
            <a:r>
              <a:rPr sz="2000" b="1" spc="5" dirty="0">
                <a:solidFill>
                  <a:srgbClr val="00AFEF"/>
                </a:solidFill>
                <a:latin typeface="Trebuchet MS"/>
                <a:cs typeface="Trebuchet MS"/>
              </a:rPr>
              <a:t> </a:t>
            </a:r>
            <a:r>
              <a:rPr sz="2000" b="1" dirty="0">
                <a:solidFill>
                  <a:srgbClr val="00AFEF"/>
                </a:solidFill>
                <a:latin typeface="Trebuchet MS"/>
                <a:cs typeface="Trebuchet MS"/>
              </a:rPr>
              <a:t>sets</a:t>
            </a:r>
            <a:r>
              <a:rPr sz="2000" b="1" spc="-95" dirty="0">
                <a:solidFill>
                  <a:srgbClr val="00AFEF"/>
                </a:solidFill>
                <a:latin typeface="Trebuchet MS"/>
                <a:cs typeface="Trebuchet MS"/>
              </a:rPr>
              <a:t> </a:t>
            </a:r>
            <a:r>
              <a:rPr sz="2000" b="1" dirty="0">
                <a:solidFill>
                  <a:srgbClr val="00AFEF"/>
                </a:solidFill>
                <a:latin typeface="Trebuchet MS"/>
                <a:cs typeface="Trebuchet MS"/>
              </a:rPr>
              <a:t>A</a:t>
            </a:r>
            <a:r>
              <a:rPr sz="2000" b="1" spc="-105" dirty="0">
                <a:solidFill>
                  <a:srgbClr val="00AFEF"/>
                </a:solidFill>
                <a:latin typeface="Trebuchet MS"/>
                <a:cs typeface="Trebuchet MS"/>
              </a:rPr>
              <a:t> </a:t>
            </a:r>
            <a:r>
              <a:rPr sz="2000" b="1" dirty="0">
                <a:solidFill>
                  <a:srgbClr val="00AFEF"/>
                </a:solidFill>
                <a:latin typeface="Trebuchet MS"/>
                <a:cs typeface="Trebuchet MS"/>
              </a:rPr>
              <a:t>and</a:t>
            </a:r>
            <a:r>
              <a:rPr sz="2000" b="1" spc="-10" dirty="0">
                <a:solidFill>
                  <a:srgbClr val="00AFEF"/>
                </a:solidFill>
                <a:latin typeface="Trebuchet MS"/>
                <a:cs typeface="Trebuchet MS"/>
              </a:rPr>
              <a:t> </a:t>
            </a:r>
            <a:r>
              <a:rPr sz="2000" b="1" spc="-25" dirty="0">
                <a:solidFill>
                  <a:srgbClr val="00AFEF"/>
                </a:solidFill>
                <a:latin typeface="Trebuchet MS"/>
                <a:cs typeface="Trebuchet MS"/>
              </a:rPr>
              <a:t>B.</a:t>
            </a:r>
            <a:endParaRPr sz="2000" dirty="0">
              <a:latin typeface="Trebuchet MS"/>
              <a:cs typeface="Trebuchet MS"/>
            </a:endParaRPr>
          </a:p>
          <a:p>
            <a:pPr marL="469900">
              <a:lnSpc>
                <a:spcPct val="100000"/>
              </a:lnSpc>
              <a:spcBef>
                <a:spcPts val="1000"/>
              </a:spcBef>
              <a:tabLst>
                <a:tab pos="755015" algn="l"/>
              </a:tabLst>
            </a:pPr>
            <a:r>
              <a:rPr sz="2000" spc="75" dirty="0">
                <a:solidFill>
                  <a:srgbClr val="90C225"/>
                </a:solidFill>
                <a:latin typeface="Lucida Sans Unicode"/>
                <a:cs typeface="Lucida Sans Unicode"/>
              </a:rPr>
              <a:t>▶</a:t>
            </a:r>
            <a:r>
              <a:rPr sz="2000" dirty="0">
                <a:solidFill>
                  <a:srgbClr val="90C225"/>
                </a:solidFill>
                <a:latin typeface="Lucida Sans Unicode"/>
                <a:cs typeface="Lucida Sans Unicode"/>
              </a:rPr>
              <a:t>	</a:t>
            </a:r>
            <a:r>
              <a:rPr sz="2000" dirty="0">
                <a:solidFill>
                  <a:srgbClr val="404040"/>
                </a:solidFill>
                <a:latin typeface="Trebuchet MS"/>
                <a:cs typeface="Trebuchet MS"/>
              </a:rPr>
              <a:t>A</a:t>
            </a:r>
            <a:r>
              <a:rPr sz="2000" spc="-85" dirty="0">
                <a:solidFill>
                  <a:srgbClr val="404040"/>
                </a:solidFill>
                <a:latin typeface="Trebuchet MS"/>
                <a:cs typeface="Trebuchet MS"/>
              </a:rPr>
              <a:t> </a:t>
            </a:r>
            <a:r>
              <a:rPr sz="2000" dirty="0">
                <a:solidFill>
                  <a:srgbClr val="404040"/>
                </a:solidFill>
                <a:latin typeface="Symbol"/>
                <a:cs typeface="Symbol"/>
              </a:rPr>
              <a:t></a:t>
            </a:r>
            <a:r>
              <a:rPr sz="2000" spc="75" dirty="0">
                <a:solidFill>
                  <a:srgbClr val="404040"/>
                </a:solidFill>
                <a:latin typeface="Times New Roman"/>
                <a:cs typeface="Times New Roman"/>
              </a:rPr>
              <a:t> </a:t>
            </a:r>
            <a:r>
              <a:rPr sz="2000" dirty="0">
                <a:solidFill>
                  <a:srgbClr val="404040"/>
                </a:solidFill>
                <a:latin typeface="Symbol"/>
                <a:cs typeface="Symbol"/>
              </a:rPr>
              <a:t></a:t>
            </a:r>
            <a:r>
              <a:rPr sz="2000" spc="85" dirty="0">
                <a:solidFill>
                  <a:srgbClr val="404040"/>
                </a:solidFill>
                <a:latin typeface="Times New Roman"/>
                <a:cs typeface="Times New Roman"/>
              </a:rPr>
              <a:t> </a:t>
            </a:r>
            <a:r>
              <a:rPr sz="2000" dirty="0">
                <a:solidFill>
                  <a:srgbClr val="404040"/>
                </a:solidFill>
                <a:latin typeface="Trebuchet MS"/>
                <a:cs typeface="Trebuchet MS"/>
              </a:rPr>
              <a:t>=</a:t>
            </a:r>
            <a:r>
              <a:rPr sz="2000" spc="-5" dirty="0">
                <a:solidFill>
                  <a:srgbClr val="404040"/>
                </a:solidFill>
                <a:latin typeface="Trebuchet MS"/>
                <a:cs typeface="Trebuchet MS"/>
              </a:rPr>
              <a:t> </a:t>
            </a:r>
            <a:r>
              <a:rPr sz="2000" dirty="0">
                <a:solidFill>
                  <a:srgbClr val="404040"/>
                </a:solidFill>
                <a:latin typeface="Symbol"/>
                <a:cs typeface="Symbol"/>
              </a:rPr>
              <a:t></a:t>
            </a:r>
            <a:r>
              <a:rPr sz="2000" spc="80" dirty="0">
                <a:solidFill>
                  <a:srgbClr val="404040"/>
                </a:solidFill>
                <a:latin typeface="Times New Roman"/>
                <a:cs typeface="Times New Roman"/>
              </a:rPr>
              <a:t> </a:t>
            </a:r>
            <a:r>
              <a:rPr sz="2000" dirty="0">
                <a:solidFill>
                  <a:srgbClr val="404040"/>
                </a:solidFill>
                <a:latin typeface="Symbol"/>
                <a:cs typeface="Symbol"/>
              </a:rPr>
              <a:t></a:t>
            </a:r>
            <a:r>
              <a:rPr sz="2000" spc="-10" dirty="0">
                <a:solidFill>
                  <a:srgbClr val="404040"/>
                </a:solidFill>
                <a:latin typeface="Times New Roman"/>
                <a:cs typeface="Times New Roman"/>
              </a:rPr>
              <a:t> </a:t>
            </a:r>
            <a:r>
              <a:rPr sz="2000" dirty="0">
                <a:solidFill>
                  <a:srgbClr val="404040"/>
                </a:solidFill>
                <a:latin typeface="Trebuchet MS"/>
                <a:cs typeface="Trebuchet MS"/>
              </a:rPr>
              <a:t>A</a:t>
            </a:r>
            <a:r>
              <a:rPr sz="2000" spc="-85" dirty="0">
                <a:solidFill>
                  <a:srgbClr val="404040"/>
                </a:solidFill>
                <a:latin typeface="Trebuchet MS"/>
                <a:cs typeface="Trebuchet MS"/>
              </a:rPr>
              <a:t> </a:t>
            </a:r>
            <a:r>
              <a:rPr sz="2000" dirty="0">
                <a:solidFill>
                  <a:srgbClr val="404040"/>
                </a:solidFill>
                <a:latin typeface="Trebuchet MS"/>
                <a:cs typeface="Trebuchet MS"/>
              </a:rPr>
              <a:t>=</a:t>
            </a:r>
            <a:r>
              <a:rPr sz="2000" spc="-10" dirty="0">
                <a:solidFill>
                  <a:srgbClr val="404040"/>
                </a:solidFill>
                <a:latin typeface="Trebuchet MS"/>
                <a:cs typeface="Trebuchet MS"/>
              </a:rPr>
              <a:t> </a:t>
            </a:r>
            <a:r>
              <a:rPr sz="2000" spc="-50" dirty="0">
                <a:solidFill>
                  <a:srgbClr val="404040"/>
                </a:solidFill>
                <a:latin typeface="Symbol"/>
                <a:cs typeface="Symbol"/>
              </a:rPr>
              <a:t></a:t>
            </a:r>
            <a:endParaRPr sz="2000" dirty="0">
              <a:latin typeface="Symbol"/>
              <a:cs typeface="Symbol"/>
            </a:endParaRPr>
          </a:p>
          <a:p>
            <a:pPr marL="469900">
              <a:lnSpc>
                <a:spcPct val="100000"/>
              </a:lnSpc>
              <a:spcBef>
                <a:spcPts val="1005"/>
              </a:spcBef>
              <a:tabLst>
                <a:tab pos="755015" algn="l"/>
              </a:tabLst>
            </a:pPr>
            <a:r>
              <a:rPr sz="2000" spc="75" dirty="0">
                <a:solidFill>
                  <a:srgbClr val="90C225"/>
                </a:solidFill>
                <a:latin typeface="Lucida Sans Unicode"/>
                <a:cs typeface="Lucida Sans Unicode"/>
              </a:rPr>
              <a:t>▶</a:t>
            </a:r>
            <a:r>
              <a:rPr sz="2000" dirty="0">
                <a:solidFill>
                  <a:srgbClr val="90C225"/>
                </a:solidFill>
                <a:latin typeface="Lucida Sans Unicode"/>
                <a:cs typeface="Lucida Sans Unicode"/>
              </a:rPr>
              <a:t>	</a:t>
            </a:r>
            <a:r>
              <a:rPr sz="2000" dirty="0">
                <a:solidFill>
                  <a:srgbClr val="404040"/>
                </a:solidFill>
                <a:latin typeface="Trebuchet MS"/>
                <a:cs typeface="Trebuchet MS"/>
              </a:rPr>
              <a:t>|</a:t>
            </a:r>
            <a:r>
              <a:rPr sz="2000" spc="-95" dirty="0">
                <a:solidFill>
                  <a:srgbClr val="404040"/>
                </a:solidFill>
                <a:latin typeface="Trebuchet MS"/>
                <a:cs typeface="Trebuchet MS"/>
              </a:rPr>
              <a:t> </a:t>
            </a:r>
            <a:r>
              <a:rPr sz="2000" dirty="0">
                <a:solidFill>
                  <a:srgbClr val="404040"/>
                </a:solidFill>
                <a:latin typeface="Trebuchet MS"/>
                <a:cs typeface="Trebuchet MS"/>
              </a:rPr>
              <a:t>A</a:t>
            </a:r>
            <a:r>
              <a:rPr sz="2000" spc="-85" dirty="0">
                <a:solidFill>
                  <a:srgbClr val="404040"/>
                </a:solidFill>
                <a:latin typeface="Trebuchet MS"/>
                <a:cs typeface="Trebuchet MS"/>
              </a:rPr>
              <a:t> </a:t>
            </a:r>
            <a:r>
              <a:rPr sz="2000" dirty="0">
                <a:solidFill>
                  <a:srgbClr val="404040"/>
                </a:solidFill>
                <a:latin typeface="Symbol"/>
                <a:cs typeface="Symbol"/>
              </a:rPr>
              <a:t></a:t>
            </a:r>
            <a:r>
              <a:rPr sz="2000" spc="80" dirty="0">
                <a:solidFill>
                  <a:srgbClr val="404040"/>
                </a:solidFill>
                <a:latin typeface="Times New Roman"/>
                <a:cs typeface="Times New Roman"/>
              </a:rPr>
              <a:t> </a:t>
            </a:r>
            <a:r>
              <a:rPr sz="2000" dirty="0">
                <a:solidFill>
                  <a:srgbClr val="404040"/>
                </a:solidFill>
                <a:latin typeface="Trebuchet MS"/>
                <a:cs typeface="Trebuchet MS"/>
              </a:rPr>
              <a:t>B|</a:t>
            </a:r>
            <a:r>
              <a:rPr sz="2000" spc="-10" dirty="0">
                <a:solidFill>
                  <a:srgbClr val="404040"/>
                </a:solidFill>
                <a:latin typeface="Trebuchet MS"/>
                <a:cs typeface="Trebuchet MS"/>
              </a:rPr>
              <a:t> </a:t>
            </a:r>
            <a:r>
              <a:rPr sz="2000" dirty="0">
                <a:solidFill>
                  <a:srgbClr val="404040"/>
                </a:solidFill>
                <a:latin typeface="Trebuchet MS"/>
                <a:cs typeface="Trebuchet MS"/>
              </a:rPr>
              <a:t>=</a:t>
            </a:r>
            <a:r>
              <a:rPr sz="2000" spc="-10" dirty="0">
                <a:solidFill>
                  <a:srgbClr val="404040"/>
                </a:solidFill>
                <a:latin typeface="Trebuchet MS"/>
                <a:cs typeface="Trebuchet MS"/>
              </a:rPr>
              <a:t> </a:t>
            </a:r>
            <a:r>
              <a:rPr sz="2000" dirty="0">
                <a:solidFill>
                  <a:srgbClr val="404040"/>
                </a:solidFill>
                <a:latin typeface="Trebuchet MS"/>
                <a:cs typeface="Trebuchet MS"/>
              </a:rPr>
              <a:t>|A|</a:t>
            </a:r>
            <a:r>
              <a:rPr sz="2000" spc="-5" dirty="0">
                <a:solidFill>
                  <a:srgbClr val="404040"/>
                </a:solidFill>
                <a:latin typeface="Trebuchet MS"/>
                <a:cs typeface="Trebuchet MS"/>
              </a:rPr>
              <a:t> </a:t>
            </a:r>
            <a:r>
              <a:rPr sz="2000" dirty="0">
                <a:solidFill>
                  <a:srgbClr val="404040"/>
                </a:solidFill>
                <a:latin typeface="Symbol"/>
                <a:cs typeface="Symbol"/>
              </a:rPr>
              <a:t></a:t>
            </a:r>
            <a:r>
              <a:rPr sz="2000" spc="85" dirty="0">
                <a:solidFill>
                  <a:srgbClr val="404040"/>
                </a:solidFill>
                <a:latin typeface="Times New Roman"/>
                <a:cs typeface="Times New Roman"/>
              </a:rPr>
              <a:t> </a:t>
            </a:r>
            <a:r>
              <a:rPr sz="2000" spc="-25" dirty="0">
                <a:solidFill>
                  <a:srgbClr val="404040"/>
                </a:solidFill>
                <a:latin typeface="Trebuchet MS"/>
                <a:cs typeface="Trebuchet MS"/>
              </a:rPr>
              <a:t>|B|</a:t>
            </a:r>
            <a:endParaRPr lang="en-US" sz="2000" spc="-25" dirty="0">
              <a:solidFill>
                <a:srgbClr val="404040"/>
              </a:solidFill>
              <a:latin typeface="Trebuchet MS"/>
              <a:cs typeface="Trebuchet MS"/>
            </a:endParaRPr>
          </a:p>
          <a:p>
            <a:pPr marL="812800" lvl="6" indent="-342900">
              <a:spcBef>
                <a:spcPts val="1005"/>
              </a:spcBef>
              <a:buFont typeface="Arial" panose="020B0604020202020204" pitchFamily="34" charset="0"/>
              <a:buChar char="•"/>
              <a:tabLst>
                <a:tab pos="755015" algn="l"/>
              </a:tabLst>
            </a:pPr>
            <a:r>
              <a:rPr lang="en-US" sz="2000" dirty="0">
                <a:solidFill>
                  <a:schemeClr val="tx1">
                    <a:lumMod val="75000"/>
                    <a:lumOff val="25000"/>
                  </a:schemeClr>
                </a:solidFill>
                <a:latin typeface="+mn-lt"/>
                <a:cs typeface="Trebuchet MS"/>
              </a:rPr>
              <a:t>If ∣𝐴∣=2, ∣𝐵∣=3 so ∣𝐴×𝐵∣=6</a:t>
            </a:r>
          </a:p>
          <a:p>
            <a:pPr marL="469900">
              <a:lnSpc>
                <a:spcPct val="100000"/>
              </a:lnSpc>
              <a:spcBef>
                <a:spcPts val="1005"/>
              </a:spcBef>
              <a:tabLst>
                <a:tab pos="755015" algn="l"/>
              </a:tabLst>
            </a:pPr>
            <a:endParaRPr sz="2000" dirty="0">
              <a:latin typeface="Trebuchet MS"/>
              <a:cs typeface="Trebuchet M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626751"/>
            <a:ext cx="6590665" cy="574675"/>
          </a:xfrm>
          <a:prstGeom prst="rect">
            <a:avLst/>
          </a:prstGeom>
        </p:spPr>
        <p:txBody>
          <a:bodyPr vert="horz" wrap="square" lIns="0" tIns="12700" rIns="0" bIns="0" rtlCol="0">
            <a:spAutoFit/>
          </a:bodyPr>
          <a:lstStyle/>
          <a:p>
            <a:pPr marL="12700">
              <a:lnSpc>
                <a:spcPct val="100000"/>
              </a:lnSpc>
              <a:spcBef>
                <a:spcPts val="100"/>
              </a:spcBef>
            </a:pPr>
            <a:r>
              <a:rPr dirty="0"/>
              <a:t>EXAMPLE</a:t>
            </a:r>
            <a:r>
              <a:rPr spc="-70" dirty="0"/>
              <a:t> </a:t>
            </a:r>
            <a:r>
              <a:rPr dirty="0"/>
              <a:t>C</a:t>
            </a:r>
            <a:r>
              <a:rPr spc="-65" dirty="0"/>
              <a:t> </a:t>
            </a:r>
            <a:r>
              <a:rPr spc="-10" dirty="0"/>
              <a:t>(BINARY</a:t>
            </a:r>
            <a:r>
              <a:rPr spc="-135" dirty="0"/>
              <a:t> </a:t>
            </a:r>
            <a:r>
              <a:rPr spc="-35" dirty="0"/>
              <a:t>RELATION)</a:t>
            </a:r>
          </a:p>
        </p:txBody>
      </p:sp>
      <p:sp>
        <p:nvSpPr>
          <p:cNvPr id="3" name="object 3"/>
          <p:cNvSpPr txBox="1"/>
          <p:nvPr/>
        </p:nvSpPr>
        <p:spPr>
          <a:xfrm>
            <a:off x="685800" y="1828800"/>
            <a:ext cx="7084060" cy="4388381"/>
          </a:xfrm>
          <a:prstGeom prst="rect">
            <a:avLst/>
          </a:prstGeom>
        </p:spPr>
        <p:txBody>
          <a:bodyPr vert="horz" wrap="square" lIns="0" tIns="12700" rIns="0" bIns="0" rtlCol="0">
            <a:spAutoFit/>
          </a:bodyPr>
          <a:lstStyle/>
          <a:p>
            <a:pPr marL="12700" marR="5080">
              <a:lnSpc>
                <a:spcPct val="146400"/>
              </a:lnSpc>
              <a:spcBef>
                <a:spcPts val="100"/>
              </a:spcBef>
            </a:pPr>
            <a:r>
              <a:rPr sz="2000" b="1" spc="-10" dirty="0">
                <a:solidFill>
                  <a:srgbClr val="404040"/>
                </a:solidFill>
                <a:latin typeface="Trebuchet MS"/>
                <a:cs typeface="Trebuchet MS"/>
              </a:rPr>
              <a:t>Let</a:t>
            </a:r>
            <a:r>
              <a:rPr sz="2000" b="1" spc="-120" dirty="0">
                <a:solidFill>
                  <a:srgbClr val="404040"/>
                </a:solidFill>
                <a:latin typeface="Trebuchet MS"/>
                <a:cs typeface="Trebuchet MS"/>
              </a:rPr>
              <a:t> </a:t>
            </a:r>
            <a:r>
              <a:rPr sz="2000" b="1" dirty="0">
                <a:solidFill>
                  <a:srgbClr val="404040"/>
                </a:solidFill>
                <a:latin typeface="Trebuchet MS"/>
                <a:cs typeface="Trebuchet MS"/>
              </a:rPr>
              <a:t>A</a:t>
            </a:r>
            <a:r>
              <a:rPr sz="2000" b="1" spc="-120" dirty="0">
                <a:solidFill>
                  <a:srgbClr val="404040"/>
                </a:solidFill>
                <a:latin typeface="Trebuchet MS"/>
                <a:cs typeface="Trebuchet MS"/>
              </a:rPr>
              <a:t> </a:t>
            </a:r>
            <a:r>
              <a:rPr sz="2000" b="1" dirty="0">
                <a:solidFill>
                  <a:srgbClr val="404040"/>
                </a:solidFill>
                <a:latin typeface="Trebuchet MS"/>
                <a:cs typeface="Trebuchet MS"/>
              </a:rPr>
              <a:t>=</a:t>
            </a:r>
            <a:r>
              <a:rPr sz="2000" b="1" spc="-25" dirty="0">
                <a:solidFill>
                  <a:srgbClr val="404040"/>
                </a:solidFill>
                <a:latin typeface="Trebuchet MS"/>
                <a:cs typeface="Trebuchet MS"/>
              </a:rPr>
              <a:t> </a:t>
            </a:r>
            <a:r>
              <a:rPr sz="2000" b="1" dirty="0">
                <a:solidFill>
                  <a:srgbClr val="404040"/>
                </a:solidFill>
                <a:latin typeface="Trebuchet MS"/>
                <a:cs typeface="Trebuchet MS"/>
              </a:rPr>
              <a:t>{1,</a:t>
            </a:r>
            <a:r>
              <a:rPr sz="2000" b="1" spc="-35" dirty="0">
                <a:solidFill>
                  <a:srgbClr val="404040"/>
                </a:solidFill>
                <a:latin typeface="Trebuchet MS"/>
                <a:cs typeface="Trebuchet MS"/>
              </a:rPr>
              <a:t> </a:t>
            </a:r>
            <a:r>
              <a:rPr sz="2000" b="1" dirty="0">
                <a:solidFill>
                  <a:srgbClr val="404040"/>
                </a:solidFill>
                <a:latin typeface="Trebuchet MS"/>
                <a:cs typeface="Trebuchet MS"/>
              </a:rPr>
              <a:t>2},B</a:t>
            </a:r>
            <a:r>
              <a:rPr sz="2000" b="1" spc="-35" dirty="0">
                <a:solidFill>
                  <a:srgbClr val="404040"/>
                </a:solidFill>
                <a:latin typeface="Trebuchet MS"/>
                <a:cs typeface="Trebuchet MS"/>
              </a:rPr>
              <a:t> </a:t>
            </a:r>
            <a:r>
              <a:rPr sz="2000" b="1" dirty="0">
                <a:solidFill>
                  <a:srgbClr val="404040"/>
                </a:solidFill>
                <a:latin typeface="Trebuchet MS"/>
                <a:cs typeface="Trebuchet MS"/>
              </a:rPr>
              <a:t>=</a:t>
            </a:r>
            <a:r>
              <a:rPr sz="2000" b="1" spc="-25" dirty="0">
                <a:solidFill>
                  <a:srgbClr val="404040"/>
                </a:solidFill>
                <a:latin typeface="Trebuchet MS"/>
                <a:cs typeface="Trebuchet MS"/>
              </a:rPr>
              <a:t> </a:t>
            </a:r>
            <a:r>
              <a:rPr sz="2000" b="1" dirty="0">
                <a:solidFill>
                  <a:srgbClr val="404040"/>
                </a:solidFill>
                <a:latin typeface="Trebuchet MS"/>
                <a:cs typeface="Trebuchet MS"/>
              </a:rPr>
              <a:t>{1,</a:t>
            </a:r>
            <a:r>
              <a:rPr sz="2000" b="1" spc="-35" dirty="0">
                <a:solidFill>
                  <a:srgbClr val="404040"/>
                </a:solidFill>
                <a:latin typeface="Trebuchet MS"/>
                <a:cs typeface="Trebuchet MS"/>
              </a:rPr>
              <a:t> </a:t>
            </a:r>
            <a:r>
              <a:rPr sz="2000" b="1" dirty="0">
                <a:solidFill>
                  <a:srgbClr val="404040"/>
                </a:solidFill>
                <a:latin typeface="Trebuchet MS"/>
                <a:cs typeface="Trebuchet MS"/>
              </a:rPr>
              <a:t>2,</a:t>
            </a:r>
            <a:r>
              <a:rPr sz="2000" b="1" spc="-25" dirty="0">
                <a:solidFill>
                  <a:srgbClr val="404040"/>
                </a:solidFill>
                <a:latin typeface="Trebuchet MS"/>
                <a:cs typeface="Trebuchet MS"/>
              </a:rPr>
              <a:t> </a:t>
            </a:r>
            <a:r>
              <a:rPr sz="2000" b="1" dirty="0">
                <a:solidFill>
                  <a:srgbClr val="404040"/>
                </a:solidFill>
                <a:latin typeface="Trebuchet MS"/>
                <a:cs typeface="Trebuchet MS"/>
              </a:rPr>
              <a:t>3},</a:t>
            </a:r>
            <a:r>
              <a:rPr sz="2000" b="1" spc="-40" dirty="0">
                <a:solidFill>
                  <a:srgbClr val="404040"/>
                </a:solidFill>
                <a:latin typeface="Trebuchet MS"/>
                <a:cs typeface="Trebuchet MS"/>
              </a:rPr>
              <a:t> </a:t>
            </a:r>
            <a:r>
              <a:rPr sz="2000" b="1" dirty="0">
                <a:solidFill>
                  <a:srgbClr val="404040"/>
                </a:solidFill>
                <a:latin typeface="Trebuchet MS"/>
                <a:cs typeface="Trebuchet MS"/>
              </a:rPr>
              <a:t>List</a:t>
            </a:r>
            <a:r>
              <a:rPr sz="2000" b="1" spc="-20" dirty="0">
                <a:solidFill>
                  <a:srgbClr val="404040"/>
                </a:solidFill>
                <a:latin typeface="Trebuchet MS"/>
                <a:cs typeface="Trebuchet MS"/>
              </a:rPr>
              <a:t> </a:t>
            </a:r>
            <a:r>
              <a:rPr sz="2000" b="1" dirty="0">
                <a:solidFill>
                  <a:srgbClr val="404040"/>
                </a:solidFill>
                <a:latin typeface="Trebuchet MS"/>
                <a:cs typeface="Trebuchet MS"/>
              </a:rPr>
              <a:t>any</a:t>
            </a:r>
            <a:r>
              <a:rPr sz="2000" b="1" spc="-15" dirty="0">
                <a:solidFill>
                  <a:srgbClr val="404040"/>
                </a:solidFill>
                <a:latin typeface="Trebuchet MS"/>
                <a:cs typeface="Trebuchet MS"/>
              </a:rPr>
              <a:t> </a:t>
            </a:r>
            <a:r>
              <a:rPr sz="2000" b="1" dirty="0">
                <a:solidFill>
                  <a:srgbClr val="404040"/>
                </a:solidFill>
                <a:latin typeface="Trebuchet MS"/>
                <a:cs typeface="Trebuchet MS"/>
              </a:rPr>
              <a:t>five</a:t>
            </a:r>
            <a:r>
              <a:rPr sz="2000" b="1" spc="-20" dirty="0">
                <a:solidFill>
                  <a:srgbClr val="404040"/>
                </a:solidFill>
                <a:latin typeface="Trebuchet MS"/>
                <a:cs typeface="Trebuchet MS"/>
              </a:rPr>
              <a:t> </a:t>
            </a:r>
            <a:r>
              <a:rPr sz="2000" b="1" dirty="0">
                <a:solidFill>
                  <a:srgbClr val="404040"/>
                </a:solidFill>
                <a:latin typeface="Trebuchet MS"/>
                <a:cs typeface="Trebuchet MS"/>
              </a:rPr>
              <a:t>binary</a:t>
            </a:r>
            <a:r>
              <a:rPr sz="2000" b="1" spc="-5" dirty="0">
                <a:solidFill>
                  <a:srgbClr val="404040"/>
                </a:solidFill>
                <a:latin typeface="Trebuchet MS"/>
                <a:cs typeface="Trebuchet MS"/>
              </a:rPr>
              <a:t> </a:t>
            </a:r>
            <a:r>
              <a:rPr sz="2000" b="1" spc="-10" dirty="0">
                <a:solidFill>
                  <a:srgbClr val="404040"/>
                </a:solidFill>
                <a:latin typeface="Trebuchet MS"/>
                <a:cs typeface="Trebuchet MS"/>
              </a:rPr>
              <a:t>relations. </a:t>
            </a:r>
            <a:r>
              <a:rPr sz="2000" b="1" u="sng" spc="-10" dirty="0">
                <a:solidFill>
                  <a:srgbClr val="6F2F9F"/>
                </a:solidFill>
                <a:uFill>
                  <a:solidFill>
                    <a:srgbClr val="6F2F9F"/>
                  </a:solidFill>
                </a:uFill>
                <a:latin typeface="Trebuchet MS"/>
                <a:cs typeface="Trebuchet MS"/>
              </a:rPr>
              <a:t>SOLUTION:</a:t>
            </a:r>
            <a:endParaRPr sz="2000" dirty="0">
              <a:latin typeface="Trebuchet MS"/>
              <a:cs typeface="Trebuchet MS"/>
            </a:endParaRPr>
          </a:p>
          <a:p>
            <a:pPr marL="12700">
              <a:lnSpc>
                <a:spcPct val="100000"/>
              </a:lnSpc>
              <a:spcBef>
                <a:spcPts val="1000"/>
              </a:spcBef>
            </a:pPr>
            <a:r>
              <a:rPr sz="2000" dirty="0">
                <a:solidFill>
                  <a:srgbClr val="404040"/>
                </a:solidFill>
                <a:latin typeface="Trebuchet MS"/>
                <a:cs typeface="Trebuchet MS"/>
              </a:rPr>
              <a:t>A</a:t>
            </a:r>
            <a:r>
              <a:rPr sz="2000" spc="-125" dirty="0">
                <a:solidFill>
                  <a:srgbClr val="404040"/>
                </a:solidFill>
                <a:latin typeface="Trebuchet MS"/>
                <a:cs typeface="Trebuchet MS"/>
              </a:rPr>
              <a:t> </a:t>
            </a:r>
            <a:r>
              <a:rPr sz="2000" dirty="0">
                <a:solidFill>
                  <a:srgbClr val="404040"/>
                </a:solidFill>
                <a:latin typeface="Symbol"/>
                <a:cs typeface="Symbol"/>
              </a:rPr>
              <a:t></a:t>
            </a:r>
            <a:r>
              <a:rPr sz="2000" spc="60" dirty="0">
                <a:solidFill>
                  <a:srgbClr val="404040"/>
                </a:solidFill>
                <a:latin typeface="Times New Roman"/>
                <a:cs typeface="Times New Roman"/>
              </a:rPr>
              <a:t> </a:t>
            </a:r>
            <a:r>
              <a:rPr sz="2000" dirty="0">
                <a:solidFill>
                  <a:srgbClr val="404040"/>
                </a:solidFill>
                <a:latin typeface="Trebuchet MS"/>
                <a:cs typeface="Trebuchet MS"/>
              </a:rPr>
              <a:t>B</a:t>
            </a:r>
            <a:r>
              <a:rPr sz="2000" spc="-35" dirty="0">
                <a:solidFill>
                  <a:srgbClr val="404040"/>
                </a:solidFill>
                <a:latin typeface="Trebuchet MS"/>
                <a:cs typeface="Trebuchet MS"/>
              </a:rPr>
              <a:t> </a:t>
            </a:r>
            <a:r>
              <a:rPr sz="2000" dirty="0">
                <a:solidFill>
                  <a:srgbClr val="404040"/>
                </a:solidFill>
                <a:latin typeface="Trebuchet MS"/>
                <a:cs typeface="Trebuchet MS"/>
              </a:rPr>
              <a:t>=</a:t>
            </a:r>
            <a:r>
              <a:rPr sz="2000" spc="-30" dirty="0">
                <a:solidFill>
                  <a:srgbClr val="404040"/>
                </a:solidFill>
                <a:latin typeface="Trebuchet MS"/>
                <a:cs typeface="Trebuchet MS"/>
              </a:rPr>
              <a:t> </a:t>
            </a:r>
            <a:r>
              <a:rPr sz="2000" dirty="0">
                <a:solidFill>
                  <a:srgbClr val="404040"/>
                </a:solidFill>
                <a:latin typeface="Trebuchet MS"/>
                <a:cs typeface="Trebuchet MS"/>
              </a:rPr>
              <a:t>{(1,</a:t>
            </a:r>
            <a:r>
              <a:rPr sz="2000" spc="-20" dirty="0">
                <a:solidFill>
                  <a:srgbClr val="404040"/>
                </a:solidFill>
                <a:latin typeface="Trebuchet MS"/>
                <a:cs typeface="Trebuchet MS"/>
              </a:rPr>
              <a:t> </a:t>
            </a:r>
            <a:r>
              <a:rPr sz="2000" dirty="0">
                <a:solidFill>
                  <a:srgbClr val="404040"/>
                </a:solidFill>
                <a:latin typeface="Trebuchet MS"/>
                <a:cs typeface="Trebuchet MS"/>
              </a:rPr>
              <a:t>1),</a:t>
            </a:r>
            <a:r>
              <a:rPr sz="2000" spc="-25" dirty="0">
                <a:solidFill>
                  <a:srgbClr val="404040"/>
                </a:solidFill>
                <a:latin typeface="Trebuchet MS"/>
                <a:cs typeface="Trebuchet MS"/>
              </a:rPr>
              <a:t> </a:t>
            </a:r>
            <a:r>
              <a:rPr sz="2000" dirty="0">
                <a:solidFill>
                  <a:srgbClr val="404040"/>
                </a:solidFill>
                <a:latin typeface="Trebuchet MS"/>
                <a:cs typeface="Trebuchet MS"/>
              </a:rPr>
              <a:t>(1,</a:t>
            </a:r>
            <a:r>
              <a:rPr sz="2000" spc="-20" dirty="0">
                <a:solidFill>
                  <a:srgbClr val="404040"/>
                </a:solidFill>
                <a:latin typeface="Trebuchet MS"/>
                <a:cs typeface="Trebuchet MS"/>
              </a:rPr>
              <a:t> </a:t>
            </a:r>
            <a:r>
              <a:rPr sz="2000" dirty="0">
                <a:solidFill>
                  <a:srgbClr val="404040"/>
                </a:solidFill>
                <a:latin typeface="Trebuchet MS"/>
                <a:cs typeface="Trebuchet MS"/>
              </a:rPr>
              <a:t>2),</a:t>
            </a:r>
            <a:r>
              <a:rPr sz="2000" spc="-20" dirty="0">
                <a:solidFill>
                  <a:srgbClr val="404040"/>
                </a:solidFill>
                <a:latin typeface="Trebuchet MS"/>
                <a:cs typeface="Trebuchet MS"/>
              </a:rPr>
              <a:t> </a:t>
            </a:r>
            <a:r>
              <a:rPr sz="2000" dirty="0">
                <a:solidFill>
                  <a:srgbClr val="404040"/>
                </a:solidFill>
                <a:latin typeface="Trebuchet MS"/>
                <a:cs typeface="Trebuchet MS"/>
              </a:rPr>
              <a:t>(1,</a:t>
            </a:r>
            <a:r>
              <a:rPr sz="2000" spc="-20" dirty="0">
                <a:solidFill>
                  <a:srgbClr val="404040"/>
                </a:solidFill>
                <a:latin typeface="Trebuchet MS"/>
                <a:cs typeface="Trebuchet MS"/>
              </a:rPr>
              <a:t> </a:t>
            </a:r>
            <a:r>
              <a:rPr sz="2000" dirty="0">
                <a:solidFill>
                  <a:srgbClr val="404040"/>
                </a:solidFill>
                <a:latin typeface="Trebuchet MS"/>
                <a:cs typeface="Trebuchet MS"/>
              </a:rPr>
              <a:t>3),</a:t>
            </a:r>
            <a:r>
              <a:rPr sz="2000" spc="-30" dirty="0">
                <a:solidFill>
                  <a:srgbClr val="404040"/>
                </a:solidFill>
                <a:latin typeface="Trebuchet MS"/>
                <a:cs typeface="Trebuchet MS"/>
              </a:rPr>
              <a:t> </a:t>
            </a:r>
            <a:r>
              <a:rPr sz="2000" dirty="0">
                <a:solidFill>
                  <a:srgbClr val="404040"/>
                </a:solidFill>
                <a:latin typeface="Trebuchet MS"/>
                <a:cs typeface="Trebuchet MS"/>
              </a:rPr>
              <a:t>(2,</a:t>
            </a:r>
            <a:r>
              <a:rPr sz="2000" spc="-15" dirty="0">
                <a:solidFill>
                  <a:srgbClr val="404040"/>
                </a:solidFill>
                <a:latin typeface="Trebuchet MS"/>
                <a:cs typeface="Trebuchet MS"/>
              </a:rPr>
              <a:t> </a:t>
            </a:r>
            <a:r>
              <a:rPr sz="2000" dirty="0">
                <a:solidFill>
                  <a:srgbClr val="404040"/>
                </a:solidFill>
                <a:latin typeface="Trebuchet MS"/>
                <a:cs typeface="Trebuchet MS"/>
              </a:rPr>
              <a:t>1),</a:t>
            </a:r>
            <a:r>
              <a:rPr sz="2000" spc="-20" dirty="0">
                <a:solidFill>
                  <a:srgbClr val="404040"/>
                </a:solidFill>
                <a:latin typeface="Trebuchet MS"/>
                <a:cs typeface="Trebuchet MS"/>
              </a:rPr>
              <a:t> </a:t>
            </a:r>
            <a:r>
              <a:rPr sz="2000" dirty="0">
                <a:solidFill>
                  <a:srgbClr val="404040"/>
                </a:solidFill>
                <a:latin typeface="Trebuchet MS"/>
                <a:cs typeface="Trebuchet MS"/>
              </a:rPr>
              <a:t>(2,</a:t>
            </a:r>
            <a:r>
              <a:rPr sz="2000" spc="-20" dirty="0">
                <a:solidFill>
                  <a:srgbClr val="404040"/>
                </a:solidFill>
                <a:latin typeface="Trebuchet MS"/>
                <a:cs typeface="Trebuchet MS"/>
              </a:rPr>
              <a:t> </a:t>
            </a:r>
            <a:r>
              <a:rPr sz="2000" dirty="0">
                <a:solidFill>
                  <a:srgbClr val="404040"/>
                </a:solidFill>
                <a:latin typeface="Trebuchet MS"/>
                <a:cs typeface="Trebuchet MS"/>
              </a:rPr>
              <a:t>2),</a:t>
            </a:r>
            <a:r>
              <a:rPr sz="2000" spc="-30" dirty="0">
                <a:solidFill>
                  <a:srgbClr val="404040"/>
                </a:solidFill>
                <a:latin typeface="Trebuchet MS"/>
                <a:cs typeface="Trebuchet MS"/>
              </a:rPr>
              <a:t> </a:t>
            </a:r>
            <a:r>
              <a:rPr sz="2000" dirty="0">
                <a:solidFill>
                  <a:srgbClr val="404040"/>
                </a:solidFill>
                <a:latin typeface="Trebuchet MS"/>
                <a:cs typeface="Trebuchet MS"/>
              </a:rPr>
              <a:t>(2,</a:t>
            </a:r>
            <a:r>
              <a:rPr sz="2000" spc="-15" dirty="0">
                <a:solidFill>
                  <a:srgbClr val="404040"/>
                </a:solidFill>
                <a:latin typeface="Trebuchet MS"/>
                <a:cs typeface="Trebuchet MS"/>
              </a:rPr>
              <a:t> </a:t>
            </a:r>
            <a:r>
              <a:rPr sz="2000" spc="-25" dirty="0">
                <a:solidFill>
                  <a:srgbClr val="404040"/>
                </a:solidFill>
                <a:latin typeface="Trebuchet MS"/>
                <a:cs typeface="Trebuchet MS"/>
              </a:rPr>
              <a:t>3)}</a:t>
            </a:r>
            <a:endParaRPr sz="2000" dirty="0">
              <a:latin typeface="Trebuchet MS"/>
              <a:cs typeface="Trebuchet MS"/>
            </a:endParaRPr>
          </a:p>
          <a:p>
            <a:pPr marL="927100" marR="2461895" indent="-914400">
              <a:lnSpc>
                <a:spcPts val="3160"/>
              </a:lnSpc>
              <a:spcBef>
                <a:spcPts val="270"/>
              </a:spcBef>
            </a:pPr>
            <a:r>
              <a:rPr sz="2000" dirty="0">
                <a:solidFill>
                  <a:srgbClr val="404040"/>
                </a:solidFill>
                <a:latin typeface="Trebuchet MS"/>
                <a:cs typeface="Trebuchet MS"/>
              </a:rPr>
              <a:t>The</a:t>
            </a:r>
            <a:r>
              <a:rPr sz="2000" spc="-20" dirty="0">
                <a:solidFill>
                  <a:srgbClr val="404040"/>
                </a:solidFill>
                <a:latin typeface="Trebuchet MS"/>
                <a:cs typeface="Trebuchet MS"/>
              </a:rPr>
              <a:t> </a:t>
            </a:r>
            <a:r>
              <a:rPr sz="2000" dirty="0">
                <a:solidFill>
                  <a:srgbClr val="404040"/>
                </a:solidFill>
                <a:latin typeface="Trebuchet MS"/>
                <a:cs typeface="Trebuchet MS"/>
              </a:rPr>
              <a:t>Binary</a:t>
            </a:r>
            <a:r>
              <a:rPr sz="2000" spc="-35" dirty="0">
                <a:solidFill>
                  <a:srgbClr val="404040"/>
                </a:solidFill>
                <a:latin typeface="Trebuchet MS"/>
                <a:cs typeface="Trebuchet MS"/>
              </a:rPr>
              <a:t> </a:t>
            </a:r>
            <a:r>
              <a:rPr sz="2000" spc="-10" dirty="0">
                <a:solidFill>
                  <a:srgbClr val="404040"/>
                </a:solidFill>
                <a:latin typeface="Trebuchet MS"/>
                <a:cs typeface="Trebuchet MS"/>
              </a:rPr>
              <a:t>Relations</a:t>
            </a:r>
            <a:r>
              <a:rPr sz="2000" spc="-35" dirty="0">
                <a:solidFill>
                  <a:srgbClr val="404040"/>
                </a:solidFill>
                <a:latin typeface="Trebuchet MS"/>
                <a:cs typeface="Trebuchet MS"/>
              </a:rPr>
              <a:t> </a:t>
            </a:r>
            <a:r>
              <a:rPr sz="2000" spc="-10" dirty="0">
                <a:solidFill>
                  <a:srgbClr val="404040"/>
                </a:solidFill>
                <a:latin typeface="Trebuchet MS"/>
                <a:cs typeface="Trebuchet MS"/>
              </a:rPr>
              <a:t>over</a:t>
            </a:r>
            <a:r>
              <a:rPr sz="2000" spc="-120" dirty="0">
                <a:solidFill>
                  <a:srgbClr val="404040"/>
                </a:solidFill>
                <a:latin typeface="Trebuchet MS"/>
                <a:cs typeface="Trebuchet MS"/>
              </a:rPr>
              <a:t> </a:t>
            </a:r>
            <a:r>
              <a:rPr sz="2000" dirty="0">
                <a:solidFill>
                  <a:srgbClr val="404040"/>
                </a:solidFill>
                <a:latin typeface="Trebuchet MS"/>
                <a:cs typeface="Trebuchet MS"/>
              </a:rPr>
              <a:t>A</a:t>
            </a:r>
            <a:r>
              <a:rPr sz="2000" spc="-120" dirty="0">
                <a:solidFill>
                  <a:srgbClr val="404040"/>
                </a:solidFill>
                <a:latin typeface="Trebuchet MS"/>
                <a:cs typeface="Trebuchet MS"/>
              </a:rPr>
              <a:t> </a:t>
            </a:r>
            <a:r>
              <a:rPr sz="2000" dirty="0">
                <a:solidFill>
                  <a:srgbClr val="404040"/>
                </a:solidFill>
                <a:latin typeface="Trebuchet MS"/>
                <a:cs typeface="Trebuchet MS"/>
              </a:rPr>
              <a:t>x</a:t>
            </a:r>
            <a:r>
              <a:rPr sz="2000" spc="-25" dirty="0">
                <a:solidFill>
                  <a:srgbClr val="404040"/>
                </a:solidFill>
                <a:latin typeface="Trebuchet MS"/>
                <a:cs typeface="Trebuchet MS"/>
              </a:rPr>
              <a:t> </a:t>
            </a:r>
            <a:r>
              <a:rPr sz="2000" dirty="0">
                <a:solidFill>
                  <a:srgbClr val="404040"/>
                </a:solidFill>
                <a:latin typeface="Trebuchet MS"/>
                <a:cs typeface="Trebuchet MS"/>
              </a:rPr>
              <a:t>B</a:t>
            </a:r>
            <a:r>
              <a:rPr sz="2000" spc="-40" dirty="0">
                <a:solidFill>
                  <a:srgbClr val="404040"/>
                </a:solidFill>
                <a:latin typeface="Trebuchet MS"/>
                <a:cs typeface="Trebuchet MS"/>
              </a:rPr>
              <a:t> </a:t>
            </a:r>
            <a:r>
              <a:rPr sz="2000" spc="-20" dirty="0">
                <a:solidFill>
                  <a:srgbClr val="404040"/>
                </a:solidFill>
                <a:latin typeface="Trebuchet MS"/>
                <a:cs typeface="Trebuchet MS"/>
              </a:rPr>
              <a:t>are: </a:t>
            </a:r>
            <a:r>
              <a:rPr sz="2000" dirty="0">
                <a:solidFill>
                  <a:srgbClr val="404040"/>
                </a:solidFill>
                <a:latin typeface="Trebuchet MS"/>
                <a:cs typeface="Trebuchet MS"/>
              </a:rPr>
              <a:t>R1={(1,1),</a:t>
            </a:r>
            <a:r>
              <a:rPr sz="2000" spc="-35" dirty="0">
                <a:solidFill>
                  <a:srgbClr val="404040"/>
                </a:solidFill>
                <a:latin typeface="Trebuchet MS"/>
                <a:cs typeface="Trebuchet MS"/>
              </a:rPr>
              <a:t> </a:t>
            </a:r>
            <a:r>
              <a:rPr sz="2000" dirty="0">
                <a:solidFill>
                  <a:srgbClr val="404040"/>
                </a:solidFill>
                <a:latin typeface="Trebuchet MS"/>
                <a:cs typeface="Trebuchet MS"/>
              </a:rPr>
              <a:t>(1,</a:t>
            </a:r>
            <a:r>
              <a:rPr sz="2000" spc="-45" dirty="0">
                <a:solidFill>
                  <a:srgbClr val="404040"/>
                </a:solidFill>
                <a:latin typeface="Trebuchet MS"/>
                <a:cs typeface="Trebuchet MS"/>
              </a:rPr>
              <a:t> </a:t>
            </a:r>
            <a:r>
              <a:rPr sz="2000" dirty="0">
                <a:solidFill>
                  <a:srgbClr val="404040"/>
                </a:solidFill>
                <a:latin typeface="Trebuchet MS"/>
                <a:cs typeface="Trebuchet MS"/>
              </a:rPr>
              <a:t>3),</a:t>
            </a:r>
            <a:r>
              <a:rPr sz="2000" spc="-45" dirty="0">
                <a:solidFill>
                  <a:srgbClr val="404040"/>
                </a:solidFill>
                <a:latin typeface="Trebuchet MS"/>
                <a:cs typeface="Trebuchet MS"/>
              </a:rPr>
              <a:t> </a:t>
            </a:r>
            <a:r>
              <a:rPr sz="2000" dirty="0">
                <a:solidFill>
                  <a:srgbClr val="404040"/>
                </a:solidFill>
                <a:latin typeface="Trebuchet MS"/>
                <a:cs typeface="Trebuchet MS"/>
              </a:rPr>
              <a:t>(2,</a:t>
            </a:r>
            <a:r>
              <a:rPr sz="2000" spc="-45" dirty="0">
                <a:solidFill>
                  <a:srgbClr val="404040"/>
                </a:solidFill>
                <a:latin typeface="Trebuchet MS"/>
                <a:cs typeface="Trebuchet MS"/>
              </a:rPr>
              <a:t> </a:t>
            </a:r>
            <a:r>
              <a:rPr sz="2000" spc="-25" dirty="0">
                <a:solidFill>
                  <a:srgbClr val="404040"/>
                </a:solidFill>
                <a:latin typeface="Trebuchet MS"/>
                <a:cs typeface="Trebuchet MS"/>
              </a:rPr>
              <a:t>2)}</a:t>
            </a:r>
            <a:endParaRPr sz="2000" dirty="0">
              <a:latin typeface="Trebuchet MS"/>
              <a:cs typeface="Trebuchet MS"/>
            </a:endParaRPr>
          </a:p>
          <a:p>
            <a:pPr marL="927100">
              <a:lnSpc>
                <a:spcPct val="100000"/>
              </a:lnSpc>
              <a:spcBef>
                <a:spcPts val="725"/>
              </a:spcBef>
            </a:pPr>
            <a:r>
              <a:rPr sz="2000" dirty="0">
                <a:solidFill>
                  <a:srgbClr val="404040"/>
                </a:solidFill>
                <a:latin typeface="Trebuchet MS"/>
                <a:cs typeface="Trebuchet MS"/>
              </a:rPr>
              <a:t>R2={(1,</a:t>
            </a:r>
            <a:r>
              <a:rPr sz="2000" spc="-15" dirty="0">
                <a:solidFill>
                  <a:srgbClr val="404040"/>
                </a:solidFill>
                <a:latin typeface="Trebuchet MS"/>
                <a:cs typeface="Trebuchet MS"/>
              </a:rPr>
              <a:t> </a:t>
            </a:r>
            <a:r>
              <a:rPr sz="2000" dirty="0">
                <a:solidFill>
                  <a:srgbClr val="404040"/>
                </a:solidFill>
                <a:latin typeface="Trebuchet MS"/>
                <a:cs typeface="Trebuchet MS"/>
              </a:rPr>
              <a:t>2),</a:t>
            </a:r>
            <a:r>
              <a:rPr sz="2000" spc="-35" dirty="0">
                <a:solidFill>
                  <a:srgbClr val="404040"/>
                </a:solidFill>
                <a:latin typeface="Trebuchet MS"/>
                <a:cs typeface="Trebuchet MS"/>
              </a:rPr>
              <a:t> </a:t>
            </a:r>
            <a:r>
              <a:rPr sz="2000" dirty="0">
                <a:solidFill>
                  <a:srgbClr val="404040"/>
                </a:solidFill>
                <a:latin typeface="Trebuchet MS"/>
                <a:cs typeface="Trebuchet MS"/>
              </a:rPr>
              <a:t>(2,</a:t>
            </a:r>
            <a:r>
              <a:rPr sz="2000" spc="-35" dirty="0">
                <a:solidFill>
                  <a:srgbClr val="404040"/>
                </a:solidFill>
                <a:latin typeface="Trebuchet MS"/>
                <a:cs typeface="Trebuchet MS"/>
              </a:rPr>
              <a:t> </a:t>
            </a:r>
            <a:r>
              <a:rPr sz="2000" dirty="0">
                <a:solidFill>
                  <a:srgbClr val="404040"/>
                </a:solidFill>
                <a:latin typeface="Trebuchet MS"/>
                <a:cs typeface="Trebuchet MS"/>
              </a:rPr>
              <a:t>1),</a:t>
            </a:r>
            <a:r>
              <a:rPr sz="2000" spc="-35" dirty="0">
                <a:solidFill>
                  <a:srgbClr val="404040"/>
                </a:solidFill>
                <a:latin typeface="Trebuchet MS"/>
                <a:cs typeface="Trebuchet MS"/>
              </a:rPr>
              <a:t> </a:t>
            </a:r>
            <a:r>
              <a:rPr sz="2000" dirty="0">
                <a:solidFill>
                  <a:srgbClr val="404040"/>
                </a:solidFill>
                <a:latin typeface="Trebuchet MS"/>
                <a:cs typeface="Trebuchet MS"/>
              </a:rPr>
              <a:t>(2,</a:t>
            </a:r>
            <a:r>
              <a:rPr sz="2000" spc="-35" dirty="0">
                <a:solidFill>
                  <a:srgbClr val="404040"/>
                </a:solidFill>
                <a:latin typeface="Trebuchet MS"/>
                <a:cs typeface="Trebuchet MS"/>
              </a:rPr>
              <a:t> </a:t>
            </a:r>
            <a:r>
              <a:rPr sz="2000" dirty="0">
                <a:solidFill>
                  <a:srgbClr val="404040"/>
                </a:solidFill>
                <a:latin typeface="Trebuchet MS"/>
                <a:cs typeface="Trebuchet MS"/>
              </a:rPr>
              <a:t>2),</a:t>
            </a:r>
            <a:r>
              <a:rPr sz="2000" spc="-30" dirty="0">
                <a:solidFill>
                  <a:srgbClr val="404040"/>
                </a:solidFill>
                <a:latin typeface="Trebuchet MS"/>
                <a:cs typeface="Trebuchet MS"/>
              </a:rPr>
              <a:t> </a:t>
            </a:r>
            <a:r>
              <a:rPr sz="2000" dirty="0">
                <a:solidFill>
                  <a:srgbClr val="404040"/>
                </a:solidFill>
                <a:latin typeface="Trebuchet MS"/>
                <a:cs typeface="Trebuchet MS"/>
              </a:rPr>
              <a:t>(2,</a:t>
            </a:r>
            <a:r>
              <a:rPr sz="2000" spc="-40" dirty="0">
                <a:solidFill>
                  <a:srgbClr val="404040"/>
                </a:solidFill>
                <a:latin typeface="Trebuchet MS"/>
                <a:cs typeface="Trebuchet MS"/>
              </a:rPr>
              <a:t> </a:t>
            </a:r>
            <a:r>
              <a:rPr sz="2000" spc="-25" dirty="0">
                <a:solidFill>
                  <a:srgbClr val="404040"/>
                </a:solidFill>
                <a:latin typeface="Trebuchet MS"/>
                <a:cs typeface="Trebuchet MS"/>
              </a:rPr>
              <a:t>3)}</a:t>
            </a:r>
            <a:endParaRPr sz="2000" dirty="0">
              <a:latin typeface="Trebuchet MS"/>
              <a:cs typeface="Trebuchet MS"/>
            </a:endParaRPr>
          </a:p>
          <a:p>
            <a:pPr marL="927100" marR="4097654">
              <a:lnSpc>
                <a:spcPct val="146400"/>
              </a:lnSpc>
            </a:pPr>
            <a:r>
              <a:rPr sz="2000" dirty="0">
                <a:solidFill>
                  <a:srgbClr val="404040"/>
                </a:solidFill>
                <a:latin typeface="Trebuchet MS"/>
                <a:cs typeface="Trebuchet MS"/>
              </a:rPr>
              <a:t>R3={(1,</a:t>
            </a:r>
            <a:r>
              <a:rPr sz="2000" spc="-60" dirty="0">
                <a:solidFill>
                  <a:srgbClr val="404040"/>
                </a:solidFill>
                <a:latin typeface="Trebuchet MS"/>
                <a:cs typeface="Trebuchet MS"/>
              </a:rPr>
              <a:t> </a:t>
            </a:r>
            <a:r>
              <a:rPr sz="2000" spc="-25" dirty="0">
                <a:solidFill>
                  <a:srgbClr val="404040"/>
                </a:solidFill>
                <a:latin typeface="Trebuchet MS"/>
                <a:cs typeface="Trebuchet MS"/>
              </a:rPr>
              <a:t>1)} </a:t>
            </a:r>
            <a:endParaRPr lang="en-US" sz="2000" spc="-25" dirty="0">
              <a:solidFill>
                <a:srgbClr val="404040"/>
              </a:solidFill>
              <a:latin typeface="Trebuchet MS"/>
              <a:cs typeface="Trebuchet MS"/>
            </a:endParaRPr>
          </a:p>
          <a:p>
            <a:pPr marL="927100" marR="4097654">
              <a:lnSpc>
                <a:spcPct val="146400"/>
              </a:lnSpc>
            </a:pPr>
            <a:r>
              <a:rPr sz="2000" dirty="0">
                <a:solidFill>
                  <a:srgbClr val="404040"/>
                </a:solidFill>
                <a:latin typeface="Trebuchet MS"/>
                <a:cs typeface="Trebuchet MS"/>
              </a:rPr>
              <a:t>R4=</a:t>
            </a:r>
            <a:r>
              <a:rPr sz="2000" spc="-105" dirty="0">
                <a:solidFill>
                  <a:srgbClr val="404040"/>
                </a:solidFill>
                <a:latin typeface="Trebuchet MS"/>
                <a:cs typeface="Trebuchet MS"/>
              </a:rPr>
              <a:t> </a:t>
            </a:r>
            <a:r>
              <a:rPr sz="2000" dirty="0">
                <a:solidFill>
                  <a:srgbClr val="404040"/>
                </a:solidFill>
                <a:latin typeface="Trebuchet MS"/>
                <a:cs typeface="Trebuchet MS"/>
              </a:rPr>
              <a:t>A</a:t>
            </a:r>
            <a:r>
              <a:rPr sz="2000" spc="-120" dirty="0">
                <a:solidFill>
                  <a:srgbClr val="404040"/>
                </a:solidFill>
                <a:latin typeface="Trebuchet MS"/>
                <a:cs typeface="Trebuchet MS"/>
              </a:rPr>
              <a:t> </a:t>
            </a:r>
            <a:r>
              <a:rPr sz="2000" dirty="0">
                <a:solidFill>
                  <a:srgbClr val="404040"/>
                </a:solidFill>
                <a:latin typeface="Symbol"/>
                <a:cs typeface="Symbol"/>
              </a:rPr>
              <a:t></a:t>
            </a:r>
            <a:r>
              <a:rPr sz="2000" spc="65" dirty="0">
                <a:solidFill>
                  <a:srgbClr val="404040"/>
                </a:solidFill>
                <a:latin typeface="Times New Roman"/>
                <a:cs typeface="Times New Roman"/>
              </a:rPr>
              <a:t> </a:t>
            </a:r>
            <a:r>
              <a:rPr sz="2000" spc="-50" dirty="0">
                <a:solidFill>
                  <a:srgbClr val="404040"/>
                </a:solidFill>
                <a:latin typeface="Trebuchet MS"/>
                <a:cs typeface="Trebuchet MS"/>
              </a:rPr>
              <a:t>B </a:t>
            </a:r>
            <a:endParaRPr lang="en-US" sz="2000" spc="-50" dirty="0">
              <a:solidFill>
                <a:srgbClr val="404040"/>
              </a:solidFill>
              <a:latin typeface="Trebuchet MS"/>
              <a:cs typeface="Trebuchet MS"/>
            </a:endParaRPr>
          </a:p>
          <a:p>
            <a:pPr marL="927100" marR="4097654">
              <a:lnSpc>
                <a:spcPct val="146400"/>
              </a:lnSpc>
            </a:pPr>
            <a:r>
              <a:rPr sz="2000" dirty="0">
                <a:solidFill>
                  <a:srgbClr val="404040"/>
                </a:solidFill>
                <a:latin typeface="Trebuchet MS"/>
                <a:cs typeface="Trebuchet MS"/>
              </a:rPr>
              <a:t>R5=</a:t>
            </a:r>
            <a:r>
              <a:rPr sz="2000" spc="-30" dirty="0">
                <a:solidFill>
                  <a:srgbClr val="404040"/>
                </a:solidFill>
                <a:latin typeface="Trebuchet MS"/>
                <a:cs typeface="Trebuchet MS"/>
              </a:rPr>
              <a:t> </a:t>
            </a:r>
            <a:r>
              <a:rPr sz="2000" spc="-50" dirty="0">
                <a:solidFill>
                  <a:srgbClr val="404040"/>
                </a:solidFill>
                <a:latin typeface="Symbol"/>
                <a:cs typeface="Symbol"/>
              </a:rPr>
              <a:t></a:t>
            </a:r>
            <a:endParaRPr sz="2000" dirty="0">
              <a:latin typeface="Symbol"/>
              <a:cs typeface="Symbol"/>
            </a:endParaRPr>
          </a:p>
          <a:p>
            <a:pPr marL="12700">
              <a:lnSpc>
                <a:spcPct val="100000"/>
              </a:lnSpc>
              <a:spcBef>
                <a:spcPts val="1000"/>
              </a:spcBef>
              <a:tabLst>
                <a:tab pos="469265" algn="l"/>
              </a:tabLst>
            </a:pPr>
            <a:r>
              <a:rPr sz="2000" spc="65" dirty="0">
                <a:solidFill>
                  <a:srgbClr val="90C225"/>
                </a:solidFill>
                <a:latin typeface="Lucida Sans Unicode"/>
                <a:cs typeface="Lucida Sans Unicode"/>
              </a:rPr>
              <a:t>▶</a:t>
            </a:r>
            <a:r>
              <a:rPr sz="2000" dirty="0">
                <a:solidFill>
                  <a:srgbClr val="90C225"/>
                </a:solidFill>
                <a:latin typeface="Lucida Sans Unicode"/>
                <a:cs typeface="Lucida Sans Unicode"/>
              </a:rPr>
              <a:t>	</a:t>
            </a:r>
            <a:r>
              <a:rPr sz="2000" dirty="0">
                <a:solidFill>
                  <a:srgbClr val="404040"/>
                </a:solidFill>
                <a:latin typeface="Trebuchet MS"/>
                <a:cs typeface="Trebuchet MS"/>
              </a:rPr>
              <a:t>All</a:t>
            </a:r>
            <a:r>
              <a:rPr sz="2000" spc="-35" dirty="0">
                <a:solidFill>
                  <a:srgbClr val="404040"/>
                </a:solidFill>
                <a:latin typeface="Trebuchet MS"/>
                <a:cs typeface="Trebuchet MS"/>
              </a:rPr>
              <a:t> </a:t>
            </a:r>
            <a:r>
              <a:rPr sz="2000" dirty="0">
                <a:solidFill>
                  <a:srgbClr val="404040"/>
                </a:solidFill>
                <a:latin typeface="Trebuchet MS"/>
                <a:cs typeface="Trebuchet MS"/>
              </a:rPr>
              <a:t>being</a:t>
            </a:r>
            <a:r>
              <a:rPr sz="2000" spc="-25" dirty="0">
                <a:solidFill>
                  <a:srgbClr val="404040"/>
                </a:solidFill>
                <a:latin typeface="Trebuchet MS"/>
                <a:cs typeface="Trebuchet MS"/>
              </a:rPr>
              <a:t> </a:t>
            </a:r>
            <a:r>
              <a:rPr sz="2000" dirty="0">
                <a:solidFill>
                  <a:srgbClr val="404040"/>
                </a:solidFill>
                <a:latin typeface="Trebuchet MS"/>
                <a:cs typeface="Trebuchet MS"/>
              </a:rPr>
              <a:t>subsets</a:t>
            </a:r>
            <a:r>
              <a:rPr sz="2000" spc="-25" dirty="0">
                <a:solidFill>
                  <a:srgbClr val="404040"/>
                </a:solidFill>
                <a:latin typeface="Trebuchet MS"/>
                <a:cs typeface="Trebuchet MS"/>
              </a:rPr>
              <a:t> </a:t>
            </a:r>
            <a:r>
              <a:rPr sz="2000" dirty="0">
                <a:solidFill>
                  <a:srgbClr val="404040"/>
                </a:solidFill>
                <a:latin typeface="Trebuchet MS"/>
                <a:cs typeface="Trebuchet MS"/>
              </a:rPr>
              <a:t>of</a:t>
            </a:r>
            <a:r>
              <a:rPr sz="2000" spc="-125" dirty="0">
                <a:solidFill>
                  <a:srgbClr val="404040"/>
                </a:solidFill>
                <a:latin typeface="Trebuchet MS"/>
                <a:cs typeface="Trebuchet MS"/>
              </a:rPr>
              <a:t> </a:t>
            </a:r>
            <a:r>
              <a:rPr sz="2000" dirty="0">
                <a:solidFill>
                  <a:srgbClr val="404040"/>
                </a:solidFill>
                <a:latin typeface="Trebuchet MS"/>
                <a:cs typeface="Trebuchet MS"/>
              </a:rPr>
              <a:t>A</a:t>
            </a:r>
            <a:r>
              <a:rPr sz="2000" spc="-125" dirty="0">
                <a:solidFill>
                  <a:srgbClr val="404040"/>
                </a:solidFill>
                <a:latin typeface="Trebuchet MS"/>
                <a:cs typeface="Trebuchet MS"/>
              </a:rPr>
              <a:t> </a:t>
            </a:r>
            <a:r>
              <a:rPr sz="2000" dirty="0">
                <a:solidFill>
                  <a:srgbClr val="404040"/>
                </a:solidFill>
                <a:latin typeface="Symbol"/>
                <a:cs typeface="Symbol"/>
              </a:rPr>
              <a:t></a:t>
            </a:r>
            <a:r>
              <a:rPr sz="2000" spc="65" dirty="0">
                <a:solidFill>
                  <a:srgbClr val="404040"/>
                </a:solidFill>
                <a:latin typeface="Times New Roman"/>
                <a:cs typeface="Times New Roman"/>
              </a:rPr>
              <a:t> </a:t>
            </a:r>
            <a:r>
              <a:rPr sz="2000" dirty="0">
                <a:solidFill>
                  <a:srgbClr val="404040"/>
                </a:solidFill>
                <a:latin typeface="Trebuchet MS"/>
                <a:cs typeface="Trebuchet MS"/>
              </a:rPr>
              <a:t>B</a:t>
            </a:r>
            <a:r>
              <a:rPr sz="2000" spc="-25" dirty="0">
                <a:solidFill>
                  <a:srgbClr val="404040"/>
                </a:solidFill>
                <a:latin typeface="Trebuchet MS"/>
                <a:cs typeface="Trebuchet MS"/>
              </a:rPr>
              <a:t> </a:t>
            </a:r>
            <a:r>
              <a:rPr sz="2000" dirty="0">
                <a:solidFill>
                  <a:srgbClr val="404040"/>
                </a:solidFill>
                <a:latin typeface="Trebuchet MS"/>
                <a:cs typeface="Trebuchet MS"/>
              </a:rPr>
              <a:t>are</a:t>
            </a:r>
            <a:r>
              <a:rPr sz="2000" spc="-20" dirty="0">
                <a:solidFill>
                  <a:srgbClr val="404040"/>
                </a:solidFill>
                <a:latin typeface="Trebuchet MS"/>
                <a:cs typeface="Trebuchet MS"/>
              </a:rPr>
              <a:t> </a:t>
            </a:r>
            <a:r>
              <a:rPr sz="2000" dirty="0">
                <a:solidFill>
                  <a:srgbClr val="404040"/>
                </a:solidFill>
                <a:latin typeface="Trebuchet MS"/>
                <a:cs typeface="Trebuchet MS"/>
              </a:rPr>
              <a:t>relations</a:t>
            </a:r>
            <a:r>
              <a:rPr sz="2000" spc="-35" dirty="0">
                <a:solidFill>
                  <a:srgbClr val="404040"/>
                </a:solidFill>
                <a:latin typeface="Trebuchet MS"/>
                <a:cs typeface="Trebuchet MS"/>
              </a:rPr>
              <a:t> </a:t>
            </a:r>
            <a:r>
              <a:rPr sz="2000" dirty="0">
                <a:solidFill>
                  <a:srgbClr val="404040"/>
                </a:solidFill>
                <a:latin typeface="Trebuchet MS"/>
                <a:cs typeface="Trebuchet MS"/>
              </a:rPr>
              <a:t>from</a:t>
            </a:r>
            <a:r>
              <a:rPr sz="2000" spc="-120" dirty="0">
                <a:solidFill>
                  <a:srgbClr val="404040"/>
                </a:solidFill>
                <a:latin typeface="Trebuchet MS"/>
                <a:cs typeface="Trebuchet MS"/>
              </a:rPr>
              <a:t> </a:t>
            </a:r>
            <a:r>
              <a:rPr sz="2000" dirty="0">
                <a:solidFill>
                  <a:srgbClr val="404040"/>
                </a:solidFill>
                <a:latin typeface="Trebuchet MS"/>
                <a:cs typeface="Trebuchet MS"/>
              </a:rPr>
              <a:t>A</a:t>
            </a:r>
            <a:r>
              <a:rPr sz="2000" spc="-120" dirty="0">
                <a:solidFill>
                  <a:srgbClr val="404040"/>
                </a:solidFill>
                <a:latin typeface="Trebuchet MS"/>
                <a:cs typeface="Trebuchet MS"/>
              </a:rPr>
              <a:t> </a:t>
            </a:r>
            <a:r>
              <a:rPr sz="2000" dirty="0">
                <a:solidFill>
                  <a:srgbClr val="404040"/>
                </a:solidFill>
                <a:latin typeface="Trebuchet MS"/>
                <a:cs typeface="Trebuchet MS"/>
              </a:rPr>
              <a:t>to</a:t>
            </a:r>
            <a:r>
              <a:rPr sz="2000" spc="-30" dirty="0">
                <a:solidFill>
                  <a:srgbClr val="404040"/>
                </a:solidFill>
                <a:latin typeface="Trebuchet MS"/>
                <a:cs typeface="Trebuchet MS"/>
              </a:rPr>
              <a:t> </a:t>
            </a:r>
            <a:r>
              <a:rPr sz="2000" spc="-25" dirty="0">
                <a:solidFill>
                  <a:srgbClr val="404040"/>
                </a:solidFill>
                <a:latin typeface="Trebuchet MS"/>
                <a:cs typeface="Trebuchet MS"/>
              </a:rPr>
              <a:t>B.</a:t>
            </a:r>
            <a:endParaRPr sz="2000" dirty="0">
              <a:latin typeface="Trebuchet MS"/>
              <a:cs typeface="Trebuchet M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21308" y="175260"/>
            <a:ext cx="4467860" cy="1123315"/>
          </a:xfrm>
          <a:prstGeom prst="rect">
            <a:avLst/>
          </a:prstGeom>
        </p:spPr>
        <p:txBody>
          <a:bodyPr vert="horz" wrap="square" lIns="0" tIns="12700" rIns="0" bIns="0" rtlCol="0">
            <a:spAutoFit/>
          </a:bodyPr>
          <a:lstStyle/>
          <a:p>
            <a:pPr marL="1080770" marR="5080" indent="-1068705">
              <a:lnSpc>
                <a:spcPct val="100000"/>
              </a:lnSpc>
              <a:spcBef>
                <a:spcPts val="100"/>
              </a:spcBef>
            </a:pPr>
            <a:r>
              <a:rPr dirty="0"/>
              <a:t>DOMAIN</a:t>
            </a:r>
            <a:r>
              <a:rPr spc="-15" dirty="0"/>
              <a:t> </a:t>
            </a:r>
            <a:r>
              <a:rPr dirty="0"/>
              <a:t>&amp;</a:t>
            </a:r>
            <a:r>
              <a:rPr spc="-15" dirty="0"/>
              <a:t> </a:t>
            </a:r>
            <a:r>
              <a:rPr dirty="0"/>
              <a:t>RANGE</a:t>
            </a:r>
            <a:r>
              <a:rPr spc="-20" dirty="0"/>
              <a:t> </a:t>
            </a:r>
            <a:r>
              <a:rPr spc="-25" dirty="0"/>
              <a:t>OF </a:t>
            </a:r>
            <a:r>
              <a:rPr spc="-10" dirty="0"/>
              <a:t>RELATIONS</a:t>
            </a:r>
          </a:p>
        </p:txBody>
      </p:sp>
      <p:sp>
        <p:nvSpPr>
          <p:cNvPr id="3" name="object 3"/>
          <p:cNvSpPr txBox="1"/>
          <p:nvPr/>
        </p:nvSpPr>
        <p:spPr>
          <a:xfrm>
            <a:off x="688340" y="1575561"/>
            <a:ext cx="5453380" cy="827405"/>
          </a:xfrm>
          <a:prstGeom prst="rect">
            <a:avLst/>
          </a:prstGeom>
        </p:spPr>
        <p:txBody>
          <a:bodyPr vert="horz" wrap="square" lIns="0" tIns="139065" rIns="0" bIns="0" rtlCol="0">
            <a:spAutoFit/>
          </a:bodyPr>
          <a:lstStyle/>
          <a:p>
            <a:pPr marL="12700">
              <a:lnSpc>
                <a:spcPct val="100000"/>
              </a:lnSpc>
              <a:spcBef>
                <a:spcPts val="1095"/>
              </a:spcBef>
            </a:pPr>
            <a:r>
              <a:rPr sz="1800" b="1" u="sng" dirty="0">
                <a:solidFill>
                  <a:srgbClr val="6F2F9F"/>
                </a:solidFill>
                <a:uFill>
                  <a:solidFill>
                    <a:srgbClr val="6F2F9F"/>
                  </a:solidFill>
                </a:uFill>
                <a:latin typeface="Times New Roman"/>
                <a:cs typeface="Times New Roman"/>
              </a:rPr>
              <a:t>DOMAIN</a:t>
            </a:r>
            <a:r>
              <a:rPr sz="1800" b="1" u="sng" spc="385" dirty="0">
                <a:solidFill>
                  <a:srgbClr val="6F2F9F"/>
                </a:solidFill>
                <a:uFill>
                  <a:solidFill>
                    <a:srgbClr val="6F2F9F"/>
                  </a:solidFill>
                </a:uFill>
                <a:latin typeface="Times New Roman"/>
                <a:cs typeface="Times New Roman"/>
              </a:rPr>
              <a:t> </a:t>
            </a:r>
            <a:r>
              <a:rPr sz="1800" b="1" u="sng" spc="-10" dirty="0">
                <a:solidFill>
                  <a:srgbClr val="6F2F9F"/>
                </a:solidFill>
                <a:uFill>
                  <a:solidFill>
                    <a:srgbClr val="6F2F9F"/>
                  </a:solidFill>
                </a:uFill>
                <a:latin typeface="Times New Roman"/>
                <a:cs typeface="Times New Roman"/>
              </a:rPr>
              <a:t>OF</a:t>
            </a:r>
            <a:r>
              <a:rPr sz="1800" b="1" u="sng" spc="-170" dirty="0">
                <a:solidFill>
                  <a:srgbClr val="6F2F9F"/>
                </a:solidFill>
                <a:uFill>
                  <a:solidFill>
                    <a:srgbClr val="6F2F9F"/>
                  </a:solidFill>
                </a:uFill>
                <a:latin typeface="Times New Roman"/>
                <a:cs typeface="Times New Roman"/>
              </a:rPr>
              <a:t> </a:t>
            </a:r>
            <a:r>
              <a:rPr sz="1800" b="1" u="sng" dirty="0">
                <a:solidFill>
                  <a:srgbClr val="6F2F9F"/>
                </a:solidFill>
                <a:uFill>
                  <a:solidFill>
                    <a:srgbClr val="6F2F9F"/>
                  </a:solidFill>
                </a:uFill>
                <a:latin typeface="Times New Roman"/>
                <a:cs typeface="Times New Roman"/>
              </a:rPr>
              <a:t>A</a:t>
            </a:r>
            <a:r>
              <a:rPr sz="1800" b="1" u="sng" spc="-110" dirty="0">
                <a:solidFill>
                  <a:srgbClr val="6F2F9F"/>
                </a:solidFill>
                <a:uFill>
                  <a:solidFill>
                    <a:srgbClr val="6F2F9F"/>
                  </a:solidFill>
                </a:uFill>
                <a:latin typeface="Times New Roman"/>
                <a:cs typeface="Times New Roman"/>
              </a:rPr>
              <a:t> </a:t>
            </a:r>
            <a:r>
              <a:rPr sz="1800" b="1" u="sng" spc="-10" dirty="0">
                <a:solidFill>
                  <a:srgbClr val="6F2F9F"/>
                </a:solidFill>
                <a:uFill>
                  <a:solidFill>
                    <a:srgbClr val="6F2F9F"/>
                  </a:solidFill>
                </a:uFill>
                <a:latin typeface="Times New Roman"/>
                <a:cs typeface="Times New Roman"/>
              </a:rPr>
              <a:t>RELATION:</a:t>
            </a:r>
            <a:endParaRPr sz="1800">
              <a:latin typeface="Times New Roman"/>
              <a:cs typeface="Times New Roman"/>
            </a:endParaRPr>
          </a:p>
          <a:p>
            <a:pPr marL="12700">
              <a:lnSpc>
                <a:spcPct val="100000"/>
              </a:lnSpc>
              <a:spcBef>
                <a:spcPts val="994"/>
              </a:spcBef>
            </a:pPr>
            <a:r>
              <a:rPr sz="1800" dirty="0">
                <a:solidFill>
                  <a:srgbClr val="404040"/>
                </a:solidFill>
                <a:latin typeface="Times New Roman"/>
                <a:cs typeface="Times New Roman"/>
              </a:rPr>
              <a:t>The</a:t>
            </a:r>
            <a:r>
              <a:rPr sz="1800" spc="-40" dirty="0">
                <a:solidFill>
                  <a:srgbClr val="404040"/>
                </a:solidFill>
                <a:latin typeface="Times New Roman"/>
                <a:cs typeface="Times New Roman"/>
              </a:rPr>
              <a:t> </a:t>
            </a:r>
            <a:r>
              <a:rPr sz="1800" dirty="0">
                <a:solidFill>
                  <a:srgbClr val="404040"/>
                </a:solidFill>
                <a:latin typeface="Times New Roman"/>
                <a:cs typeface="Times New Roman"/>
              </a:rPr>
              <a:t>domain</a:t>
            </a:r>
            <a:r>
              <a:rPr sz="1800" spc="-15" dirty="0">
                <a:solidFill>
                  <a:srgbClr val="404040"/>
                </a:solidFill>
                <a:latin typeface="Times New Roman"/>
                <a:cs typeface="Times New Roman"/>
              </a:rPr>
              <a:t> </a:t>
            </a:r>
            <a:r>
              <a:rPr sz="1800" dirty="0">
                <a:solidFill>
                  <a:srgbClr val="404040"/>
                </a:solidFill>
                <a:latin typeface="Times New Roman"/>
                <a:cs typeface="Times New Roman"/>
              </a:rPr>
              <a:t>of</a:t>
            </a:r>
            <a:r>
              <a:rPr sz="1800" spc="-15" dirty="0">
                <a:solidFill>
                  <a:srgbClr val="404040"/>
                </a:solidFill>
                <a:latin typeface="Times New Roman"/>
                <a:cs typeface="Times New Roman"/>
              </a:rPr>
              <a:t> </a:t>
            </a:r>
            <a:r>
              <a:rPr sz="1800" dirty="0">
                <a:solidFill>
                  <a:srgbClr val="404040"/>
                </a:solidFill>
                <a:latin typeface="Times New Roman"/>
                <a:cs typeface="Times New Roman"/>
              </a:rPr>
              <a:t>a</a:t>
            </a:r>
            <a:r>
              <a:rPr sz="1800" spc="-20" dirty="0">
                <a:solidFill>
                  <a:srgbClr val="404040"/>
                </a:solidFill>
                <a:latin typeface="Times New Roman"/>
                <a:cs typeface="Times New Roman"/>
              </a:rPr>
              <a:t> </a:t>
            </a:r>
            <a:r>
              <a:rPr sz="1800" dirty="0">
                <a:solidFill>
                  <a:srgbClr val="404040"/>
                </a:solidFill>
                <a:latin typeface="Times New Roman"/>
                <a:cs typeface="Times New Roman"/>
              </a:rPr>
              <a:t>relation</a:t>
            </a:r>
            <a:r>
              <a:rPr sz="1800" spc="-5" dirty="0">
                <a:solidFill>
                  <a:srgbClr val="404040"/>
                </a:solidFill>
                <a:latin typeface="Times New Roman"/>
                <a:cs typeface="Times New Roman"/>
              </a:rPr>
              <a:t> </a:t>
            </a:r>
            <a:r>
              <a:rPr sz="1800" dirty="0">
                <a:solidFill>
                  <a:srgbClr val="404040"/>
                </a:solidFill>
                <a:latin typeface="Times New Roman"/>
                <a:cs typeface="Times New Roman"/>
              </a:rPr>
              <a:t>R</a:t>
            </a:r>
            <a:r>
              <a:rPr sz="1800" spc="-15" dirty="0">
                <a:solidFill>
                  <a:srgbClr val="404040"/>
                </a:solidFill>
                <a:latin typeface="Times New Roman"/>
                <a:cs typeface="Times New Roman"/>
              </a:rPr>
              <a:t> </a:t>
            </a:r>
            <a:r>
              <a:rPr sz="1800" spc="-10" dirty="0">
                <a:solidFill>
                  <a:srgbClr val="404040"/>
                </a:solidFill>
                <a:latin typeface="Times New Roman"/>
                <a:cs typeface="Times New Roman"/>
              </a:rPr>
              <a:t>from</a:t>
            </a:r>
            <a:r>
              <a:rPr sz="1800" spc="-105" dirty="0">
                <a:solidFill>
                  <a:srgbClr val="404040"/>
                </a:solidFill>
                <a:latin typeface="Times New Roman"/>
                <a:cs typeface="Times New Roman"/>
              </a:rPr>
              <a:t> </a:t>
            </a:r>
            <a:r>
              <a:rPr sz="1800" dirty="0">
                <a:solidFill>
                  <a:srgbClr val="404040"/>
                </a:solidFill>
                <a:latin typeface="Times New Roman"/>
                <a:cs typeface="Times New Roman"/>
              </a:rPr>
              <a:t>A</a:t>
            </a:r>
            <a:r>
              <a:rPr sz="1800" spc="-110" dirty="0">
                <a:solidFill>
                  <a:srgbClr val="404040"/>
                </a:solidFill>
                <a:latin typeface="Times New Roman"/>
                <a:cs typeface="Times New Roman"/>
              </a:rPr>
              <a:t> </a:t>
            </a:r>
            <a:r>
              <a:rPr sz="1800" dirty="0">
                <a:solidFill>
                  <a:srgbClr val="404040"/>
                </a:solidFill>
                <a:latin typeface="Times New Roman"/>
                <a:cs typeface="Times New Roman"/>
              </a:rPr>
              <a:t>to</a:t>
            </a:r>
            <a:r>
              <a:rPr sz="1800" spc="-20" dirty="0">
                <a:solidFill>
                  <a:srgbClr val="404040"/>
                </a:solidFill>
                <a:latin typeface="Times New Roman"/>
                <a:cs typeface="Times New Roman"/>
              </a:rPr>
              <a:t> </a:t>
            </a:r>
            <a:r>
              <a:rPr sz="1800" dirty="0">
                <a:solidFill>
                  <a:srgbClr val="404040"/>
                </a:solidFill>
                <a:latin typeface="Times New Roman"/>
                <a:cs typeface="Times New Roman"/>
              </a:rPr>
              <a:t>B</a:t>
            </a:r>
            <a:r>
              <a:rPr sz="1800" spc="-15" dirty="0">
                <a:solidFill>
                  <a:srgbClr val="404040"/>
                </a:solidFill>
                <a:latin typeface="Times New Roman"/>
                <a:cs typeface="Times New Roman"/>
              </a:rPr>
              <a:t> </a:t>
            </a:r>
            <a:r>
              <a:rPr sz="1800" dirty="0">
                <a:solidFill>
                  <a:srgbClr val="404040"/>
                </a:solidFill>
                <a:latin typeface="Times New Roman"/>
                <a:cs typeface="Times New Roman"/>
              </a:rPr>
              <a:t>is</a:t>
            </a:r>
            <a:r>
              <a:rPr sz="1800" spc="-15" dirty="0">
                <a:solidFill>
                  <a:srgbClr val="404040"/>
                </a:solidFill>
                <a:latin typeface="Times New Roman"/>
                <a:cs typeface="Times New Roman"/>
              </a:rPr>
              <a:t> </a:t>
            </a:r>
            <a:r>
              <a:rPr sz="1800" dirty="0">
                <a:solidFill>
                  <a:srgbClr val="404040"/>
                </a:solidFill>
                <a:latin typeface="Times New Roman"/>
                <a:cs typeface="Times New Roman"/>
              </a:rPr>
              <a:t>the</a:t>
            </a:r>
            <a:r>
              <a:rPr sz="1800" spc="-15" dirty="0">
                <a:solidFill>
                  <a:srgbClr val="404040"/>
                </a:solidFill>
                <a:latin typeface="Times New Roman"/>
                <a:cs typeface="Times New Roman"/>
              </a:rPr>
              <a:t> </a:t>
            </a:r>
            <a:r>
              <a:rPr sz="1800" dirty="0">
                <a:solidFill>
                  <a:srgbClr val="404040"/>
                </a:solidFill>
                <a:latin typeface="Times New Roman"/>
                <a:cs typeface="Times New Roman"/>
              </a:rPr>
              <a:t>set</a:t>
            </a:r>
            <a:r>
              <a:rPr sz="1800" spc="-15" dirty="0">
                <a:solidFill>
                  <a:srgbClr val="404040"/>
                </a:solidFill>
                <a:latin typeface="Times New Roman"/>
                <a:cs typeface="Times New Roman"/>
              </a:rPr>
              <a:t> </a:t>
            </a:r>
            <a:r>
              <a:rPr sz="1800" dirty="0">
                <a:solidFill>
                  <a:srgbClr val="404040"/>
                </a:solidFill>
                <a:latin typeface="Times New Roman"/>
                <a:cs typeface="Times New Roman"/>
              </a:rPr>
              <a:t>of</a:t>
            </a:r>
            <a:r>
              <a:rPr sz="1800" spc="-15" dirty="0">
                <a:solidFill>
                  <a:srgbClr val="404040"/>
                </a:solidFill>
                <a:latin typeface="Times New Roman"/>
                <a:cs typeface="Times New Roman"/>
              </a:rPr>
              <a:t> </a:t>
            </a:r>
            <a:r>
              <a:rPr sz="1800" dirty="0">
                <a:solidFill>
                  <a:srgbClr val="404040"/>
                </a:solidFill>
                <a:latin typeface="Times New Roman"/>
                <a:cs typeface="Times New Roman"/>
              </a:rPr>
              <a:t>all</a:t>
            </a:r>
            <a:r>
              <a:rPr sz="1800" spc="-15" dirty="0">
                <a:solidFill>
                  <a:srgbClr val="404040"/>
                </a:solidFill>
                <a:latin typeface="Times New Roman"/>
                <a:cs typeface="Times New Roman"/>
              </a:rPr>
              <a:t> </a:t>
            </a:r>
            <a:r>
              <a:rPr sz="1800" spc="-10" dirty="0">
                <a:solidFill>
                  <a:srgbClr val="404040"/>
                </a:solidFill>
                <a:latin typeface="Times New Roman"/>
                <a:cs typeface="Times New Roman"/>
              </a:rPr>
              <a:t>first</a:t>
            </a:r>
            <a:endParaRPr sz="1800">
              <a:latin typeface="Times New Roman"/>
              <a:cs typeface="Times New Roman"/>
            </a:endParaRPr>
          </a:p>
        </p:txBody>
      </p:sp>
      <p:sp>
        <p:nvSpPr>
          <p:cNvPr id="4" name="object 4"/>
          <p:cNvSpPr txBox="1"/>
          <p:nvPr/>
        </p:nvSpPr>
        <p:spPr>
          <a:xfrm>
            <a:off x="2060194" y="2377185"/>
            <a:ext cx="4081779"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404040"/>
                </a:solidFill>
                <a:latin typeface="Times New Roman"/>
                <a:cs typeface="Times New Roman"/>
              </a:rPr>
              <a:t>the</a:t>
            </a:r>
            <a:r>
              <a:rPr sz="1800" spc="-40" dirty="0">
                <a:solidFill>
                  <a:srgbClr val="404040"/>
                </a:solidFill>
                <a:latin typeface="Times New Roman"/>
                <a:cs typeface="Times New Roman"/>
              </a:rPr>
              <a:t> </a:t>
            </a:r>
            <a:r>
              <a:rPr sz="1800" dirty="0">
                <a:solidFill>
                  <a:srgbClr val="404040"/>
                </a:solidFill>
                <a:latin typeface="Times New Roman"/>
                <a:cs typeface="Times New Roman"/>
              </a:rPr>
              <a:t>ordered</a:t>
            </a:r>
            <a:r>
              <a:rPr sz="1800" spc="-30" dirty="0">
                <a:solidFill>
                  <a:srgbClr val="404040"/>
                </a:solidFill>
                <a:latin typeface="Times New Roman"/>
                <a:cs typeface="Times New Roman"/>
              </a:rPr>
              <a:t> </a:t>
            </a:r>
            <a:r>
              <a:rPr sz="1800" dirty="0">
                <a:solidFill>
                  <a:srgbClr val="404040"/>
                </a:solidFill>
                <a:latin typeface="Times New Roman"/>
                <a:cs typeface="Times New Roman"/>
              </a:rPr>
              <a:t>pairs</a:t>
            </a:r>
            <a:r>
              <a:rPr sz="1800" spc="-30" dirty="0">
                <a:solidFill>
                  <a:srgbClr val="404040"/>
                </a:solidFill>
                <a:latin typeface="Times New Roman"/>
                <a:cs typeface="Times New Roman"/>
              </a:rPr>
              <a:t> </a:t>
            </a:r>
            <a:r>
              <a:rPr sz="1800" dirty="0">
                <a:solidFill>
                  <a:srgbClr val="404040"/>
                </a:solidFill>
                <a:latin typeface="Times New Roman"/>
                <a:cs typeface="Times New Roman"/>
              </a:rPr>
              <a:t>which</a:t>
            </a:r>
            <a:r>
              <a:rPr sz="1800" spc="-30" dirty="0">
                <a:solidFill>
                  <a:srgbClr val="404040"/>
                </a:solidFill>
                <a:latin typeface="Times New Roman"/>
                <a:cs typeface="Times New Roman"/>
              </a:rPr>
              <a:t> </a:t>
            </a:r>
            <a:r>
              <a:rPr sz="1800" dirty="0">
                <a:solidFill>
                  <a:srgbClr val="404040"/>
                </a:solidFill>
                <a:latin typeface="Times New Roman"/>
                <a:cs typeface="Times New Roman"/>
              </a:rPr>
              <a:t>belong</a:t>
            </a:r>
            <a:r>
              <a:rPr sz="1800" spc="-30" dirty="0">
                <a:solidFill>
                  <a:srgbClr val="404040"/>
                </a:solidFill>
                <a:latin typeface="Times New Roman"/>
                <a:cs typeface="Times New Roman"/>
              </a:rPr>
              <a:t> </a:t>
            </a:r>
            <a:r>
              <a:rPr sz="1800" dirty="0">
                <a:solidFill>
                  <a:srgbClr val="404040"/>
                </a:solidFill>
                <a:latin typeface="Times New Roman"/>
                <a:cs typeface="Times New Roman"/>
              </a:rPr>
              <a:t>to</a:t>
            </a:r>
            <a:r>
              <a:rPr sz="1800" spc="-30" dirty="0">
                <a:solidFill>
                  <a:srgbClr val="404040"/>
                </a:solidFill>
                <a:latin typeface="Times New Roman"/>
                <a:cs typeface="Times New Roman"/>
              </a:rPr>
              <a:t> </a:t>
            </a:r>
            <a:r>
              <a:rPr sz="1800" dirty="0">
                <a:solidFill>
                  <a:srgbClr val="404040"/>
                </a:solidFill>
                <a:latin typeface="Times New Roman"/>
                <a:cs typeface="Times New Roman"/>
              </a:rPr>
              <a:t>R</a:t>
            </a:r>
            <a:r>
              <a:rPr sz="1800" spc="-25" dirty="0">
                <a:solidFill>
                  <a:srgbClr val="404040"/>
                </a:solidFill>
                <a:latin typeface="Times New Roman"/>
                <a:cs typeface="Times New Roman"/>
              </a:rPr>
              <a:t> </a:t>
            </a:r>
            <a:r>
              <a:rPr sz="1800" spc="-10" dirty="0">
                <a:solidFill>
                  <a:srgbClr val="404040"/>
                </a:solidFill>
                <a:latin typeface="Times New Roman"/>
                <a:cs typeface="Times New Roman"/>
              </a:rPr>
              <a:t>denoted</a:t>
            </a:r>
            <a:endParaRPr sz="1800">
              <a:latin typeface="Times New Roman"/>
              <a:cs typeface="Times New Roman"/>
            </a:endParaRPr>
          </a:p>
        </p:txBody>
      </p:sp>
      <p:sp>
        <p:nvSpPr>
          <p:cNvPr id="5" name="object 5"/>
          <p:cNvSpPr txBox="1"/>
          <p:nvPr/>
        </p:nvSpPr>
        <p:spPr>
          <a:xfrm>
            <a:off x="688340" y="2377185"/>
            <a:ext cx="1358265" cy="975994"/>
          </a:xfrm>
          <a:prstGeom prst="rect">
            <a:avLst/>
          </a:prstGeom>
        </p:spPr>
        <p:txBody>
          <a:bodyPr vert="horz" wrap="square" lIns="0" tIns="12700" rIns="0" bIns="0" rtlCol="0">
            <a:spAutoFit/>
          </a:bodyPr>
          <a:lstStyle/>
          <a:p>
            <a:pPr marL="12700" marR="276860">
              <a:lnSpc>
                <a:spcPct val="100000"/>
              </a:lnSpc>
              <a:spcBef>
                <a:spcPts val="100"/>
              </a:spcBef>
            </a:pPr>
            <a:r>
              <a:rPr sz="1800" dirty="0">
                <a:solidFill>
                  <a:srgbClr val="404040"/>
                </a:solidFill>
                <a:latin typeface="Times New Roman"/>
                <a:cs typeface="Times New Roman"/>
              </a:rPr>
              <a:t>elements</a:t>
            </a:r>
            <a:r>
              <a:rPr sz="1800" spc="-70" dirty="0">
                <a:solidFill>
                  <a:srgbClr val="404040"/>
                </a:solidFill>
                <a:latin typeface="Times New Roman"/>
                <a:cs typeface="Times New Roman"/>
              </a:rPr>
              <a:t> </a:t>
            </a:r>
            <a:r>
              <a:rPr sz="1800" spc="-25" dirty="0">
                <a:solidFill>
                  <a:srgbClr val="404040"/>
                </a:solidFill>
                <a:latin typeface="Times New Roman"/>
                <a:cs typeface="Times New Roman"/>
              </a:rPr>
              <a:t>of </a:t>
            </a:r>
            <a:r>
              <a:rPr sz="1800" spc="-10" dirty="0">
                <a:solidFill>
                  <a:srgbClr val="404040"/>
                </a:solidFill>
                <a:latin typeface="Times New Roman"/>
                <a:cs typeface="Times New Roman"/>
              </a:rPr>
              <a:t>Dom(R).</a:t>
            </a:r>
            <a:endParaRPr sz="1800">
              <a:latin typeface="Times New Roman"/>
              <a:cs typeface="Times New Roman"/>
            </a:endParaRPr>
          </a:p>
          <a:p>
            <a:pPr marL="12700">
              <a:lnSpc>
                <a:spcPct val="100000"/>
              </a:lnSpc>
              <a:spcBef>
                <a:spcPts val="1000"/>
              </a:spcBef>
            </a:pPr>
            <a:r>
              <a:rPr sz="1800" b="1" spc="-10" dirty="0">
                <a:solidFill>
                  <a:srgbClr val="001F5F"/>
                </a:solidFill>
                <a:latin typeface="Times New Roman"/>
                <a:cs typeface="Times New Roman"/>
              </a:rPr>
              <a:t>Symbolically:</a:t>
            </a:r>
            <a:endParaRPr sz="1800">
              <a:latin typeface="Times New Roman"/>
              <a:cs typeface="Times New Roman"/>
            </a:endParaRPr>
          </a:p>
        </p:txBody>
      </p:sp>
      <p:sp>
        <p:nvSpPr>
          <p:cNvPr id="6" name="object 6"/>
          <p:cNvSpPr txBox="1"/>
          <p:nvPr/>
        </p:nvSpPr>
        <p:spPr>
          <a:xfrm>
            <a:off x="688340" y="3330079"/>
            <a:ext cx="5987415" cy="2304415"/>
          </a:xfrm>
          <a:prstGeom prst="rect">
            <a:avLst/>
          </a:prstGeom>
        </p:spPr>
        <p:txBody>
          <a:bodyPr vert="horz" wrap="square" lIns="0" tIns="137795" rIns="0" bIns="0" rtlCol="0">
            <a:spAutoFit/>
          </a:bodyPr>
          <a:lstStyle/>
          <a:p>
            <a:pPr marL="927100">
              <a:lnSpc>
                <a:spcPct val="100000"/>
              </a:lnSpc>
              <a:spcBef>
                <a:spcPts val="1085"/>
              </a:spcBef>
            </a:pPr>
            <a:r>
              <a:rPr sz="1800" b="1" dirty="0">
                <a:solidFill>
                  <a:srgbClr val="00AFEF"/>
                </a:solidFill>
                <a:latin typeface="Times New Roman"/>
                <a:cs typeface="Times New Roman"/>
              </a:rPr>
              <a:t>Dom</a:t>
            </a:r>
            <a:r>
              <a:rPr sz="1800" b="1" spc="-20" dirty="0">
                <a:solidFill>
                  <a:srgbClr val="00AFEF"/>
                </a:solidFill>
                <a:latin typeface="Times New Roman"/>
                <a:cs typeface="Times New Roman"/>
              </a:rPr>
              <a:t> </a:t>
            </a:r>
            <a:r>
              <a:rPr sz="1800" b="1" dirty="0">
                <a:solidFill>
                  <a:srgbClr val="00AFEF"/>
                </a:solidFill>
                <a:latin typeface="Times New Roman"/>
                <a:cs typeface="Times New Roman"/>
              </a:rPr>
              <a:t>(R)</a:t>
            </a:r>
            <a:r>
              <a:rPr sz="1800" b="1" spc="-20" dirty="0">
                <a:solidFill>
                  <a:srgbClr val="00AFEF"/>
                </a:solidFill>
                <a:latin typeface="Times New Roman"/>
                <a:cs typeface="Times New Roman"/>
              </a:rPr>
              <a:t> </a:t>
            </a:r>
            <a:r>
              <a:rPr sz="1800" b="1" dirty="0">
                <a:solidFill>
                  <a:srgbClr val="00AFEF"/>
                </a:solidFill>
                <a:latin typeface="Times New Roman"/>
                <a:cs typeface="Times New Roman"/>
              </a:rPr>
              <a:t>=</a:t>
            </a:r>
            <a:r>
              <a:rPr sz="1800" b="1" spc="-15" dirty="0">
                <a:solidFill>
                  <a:srgbClr val="00AFEF"/>
                </a:solidFill>
                <a:latin typeface="Times New Roman"/>
                <a:cs typeface="Times New Roman"/>
              </a:rPr>
              <a:t> </a:t>
            </a:r>
            <a:r>
              <a:rPr sz="1800" b="1" dirty="0">
                <a:solidFill>
                  <a:srgbClr val="00AFEF"/>
                </a:solidFill>
                <a:latin typeface="Times New Roman"/>
                <a:cs typeface="Times New Roman"/>
              </a:rPr>
              <a:t>{a</a:t>
            </a:r>
            <a:r>
              <a:rPr sz="1800" b="1" spc="-20" dirty="0">
                <a:solidFill>
                  <a:srgbClr val="00AFEF"/>
                </a:solidFill>
                <a:latin typeface="Times New Roman"/>
                <a:cs typeface="Times New Roman"/>
              </a:rPr>
              <a:t> </a:t>
            </a:r>
            <a:r>
              <a:rPr sz="1800" dirty="0">
                <a:solidFill>
                  <a:srgbClr val="00AFEF"/>
                </a:solidFill>
                <a:latin typeface="Symbol"/>
                <a:cs typeface="Symbol"/>
              </a:rPr>
              <a:t></a:t>
            </a:r>
            <a:r>
              <a:rPr sz="1800" b="1" dirty="0">
                <a:solidFill>
                  <a:srgbClr val="00AFEF"/>
                </a:solidFill>
                <a:latin typeface="Times New Roman"/>
                <a:cs typeface="Times New Roman"/>
              </a:rPr>
              <a:t>A|</a:t>
            </a:r>
            <a:r>
              <a:rPr sz="1800" b="1" spc="-20" dirty="0">
                <a:solidFill>
                  <a:srgbClr val="00AFEF"/>
                </a:solidFill>
                <a:latin typeface="Times New Roman"/>
                <a:cs typeface="Times New Roman"/>
              </a:rPr>
              <a:t> </a:t>
            </a:r>
            <a:r>
              <a:rPr sz="1800" b="1" dirty="0">
                <a:solidFill>
                  <a:srgbClr val="00AFEF"/>
                </a:solidFill>
                <a:latin typeface="Times New Roman"/>
                <a:cs typeface="Times New Roman"/>
              </a:rPr>
              <a:t>(a,b)</a:t>
            </a:r>
            <a:r>
              <a:rPr sz="1800" b="1" spc="-15" dirty="0">
                <a:solidFill>
                  <a:srgbClr val="00AFEF"/>
                </a:solidFill>
                <a:latin typeface="Times New Roman"/>
                <a:cs typeface="Times New Roman"/>
              </a:rPr>
              <a:t> </a:t>
            </a:r>
            <a:r>
              <a:rPr sz="1800" spc="-25" dirty="0">
                <a:solidFill>
                  <a:srgbClr val="00AFEF"/>
                </a:solidFill>
                <a:latin typeface="Symbol"/>
                <a:cs typeface="Symbol"/>
              </a:rPr>
              <a:t></a:t>
            </a:r>
            <a:r>
              <a:rPr sz="1800" b="1" spc="-25" dirty="0">
                <a:solidFill>
                  <a:srgbClr val="00AFEF"/>
                </a:solidFill>
                <a:latin typeface="Times New Roman"/>
                <a:cs typeface="Times New Roman"/>
              </a:rPr>
              <a:t>R}</a:t>
            </a:r>
            <a:endParaRPr sz="1800" dirty="0">
              <a:latin typeface="Times New Roman"/>
              <a:cs typeface="Times New Roman"/>
            </a:endParaRPr>
          </a:p>
          <a:p>
            <a:pPr marL="12700">
              <a:lnSpc>
                <a:spcPct val="100000"/>
              </a:lnSpc>
              <a:spcBef>
                <a:spcPts val="990"/>
              </a:spcBef>
            </a:pPr>
            <a:r>
              <a:rPr sz="1800" b="1" u="sng" dirty="0">
                <a:solidFill>
                  <a:srgbClr val="6F2F9F"/>
                </a:solidFill>
                <a:uFill>
                  <a:solidFill>
                    <a:srgbClr val="6F2F9F"/>
                  </a:solidFill>
                </a:uFill>
                <a:latin typeface="Times New Roman"/>
                <a:cs typeface="Times New Roman"/>
              </a:rPr>
              <a:t>RANGE</a:t>
            </a:r>
            <a:r>
              <a:rPr sz="1800" b="1" u="sng" spc="-10" dirty="0">
                <a:solidFill>
                  <a:srgbClr val="6F2F9F"/>
                </a:solidFill>
                <a:uFill>
                  <a:solidFill>
                    <a:srgbClr val="6F2F9F"/>
                  </a:solidFill>
                </a:uFill>
                <a:latin typeface="Times New Roman"/>
                <a:cs typeface="Times New Roman"/>
              </a:rPr>
              <a:t> </a:t>
            </a:r>
            <a:r>
              <a:rPr sz="1800" b="1" u="sng" dirty="0">
                <a:solidFill>
                  <a:srgbClr val="6F2F9F"/>
                </a:solidFill>
                <a:uFill>
                  <a:solidFill>
                    <a:srgbClr val="6F2F9F"/>
                  </a:solidFill>
                </a:uFill>
                <a:latin typeface="Times New Roman"/>
                <a:cs typeface="Times New Roman"/>
              </a:rPr>
              <a:t>OF</a:t>
            </a:r>
            <a:r>
              <a:rPr sz="1800" b="1" u="sng" spc="-170" dirty="0">
                <a:solidFill>
                  <a:srgbClr val="6F2F9F"/>
                </a:solidFill>
                <a:uFill>
                  <a:solidFill>
                    <a:srgbClr val="6F2F9F"/>
                  </a:solidFill>
                </a:uFill>
                <a:latin typeface="Times New Roman"/>
                <a:cs typeface="Times New Roman"/>
              </a:rPr>
              <a:t> </a:t>
            </a:r>
            <a:r>
              <a:rPr sz="1800" b="1" u="sng" dirty="0">
                <a:solidFill>
                  <a:srgbClr val="6F2F9F"/>
                </a:solidFill>
                <a:uFill>
                  <a:solidFill>
                    <a:srgbClr val="6F2F9F"/>
                  </a:solidFill>
                </a:uFill>
                <a:latin typeface="Times New Roman"/>
                <a:cs typeface="Times New Roman"/>
              </a:rPr>
              <a:t>A</a:t>
            </a:r>
            <a:r>
              <a:rPr sz="1800" b="1" u="sng" spc="-105" dirty="0">
                <a:solidFill>
                  <a:srgbClr val="6F2F9F"/>
                </a:solidFill>
                <a:uFill>
                  <a:solidFill>
                    <a:srgbClr val="6F2F9F"/>
                  </a:solidFill>
                </a:uFill>
                <a:latin typeface="Times New Roman"/>
                <a:cs typeface="Times New Roman"/>
              </a:rPr>
              <a:t> </a:t>
            </a:r>
            <a:r>
              <a:rPr sz="1800" b="1" u="sng" spc="-10" dirty="0">
                <a:solidFill>
                  <a:srgbClr val="6F2F9F"/>
                </a:solidFill>
                <a:uFill>
                  <a:solidFill>
                    <a:srgbClr val="6F2F9F"/>
                  </a:solidFill>
                </a:uFill>
                <a:latin typeface="Times New Roman"/>
                <a:cs typeface="Times New Roman"/>
              </a:rPr>
              <a:t>RELATION:</a:t>
            </a:r>
            <a:endParaRPr sz="1800" dirty="0">
              <a:latin typeface="Times New Roman"/>
              <a:cs typeface="Times New Roman"/>
            </a:endParaRPr>
          </a:p>
          <a:p>
            <a:pPr marL="12700" marR="5080">
              <a:lnSpc>
                <a:spcPct val="100000"/>
              </a:lnSpc>
              <a:spcBef>
                <a:spcPts val="1005"/>
              </a:spcBef>
            </a:pPr>
            <a:r>
              <a:rPr sz="1800" dirty="0">
                <a:solidFill>
                  <a:srgbClr val="404040"/>
                </a:solidFill>
                <a:latin typeface="Times New Roman"/>
                <a:cs typeface="Times New Roman"/>
              </a:rPr>
              <a:t>The</a:t>
            </a:r>
            <a:r>
              <a:rPr sz="1800" spc="-25" dirty="0">
                <a:solidFill>
                  <a:srgbClr val="404040"/>
                </a:solidFill>
                <a:latin typeface="Times New Roman"/>
                <a:cs typeface="Times New Roman"/>
              </a:rPr>
              <a:t> </a:t>
            </a:r>
            <a:r>
              <a:rPr sz="1800" dirty="0">
                <a:solidFill>
                  <a:srgbClr val="404040"/>
                </a:solidFill>
                <a:latin typeface="Times New Roman"/>
                <a:cs typeface="Times New Roman"/>
              </a:rPr>
              <a:t>range</a:t>
            </a:r>
            <a:r>
              <a:rPr sz="1800" spc="-15" dirty="0">
                <a:solidFill>
                  <a:srgbClr val="404040"/>
                </a:solidFill>
                <a:latin typeface="Times New Roman"/>
                <a:cs typeface="Times New Roman"/>
              </a:rPr>
              <a:t> </a:t>
            </a:r>
            <a:r>
              <a:rPr sz="1800" dirty="0">
                <a:solidFill>
                  <a:srgbClr val="404040"/>
                </a:solidFill>
                <a:latin typeface="Times New Roman"/>
                <a:cs typeface="Times New Roman"/>
              </a:rPr>
              <a:t>of</a:t>
            </a:r>
            <a:r>
              <a:rPr sz="1800" spc="-105" dirty="0">
                <a:solidFill>
                  <a:srgbClr val="404040"/>
                </a:solidFill>
                <a:latin typeface="Times New Roman"/>
                <a:cs typeface="Times New Roman"/>
              </a:rPr>
              <a:t> </a:t>
            </a:r>
            <a:r>
              <a:rPr sz="1800" dirty="0">
                <a:solidFill>
                  <a:srgbClr val="404040"/>
                </a:solidFill>
                <a:latin typeface="Times New Roman"/>
                <a:cs typeface="Times New Roman"/>
              </a:rPr>
              <a:t>A</a:t>
            </a:r>
            <a:r>
              <a:rPr sz="1800" spc="-110" dirty="0">
                <a:solidFill>
                  <a:srgbClr val="404040"/>
                </a:solidFill>
                <a:latin typeface="Times New Roman"/>
                <a:cs typeface="Times New Roman"/>
              </a:rPr>
              <a:t> </a:t>
            </a:r>
            <a:r>
              <a:rPr sz="1800" dirty="0">
                <a:solidFill>
                  <a:srgbClr val="404040"/>
                </a:solidFill>
                <a:latin typeface="Times New Roman"/>
                <a:cs typeface="Times New Roman"/>
              </a:rPr>
              <a:t>relation</a:t>
            </a:r>
            <a:r>
              <a:rPr sz="1800" spc="-10" dirty="0">
                <a:solidFill>
                  <a:srgbClr val="404040"/>
                </a:solidFill>
                <a:latin typeface="Times New Roman"/>
                <a:cs typeface="Times New Roman"/>
              </a:rPr>
              <a:t> </a:t>
            </a:r>
            <a:r>
              <a:rPr sz="1800" dirty="0">
                <a:solidFill>
                  <a:srgbClr val="404040"/>
                </a:solidFill>
                <a:latin typeface="Times New Roman"/>
                <a:cs typeface="Times New Roman"/>
              </a:rPr>
              <a:t>R</a:t>
            </a:r>
            <a:r>
              <a:rPr sz="1800" spc="-15" dirty="0">
                <a:solidFill>
                  <a:srgbClr val="404040"/>
                </a:solidFill>
                <a:latin typeface="Times New Roman"/>
                <a:cs typeface="Times New Roman"/>
              </a:rPr>
              <a:t> </a:t>
            </a:r>
            <a:r>
              <a:rPr sz="1800" spc="-10" dirty="0">
                <a:solidFill>
                  <a:srgbClr val="404040"/>
                </a:solidFill>
                <a:latin typeface="Times New Roman"/>
                <a:cs typeface="Times New Roman"/>
              </a:rPr>
              <a:t>from</a:t>
            </a:r>
            <a:r>
              <a:rPr sz="1800" spc="-105" dirty="0">
                <a:solidFill>
                  <a:srgbClr val="404040"/>
                </a:solidFill>
                <a:latin typeface="Times New Roman"/>
                <a:cs typeface="Times New Roman"/>
              </a:rPr>
              <a:t> </a:t>
            </a:r>
            <a:r>
              <a:rPr sz="1800" dirty="0">
                <a:solidFill>
                  <a:srgbClr val="404040"/>
                </a:solidFill>
                <a:latin typeface="Times New Roman"/>
                <a:cs typeface="Times New Roman"/>
              </a:rPr>
              <a:t>A</a:t>
            </a:r>
            <a:r>
              <a:rPr sz="1800" spc="-110" dirty="0">
                <a:solidFill>
                  <a:srgbClr val="404040"/>
                </a:solidFill>
                <a:latin typeface="Times New Roman"/>
                <a:cs typeface="Times New Roman"/>
              </a:rPr>
              <a:t> </a:t>
            </a:r>
            <a:r>
              <a:rPr sz="1800" dirty="0">
                <a:solidFill>
                  <a:srgbClr val="404040"/>
                </a:solidFill>
                <a:latin typeface="Times New Roman"/>
                <a:cs typeface="Times New Roman"/>
              </a:rPr>
              <a:t>to</a:t>
            </a:r>
            <a:r>
              <a:rPr sz="1800" spc="-15" dirty="0">
                <a:solidFill>
                  <a:srgbClr val="404040"/>
                </a:solidFill>
                <a:latin typeface="Times New Roman"/>
                <a:cs typeface="Times New Roman"/>
              </a:rPr>
              <a:t> </a:t>
            </a:r>
            <a:r>
              <a:rPr sz="1800" dirty="0">
                <a:solidFill>
                  <a:srgbClr val="404040"/>
                </a:solidFill>
                <a:latin typeface="Times New Roman"/>
                <a:cs typeface="Times New Roman"/>
              </a:rPr>
              <a:t>B</a:t>
            </a:r>
            <a:r>
              <a:rPr sz="1800" spc="-15" dirty="0">
                <a:solidFill>
                  <a:srgbClr val="404040"/>
                </a:solidFill>
                <a:latin typeface="Times New Roman"/>
                <a:cs typeface="Times New Roman"/>
              </a:rPr>
              <a:t> </a:t>
            </a:r>
            <a:r>
              <a:rPr sz="1800" dirty="0">
                <a:solidFill>
                  <a:srgbClr val="404040"/>
                </a:solidFill>
                <a:latin typeface="Times New Roman"/>
                <a:cs typeface="Times New Roman"/>
              </a:rPr>
              <a:t>is</a:t>
            </a:r>
            <a:r>
              <a:rPr sz="1800" spc="-10" dirty="0">
                <a:solidFill>
                  <a:srgbClr val="404040"/>
                </a:solidFill>
                <a:latin typeface="Times New Roman"/>
                <a:cs typeface="Times New Roman"/>
              </a:rPr>
              <a:t> </a:t>
            </a:r>
            <a:r>
              <a:rPr sz="1800" dirty="0">
                <a:solidFill>
                  <a:srgbClr val="404040"/>
                </a:solidFill>
                <a:latin typeface="Times New Roman"/>
                <a:cs typeface="Times New Roman"/>
              </a:rPr>
              <a:t>the</a:t>
            </a:r>
            <a:r>
              <a:rPr sz="1800" spc="-15" dirty="0">
                <a:solidFill>
                  <a:srgbClr val="404040"/>
                </a:solidFill>
                <a:latin typeface="Times New Roman"/>
                <a:cs typeface="Times New Roman"/>
              </a:rPr>
              <a:t> </a:t>
            </a:r>
            <a:r>
              <a:rPr sz="1800" dirty="0">
                <a:solidFill>
                  <a:srgbClr val="404040"/>
                </a:solidFill>
                <a:latin typeface="Times New Roman"/>
                <a:cs typeface="Times New Roman"/>
              </a:rPr>
              <a:t>set</a:t>
            </a:r>
            <a:r>
              <a:rPr sz="1800" spc="-15" dirty="0">
                <a:solidFill>
                  <a:srgbClr val="404040"/>
                </a:solidFill>
                <a:latin typeface="Times New Roman"/>
                <a:cs typeface="Times New Roman"/>
              </a:rPr>
              <a:t> </a:t>
            </a:r>
            <a:r>
              <a:rPr sz="1800" dirty="0">
                <a:solidFill>
                  <a:srgbClr val="404040"/>
                </a:solidFill>
                <a:latin typeface="Times New Roman"/>
                <a:cs typeface="Times New Roman"/>
              </a:rPr>
              <a:t>of</a:t>
            </a:r>
            <a:r>
              <a:rPr sz="1800" spc="-15" dirty="0">
                <a:solidFill>
                  <a:srgbClr val="404040"/>
                </a:solidFill>
                <a:latin typeface="Times New Roman"/>
                <a:cs typeface="Times New Roman"/>
              </a:rPr>
              <a:t> </a:t>
            </a:r>
            <a:r>
              <a:rPr sz="1800" dirty="0">
                <a:solidFill>
                  <a:srgbClr val="404040"/>
                </a:solidFill>
                <a:latin typeface="Times New Roman"/>
                <a:cs typeface="Times New Roman"/>
              </a:rPr>
              <a:t>all</a:t>
            </a:r>
            <a:r>
              <a:rPr sz="1800" spc="-10" dirty="0">
                <a:solidFill>
                  <a:srgbClr val="404040"/>
                </a:solidFill>
                <a:latin typeface="Times New Roman"/>
                <a:cs typeface="Times New Roman"/>
              </a:rPr>
              <a:t> second </a:t>
            </a:r>
            <a:r>
              <a:rPr sz="1800" dirty="0">
                <a:solidFill>
                  <a:srgbClr val="404040"/>
                </a:solidFill>
                <a:latin typeface="Times New Roman"/>
                <a:cs typeface="Times New Roman"/>
              </a:rPr>
              <a:t>elements</a:t>
            </a:r>
            <a:r>
              <a:rPr sz="1800" spc="-35" dirty="0">
                <a:solidFill>
                  <a:srgbClr val="404040"/>
                </a:solidFill>
                <a:latin typeface="Times New Roman"/>
                <a:cs typeface="Times New Roman"/>
              </a:rPr>
              <a:t> </a:t>
            </a:r>
            <a:r>
              <a:rPr sz="1800" dirty="0">
                <a:solidFill>
                  <a:srgbClr val="404040"/>
                </a:solidFill>
                <a:latin typeface="Times New Roman"/>
                <a:cs typeface="Times New Roman"/>
              </a:rPr>
              <a:t>of</a:t>
            </a:r>
            <a:r>
              <a:rPr sz="1800" spc="-35" dirty="0">
                <a:solidFill>
                  <a:srgbClr val="404040"/>
                </a:solidFill>
                <a:latin typeface="Times New Roman"/>
                <a:cs typeface="Times New Roman"/>
              </a:rPr>
              <a:t> </a:t>
            </a:r>
            <a:r>
              <a:rPr sz="1800" dirty="0">
                <a:solidFill>
                  <a:srgbClr val="404040"/>
                </a:solidFill>
                <a:latin typeface="Times New Roman"/>
                <a:cs typeface="Times New Roman"/>
              </a:rPr>
              <a:t>the</a:t>
            </a:r>
            <a:r>
              <a:rPr sz="1800" spc="-35" dirty="0">
                <a:solidFill>
                  <a:srgbClr val="404040"/>
                </a:solidFill>
                <a:latin typeface="Times New Roman"/>
                <a:cs typeface="Times New Roman"/>
              </a:rPr>
              <a:t> </a:t>
            </a:r>
            <a:r>
              <a:rPr sz="1800" dirty="0">
                <a:solidFill>
                  <a:srgbClr val="404040"/>
                </a:solidFill>
                <a:latin typeface="Times New Roman"/>
                <a:cs typeface="Times New Roman"/>
              </a:rPr>
              <a:t>ordered</a:t>
            </a:r>
            <a:r>
              <a:rPr sz="1800" spc="-35" dirty="0">
                <a:solidFill>
                  <a:srgbClr val="404040"/>
                </a:solidFill>
                <a:latin typeface="Times New Roman"/>
                <a:cs typeface="Times New Roman"/>
              </a:rPr>
              <a:t> </a:t>
            </a:r>
            <a:r>
              <a:rPr sz="1800" dirty="0">
                <a:solidFill>
                  <a:srgbClr val="404040"/>
                </a:solidFill>
                <a:latin typeface="Times New Roman"/>
                <a:cs typeface="Times New Roman"/>
              </a:rPr>
              <a:t>pairs</a:t>
            </a:r>
            <a:r>
              <a:rPr sz="1800" spc="-35" dirty="0">
                <a:solidFill>
                  <a:srgbClr val="404040"/>
                </a:solidFill>
                <a:latin typeface="Times New Roman"/>
                <a:cs typeface="Times New Roman"/>
              </a:rPr>
              <a:t> </a:t>
            </a:r>
            <a:r>
              <a:rPr sz="1800" dirty="0">
                <a:solidFill>
                  <a:srgbClr val="404040"/>
                </a:solidFill>
                <a:latin typeface="Times New Roman"/>
                <a:cs typeface="Times New Roman"/>
              </a:rPr>
              <a:t>which</a:t>
            </a:r>
            <a:r>
              <a:rPr sz="1800" spc="-35" dirty="0">
                <a:solidFill>
                  <a:srgbClr val="404040"/>
                </a:solidFill>
                <a:latin typeface="Times New Roman"/>
                <a:cs typeface="Times New Roman"/>
              </a:rPr>
              <a:t> </a:t>
            </a:r>
            <a:r>
              <a:rPr sz="1800" dirty="0">
                <a:solidFill>
                  <a:srgbClr val="404040"/>
                </a:solidFill>
                <a:latin typeface="Times New Roman"/>
                <a:cs typeface="Times New Roman"/>
              </a:rPr>
              <a:t>belong</a:t>
            </a:r>
            <a:r>
              <a:rPr sz="1800" spc="-35" dirty="0">
                <a:solidFill>
                  <a:srgbClr val="404040"/>
                </a:solidFill>
                <a:latin typeface="Times New Roman"/>
                <a:cs typeface="Times New Roman"/>
              </a:rPr>
              <a:t> </a:t>
            </a:r>
            <a:r>
              <a:rPr sz="1800" dirty="0">
                <a:solidFill>
                  <a:srgbClr val="404040"/>
                </a:solidFill>
                <a:latin typeface="Times New Roman"/>
                <a:cs typeface="Times New Roman"/>
              </a:rPr>
              <a:t>to</a:t>
            </a:r>
            <a:r>
              <a:rPr sz="1800" spc="-35" dirty="0">
                <a:solidFill>
                  <a:srgbClr val="404040"/>
                </a:solidFill>
                <a:latin typeface="Times New Roman"/>
                <a:cs typeface="Times New Roman"/>
              </a:rPr>
              <a:t> </a:t>
            </a:r>
            <a:r>
              <a:rPr sz="1800" dirty="0">
                <a:solidFill>
                  <a:srgbClr val="404040"/>
                </a:solidFill>
                <a:latin typeface="Times New Roman"/>
                <a:cs typeface="Times New Roman"/>
              </a:rPr>
              <a:t>R</a:t>
            </a:r>
            <a:r>
              <a:rPr sz="1800" spc="-35" dirty="0">
                <a:solidFill>
                  <a:srgbClr val="404040"/>
                </a:solidFill>
                <a:latin typeface="Times New Roman"/>
                <a:cs typeface="Times New Roman"/>
              </a:rPr>
              <a:t> </a:t>
            </a:r>
            <a:r>
              <a:rPr sz="1800" dirty="0">
                <a:solidFill>
                  <a:srgbClr val="404040"/>
                </a:solidFill>
                <a:latin typeface="Times New Roman"/>
                <a:cs typeface="Times New Roman"/>
              </a:rPr>
              <a:t>denoted</a:t>
            </a:r>
            <a:r>
              <a:rPr sz="1800" spc="-35" dirty="0">
                <a:solidFill>
                  <a:srgbClr val="404040"/>
                </a:solidFill>
                <a:latin typeface="Times New Roman"/>
                <a:cs typeface="Times New Roman"/>
              </a:rPr>
              <a:t> </a:t>
            </a:r>
            <a:r>
              <a:rPr sz="1800" spc="-10" dirty="0">
                <a:solidFill>
                  <a:srgbClr val="404040"/>
                </a:solidFill>
                <a:latin typeface="Times New Roman"/>
                <a:cs typeface="Times New Roman"/>
              </a:rPr>
              <a:t>Ran(R).</a:t>
            </a:r>
            <a:endParaRPr sz="1800" dirty="0">
              <a:latin typeface="Times New Roman"/>
              <a:cs typeface="Times New Roman"/>
            </a:endParaRPr>
          </a:p>
          <a:p>
            <a:pPr marL="12700">
              <a:lnSpc>
                <a:spcPct val="100000"/>
              </a:lnSpc>
              <a:spcBef>
                <a:spcPts val="1000"/>
              </a:spcBef>
            </a:pPr>
            <a:r>
              <a:rPr sz="1800" b="1" spc="-10" dirty="0">
                <a:solidFill>
                  <a:srgbClr val="001F5F"/>
                </a:solidFill>
                <a:latin typeface="Times New Roman"/>
                <a:cs typeface="Times New Roman"/>
              </a:rPr>
              <a:t>Symbolically:</a:t>
            </a:r>
            <a:endParaRPr sz="1800" dirty="0">
              <a:latin typeface="Times New Roman"/>
              <a:cs typeface="Times New Roman"/>
            </a:endParaRPr>
          </a:p>
          <a:p>
            <a:pPr marL="927100">
              <a:lnSpc>
                <a:spcPct val="100000"/>
              </a:lnSpc>
              <a:spcBef>
                <a:spcPts val="1005"/>
              </a:spcBef>
            </a:pPr>
            <a:r>
              <a:rPr sz="1800" b="1" dirty="0">
                <a:solidFill>
                  <a:srgbClr val="00AFEF"/>
                </a:solidFill>
                <a:latin typeface="Times New Roman"/>
                <a:cs typeface="Times New Roman"/>
              </a:rPr>
              <a:t>Ran(R)</a:t>
            </a:r>
            <a:r>
              <a:rPr sz="1800" b="1" spc="-20" dirty="0">
                <a:solidFill>
                  <a:srgbClr val="00AFEF"/>
                </a:solidFill>
                <a:latin typeface="Times New Roman"/>
                <a:cs typeface="Times New Roman"/>
              </a:rPr>
              <a:t> </a:t>
            </a:r>
            <a:r>
              <a:rPr sz="1800" b="1" dirty="0">
                <a:solidFill>
                  <a:srgbClr val="00AFEF"/>
                </a:solidFill>
                <a:latin typeface="Times New Roman"/>
                <a:cs typeface="Times New Roman"/>
              </a:rPr>
              <a:t>=</a:t>
            </a:r>
            <a:r>
              <a:rPr sz="1800" b="1" spc="-20" dirty="0">
                <a:solidFill>
                  <a:srgbClr val="00AFEF"/>
                </a:solidFill>
                <a:latin typeface="Times New Roman"/>
                <a:cs typeface="Times New Roman"/>
              </a:rPr>
              <a:t> </a:t>
            </a:r>
            <a:r>
              <a:rPr sz="1800" b="1" dirty="0">
                <a:solidFill>
                  <a:srgbClr val="00AFEF"/>
                </a:solidFill>
                <a:latin typeface="Times New Roman"/>
                <a:cs typeface="Times New Roman"/>
              </a:rPr>
              <a:t>{b</a:t>
            </a:r>
            <a:r>
              <a:rPr sz="1800" b="1" spc="-35" dirty="0">
                <a:solidFill>
                  <a:srgbClr val="00AFEF"/>
                </a:solidFill>
                <a:latin typeface="Times New Roman"/>
                <a:cs typeface="Times New Roman"/>
              </a:rPr>
              <a:t> </a:t>
            </a:r>
            <a:r>
              <a:rPr sz="1800" dirty="0">
                <a:solidFill>
                  <a:srgbClr val="00AFEF"/>
                </a:solidFill>
                <a:latin typeface="Symbol"/>
                <a:cs typeface="Symbol"/>
              </a:rPr>
              <a:t></a:t>
            </a:r>
            <a:r>
              <a:rPr sz="1800" b="1" dirty="0">
                <a:solidFill>
                  <a:srgbClr val="00AFEF"/>
                </a:solidFill>
                <a:latin typeface="Times New Roman"/>
                <a:cs typeface="Times New Roman"/>
              </a:rPr>
              <a:t>B|(a,b)</a:t>
            </a:r>
            <a:r>
              <a:rPr sz="1800" b="1" spc="-15" dirty="0">
                <a:solidFill>
                  <a:srgbClr val="00AFEF"/>
                </a:solidFill>
                <a:latin typeface="Times New Roman"/>
                <a:cs typeface="Times New Roman"/>
              </a:rPr>
              <a:t> </a:t>
            </a:r>
            <a:r>
              <a:rPr sz="1800" dirty="0">
                <a:solidFill>
                  <a:srgbClr val="00AFEF"/>
                </a:solidFill>
                <a:latin typeface="Symbol"/>
                <a:cs typeface="Symbol"/>
              </a:rPr>
              <a:t></a:t>
            </a:r>
            <a:r>
              <a:rPr sz="1800" spc="-15" dirty="0">
                <a:solidFill>
                  <a:srgbClr val="00AFEF"/>
                </a:solidFill>
                <a:latin typeface="Times New Roman"/>
                <a:cs typeface="Times New Roman"/>
              </a:rPr>
              <a:t> </a:t>
            </a:r>
            <a:r>
              <a:rPr sz="1800" b="1" spc="-25" dirty="0">
                <a:solidFill>
                  <a:srgbClr val="00AFEF"/>
                </a:solidFill>
                <a:latin typeface="Times New Roman"/>
                <a:cs typeface="Times New Roman"/>
              </a:rPr>
              <a:t>R}</a:t>
            </a:r>
            <a:endParaRPr sz="1800" dirty="0">
              <a:latin typeface="Times New Roman"/>
              <a:cs typeface="Times New Roman"/>
            </a:endParaRPr>
          </a:p>
        </p:txBody>
      </p:sp>
      <p:sp>
        <p:nvSpPr>
          <p:cNvPr id="10" name="TextBox 9">
            <a:extLst>
              <a:ext uri="{FF2B5EF4-FFF2-40B4-BE49-F238E27FC236}">
                <a16:creationId xmlns:a16="http://schemas.microsoft.com/office/drawing/2014/main" id="{AF97E720-77C3-A261-DC0C-7B4FC0DCA828}"/>
              </a:ext>
            </a:extLst>
          </p:cNvPr>
          <p:cNvSpPr txBox="1"/>
          <p:nvPr/>
        </p:nvSpPr>
        <p:spPr>
          <a:xfrm>
            <a:off x="688340" y="5759410"/>
            <a:ext cx="6550660" cy="923330"/>
          </a:xfrm>
          <a:prstGeom prst="rect">
            <a:avLst/>
          </a:prstGeom>
          <a:noFill/>
        </p:spPr>
        <p:txBody>
          <a:bodyPr wrap="square">
            <a:spAutoFit/>
          </a:bodyPr>
          <a:lstStyle/>
          <a:p>
            <a:r>
              <a:rPr lang="en-US" b="1" dirty="0">
                <a:solidFill>
                  <a:srgbClr val="CC0066"/>
                </a:solidFill>
              </a:rPr>
              <a:t>If: R = {(1,2),(1,3),(2,3)}</a:t>
            </a:r>
          </a:p>
          <a:p>
            <a:r>
              <a:rPr lang="en-US" b="1" dirty="0">
                <a:solidFill>
                  <a:srgbClr val="0070C0"/>
                </a:solidFill>
              </a:rPr>
              <a:t>Domain: </a:t>
            </a:r>
            <a:r>
              <a:rPr lang="en-US" dirty="0">
                <a:solidFill>
                  <a:srgbClr val="0070C0"/>
                </a:solidFill>
              </a:rPr>
              <a:t>All first elements, </a:t>
            </a:r>
            <a:r>
              <a:rPr lang="en-US" b="1" dirty="0">
                <a:solidFill>
                  <a:srgbClr val="00B050"/>
                </a:solidFill>
              </a:rPr>
              <a:t>Dom(R) = {1,2}</a:t>
            </a:r>
          </a:p>
          <a:p>
            <a:r>
              <a:rPr lang="en-US" b="1" dirty="0">
                <a:solidFill>
                  <a:srgbClr val="0070C0"/>
                </a:solidFill>
              </a:rPr>
              <a:t>Range: </a:t>
            </a:r>
            <a:r>
              <a:rPr lang="en-US" dirty="0">
                <a:solidFill>
                  <a:srgbClr val="0070C0"/>
                </a:solidFill>
              </a:rPr>
              <a:t>All second elements, </a:t>
            </a:r>
            <a:r>
              <a:rPr lang="en-US" b="1" dirty="0">
                <a:solidFill>
                  <a:srgbClr val="00B050"/>
                </a:solidFill>
              </a:rPr>
              <a:t>Ran(R) = {2,3}</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62860" y="175260"/>
            <a:ext cx="2403475" cy="574675"/>
          </a:xfrm>
          <a:prstGeom prst="rect">
            <a:avLst/>
          </a:prstGeom>
        </p:spPr>
        <p:txBody>
          <a:bodyPr vert="horz" wrap="square" lIns="0" tIns="12700" rIns="0" bIns="0" rtlCol="0">
            <a:spAutoFit/>
          </a:bodyPr>
          <a:lstStyle/>
          <a:p>
            <a:pPr marL="12700">
              <a:lnSpc>
                <a:spcPct val="100000"/>
              </a:lnSpc>
              <a:spcBef>
                <a:spcPts val="100"/>
              </a:spcBef>
            </a:pPr>
            <a:r>
              <a:rPr dirty="0"/>
              <a:t>EXAMPLE</a:t>
            </a:r>
            <a:r>
              <a:rPr spc="-15" dirty="0"/>
              <a:t> </a:t>
            </a:r>
            <a:r>
              <a:rPr spc="-50" dirty="0"/>
              <a:t>D</a:t>
            </a:r>
          </a:p>
        </p:txBody>
      </p:sp>
      <p:sp>
        <p:nvSpPr>
          <p:cNvPr id="3" name="object 3"/>
          <p:cNvSpPr txBox="1"/>
          <p:nvPr/>
        </p:nvSpPr>
        <p:spPr>
          <a:xfrm>
            <a:off x="154939" y="943102"/>
            <a:ext cx="7465061" cy="4711546"/>
          </a:xfrm>
          <a:prstGeom prst="rect">
            <a:avLst/>
          </a:prstGeom>
        </p:spPr>
        <p:txBody>
          <a:bodyPr vert="horz" wrap="square" lIns="0" tIns="12700" rIns="0" bIns="0" rtlCol="0">
            <a:spAutoFit/>
          </a:bodyPr>
          <a:lstStyle/>
          <a:p>
            <a:pPr marL="12700" marR="5080">
              <a:lnSpc>
                <a:spcPct val="100000"/>
              </a:lnSpc>
              <a:spcBef>
                <a:spcPts val="100"/>
              </a:spcBef>
              <a:tabLst>
                <a:tab pos="501650" algn="l"/>
              </a:tabLst>
            </a:pPr>
            <a:r>
              <a:rPr sz="1800" b="1" spc="-25" dirty="0">
                <a:latin typeface="Times New Roman"/>
                <a:cs typeface="Times New Roman"/>
              </a:rPr>
              <a:t>Let</a:t>
            </a:r>
            <a:r>
              <a:rPr sz="1800" b="1" dirty="0">
                <a:latin typeface="Times New Roman"/>
                <a:cs typeface="Times New Roman"/>
              </a:rPr>
              <a:t>	A</a:t>
            </a:r>
            <a:r>
              <a:rPr sz="1800" b="1" spc="-114" dirty="0">
                <a:latin typeface="Times New Roman"/>
                <a:cs typeface="Times New Roman"/>
              </a:rPr>
              <a:t> </a:t>
            </a:r>
            <a:r>
              <a:rPr sz="1800" b="1" dirty="0">
                <a:latin typeface="Times New Roman"/>
                <a:cs typeface="Times New Roman"/>
              </a:rPr>
              <a:t>=</a:t>
            </a:r>
            <a:r>
              <a:rPr sz="1800" b="1" spc="-20" dirty="0">
                <a:latin typeface="Times New Roman"/>
                <a:cs typeface="Times New Roman"/>
              </a:rPr>
              <a:t> </a:t>
            </a:r>
            <a:r>
              <a:rPr sz="1800" b="1" dirty="0">
                <a:latin typeface="Times New Roman"/>
                <a:cs typeface="Times New Roman"/>
              </a:rPr>
              <a:t>{1,</a:t>
            </a:r>
            <a:r>
              <a:rPr sz="1800" b="1" spc="-10" dirty="0">
                <a:latin typeface="Times New Roman"/>
                <a:cs typeface="Times New Roman"/>
              </a:rPr>
              <a:t> </a:t>
            </a:r>
            <a:r>
              <a:rPr sz="1800" b="1" dirty="0">
                <a:latin typeface="Times New Roman"/>
                <a:cs typeface="Times New Roman"/>
              </a:rPr>
              <a:t>2},</a:t>
            </a:r>
            <a:r>
              <a:rPr sz="1800" b="1" spc="-15" dirty="0">
                <a:latin typeface="Times New Roman"/>
                <a:cs typeface="Times New Roman"/>
              </a:rPr>
              <a:t> </a:t>
            </a:r>
            <a:r>
              <a:rPr sz="1800" b="1" dirty="0">
                <a:latin typeface="Times New Roman"/>
                <a:cs typeface="Times New Roman"/>
              </a:rPr>
              <a:t>B</a:t>
            </a:r>
            <a:r>
              <a:rPr sz="1800" b="1" spc="-10" dirty="0">
                <a:latin typeface="Times New Roman"/>
                <a:cs typeface="Times New Roman"/>
              </a:rPr>
              <a:t> </a:t>
            </a:r>
            <a:r>
              <a:rPr sz="1800" b="1" dirty="0">
                <a:latin typeface="Times New Roman"/>
                <a:cs typeface="Times New Roman"/>
              </a:rPr>
              <a:t>=</a:t>
            </a:r>
            <a:r>
              <a:rPr sz="1800" b="1" spc="-15" dirty="0">
                <a:latin typeface="Times New Roman"/>
                <a:cs typeface="Times New Roman"/>
              </a:rPr>
              <a:t> </a:t>
            </a:r>
            <a:r>
              <a:rPr sz="1800" b="1" dirty="0">
                <a:latin typeface="Times New Roman"/>
                <a:cs typeface="Times New Roman"/>
              </a:rPr>
              <a:t>{1,</a:t>
            </a:r>
            <a:r>
              <a:rPr sz="1800" b="1" spc="-5" dirty="0">
                <a:latin typeface="Times New Roman"/>
                <a:cs typeface="Times New Roman"/>
              </a:rPr>
              <a:t> </a:t>
            </a:r>
            <a:r>
              <a:rPr sz="1800" b="1" dirty="0">
                <a:latin typeface="Times New Roman"/>
                <a:cs typeface="Times New Roman"/>
              </a:rPr>
              <a:t>2,</a:t>
            </a:r>
            <a:r>
              <a:rPr sz="1800" b="1" spc="-15" dirty="0">
                <a:latin typeface="Times New Roman"/>
                <a:cs typeface="Times New Roman"/>
              </a:rPr>
              <a:t> </a:t>
            </a:r>
            <a:r>
              <a:rPr sz="1800" b="1" dirty="0">
                <a:latin typeface="Times New Roman"/>
                <a:cs typeface="Times New Roman"/>
              </a:rPr>
              <a:t>3},</a:t>
            </a:r>
            <a:r>
              <a:rPr sz="1800" b="1" spc="-5" dirty="0">
                <a:latin typeface="Times New Roman"/>
                <a:cs typeface="Times New Roman"/>
              </a:rPr>
              <a:t> </a:t>
            </a:r>
            <a:r>
              <a:rPr sz="1800" b="1" dirty="0">
                <a:latin typeface="Times New Roman"/>
                <a:cs typeface="Times New Roman"/>
              </a:rPr>
              <a:t>Define</a:t>
            </a:r>
            <a:r>
              <a:rPr sz="1800" b="1" spc="-15" dirty="0">
                <a:latin typeface="Times New Roman"/>
                <a:cs typeface="Times New Roman"/>
              </a:rPr>
              <a:t> </a:t>
            </a:r>
            <a:r>
              <a:rPr sz="1800" b="1" dirty="0">
                <a:latin typeface="Times New Roman"/>
                <a:cs typeface="Times New Roman"/>
              </a:rPr>
              <a:t>a</a:t>
            </a:r>
            <a:r>
              <a:rPr sz="1800" b="1" spc="-10" dirty="0">
                <a:latin typeface="Times New Roman"/>
                <a:cs typeface="Times New Roman"/>
              </a:rPr>
              <a:t> </a:t>
            </a:r>
            <a:r>
              <a:rPr sz="1800" b="1" dirty="0">
                <a:latin typeface="Times New Roman"/>
                <a:cs typeface="Times New Roman"/>
              </a:rPr>
              <a:t>binary</a:t>
            </a:r>
            <a:r>
              <a:rPr sz="1800" b="1" spc="-10" dirty="0">
                <a:latin typeface="Times New Roman"/>
                <a:cs typeface="Times New Roman"/>
              </a:rPr>
              <a:t> </a:t>
            </a:r>
            <a:r>
              <a:rPr sz="1800" b="1" dirty="0">
                <a:latin typeface="Times New Roman"/>
                <a:cs typeface="Times New Roman"/>
              </a:rPr>
              <a:t>relation</a:t>
            </a:r>
            <a:r>
              <a:rPr sz="1800" b="1" spc="-15" dirty="0">
                <a:latin typeface="Times New Roman"/>
                <a:cs typeface="Times New Roman"/>
              </a:rPr>
              <a:t> </a:t>
            </a:r>
            <a:r>
              <a:rPr sz="1800" b="1" dirty="0">
                <a:latin typeface="Times New Roman"/>
                <a:cs typeface="Times New Roman"/>
              </a:rPr>
              <a:t>R</a:t>
            </a:r>
            <a:r>
              <a:rPr sz="1800" b="1" spc="-10" dirty="0">
                <a:latin typeface="Times New Roman"/>
                <a:cs typeface="Times New Roman"/>
              </a:rPr>
              <a:t> </a:t>
            </a:r>
            <a:r>
              <a:rPr sz="1800" b="1" spc="-25" dirty="0">
                <a:latin typeface="Times New Roman"/>
                <a:cs typeface="Times New Roman"/>
              </a:rPr>
              <a:t>from</a:t>
            </a:r>
            <a:r>
              <a:rPr sz="1800" b="1" spc="-105" dirty="0">
                <a:latin typeface="Times New Roman"/>
                <a:cs typeface="Times New Roman"/>
              </a:rPr>
              <a:t> </a:t>
            </a:r>
            <a:r>
              <a:rPr sz="1800" b="1" dirty="0">
                <a:latin typeface="Times New Roman"/>
                <a:cs typeface="Times New Roman"/>
              </a:rPr>
              <a:t>A</a:t>
            </a:r>
            <a:r>
              <a:rPr sz="1800" b="1" spc="-110" dirty="0">
                <a:latin typeface="Times New Roman"/>
                <a:cs typeface="Times New Roman"/>
              </a:rPr>
              <a:t> </a:t>
            </a:r>
            <a:r>
              <a:rPr sz="1800" b="1" dirty="0">
                <a:latin typeface="Times New Roman"/>
                <a:cs typeface="Times New Roman"/>
              </a:rPr>
              <a:t>to</a:t>
            </a:r>
            <a:r>
              <a:rPr sz="1800" b="1" spc="-15" dirty="0">
                <a:latin typeface="Times New Roman"/>
                <a:cs typeface="Times New Roman"/>
              </a:rPr>
              <a:t> </a:t>
            </a:r>
            <a:r>
              <a:rPr sz="1800" b="1" spc="-50" dirty="0">
                <a:latin typeface="Times New Roman"/>
                <a:cs typeface="Times New Roman"/>
              </a:rPr>
              <a:t>B </a:t>
            </a:r>
            <a:r>
              <a:rPr sz="1800" b="1" dirty="0">
                <a:latin typeface="Times New Roman"/>
                <a:cs typeface="Times New Roman"/>
              </a:rPr>
              <a:t>as</a:t>
            </a:r>
            <a:r>
              <a:rPr sz="1800" b="1" spc="-5" dirty="0">
                <a:latin typeface="Times New Roman"/>
                <a:cs typeface="Times New Roman"/>
              </a:rPr>
              <a:t> </a:t>
            </a:r>
            <a:r>
              <a:rPr sz="1800" b="1" dirty="0">
                <a:latin typeface="Times New Roman"/>
                <a:cs typeface="Times New Roman"/>
              </a:rPr>
              <a:t>follows:</a:t>
            </a:r>
            <a:r>
              <a:rPr sz="1800" b="1" spc="25" dirty="0">
                <a:latin typeface="Times New Roman"/>
                <a:cs typeface="Times New Roman"/>
              </a:rPr>
              <a:t>  </a:t>
            </a:r>
            <a:r>
              <a:rPr sz="1800" b="1" dirty="0">
                <a:latin typeface="Times New Roman"/>
                <a:cs typeface="Times New Roman"/>
              </a:rPr>
              <a:t>R = {(a,</a:t>
            </a:r>
            <a:r>
              <a:rPr sz="1800" b="1" spc="-5" dirty="0">
                <a:latin typeface="Times New Roman"/>
                <a:cs typeface="Times New Roman"/>
              </a:rPr>
              <a:t> </a:t>
            </a:r>
            <a:r>
              <a:rPr sz="1800" b="1" dirty="0">
                <a:latin typeface="Times New Roman"/>
                <a:cs typeface="Times New Roman"/>
              </a:rPr>
              <a:t>b)</a:t>
            </a:r>
            <a:r>
              <a:rPr sz="1800" b="1" spc="5" dirty="0">
                <a:latin typeface="Times New Roman"/>
                <a:cs typeface="Times New Roman"/>
              </a:rPr>
              <a:t> </a:t>
            </a:r>
            <a:r>
              <a:rPr sz="1800" spc="-20" dirty="0">
                <a:latin typeface="Symbol"/>
                <a:cs typeface="Symbol"/>
              </a:rPr>
              <a:t></a:t>
            </a:r>
            <a:r>
              <a:rPr sz="1800" b="1" spc="-20" dirty="0">
                <a:latin typeface="Times New Roman"/>
                <a:cs typeface="Times New Roman"/>
              </a:rPr>
              <a:t>A</a:t>
            </a:r>
            <a:r>
              <a:rPr sz="1800" b="1" spc="-105" dirty="0">
                <a:latin typeface="Times New Roman"/>
                <a:cs typeface="Times New Roman"/>
              </a:rPr>
              <a:t> </a:t>
            </a:r>
            <a:r>
              <a:rPr sz="1800" dirty="0">
                <a:latin typeface="Symbol"/>
                <a:cs typeface="Symbol"/>
              </a:rPr>
              <a:t></a:t>
            </a:r>
            <a:r>
              <a:rPr sz="1800" spc="-5" dirty="0">
                <a:latin typeface="Times New Roman"/>
                <a:cs typeface="Times New Roman"/>
              </a:rPr>
              <a:t> </a:t>
            </a:r>
            <a:r>
              <a:rPr sz="1800" b="1" dirty="0">
                <a:latin typeface="Times New Roman"/>
                <a:cs typeface="Times New Roman"/>
              </a:rPr>
              <a:t>B | a</a:t>
            </a:r>
            <a:r>
              <a:rPr sz="1800" b="1" spc="-5" dirty="0">
                <a:latin typeface="Times New Roman"/>
                <a:cs typeface="Times New Roman"/>
              </a:rPr>
              <a:t> </a:t>
            </a:r>
            <a:r>
              <a:rPr sz="1800" b="1" dirty="0">
                <a:latin typeface="Times New Roman"/>
                <a:cs typeface="Times New Roman"/>
              </a:rPr>
              <a:t>&lt; </a:t>
            </a:r>
            <a:r>
              <a:rPr sz="1800" b="1" spc="-25" dirty="0">
                <a:latin typeface="Times New Roman"/>
                <a:cs typeface="Times New Roman"/>
              </a:rPr>
              <a:t>b}</a:t>
            </a:r>
            <a:endParaRPr sz="1800" dirty="0">
              <a:latin typeface="Times New Roman"/>
              <a:cs typeface="Times New Roman"/>
            </a:endParaRPr>
          </a:p>
          <a:p>
            <a:pPr marL="12700">
              <a:lnSpc>
                <a:spcPct val="100000"/>
              </a:lnSpc>
            </a:pPr>
            <a:r>
              <a:rPr sz="1800" b="1" spc="-20" dirty="0">
                <a:latin typeface="Times New Roman"/>
                <a:cs typeface="Times New Roman"/>
              </a:rPr>
              <a:t>Then</a:t>
            </a:r>
            <a:endParaRPr sz="1800" dirty="0">
              <a:latin typeface="Times New Roman"/>
              <a:cs typeface="Times New Roman"/>
            </a:endParaRPr>
          </a:p>
          <a:p>
            <a:pPr marL="641350" indent="-174625">
              <a:lnSpc>
                <a:spcPct val="100000"/>
              </a:lnSpc>
              <a:buSzPct val="94444"/>
              <a:buAutoNum type="alphaLcPeriod"/>
              <a:tabLst>
                <a:tab pos="641350" algn="l"/>
              </a:tabLst>
            </a:pPr>
            <a:r>
              <a:rPr sz="1800" b="1" dirty="0">
                <a:latin typeface="Times New Roman"/>
                <a:cs typeface="Times New Roman"/>
              </a:rPr>
              <a:t>Find</a:t>
            </a:r>
            <a:r>
              <a:rPr sz="1800" b="1" spc="-25" dirty="0">
                <a:latin typeface="Times New Roman"/>
                <a:cs typeface="Times New Roman"/>
              </a:rPr>
              <a:t> </a:t>
            </a:r>
            <a:r>
              <a:rPr sz="1800" b="1" dirty="0">
                <a:latin typeface="Times New Roman"/>
                <a:cs typeface="Times New Roman"/>
              </a:rPr>
              <a:t>the</a:t>
            </a:r>
            <a:r>
              <a:rPr sz="1800" b="1" spc="-20" dirty="0">
                <a:latin typeface="Times New Roman"/>
                <a:cs typeface="Times New Roman"/>
              </a:rPr>
              <a:t> </a:t>
            </a:r>
            <a:r>
              <a:rPr sz="1800" b="1" dirty="0">
                <a:latin typeface="Times New Roman"/>
                <a:cs typeface="Times New Roman"/>
              </a:rPr>
              <a:t>ordered</a:t>
            </a:r>
            <a:r>
              <a:rPr sz="1800" b="1" spc="-20" dirty="0">
                <a:latin typeface="Times New Roman"/>
                <a:cs typeface="Times New Roman"/>
              </a:rPr>
              <a:t> </a:t>
            </a:r>
            <a:r>
              <a:rPr sz="1800" b="1" dirty="0">
                <a:latin typeface="Times New Roman"/>
                <a:cs typeface="Times New Roman"/>
              </a:rPr>
              <a:t>pairs</a:t>
            </a:r>
            <a:r>
              <a:rPr sz="1800" b="1" spc="-20" dirty="0">
                <a:latin typeface="Times New Roman"/>
                <a:cs typeface="Times New Roman"/>
              </a:rPr>
              <a:t> </a:t>
            </a:r>
            <a:r>
              <a:rPr sz="1800" b="1" dirty="0">
                <a:latin typeface="Times New Roman"/>
                <a:cs typeface="Times New Roman"/>
              </a:rPr>
              <a:t>in</a:t>
            </a:r>
            <a:r>
              <a:rPr sz="1800" b="1" spc="-20" dirty="0">
                <a:latin typeface="Times New Roman"/>
                <a:cs typeface="Times New Roman"/>
              </a:rPr>
              <a:t> </a:t>
            </a:r>
            <a:r>
              <a:rPr sz="1800" b="1" spc="-25" dirty="0">
                <a:latin typeface="Times New Roman"/>
                <a:cs typeface="Times New Roman"/>
              </a:rPr>
              <a:t>R.</a:t>
            </a:r>
            <a:endParaRPr sz="1800" dirty="0">
              <a:latin typeface="Times New Roman"/>
              <a:cs typeface="Times New Roman"/>
            </a:endParaRPr>
          </a:p>
          <a:p>
            <a:pPr marL="653415" indent="-187325">
              <a:lnSpc>
                <a:spcPct val="100000"/>
              </a:lnSpc>
              <a:buSzPct val="94444"/>
              <a:buAutoNum type="alphaLcPeriod"/>
              <a:tabLst>
                <a:tab pos="653415" algn="l"/>
              </a:tabLst>
            </a:pPr>
            <a:r>
              <a:rPr sz="1800" b="1" dirty="0">
                <a:latin typeface="Times New Roman"/>
                <a:cs typeface="Times New Roman"/>
              </a:rPr>
              <a:t>Find</a:t>
            </a:r>
            <a:r>
              <a:rPr sz="1800" b="1" spc="-10" dirty="0">
                <a:latin typeface="Times New Roman"/>
                <a:cs typeface="Times New Roman"/>
              </a:rPr>
              <a:t> </a:t>
            </a:r>
            <a:r>
              <a:rPr sz="1800" b="1" dirty="0">
                <a:latin typeface="Times New Roman"/>
                <a:cs typeface="Times New Roman"/>
              </a:rPr>
              <a:t>the</a:t>
            </a:r>
            <a:r>
              <a:rPr sz="1800" b="1" spc="-5" dirty="0">
                <a:latin typeface="Times New Roman"/>
                <a:cs typeface="Times New Roman"/>
              </a:rPr>
              <a:t> </a:t>
            </a:r>
            <a:r>
              <a:rPr sz="1800" b="1" dirty="0">
                <a:latin typeface="Times New Roman"/>
                <a:cs typeface="Times New Roman"/>
              </a:rPr>
              <a:t>Domain</a:t>
            </a:r>
            <a:r>
              <a:rPr sz="1800" b="1" spc="-5" dirty="0">
                <a:latin typeface="Times New Roman"/>
                <a:cs typeface="Times New Roman"/>
              </a:rPr>
              <a:t> </a:t>
            </a:r>
            <a:r>
              <a:rPr sz="1800" b="1" dirty="0">
                <a:latin typeface="Times New Roman"/>
                <a:cs typeface="Times New Roman"/>
              </a:rPr>
              <a:t>and</a:t>
            </a:r>
            <a:r>
              <a:rPr sz="1800" b="1" spc="-10" dirty="0">
                <a:latin typeface="Times New Roman"/>
                <a:cs typeface="Times New Roman"/>
              </a:rPr>
              <a:t> </a:t>
            </a:r>
            <a:r>
              <a:rPr sz="1800" b="1" dirty="0">
                <a:latin typeface="Times New Roman"/>
                <a:cs typeface="Times New Roman"/>
              </a:rPr>
              <a:t>Range</a:t>
            </a:r>
            <a:r>
              <a:rPr sz="1800" b="1" spc="-5" dirty="0">
                <a:latin typeface="Times New Roman"/>
                <a:cs typeface="Times New Roman"/>
              </a:rPr>
              <a:t> </a:t>
            </a:r>
            <a:r>
              <a:rPr sz="1800" b="1" dirty="0">
                <a:latin typeface="Times New Roman"/>
                <a:cs typeface="Times New Roman"/>
              </a:rPr>
              <a:t>of</a:t>
            </a:r>
            <a:r>
              <a:rPr sz="1800" b="1" spc="-5" dirty="0">
                <a:latin typeface="Times New Roman"/>
                <a:cs typeface="Times New Roman"/>
              </a:rPr>
              <a:t> </a:t>
            </a:r>
            <a:r>
              <a:rPr sz="1800" b="1" spc="-25" dirty="0">
                <a:latin typeface="Times New Roman"/>
                <a:cs typeface="Times New Roman"/>
              </a:rPr>
              <a:t>R.</a:t>
            </a:r>
            <a:endParaRPr sz="1800" dirty="0">
              <a:latin typeface="Times New Roman"/>
              <a:cs typeface="Times New Roman"/>
            </a:endParaRPr>
          </a:p>
          <a:p>
            <a:pPr marL="627380" indent="-161925">
              <a:lnSpc>
                <a:spcPct val="100000"/>
              </a:lnSpc>
              <a:buSzPct val="94444"/>
              <a:buAutoNum type="alphaLcPeriod"/>
              <a:tabLst>
                <a:tab pos="627380" algn="l"/>
              </a:tabLst>
            </a:pPr>
            <a:r>
              <a:rPr sz="1800" b="1" dirty="0">
                <a:latin typeface="Times New Roman"/>
                <a:cs typeface="Times New Roman"/>
              </a:rPr>
              <a:t>Is 1R3, </a:t>
            </a:r>
            <a:r>
              <a:rPr sz="1800" b="1" spc="-20" dirty="0">
                <a:latin typeface="Times New Roman"/>
                <a:cs typeface="Times New Roman"/>
              </a:rPr>
              <a:t>2R2?</a:t>
            </a:r>
            <a:endParaRPr sz="1800" dirty="0">
              <a:latin typeface="Times New Roman"/>
              <a:cs typeface="Times New Roman"/>
            </a:endParaRPr>
          </a:p>
          <a:p>
            <a:pPr marL="12700">
              <a:lnSpc>
                <a:spcPct val="100000"/>
              </a:lnSpc>
            </a:pPr>
            <a:r>
              <a:rPr sz="1800" b="1" u="sng" spc="-10" dirty="0">
                <a:solidFill>
                  <a:srgbClr val="6F2F9F"/>
                </a:solidFill>
                <a:uFill>
                  <a:solidFill>
                    <a:srgbClr val="6F2F9F"/>
                  </a:solidFill>
                </a:uFill>
                <a:latin typeface="Times New Roman"/>
                <a:cs typeface="Times New Roman"/>
              </a:rPr>
              <a:t>SOLUTION:</a:t>
            </a:r>
            <a:endParaRPr sz="1800" dirty="0">
              <a:latin typeface="Times New Roman"/>
              <a:cs typeface="Times New Roman"/>
            </a:endParaRPr>
          </a:p>
          <a:p>
            <a:pPr>
              <a:lnSpc>
                <a:spcPct val="100000"/>
              </a:lnSpc>
              <a:spcBef>
                <a:spcPts val="90"/>
              </a:spcBef>
            </a:pPr>
            <a:endParaRPr sz="1800" dirty="0">
              <a:latin typeface="Times New Roman"/>
              <a:cs typeface="Times New Roman"/>
            </a:endParaRPr>
          </a:p>
          <a:p>
            <a:pPr marL="12700">
              <a:lnSpc>
                <a:spcPct val="100000"/>
              </a:lnSpc>
            </a:pPr>
            <a:r>
              <a:rPr sz="1800" dirty="0">
                <a:latin typeface="Times New Roman"/>
                <a:cs typeface="Times New Roman"/>
              </a:rPr>
              <a:t>Given</a:t>
            </a:r>
            <a:r>
              <a:rPr sz="1800" spc="340" dirty="0">
                <a:latin typeface="Times New Roman"/>
                <a:cs typeface="Times New Roman"/>
              </a:rPr>
              <a:t> </a:t>
            </a:r>
            <a:r>
              <a:rPr sz="1800" dirty="0">
                <a:latin typeface="Times New Roman"/>
                <a:cs typeface="Times New Roman"/>
              </a:rPr>
              <a:t>A</a:t>
            </a:r>
            <a:r>
              <a:rPr sz="1800" spc="-100" dirty="0">
                <a:latin typeface="Times New Roman"/>
                <a:cs typeface="Times New Roman"/>
              </a:rPr>
              <a:t> </a:t>
            </a:r>
            <a:r>
              <a:rPr sz="1800" dirty="0">
                <a:latin typeface="Times New Roman"/>
                <a:cs typeface="Times New Roman"/>
              </a:rPr>
              <a:t>=</a:t>
            </a:r>
            <a:r>
              <a:rPr sz="1800" spc="-5" dirty="0">
                <a:latin typeface="Times New Roman"/>
                <a:cs typeface="Times New Roman"/>
              </a:rPr>
              <a:t> </a:t>
            </a:r>
            <a:r>
              <a:rPr sz="1800" dirty="0">
                <a:latin typeface="Times New Roman"/>
                <a:cs typeface="Times New Roman"/>
              </a:rPr>
              <a:t>{1,</a:t>
            </a:r>
            <a:r>
              <a:rPr sz="1800" spc="-15" dirty="0">
                <a:latin typeface="Times New Roman"/>
                <a:cs typeface="Times New Roman"/>
              </a:rPr>
              <a:t> </a:t>
            </a:r>
            <a:r>
              <a:rPr sz="1800" dirty="0">
                <a:latin typeface="Times New Roman"/>
                <a:cs typeface="Times New Roman"/>
              </a:rPr>
              <a:t>2},</a:t>
            </a:r>
            <a:r>
              <a:rPr sz="1800" spc="445" dirty="0">
                <a:latin typeface="Times New Roman"/>
                <a:cs typeface="Times New Roman"/>
              </a:rPr>
              <a:t> </a:t>
            </a:r>
            <a:r>
              <a:rPr sz="1800" dirty="0">
                <a:latin typeface="Times New Roman"/>
                <a:cs typeface="Times New Roman"/>
              </a:rPr>
              <a:t>B</a:t>
            </a:r>
            <a:r>
              <a:rPr sz="1800" spc="-5" dirty="0">
                <a:latin typeface="Times New Roman"/>
                <a:cs typeface="Times New Roman"/>
              </a:rPr>
              <a:t> </a:t>
            </a:r>
            <a:r>
              <a:rPr sz="1800" dirty="0">
                <a:latin typeface="Times New Roman"/>
                <a:cs typeface="Times New Roman"/>
              </a:rPr>
              <a:t>= {1,</a:t>
            </a:r>
            <a:r>
              <a:rPr sz="1800" spc="-5" dirty="0">
                <a:latin typeface="Times New Roman"/>
                <a:cs typeface="Times New Roman"/>
              </a:rPr>
              <a:t> </a:t>
            </a:r>
            <a:r>
              <a:rPr sz="1800" dirty="0">
                <a:latin typeface="Times New Roman"/>
                <a:cs typeface="Times New Roman"/>
              </a:rPr>
              <a:t>2,</a:t>
            </a:r>
            <a:r>
              <a:rPr sz="1800" spc="-5" dirty="0">
                <a:latin typeface="Times New Roman"/>
                <a:cs typeface="Times New Roman"/>
              </a:rPr>
              <a:t> </a:t>
            </a:r>
            <a:r>
              <a:rPr sz="1800" dirty="0">
                <a:latin typeface="Times New Roman"/>
                <a:cs typeface="Times New Roman"/>
              </a:rPr>
              <a:t>3},</a:t>
            </a:r>
            <a:r>
              <a:rPr sz="1800" spc="434" dirty="0">
                <a:latin typeface="Times New Roman"/>
                <a:cs typeface="Times New Roman"/>
              </a:rPr>
              <a:t> </a:t>
            </a:r>
            <a:r>
              <a:rPr sz="1800" spc="-20" dirty="0">
                <a:latin typeface="Times New Roman"/>
                <a:cs typeface="Times New Roman"/>
              </a:rPr>
              <a:t>then</a:t>
            </a:r>
            <a:endParaRPr sz="1800" dirty="0">
              <a:latin typeface="Times New Roman"/>
              <a:cs typeface="Times New Roman"/>
            </a:endParaRPr>
          </a:p>
          <a:p>
            <a:pPr marL="1841500">
              <a:lnSpc>
                <a:spcPct val="100000"/>
              </a:lnSpc>
              <a:spcBef>
                <a:spcPts val="5"/>
              </a:spcBef>
            </a:pPr>
            <a:r>
              <a:rPr sz="1800" spc="-20" dirty="0">
                <a:latin typeface="Times New Roman"/>
                <a:cs typeface="Times New Roman"/>
              </a:rPr>
              <a:t>A</a:t>
            </a:r>
            <a:r>
              <a:rPr sz="1800" spc="-105" dirty="0">
                <a:latin typeface="Times New Roman"/>
                <a:cs typeface="Times New Roman"/>
              </a:rPr>
              <a:t> </a:t>
            </a:r>
            <a:r>
              <a:rPr sz="1800" dirty="0">
                <a:latin typeface="Symbol"/>
                <a:cs typeface="Symbol"/>
              </a:rPr>
              <a:t></a:t>
            </a:r>
            <a:r>
              <a:rPr sz="1800" spc="-30" dirty="0">
                <a:latin typeface="Times New Roman"/>
                <a:cs typeface="Times New Roman"/>
              </a:rPr>
              <a:t> </a:t>
            </a:r>
            <a:r>
              <a:rPr sz="1800" dirty="0">
                <a:latin typeface="Times New Roman"/>
                <a:cs typeface="Times New Roman"/>
              </a:rPr>
              <a:t>B</a:t>
            </a:r>
            <a:r>
              <a:rPr sz="1800" spc="-20" dirty="0">
                <a:latin typeface="Times New Roman"/>
                <a:cs typeface="Times New Roman"/>
              </a:rPr>
              <a:t> </a:t>
            </a:r>
            <a:r>
              <a:rPr sz="1800" dirty="0">
                <a:latin typeface="Times New Roman"/>
                <a:cs typeface="Times New Roman"/>
              </a:rPr>
              <a:t>=</a:t>
            </a:r>
            <a:r>
              <a:rPr sz="1800" spc="-25" dirty="0">
                <a:latin typeface="Times New Roman"/>
                <a:cs typeface="Times New Roman"/>
              </a:rPr>
              <a:t> </a:t>
            </a:r>
            <a:r>
              <a:rPr sz="1800" dirty="0">
                <a:latin typeface="Times New Roman"/>
                <a:cs typeface="Times New Roman"/>
              </a:rPr>
              <a:t>{(1,1),</a:t>
            </a:r>
            <a:r>
              <a:rPr sz="1800" spc="-15" dirty="0">
                <a:latin typeface="Times New Roman"/>
                <a:cs typeface="Times New Roman"/>
              </a:rPr>
              <a:t> </a:t>
            </a:r>
            <a:r>
              <a:rPr sz="1800" dirty="0">
                <a:latin typeface="Times New Roman"/>
                <a:cs typeface="Times New Roman"/>
              </a:rPr>
              <a:t>(1,2),</a:t>
            </a:r>
            <a:r>
              <a:rPr sz="1800" spc="-15" dirty="0">
                <a:latin typeface="Times New Roman"/>
                <a:cs typeface="Times New Roman"/>
              </a:rPr>
              <a:t> </a:t>
            </a:r>
            <a:r>
              <a:rPr sz="1800" dirty="0">
                <a:latin typeface="Times New Roman"/>
                <a:cs typeface="Times New Roman"/>
              </a:rPr>
              <a:t>(1,3),</a:t>
            </a:r>
            <a:r>
              <a:rPr sz="1800" spc="-20" dirty="0">
                <a:latin typeface="Times New Roman"/>
                <a:cs typeface="Times New Roman"/>
              </a:rPr>
              <a:t> </a:t>
            </a:r>
            <a:r>
              <a:rPr sz="1800" dirty="0">
                <a:latin typeface="Times New Roman"/>
                <a:cs typeface="Times New Roman"/>
              </a:rPr>
              <a:t>(2,1),</a:t>
            </a:r>
            <a:r>
              <a:rPr sz="1800" spc="-15" dirty="0">
                <a:latin typeface="Times New Roman"/>
                <a:cs typeface="Times New Roman"/>
              </a:rPr>
              <a:t> </a:t>
            </a:r>
            <a:r>
              <a:rPr sz="1800" dirty="0">
                <a:latin typeface="Times New Roman"/>
                <a:cs typeface="Times New Roman"/>
              </a:rPr>
              <a:t>(2,2),</a:t>
            </a:r>
            <a:r>
              <a:rPr sz="1800" spc="-15" dirty="0">
                <a:latin typeface="Times New Roman"/>
                <a:cs typeface="Times New Roman"/>
              </a:rPr>
              <a:t> </a:t>
            </a:r>
            <a:r>
              <a:rPr sz="1800" spc="-10" dirty="0">
                <a:latin typeface="Times New Roman"/>
                <a:cs typeface="Times New Roman"/>
              </a:rPr>
              <a:t>(2,3)}</a:t>
            </a:r>
            <a:endParaRPr sz="1800" dirty="0">
              <a:latin typeface="Times New Roman"/>
              <a:cs typeface="Times New Roman"/>
            </a:endParaRPr>
          </a:p>
          <a:p>
            <a:pPr marL="232410" indent="-219710">
              <a:lnSpc>
                <a:spcPts val="2155"/>
              </a:lnSpc>
              <a:buSzPct val="88888"/>
              <a:buAutoNum type="alphaLcParenR"/>
              <a:tabLst>
                <a:tab pos="232410" algn="l"/>
              </a:tabLst>
            </a:pPr>
            <a:r>
              <a:rPr sz="1800" b="1" dirty="0">
                <a:solidFill>
                  <a:srgbClr val="00AFEF"/>
                </a:solidFill>
                <a:latin typeface="Times New Roman"/>
                <a:cs typeface="Times New Roman"/>
              </a:rPr>
              <a:t>R</a:t>
            </a:r>
            <a:r>
              <a:rPr sz="1800" b="1" spc="-5" dirty="0">
                <a:solidFill>
                  <a:srgbClr val="00AFEF"/>
                </a:solidFill>
                <a:latin typeface="Times New Roman"/>
                <a:cs typeface="Times New Roman"/>
              </a:rPr>
              <a:t> </a:t>
            </a:r>
            <a:r>
              <a:rPr sz="1800" b="1" dirty="0">
                <a:solidFill>
                  <a:srgbClr val="00AFEF"/>
                </a:solidFill>
                <a:latin typeface="Times New Roman"/>
                <a:cs typeface="Times New Roman"/>
              </a:rPr>
              <a:t>=</a:t>
            </a:r>
            <a:r>
              <a:rPr sz="1800" b="1" spc="-5" dirty="0">
                <a:solidFill>
                  <a:srgbClr val="00AFEF"/>
                </a:solidFill>
                <a:latin typeface="Times New Roman"/>
                <a:cs typeface="Times New Roman"/>
              </a:rPr>
              <a:t> </a:t>
            </a:r>
            <a:r>
              <a:rPr sz="1800" b="1" dirty="0">
                <a:solidFill>
                  <a:srgbClr val="00AFEF"/>
                </a:solidFill>
                <a:latin typeface="Times New Roman"/>
                <a:cs typeface="Times New Roman"/>
              </a:rPr>
              <a:t>{(a,</a:t>
            </a:r>
            <a:r>
              <a:rPr sz="1800" b="1" spc="-5" dirty="0">
                <a:solidFill>
                  <a:srgbClr val="00AFEF"/>
                </a:solidFill>
                <a:latin typeface="Times New Roman"/>
                <a:cs typeface="Times New Roman"/>
              </a:rPr>
              <a:t> </a:t>
            </a:r>
            <a:r>
              <a:rPr sz="1800" b="1" dirty="0">
                <a:solidFill>
                  <a:srgbClr val="00AFEF"/>
                </a:solidFill>
                <a:latin typeface="Times New Roman"/>
                <a:cs typeface="Times New Roman"/>
              </a:rPr>
              <a:t>b)</a:t>
            </a:r>
            <a:r>
              <a:rPr sz="1800" b="1" spc="-5" dirty="0">
                <a:solidFill>
                  <a:srgbClr val="00AFEF"/>
                </a:solidFill>
                <a:latin typeface="Times New Roman"/>
                <a:cs typeface="Times New Roman"/>
              </a:rPr>
              <a:t> </a:t>
            </a:r>
            <a:r>
              <a:rPr sz="1800" dirty="0">
                <a:solidFill>
                  <a:srgbClr val="00AFEF"/>
                </a:solidFill>
                <a:latin typeface="Symbol"/>
                <a:cs typeface="Symbol"/>
              </a:rPr>
              <a:t></a:t>
            </a:r>
            <a:r>
              <a:rPr sz="1800" spc="350" dirty="0">
                <a:solidFill>
                  <a:srgbClr val="00AFEF"/>
                </a:solidFill>
                <a:latin typeface="Times New Roman"/>
                <a:cs typeface="Times New Roman"/>
              </a:rPr>
              <a:t> </a:t>
            </a:r>
            <a:r>
              <a:rPr sz="1800" b="1" dirty="0">
                <a:solidFill>
                  <a:srgbClr val="00AFEF"/>
                </a:solidFill>
                <a:latin typeface="Times New Roman"/>
                <a:cs typeface="Times New Roman"/>
              </a:rPr>
              <a:t>A</a:t>
            </a:r>
            <a:r>
              <a:rPr sz="1800" b="1" spc="-100" dirty="0">
                <a:solidFill>
                  <a:srgbClr val="00AFEF"/>
                </a:solidFill>
                <a:latin typeface="Times New Roman"/>
                <a:cs typeface="Times New Roman"/>
              </a:rPr>
              <a:t> </a:t>
            </a:r>
            <a:r>
              <a:rPr sz="1800" dirty="0">
                <a:solidFill>
                  <a:srgbClr val="00AFEF"/>
                </a:solidFill>
                <a:latin typeface="Symbol"/>
                <a:cs typeface="Symbol"/>
              </a:rPr>
              <a:t></a:t>
            </a:r>
            <a:r>
              <a:rPr sz="1800" spc="-10" dirty="0">
                <a:solidFill>
                  <a:srgbClr val="00AFEF"/>
                </a:solidFill>
                <a:latin typeface="Times New Roman"/>
                <a:cs typeface="Times New Roman"/>
              </a:rPr>
              <a:t> </a:t>
            </a:r>
            <a:r>
              <a:rPr sz="1800" b="1" dirty="0">
                <a:solidFill>
                  <a:srgbClr val="00AFEF"/>
                </a:solidFill>
                <a:latin typeface="Times New Roman"/>
                <a:cs typeface="Times New Roman"/>
              </a:rPr>
              <a:t>B</a:t>
            </a:r>
            <a:r>
              <a:rPr sz="1800" b="1" spc="-5" dirty="0">
                <a:solidFill>
                  <a:srgbClr val="00AFEF"/>
                </a:solidFill>
                <a:latin typeface="Times New Roman"/>
                <a:cs typeface="Times New Roman"/>
              </a:rPr>
              <a:t> </a:t>
            </a:r>
            <a:r>
              <a:rPr sz="1800" b="1" dirty="0">
                <a:solidFill>
                  <a:srgbClr val="00AFEF"/>
                </a:solidFill>
                <a:latin typeface="Times New Roman"/>
                <a:cs typeface="Times New Roman"/>
              </a:rPr>
              <a:t>|</a:t>
            </a:r>
            <a:r>
              <a:rPr sz="1800" b="1" spc="-5" dirty="0">
                <a:solidFill>
                  <a:srgbClr val="00AFEF"/>
                </a:solidFill>
                <a:latin typeface="Times New Roman"/>
                <a:cs typeface="Times New Roman"/>
              </a:rPr>
              <a:t> </a:t>
            </a:r>
            <a:r>
              <a:rPr sz="1800" b="1" dirty="0">
                <a:solidFill>
                  <a:srgbClr val="00AFEF"/>
                </a:solidFill>
                <a:latin typeface="Times New Roman"/>
                <a:cs typeface="Times New Roman"/>
              </a:rPr>
              <a:t>a &lt;</a:t>
            </a:r>
            <a:r>
              <a:rPr sz="1800" b="1" spc="-5" dirty="0">
                <a:solidFill>
                  <a:srgbClr val="00AFEF"/>
                </a:solidFill>
                <a:latin typeface="Times New Roman"/>
                <a:cs typeface="Times New Roman"/>
              </a:rPr>
              <a:t> </a:t>
            </a:r>
            <a:r>
              <a:rPr sz="1800" b="1" spc="-25" dirty="0">
                <a:solidFill>
                  <a:srgbClr val="00AFEF"/>
                </a:solidFill>
                <a:latin typeface="Times New Roman"/>
                <a:cs typeface="Times New Roman"/>
              </a:rPr>
              <a:t>b}</a:t>
            </a:r>
            <a:endParaRPr sz="1800" dirty="0">
              <a:latin typeface="Times New Roman"/>
              <a:cs typeface="Times New Roman"/>
            </a:endParaRPr>
          </a:p>
          <a:p>
            <a:pPr marL="1841500">
              <a:lnSpc>
                <a:spcPts val="2155"/>
              </a:lnSpc>
            </a:pPr>
            <a:r>
              <a:rPr sz="1800" dirty="0">
                <a:latin typeface="Times New Roman"/>
                <a:cs typeface="Times New Roman"/>
              </a:rPr>
              <a:t>R</a:t>
            </a:r>
            <a:r>
              <a:rPr sz="1800" spc="-10" dirty="0">
                <a:latin typeface="Times New Roman"/>
                <a:cs typeface="Times New Roman"/>
              </a:rPr>
              <a:t> </a:t>
            </a:r>
            <a:r>
              <a:rPr sz="1800" dirty="0">
                <a:latin typeface="Times New Roman"/>
                <a:cs typeface="Times New Roman"/>
              </a:rPr>
              <a:t>=</a:t>
            </a:r>
            <a:r>
              <a:rPr sz="1800" spc="-10" dirty="0">
                <a:latin typeface="Times New Roman"/>
                <a:cs typeface="Times New Roman"/>
              </a:rPr>
              <a:t> </a:t>
            </a:r>
            <a:r>
              <a:rPr sz="1800" dirty="0">
                <a:latin typeface="Times New Roman"/>
                <a:cs typeface="Times New Roman"/>
              </a:rPr>
              <a:t>{(1,2),</a:t>
            </a:r>
            <a:r>
              <a:rPr sz="1800" spc="-10" dirty="0">
                <a:latin typeface="Times New Roman"/>
                <a:cs typeface="Times New Roman"/>
              </a:rPr>
              <a:t> </a:t>
            </a:r>
            <a:r>
              <a:rPr sz="1800" dirty="0">
                <a:latin typeface="Times New Roman"/>
                <a:cs typeface="Times New Roman"/>
              </a:rPr>
              <a:t>(1,3),</a:t>
            </a:r>
            <a:r>
              <a:rPr sz="1800" spc="-10" dirty="0">
                <a:latin typeface="Times New Roman"/>
                <a:cs typeface="Times New Roman"/>
              </a:rPr>
              <a:t> (2,3)}</a:t>
            </a:r>
            <a:endParaRPr sz="1800" dirty="0">
              <a:latin typeface="Times New Roman"/>
              <a:cs typeface="Times New Roman"/>
            </a:endParaRPr>
          </a:p>
          <a:p>
            <a:pPr>
              <a:lnSpc>
                <a:spcPct val="100000"/>
              </a:lnSpc>
              <a:spcBef>
                <a:spcPts val="90"/>
              </a:spcBef>
            </a:pPr>
            <a:endParaRPr sz="1800" dirty="0">
              <a:latin typeface="Times New Roman"/>
              <a:cs typeface="Times New Roman"/>
            </a:endParaRPr>
          </a:p>
          <a:p>
            <a:pPr marL="273050" indent="-260350">
              <a:lnSpc>
                <a:spcPct val="100000"/>
              </a:lnSpc>
              <a:buAutoNum type="alphaLcParenR" startAt="2"/>
              <a:tabLst>
                <a:tab pos="273050" algn="l"/>
              </a:tabLst>
            </a:pPr>
            <a:r>
              <a:rPr sz="1800" b="1" dirty="0">
                <a:solidFill>
                  <a:srgbClr val="00AFEF"/>
                </a:solidFill>
                <a:latin typeface="Times New Roman"/>
                <a:cs typeface="Times New Roman"/>
              </a:rPr>
              <a:t>Dom(R)</a:t>
            </a:r>
            <a:r>
              <a:rPr sz="1800" b="1" spc="-25" dirty="0">
                <a:solidFill>
                  <a:srgbClr val="00AFEF"/>
                </a:solidFill>
                <a:latin typeface="Times New Roman"/>
                <a:cs typeface="Times New Roman"/>
              </a:rPr>
              <a:t> </a:t>
            </a:r>
            <a:r>
              <a:rPr sz="1800" b="1" dirty="0">
                <a:solidFill>
                  <a:srgbClr val="00AFEF"/>
                </a:solidFill>
                <a:latin typeface="Times New Roman"/>
                <a:cs typeface="Times New Roman"/>
              </a:rPr>
              <a:t>=</a:t>
            </a:r>
            <a:r>
              <a:rPr sz="1800" b="1" spc="-20" dirty="0">
                <a:solidFill>
                  <a:srgbClr val="00AFEF"/>
                </a:solidFill>
                <a:latin typeface="Times New Roman"/>
                <a:cs typeface="Times New Roman"/>
              </a:rPr>
              <a:t> </a:t>
            </a:r>
            <a:r>
              <a:rPr sz="1800" b="1" dirty="0">
                <a:solidFill>
                  <a:srgbClr val="00AFEF"/>
                </a:solidFill>
                <a:latin typeface="Times New Roman"/>
                <a:cs typeface="Times New Roman"/>
              </a:rPr>
              <a:t>{1,2}</a:t>
            </a:r>
            <a:r>
              <a:rPr sz="1800" b="1" spc="-20" dirty="0">
                <a:solidFill>
                  <a:srgbClr val="00AFEF"/>
                </a:solidFill>
                <a:latin typeface="Times New Roman"/>
                <a:cs typeface="Times New Roman"/>
              </a:rPr>
              <a:t> </a:t>
            </a:r>
            <a:r>
              <a:rPr sz="1800" b="1" dirty="0">
                <a:solidFill>
                  <a:srgbClr val="00AFEF"/>
                </a:solidFill>
                <a:latin typeface="Times New Roman"/>
                <a:cs typeface="Times New Roman"/>
              </a:rPr>
              <a:t>and</a:t>
            </a:r>
            <a:r>
              <a:rPr sz="1800" b="1" spc="-20" dirty="0">
                <a:solidFill>
                  <a:srgbClr val="00AFEF"/>
                </a:solidFill>
                <a:latin typeface="Times New Roman"/>
                <a:cs typeface="Times New Roman"/>
              </a:rPr>
              <a:t> </a:t>
            </a:r>
            <a:r>
              <a:rPr sz="1800" b="1" dirty="0">
                <a:solidFill>
                  <a:srgbClr val="00AFEF"/>
                </a:solidFill>
                <a:latin typeface="Times New Roman"/>
                <a:cs typeface="Times New Roman"/>
              </a:rPr>
              <a:t>Ran(R)</a:t>
            </a:r>
            <a:r>
              <a:rPr sz="1800" b="1" spc="-25" dirty="0">
                <a:solidFill>
                  <a:srgbClr val="00AFEF"/>
                </a:solidFill>
                <a:latin typeface="Times New Roman"/>
                <a:cs typeface="Times New Roman"/>
              </a:rPr>
              <a:t> </a:t>
            </a:r>
            <a:r>
              <a:rPr sz="1800" b="1" dirty="0">
                <a:solidFill>
                  <a:srgbClr val="00AFEF"/>
                </a:solidFill>
                <a:latin typeface="Times New Roman"/>
                <a:cs typeface="Times New Roman"/>
              </a:rPr>
              <a:t>=</a:t>
            </a:r>
            <a:r>
              <a:rPr sz="1800" b="1" spc="-20" dirty="0">
                <a:solidFill>
                  <a:srgbClr val="00AFEF"/>
                </a:solidFill>
                <a:latin typeface="Times New Roman"/>
                <a:cs typeface="Times New Roman"/>
              </a:rPr>
              <a:t> </a:t>
            </a:r>
            <a:r>
              <a:rPr sz="1800" b="1" dirty="0">
                <a:solidFill>
                  <a:srgbClr val="00AFEF"/>
                </a:solidFill>
                <a:latin typeface="Times New Roman"/>
                <a:cs typeface="Times New Roman"/>
              </a:rPr>
              <a:t>{2,</a:t>
            </a:r>
            <a:r>
              <a:rPr sz="1800" b="1" spc="-20" dirty="0">
                <a:solidFill>
                  <a:srgbClr val="00AFEF"/>
                </a:solidFill>
                <a:latin typeface="Times New Roman"/>
                <a:cs typeface="Times New Roman"/>
              </a:rPr>
              <a:t> </a:t>
            </a:r>
            <a:r>
              <a:rPr sz="1800" b="1" spc="-25" dirty="0">
                <a:solidFill>
                  <a:srgbClr val="00AFEF"/>
                </a:solidFill>
                <a:latin typeface="Times New Roman"/>
                <a:cs typeface="Times New Roman"/>
              </a:rPr>
              <a:t>3}</a:t>
            </a:r>
            <a:endParaRPr sz="1800" dirty="0">
              <a:latin typeface="Times New Roman"/>
              <a:cs typeface="Times New Roman"/>
            </a:endParaRPr>
          </a:p>
          <a:p>
            <a:pPr>
              <a:lnSpc>
                <a:spcPct val="100000"/>
              </a:lnSpc>
              <a:spcBef>
                <a:spcPts val="1775"/>
              </a:spcBef>
              <a:buAutoNum type="alphaLcParenR" startAt="2"/>
            </a:pPr>
            <a:endParaRPr sz="1800" dirty="0">
              <a:latin typeface="Times New Roman"/>
              <a:cs typeface="Times New Roman"/>
            </a:endParaRPr>
          </a:p>
          <a:p>
            <a:pPr marL="221615" indent="-208915">
              <a:lnSpc>
                <a:spcPct val="100000"/>
              </a:lnSpc>
              <a:spcBef>
                <a:spcPts val="5"/>
              </a:spcBef>
              <a:buSzPct val="88888"/>
              <a:buAutoNum type="alphaLcParenR" startAt="2"/>
              <a:tabLst>
                <a:tab pos="221615" algn="l"/>
              </a:tabLst>
            </a:pPr>
            <a:r>
              <a:rPr sz="1800" b="1" dirty="0">
                <a:solidFill>
                  <a:srgbClr val="00AFEF"/>
                </a:solidFill>
                <a:latin typeface="Times New Roman"/>
                <a:cs typeface="Times New Roman"/>
              </a:rPr>
              <a:t>Since</a:t>
            </a:r>
            <a:r>
              <a:rPr sz="1800" b="1" spc="-15" dirty="0">
                <a:solidFill>
                  <a:srgbClr val="00AFEF"/>
                </a:solidFill>
                <a:latin typeface="Times New Roman"/>
                <a:cs typeface="Times New Roman"/>
              </a:rPr>
              <a:t> </a:t>
            </a:r>
            <a:r>
              <a:rPr sz="1800" b="1" dirty="0">
                <a:solidFill>
                  <a:srgbClr val="00AFEF"/>
                </a:solidFill>
                <a:latin typeface="Times New Roman"/>
                <a:cs typeface="Times New Roman"/>
              </a:rPr>
              <a:t>(1,3)</a:t>
            </a:r>
            <a:r>
              <a:rPr sz="1800" b="1" spc="-10" dirty="0">
                <a:solidFill>
                  <a:srgbClr val="00AFEF"/>
                </a:solidFill>
                <a:latin typeface="Times New Roman"/>
                <a:cs typeface="Times New Roman"/>
              </a:rPr>
              <a:t> </a:t>
            </a:r>
            <a:r>
              <a:rPr sz="1800" dirty="0">
                <a:solidFill>
                  <a:srgbClr val="00AFEF"/>
                </a:solidFill>
                <a:latin typeface="Symbol"/>
                <a:cs typeface="Symbol"/>
              </a:rPr>
              <a:t></a:t>
            </a:r>
            <a:r>
              <a:rPr sz="1800" spc="5" dirty="0">
                <a:solidFill>
                  <a:srgbClr val="00AFEF"/>
                </a:solidFill>
                <a:latin typeface="Times New Roman"/>
                <a:cs typeface="Times New Roman"/>
              </a:rPr>
              <a:t> </a:t>
            </a:r>
            <a:r>
              <a:rPr sz="1800" b="1" dirty="0">
                <a:solidFill>
                  <a:srgbClr val="00AFEF"/>
                </a:solidFill>
                <a:latin typeface="Times New Roman"/>
                <a:cs typeface="Times New Roman"/>
              </a:rPr>
              <a:t>R</a:t>
            </a:r>
            <a:r>
              <a:rPr sz="1800" b="1" spc="-5" dirty="0">
                <a:solidFill>
                  <a:srgbClr val="00AFEF"/>
                </a:solidFill>
                <a:latin typeface="Times New Roman"/>
                <a:cs typeface="Times New Roman"/>
              </a:rPr>
              <a:t> </a:t>
            </a:r>
            <a:r>
              <a:rPr sz="1800" b="1" dirty="0">
                <a:solidFill>
                  <a:srgbClr val="00AFEF"/>
                </a:solidFill>
                <a:latin typeface="Times New Roman"/>
                <a:cs typeface="Times New Roman"/>
              </a:rPr>
              <a:t>so 1R3,</a:t>
            </a:r>
            <a:r>
              <a:rPr sz="1800" b="1" spc="-10" dirty="0">
                <a:solidFill>
                  <a:srgbClr val="00AFEF"/>
                </a:solidFill>
                <a:latin typeface="Times New Roman"/>
                <a:cs typeface="Times New Roman"/>
              </a:rPr>
              <a:t> </a:t>
            </a:r>
            <a:r>
              <a:rPr sz="1800" dirty="0">
                <a:solidFill>
                  <a:srgbClr val="00AFEF"/>
                </a:solidFill>
                <a:latin typeface="Times New Roman"/>
                <a:cs typeface="Times New Roman"/>
              </a:rPr>
              <a:t>But</a:t>
            </a:r>
            <a:r>
              <a:rPr sz="1800" spc="-10" dirty="0">
                <a:solidFill>
                  <a:srgbClr val="00AFEF"/>
                </a:solidFill>
                <a:latin typeface="Times New Roman"/>
                <a:cs typeface="Times New Roman"/>
              </a:rPr>
              <a:t> </a:t>
            </a:r>
            <a:r>
              <a:rPr sz="1800" dirty="0">
                <a:solidFill>
                  <a:srgbClr val="00AFEF"/>
                </a:solidFill>
                <a:latin typeface="Times New Roman"/>
                <a:cs typeface="Times New Roman"/>
              </a:rPr>
              <a:t>(2, 2)</a:t>
            </a:r>
            <a:r>
              <a:rPr sz="1800" spc="-10" dirty="0">
                <a:solidFill>
                  <a:srgbClr val="00AFEF"/>
                </a:solidFill>
                <a:latin typeface="Times New Roman"/>
                <a:cs typeface="Times New Roman"/>
              </a:rPr>
              <a:t> </a:t>
            </a:r>
            <a:r>
              <a:rPr sz="1800" dirty="0">
                <a:solidFill>
                  <a:srgbClr val="00AFEF"/>
                </a:solidFill>
                <a:latin typeface="Symbol"/>
                <a:cs typeface="Symbol"/>
              </a:rPr>
              <a:t></a:t>
            </a:r>
            <a:r>
              <a:rPr sz="1800" dirty="0">
                <a:solidFill>
                  <a:srgbClr val="00AFEF"/>
                </a:solidFill>
                <a:latin typeface="Times New Roman"/>
                <a:cs typeface="Times New Roman"/>
              </a:rPr>
              <a:t>R so</a:t>
            </a:r>
            <a:r>
              <a:rPr sz="1800" spc="-5" dirty="0">
                <a:solidFill>
                  <a:srgbClr val="00AFEF"/>
                </a:solidFill>
                <a:latin typeface="Times New Roman"/>
                <a:cs typeface="Times New Roman"/>
              </a:rPr>
              <a:t> </a:t>
            </a:r>
            <a:r>
              <a:rPr sz="1800" dirty="0">
                <a:solidFill>
                  <a:srgbClr val="00AFEF"/>
                </a:solidFill>
                <a:latin typeface="Times New Roman"/>
                <a:cs typeface="Times New Roman"/>
              </a:rPr>
              <a:t>2 is</a:t>
            </a:r>
            <a:r>
              <a:rPr sz="1800" spc="-5" dirty="0">
                <a:solidFill>
                  <a:srgbClr val="00AFEF"/>
                </a:solidFill>
                <a:latin typeface="Times New Roman"/>
                <a:cs typeface="Times New Roman"/>
              </a:rPr>
              <a:t> </a:t>
            </a:r>
            <a:r>
              <a:rPr sz="1800" dirty="0">
                <a:solidFill>
                  <a:srgbClr val="00AFEF"/>
                </a:solidFill>
                <a:latin typeface="Times New Roman"/>
                <a:cs typeface="Times New Roman"/>
              </a:rPr>
              <a:t>not</a:t>
            </a:r>
            <a:r>
              <a:rPr sz="1800" spc="-10" dirty="0">
                <a:solidFill>
                  <a:srgbClr val="00AFEF"/>
                </a:solidFill>
                <a:latin typeface="Times New Roman"/>
                <a:cs typeface="Times New Roman"/>
              </a:rPr>
              <a:t> related.</a:t>
            </a:r>
            <a:endParaRPr sz="1800" dirty="0">
              <a:latin typeface="Times New Roman"/>
              <a:cs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2295525">
              <a:lnSpc>
                <a:spcPct val="100000"/>
              </a:lnSpc>
              <a:spcBef>
                <a:spcPts val="100"/>
              </a:spcBef>
            </a:pPr>
            <a:r>
              <a:rPr dirty="0"/>
              <a:t>EXAMPLE</a:t>
            </a:r>
            <a:r>
              <a:rPr spc="-160" dirty="0"/>
              <a:t> </a:t>
            </a:r>
            <a:r>
              <a:rPr spc="-50" dirty="0"/>
              <a:t>E</a:t>
            </a:r>
          </a:p>
        </p:txBody>
      </p:sp>
      <p:sp>
        <p:nvSpPr>
          <p:cNvPr id="3" name="object 3"/>
          <p:cNvSpPr txBox="1"/>
          <p:nvPr/>
        </p:nvSpPr>
        <p:spPr>
          <a:xfrm>
            <a:off x="383540" y="888910"/>
            <a:ext cx="7388860" cy="2485296"/>
          </a:xfrm>
          <a:prstGeom prst="rect">
            <a:avLst/>
          </a:prstGeom>
        </p:spPr>
        <p:txBody>
          <a:bodyPr vert="horz" wrap="square" lIns="0" tIns="139700" rIns="0" bIns="0" rtlCol="0">
            <a:spAutoFit/>
          </a:bodyPr>
          <a:lstStyle/>
          <a:p>
            <a:pPr marL="12700">
              <a:lnSpc>
                <a:spcPct val="100000"/>
              </a:lnSpc>
              <a:spcBef>
                <a:spcPts val="1100"/>
              </a:spcBef>
            </a:pPr>
            <a:r>
              <a:rPr sz="1800" b="1" dirty="0">
                <a:solidFill>
                  <a:srgbClr val="404040"/>
                </a:solidFill>
                <a:latin typeface="Times New Roman"/>
                <a:cs typeface="Times New Roman"/>
              </a:rPr>
              <a:t>Let</a:t>
            </a:r>
            <a:r>
              <a:rPr sz="1800" b="1" spc="-10" dirty="0">
                <a:solidFill>
                  <a:srgbClr val="404040"/>
                </a:solidFill>
                <a:latin typeface="Times New Roman"/>
                <a:cs typeface="Times New Roman"/>
              </a:rPr>
              <a:t> </a:t>
            </a:r>
            <a:r>
              <a:rPr sz="1800" b="1" i="1" dirty="0">
                <a:solidFill>
                  <a:srgbClr val="404040"/>
                </a:solidFill>
                <a:latin typeface="Times New Roman"/>
                <a:cs typeface="Times New Roman"/>
              </a:rPr>
              <a:t>A</a:t>
            </a:r>
            <a:r>
              <a:rPr sz="1800" b="1" i="1" spc="-105" dirty="0">
                <a:solidFill>
                  <a:srgbClr val="404040"/>
                </a:solidFill>
                <a:latin typeface="Times New Roman"/>
                <a:cs typeface="Times New Roman"/>
              </a:rPr>
              <a:t> </a:t>
            </a:r>
            <a:r>
              <a:rPr sz="1800" b="1" dirty="0">
                <a:solidFill>
                  <a:srgbClr val="404040"/>
                </a:solidFill>
                <a:latin typeface="Times New Roman"/>
                <a:cs typeface="Times New Roman"/>
              </a:rPr>
              <a:t>=</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{0</a:t>
            </a:r>
            <a:r>
              <a:rPr sz="1800" b="1" i="1" dirty="0">
                <a:solidFill>
                  <a:srgbClr val="404040"/>
                </a:solidFill>
                <a:latin typeface="Times New Roman"/>
                <a:cs typeface="Times New Roman"/>
              </a:rPr>
              <a:t>,</a:t>
            </a:r>
            <a:r>
              <a:rPr sz="1800" b="1" i="1" spc="-10" dirty="0">
                <a:solidFill>
                  <a:srgbClr val="404040"/>
                </a:solidFill>
                <a:latin typeface="Times New Roman"/>
                <a:cs typeface="Times New Roman"/>
              </a:rPr>
              <a:t> </a:t>
            </a:r>
            <a:r>
              <a:rPr sz="1800" b="1" dirty="0">
                <a:solidFill>
                  <a:srgbClr val="404040"/>
                </a:solidFill>
                <a:latin typeface="Times New Roman"/>
                <a:cs typeface="Times New Roman"/>
              </a:rPr>
              <a:t>1</a:t>
            </a:r>
            <a:r>
              <a:rPr sz="1800" b="1" i="1" dirty="0">
                <a:solidFill>
                  <a:srgbClr val="404040"/>
                </a:solidFill>
                <a:latin typeface="Times New Roman"/>
                <a:cs typeface="Times New Roman"/>
              </a:rPr>
              <a:t>,</a:t>
            </a:r>
            <a:r>
              <a:rPr sz="1800" b="1" i="1" spc="-5"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5" dirty="0">
                <a:solidFill>
                  <a:srgbClr val="404040"/>
                </a:solidFill>
                <a:latin typeface="Times New Roman"/>
                <a:cs typeface="Times New Roman"/>
              </a:rPr>
              <a:t> </a:t>
            </a:r>
            <a:r>
              <a:rPr sz="1800" b="1" dirty="0">
                <a:solidFill>
                  <a:srgbClr val="404040"/>
                </a:solidFill>
                <a:latin typeface="Times New Roman"/>
                <a:cs typeface="Times New Roman"/>
              </a:rPr>
              <a:t>and</a:t>
            </a:r>
            <a:r>
              <a:rPr sz="1800" b="1" spc="-10" dirty="0">
                <a:solidFill>
                  <a:srgbClr val="404040"/>
                </a:solidFill>
                <a:latin typeface="Times New Roman"/>
                <a:cs typeface="Times New Roman"/>
              </a:rPr>
              <a:t> </a:t>
            </a:r>
            <a:r>
              <a:rPr sz="1800" b="1" i="1" dirty="0">
                <a:solidFill>
                  <a:srgbClr val="404040"/>
                </a:solidFill>
                <a:latin typeface="Times New Roman"/>
                <a:cs typeface="Times New Roman"/>
              </a:rPr>
              <a:t>B</a:t>
            </a:r>
            <a:r>
              <a:rPr sz="1800" b="1" i="1" spc="-10" dirty="0">
                <a:solidFill>
                  <a:srgbClr val="404040"/>
                </a:solidFill>
                <a:latin typeface="Times New Roman"/>
                <a:cs typeface="Times New Roman"/>
              </a:rPr>
              <a:t> </a:t>
            </a:r>
            <a:r>
              <a:rPr sz="1800" b="1" dirty="0">
                <a:solidFill>
                  <a:srgbClr val="404040"/>
                </a:solidFill>
                <a:latin typeface="Times New Roman"/>
                <a:cs typeface="Times New Roman"/>
              </a:rPr>
              <a:t>=</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a:t>
            </a:r>
            <a:r>
              <a:rPr sz="1800" b="1" i="1" dirty="0">
                <a:solidFill>
                  <a:srgbClr val="404040"/>
                </a:solidFill>
                <a:latin typeface="Times New Roman"/>
                <a:cs typeface="Times New Roman"/>
              </a:rPr>
              <a:t>a,</a:t>
            </a:r>
            <a:r>
              <a:rPr sz="1800" b="1" i="1" spc="-5" dirty="0">
                <a:solidFill>
                  <a:srgbClr val="404040"/>
                </a:solidFill>
                <a:latin typeface="Times New Roman"/>
                <a:cs typeface="Times New Roman"/>
              </a:rPr>
              <a:t> </a:t>
            </a:r>
            <a:r>
              <a:rPr sz="1800" b="1" i="1" spc="-25" dirty="0">
                <a:solidFill>
                  <a:srgbClr val="404040"/>
                </a:solidFill>
                <a:latin typeface="Times New Roman"/>
                <a:cs typeface="Times New Roman"/>
              </a:rPr>
              <a:t>b</a:t>
            </a:r>
            <a:r>
              <a:rPr sz="1800" b="1" spc="-25" dirty="0">
                <a:solidFill>
                  <a:srgbClr val="404040"/>
                </a:solidFill>
                <a:latin typeface="Times New Roman"/>
                <a:cs typeface="Times New Roman"/>
              </a:rPr>
              <a:t>}.</a:t>
            </a:r>
            <a:endParaRPr sz="1800" dirty="0">
              <a:latin typeface="Times New Roman"/>
              <a:cs typeface="Times New Roman"/>
            </a:endParaRPr>
          </a:p>
          <a:p>
            <a:pPr marL="12700" marR="488950">
              <a:lnSpc>
                <a:spcPct val="100000"/>
              </a:lnSpc>
              <a:spcBef>
                <a:spcPts val="994"/>
              </a:spcBef>
            </a:pPr>
            <a:r>
              <a:rPr sz="1800" b="1" dirty="0">
                <a:solidFill>
                  <a:srgbClr val="404040"/>
                </a:solidFill>
                <a:latin typeface="Times New Roman"/>
                <a:cs typeface="Times New Roman"/>
              </a:rPr>
              <a:t>Then</a:t>
            </a:r>
            <a:r>
              <a:rPr sz="1800" b="1" spc="-25" dirty="0">
                <a:solidFill>
                  <a:srgbClr val="404040"/>
                </a:solidFill>
                <a:latin typeface="Times New Roman"/>
                <a:cs typeface="Times New Roman"/>
              </a:rPr>
              <a:t> </a:t>
            </a:r>
            <a:r>
              <a:rPr sz="1800" b="1" dirty="0">
                <a:solidFill>
                  <a:srgbClr val="404040"/>
                </a:solidFill>
                <a:latin typeface="Times New Roman"/>
                <a:cs typeface="Times New Roman"/>
              </a:rPr>
              <a:t>{(0</a:t>
            </a:r>
            <a:r>
              <a:rPr sz="1800" b="1" i="1" dirty="0">
                <a:solidFill>
                  <a:srgbClr val="404040"/>
                </a:solidFill>
                <a:latin typeface="Times New Roman"/>
                <a:cs typeface="Times New Roman"/>
              </a:rPr>
              <a:t>,</a:t>
            </a:r>
            <a:r>
              <a:rPr sz="1800" b="1" i="1" spc="-15" dirty="0">
                <a:solidFill>
                  <a:srgbClr val="404040"/>
                </a:solidFill>
                <a:latin typeface="Times New Roman"/>
                <a:cs typeface="Times New Roman"/>
              </a:rPr>
              <a:t> </a:t>
            </a:r>
            <a:r>
              <a:rPr sz="1800" b="1" i="1" dirty="0">
                <a:solidFill>
                  <a:srgbClr val="404040"/>
                </a:solidFill>
                <a:latin typeface="Times New Roman"/>
                <a:cs typeface="Times New Roman"/>
              </a:rPr>
              <a:t>a</a:t>
            </a:r>
            <a:r>
              <a:rPr sz="1800" b="1" dirty="0">
                <a:solidFill>
                  <a:srgbClr val="404040"/>
                </a:solidFill>
                <a:latin typeface="Times New Roman"/>
                <a:cs typeface="Times New Roman"/>
              </a:rPr>
              <a:t>)</a:t>
            </a:r>
            <a:r>
              <a:rPr sz="1800" b="1" i="1" dirty="0">
                <a:solidFill>
                  <a:srgbClr val="404040"/>
                </a:solidFill>
                <a:latin typeface="Times New Roman"/>
                <a:cs typeface="Times New Roman"/>
              </a:rPr>
              <a:t>,</a:t>
            </a:r>
            <a:r>
              <a:rPr sz="1800" b="1" i="1" spc="-15" dirty="0">
                <a:solidFill>
                  <a:srgbClr val="404040"/>
                </a:solidFill>
                <a:latin typeface="Times New Roman"/>
                <a:cs typeface="Times New Roman"/>
              </a:rPr>
              <a:t> </a:t>
            </a:r>
            <a:r>
              <a:rPr sz="1800" b="1" dirty="0">
                <a:solidFill>
                  <a:srgbClr val="404040"/>
                </a:solidFill>
                <a:latin typeface="Times New Roman"/>
                <a:cs typeface="Times New Roman"/>
              </a:rPr>
              <a:t>(0</a:t>
            </a:r>
            <a:r>
              <a:rPr sz="1800" b="1" i="1" dirty="0">
                <a:solidFill>
                  <a:srgbClr val="404040"/>
                </a:solidFill>
                <a:latin typeface="Times New Roman"/>
                <a:cs typeface="Times New Roman"/>
              </a:rPr>
              <a:t>,</a:t>
            </a:r>
            <a:r>
              <a:rPr sz="1800" b="1" i="1" spc="-15" dirty="0">
                <a:solidFill>
                  <a:srgbClr val="404040"/>
                </a:solidFill>
                <a:latin typeface="Times New Roman"/>
                <a:cs typeface="Times New Roman"/>
              </a:rPr>
              <a:t> </a:t>
            </a:r>
            <a:r>
              <a:rPr sz="1800" b="1" i="1" dirty="0">
                <a:solidFill>
                  <a:srgbClr val="404040"/>
                </a:solidFill>
                <a:latin typeface="Times New Roman"/>
                <a:cs typeface="Times New Roman"/>
              </a:rPr>
              <a:t>b</a:t>
            </a:r>
            <a:r>
              <a:rPr sz="1800" b="1" dirty="0">
                <a:solidFill>
                  <a:srgbClr val="404040"/>
                </a:solidFill>
                <a:latin typeface="Times New Roman"/>
                <a:cs typeface="Times New Roman"/>
              </a:rPr>
              <a:t>)</a:t>
            </a:r>
            <a:r>
              <a:rPr sz="1800" b="1" i="1" dirty="0">
                <a:solidFill>
                  <a:srgbClr val="404040"/>
                </a:solidFill>
                <a:latin typeface="Times New Roman"/>
                <a:cs typeface="Times New Roman"/>
              </a:rPr>
              <a:t>,</a:t>
            </a:r>
            <a:r>
              <a:rPr sz="1800" b="1" i="1" spc="-15" dirty="0">
                <a:solidFill>
                  <a:srgbClr val="404040"/>
                </a:solidFill>
                <a:latin typeface="Times New Roman"/>
                <a:cs typeface="Times New Roman"/>
              </a:rPr>
              <a:t> </a:t>
            </a:r>
            <a:r>
              <a:rPr sz="1800" b="1" dirty="0">
                <a:solidFill>
                  <a:srgbClr val="404040"/>
                </a:solidFill>
                <a:latin typeface="Times New Roman"/>
                <a:cs typeface="Times New Roman"/>
              </a:rPr>
              <a:t>(1</a:t>
            </a:r>
            <a:r>
              <a:rPr sz="1800" b="1" i="1" dirty="0">
                <a:solidFill>
                  <a:srgbClr val="404040"/>
                </a:solidFill>
                <a:latin typeface="Times New Roman"/>
                <a:cs typeface="Times New Roman"/>
              </a:rPr>
              <a:t>,</a:t>
            </a:r>
            <a:r>
              <a:rPr sz="1800" b="1" i="1" spc="-15" dirty="0">
                <a:solidFill>
                  <a:srgbClr val="404040"/>
                </a:solidFill>
                <a:latin typeface="Times New Roman"/>
                <a:cs typeface="Times New Roman"/>
              </a:rPr>
              <a:t> </a:t>
            </a:r>
            <a:r>
              <a:rPr sz="1800" b="1" i="1" dirty="0">
                <a:solidFill>
                  <a:srgbClr val="404040"/>
                </a:solidFill>
                <a:latin typeface="Times New Roman"/>
                <a:cs typeface="Times New Roman"/>
              </a:rPr>
              <a:t>a</a:t>
            </a:r>
            <a:r>
              <a:rPr sz="1800" b="1" dirty="0">
                <a:solidFill>
                  <a:srgbClr val="404040"/>
                </a:solidFill>
                <a:latin typeface="Times New Roman"/>
                <a:cs typeface="Times New Roman"/>
              </a:rPr>
              <a:t>)</a:t>
            </a:r>
            <a:r>
              <a:rPr sz="1800" b="1" i="1" dirty="0">
                <a:solidFill>
                  <a:srgbClr val="404040"/>
                </a:solidFill>
                <a:latin typeface="Times New Roman"/>
                <a:cs typeface="Times New Roman"/>
              </a:rPr>
              <a:t>,</a:t>
            </a:r>
            <a:r>
              <a:rPr sz="1800" b="1" i="1" spc="-15" dirty="0">
                <a:solidFill>
                  <a:srgbClr val="404040"/>
                </a:solidFill>
                <a:latin typeface="Times New Roman"/>
                <a:cs typeface="Times New Roman"/>
              </a:rPr>
              <a:t> </a:t>
            </a:r>
            <a:r>
              <a:rPr sz="1800" b="1" dirty="0">
                <a:solidFill>
                  <a:srgbClr val="404040"/>
                </a:solidFill>
                <a:latin typeface="Times New Roman"/>
                <a:cs typeface="Times New Roman"/>
              </a:rPr>
              <a:t>(2</a:t>
            </a:r>
            <a:r>
              <a:rPr sz="1800" b="1" i="1" dirty="0">
                <a:solidFill>
                  <a:srgbClr val="404040"/>
                </a:solidFill>
                <a:latin typeface="Times New Roman"/>
                <a:cs typeface="Times New Roman"/>
              </a:rPr>
              <a:t>,</a:t>
            </a:r>
            <a:r>
              <a:rPr sz="1800" b="1" i="1" spc="-15" dirty="0">
                <a:solidFill>
                  <a:srgbClr val="404040"/>
                </a:solidFill>
                <a:latin typeface="Times New Roman"/>
                <a:cs typeface="Times New Roman"/>
              </a:rPr>
              <a:t> </a:t>
            </a:r>
            <a:r>
              <a:rPr sz="1800" b="1" i="1" dirty="0">
                <a:solidFill>
                  <a:srgbClr val="404040"/>
                </a:solidFill>
                <a:latin typeface="Times New Roman"/>
                <a:cs typeface="Times New Roman"/>
              </a:rPr>
              <a:t>b</a:t>
            </a:r>
            <a:r>
              <a:rPr sz="1800" b="1" dirty="0">
                <a:solidFill>
                  <a:srgbClr val="404040"/>
                </a:solidFill>
                <a:latin typeface="Times New Roman"/>
                <a:cs typeface="Times New Roman"/>
              </a:rPr>
              <a:t>)}</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is</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a</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relation</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from</a:t>
            </a:r>
            <a:r>
              <a:rPr sz="1800" b="1" spc="-10" dirty="0">
                <a:solidFill>
                  <a:srgbClr val="404040"/>
                </a:solidFill>
                <a:latin typeface="Times New Roman"/>
                <a:cs typeface="Times New Roman"/>
              </a:rPr>
              <a:t> </a:t>
            </a:r>
            <a:r>
              <a:rPr sz="1800" b="1" i="1" dirty="0">
                <a:solidFill>
                  <a:srgbClr val="404040"/>
                </a:solidFill>
                <a:latin typeface="Times New Roman"/>
                <a:cs typeface="Times New Roman"/>
              </a:rPr>
              <a:t>A</a:t>
            </a:r>
            <a:r>
              <a:rPr sz="1800" b="1" i="1" spc="-114" dirty="0">
                <a:solidFill>
                  <a:srgbClr val="404040"/>
                </a:solidFill>
                <a:latin typeface="Times New Roman"/>
                <a:cs typeface="Times New Roman"/>
              </a:rPr>
              <a:t> </a:t>
            </a:r>
            <a:r>
              <a:rPr sz="1800" b="1" dirty="0">
                <a:solidFill>
                  <a:srgbClr val="404040"/>
                </a:solidFill>
                <a:latin typeface="Times New Roman"/>
                <a:cs typeface="Times New Roman"/>
              </a:rPr>
              <a:t>to</a:t>
            </a:r>
            <a:r>
              <a:rPr sz="1800" b="1" spc="-15" dirty="0">
                <a:solidFill>
                  <a:srgbClr val="404040"/>
                </a:solidFill>
                <a:latin typeface="Times New Roman"/>
                <a:cs typeface="Times New Roman"/>
              </a:rPr>
              <a:t> </a:t>
            </a:r>
            <a:r>
              <a:rPr sz="1800" b="1" i="1" dirty="0">
                <a:solidFill>
                  <a:srgbClr val="404040"/>
                </a:solidFill>
                <a:latin typeface="Times New Roman"/>
                <a:cs typeface="Times New Roman"/>
              </a:rPr>
              <a:t>B</a:t>
            </a:r>
            <a:r>
              <a:rPr sz="1800" b="1" dirty="0">
                <a:solidFill>
                  <a:srgbClr val="404040"/>
                </a:solidFill>
                <a:latin typeface="Times New Roman"/>
                <a:cs typeface="Times New Roman"/>
              </a:rPr>
              <a:t>.</a:t>
            </a:r>
            <a:r>
              <a:rPr sz="1800" b="1" spc="-50" dirty="0">
                <a:solidFill>
                  <a:srgbClr val="404040"/>
                </a:solidFill>
                <a:latin typeface="Times New Roman"/>
                <a:cs typeface="Times New Roman"/>
              </a:rPr>
              <a:t> </a:t>
            </a:r>
            <a:r>
              <a:rPr sz="1800" b="1" spc="-20" dirty="0">
                <a:solidFill>
                  <a:srgbClr val="404040"/>
                </a:solidFill>
                <a:latin typeface="Times New Roman"/>
                <a:cs typeface="Times New Roman"/>
              </a:rPr>
              <a:t>This </a:t>
            </a:r>
            <a:r>
              <a:rPr sz="1800" b="1" dirty="0">
                <a:solidFill>
                  <a:srgbClr val="404040"/>
                </a:solidFill>
                <a:latin typeface="Times New Roman"/>
                <a:cs typeface="Times New Roman"/>
              </a:rPr>
              <a:t>means,</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for</a:t>
            </a:r>
            <a:r>
              <a:rPr sz="1800" b="1" spc="-35" dirty="0">
                <a:solidFill>
                  <a:srgbClr val="404040"/>
                </a:solidFill>
                <a:latin typeface="Times New Roman"/>
                <a:cs typeface="Times New Roman"/>
              </a:rPr>
              <a:t> </a:t>
            </a:r>
            <a:r>
              <a:rPr sz="1800" b="1" dirty="0">
                <a:solidFill>
                  <a:srgbClr val="404040"/>
                </a:solidFill>
                <a:latin typeface="Times New Roman"/>
                <a:cs typeface="Times New Roman"/>
              </a:rPr>
              <a:t>instance,</a:t>
            </a:r>
            <a:r>
              <a:rPr sz="1800" b="1" spc="-5" dirty="0">
                <a:solidFill>
                  <a:srgbClr val="404040"/>
                </a:solidFill>
                <a:latin typeface="Times New Roman"/>
                <a:cs typeface="Times New Roman"/>
              </a:rPr>
              <a:t> </a:t>
            </a:r>
            <a:r>
              <a:rPr sz="1800" b="1" dirty="0">
                <a:solidFill>
                  <a:srgbClr val="404040"/>
                </a:solidFill>
                <a:latin typeface="Times New Roman"/>
                <a:cs typeface="Times New Roman"/>
              </a:rPr>
              <a:t>that</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0</a:t>
            </a:r>
            <a:r>
              <a:rPr sz="1800" b="1" i="1" dirty="0">
                <a:solidFill>
                  <a:srgbClr val="404040"/>
                </a:solidFill>
                <a:latin typeface="Times New Roman"/>
                <a:cs typeface="Times New Roman"/>
              </a:rPr>
              <a:t>Ra</a:t>
            </a:r>
            <a:r>
              <a:rPr sz="1800" b="1" dirty="0">
                <a:solidFill>
                  <a:srgbClr val="404040"/>
                </a:solidFill>
                <a:latin typeface="Times New Roman"/>
                <a:cs typeface="Times New Roman"/>
              </a:rPr>
              <a:t>,</a:t>
            </a:r>
            <a:r>
              <a:rPr sz="1800" b="1" spc="-5" dirty="0">
                <a:solidFill>
                  <a:srgbClr val="404040"/>
                </a:solidFill>
                <a:latin typeface="Times New Roman"/>
                <a:cs typeface="Times New Roman"/>
              </a:rPr>
              <a:t> </a:t>
            </a:r>
            <a:r>
              <a:rPr sz="1800" b="1" dirty="0">
                <a:solidFill>
                  <a:srgbClr val="404040"/>
                </a:solidFill>
                <a:latin typeface="Times New Roman"/>
                <a:cs typeface="Times New Roman"/>
              </a:rPr>
              <a:t>but</a:t>
            </a:r>
            <a:r>
              <a:rPr sz="1800" b="1" spc="-5" dirty="0">
                <a:solidFill>
                  <a:srgbClr val="404040"/>
                </a:solidFill>
                <a:latin typeface="Times New Roman"/>
                <a:cs typeface="Times New Roman"/>
              </a:rPr>
              <a:t> </a:t>
            </a:r>
            <a:r>
              <a:rPr sz="1800" b="1" dirty="0">
                <a:solidFill>
                  <a:srgbClr val="404040"/>
                </a:solidFill>
                <a:latin typeface="Times New Roman"/>
                <a:cs typeface="Times New Roman"/>
              </a:rPr>
              <a:t>that</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5" dirty="0">
                <a:solidFill>
                  <a:srgbClr val="404040"/>
                </a:solidFill>
                <a:latin typeface="Times New Roman"/>
                <a:cs typeface="Times New Roman"/>
              </a:rPr>
              <a:t> </a:t>
            </a:r>
            <a:r>
              <a:rPr sz="1800" b="1" dirty="0">
                <a:solidFill>
                  <a:srgbClr val="404040"/>
                </a:solidFill>
                <a:latin typeface="Times New Roman"/>
                <a:cs typeface="Times New Roman"/>
              </a:rPr>
              <a:t≯</a:t>
            </a:r>
            <a:r>
              <a:rPr sz="1800" b="1" i="1" dirty="0">
                <a:solidFill>
                  <a:srgbClr val="404040"/>
                </a:solidFill>
                <a:latin typeface="Times New Roman"/>
                <a:cs typeface="Times New Roman"/>
              </a:rPr>
              <a:t>R</a:t>
            </a:r>
            <a:r>
              <a:rPr sz="1800" b="1" i="1" spc="-5" dirty="0">
                <a:solidFill>
                  <a:srgbClr val="404040"/>
                </a:solidFill>
                <a:latin typeface="Times New Roman"/>
                <a:cs typeface="Times New Roman"/>
              </a:rPr>
              <a:t> </a:t>
            </a:r>
            <a:r>
              <a:rPr sz="1800" b="1" i="1" dirty="0">
                <a:solidFill>
                  <a:srgbClr val="404040"/>
                </a:solidFill>
                <a:latin typeface="Times New Roman"/>
                <a:cs typeface="Times New Roman"/>
              </a:rPr>
              <a:t>b</a:t>
            </a:r>
            <a:r>
              <a:rPr sz="1800" b="1" i="1" spc="-5" dirty="0">
                <a:solidFill>
                  <a:srgbClr val="404040"/>
                </a:solidFill>
                <a:latin typeface="Times New Roman"/>
                <a:cs typeface="Times New Roman"/>
              </a:rPr>
              <a:t> </a:t>
            </a:r>
            <a:r>
              <a:rPr sz="1800" b="1" i="1" dirty="0">
                <a:solidFill>
                  <a:srgbClr val="404040"/>
                </a:solidFill>
                <a:latin typeface="Times New Roman"/>
                <a:cs typeface="Times New Roman"/>
              </a:rPr>
              <a:t>&amp;</a:t>
            </a:r>
            <a:r>
              <a:rPr sz="1800" b="1" i="1" spc="-5" dirty="0">
                <a:solidFill>
                  <a:srgbClr val="404040"/>
                </a:solidFill>
                <a:latin typeface="Times New Roman"/>
                <a:cs typeface="Times New Roman"/>
              </a:rPr>
              <a:t> </a:t>
            </a:r>
            <a:r>
              <a:rPr sz="1800" b="1" i="1" dirty="0">
                <a:solidFill>
                  <a:srgbClr val="404040"/>
                </a:solidFill>
                <a:latin typeface="Times New Roman"/>
                <a:cs typeface="Times New Roman"/>
              </a:rPr>
              <a:t>also</a:t>
            </a:r>
            <a:r>
              <a:rPr sz="1800" b="1" i="1" spc="-5" dirty="0">
                <a:solidFill>
                  <a:srgbClr val="404040"/>
                </a:solidFill>
                <a:latin typeface="Times New Roman"/>
                <a:cs typeface="Times New Roman"/>
              </a:rPr>
              <a:t> </a:t>
            </a:r>
            <a:r>
              <a:rPr sz="1800" b="1" i="1" dirty="0">
                <a:solidFill>
                  <a:srgbClr val="404040"/>
                </a:solidFill>
                <a:latin typeface="Times New Roman"/>
                <a:cs typeface="Times New Roman"/>
              </a:rPr>
              <a:t>2</a:t>
            </a:r>
            <a:r>
              <a:rPr sz="1800" b="1" i="1" spc="-10" dirty="0">
                <a:solidFill>
                  <a:srgbClr val="404040"/>
                </a:solidFill>
                <a:latin typeface="Times New Roman"/>
                <a:cs typeface="Times New Roman"/>
              </a:rPr>
              <a:t> </a:t>
            </a:r>
            <a:r>
              <a:rPr sz="1800" b="1" dirty="0">
                <a:solidFill>
                  <a:srgbClr val="404040"/>
                </a:solidFill>
                <a:latin typeface="Times New Roman"/>
                <a:cs typeface="Times New Roman"/>
              </a:rPr>
              <a:t≯</a:t>
            </a:r>
            <a:r>
              <a:rPr sz="1800" b="1" i="1" dirty="0">
                <a:solidFill>
                  <a:srgbClr val="404040"/>
                </a:solidFill>
                <a:latin typeface="Times New Roman"/>
                <a:cs typeface="Times New Roman"/>
              </a:rPr>
              <a:t>R</a:t>
            </a:r>
            <a:r>
              <a:rPr sz="1800" b="1" i="1" spc="-10" dirty="0">
                <a:solidFill>
                  <a:srgbClr val="404040"/>
                </a:solidFill>
                <a:latin typeface="Times New Roman"/>
                <a:cs typeface="Times New Roman"/>
              </a:rPr>
              <a:t> </a:t>
            </a:r>
            <a:r>
              <a:rPr sz="1800" b="1" i="1" spc="-25" dirty="0">
                <a:solidFill>
                  <a:srgbClr val="404040"/>
                </a:solidFill>
                <a:latin typeface="Times New Roman"/>
                <a:cs typeface="Times New Roman"/>
              </a:rPr>
              <a:t>a</a:t>
            </a:r>
            <a:r>
              <a:rPr sz="1800" b="1" spc="-25" dirty="0">
                <a:solidFill>
                  <a:srgbClr val="404040"/>
                </a:solidFill>
                <a:latin typeface="Times New Roman"/>
                <a:cs typeface="Times New Roman"/>
              </a:rPr>
              <a:t>.</a:t>
            </a: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spcBef>
                <a:spcPts val="25"/>
              </a:spcBef>
            </a:pPr>
            <a:endParaRPr sz="1800" dirty="0">
              <a:latin typeface="Times New Roman"/>
              <a:cs typeface="Times New Roman"/>
            </a:endParaRPr>
          </a:p>
          <a:p>
            <a:pPr marL="12700" marR="5080">
              <a:lnSpc>
                <a:spcPct val="100000"/>
              </a:lnSpc>
            </a:pPr>
            <a:r>
              <a:rPr sz="1800" dirty="0">
                <a:solidFill>
                  <a:srgbClr val="CC0066"/>
                </a:solidFill>
                <a:latin typeface="Times New Roman"/>
                <a:cs typeface="Times New Roman"/>
              </a:rPr>
              <a:t>Relations</a:t>
            </a:r>
            <a:r>
              <a:rPr sz="1800" spc="-35" dirty="0">
                <a:solidFill>
                  <a:srgbClr val="CC0066"/>
                </a:solidFill>
                <a:latin typeface="Times New Roman"/>
                <a:cs typeface="Times New Roman"/>
              </a:rPr>
              <a:t> </a:t>
            </a:r>
            <a:r>
              <a:rPr sz="1800" dirty="0">
                <a:solidFill>
                  <a:srgbClr val="CC0066"/>
                </a:solidFill>
                <a:latin typeface="Times New Roman"/>
                <a:cs typeface="Times New Roman"/>
              </a:rPr>
              <a:t>can</a:t>
            </a:r>
            <a:r>
              <a:rPr sz="1800" spc="-30" dirty="0">
                <a:solidFill>
                  <a:srgbClr val="CC0066"/>
                </a:solidFill>
                <a:latin typeface="Times New Roman"/>
                <a:cs typeface="Times New Roman"/>
              </a:rPr>
              <a:t> </a:t>
            </a:r>
            <a:r>
              <a:rPr sz="1800" dirty="0">
                <a:solidFill>
                  <a:srgbClr val="CC0066"/>
                </a:solidFill>
                <a:latin typeface="Times New Roman"/>
                <a:cs typeface="Times New Roman"/>
              </a:rPr>
              <a:t>be</a:t>
            </a:r>
            <a:r>
              <a:rPr sz="1800" spc="-30" dirty="0">
                <a:solidFill>
                  <a:srgbClr val="CC0066"/>
                </a:solidFill>
                <a:latin typeface="Times New Roman"/>
                <a:cs typeface="Times New Roman"/>
              </a:rPr>
              <a:t> </a:t>
            </a:r>
            <a:r>
              <a:rPr sz="1800" dirty="0">
                <a:solidFill>
                  <a:srgbClr val="CC0066"/>
                </a:solidFill>
                <a:latin typeface="Times New Roman"/>
                <a:cs typeface="Times New Roman"/>
              </a:rPr>
              <a:t>represented</a:t>
            </a:r>
            <a:r>
              <a:rPr sz="1800" spc="-30" dirty="0">
                <a:solidFill>
                  <a:srgbClr val="CC0066"/>
                </a:solidFill>
                <a:latin typeface="Times New Roman"/>
                <a:cs typeface="Times New Roman"/>
              </a:rPr>
              <a:t> </a:t>
            </a:r>
            <a:r>
              <a:rPr sz="1800" spc="-10" dirty="0">
                <a:solidFill>
                  <a:srgbClr val="CC0066"/>
                </a:solidFill>
                <a:latin typeface="Times New Roman"/>
                <a:cs typeface="Times New Roman"/>
              </a:rPr>
              <a:t>graphically,</a:t>
            </a:r>
            <a:r>
              <a:rPr sz="1800" spc="-25" dirty="0">
                <a:solidFill>
                  <a:srgbClr val="CC0066"/>
                </a:solidFill>
                <a:latin typeface="Times New Roman"/>
                <a:cs typeface="Times New Roman"/>
              </a:rPr>
              <a:t> </a:t>
            </a:r>
            <a:r>
              <a:rPr sz="1800" dirty="0">
                <a:solidFill>
                  <a:srgbClr val="CC0066"/>
                </a:solidFill>
                <a:latin typeface="Times New Roman"/>
                <a:cs typeface="Times New Roman"/>
              </a:rPr>
              <a:t>as</a:t>
            </a:r>
            <a:r>
              <a:rPr sz="1800" spc="-30" dirty="0">
                <a:solidFill>
                  <a:srgbClr val="CC0066"/>
                </a:solidFill>
                <a:latin typeface="Times New Roman"/>
                <a:cs typeface="Times New Roman"/>
              </a:rPr>
              <a:t> </a:t>
            </a:r>
            <a:r>
              <a:rPr sz="1800" dirty="0">
                <a:solidFill>
                  <a:srgbClr val="CC0066"/>
                </a:solidFill>
                <a:latin typeface="Times New Roman"/>
                <a:cs typeface="Times New Roman"/>
              </a:rPr>
              <a:t>shown</a:t>
            </a:r>
            <a:r>
              <a:rPr sz="1800" spc="-35" dirty="0">
                <a:solidFill>
                  <a:srgbClr val="CC0066"/>
                </a:solidFill>
                <a:latin typeface="Times New Roman"/>
                <a:cs typeface="Times New Roman"/>
              </a:rPr>
              <a:t> </a:t>
            </a:r>
            <a:r>
              <a:rPr sz="1800" dirty="0">
                <a:solidFill>
                  <a:srgbClr val="CC0066"/>
                </a:solidFill>
                <a:latin typeface="Times New Roman"/>
                <a:cs typeface="Times New Roman"/>
              </a:rPr>
              <a:t>in</a:t>
            </a:r>
            <a:r>
              <a:rPr sz="1800" spc="-30" dirty="0">
                <a:solidFill>
                  <a:srgbClr val="CC0066"/>
                </a:solidFill>
                <a:latin typeface="Times New Roman"/>
                <a:cs typeface="Times New Roman"/>
              </a:rPr>
              <a:t> </a:t>
            </a:r>
            <a:r>
              <a:rPr sz="1800" dirty="0">
                <a:solidFill>
                  <a:srgbClr val="CC0066"/>
                </a:solidFill>
                <a:latin typeface="Times New Roman"/>
                <a:cs typeface="Times New Roman"/>
              </a:rPr>
              <a:t>the</a:t>
            </a:r>
            <a:r>
              <a:rPr sz="1800" spc="-35" dirty="0">
                <a:solidFill>
                  <a:srgbClr val="CC0066"/>
                </a:solidFill>
                <a:latin typeface="Times New Roman"/>
                <a:cs typeface="Times New Roman"/>
              </a:rPr>
              <a:t> </a:t>
            </a:r>
            <a:r>
              <a:rPr sz="1800" dirty="0">
                <a:solidFill>
                  <a:srgbClr val="CC0066"/>
                </a:solidFill>
                <a:latin typeface="Times New Roman"/>
                <a:cs typeface="Times New Roman"/>
              </a:rPr>
              <a:t>figure</a:t>
            </a:r>
            <a:r>
              <a:rPr sz="1800" spc="-30" dirty="0">
                <a:solidFill>
                  <a:srgbClr val="CC0066"/>
                </a:solidFill>
                <a:latin typeface="Times New Roman"/>
                <a:cs typeface="Times New Roman"/>
              </a:rPr>
              <a:t> </a:t>
            </a:r>
            <a:r>
              <a:rPr sz="1800" spc="-10" dirty="0">
                <a:solidFill>
                  <a:srgbClr val="CC0066"/>
                </a:solidFill>
                <a:latin typeface="Times New Roman"/>
                <a:cs typeface="Times New Roman"/>
              </a:rPr>
              <a:t>below, </a:t>
            </a:r>
            <a:r>
              <a:rPr sz="1800" dirty="0">
                <a:solidFill>
                  <a:srgbClr val="CC0066"/>
                </a:solidFill>
                <a:latin typeface="Times New Roman"/>
                <a:cs typeface="Times New Roman"/>
              </a:rPr>
              <a:t>using</a:t>
            </a:r>
            <a:r>
              <a:rPr sz="1800" spc="-55" dirty="0">
                <a:solidFill>
                  <a:srgbClr val="CC0066"/>
                </a:solidFill>
                <a:latin typeface="Times New Roman"/>
                <a:cs typeface="Times New Roman"/>
              </a:rPr>
              <a:t> </a:t>
            </a:r>
            <a:r>
              <a:rPr sz="1800" dirty="0">
                <a:solidFill>
                  <a:srgbClr val="CC0066"/>
                </a:solidFill>
                <a:latin typeface="Times New Roman"/>
                <a:cs typeface="Times New Roman"/>
              </a:rPr>
              <a:t>arrows</a:t>
            </a:r>
            <a:r>
              <a:rPr sz="1800" spc="-35" dirty="0">
                <a:solidFill>
                  <a:srgbClr val="CC0066"/>
                </a:solidFill>
                <a:latin typeface="Times New Roman"/>
                <a:cs typeface="Times New Roman"/>
              </a:rPr>
              <a:t> </a:t>
            </a:r>
            <a:r>
              <a:rPr sz="1800" dirty="0">
                <a:solidFill>
                  <a:srgbClr val="CC0066"/>
                </a:solidFill>
                <a:latin typeface="Times New Roman"/>
                <a:cs typeface="Times New Roman"/>
              </a:rPr>
              <a:t>to</a:t>
            </a:r>
            <a:r>
              <a:rPr sz="1800" spc="-30" dirty="0">
                <a:solidFill>
                  <a:srgbClr val="CC0066"/>
                </a:solidFill>
                <a:latin typeface="Times New Roman"/>
                <a:cs typeface="Times New Roman"/>
              </a:rPr>
              <a:t> </a:t>
            </a:r>
            <a:r>
              <a:rPr sz="1800" dirty="0">
                <a:solidFill>
                  <a:srgbClr val="CC0066"/>
                </a:solidFill>
                <a:latin typeface="Times New Roman"/>
                <a:cs typeface="Times New Roman"/>
              </a:rPr>
              <a:t>represent</a:t>
            </a:r>
            <a:r>
              <a:rPr sz="1800" spc="-30" dirty="0">
                <a:solidFill>
                  <a:srgbClr val="CC0066"/>
                </a:solidFill>
                <a:latin typeface="Times New Roman"/>
                <a:cs typeface="Times New Roman"/>
              </a:rPr>
              <a:t> </a:t>
            </a:r>
            <a:r>
              <a:rPr sz="1800" dirty="0">
                <a:solidFill>
                  <a:srgbClr val="CC0066"/>
                </a:solidFill>
                <a:latin typeface="Times New Roman"/>
                <a:cs typeface="Times New Roman"/>
              </a:rPr>
              <a:t>ordered</a:t>
            </a:r>
            <a:r>
              <a:rPr sz="1800" spc="-25" dirty="0">
                <a:solidFill>
                  <a:srgbClr val="CC0066"/>
                </a:solidFill>
                <a:latin typeface="Times New Roman"/>
                <a:cs typeface="Times New Roman"/>
              </a:rPr>
              <a:t> </a:t>
            </a:r>
            <a:r>
              <a:rPr sz="1800" spc="-10" dirty="0">
                <a:solidFill>
                  <a:srgbClr val="CC0066"/>
                </a:solidFill>
                <a:latin typeface="Times New Roman"/>
                <a:cs typeface="Times New Roman"/>
              </a:rPr>
              <a:t>pairs</a:t>
            </a:r>
            <a:r>
              <a:rPr sz="1800" spc="-10" dirty="0">
                <a:solidFill>
                  <a:srgbClr val="404040"/>
                </a:solidFill>
                <a:latin typeface="Times New Roman"/>
                <a:cs typeface="Times New Roman"/>
              </a:rPr>
              <a:t>.</a:t>
            </a:r>
            <a:r>
              <a:rPr sz="1800" spc="-105" dirty="0">
                <a:solidFill>
                  <a:srgbClr val="404040"/>
                </a:solidFill>
                <a:latin typeface="Times New Roman"/>
                <a:cs typeface="Times New Roman"/>
              </a:rPr>
              <a:t> </a:t>
            </a:r>
            <a:r>
              <a:rPr sz="1800" dirty="0">
                <a:solidFill>
                  <a:srgbClr val="0070C0"/>
                </a:solidFill>
                <a:latin typeface="Times New Roman"/>
                <a:cs typeface="Times New Roman"/>
              </a:rPr>
              <a:t>Another</a:t>
            </a:r>
            <a:r>
              <a:rPr sz="1800" spc="-35" dirty="0">
                <a:solidFill>
                  <a:srgbClr val="0070C0"/>
                </a:solidFill>
                <a:latin typeface="Times New Roman"/>
                <a:cs typeface="Times New Roman"/>
              </a:rPr>
              <a:t> </a:t>
            </a:r>
            <a:r>
              <a:rPr sz="1800" dirty="0">
                <a:solidFill>
                  <a:srgbClr val="0070C0"/>
                </a:solidFill>
                <a:latin typeface="Times New Roman"/>
                <a:cs typeface="Times New Roman"/>
              </a:rPr>
              <a:t>way</a:t>
            </a:r>
            <a:r>
              <a:rPr sz="1800" spc="-30" dirty="0">
                <a:solidFill>
                  <a:srgbClr val="0070C0"/>
                </a:solidFill>
                <a:latin typeface="Times New Roman"/>
                <a:cs typeface="Times New Roman"/>
              </a:rPr>
              <a:t> </a:t>
            </a:r>
            <a:r>
              <a:rPr sz="1800" dirty="0">
                <a:solidFill>
                  <a:srgbClr val="0070C0"/>
                </a:solidFill>
                <a:latin typeface="Times New Roman"/>
                <a:cs typeface="Times New Roman"/>
              </a:rPr>
              <a:t>to</a:t>
            </a:r>
            <a:r>
              <a:rPr sz="1800" spc="-30" dirty="0">
                <a:solidFill>
                  <a:srgbClr val="0070C0"/>
                </a:solidFill>
                <a:latin typeface="Times New Roman"/>
                <a:cs typeface="Times New Roman"/>
              </a:rPr>
              <a:t> </a:t>
            </a:r>
            <a:r>
              <a:rPr sz="1800" dirty="0">
                <a:solidFill>
                  <a:srgbClr val="0070C0"/>
                </a:solidFill>
                <a:latin typeface="Times New Roman"/>
                <a:cs typeface="Times New Roman"/>
              </a:rPr>
              <a:t>represent</a:t>
            </a:r>
            <a:r>
              <a:rPr sz="1800" spc="-30" dirty="0">
                <a:solidFill>
                  <a:srgbClr val="0070C0"/>
                </a:solidFill>
                <a:latin typeface="Times New Roman"/>
                <a:cs typeface="Times New Roman"/>
              </a:rPr>
              <a:t> </a:t>
            </a:r>
            <a:r>
              <a:rPr sz="1800" spc="-20" dirty="0">
                <a:solidFill>
                  <a:srgbClr val="0070C0"/>
                </a:solidFill>
                <a:latin typeface="Times New Roman"/>
                <a:cs typeface="Times New Roman"/>
              </a:rPr>
              <a:t>this </a:t>
            </a:r>
            <a:r>
              <a:rPr sz="1800" dirty="0">
                <a:solidFill>
                  <a:srgbClr val="0070C0"/>
                </a:solidFill>
                <a:latin typeface="Times New Roman"/>
                <a:cs typeface="Times New Roman"/>
              </a:rPr>
              <a:t>relation</a:t>
            </a:r>
            <a:r>
              <a:rPr sz="1800" spc="-15" dirty="0">
                <a:solidFill>
                  <a:srgbClr val="0070C0"/>
                </a:solidFill>
                <a:latin typeface="Times New Roman"/>
                <a:cs typeface="Times New Roman"/>
              </a:rPr>
              <a:t> </a:t>
            </a:r>
            <a:r>
              <a:rPr sz="1800" dirty="0">
                <a:solidFill>
                  <a:srgbClr val="0070C0"/>
                </a:solidFill>
                <a:latin typeface="Times New Roman"/>
                <a:cs typeface="Times New Roman"/>
              </a:rPr>
              <a:t>is</a:t>
            </a:r>
            <a:r>
              <a:rPr sz="1800" spc="-15" dirty="0">
                <a:solidFill>
                  <a:srgbClr val="0070C0"/>
                </a:solidFill>
                <a:latin typeface="Times New Roman"/>
                <a:cs typeface="Times New Roman"/>
              </a:rPr>
              <a:t> </a:t>
            </a:r>
            <a:r>
              <a:rPr sz="1800" dirty="0">
                <a:solidFill>
                  <a:srgbClr val="0070C0"/>
                </a:solidFill>
                <a:latin typeface="Times New Roman"/>
                <a:cs typeface="Times New Roman"/>
              </a:rPr>
              <a:t>to</a:t>
            </a:r>
            <a:r>
              <a:rPr sz="1800" spc="-20" dirty="0">
                <a:solidFill>
                  <a:srgbClr val="0070C0"/>
                </a:solidFill>
                <a:latin typeface="Times New Roman"/>
                <a:cs typeface="Times New Roman"/>
              </a:rPr>
              <a:t> </a:t>
            </a:r>
            <a:r>
              <a:rPr sz="1800" dirty="0">
                <a:solidFill>
                  <a:srgbClr val="0070C0"/>
                </a:solidFill>
                <a:latin typeface="Times New Roman"/>
                <a:cs typeface="Times New Roman"/>
              </a:rPr>
              <a:t>use</a:t>
            </a:r>
            <a:r>
              <a:rPr sz="1800" spc="-15" dirty="0">
                <a:solidFill>
                  <a:srgbClr val="0070C0"/>
                </a:solidFill>
                <a:latin typeface="Times New Roman"/>
                <a:cs typeface="Times New Roman"/>
              </a:rPr>
              <a:t> </a:t>
            </a:r>
            <a:r>
              <a:rPr sz="1800" dirty="0">
                <a:solidFill>
                  <a:srgbClr val="0070C0"/>
                </a:solidFill>
                <a:latin typeface="Times New Roman"/>
                <a:cs typeface="Times New Roman"/>
              </a:rPr>
              <a:t>a</a:t>
            </a:r>
            <a:r>
              <a:rPr sz="1800" spc="-20" dirty="0">
                <a:solidFill>
                  <a:srgbClr val="0070C0"/>
                </a:solidFill>
                <a:latin typeface="Times New Roman"/>
                <a:cs typeface="Times New Roman"/>
              </a:rPr>
              <a:t> </a:t>
            </a:r>
            <a:r>
              <a:rPr sz="1800" dirty="0">
                <a:solidFill>
                  <a:srgbClr val="0070C0"/>
                </a:solidFill>
                <a:latin typeface="Times New Roman"/>
                <a:cs typeface="Times New Roman"/>
              </a:rPr>
              <a:t>table,</a:t>
            </a:r>
            <a:r>
              <a:rPr sz="1800" spc="-10" dirty="0">
                <a:solidFill>
                  <a:srgbClr val="0070C0"/>
                </a:solidFill>
                <a:latin typeface="Times New Roman"/>
                <a:cs typeface="Times New Roman"/>
              </a:rPr>
              <a:t> </a:t>
            </a:r>
            <a:r>
              <a:rPr sz="1800" dirty="0">
                <a:solidFill>
                  <a:srgbClr val="0070C0"/>
                </a:solidFill>
                <a:latin typeface="Times New Roman"/>
                <a:cs typeface="Times New Roman"/>
              </a:rPr>
              <a:t>which</a:t>
            </a:r>
            <a:r>
              <a:rPr sz="1800" spc="-20" dirty="0">
                <a:solidFill>
                  <a:srgbClr val="0070C0"/>
                </a:solidFill>
                <a:latin typeface="Times New Roman"/>
                <a:cs typeface="Times New Roman"/>
              </a:rPr>
              <a:t> </a:t>
            </a:r>
            <a:r>
              <a:rPr sz="1800" dirty="0">
                <a:solidFill>
                  <a:srgbClr val="0070C0"/>
                </a:solidFill>
                <a:latin typeface="Times New Roman"/>
                <a:cs typeface="Times New Roman"/>
              </a:rPr>
              <a:t>is</a:t>
            </a:r>
            <a:r>
              <a:rPr sz="1800" spc="-15" dirty="0">
                <a:solidFill>
                  <a:srgbClr val="0070C0"/>
                </a:solidFill>
                <a:latin typeface="Times New Roman"/>
                <a:cs typeface="Times New Roman"/>
              </a:rPr>
              <a:t> </a:t>
            </a:r>
            <a:r>
              <a:rPr sz="1800" dirty="0">
                <a:solidFill>
                  <a:srgbClr val="0070C0"/>
                </a:solidFill>
                <a:latin typeface="Times New Roman"/>
                <a:cs typeface="Times New Roman"/>
              </a:rPr>
              <a:t>also</a:t>
            </a:r>
            <a:r>
              <a:rPr sz="1800" spc="-20" dirty="0">
                <a:solidFill>
                  <a:srgbClr val="0070C0"/>
                </a:solidFill>
                <a:latin typeface="Times New Roman"/>
                <a:cs typeface="Times New Roman"/>
              </a:rPr>
              <a:t> </a:t>
            </a:r>
            <a:r>
              <a:rPr sz="1800" dirty="0">
                <a:solidFill>
                  <a:srgbClr val="0070C0"/>
                </a:solidFill>
                <a:latin typeface="Times New Roman"/>
                <a:cs typeface="Times New Roman"/>
              </a:rPr>
              <a:t>shown</a:t>
            </a:r>
            <a:r>
              <a:rPr sz="1800" spc="-15" dirty="0">
                <a:solidFill>
                  <a:srgbClr val="0070C0"/>
                </a:solidFill>
                <a:latin typeface="Times New Roman"/>
                <a:cs typeface="Times New Roman"/>
              </a:rPr>
              <a:t> </a:t>
            </a:r>
            <a:r>
              <a:rPr sz="1800" dirty="0">
                <a:solidFill>
                  <a:srgbClr val="0070C0"/>
                </a:solidFill>
                <a:latin typeface="Times New Roman"/>
                <a:cs typeface="Times New Roman"/>
              </a:rPr>
              <a:t>in</a:t>
            </a:r>
            <a:r>
              <a:rPr sz="1800" spc="-20" dirty="0">
                <a:solidFill>
                  <a:srgbClr val="0070C0"/>
                </a:solidFill>
                <a:latin typeface="Times New Roman"/>
                <a:cs typeface="Times New Roman"/>
              </a:rPr>
              <a:t> </a:t>
            </a:r>
            <a:r>
              <a:rPr sz="1800" dirty="0">
                <a:solidFill>
                  <a:srgbClr val="0070C0"/>
                </a:solidFill>
                <a:latin typeface="Times New Roman"/>
                <a:cs typeface="Times New Roman"/>
              </a:rPr>
              <a:t>the</a:t>
            </a:r>
            <a:r>
              <a:rPr sz="1800" spc="-20" dirty="0">
                <a:solidFill>
                  <a:srgbClr val="0070C0"/>
                </a:solidFill>
                <a:latin typeface="Times New Roman"/>
                <a:cs typeface="Times New Roman"/>
              </a:rPr>
              <a:t> </a:t>
            </a:r>
            <a:r>
              <a:rPr sz="1800" spc="-10" dirty="0">
                <a:solidFill>
                  <a:srgbClr val="0070C0"/>
                </a:solidFill>
                <a:latin typeface="Times New Roman"/>
                <a:cs typeface="Times New Roman"/>
              </a:rPr>
              <a:t>figure.</a:t>
            </a:r>
            <a:endParaRPr sz="1800" dirty="0">
              <a:solidFill>
                <a:srgbClr val="0070C0"/>
              </a:solidFill>
              <a:latin typeface="Times New Roman"/>
              <a:cs typeface="Times New Roman"/>
            </a:endParaRPr>
          </a:p>
        </p:txBody>
      </p:sp>
      <p:pic>
        <p:nvPicPr>
          <p:cNvPr id="4" name="object 4"/>
          <p:cNvPicPr/>
          <p:nvPr/>
        </p:nvPicPr>
        <p:blipFill>
          <a:blip r:embed="rId2" cstate="print"/>
          <a:stretch>
            <a:fillRect/>
          </a:stretch>
        </p:blipFill>
        <p:spPr>
          <a:xfrm>
            <a:off x="1691639" y="3685794"/>
            <a:ext cx="3878579" cy="294360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2329815">
              <a:lnSpc>
                <a:spcPct val="100000"/>
              </a:lnSpc>
              <a:spcBef>
                <a:spcPts val="100"/>
              </a:spcBef>
            </a:pPr>
            <a:r>
              <a:rPr dirty="0"/>
              <a:t>EXAMPLE</a:t>
            </a:r>
            <a:r>
              <a:rPr spc="-160" dirty="0"/>
              <a:t> </a:t>
            </a:r>
            <a:r>
              <a:rPr spc="-50" dirty="0"/>
              <a:t>F</a:t>
            </a:r>
          </a:p>
        </p:txBody>
      </p:sp>
      <p:sp>
        <p:nvSpPr>
          <p:cNvPr id="3" name="object 3"/>
          <p:cNvSpPr txBox="1"/>
          <p:nvPr/>
        </p:nvSpPr>
        <p:spPr>
          <a:xfrm>
            <a:off x="688340" y="863600"/>
            <a:ext cx="6474460" cy="2762295"/>
          </a:xfrm>
          <a:prstGeom prst="rect">
            <a:avLst/>
          </a:prstGeom>
        </p:spPr>
        <p:txBody>
          <a:bodyPr vert="horz" wrap="square" lIns="0" tIns="12700" rIns="0" bIns="0" rtlCol="0">
            <a:spAutoFit/>
          </a:bodyPr>
          <a:lstStyle/>
          <a:p>
            <a:pPr marL="12700" marR="426720">
              <a:lnSpc>
                <a:spcPct val="100000"/>
              </a:lnSpc>
              <a:spcBef>
                <a:spcPts val="100"/>
              </a:spcBef>
            </a:pPr>
            <a:r>
              <a:rPr sz="1800" b="1" dirty="0">
                <a:solidFill>
                  <a:srgbClr val="404040"/>
                </a:solidFill>
                <a:latin typeface="Times New Roman"/>
                <a:cs typeface="Times New Roman"/>
              </a:rPr>
              <a:t>Let</a:t>
            </a:r>
            <a:r>
              <a:rPr sz="1800" b="1" spc="-25" dirty="0">
                <a:solidFill>
                  <a:srgbClr val="404040"/>
                </a:solidFill>
                <a:latin typeface="Times New Roman"/>
                <a:cs typeface="Times New Roman"/>
              </a:rPr>
              <a:t> </a:t>
            </a:r>
            <a:r>
              <a:rPr sz="1800" b="1" i="1" dirty="0">
                <a:solidFill>
                  <a:srgbClr val="404040"/>
                </a:solidFill>
                <a:latin typeface="Times New Roman"/>
                <a:cs typeface="Times New Roman"/>
              </a:rPr>
              <a:t>A</a:t>
            </a:r>
            <a:r>
              <a:rPr sz="1800" b="1" i="1" spc="-110" dirty="0">
                <a:solidFill>
                  <a:srgbClr val="404040"/>
                </a:solidFill>
                <a:latin typeface="Times New Roman"/>
                <a:cs typeface="Times New Roman"/>
              </a:rPr>
              <a:t> </a:t>
            </a:r>
            <a:r>
              <a:rPr sz="1800" b="1" dirty="0">
                <a:solidFill>
                  <a:srgbClr val="404040"/>
                </a:solidFill>
                <a:latin typeface="Times New Roman"/>
                <a:cs typeface="Times New Roman"/>
              </a:rPr>
              <a:t>be</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the</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set</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{1</a:t>
            </a:r>
            <a:r>
              <a:rPr sz="1800" b="1" i="1" dirty="0">
                <a:solidFill>
                  <a:srgbClr val="404040"/>
                </a:solidFill>
                <a:latin typeface="Times New Roman"/>
                <a:cs typeface="Times New Roman"/>
              </a:rPr>
              <a:t>,</a:t>
            </a:r>
            <a:r>
              <a:rPr sz="1800" b="1" i="1" spc="-15" dirty="0">
                <a:solidFill>
                  <a:srgbClr val="404040"/>
                </a:solidFill>
                <a:latin typeface="Times New Roman"/>
                <a:cs typeface="Times New Roman"/>
              </a:rPr>
              <a:t> </a:t>
            </a:r>
            <a:r>
              <a:rPr sz="1800" b="1" dirty="0">
                <a:solidFill>
                  <a:srgbClr val="404040"/>
                </a:solidFill>
                <a:latin typeface="Times New Roman"/>
                <a:cs typeface="Times New Roman"/>
              </a:rPr>
              <a:t>2</a:t>
            </a:r>
            <a:r>
              <a:rPr sz="1800" b="1" i="1" dirty="0">
                <a:solidFill>
                  <a:srgbClr val="404040"/>
                </a:solidFill>
                <a:latin typeface="Times New Roman"/>
                <a:cs typeface="Times New Roman"/>
              </a:rPr>
              <a:t>,</a:t>
            </a:r>
            <a:r>
              <a:rPr sz="1800" b="1" i="1" spc="-15" dirty="0">
                <a:solidFill>
                  <a:srgbClr val="404040"/>
                </a:solidFill>
                <a:latin typeface="Times New Roman"/>
                <a:cs typeface="Times New Roman"/>
              </a:rPr>
              <a:t> </a:t>
            </a:r>
            <a:r>
              <a:rPr sz="1800" b="1" dirty="0">
                <a:solidFill>
                  <a:srgbClr val="404040"/>
                </a:solidFill>
                <a:latin typeface="Times New Roman"/>
                <a:cs typeface="Times New Roman"/>
              </a:rPr>
              <a:t>3</a:t>
            </a:r>
            <a:r>
              <a:rPr sz="1800" b="1" i="1" dirty="0">
                <a:solidFill>
                  <a:srgbClr val="404040"/>
                </a:solidFill>
                <a:latin typeface="Times New Roman"/>
                <a:cs typeface="Times New Roman"/>
              </a:rPr>
              <a:t>,</a:t>
            </a:r>
            <a:r>
              <a:rPr sz="1800" b="1" i="1" spc="-15" dirty="0">
                <a:solidFill>
                  <a:srgbClr val="404040"/>
                </a:solidFill>
                <a:latin typeface="Times New Roman"/>
                <a:cs typeface="Times New Roman"/>
              </a:rPr>
              <a:t> </a:t>
            </a:r>
            <a:r>
              <a:rPr sz="1800" b="1" dirty="0">
                <a:solidFill>
                  <a:srgbClr val="404040"/>
                </a:solidFill>
                <a:latin typeface="Times New Roman"/>
                <a:cs typeface="Times New Roman"/>
              </a:rPr>
              <a:t>4}.</a:t>
            </a:r>
            <a:r>
              <a:rPr sz="1800" b="1" spc="-50" dirty="0">
                <a:solidFill>
                  <a:srgbClr val="404040"/>
                </a:solidFill>
                <a:latin typeface="Times New Roman"/>
                <a:cs typeface="Times New Roman"/>
              </a:rPr>
              <a:t> </a:t>
            </a:r>
            <a:r>
              <a:rPr sz="1800" b="1" dirty="0">
                <a:solidFill>
                  <a:srgbClr val="404040"/>
                </a:solidFill>
                <a:latin typeface="Times New Roman"/>
                <a:cs typeface="Times New Roman"/>
              </a:rPr>
              <a:t>Which</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ordered</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pairs</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are</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in</a:t>
            </a:r>
            <a:r>
              <a:rPr sz="1800" b="1" spc="-15" dirty="0">
                <a:solidFill>
                  <a:srgbClr val="404040"/>
                </a:solidFill>
                <a:latin typeface="Times New Roman"/>
                <a:cs typeface="Times New Roman"/>
              </a:rPr>
              <a:t> </a:t>
            </a:r>
            <a:r>
              <a:rPr sz="1800" b="1" spc="-25" dirty="0">
                <a:solidFill>
                  <a:srgbClr val="404040"/>
                </a:solidFill>
                <a:latin typeface="Times New Roman"/>
                <a:cs typeface="Times New Roman"/>
              </a:rPr>
              <a:t>the </a:t>
            </a:r>
            <a:r>
              <a:rPr sz="1800" b="1" dirty="0">
                <a:solidFill>
                  <a:srgbClr val="404040"/>
                </a:solidFill>
                <a:latin typeface="Times New Roman"/>
                <a:cs typeface="Times New Roman"/>
              </a:rPr>
              <a:t>relation</a:t>
            </a:r>
            <a:r>
              <a:rPr sz="1800" b="1" spc="-10" dirty="0">
                <a:solidFill>
                  <a:srgbClr val="404040"/>
                </a:solidFill>
                <a:latin typeface="Times New Roman"/>
                <a:cs typeface="Times New Roman"/>
              </a:rPr>
              <a:t> </a:t>
            </a:r>
            <a:r>
              <a:rPr sz="1800" b="1" i="1" dirty="0">
                <a:solidFill>
                  <a:srgbClr val="404040"/>
                </a:solidFill>
                <a:latin typeface="Times New Roman"/>
                <a:cs typeface="Times New Roman"/>
              </a:rPr>
              <a:t>R</a:t>
            </a:r>
            <a:r>
              <a:rPr sz="1800" b="1" i="1" spc="-15" dirty="0">
                <a:solidFill>
                  <a:srgbClr val="404040"/>
                </a:solidFill>
                <a:latin typeface="Times New Roman"/>
                <a:cs typeface="Times New Roman"/>
              </a:rPr>
              <a:t> </a:t>
            </a:r>
            <a:r>
              <a:rPr sz="1800" b="1" dirty="0">
                <a:solidFill>
                  <a:srgbClr val="404040"/>
                </a:solidFill>
                <a:latin typeface="Times New Roman"/>
                <a:cs typeface="Times New Roman"/>
              </a:rPr>
              <a:t>=</a:t>
            </a:r>
            <a:r>
              <a:rPr sz="1800" b="1" spc="-25" dirty="0">
                <a:solidFill>
                  <a:srgbClr val="404040"/>
                </a:solidFill>
                <a:latin typeface="Times New Roman"/>
                <a:cs typeface="Times New Roman"/>
              </a:rPr>
              <a:t> </a:t>
            </a:r>
            <a:r>
              <a:rPr sz="1800" b="1" dirty="0">
                <a:solidFill>
                  <a:srgbClr val="404040"/>
                </a:solidFill>
                <a:latin typeface="Times New Roman"/>
                <a:cs typeface="Times New Roman"/>
              </a:rPr>
              <a:t>{(</a:t>
            </a:r>
            <a:r>
              <a:rPr sz="1800" b="1" i="1" dirty="0">
                <a:solidFill>
                  <a:srgbClr val="404040"/>
                </a:solidFill>
                <a:latin typeface="Times New Roman"/>
                <a:cs typeface="Times New Roman"/>
              </a:rPr>
              <a:t>a,</a:t>
            </a:r>
            <a:r>
              <a:rPr sz="1800" b="1" i="1" spc="-15" dirty="0">
                <a:solidFill>
                  <a:srgbClr val="404040"/>
                </a:solidFill>
                <a:latin typeface="Times New Roman"/>
                <a:cs typeface="Times New Roman"/>
              </a:rPr>
              <a:t> </a:t>
            </a:r>
            <a:r>
              <a:rPr sz="1800" b="1" i="1" dirty="0">
                <a:solidFill>
                  <a:srgbClr val="404040"/>
                </a:solidFill>
                <a:latin typeface="Times New Roman"/>
                <a:cs typeface="Times New Roman"/>
              </a:rPr>
              <a:t>b</a:t>
            </a:r>
            <a:r>
              <a:rPr sz="1800" b="1" dirty="0">
                <a:solidFill>
                  <a:srgbClr val="404040"/>
                </a:solidFill>
                <a:latin typeface="Times New Roman"/>
                <a:cs typeface="Times New Roman"/>
              </a:rPr>
              <a:t>)</a:t>
            </a:r>
            <a:r>
              <a:rPr sz="1800" b="1" spc="-10" dirty="0">
                <a:solidFill>
                  <a:srgbClr val="404040"/>
                </a:solidFill>
                <a:latin typeface="Times New Roman"/>
                <a:cs typeface="Times New Roman"/>
              </a:rPr>
              <a:t> </a:t>
            </a:r>
            <a:r>
              <a:rPr sz="1800" dirty="0">
                <a:solidFill>
                  <a:srgbClr val="404040"/>
                </a:solidFill>
                <a:latin typeface="Cambria Math"/>
                <a:cs typeface="Cambria Math"/>
              </a:rPr>
              <a:t>∣</a:t>
            </a:r>
            <a:r>
              <a:rPr sz="1800" spc="25" dirty="0">
                <a:solidFill>
                  <a:srgbClr val="404040"/>
                </a:solidFill>
                <a:latin typeface="Cambria Math"/>
                <a:cs typeface="Cambria Math"/>
              </a:rPr>
              <a:t> </a:t>
            </a:r>
            <a:r>
              <a:rPr sz="1800" b="1" i="1" dirty="0">
                <a:solidFill>
                  <a:srgbClr val="404040"/>
                </a:solidFill>
                <a:latin typeface="Times New Roman"/>
                <a:cs typeface="Times New Roman"/>
              </a:rPr>
              <a:t>a</a:t>
            </a:r>
            <a:r>
              <a:rPr sz="1800" b="1" i="1" spc="-15" dirty="0">
                <a:solidFill>
                  <a:srgbClr val="404040"/>
                </a:solidFill>
                <a:latin typeface="Times New Roman"/>
                <a:cs typeface="Times New Roman"/>
              </a:rPr>
              <a:t> </a:t>
            </a:r>
            <a:r>
              <a:rPr sz="1800" b="1" dirty="0">
                <a:solidFill>
                  <a:srgbClr val="404040"/>
                </a:solidFill>
                <a:latin typeface="Times New Roman"/>
                <a:cs typeface="Times New Roman"/>
              </a:rPr>
              <a:t>divides</a:t>
            </a:r>
            <a:r>
              <a:rPr sz="1800" b="1" spc="-20" dirty="0">
                <a:solidFill>
                  <a:srgbClr val="404040"/>
                </a:solidFill>
                <a:latin typeface="Times New Roman"/>
                <a:cs typeface="Times New Roman"/>
              </a:rPr>
              <a:t> </a:t>
            </a:r>
            <a:r>
              <a:rPr sz="1800" b="1" i="1" spc="-25" dirty="0">
                <a:solidFill>
                  <a:srgbClr val="404040"/>
                </a:solidFill>
                <a:latin typeface="Times New Roman"/>
                <a:cs typeface="Times New Roman"/>
              </a:rPr>
              <a:t>b</a:t>
            </a:r>
            <a:r>
              <a:rPr sz="1800" b="1" spc="-25" dirty="0">
                <a:solidFill>
                  <a:srgbClr val="404040"/>
                </a:solidFill>
                <a:latin typeface="Times New Roman"/>
                <a:cs typeface="Times New Roman"/>
              </a:rPr>
              <a:t>}?</a:t>
            </a: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spcBef>
                <a:spcPts val="20"/>
              </a:spcBef>
            </a:pPr>
            <a:endParaRPr sz="1800" dirty="0">
              <a:latin typeface="Times New Roman"/>
              <a:cs typeface="Times New Roman"/>
            </a:endParaRPr>
          </a:p>
          <a:p>
            <a:pPr marL="12700" marR="5080">
              <a:lnSpc>
                <a:spcPct val="100000"/>
              </a:lnSpc>
            </a:pPr>
            <a:r>
              <a:rPr sz="1800" b="1" u="sng" dirty="0">
                <a:solidFill>
                  <a:srgbClr val="6F2F9F"/>
                </a:solidFill>
                <a:uFill>
                  <a:solidFill>
                    <a:srgbClr val="6F2F9F"/>
                  </a:solidFill>
                </a:uFill>
                <a:latin typeface="Trebuchet MS"/>
                <a:cs typeface="Trebuchet MS"/>
              </a:rPr>
              <a:t>SOLUTION:</a:t>
            </a:r>
            <a:r>
              <a:rPr sz="1800" b="1" u="sng" spc="-20" dirty="0">
                <a:solidFill>
                  <a:srgbClr val="6F2F9F"/>
                </a:solidFill>
                <a:uFill>
                  <a:solidFill>
                    <a:srgbClr val="6F2F9F"/>
                  </a:solidFill>
                </a:uFill>
                <a:latin typeface="Trebuchet MS"/>
                <a:cs typeface="Trebuchet MS"/>
              </a:rPr>
              <a:t> </a:t>
            </a:r>
            <a:r>
              <a:rPr sz="1800" dirty="0">
                <a:solidFill>
                  <a:srgbClr val="404040"/>
                </a:solidFill>
                <a:latin typeface="Times New Roman"/>
                <a:cs typeface="Times New Roman"/>
              </a:rPr>
              <a:t>Because</a:t>
            </a:r>
            <a:r>
              <a:rPr sz="1800" spc="-20" dirty="0">
                <a:solidFill>
                  <a:srgbClr val="404040"/>
                </a:solidFill>
                <a:latin typeface="Times New Roman"/>
                <a:cs typeface="Times New Roman"/>
              </a:rPr>
              <a:t> </a:t>
            </a:r>
            <a:r>
              <a:rPr sz="1800" dirty="0">
                <a:solidFill>
                  <a:srgbClr val="404040"/>
                </a:solidFill>
                <a:latin typeface="Times New Roman"/>
                <a:cs typeface="Times New Roman"/>
              </a:rPr>
              <a:t>(</a:t>
            </a:r>
            <a:r>
              <a:rPr sz="1800" i="1" dirty="0">
                <a:solidFill>
                  <a:srgbClr val="404040"/>
                </a:solidFill>
                <a:latin typeface="Times New Roman"/>
                <a:cs typeface="Times New Roman"/>
              </a:rPr>
              <a:t>a,</a:t>
            </a:r>
            <a:r>
              <a:rPr sz="1800" i="1" spc="-25" dirty="0">
                <a:solidFill>
                  <a:srgbClr val="404040"/>
                </a:solidFill>
                <a:latin typeface="Times New Roman"/>
                <a:cs typeface="Times New Roman"/>
              </a:rPr>
              <a:t> </a:t>
            </a:r>
            <a:r>
              <a:rPr sz="1800" i="1" dirty="0">
                <a:solidFill>
                  <a:srgbClr val="404040"/>
                </a:solidFill>
                <a:latin typeface="Times New Roman"/>
                <a:cs typeface="Times New Roman"/>
              </a:rPr>
              <a:t>b</a:t>
            </a:r>
            <a:r>
              <a:rPr sz="1800" dirty="0">
                <a:solidFill>
                  <a:srgbClr val="404040"/>
                </a:solidFill>
                <a:latin typeface="Times New Roman"/>
                <a:cs typeface="Times New Roman"/>
              </a:rPr>
              <a:t>)</a:t>
            </a:r>
            <a:r>
              <a:rPr sz="1800" spc="-20" dirty="0">
                <a:solidFill>
                  <a:srgbClr val="404040"/>
                </a:solidFill>
                <a:latin typeface="Times New Roman"/>
                <a:cs typeface="Times New Roman"/>
              </a:rPr>
              <a:t> </a:t>
            </a:r>
            <a:r>
              <a:rPr sz="1800" dirty="0">
                <a:solidFill>
                  <a:srgbClr val="404040"/>
                </a:solidFill>
                <a:latin typeface="Times New Roman"/>
                <a:cs typeface="Times New Roman"/>
              </a:rPr>
              <a:t>is</a:t>
            </a:r>
            <a:r>
              <a:rPr sz="1800" spc="-20" dirty="0">
                <a:solidFill>
                  <a:srgbClr val="404040"/>
                </a:solidFill>
                <a:latin typeface="Times New Roman"/>
                <a:cs typeface="Times New Roman"/>
              </a:rPr>
              <a:t> </a:t>
            </a:r>
            <a:r>
              <a:rPr sz="1800" dirty="0">
                <a:solidFill>
                  <a:srgbClr val="404040"/>
                </a:solidFill>
                <a:latin typeface="Times New Roman"/>
                <a:cs typeface="Times New Roman"/>
              </a:rPr>
              <a:t>in</a:t>
            </a:r>
            <a:r>
              <a:rPr sz="1800" spc="-25" dirty="0">
                <a:solidFill>
                  <a:srgbClr val="404040"/>
                </a:solidFill>
                <a:latin typeface="Times New Roman"/>
                <a:cs typeface="Times New Roman"/>
              </a:rPr>
              <a:t> </a:t>
            </a:r>
            <a:r>
              <a:rPr sz="1800" i="1" dirty="0">
                <a:solidFill>
                  <a:srgbClr val="404040"/>
                </a:solidFill>
                <a:latin typeface="Times New Roman"/>
                <a:cs typeface="Times New Roman"/>
              </a:rPr>
              <a:t>R</a:t>
            </a:r>
            <a:r>
              <a:rPr sz="1800" i="1" spc="-25" dirty="0">
                <a:solidFill>
                  <a:srgbClr val="404040"/>
                </a:solidFill>
                <a:latin typeface="Times New Roman"/>
                <a:cs typeface="Times New Roman"/>
              </a:rPr>
              <a:t> </a:t>
            </a:r>
            <a:r>
              <a:rPr sz="1800" dirty="0">
                <a:solidFill>
                  <a:srgbClr val="404040"/>
                </a:solidFill>
                <a:latin typeface="Times New Roman"/>
                <a:cs typeface="Times New Roman"/>
              </a:rPr>
              <a:t>if</a:t>
            </a:r>
            <a:r>
              <a:rPr sz="1800" spc="-20" dirty="0">
                <a:solidFill>
                  <a:srgbClr val="404040"/>
                </a:solidFill>
                <a:latin typeface="Times New Roman"/>
                <a:cs typeface="Times New Roman"/>
              </a:rPr>
              <a:t> </a:t>
            </a:r>
            <a:r>
              <a:rPr sz="1800" dirty="0">
                <a:solidFill>
                  <a:srgbClr val="404040"/>
                </a:solidFill>
                <a:latin typeface="Times New Roman"/>
                <a:cs typeface="Times New Roman"/>
              </a:rPr>
              <a:t>and</a:t>
            </a:r>
            <a:r>
              <a:rPr sz="1800" spc="-20" dirty="0">
                <a:solidFill>
                  <a:srgbClr val="404040"/>
                </a:solidFill>
                <a:latin typeface="Times New Roman"/>
                <a:cs typeface="Times New Roman"/>
              </a:rPr>
              <a:t> </a:t>
            </a:r>
            <a:r>
              <a:rPr sz="1800" dirty="0">
                <a:solidFill>
                  <a:srgbClr val="404040"/>
                </a:solidFill>
                <a:latin typeface="Times New Roman"/>
                <a:cs typeface="Times New Roman"/>
              </a:rPr>
              <a:t>only</a:t>
            </a:r>
            <a:r>
              <a:rPr sz="1800" spc="-20" dirty="0">
                <a:solidFill>
                  <a:srgbClr val="404040"/>
                </a:solidFill>
                <a:latin typeface="Times New Roman"/>
                <a:cs typeface="Times New Roman"/>
              </a:rPr>
              <a:t> </a:t>
            </a:r>
            <a:r>
              <a:rPr sz="1800" dirty="0">
                <a:solidFill>
                  <a:srgbClr val="404040"/>
                </a:solidFill>
                <a:latin typeface="Times New Roman"/>
                <a:cs typeface="Times New Roman"/>
              </a:rPr>
              <a:t>if</a:t>
            </a:r>
            <a:r>
              <a:rPr sz="1800" spc="-15" dirty="0">
                <a:solidFill>
                  <a:srgbClr val="404040"/>
                </a:solidFill>
                <a:latin typeface="Times New Roman"/>
                <a:cs typeface="Times New Roman"/>
              </a:rPr>
              <a:t> </a:t>
            </a:r>
            <a:r>
              <a:rPr sz="1800" i="1" dirty="0">
                <a:solidFill>
                  <a:srgbClr val="404040"/>
                </a:solidFill>
                <a:latin typeface="Times New Roman"/>
                <a:cs typeface="Times New Roman"/>
              </a:rPr>
              <a:t>a</a:t>
            </a:r>
            <a:r>
              <a:rPr sz="1800" i="1" spc="-20" dirty="0">
                <a:solidFill>
                  <a:srgbClr val="404040"/>
                </a:solidFill>
                <a:latin typeface="Times New Roman"/>
                <a:cs typeface="Times New Roman"/>
              </a:rPr>
              <a:t> </a:t>
            </a:r>
            <a:r>
              <a:rPr sz="1800" dirty="0">
                <a:solidFill>
                  <a:srgbClr val="404040"/>
                </a:solidFill>
                <a:latin typeface="Times New Roman"/>
                <a:cs typeface="Times New Roman"/>
              </a:rPr>
              <a:t>and</a:t>
            </a:r>
            <a:r>
              <a:rPr sz="1800" spc="-20" dirty="0">
                <a:solidFill>
                  <a:srgbClr val="404040"/>
                </a:solidFill>
                <a:latin typeface="Times New Roman"/>
                <a:cs typeface="Times New Roman"/>
              </a:rPr>
              <a:t> </a:t>
            </a:r>
            <a:r>
              <a:rPr sz="1800" i="1" dirty="0">
                <a:solidFill>
                  <a:srgbClr val="404040"/>
                </a:solidFill>
                <a:latin typeface="Times New Roman"/>
                <a:cs typeface="Times New Roman"/>
              </a:rPr>
              <a:t>b</a:t>
            </a:r>
            <a:r>
              <a:rPr sz="1800" i="1" spc="-20" dirty="0">
                <a:solidFill>
                  <a:srgbClr val="404040"/>
                </a:solidFill>
                <a:latin typeface="Times New Roman"/>
                <a:cs typeface="Times New Roman"/>
              </a:rPr>
              <a:t> </a:t>
            </a:r>
            <a:r>
              <a:rPr sz="1800" spc="-25" dirty="0">
                <a:solidFill>
                  <a:srgbClr val="404040"/>
                </a:solidFill>
                <a:latin typeface="Times New Roman"/>
                <a:cs typeface="Times New Roman"/>
              </a:rPr>
              <a:t>are </a:t>
            </a:r>
            <a:r>
              <a:rPr sz="1800" dirty="0">
                <a:solidFill>
                  <a:srgbClr val="404040"/>
                </a:solidFill>
                <a:latin typeface="Times New Roman"/>
                <a:cs typeface="Times New Roman"/>
              </a:rPr>
              <a:t>positive</a:t>
            </a:r>
            <a:r>
              <a:rPr sz="1800" spc="-30" dirty="0">
                <a:solidFill>
                  <a:srgbClr val="404040"/>
                </a:solidFill>
                <a:latin typeface="Times New Roman"/>
                <a:cs typeface="Times New Roman"/>
              </a:rPr>
              <a:t> </a:t>
            </a:r>
            <a:r>
              <a:rPr sz="1800" dirty="0">
                <a:solidFill>
                  <a:srgbClr val="404040"/>
                </a:solidFill>
                <a:latin typeface="Times New Roman"/>
                <a:cs typeface="Times New Roman"/>
              </a:rPr>
              <a:t>integers</a:t>
            </a:r>
            <a:r>
              <a:rPr sz="1800" spc="-25" dirty="0">
                <a:solidFill>
                  <a:srgbClr val="404040"/>
                </a:solidFill>
                <a:latin typeface="Times New Roman"/>
                <a:cs typeface="Times New Roman"/>
              </a:rPr>
              <a:t> </a:t>
            </a:r>
            <a:r>
              <a:rPr sz="1800" dirty="0">
                <a:solidFill>
                  <a:srgbClr val="404040"/>
                </a:solidFill>
                <a:latin typeface="Times New Roman"/>
                <a:cs typeface="Times New Roman"/>
              </a:rPr>
              <a:t>not</a:t>
            </a:r>
            <a:r>
              <a:rPr sz="1800" spc="-30" dirty="0">
                <a:solidFill>
                  <a:srgbClr val="404040"/>
                </a:solidFill>
                <a:latin typeface="Times New Roman"/>
                <a:cs typeface="Times New Roman"/>
              </a:rPr>
              <a:t> </a:t>
            </a:r>
            <a:r>
              <a:rPr sz="1800" dirty="0">
                <a:solidFill>
                  <a:srgbClr val="404040"/>
                </a:solidFill>
                <a:latin typeface="Times New Roman"/>
                <a:cs typeface="Times New Roman"/>
              </a:rPr>
              <a:t>exceeding</a:t>
            </a:r>
            <a:r>
              <a:rPr sz="1800" spc="-10" dirty="0">
                <a:solidFill>
                  <a:srgbClr val="404040"/>
                </a:solidFill>
                <a:latin typeface="Times New Roman"/>
                <a:cs typeface="Times New Roman"/>
              </a:rPr>
              <a:t> </a:t>
            </a:r>
            <a:r>
              <a:rPr sz="1800" dirty="0">
                <a:solidFill>
                  <a:srgbClr val="404040"/>
                </a:solidFill>
                <a:latin typeface="Times New Roman"/>
                <a:cs typeface="Times New Roman"/>
              </a:rPr>
              <a:t>4</a:t>
            </a:r>
            <a:r>
              <a:rPr sz="1800" spc="-30" dirty="0">
                <a:solidFill>
                  <a:srgbClr val="404040"/>
                </a:solidFill>
                <a:latin typeface="Times New Roman"/>
                <a:cs typeface="Times New Roman"/>
              </a:rPr>
              <a:t> </a:t>
            </a:r>
            <a:r>
              <a:rPr sz="1800" dirty="0">
                <a:solidFill>
                  <a:srgbClr val="404040"/>
                </a:solidFill>
                <a:latin typeface="Times New Roman"/>
                <a:cs typeface="Times New Roman"/>
              </a:rPr>
              <a:t>such</a:t>
            </a:r>
            <a:r>
              <a:rPr sz="1800" spc="-25" dirty="0">
                <a:solidFill>
                  <a:srgbClr val="404040"/>
                </a:solidFill>
                <a:latin typeface="Times New Roman"/>
                <a:cs typeface="Times New Roman"/>
              </a:rPr>
              <a:t> </a:t>
            </a:r>
            <a:r>
              <a:rPr sz="1800" dirty="0">
                <a:solidFill>
                  <a:srgbClr val="404040"/>
                </a:solidFill>
                <a:latin typeface="Times New Roman"/>
                <a:cs typeface="Times New Roman"/>
              </a:rPr>
              <a:t>that</a:t>
            </a:r>
            <a:r>
              <a:rPr sz="1800" spc="-30" dirty="0">
                <a:solidFill>
                  <a:srgbClr val="404040"/>
                </a:solidFill>
                <a:latin typeface="Times New Roman"/>
                <a:cs typeface="Times New Roman"/>
              </a:rPr>
              <a:t> </a:t>
            </a:r>
            <a:r>
              <a:rPr sz="1800" i="1" dirty="0">
                <a:solidFill>
                  <a:srgbClr val="404040"/>
                </a:solidFill>
                <a:latin typeface="Times New Roman"/>
                <a:cs typeface="Times New Roman"/>
              </a:rPr>
              <a:t>a</a:t>
            </a:r>
            <a:r>
              <a:rPr sz="1800" i="1" spc="-25" dirty="0">
                <a:solidFill>
                  <a:srgbClr val="404040"/>
                </a:solidFill>
                <a:latin typeface="Times New Roman"/>
                <a:cs typeface="Times New Roman"/>
              </a:rPr>
              <a:t> </a:t>
            </a:r>
            <a:r>
              <a:rPr sz="1800" dirty="0">
                <a:solidFill>
                  <a:srgbClr val="404040"/>
                </a:solidFill>
                <a:latin typeface="Times New Roman"/>
                <a:cs typeface="Times New Roman"/>
              </a:rPr>
              <a:t>divides</a:t>
            </a:r>
            <a:r>
              <a:rPr sz="1800" spc="-20" dirty="0">
                <a:solidFill>
                  <a:srgbClr val="404040"/>
                </a:solidFill>
                <a:latin typeface="Times New Roman"/>
                <a:cs typeface="Times New Roman"/>
              </a:rPr>
              <a:t> </a:t>
            </a:r>
            <a:r>
              <a:rPr sz="1800" i="1" dirty="0">
                <a:solidFill>
                  <a:srgbClr val="404040"/>
                </a:solidFill>
                <a:latin typeface="Times New Roman"/>
                <a:cs typeface="Times New Roman"/>
              </a:rPr>
              <a:t>b</a:t>
            </a:r>
            <a:r>
              <a:rPr sz="1800" dirty="0">
                <a:solidFill>
                  <a:srgbClr val="404040"/>
                </a:solidFill>
                <a:latin typeface="Times New Roman"/>
                <a:cs typeface="Times New Roman"/>
              </a:rPr>
              <a:t>,</a:t>
            </a:r>
            <a:r>
              <a:rPr sz="1800" spc="-30" dirty="0">
                <a:solidFill>
                  <a:srgbClr val="404040"/>
                </a:solidFill>
                <a:latin typeface="Times New Roman"/>
                <a:cs typeface="Times New Roman"/>
              </a:rPr>
              <a:t> </a:t>
            </a:r>
            <a:r>
              <a:rPr sz="1800" dirty="0">
                <a:solidFill>
                  <a:srgbClr val="404040"/>
                </a:solidFill>
                <a:latin typeface="Times New Roman"/>
                <a:cs typeface="Times New Roman"/>
              </a:rPr>
              <a:t>we</a:t>
            </a:r>
            <a:r>
              <a:rPr sz="1800" spc="-25" dirty="0">
                <a:solidFill>
                  <a:srgbClr val="404040"/>
                </a:solidFill>
                <a:latin typeface="Times New Roman"/>
                <a:cs typeface="Times New Roman"/>
              </a:rPr>
              <a:t> </a:t>
            </a:r>
            <a:r>
              <a:rPr sz="1800" dirty="0">
                <a:solidFill>
                  <a:srgbClr val="404040"/>
                </a:solidFill>
                <a:latin typeface="Times New Roman"/>
                <a:cs typeface="Times New Roman"/>
              </a:rPr>
              <a:t>see</a:t>
            </a:r>
            <a:r>
              <a:rPr sz="1800" spc="-30" dirty="0">
                <a:solidFill>
                  <a:srgbClr val="404040"/>
                </a:solidFill>
                <a:latin typeface="Times New Roman"/>
                <a:cs typeface="Times New Roman"/>
              </a:rPr>
              <a:t> </a:t>
            </a:r>
            <a:r>
              <a:rPr sz="1800" spc="-20" dirty="0">
                <a:solidFill>
                  <a:srgbClr val="404040"/>
                </a:solidFill>
                <a:latin typeface="Times New Roman"/>
                <a:cs typeface="Times New Roman"/>
              </a:rPr>
              <a:t>that</a:t>
            </a:r>
            <a:endParaRPr sz="1800" dirty="0">
              <a:latin typeface="Times New Roman"/>
              <a:cs typeface="Times New Roman"/>
            </a:endParaRPr>
          </a:p>
          <a:p>
            <a:pPr marL="12700">
              <a:lnSpc>
                <a:spcPct val="100000"/>
              </a:lnSpc>
              <a:spcBef>
                <a:spcPts val="1000"/>
              </a:spcBef>
            </a:pPr>
            <a:r>
              <a:rPr sz="1800" i="1" dirty="0">
                <a:solidFill>
                  <a:srgbClr val="404040"/>
                </a:solidFill>
                <a:latin typeface="Times New Roman"/>
                <a:cs typeface="Times New Roman"/>
              </a:rPr>
              <a:t>R</a:t>
            </a:r>
            <a:r>
              <a:rPr sz="1800" i="1" spc="-15" dirty="0">
                <a:solidFill>
                  <a:srgbClr val="404040"/>
                </a:solidFill>
                <a:latin typeface="Times New Roman"/>
                <a:cs typeface="Times New Roman"/>
              </a:rPr>
              <a:t> </a:t>
            </a:r>
            <a:r>
              <a:rPr sz="1800" dirty="0">
                <a:solidFill>
                  <a:srgbClr val="404040"/>
                </a:solidFill>
                <a:latin typeface="Times New Roman"/>
                <a:cs typeface="Times New Roman"/>
              </a:rPr>
              <a:t>=</a:t>
            </a:r>
            <a:r>
              <a:rPr sz="1800" spc="-5" dirty="0">
                <a:solidFill>
                  <a:srgbClr val="404040"/>
                </a:solidFill>
                <a:latin typeface="Times New Roman"/>
                <a:cs typeface="Times New Roman"/>
              </a:rPr>
              <a:t> </a:t>
            </a:r>
            <a:r>
              <a:rPr sz="1800" dirty="0">
                <a:solidFill>
                  <a:srgbClr val="404040"/>
                </a:solidFill>
                <a:latin typeface="Times New Roman"/>
                <a:cs typeface="Times New Roman"/>
              </a:rPr>
              <a:t>{(1</a:t>
            </a:r>
            <a:r>
              <a:rPr sz="1800" i="1" dirty="0">
                <a:solidFill>
                  <a:srgbClr val="404040"/>
                </a:solidFill>
                <a:latin typeface="Times New Roman"/>
                <a:cs typeface="Times New Roman"/>
              </a:rPr>
              <a:t>,</a:t>
            </a:r>
            <a:r>
              <a:rPr sz="1800" i="1" spc="-5" dirty="0">
                <a:solidFill>
                  <a:srgbClr val="404040"/>
                </a:solidFill>
                <a:latin typeface="Times New Roman"/>
                <a:cs typeface="Times New Roman"/>
              </a:rPr>
              <a:t> </a:t>
            </a:r>
            <a:r>
              <a:rPr sz="1800" dirty="0">
                <a:solidFill>
                  <a:srgbClr val="404040"/>
                </a:solidFill>
                <a:latin typeface="Times New Roman"/>
                <a:cs typeface="Times New Roman"/>
              </a:rPr>
              <a:t>1)</a:t>
            </a:r>
            <a:r>
              <a:rPr sz="1800" i="1" dirty="0">
                <a:solidFill>
                  <a:srgbClr val="404040"/>
                </a:solidFill>
                <a:latin typeface="Times New Roman"/>
                <a:cs typeface="Times New Roman"/>
              </a:rPr>
              <a:t>,</a:t>
            </a:r>
            <a:r>
              <a:rPr sz="1800" i="1" spc="-5" dirty="0">
                <a:solidFill>
                  <a:srgbClr val="404040"/>
                </a:solidFill>
                <a:latin typeface="Times New Roman"/>
                <a:cs typeface="Times New Roman"/>
              </a:rPr>
              <a:t> </a:t>
            </a:r>
            <a:r>
              <a:rPr sz="1800" dirty="0">
                <a:solidFill>
                  <a:srgbClr val="404040"/>
                </a:solidFill>
                <a:latin typeface="Times New Roman"/>
                <a:cs typeface="Times New Roman"/>
              </a:rPr>
              <a:t>(1</a:t>
            </a:r>
            <a:r>
              <a:rPr sz="1800" i="1" dirty="0">
                <a:solidFill>
                  <a:srgbClr val="404040"/>
                </a:solidFill>
                <a:latin typeface="Times New Roman"/>
                <a:cs typeface="Times New Roman"/>
              </a:rPr>
              <a:t>,</a:t>
            </a:r>
            <a:r>
              <a:rPr sz="1800" i="1" spc="-5" dirty="0">
                <a:solidFill>
                  <a:srgbClr val="404040"/>
                </a:solidFill>
                <a:latin typeface="Times New Roman"/>
                <a:cs typeface="Times New Roman"/>
              </a:rPr>
              <a:t> </a:t>
            </a:r>
            <a:r>
              <a:rPr sz="1800" dirty="0">
                <a:solidFill>
                  <a:srgbClr val="404040"/>
                </a:solidFill>
                <a:latin typeface="Times New Roman"/>
                <a:cs typeface="Times New Roman"/>
              </a:rPr>
              <a:t>2)</a:t>
            </a:r>
            <a:r>
              <a:rPr sz="1800" i="1" dirty="0">
                <a:solidFill>
                  <a:srgbClr val="404040"/>
                </a:solidFill>
                <a:latin typeface="Times New Roman"/>
                <a:cs typeface="Times New Roman"/>
              </a:rPr>
              <a:t>,</a:t>
            </a:r>
            <a:r>
              <a:rPr sz="1800" i="1" spc="-10" dirty="0">
                <a:solidFill>
                  <a:srgbClr val="404040"/>
                </a:solidFill>
                <a:latin typeface="Times New Roman"/>
                <a:cs typeface="Times New Roman"/>
              </a:rPr>
              <a:t> </a:t>
            </a:r>
            <a:r>
              <a:rPr sz="1800" dirty="0">
                <a:solidFill>
                  <a:srgbClr val="404040"/>
                </a:solidFill>
                <a:latin typeface="Times New Roman"/>
                <a:cs typeface="Times New Roman"/>
              </a:rPr>
              <a:t>(1</a:t>
            </a:r>
            <a:r>
              <a:rPr sz="1800" i="1" dirty="0">
                <a:solidFill>
                  <a:srgbClr val="404040"/>
                </a:solidFill>
                <a:latin typeface="Times New Roman"/>
                <a:cs typeface="Times New Roman"/>
              </a:rPr>
              <a:t>,</a:t>
            </a:r>
            <a:r>
              <a:rPr sz="1800" i="1" spc="-5" dirty="0">
                <a:solidFill>
                  <a:srgbClr val="404040"/>
                </a:solidFill>
                <a:latin typeface="Times New Roman"/>
                <a:cs typeface="Times New Roman"/>
              </a:rPr>
              <a:t> </a:t>
            </a:r>
            <a:r>
              <a:rPr sz="1800" dirty="0">
                <a:solidFill>
                  <a:srgbClr val="404040"/>
                </a:solidFill>
                <a:latin typeface="Times New Roman"/>
                <a:cs typeface="Times New Roman"/>
              </a:rPr>
              <a:t>3)</a:t>
            </a:r>
            <a:r>
              <a:rPr sz="1800" i="1" dirty="0">
                <a:solidFill>
                  <a:srgbClr val="404040"/>
                </a:solidFill>
                <a:latin typeface="Times New Roman"/>
                <a:cs typeface="Times New Roman"/>
              </a:rPr>
              <a:t>,</a:t>
            </a:r>
            <a:r>
              <a:rPr sz="1800" i="1" spc="-5" dirty="0">
                <a:solidFill>
                  <a:srgbClr val="404040"/>
                </a:solidFill>
                <a:latin typeface="Times New Roman"/>
                <a:cs typeface="Times New Roman"/>
              </a:rPr>
              <a:t> </a:t>
            </a:r>
            <a:r>
              <a:rPr sz="1800" dirty="0">
                <a:solidFill>
                  <a:srgbClr val="404040"/>
                </a:solidFill>
                <a:latin typeface="Times New Roman"/>
                <a:cs typeface="Times New Roman"/>
              </a:rPr>
              <a:t>(1</a:t>
            </a:r>
            <a:r>
              <a:rPr sz="1800" i="1" dirty="0">
                <a:solidFill>
                  <a:srgbClr val="404040"/>
                </a:solidFill>
                <a:latin typeface="Times New Roman"/>
                <a:cs typeface="Times New Roman"/>
              </a:rPr>
              <a:t>,</a:t>
            </a:r>
            <a:r>
              <a:rPr sz="1800" i="1" spc="-5" dirty="0">
                <a:solidFill>
                  <a:srgbClr val="404040"/>
                </a:solidFill>
                <a:latin typeface="Times New Roman"/>
                <a:cs typeface="Times New Roman"/>
              </a:rPr>
              <a:t> </a:t>
            </a:r>
            <a:r>
              <a:rPr sz="1800" dirty="0">
                <a:solidFill>
                  <a:srgbClr val="404040"/>
                </a:solidFill>
                <a:latin typeface="Times New Roman"/>
                <a:cs typeface="Times New Roman"/>
              </a:rPr>
              <a:t>4)</a:t>
            </a:r>
            <a:r>
              <a:rPr sz="1800" i="1" dirty="0">
                <a:solidFill>
                  <a:srgbClr val="404040"/>
                </a:solidFill>
                <a:latin typeface="Times New Roman"/>
                <a:cs typeface="Times New Roman"/>
              </a:rPr>
              <a:t>,</a:t>
            </a:r>
            <a:r>
              <a:rPr sz="1800" i="1" spc="-5" dirty="0">
                <a:solidFill>
                  <a:srgbClr val="404040"/>
                </a:solidFill>
                <a:latin typeface="Times New Roman"/>
                <a:cs typeface="Times New Roman"/>
              </a:rPr>
              <a:t> </a:t>
            </a:r>
            <a:r>
              <a:rPr sz="1800" dirty="0">
                <a:solidFill>
                  <a:srgbClr val="404040"/>
                </a:solidFill>
                <a:latin typeface="Times New Roman"/>
                <a:cs typeface="Times New Roman"/>
              </a:rPr>
              <a:t>(2</a:t>
            </a:r>
            <a:r>
              <a:rPr sz="1800" i="1" dirty="0">
                <a:solidFill>
                  <a:srgbClr val="404040"/>
                </a:solidFill>
                <a:latin typeface="Times New Roman"/>
                <a:cs typeface="Times New Roman"/>
              </a:rPr>
              <a:t>,</a:t>
            </a:r>
            <a:r>
              <a:rPr sz="1800" i="1" spc="-5" dirty="0">
                <a:solidFill>
                  <a:srgbClr val="404040"/>
                </a:solidFill>
                <a:latin typeface="Times New Roman"/>
                <a:cs typeface="Times New Roman"/>
              </a:rPr>
              <a:t> </a:t>
            </a:r>
            <a:r>
              <a:rPr sz="1800" dirty="0">
                <a:solidFill>
                  <a:srgbClr val="404040"/>
                </a:solidFill>
                <a:latin typeface="Times New Roman"/>
                <a:cs typeface="Times New Roman"/>
              </a:rPr>
              <a:t>2)</a:t>
            </a:r>
            <a:r>
              <a:rPr sz="1800" i="1" dirty="0">
                <a:solidFill>
                  <a:srgbClr val="404040"/>
                </a:solidFill>
                <a:latin typeface="Times New Roman"/>
                <a:cs typeface="Times New Roman"/>
              </a:rPr>
              <a:t>,</a:t>
            </a:r>
            <a:r>
              <a:rPr sz="1800" i="1" spc="-10" dirty="0">
                <a:solidFill>
                  <a:srgbClr val="404040"/>
                </a:solidFill>
                <a:latin typeface="Times New Roman"/>
                <a:cs typeface="Times New Roman"/>
              </a:rPr>
              <a:t> </a:t>
            </a:r>
            <a:r>
              <a:rPr sz="1800" dirty="0">
                <a:solidFill>
                  <a:srgbClr val="404040"/>
                </a:solidFill>
                <a:latin typeface="Times New Roman"/>
                <a:cs typeface="Times New Roman"/>
              </a:rPr>
              <a:t>(2</a:t>
            </a:r>
            <a:r>
              <a:rPr sz="1800" i="1" dirty="0">
                <a:solidFill>
                  <a:srgbClr val="404040"/>
                </a:solidFill>
                <a:latin typeface="Times New Roman"/>
                <a:cs typeface="Times New Roman"/>
              </a:rPr>
              <a:t>,</a:t>
            </a:r>
            <a:r>
              <a:rPr sz="1800" i="1" spc="-5" dirty="0">
                <a:solidFill>
                  <a:srgbClr val="404040"/>
                </a:solidFill>
                <a:latin typeface="Times New Roman"/>
                <a:cs typeface="Times New Roman"/>
              </a:rPr>
              <a:t> </a:t>
            </a:r>
            <a:r>
              <a:rPr sz="1800" dirty="0">
                <a:solidFill>
                  <a:srgbClr val="404040"/>
                </a:solidFill>
                <a:latin typeface="Times New Roman"/>
                <a:cs typeface="Times New Roman"/>
              </a:rPr>
              <a:t>4)</a:t>
            </a:r>
            <a:r>
              <a:rPr sz="1800" i="1" dirty="0">
                <a:solidFill>
                  <a:srgbClr val="404040"/>
                </a:solidFill>
                <a:latin typeface="Times New Roman"/>
                <a:cs typeface="Times New Roman"/>
              </a:rPr>
              <a:t>,</a:t>
            </a:r>
            <a:r>
              <a:rPr sz="1800" i="1" spc="-5" dirty="0">
                <a:solidFill>
                  <a:srgbClr val="404040"/>
                </a:solidFill>
                <a:latin typeface="Times New Roman"/>
                <a:cs typeface="Times New Roman"/>
              </a:rPr>
              <a:t> </a:t>
            </a:r>
            <a:r>
              <a:rPr sz="1800" dirty="0">
                <a:solidFill>
                  <a:srgbClr val="404040"/>
                </a:solidFill>
                <a:latin typeface="Times New Roman"/>
                <a:cs typeface="Times New Roman"/>
              </a:rPr>
              <a:t>(3</a:t>
            </a:r>
            <a:r>
              <a:rPr sz="1800" i="1" dirty="0">
                <a:solidFill>
                  <a:srgbClr val="404040"/>
                </a:solidFill>
                <a:latin typeface="Times New Roman"/>
                <a:cs typeface="Times New Roman"/>
              </a:rPr>
              <a:t>,</a:t>
            </a:r>
            <a:r>
              <a:rPr sz="1800" i="1" spc="-5" dirty="0">
                <a:solidFill>
                  <a:srgbClr val="404040"/>
                </a:solidFill>
                <a:latin typeface="Times New Roman"/>
                <a:cs typeface="Times New Roman"/>
              </a:rPr>
              <a:t> </a:t>
            </a:r>
            <a:r>
              <a:rPr sz="1800" dirty="0">
                <a:solidFill>
                  <a:srgbClr val="404040"/>
                </a:solidFill>
                <a:latin typeface="Times New Roman"/>
                <a:cs typeface="Times New Roman"/>
              </a:rPr>
              <a:t>3)</a:t>
            </a:r>
            <a:r>
              <a:rPr sz="1800" i="1" dirty="0">
                <a:solidFill>
                  <a:srgbClr val="404040"/>
                </a:solidFill>
                <a:latin typeface="Times New Roman"/>
                <a:cs typeface="Times New Roman"/>
              </a:rPr>
              <a:t>,</a:t>
            </a:r>
            <a:r>
              <a:rPr sz="1800" i="1" spc="-5" dirty="0">
                <a:solidFill>
                  <a:srgbClr val="404040"/>
                </a:solidFill>
                <a:latin typeface="Times New Roman"/>
                <a:cs typeface="Times New Roman"/>
              </a:rPr>
              <a:t> </a:t>
            </a:r>
            <a:r>
              <a:rPr sz="1800" spc="-10" dirty="0">
                <a:solidFill>
                  <a:srgbClr val="404040"/>
                </a:solidFill>
                <a:latin typeface="Times New Roman"/>
                <a:cs typeface="Times New Roman"/>
              </a:rPr>
              <a:t>(4</a:t>
            </a:r>
            <a:r>
              <a:rPr sz="1800" i="1" spc="-10" dirty="0">
                <a:solidFill>
                  <a:srgbClr val="404040"/>
                </a:solidFill>
                <a:latin typeface="Times New Roman"/>
                <a:cs typeface="Times New Roman"/>
              </a:rPr>
              <a:t>,</a:t>
            </a:r>
            <a:r>
              <a:rPr sz="1800" spc="-10" dirty="0">
                <a:solidFill>
                  <a:srgbClr val="404040"/>
                </a:solidFill>
                <a:latin typeface="Times New Roman"/>
                <a:cs typeface="Times New Roman"/>
              </a:rPr>
              <a:t>4)}</a:t>
            </a:r>
            <a:r>
              <a:rPr sz="1800" i="1" spc="-10" dirty="0">
                <a:solidFill>
                  <a:srgbClr val="404040"/>
                </a:solidFill>
                <a:latin typeface="Times New Roman"/>
                <a:cs typeface="Times New Roman"/>
              </a:rPr>
              <a:t>.</a:t>
            </a:r>
            <a:endParaRPr sz="1800" dirty="0">
              <a:latin typeface="Times New Roman"/>
              <a:cs typeface="Times New Roman"/>
            </a:endParaRPr>
          </a:p>
          <a:p>
            <a:pPr marL="355600" marR="64135" indent="-342900">
              <a:lnSpc>
                <a:spcPct val="100000"/>
              </a:lnSpc>
              <a:spcBef>
                <a:spcPts val="994"/>
              </a:spcBef>
              <a:tabLst>
                <a:tab pos="354965" algn="l"/>
              </a:tabLst>
            </a:pPr>
            <a:r>
              <a:rPr sz="1450" spc="65" dirty="0">
                <a:solidFill>
                  <a:srgbClr val="90C225"/>
                </a:solidFill>
                <a:latin typeface="Lucida Sans Unicode"/>
                <a:cs typeface="Lucida Sans Unicode"/>
              </a:rPr>
              <a:t>▶</a:t>
            </a:r>
            <a:r>
              <a:rPr sz="1450" dirty="0">
                <a:solidFill>
                  <a:srgbClr val="90C225"/>
                </a:solidFill>
                <a:latin typeface="Lucida Sans Unicode"/>
                <a:cs typeface="Lucida Sans Unicode"/>
              </a:rPr>
              <a:t>	</a:t>
            </a:r>
            <a:r>
              <a:rPr sz="1800" dirty="0">
                <a:solidFill>
                  <a:srgbClr val="404040"/>
                </a:solidFill>
                <a:latin typeface="Times New Roman"/>
                <a:cs typeface="Times New Roman"/>
              </a:rPr>
              <a:t>The</a:t>
            </a:r>
            <a:r>
              <a:rPr sz="1800" spc="-35" dirty="0">
                <a:solidFill>
                  <a:srgbClr val="404040"/>
                </a:solidFill>
                <a:latin typeface="Times New Roman"/>
                <a:cs typeface="Times New Roman"/>
              </a:rPr>
              <a:t> </a:t>
            </a:r>
            <a:r>
              <a:rPr sz="1800" dirty="0">
                <a:solidFill>
                  <a:srgbClr val="404040"/>
                </a:solidFill>
                <a:latin typeface="Times New Roman"/>
                <a:cs typeface="Times New Roman"/>
              </a:rPr>
              <a:t>pairs</a:t>
            </a:r>
            <a:r>
              <a:rPr sz="1800" spc="-30" dirty="0">
                <a:solidFill>
                  <a:srgbClr val="404040"/>
                </a:solidFill>
                <a:latin typeface="Times New Roman"/>
                <a:cs typeface="Times New Roman"/>
              </a:rPr>
              <a:t> </a:t>
            </a:r>
            <a:r>
              <a:rPr sz="1800" dirty="0">
                <a:solidFill>
                  <a:srgbClr val="404040"/>
                </a:solidFill>
                <a:latin typeface="Times New Roman"/>
                <a:cs typeface="Times New Roman"/>
              </a:rPr>
              <a:t>in</a:t>
            </a:r>
            <a:r>
              <a:rPr sz="1800" spc="-30" dirty="0">
                <a:solidFill>
                  <a:srgbClr val="404040"/>
                </a:solidFill>
                <a:latin typeface="Times New Roman"/>
                <a:cs typeface="Times New Roman"/>
              </a:rPr>
              <a:t> </a:t>
            </a:r>
            <a:r>
              <a:rPr sz="1800" dirty="0">
                <a:solidFill>
                  <a:srgbClr val="404040"/>
                </a:solidFill>
                <a:latin typeface="Times New Roman"/>
                <a:cs typeface="Times New Roman"/>
              </a:rPr>
              <a:t>this</a:t>
            </a:r>
            <a:r>
              <a:rPr sz="1800" spc="-30" dirty="0">
                <a:solidFill>
                  <a:srgbClr val="404040"/>
                </a:solidFill>
                <a:latin typeface="Times New Roman"/>
                <a:cs typeface="Times New Roman"/>
              </a:rPr>
              <a:t> </a:t>
            </a:r>
            <a:r>
              <a:rPr sz="1800" dirty="0">
                <a:solidFill>
                  <a:srgbClr val="404040"/>
                </a:solidFill>
                <a:latin typeface="Times New Roman"/>
                <a:cs typeface="Times New Roman"/>
              </a:rPr>
              <a:t>relation</a:t>
            </a:r>
            <a:r>
              <a:rPr sz="1800" spc="-30" dirty="0">
                <a:solidFill>
                  <a:srgbClr val="404040"/>
                </a:solidFill>
                <a:latin typeface="Times New Roman"/>
                <a:cs typeface="Times New Roman"/>
              </a:rPr>
              <a:t> </a:t>
            </a:r>
            <a:r>
              <a:rPr sz="1800" dirty="0">
                <a:solidFill>
                  <a:srgbClr val="404040"/>
                </a:solidFill>
                <a:latin typeface="Times New Roman"/>
                <a:cs typeface="Times New Roman"/>
              </a:rPr>
              <a:t>are</a:t>
            </a:r>
            <a:r>
              <a:rPr sz="1800" spc="-30" dirty="0">
                <a:solidFill>
                  <a:srgbClr val="404040"/>
                </a:solidFill>
                <a:latin typeface="Times New Roman"/>
                <a:cs typeface="Times New Roman"/>
              </a:rPr>
              <a:t> </a:t>
            </a:r>
            <a:r>
              <a:rPr sz="1800" dirty="0">
                <a:solidFill>
                  <a:srgbClr val="404040"/>
                </a:solidFill>
                <a:latin typeface="Times New Roman"/>
                <a:cs typeface="Times New Roman"/>
              </a:rPr>
              <a:t>displayed</a:t>
            </a:r>
            <a:r>
              <a:rPr sz="1800" spc="-30" dirty="0">
                <a:solidFill>
                  <a:srgbClr val="404040"/>
                </a:solidFill>
                <a:latin typeface="Times New Roman"/>
                <a:cs typeface="Times New Roman"/>
              </a:rPr>
              <a:t> </a:t>
            </a:r>
            <a:r>
              <a:rPr sz="1800" dirty="0">
                <a:solidFill>
                  <a:srgbClr val="404040"/>
                </a:solidFill>
                <a:latin typeface="Times New Roman"/>
                <a:cs typeface="Times New Roman"/>
              </a:rPr>
              <a:t>both</a:t>
            </a:r>
            <a:r>
              <a:rPr sz="1800" spc="-30" dirty="0">
                <a:solidFill>
                  <a:srgbClr val="404040"/>
                </a:solidFill>
                <a:latin typeface="Times New Roman"/>
                <a:cs typeface="Times New Roman"/>
              </a:rPr>
              <a:t> </a:t>
            </a:r>
            <a:r>
              <a:rPr sz="1800" dirty="0">
                <a:solidFill>
                  <a:srgbClr val="404040"/>
                </a:solidFill>
                <a:latin typeface="Times New Roman"/>
                <a:cs typeface="Times New Roman"/>
              </a:rPr>
              <a:t>graphically</a:t>
            </a:r>
            <a:r>
              <a:rPr sz="1800" spc="-25" dirty="0">
                <a:solidFill>
                  <a:srgbClr val="404040"/>
                </a:solidFill>
                <a:latin typeface="Times New Roman"/>
                <a:cs typeface="Times New Roman"/>
              </a:rPr>
              <a:t> </a:t>
            </a:r>
            <a:r>
              <a:rPr sz="1800" dirty="0">
                <a:solidFill>
                  <a:srgbClr val="404040"/>
                </a:solidFill>
                <a:latin typeface="Times New Roman"/>
                <a:cs typeface="Times New Roman"/>
              </a:rPr>
              <a:t>and</a:t>
            </a:r>
            <a:r>
              <a:rPr sz="1800" spc="-30" dirty="0">
                <a:solidFill>
                  <a:srgbClr val="404040"/>
                </a:solidFill>
                <a:latin typeface="Times New Roman"/>
                <a:cs typeface="Times New Roman"/>
              </a:rPr>
              <a:t> </a:t>
            </a:r>
            <a:r>
              <a:rPr sz="1800" spc="-25" dirty="0">
                <a:solidFill>
                  <a:srgbClr val="404040"/>
                </a:solidFill>
                <a:latin typeface="Times New Roman"/>
                <a:cs typeface="Times New Roman"/>
              </a:rPr>
              <a:t>in </a:t>
            </a:r>
            <a:r>
              <a:rPr sz="1800" dirty="0">
                <a:solidFill>
                  <a:srgbClr val="404040"/>
                </a:solidFill>
                <a:latin typeface="Times New Roman"/>
                <a:cs typeface="Times New Roman"/>
              </a:rPr>
              <a:t>tabular</a:t>
            </a:r>
            <a:r>
              <a:rPr sz="1800" spc="-30" dirty="0">
                <a:solidFill>
                  <a:srgbClr val="404040"/>
                </a:solidFill>
                <a:latin typeface="Times New Roman"/>
                <a:cs typeface="Times New Roman"/>
              </a:rPr>
              <a:t> </a:t>
            </a:r>
            <a:r>
              <a:rPr sz="1800" dirty="0">
                <a:solidFill>
                  <a:srgbClr val="404040"/>
                </a:solidFill>
                <a:latin typeface="Times New Roman"/>
                <a:cs typeface="Times New Roman"/>
              </a:rPr>
              <a:t>form</a:t>
            </a:r>
            <a:r>
              <a:rPr sz="1800" spc="-30" dirty="0">
                <a:solidFill>
                  <a:srgbClr val="404040"/>
                </a:solidFill>
                <a:latin typeface="Times New Roman"/>
                <a:cs typeface="Times New Roman"/>
              </a:rPr>
              <a:t> </a:t>
            </a:r>
            <a:r>
              <a:rPr sz="1800" dirty="0">
                <a:solidFill>
                  <a:srgbClr val="404040"/>
                </a:solidFill>
                <a:latin typeface="Times New Roman"/>
                <a:cs typeface="Times New Roman"/>
              </a:rPr>
              <a:t>in</a:t>
            </a:r>
            <a:r>
              <a:rPr sz="1800" spc="-30" dirty="0">
                <a:solidFill>
                  <a:srgbClr val="404040"/>
                </a:solidFill>
                <a:latin typeface="Times New Roman"/>
                <a:cs typeface="Times New Roman"/>
              </a:rPr>
              <a:t> </a:t>
            </a:r>
            <a:r>
              <a:rPr sz="1800" dirty="0">
                <a:solidFill>
                  <a:srgbClr val="404040"/>
                </a:solidFill>
                <a:latin typeface="Times New Roman"/>
                <a:cs typeface="Times New Roman"/>
              </a:rPr>
              <a:t>the</a:t>
            </a:r>
            <a:r>
              <a:rPr sz="1800" spc="-30" dirty="0">
                <a:solidFill>
                  <a:srgbClr val="404040"/>
                </a:solidFill>
                <a:latin typeface="Times New Roman"/>
                <a:cs typeface="Times New Roman"/>
              </a:rPr>
              <a:t> </a:t>
            </a:r>
            <a:r>
              <a:rPr sz="1800" spc="-10" dirty="0">
                <a:solidFill>
                  <a:srgbClr val="404040"/>
                </a:solidFill>
                <a:latin typeface="Times New Roman"/>
                <a:cs typeface="Times New Roman"/>
              </a:rPr>
              <a:t>figure.</a:t>
            </a:r>
            <a:endParaRPr sz="1800" dirty="0">
              <a:latin typeface="Times New Roman"/>
              <a:cs typeface="Times New Roman"/>
            </a:endParaRPr>
          </a:p>
        </p:txBody>
      </p:sp>
      <p:pic>
        <p:nvPicPr>
          <p:cNvPr id="4" name="object 4"/>
          <p:cNvPicPr/>
          <p:nvPr/>
        </p:nvPicPr>
        <p:blipFill>
          <a:blip r:embed="rId2" cstate="print"/>
          <a:stretch>
            <a:fillRect/>
          </a:stretch>
        </p:blipFill>
        <p:spPr>
          <a:xfrm>
            <a:off x="1600200" y="3877055"/>
            <a:ext cx="3634740" cy="216408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88340" y="863600"/>
            <a:ext cx="6474460" cy="843821"/>
          </a:xfrm>
          <a:prstGeom prst="rect">
            <a:avLst/>
          </a:prstGeom>
        </p:spPr>
        <p:txBody>
          <a:bodyPr vert="horz" wrap="square" lIns="0" tIns="12700" rIns="0" bIns="0" rtlCol="0">
            <a:spAutoFit/>
          </a:bodyPr>
          <a:lstStyle/>
          <a:p>
            <a:pPr marL="12700" marR="426720">
              <a:lnSpc>
                <a:spcPct val="100000"/>
              </a:lnSpc>
              <a:spcBef>
                <a:spcPts val="100"/>
              </a:spcBef>
            </a:pPr>
            <a:r>
              <a:rPr sz="1800" b="1" dirty="0">
                <a:solidFill>
                  <a:srgbClr val="404040"/>
                </a:solidFill>
                <a:latin typeface="Times New Roman"/>
                <a:cs typeface="Times New Roman"/>
              </a:rPr>
              <a:t>Let</a:t>
            </a:r>
            <a:r>
              <a:rPr sz="1800" b="1" spc="-25" dirty="0">
                <a:solidFill>
                  <a:srgbClr val="404040"/>
                </a:solidFill>
                <a:latin typeface="Times New Roman"/>
                <a:cs typeface="Times New Roman"/>
              </a:rPr>
              <a:t> </a:t>
            </a:r>
            <a:r>
              <a:rPr sz="1800" b="1" i="1" dirty="0">
                <a:solidFill>
                  <a:srgbClr val="404040"/>
                </a:solidFill>
                <a:latin typeface="Times New Roman"/>
                <a:cs typeface="Times New Roman"/>
              </a:rPr>
              <a:t>A</a:t>
            </a:r>
            <a:r>
              <a:rPr sz="1800" b="1" i="1" spc="-110" dirty="0">
                <a:solidFill>
                  <a:srgbClr val="404040"/>
                </a:solidFill>
                <a:latin typeface="Times New Roman"/>
                <a:cs typeface="Times New Roman"/>
              </a:rPr>
              <a:t> </a:t>
            </a:r>
            <a:r>
              <a:rPr sz="1800" b="1" dirty="0">
                <a:solidFill>
                  <a:srgbClr val="404040"/>
                </a:solidFill>
                <a:latin typeface="Times New Roman"/>
                <a:cs typeface="Times New Roman"/>
              </a:rPr>
              <a:t>be</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the</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set</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{1</a:t>
            </a:r>
            <a:r>
              <a:rPr sz="1800" b="1" i="1" dirty="0">
                <a:solidFill>
                  <a:srgbClr val="404040"/>
                </a:solidFill>
                <a:latin typeface="Times New Roman"/>
                <a:cs typeface="Times New Roman"/>
              </a:rPr>
              <a:t>,</a:t>
            </a:r>
            <a:r>
              <a:rPr sz="1800" b="1" i="1" spc="-15" dirty="0">
                <a:solidFill>
                  <a:srgbClr val="404040"/>
                </a:solidFill>
                <a:latin typeface="Times New Roman"/>
                <a:cs typeface="Times New Roman"/>
              </a:rPr>
              <a:t> </a:t>
            </a:r>
            <a:r>
              <a:rPr sz="1800" b="1" dirty="0">
                <a:solidFill>
                  <a:srgbClr val="404040"/>
                </a:solidFill>
                <a:latin typeface="Times New Roman"/>
                <a:cs typeface="Times New Roman"/>
              </a:rPr>
              <a:t>2</a:t>
            </a:r>
            <a:r>
              <a:rPr sz="1800" b="1" i="1" dirty="0">
                <a:solidFill>
                  <a:srgbClr val="404040"/>
                </a:solidFill>
                <a:latin typeface="Times New Roman"/>
                <a:cs typeface="Times New Roman"/>
              </a:rPr>
              <a:t>,</a:t>
            </a:r>
            <a:r>
              <a:rPr sz="1800" b="1" i="1" spc="-15" dirty="0">
                <a:solidFill>
                  <a:srgbClr val="404040"/>
                </a:solidFill>
                <a:latin typeface="Times New Roman"/>
                <a:cs typeface="Times New Roman"/>
              </a:rPr>
              <a:t> </a:t>
            </a:r>
            <a:r>
              <a:rPr sz="1800" b="1" dirty="0">
                <a:solidFill>
                  <a:srgbClr val="404040"/>
                </a:solidFill>
                <a:latin typeface="Times New Roman"/>
                <a:cs typeface="Times New Roman"/>
              </a:rPr>
              <a:t>3</a:t>
            </a:r>
            <a:r>
              <a:rPr sz="1800" b="1" i="1" dirty="0">
                <a:solidFill>
                  <a:srgbClr val="404040"/>
                </a:solidFill>
                <a:latin typeface="Times New Roman"/>
                <a:cs typeface="Times New Roman"/>
              </a:rPr>
              <a:t>,</a:t>
            </a:r>
            <a:r>
              <a:rPr sz="1800" b="1" i="1" spc="-15" dirty="0">
                <a:solidFill>
                  <a:srgbClr val="404040"/>
                </a:solidFill>
                <a:latin typeface="Times New Roman"/>
                <a:cs typeface="Times New Roman"/>
              </a:rPr>
              <a:t> </a:t>
            </a:r>
            <a:r>
              <a:rPr sz="1800" b="1" dirty="0">
                <a:solidFill>
                  <a:srgbClr val="404040"/>
                </a:solidFill>
                <a:latin typeface="Times New Roman"/>
                <a:cs typeface="Times New Roman"/>
              </a:rPr>
              <a:t>4}.</a:t>
            </a:r>
            <a:r>
              <a:rPr sz="1800" b="1" spc="-50" dirty="0">
                <a:solidFill>
                  <a:srgbClr val="404040"/>
                </a:solidFill>
                <a:latin typeface="Times New Roman"/>
                <a:cs typeface="Times New Roman"/>
              </a:rPr>
              <a:t> </a:t>
            </a:r>
            <a:r>
              <a:rPr sz="1800" b="1" dirty="0">
                <a:solidFill>
                  <a:srgbClr val="404040"/>
                </a:solidFill>
                <a:latin typeface="Times New Roman"/>
                <a:cs typeface="Times New Roman"/>
              </a:rPr>
              <a:t>Which</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ordered</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pairs</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are</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in</a:t>
            </a:r>
            <a:r>
              <a:rPr sz="1800" b="1" spc="-15" dirty="0">
                <a:solidFill>
                  <a:srgbClr val="404040"/>
                </a:solidFill>
                <a:latin typeface="Times New Roman"/>
                <a:cs typeface="Times New Roman"/>
              </a:rPr>
              <a:t> </a:t>
            </a:r>
            <a:r>
              <a:rPr sz="1800" b="1" spc="-25" dirty="0">
                <a:solidFill>
                  <a:srgbClr val="404040"/>
                </a:solidFill>
                <a:latin typeface="Times New Roman"/>
                <a:cs typeface="Times New Roman"/>
              </a:rPr>
              <a:t>the </a:t>
            </a:r>
            <a:r>
              <a:rPr sz="1800" b="1" dirty="0">
                <a:solidFill>
                  <a:srgbClr val="404040"/>
                </a:solidFill>
                <a:latin typeface="Times New Roman"/>
                <a:cs typeface="Times New Roman"/>
              </a:rPr>
              <a:t>relation</a:t>
            </a:r>
            <a:r>
              <a:rPr sz="1800" b="1" spc="-10" dirty="0">
                <a:solidFill>
                  <a:srgbClr val="404040"/>
                </a:solidFill>
                <a:latin typeface="Times New Roman"/>
                <a:cs typeface="Times New Roman"/>
              </a:rPr>
              <a:t> </a:t>
            </a:r>
            <a:r>
              <a:rPr sz="1800" b="1" i="1" dirty="0">
                <a:solidFill>
                  <a:srgbClr val="404040"/>
                </a:solidFill>
                <a:latin typeface="Times New Roman"/>
                <a:cs typeface="Times New Roman"/>
              </a:rPr>
              <a:t>R</a:t>
            </a:r>
            <a:r>
              <a:rPr sz="1800" b="1" i="1" spc="-15" dirty="0">
                <a:solidFill>
                  <a:srgbClr val="404040"/>
                </a:solidFill>
                <a:latin typeface="Times New Roman"/>
                <a:cs typeface="Times New Roman"/>
              </a:rPr>
              <a:t> </a:t>
            </a:r>
            <a:r>
              <a:rPr sz="1800" b="1" dirty="0">
                <a:solidFill>
                  <a:srgbClr val="404040"/>
                </a:solidFill>
                <a:latin typeface="Times New Roman"/>
                <a:cs typeface="Times New Roman"/>
              </a:rPr>
              <a:t>=</a:t>
            </a:r>
            <a:r>
              <a:rPr sz="1800" b="1" spc="-25" dirty="0">
                <a:solidFill>
                  <a:srgbClr val="404040"/>
                </a:solidFill>
                <a:latin typeface="Times New Roman"/>
                <a:cs typeface="Times New Roman"/>
              </a:rPr>
              <a:t> </a:t>
            </a:r>
            <a:r>
              <a:rPr sz="1800" b="1" dirty="0">
                <a:solidFill>
                  <a:srgbClr val="404040"/>
                </a:solidFill>
                <a:latin typeface="Times New Roman"/>
                <a:cs typeface="Times New Roman"/>
              </a:rPr>
              <a:t>{(</a:t>
            </a:r>
            <a:r>
              <a:rPr sz="1800" b="1" i="1" dirty="0">
                <a:solidFill>
                  <a:srgbClr val="404040"/>
                </a:solidFill>
                <a:latin typeface="Times New Roman"/>
                <a:cs typeface="Times New Roman"/>
              </a:rPr>
              <a:t>a,</a:t>
            </a:r>
            <a:r>
              <a:rPr sz="1800" b="1" i="1" spc="-15" dirty="0">
                <a:solidFill>
                  <a:srgbClr val="404040"/>
                </a:solidFill>
                <a:latin typeface="Times New Roman"/>
                <a:cs typeface="Times New Roman"/>
              </a:rPr>
              <a:t> </a:t>
            </a:r>
            <a:r>
              <a:rPr sz="1800" b="1" i="1" dirty="0">
                <a:solidFill>
                  <a:srgbClr val="404040"/>
                </a:solidFill>
                <a:latin typeface="Times New Roman"/>
                <a:cs typeface="Times New Roman"/>
              </a:rPr>
              <a:t>b</a:t>
            </a:r>
            <a:r>
              <a:rPr sz="1800" b="1" dirty="0">
                <a:solidFill>
                  <a:srgbClr val="404040"/>
                </a:solidFill>
                <a:latin typeface="Times New Roman"/>
                <a:cs typeface="Times New Roman"/>
              </a:rPr>
              <a:t>)</a:t>
            </a:r>
            <a:r>
              <a:rPr sz="1800" b="1" spc="-10" dirty="0">
                <a:solidFill>
                  <a:srgbClr val="404040"/>
                </a:solidFill>
                <a:latin typeface="Times New Roman"/>
                <a:cs typeface="Times New Roman"/>
              </a:rPr>
              <a:t> </a:t>
            </a:r>
            <a:r>
              <a:rPr sz="1800" dirty="0">
                <a:solidFill>
                  <a:srgbClr val="404040"/>
                </a:solidFill>
                <a:latin typeface="Cambria Math"/>
                <a:cs typeface="Cambria Math"/>
              </a:rPr>
              <a:t>∣</a:t>
            </a:r>
            <a:r>
              <a:rPr sz="1800" spc="25" dirty="0">
                <a:solidFill>
                  <a:srgbClr val="404040"/>
                </a:solidFill>
                <a:latin typeface="Cambria Math"/>
                <a:cs typeface="Cambria Math"/>
              </a:rPr>
              <a:t> </a:t>
            </a:r>
            <a:r>
              <a:rPr lang="en-US" sz="1800" b="1" i="1" dirty="0">
                <a:solidFill>
                  <a:srgbClr val="404040"/>
                </a:solidFill>
                <a:latin typeface="Times New Roman"/>
                <a:cs typeface="Times New Roman"/>
              </a:rPr>
              <a:t>a ≤ b</a:t>
            </a:r>
            <a:r>
              <a:rPr sz="1800" b="1" spc="-25" dirty="0">
                <a:solidFill>
                  <a:srgbClr val="404040"/>
                </a:solidFill>
                <a:latin typeface="Times New Roman"/>
                <a:cs typeface="Times New Roman"/>
              </a:rPr>
              <a:t>}?</a:t>
            </a:r>
            <a:endParaRPr sz="1800" dirty="0">
              <a:latin typeface="Times New Roman"/>
              <a:cs typeface="Times New Roman"/>
            </a:endParaRPr>
          </a:p>
          <a:p>
            <a:pPr>
              <a:lnSpc>
                <a:spcPct val="100000"/>
              </a:lnSpc>
            </a:pPr>
            <a:endParaRPr sz="1800" dirty="0">
              <a:latin typeface="Times New Roman"/>
              <a:cs typeface="Times New Roman"/>
            </a:endParaRPr>
          </a:p>
        </p:txBody>
      </p:sp>
      <p:sp>
        <p:nvSpPr>
          <p:cNvPr id="9" name="TextBox 8">
            <a:extLst>
              <a:ext uri="{FF2B5EF4-FFF2-40B4-BE49-F238E27FC236}">
                <a16:creationId xmlns:a16="http://schemas.microsoft.com/office/drawing/2014/main" id="{C2BEB6D1-4FC9-CCB4-782B-D62391DC4DB1}"/>
              </a:ext>
            </a:extLst>
          </p:cNvPr>
          <p:cNvSpPr txBox="1"/>
          <p:nvPr/>
        </p:nvSpPr>
        <p:spPr>
          <a:xfrm>
            <a:off x="656385" y="2057400"/>
            <a:ext cx="6474460" cy="836126"/>
          </a:xfrm>
          <a:prstGeom prst="rect">
            <a:avLst/>
          </a:prstGeom>
          <a:noFill/>
        </p:spPr>
        <p:txBody>
          <a:bodyPr wrap="square">
            <a:spAutoFit/>
          </a:bodyPr>
          <a:lstStyle/>
          <a:p>
            <a:pPr marL="12700">
              <a:lnSpc>
                <a:spcPct val="100000"/>
              </a:lnSpc>
              <a:spcBef>
                <a:spcPts val="1000"/>
              </a:spcBef>
            </a:pPr>
            <a:r>
              <a:rPr lang="en-US" sz="2000" i="1" dirty="0">
                <a:solidFill>
                  <a:srgbClr val="404040"/>
                </a:solidFill>
                <a:latin typeface="Times New Roman"/>
                <a:cs typeface="Times New Roman"/>
              </a:rPr>
              <a:t>R</a:t>
            </a:r>
            <a:r>
              <a:rPr lang="en-US" sz="2000" i="1" spc="-15" dirty="0">
                <a:solidFill>
                  <a:srgbClr val="404040"/>
                </a:solidFill>
                <a:latin typeface="Times New Roman"/>
                <a:cs typeface="Times New Roman"/>
              </a:rPr>
              <a:t> </a:t>
            </a:r>
            <a:r>
              <a:rPr lang="en-US" sz="2000" dirty="0">
                <a:solidFill>
                  <a:srgbClr val="404040"/>
                </a:solidFill>
                <a:latin typeface="Times New Roman"/>
                <a:cs typeface="Times New Roman"/>
              </a:rPr>
              <a:t>=</a:t>
            </a:r>
            <a:r>
              <a:rPr lang="en-US" sz="2000" spc="-5" dirty="0">
                <a:solidFill>
                  <a:srgbClr val="404040"/>
                </a:solidFill>
                <a:latin typeface="Times New Roman"/>
                <a:cs typeface="Times New Roman"/>
              </a:rPr>
              <a:t> </a:t>
            </a:r>
            <a:r>
              <a:rPr lang="en-US" sz="2000" dirty="0">
                <a:solidFill>
                  <a:srgbClr val="404040"/>
                </a:solidFill>
                <a:latin typeface="Times New Roman"/>
                <a:cs typeface="Times New Roman"/>
              </a:rPr>
              <a:t>{(1,1),(1,2),(1,3),(1,4),(2,2),(2,3),(2,4),(3,3),(3,4),(4,4</a:t>
            </a:r>
            <a:r>
              <a:rPr lang="en-US" sz="2000" spc="-10" dirty="0">
                <a:solidFill>
                  <a:srgbClr val="404040"/>
                </a:solidFill>
                <a:latin typeface="Times New Roman"/>
                <a:cs typeface="Times New Roman"/>
              </a:rPr>
              <a:t>)}</a:t>
            </a:r>
            <a:r>
              <a:rPr lang="en-US" sz="2000" i="1" spc="-10" dirty="0">
                <a:solidFill>
                  <a:srgbClr val="404040"/>
                </a:solidFill>
                <a:latin typeface="Times New Roman"/>
                <a:cs typeface="Times New Roman"/>
              </a:rPr>
              <a:t>.</a:t>
            </a:r>
            <a:endParaRPr lang="en-US" sz="2000" dirty="0">
              <a:latin typeface="Times New Roman"/>
              <a:cs typeface="Times New Roman"/>
            </a:endParaRPr>
          </a:p>
          <a:p>
            <a:pPr marL="355600" marR="64135" indent="-342900">
              <a:lnSpc>
                <a:spcPct val="100000"/>
              </a:lnSpc>
              <a:spcBef>
                <a:spcPts val="994"/>
              </a:spcBef>
              <a:tabLst>
                <a:tab pos="354965" algn="l"/>
              </a:tabLst>
            </a:pPr>
            <a:r>
              <a:rPr lang="en-US" sz="2000" spc="65" dirty="0">
                <a:solidFill>
                  <a:srgbClr val="90C225"/>
                </a:solidFill>
                <a:latin typeface="Lucida Sans Unicode"/>
                <a:cs typeface="Lucida Sans Unicode"/>
              </a:rPr>
              <a:t>▶</a:t>
            </a:r>
            <a:r>
              <a:rPr lang="en-US" sz="2000" dirty="0">
                <a:solidFill>
                  <a:srgbClr val="90C225"/>
                </a:solidFill>
                <a:latin typeface="Lucida Sans Unicode"/>
                <a:cs typeface="Lucida Sans Unicode"/>
              </a:rPr>
              <a:t>	</a:t>
            </a:r>
            <a:r>
              <a:rPr lang="en-US" sz="2000" dirty="0">
                <a:solidFill>
                  <a:srgbClr val="404040"/>
                </a:solidFill>
                <a:latin typeface="Times New Roman"/>
                <a:cs typeface="Times New Roman"/>
              </a:rPr>
              <a:t>represent R graphically</a:t>
            </a:r>
            <a:r>
              <a:rPr lang="en-US" sz="2000" spc="-25" dirty="0">
                <a:solidFill>
                  <a:srgbClr val="404040"/>
                </a:solidFill>
                <a:latin typeface="Times New Roman"/>
                <a:cs typeface="Times New Roman"/>
              </a:rPr>
              <a:t> </a:t>
            </a:r>
            <a:r>
              <a:rPr lang="en-US" sz="2000" dirty="0">
                <a:solidFill>
                  <a:srgbClr val="404040"/>
                </a:solidFill>
                <a:latin typeface="Times New Roman"/>
                <a:cs typeface="Times New Roman"/>
              </a:rPr>
              <a:t>and</a:t>
            </a:r>
            <a:r>
              <a:rPr lang="en-US" sz="2000" spc="-30" dirty="0">
                <a:solidFill>
                  <a:srgbClr val="404040"/>
                </a:solidFill>
                <a:latin typeface="Times New Roman"/>
                <a:cs typeface="Times New Roman"/>
              </a:rPr>
              <a:t> </a:t>
            </a:r>
            <a:r>
              <a:rPr lang="en-US" sz="2000" spc="-25" dirty="0">
                <a:solidFill>
                  <a:srgbClr val="404040"/>
                </a:solidFill>
                <a:latin typeface="Times New Roman"/>
                <a:cs typeface="Times New Roman"/>
              </a:rPr>
              <a:t>in </a:t>
            </a:r>
            <a:r>
              <a:rPr lang="en-US" sz="2000" dirty="0">
                <a:solidFill>
                  <a:srgbClr val="404040"/>
                </a:solidFill>
                <a:latin typeface="Times New Roman"/>
                <a:cs typeface="Times New Roman"/>
              </a:rPr>
              <a:t>tabular</a:t>
            </a:r>
            <a:r>
              <a:rPr lang="en-US" sz="2000" spc="-30" dirty="0">
                <a:solidFill>
                  <a:srgbClr val="404040"/>
                </a:solidFill>
                <a:latin typeface="Times New Roman"/>
                <a:cs typeface="Times New Roman"/>
              </a:rPr>
              <a:t> </a:t>
            </a:r>
            <a:r>
              <a:rPr lang="en-US" sz="2000" dirty="0">
                <a:solidFill>
                  <a:srgbClr val="404040"/>
                </a:solidFill>
                <a:latin typeface="Times New Roman"/>
                <a:cs typeface="Times New Roman"/>
              </a:rPr>
              <a:t>form.</a:t>
            </a:r>
            <a:endParaRPr lang="en-US" sz="2000" dirty="0">
              <a:latin typeface="Times New Roman"/>
              <a:cs typeface="Times New Roman"/>
            </a:endParaRPr>
          </a:p>
        </p:txBody>
      </p:sp>
    </p:spTree>
    <p:extLst>
      <p:ext uri="{BB962C8B-B14F-4D97-AF65-F5344CB8AC3E}">
        <p14:creationId xmlns:p14="http://schemas.microsoft.com/office/powerpoint/2010/main" val="19921751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30017" y="25653"/>
            <a:ext cx="2403475" cy="574040"/>
          </a:xfrm>
          <a:prstGeom prst="rect">
            <a:avLst/>
          </a:prstGeom>
        </p:spPr>
        <p:txBody>
          <a:bodyPr vert="horz" wrap="square" lIns="0" tIns="12700" rIns="0" bIns="0" rtlCol="0">
            <a:spAutoFit/>
          </a:bodyPr>
          <a:lstStyle/>
          <a:p>
            <a:pPr marL="12700">
              <a:lnSpc>
                <a:spcPct val="100000"/>
              </a:lnSpc>
              <a:spcBef>
                <a:spcPts val="100"/>
              </a:spcBef>
            </a:pPr>
            <a:r>
              <a:rPr spc="-20" dirty="0"/>
              <a:t>EXERCISE</a:t>
            </a:r>
            <a:r>
              <a:rPr spc="-204" dirty="0"/>
              <a:t> </a:t>
            </a:r>
            <a:r>
              <a:rPr spc="-50" dirty="0"/>
              <a:t>A</a:t>
            </a:r>
          </a:p>
        </p:txBody>
      </p:sp>
      <p:sp>
        <p:nvSpPr>
          <p:cNvPr id="3" name="object 3"/>
          <p:cNvSpPr txBox="1"/>
          <p:nvPr/>
        </p:nvSpPr>
        <p:spPr>
          <a:xfrm>
            <a:off x="231140" y="584745"/>
            <a:ext cx="6922770" cy="3448685"/>
          </a:xfrm>
          <a:prstGeom prst="rect">
            <a:avLst/>
          </a:prstGeom>
        </p:spPr>
        <p:txBody>
          <a:bodyPr vert="horz" wrap="square" lIns="0" tIns="87630" rIns="0" bIns="0" rtlCol="0">
            <a:spAutoFit/>
          </a:bodyPr>
          <a:lstStyle/>
          <a:p>
            <a:pPr marL="354965" indent="-342265">
              <a:lnSpc>
                <a:spcPct val="100000"/>
              </a:lnSpc>
              <a:spcBef>
                <a:spcPts val="690"/>
              </a:spcBef>
              <a:buClr>
                <a:srgbClr val="90C225"/>
              </a:buClr>
              <a:buSzPct val="79411"/>
              <a:buAutoNum type="arabicPeriod"/>
              <a:tabLst>
                <a:tab pos="354965" algn="l"/>
              </a:tabLst>
            </a:pPr>
            <a:r>
              <a:rPr sz="1700" b="1" dirty="0">
                <a:solidFill>
                  <a:srgbClr val="404040"/>
                </a:solidFill>
                <a:latin typeface="Times New Roman"/>
                <a:cs typeface="Times New Roman"/>
              </a:rPr>
              <a:t>Consider</a:t>
            </a:r>
            <a:r>
              <a:rPr sz="1700" b="1" spc="-50" dirty="0">
                <a:solidFill>
                  <a:srgbClr val="404040"/>
                </a:solidFill>
                <a:latin typeface="Times New Roman"/>
                <a:cs typeface="Times New Roman"/>
              </a:rPr>
              <a:t> </a:t>
            </a:r>
            <a:r>
              <a:rPr sz="1700" b="1" dirty="0">
                <a:solidFill>
                  <a:srgbClr val="404040"/>
                </a:solidFill>
                <a:latin typeface="Times New Roman"/>
                <a:cs typeface="Times New Roman"/>
              </a:rPr>
              <a:t>these</a:t>
            </a:r>
            <a:r>
              <a:rPr sz="1700" b="1" spc="-30" dirty="0">
                <a:solidFill>
                  <a:srgbClr val="404040"/>
                </a:solidFill>
                <a:latin typeface="Times New Roman"/>
                <a:cs typeface="Times New Roman"/>
              </a:rPr>
              <a:t> </a:t>
            </a:r>
            <a:r>
              <a:rPr sz="1700" b="1" dirty="0">
                <a:solidFill>
                  <a:srgbClr val="404040"/>
                </a:solidFill>
                <a:latin typeface="Times New Roman"/>
                <a:cs typeface="Times New Roman"/>
              </a:rPr>
              <a:t>relations</a:t>
            </a:r>
            <a:r>
              <a:rPr sz="1700" b="1" spc="-30" dirty="0">
                <a:solidFill>
                  <a:srgbClr val="404040"/>
                </a:solidFill>
                <a:latin typeface="Times New Roman"/>
                <a:cs typeface="Times New Roman"/>
              </a:rPr>
              <a:t> </a:t>
            </a:r>
            <a:r>
              <a:rPr sz="1700" b="1" dirty="0">
                <a:solidFill>
                  <a:srgbClr val="404040"/>
                </a:solidFill>
                <a:latin typeface="Times New Roman"/>
                <a:cs typeface="Times New Roman"/>
              </a:rPr>
              <a:t>on</a:t>
            </a:r>
            <a:r>
              <a:rPr sz="1700" b="1" spc="-25" dirty="0">
                <a:solidFill>
                  <a:srgbClr val="404040"/>
                </a:solidFill>
                <a:latin typeface="Times New Roman"/>
                <a:cs typeface="Times New Roman"/>
              </a:rPr>
              <a:t> </a:t>
            </a:r>
            <a:r>
              <a:rPr sz="1700" b="1" dirty="0">
                <a:solidFill>
                  <a:srgbClr val="404040"/>
                </a:solidFill>
                <a:latin typeface="Times New Roman"/>
                <a:cs typeface="Times New Roman"/>
              </a:rPr>
              <a:t>the</a:t>
            </a:r>
            <a:r>
              <a:rPr sz="1700" b="1" spc="-30" dirty="0">
                <a:solidFill>
                  <a:srgbClr val="404040"/>
                </a:solidFill>
                <a:latin typeface="Times New Roman"/>
                <a:cs typeface="Times New Roman"/>
              </a:rPr>
              <a:t> </a:t>
            </a:r>
            <a:r>
              <a:rPr sz="1700" b="1" dirty="0">
                <a:solidFill>
                  <a:srgbClr val="404040"/>
                </a:solidFill>
                <a:latin typeface="Times New Roman"/>
                <a:cs typeface="Times New Roman"/>
              </a:rPr>
              <a:t>set</a:t>
            </a:r>
            <a:r>
              <a:rPr sz="1700" b="1" spc="-35" dirty="0">
                <a:solidFill>
                  <a:srgbClr val="404040"/>
                </a:solidFill>
                <a:latin typeface="Times New Roman"/>
                <a:cs typeface="Times New Roman"/>
              </a:rPr>
              <a:t> </a:t>
            </a:r>
            <a:r>
              <a:rPr sz="1700" b="1" dirty="0">
                <a:solidFill>
                  <a:srgbClr val="404040"/>
                </a:solidFill>
                <a:latin typeface="Times New Roman"/>
                <a:cs typeface="Times New Roman"/>
              </a:rPr>
              <a:t>of</a:t>
            </a:r>
            <a:r>
              <a:rPr sz="1700" b="1" spc="-25" dirty="0">
                <a:solidFill>
                  <a:srgbClr val="404040"/>
                </a:solidFill>
                <a:latin typeface="Times New Roman"/>
                <a:cs typeface="Times New Roman"/>
              </a:rPr>
              <a:t> </a:t>
            </a:r>
            <a:r>
              <a:rPr sz="1700" b="1" spc="-10" dirty="0">
                <a:solidFill>
                  <a:srgbClr val="404040"/>
                </a:solidFill>
                <a:latin typeface="Times New Roman"/>
                <a:cs typeface="Times New Roman"/>
              </a:rPr>
              <a:t>integers:</a:t>
            </a:r>
            <a:endParaRPr sz="1700">
              <a:latin typeface="Times New Roman"/>
              <a:cs typeface="Times New Roman"/>
            </a:endParaRPr>
          </a:p>
          <a:p>
            <a:pPr marL="469900">
              <a:lnSpc>
                <a:spcPct val="100000"/>
              </a:lnSpc>
              <a:spcBef>
                <a:spcPts val="595"/>
              </a:spcBef>
            </a:pPr>
            <a:r>
              <a:rPr sz="1700" b="1" i="1" dirty="0">
                <a:solidFill>
                  <a:srgbClr val="404040"/>
                </a:solidFill>
                <a:latin typeface="Times New Roman"/>
                <a:cs typeface="Times New Roman"/>
              </a:rPr>
              <a:t>R</a:t>
            </a:r>
            <a:r>
              <a:rPr sz="1700" b="1" dirty="0">
                <a:solidFill>
                  <a:srgbClr val="404040"/>
                </a:solidFill>
                <a:latin typeface="Times New Roman"/>
                <a:cs typeface="Times New Roman"/>
              </a:rPr>
              <a:t>1</a:t>
            </a:r>
            <a:r>
              <a:rPr sz="1700" b="1" spc="-10" dirty="0">
                <a:solidFill>
                  <a:srgbClr val="404040"/>
                </a:solidFill>
                <a:latin typeface="Times New Roman"/>
                <a:cs typeface="Times New Roman"/>
              </a:rPr>
              <a:t> </a:t>
            </a:r>
            <a:r>
              <a:rPr sz="1700" b="1" dirty="0">
                <a:solidFill>
                  <a:srgbClr val="404040"/>
                </a:solidFill>
                <a:latin typeface="Times New Roman"/>
                <a:cs typeface="Times New Roman"/>
              </a:rPr>
              <a:t>=</a:t>
            </a:r>
            <a:r>
              <a:rPr sz="1700" b="1" spc="-15" dirty="0">
                <a:solidFill>
                  <a:srgbClr val="404040"/>
                </a:solidFill>
                <a:latin typeface="Times New Roman"/>
                <a:cs typeface="Times New Roman"/>
              </a:rPr>
              <a:t> </a:t>
            </a:r>
            <a:r>
              <a:rPr sz="1700" b="1" dirty="0">
                <a:solidFill>
                  <a:srgbClr val="404040"/>
                </a:solidFill>
                <a:latin typeface="Times New Roman"/>
                <a:cs typeface="Times New Roman"/>
              </a:rPr>
              <a:t>{(</a:t>
            </a:r>
            <a:r>
              <a:rPr sz="1700" b="1" i="1" dirty="0">
                <a:solidFill>
                  <a:srgbClr val="404040"/>
                </a:solidFill>
                <a:latin typeface="Times New Roman"/>
                <a:cs typeface="Times New Roman"/>
              </a:rPr>
              <a:t>a,</a:t>
            </a:r>
            <a:r>
              <a:rPr sz="1700" b="1" i="1" spc="-5" dirty="0">
                <a:solidFill>
                  <a:srgbClr val="404040"/>
                </a:solidFill>
                <a:latin typeface="Times New Roman"/>
                <a:cs typeface="Times New Roman"/>
              </a:rPr>
              <a:t> </a:t>
            </a:r>
            <a:r>
              <a:rPr sz="1700" b="1" i="1" dirty="0">
                <a:solidFill>
                  <a:srgbClr val="404040"/>
                </a:solidFill>
                <a:latin typeface="Times New Roman"/>
                <a:cs typeface="Times New Roman"/>
              </a:rPr>
              <a:t>b</a:t>
            </a:r>
            <a:r>
              <a:rPr sz="1700" b="1" dirty="0">
                <a:solidFill>
                  <a:srgbClr val="404040"/>
                </a:solidFill>
                <a:latin typeface="Times New Roman"/>
                <a:cs typeface="Times New Roman"/>
              </a:rPr>
              <a:t>)</a:t>
            </a:r>
            <a:r>
              <a:rPr sz="1700" b="1" spc="-15" dirty="0">
                <a:solidFill>
                  <a:srgbClr val="404040"/>
                </a:solidFill>
                <a:latin typeface="Times New Roman"/>
                <a:cs typeface="Times New Roman"/>
              </a:rPr>
              <a:t> </a:t>
            </a:r>
            <a:r>
              <a:rPr sz="1700" dirty="0">
                <a:solidFill>
                  <a:srgbClr val="404040"/>
                </a:solidFill>
                <a:latin typeface="Cambria Math"/>
                <a:cs typeface="Cambria Math"/>
              </a:rPr>
              <a:t>∣</a:t>
            </a:r>
            <a:r>
              <a:rPr sz="1700" spc="30" dirty="0">
                <a:solidFill>
                  <a:srgbClr val="404040"/>
                </a:solidFill>
                <a:latin typeface="Cambria Math"/>
                <a:cs typeface="Cambria Math"/>
              </a:rPr>
              <a:t> </a:t>
            </a:r>
            <a:r>
              <a:rPr sz="1700" b="1" i="1" dirty="0">
                <a:solidFill>
                  <a:srgbClr val="404040"/>
                </a:solidFill>
                <a:latin typeface="Times New Roman"/>
                <a:cs typeface="Times New Roman"/>
              </a:rPr>
              <a:t>a</a:t>
            </a:r>
            <a:r>
              <a:rPr sz="1700" b="1" i="1" spc="-5" dirty="0">
                <a:solidFill>
                  <a:srgbClr val="404040"/>
                </a:solidFill>
                <a:latin typeface="Times New Roman"/>
                <a:cs typeface="Times New Roman"/>
              </a:rPr>
              <a:t> </a:t>
            </a:r>
            <a:r>
              <a:rPr sz="1700" b="1" dirty="0">
                <a:solidFill>
                  <a:srgbClr val="404040"/>
                </a:solidFill>
                <a:latin typeface="Times New Roman"/>
                <a:cs typeface="Times New Roman"/>
              </a:rPr>
              <a:t>≤</a:t>
            </a:r>
            <a:r>
              <a:rPr sz="1700" b="1" spc="-5" dirty="0">
                <a:solidFill>
                  <a:srgbClr val="404040"/>
                </a:solidFill>
                <a:latin typeface="Times New Roman"/>
                <a:cs typeface="Times New Roman"/>
              </a:rPr>
              <a:t> </a:t>
            </a:r>
            <a:r>
              <a:rPr sz="1700" b="1" i="1" spc="-25" dirty="0">
                <a:solidFill>
                  <a:srgbClr val="404040"/>
                </a:solidFill>
                <a:latin typeface="Times New Roman"/>
                <a:cs typeface="Times New Roman"/>
              </a:rPr>
              <a:t>b</a:t>
            </a:r>
            <a:r>
              <a:rPr sz="1700" b="1" spc="-25" dirty="0">
                <a:solidFill>
                  <a:srgbClr val="404040"/>
                </a:solidFill>
                <a:latin typeface="Times New Roman"/>
                <a:cs typeface="Times New Roman"/>
              </a:rPr>
              <a:t>}</a:t>
            </a:r>
            <a:r>
              <a:rPr sz="1700" b="1" i="1" spc="-25" dirty="0">
                <a:solidFill>
                  <a:srgbClr val="404040"/>
                </a:solidFill>
                <a:latin typeface="Times New Roman"/>
                <a:cs typeface="Times New Roman"/>
              </a:rPr>
              <a:t>,</a:t>
            </a:r>
            <a:endParaRPr sz="1700">
              <a:latin typeface="Times New Roman"/>
              <a:cs typeface="Times New Roman"/>
            </a:endParaRPr>
          </a:p>
          <a:p>
            <a:pPr marL="469900">
              <a:lnSpc>
                <a:spcPct val="100000"/>
              </a:lnSpc>
              <a:spcBef>
                <a:spcPts val="590"/>
              </a:spcBef>
            </a:pPr>
            <a:r>
              <a:rPr sz="1700" b="1" i="1" dirty="0">
                <a:solidFill>
                  <a:srgbClr val="404040"/>
                </a:solidFill>
                <a:latin typeface="Times New Roman"/>
                <a:cs typeface="Times New Roman"/>
              </a:rPr>
              <a:t>R</a:t>
            </a:r>
            <a:r>
              <a:rPr sz="1700" b="1" dirty="0">
                <a:solidFill>
                  <a:srgbClr val="404040"/>
                </a:solidFill>
                <a:latin typeface="Times New Roman"/>
                <a:cs typeface="Times New Roman"/>
              </a:rPr>
              <a:t>2</a:t>
            </a:r>
            <a:r>
              <a:rPr sz="1700" b="1" spc="-10" dirty="0">
                <a:solidFill>
                  <a:srgbClr val="404040"/>
                </a:solidFill>
                <a:latin typeface="Times New Roman"/>
                <a:cs typeface="Times New Roman"/>
              </a:rPr>
              <a:t> </a:t>
            </a:r>
            <a:r>
              <a:rPr sz="1700" b="1" dirty="0">
                <a:solidFill>
                  <a:srgbClr val="404040"/>
                </a:solidFill>
                <a:latin typeface="Times New Roman"/>
                <a:cs typeface="Times New Roman"/>
              </a:rPr>
              <a:t>=</a:t>
            </a:r>
            <a:r>
              <a:rPr sz="1700" b="1" spc="-20" dirty="0">
                <a:solidFill>
                  <a:srgbClr val="404040"/>
                </a:solidFill>
                <a:latin typeface="Times New Roman"/>
                <a:cs typeface="Times New Roman"/>
              </a:rPr>
              <a:t> </a:t>
            </a:r>
            <a:r>
              <a:rPr sz="1700" b="1" dirty="0">
                <a:solidFill>
                  <a:srgbClr val="404040"/>
                </a:solidFill>
                <a:latin typeface="Times New Roman"/>
                <a:cs typeface="Times New Roman"/>
              </a:rPr>
              <a:t>{(</a:t>
            </a:r>
            <a:r>
              <a:rPr sz="1700" b="1" i="1" dirty="0">
                <a:solidFill>
                  <a:srgbClr val="404040"/>
                </a:solidFill>
                <a:latin typeface="Times New Roman"/>
                <a:cs typeface="Times New Roman"/>
              </a:rPr>
              <a:t>a,</a:t>
            </a:r>
            <a:r>
              <a:rPr sz="1700" b="1" i="1" spc="-10" dirty="0">
                <a:solidFill>
                  <a:srgbClr val="404040"/>
                </a:solidFill>
                <a:latin typeface="Times New Roman"/>
                <a:cs typeface="Times New Roman"/>
              </a:rPr>
              <a:t> </a:t>
            </a:r>
            <a:r>
              <a:rPr sz="1700" b="1" i="1" dirty="0">
                <a:solidFill>
                  <a:srgbClr val="404040"/>
                </a:solidFill>
                <a:latin typeface="Times New Roman"/>
                <a:cs typeface="Times New Roman"/>
              </a:rPr>
              <a:t>b</a:t>
            </a:r>
            <a:r>
              <a:rPr sz="1700" b="1" dirty="0">
                <a:solidFill>
                  <a:srgbClr val="404040"/>
                </a:solidFill>
                <a:latin typeface="Times New Roman"/>
                <a:cs typeface="Times New Roman"/>
              </a:rPr>
              <a:t>)</a:t>
            </a:r>
            <a:r>
              <a:rPr sz="1700" b="1" spc="-15" dirty="0">
                <a:solidFill>
                  <a:srgbClr val="404040"/>
                </a:solidFill>
                <a:latin typeface="Times New Roman"/>
                <a:cs typeface="Times New Roman"/>
              </a:rPr>
              <a:t> </a:t>
            </a:r>
            <a:r>
              <a:rPr sz="1700" dirty="0">
                <a:solidFill>
                  <a:srgbClr val="404040"/>
                </a:solidFill>
                <a:latin typeface="Cambria Math"/>
                <a:cs typeface="Cambria Math"/>
              </a:rPr>
              <a:t>∣</a:t>
            </a:r>
            <a:r>
              <a:rPr sz="1700" spc="30" dirty="0">
                <a:solidFill>
                  <a:srgbClr val="404040"/>
                </a:solidFill>
                <a:latin typeface="Cambria Math"/>
                <a:cs typeface="Cambria Math"/>
              </a:rPr>
              <a:t> </a:t>
            </a:r>
            <a:r>
              <a:rPr sz="1700" b="1" i="1" dirty="0">
                <a:solidFill>
                  <a:srgbClr val="404040"/>
                </a:solidFill>
                <a:latin typeface="Times New Roman"/>
                <a:cs typeface="Times New Roman"/>
              </a:rPr>
              <a:t>a</a:t>
            </a:r>
            <a:r>
              <a:rPr sz="1700" b="1" i="1" spc="-15" dirty="0">
                <a:solidFill>
                  <a:srgbClr val="404040"/>
                </a:solidFill>
                <a:latin typeface="Times New Roman"/>
                <a:cs typeface="Times New Roman"/>
              </a:rPr>
              <a:t> </a:t>
            </a:r>
            <a:r>
              <a:rPr sz="1700" b="1" i="1" dirty="0">
                <a:solidFill>
                  <a:srgbClr val="404040"/>
                </a:solidFill>
                <a:latin typeface="Times New Roman"/>
                <a:cs typeface="Times New Roman"/>
              </a:rPr>
              <a:t>&gt;</a:t>
            </a:r>
            <a:r>
              <a:rPr sz="1700" b="1" i="1" spc="-15" dirty="0">
                <a:solidFill>
                  <a:srgbClr val="404040"/>
                </a:solidFill>
                <a:latin typeface="Times New Roman"/>
                <a:cs typeface="Times New Roman"/>
              </a:rPr>
              <a:t> </a:t>
            </a:r>
            <a:r>
              <a:rPr sz="1700" b="1" i="1" spc="-25" dirty="0">
                <a:solidFill>
                  <a:srgbClr val="404040"/>
                </a:solidFill>
                <a:latin typeface="Times New Roman"/>
                <a:cs typeface="Times New Roman"/>
              </a:rPr>
              <a:t>b</a:t>
            </a:r>
            <a:r>
              <a:rPr sz="1700" b="1" spc="-25" dirty="0">
                <a:solidFill>
                  <a:srgbClr val="404040"/>
                </a:solidFill>
                <a:latin typeface="Times New Roman"/>
                <a:cs typeface="Times New Roman"/>
              </a:rPr>
              <a:t>}</a:t>
            </a:r>
            <a:r>
              <a:rPr sz="1700" b="1" i="1" spc="-25" dirty="0">
                <a:solidFill>
                  <a:srgbClr val="404040"/>
                </a:solidFill>
                <a:latin typeface="Times New Roman"/>
                <a:cs typeface="Times New Roman"/>
              </a:rPr>
              <a:t>,</a:t>
            </a:r>
            <a:endParaRPr sz="1700">
              <a:latin typeface="Times New Roman"/>
              <a:cs typeface="Times New Roman"/>
            </a:endParaRPr>
          </a:p>
          <a:p>
            <a:pPr marL="469900" marR="3777615">
              <a:lnSpc>
                <a:spcPct val="129099"/>
              </a:lnSpc>
            </a:pPr>
            <a:r>
              <a:rPr sz="1700" b="1" i="1" dirty="0">
                <a:solidFill>
                  <a:srgbClr val="404040"/>
                </a:solidFill>
                <a:latin typeface="Times New Roman"/>
                <a:cs typeface="Times New Roman"/>
              </a:rPr>
              <a:t>R</a:t>
            </a:r>
            <a:r>
              <a:rPr sz="1700" b="1" dirty="0">
                <a:solidFill>
                  <a:srgbClr val="404040"/>
                </a:solidFill>
                <a:latin typeface="Times New Roman"/>
                <a:cs typeface="Times New Roman"/>
              </a:rPr>
              <a:t>3</a:t>
            </a:r>
            <a:r>
              <a:rPr sz="1700" b="1" spc="-10" dirty="0">
                <a:solidFill>
                  <a:srgbClr val="404040"/>
                </a:solidFill>
                <a:latin typeface="Times New Roman"/>
                <a:cs typeface="Times New Roman"/>
              </a:rPr>
              <a:t> </a:t>
            </a:r>
            <a:r>
              <a:rPr sz="1700" b="1" dirty="0">
                <a:solidFill>
                  <a:srgbClr val="404040"/>
                </a:solidFill>
                <a:latin typeface="Times New Roman"/>
                <a:cs typeface="Times New Roman"/>
              </a:rPr>
              <a:t>=</a:t>
            </a:r>
            <a:r>
              <a:rPr sz="1700" b="1" spc="-20" dirty="0">
                <a:solidFill>
                  <a:srgbClr val="404040"/>
                </a:solidFill>
                <a:latin typeface="Times New Roman"/>
                <a:cs typeface="Times New Roman"/>
              </a:rPr>
              <a:t> </a:t>
            </a:r>
            <a:r>
              <a:rPr sz="1700" b="1" dirty="0">
                <a:solidFill>
                  <a:srgbClr val="404040"/>
                </a:solidFill>
                <a:latin typeface="Times New Roman"/>
                <a:cs typeface="Times New Roman"/>
              </a:rPr>
              <a:t>{(</a:t>
            </a:r>
            <a:r>
              <a:rPr sz="1700" b="1" i="1" dirty="0">
                <a:solidFill>
                  <a:srgbClr val="404040"/>
                </a:solidFill>
                <a:latin typeface="Times New Roman"/>
                <a:cs typeface="Times New Roman"/>
              </a:rPr>
              <a:t>a,</a:t>
            </a:r>
            <a:r>
              <a:rPr sz="1700" b="1" i="1" spc="-5" dirty="0">
                <a:solidFill>
                  <a:srgbClr val="404040"/>
                </a:solidFill>
                <a:latin typeface="Times New Roman"/>
                <a:cs typeface="Times New Roman"/>
              </a:rPr>
              <a:t> </a:t>
            </a:r>
            <a:r>
              <a:rPr sz="1700" b="1" i="1" dirty="0">
                <a:solidFill>
                  <a:srgbClr val="404040"/>
                </a:solidFill>
                <a:latin typeface="Times New Roman"/>
                <a:cs typeface="Times New Roman"/>
              </a:rPr>
              <a:t>b</a:t>
            </a:r>
            <a:r>
              <a:rPr sz="1700" b="1" dirty="0">
                <a:solidFill>
                  <a:srgbClr val="404040"/>
                </a:solidFill>
                <a:latin typeface="Times New Roman"/>
                <a:cs typeface="Times New Roman"/>
              </a:rPr>
              <a:t>)</a:t>
            </a:r>
            <a:r>
              <a:rPr sz="1700" b="1" spc="-15" dirty="0">
                <a:solidFill>
                  <a:srgbClr val="404040"/>
                </a:solidFill>
                <a:latin typeface="Times New Roman"/>
                <a:cs typeface="Times New Roman"/>
              </a:rPr>
              <a:t> </a:t>
            </a:r>
            <a:r>
              <a:rPr sz="1700" dirty="0">
                <a:solidFill>
                  <a:srgbClr val="404040"/>
                </a:solidFill>
                <a:latin typeface="Cambria Math"/>
                <a:cs typeface="Cambria Math"/>
              </a:rPr>
              <a:t>∣</a:t>
            </a:r>
            <a:r>
              <a:rPr sz="1700" spc="35" dirty="0">
                <a:solidFill>
                  <a:srgbClr val="404040"/>
                </a:solidFill>
                <a:latin typeface="Cambria Math"/>
                <a:cs typeface="Cambria Math"/>
              </a:rPr>
              <a:t> </a:t>
            </a:r>
            <a:r>
              <a:rPr sz="1700" b="1" i="1" dirty="0">
                <a:solidFill>
                  <a:srgbClr val="404040"/>
                </a:solidFill>
                <a:latin typeface="Times New Roman"/>
                <a:cs typeface="Times New Roman"/>
              </a:rPr>
              <a:t>a</a:t>
            </a:r>
            <a:r>
              <a:rPr sz="1700" b="1" i="1" spc="-10" dirty="0">
                <a:solidFill>
                  <a:srgbClr val="404040"/>
                </a:solidFill>
                <a:latin typeface="Times New Roman"/>
                <a:cs typeface="Times New Roman"/>
              </a:rPr>
              <a:t> </a:t>
            </a:r>
            <a:r>
              <a:rPr sz="1700" b="1" dirty="0">
                <a:solidFill>
                  <a:srgbClr val="404040"/>
                </a:solidFill>
                <a:latin typeface="Times New Roman"/>
                <a:cs typeface="Times New Roman"/>
              </a:rPr>
              <a:t>=</a:t>
            </a:r>
            <a:r>
              <a:rPr sz="1700" b="1" spc="-15" dirty="0">
                <a:solidFill>
                  <a:srgbClr val="404040"/>
                </a:solidFill>
                <a:latin typeface="Times New Roman"/>
                <a:cs typeface="Times New Roman"/>
              </a:rPr>
              <a:t> </a:t>
            </a:r>
            <a:r>
              <a:rPr sz="1700" b="1" i="1" dirty="0">
                <a:solidFill>
                  <a:srgbClr val="404040"/>
                </a:solidFill>
                <a:latin typeface="Times New Roman"/>
                <a:cs typeface="Times New Roman"/>
              </a:rPr>
              <a:t>b</a:t>
            </a:r>
            <a:r>
              <a:rPr sz="1700" b="1" i="1" spc="-10" dirty="0">
                <a:solidFill>
                  <a:srgbClr val="404040"/>
                </a:solidFill>
                <a:latin typeface="Times New Roman"/>
                <a:cs typeface="Times New Roman"/>
              </a:rPr>
              <a:t> </a:t>
            </a:r>
            <a:r>
              <a:rPr sz="1700" b="1" dirty="0">
                <a:solidFill>
                  <a:srgbClr val="404040"/>
                </a:solidFill>
                <a:latin typeface="Times New Roman"/>
                <a:cs typeface="Times New Roman"/>
              </a:rPr>
              <a:t>or</a:t>
            </a:r>
            <a:r>
              <a:rPr sz="1700" b="1" spc="-45" dirty="0">
                <a:solidFill>
                  <a:srgbClr val="404040"/>
                </a:solidFill>
                <a:latin typeface="Times New Roman"/>
                <a:cs typeface="Times New Roman"/>
              </a:rPr>
              <a:t> </a:t>
            </a:r>
            <a:r>
              <a:rPr sz="1700" b="1" i="1" dirty="0">
                <a:solidFill>
                  <a:srgbClr val="404040"/>
                </a:solidFill>
                <a:latin typeface="Times New Roman"/>
                <a:cs typeface="Times New Roman"/>
              </a:rPr>
              <a:t>a</a:t>
            </a:r>
            <a:r>
              <a:rPr sz="1700" b="1" i="1" spc="-15" dirty="0">
                <a:solidFill>
                  <a:srgbClr val="404040"/>
                </a:solidFill>
                <a:latin typeface="Times New Roman"/>
                <a:cs typeface="Times New Roman"/>
              </a:rPr>
              <a:t> </a:t>
            </a:r>
            <a:r>
              <a:rPr sz="1700" b="1" dirty="0">
                <a:solidFill>
                  <a:srgbClr val="404040"/>
                </a:solidFill>
                <a:latin typeface="Times New Roman"/>
                <a:cs typeface="Times New Roman"/>
              </a:rPr>
              <a:t>=</a:t>
            </a:r>
            <a:r>
              <a:rPr sz="1700" b="1" spc="-10" dirty="0">
                <a:solidFill>
                  <a:srgbClr val="404040"/>
                </a:solidFill>
                <a:latin typeface="Times New Roman"/>
                <a:cs typeface="Times New Roman"/>
              </a:rPr>
              <a:t> </a:t>
            </a:r>
            <a:r>
              <a:rPr sz="1700" b="1" spc="-20" dirty="0">
                <a:solidFill>
                  <a:srgbClr val="404040"/>
                </a:solidFill>
                <a:latin typeface="Times New Roman"/>
                <a:cs typeface="Times New Roman"/>
              </a:rPr>
              <a:t>−</a:t>
            </a:r>
            <a:r>
              <a:rPr sz="1700" b="1" i="1" spc="-20" dirty="0">
                <a:solidFill>
                  <a:srgbClr val="404040"/>
                </a:solidFill>
                <a:latin typeface="Times New Roman"/>
                <a:cs typeface="Times New Roman"/>
              </a:rPr>
              <a:t>b</a:t>
            </a:r>
            <a:r>
              <a:rPr sz="1700" b="1" spc="-20"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i="1" dirty="0">
                <a:solidFill>
                  <a:srgbClr val="404040"/>
                </a:solidFill>
                <a:latin typeface="Times New Roman"/>
                <a:cs typeface="Times New Roman"/>
              </a:rPr>
              <a:t>R</a:t>
            </a:r>
            <a:r>
              <a:rPr sz="1700" b="1" dirty="0">
                <a:solidFill>
                  <a:srgbClr val="404040"/>
                </a:solidFill>
                <a:latin typeface="Times New Roman"/>
                <a:cs typeface="Times New Roman"/>
              </a:rPr>
              <a:t>4</a:t>
            </a:r>
            <a:r>
              <a:rPr sz="1700" b="1" spc="-10" dirty="0">
                <a:solidFill>
                  <a:srgbClr val="404040"/>
                </a:solidFill>
                <a:latin typeface="Times New Roman"/>
                <a:cs typeface="Times New Roman"/>
              </a:rPr>
              <a:t> </a:t>
            </a:r>
            <a:r>
              <a:rPr sz="1700" b="1" dirty="0">
                <a:solidFill>
                  <a:srgbClr val="404040"/>
                </a:solidFill>
                <a:latin typeface="Times New Roman"/>
                <a:cs typeface="Times New Roman"/>
              </a:rPr>
              <a:t>=</a:t>
            </a:r>
            <a:r>
              <a:rPr sz="1700" b="1" spc="-20" dirty="0">
                <a:solidFill>
                  <a:srgbClr val="404040"/>
                </a:solidFill>
                <a:latin typeface="Times New Roman"/>
                <a:cs typeface="Times New Roman"/>
              </a:rPr>
              <a:t> </a:t>
            </a:r>
            <a:r>
              <a:rPr sz="1700" b="1" dirty="0">
                <a:solidFill>
                  <a:srgbClr val="404040"/>
                </a:solidFill>
                <a:latin typeface="Times New Roman"/>
                <a:cs typeface="Times New Roman"/>
              </a:rPr>
              <a:t>{(</a:t>
            </a:r>
            <a:r>
              <a:rPr sz="1700" b="1" i="1" dirty="0">
                <a:solidFill>
                  <a:srgbClr val="404040"/>
                </a:solidFill>
                <a:latin typeface="Times New Roman"/>
                <a:cs typeface="Times New Roman"/>
              </a:rPr>
              <a:t>a,</a:t>
            </a:r>
            <a:r>
              <a:rPr sz="1700" b="1" i="1" spc="-10" dirty="0">
                <a:solidFill>
                  <a:srgbClr val="404040"/>
                </a:solidFill>
                <a:latin typeface="Times New Roman"/>
                <a:cs typeface="Times New Roman"/>
              </a:rPr>
              <a:t> </a:t>
            </a:r>
            <a:r>
              <a:rPr sz="1700" b="1" i="1" dirty="0">
                <a:solidFill>
                  <a:srgbClr val="404040"/>
                </a:solidFill>
                <a:latin typeface="Times New Roman"/>
                <a:cs typeface="Times New Roman"/>
              </a:rPr>
              <a:t>b</a:t>
            </a:r>
            <a:r>
              <a:rPr sz="1700" b="1" dirty="0">
                <a:solidFill>
                  <a:srgbClr val="404040"/>
                </a:solidFill>
                <a:latin typeface="Times New Roman"/>
                <a:cs typeface="Times New Roman"/>
              </a:rPr>
              <a:t>)</a:t>
            </a:r>
            <a:r>
              <a:rPr sz="1700" b="1" spc="-15" dirty="0">
                <a:solidFill>
                  <a:srgbClr val="404040"/>
                </a:solidFill>
                <a:latin typeface="Times New Roman"/>
                <a:cs typeface="Times New Roman"/>
              </a:rPr>
              <a:t> </a:t>
            </a:r>
            <a:r>
              <a:rPr sz="1700" dirty="0">
                <a:solidFill>
                  <a:srgbClr val="404040"/>
                </a:solidFill>
                <a:latin typeface="Cambria Math"/>
                <a:cs typeface="Cambria Math"/>
              </a:rPr>
              <a:t>∣</a:t>
            </a:r>
            <a:r>
              <a:rPr sz="1700" spc="30" dirty="0">
                <a:solidFill>
                  <a:srgbClr val="404040"/>
                </a:solidFill>
                <a:latin typeface="Cambria Math"/>
                <a:cs typeface="Cambria Math"/>
              </a:rPr>
              <a:t> </a:t>
            </a:r>
            <a:r>
              <a:rPr sz="1700" b="1" i="1" dirty="0">
                <a:solidFill>
                  <a:srgbClr val="404040"/>
                </a:solidFill>
                <a:latin typeface="Times New Roman"/>
                <a:cs typeface="Times New Roman"/>
              </a:rPr>
              <a:t>a</a:t>
            </a:r>
            <a:r>
              <a:rPr sz="1700" b="1" i="1" spc="-10" dirty="0">
                <a:solidFill>
                  <a:srgbClr val="404040"/>
                </a:solidFill>
                <a:latin typeface="Times New Roman"/>
                <a:cs typeface="Times New Roman"/>
              </a:rPr>
              <a:t> </a:t>
            </a:r>
            <a:r>
              <a:rPr sz="1700" b="1" dirty="0">
                <a:solidFill>
                  <a:srgbClr val="404040"/>
                </a:solidFill>
                <a:latin typeface="Times New Roman"/>
                <a:cs typeface="Times New Roman"/>
              </a:rPr>
              <a:t>=</a:t>
            </a:r>
            <a:r>
              <a:rPr sz="1700" b="1" spc="-20" dirty="0">
                <a:solidFill>
                  <a:srgbClr val="404040"/>
                </a:solidFill>
                <a:latin typeface="Times New Roman"/>
                <a:cs typeface="Times New Roman"/>
              </a:rPr>
              <a:t> </a:t>
            </a:r>
            <a:r>
              <a:rPr sz="1700" b="1" i="1" spc="-25" dirty="0">
                <a:solidFill>
                  <a:srgbClr val="404040"/>
                </a:solidFill>
                <a:latin typeface="Times New Roman"/>
                <a:cs typeface="Times New Roman"/>
              </a:rPr>
              <a:t>b</a:t>
            </a:r>
            <a:r>
              <a:rPr sz="1700" b="1" spc="-25" dirty="0">
                <a:solidFill>
                  <a:srgbClr val="404040"/>
                </a:solidFill>
                <a:latin typeface="Times New Roman"/>
                <a:cs typeface="Times New Roman"/>
              </a:rPr>
              <a:t>}</a:t>
            </a:r>
            <a:r>
              <a:rPr sz="1700" b="1" i="1" spc="-25" dirty="0">
                <a:solidFill>
                  <a:srgbClr val="404040"/>
                </a:solidFill>
                <a:latin typeface="Times New Roman"/>
                <a:cs typeface="Times New Roman"/>
              </a:rPr>
              <a:t>,</a:t>
            </a:r>
            <a:endParaRPr sz="1700">
              <a:latin typeface="Times New Roman"/>
              <a:cs typeface="Times New Roman"/>
            </a:endParaRPr>
          </a:p>
          <a:p>
            <a:pPr marL="469900">
              <a:lnSpc>
                <a:spcPct val="100000"/>
              </a:lnSpc>
              <a:spcBef>
                <a:spcPts val="590"/>
              </a:spcBef>
            </a:pPr>
            <a:r>
              <a:rPr sz="1700" b="1" i="1" dirty="0">
                <a:solidFill>
                  <a:srgbClr val="404040"/>
                </a:solidFill>
                <a:latin typeface="Times New Roman"/>
                <a:cs typeface="Times New Roman"/>
              </a:rPr>
              <a:t>R</a:t>
            </a:r>
            <a:r>
              <a:rPr sz="1700" b="1" dirty="0">
                <a:solidFill>
                  <a:srgbClr val="404040"/>
                </a:solidFill>
                <a:latin typeface="Times New Roman"/>
                <a:cs typeface="Times New Roman"/>
              </a:rPr>
              <a:t>5</a:t>
            </a:r>
            <a:r>
              <a:rPr sz="1700" b="1" spc="-10" dirty="0">
                <a:solidFill>
                  <a:srgbClr val="404040"/>
                </a:solidFill>
                <a:latin typeface="Times New Roman"/>
                <a:cs typeface="Times New Roman"/>
              </a:rPr>
              <a:t> </a:t>
            </a:r>
            <a:r>
              <a:rPr sz="1700" b="1" dirty="0">
                <a:solidFill>
                  <a:srgbClr val="404040"/>
                </a:solidFill>
                <a:latin typeface="Times New Roman"/>
                <a:cs typeface="Times New Roman"/>
              </a:rPr>
              <a:t>=</a:t>
            </a:r>
            <a:r>
              <a:rPr sz="1700" b="1" spc="-20" dirty="0">
                <a:solidFill>
                  <a:srgbClr val="404040"/>
                </a:solidFill>
                <a:latin typeface="Times New Roman"/>
                <a:cs typeface="Times New Roman"/>
              </a:rPr>
              <a:t> </a:t>
            </a:r>
            <a:r>
              <a:rPr sz="1700" b="1" dirty="0">
                <a:solidFill>
                  <a:srgbClr val="404040"/>
                </a:solidFill>
                <a:latin typeface="Times New Roman"/>
                <a:cs typeface="Times New Roman"/>
              </a:rPr>
              <a:t>{(</a:t>
            </a:r>
            <a:r>
              <a:rPr sz="1700" b="1" i="1" dirty="0">
                <a:solidFill>
                  <a:srgbClr val="404040"/>
                </a:solidFill>
                <a:latin typeface="Times New Roman"/>
                <a:cs typeface="Times New Roman"/>
              </a:rPr>
              <a:t>a,</a:t>
            </a:r>
            <a:r>
              <a:rPr sz="1700" b="1" i="1" spc="-10" dirty="0">
                <a:solidFill>
                  <a:srgbClr val="404040"/>
                </a:solidFill>
                <a:latin typeface="Times New Roman"/>
                <a:cs typeface="Times New Roman"/>
              </a:rPr>
              <a:t> </a:t>
            </a:r>
            <a:r>
              <a:rPr sz="1700" b="1" i="1" dirty="0">
                <a:solidFill>
                  <a:srgbClr val="404040"/>
                </a:solidFill>
                <a:latin typeface="Times New Roman"/>
                <a:cs typeface="Times New Roman"/>
              </a:rPr>
              <a:t>b</a:t>
            </a:r>
            <a:r>
              <a:rPr sz="1700" b="1" dirty="0">
                <a:solidFill>
                  <a:srgbClr val="404040"/>
                </a:solidFill>
                <a:latin typeface="Times New Roman"/>
                <a:cs typeface="Times New Roman"/>
              </a:rPr>
              <a:t>)</a:t>
            </a:r>
            <a:r>
              <a:rPr sz="1700" b="1" spc="-10" dirty="0">
                <a:solidFill>
                  <a:srgbClr val="404040"/>
                </a:solidFill>
                <a:latin typeface="Times New Roman"/>
                <a:cs typeface="Times New Roman"/>
              </a:rPr>
              <a:t> </a:t>
            </a:r>
            <a:r>
              <a:rPr sz="1700" dirty="0">
                <a:solidFill>
                  <a:srgbClr val="404040"/>
                </a:solidFill>
                <a:latin typeface="Cambria Math"/>
                <a:cs typeface="Cambria Math"/>
              </a:rPr>
              <a:t>∣</a:t>
            </a:r>
            <a:r>
              <a:rPr sz="1700" spc="30" dirty="0">
                <a:solidFill>
                  <a:srgbClr val="404040"/>
                </a:solidFill>
                <a:latin typeface="Cambria Math"/>
                <a:cs typeface="Cambria Math"/>
              </a:rPr>
              <a:t> </a:t>
            </a:r>
            <a:r>
              <a:rPr sz="1700" b="1" i="1" dirty="0">
                <a:solidFill>
                  <a:srgbClr val="404040"/>
                </a:solidFill>
                <a:latin typeface="Times New Roman"/>
                <a:cs typeface="Times New Roman"/>
              </a:rPr>
              <a:t>a</a:t>
            </a:r>
            <a:r>
              <a:rPr sz="1700" b="1" i="1" spc="-10" dirty="0">
                <a:solidFill>
                  <a:srgbClr val="404040"/>
                </a:solidFill>
                <a:latin typeface="Times New Roman"/>
                <a:cs typeface="Times New Roman"/>
              </a:rPr>
              <a:t> </a:t>
            </a:r>
            <a:r>
              <a:rPr sz="1700" b="1" dirty="0">
                <a:solidFill>
                  <a:srgbClr val="404040"/>
                </a:solidFill>
                <a:latin typeface="Times New Roman"/>
                <a:cs typeface="Times New Roman"/>
              </a:rPr>
              <a:t>=</a:t>
            </a:r>
            <a:r>
              <a:rPr sz="1700" b="1" spc="-15" dirty="0">
                <a:solidFill>
                  <a:srgbClr val="404040"/>
                </a:solidFill>
                <a:latin typeface="Times New Roman"/>
                <a:cs typeface="Times New Roman"/>
              </a:rPr>
              <a:t> </a:t>
            </a:r>
            <a:r>
              <a:rPr sz="1700" b="1" i="1" dirty="0">
                <a:solidFill>
                  <a:srgbClr val="404040"/>
                </a:solidFill>
                <a:latin typeface="Times New Roman"/>
                <a:cs typeface="Times New Roman"/>
              </a:rPr>
              <a:t>b</a:t>
            </a:r>
            <a:r>
              <a:rPr sz="1700" b="1" i="1" spc="-10" dirty="0">
                <a:solidFill>
                  <a:srgbClr val="404040"/>
                </a:solidFill>
                <a:latin typeface="Times New Roman"/>
                <a:cs typeface="Times New Roman"/>
              </a:rPr>
              <a:t> </a:t>
            </a:r>
            <a:r>
              <a:rPr sz="1700" b="1" dirty="0">
                <a:solidFill>
                  <a:srgbClr val="404040"/>
                </a:solidFill>
                <a:latin typeface="Times New Roman"/>
                <a:cs typeface="Times New Roman"/>
              </a:rPr>
              <a:t>+</a:t>
            </a:r>
            <a:r>
              <a:rPr sz="1700" b="1" spc="-20" dirty="0">
                <a:solidFill>
                  <a:srgbClr val="404040"/>
                </a:solidFill>
                <a:latin typeface="Times New Roman"/>
                <a:cs typeface="Times New Roman"/>
              </a:rPr>
              <a:t> </a:t>
            </a:r>
            <a:r>
              <a:rPr sz="1700" b="1" spc="-25" dirty="0">
                <a:solidFill>
                  <a:srgbClr val="404040"/>
                </a:solidFill>
                <a:latin typeface="Times New Roman"/>
                <a:cs typeface="Times New Roman"/>
              </a:rPr>
              <a:t>1}</a:t>
            </a:r>
            <a:r>
              <a:rPr sz="1700" b="1" i="1" spc="-25" dirty="0">
                <a:solidFill>
                  <a:srgbClr val="404040"/>
                </a:solidFill>
                <a:latin typeface="Times New Roman"/>
                <a:cs typeface="Times New Roman"/>
              </a:rPr>
              <a:t>,</a:t>
            </a:r>
            <a:endParaRPr sz="1700">
              <a:latin typeface="Times New Roman"/>
              <a:cs typeface="Times New Roman"/>
            </a:endParaRPr>
          </a:p>
          <a:p>
            <a:pPr marL="469900">
              <a:lnSpc>
                <a:spcPct val="100000"/>
              </a:lnSpc>
              <a:spcBef>
                <a:spcPts val="590"/>
              </a:spcBef>
            </a:pPr>
            <a:r>
              <a:rPr sz="1700" b="1" i="1" dirty="0">
                <a:solidFill>
                  <a:srgbClr val="404040"/>
                </a:solidFill>
                <a:latin typeface="Times New Roman"/>
                <a:cs typeface="Times New Roman"/>
              </a:rPr>
              <a:t>R</a:t>
            </a:r>
            <a:r>
              <a:rPr sz="1700" b="1" dirty="0">
                <a:solidFill>
                  <a:srgbClr val="404040"/>
                </a:solidFill>
                <a:latin typeface="Times New Roman"/>
                <a:cs typeface="Times New Roman"/>
              </a:rPr>
              <a:t>6</a:t>
            </a:r>
            <a:r>
              <a:rPr sz="1700" b="1" spc="-10" dirty="0">
                <a:solidFill>
                  <a:srgbClr val="404040"/>
                </a:solidFill>
                <a:latin typeface="Times New Roman"/>
                <a:cs typeface="Times New Roman"/>
              </a:rPr>
              <a:t> </a:t>
            </a:r>
            <a:r>
              <a:rPr sz="1700" b="1" dirty="0">
                <a:solidFill>
                  <a:srgbClr val="404040"/>
                </a:solidFill>
                <a:latin typeface="Times New Roman"/>
                <a:cs typeface="Times New Roman"/>
              </a:rPr>
              <a:t>=</a:t>
            </a:r>
            <a:r>
              <a:rPr sz="1700" b="1" spc="-20" dirty="0">
                <a:solidFill>
                  <a:srgbClr val="404040"/>
                </a:solidFill>
                <a:latin typeface="Times New Roman"/>
                <a:cs typeface="Times New Roman"/>
              </a:rPr>
              <a:t> </a:t>
            </a:r>
            <a:r>
              <a:rPr sz="1700" b="1" dirty="0">
                <a:solidFill>
                  <a:srgbClr val="404040"/>
                </a:solidFill>
                <a:latin typeface="Times New Roman"/>
                <a:cs typeface="Times New Roman"/>
              </a:rPr>
              <a:t>{(</a:t>
            </a:r>
            <a:r>
              <a:rPr sz="1700" b="1" i="1" dirty="0">
                <a:solidFill>
                  <a:srgbClr val="404040"/>
                </a:solidFill>
                <a:latin typeface="Times New Roman"/>
                <a:cs typeface="Times New Roman"/>
              </a:rPr>
              <a:t>a,</a:t>
            </a:r>
            <a:r>
              <a:rPr sz="1700" b="1" i="1" spc="-10" dirty="0">
                <a:solidFill>
                  <a:srgbClr val="404040"/>
                </a:solidFill>
                <a:latin typeface="Times New Roman"/>
                <a:cs typeface="Times New Roman"/>
              </a:rPr>
              <a:t> </a:t>
            </a:r>
            <a:r>
              <a:rPr sz="1700" b="1" i="1" dirty="0">
                <a:solidFill>
                  <a:srgbClr val="404040"/>
                </a:solidFill>
                <a:latin typeface="Times New Roman"/>
                <a:cs typeface="Times New Roman"/>
              </a:rPr>
              <a:t>b</a:t>
            </a:r>
            <a:r>
              <a:rPr sz="1700" b="1" dirty="0">
                <a:solidFill>
                  <a:srgbClr val="404040"/>
                </a:solidFill>
                <a:latin typeface="Times New Roman"/>
                <a:cs typeface="Times New Roman"/>
              </a:rPr>
              <a:t>)</a:t>
            </a:r>
            <a:r>
              <a:rPr sz="1700" b="1" spc="-15" dirty="0">
                <a:solidFill>
                  <a:srgbClr val="404040"/>
                </a:solidFill>
                <a:latin typeface="Times New Roman"/>
                <a:cs typeface="Times New Roman"/>
              </a:rPr>
              <a:t> </a:t>
            </a:r>
            <a:r>
              <a:rPr sz="1700" dirty="0">
                <a:solidFill>
                  <a:srgbClr val="404040"/>
                </a:solidFill>
                <a:latin typeface="Cambria Math"/>
                <a:cs typeface="Cambria Math"/>
              </a:rPr>
              <a:t>∣</a:t>
            </a:r>
            <a:r>
              <a:rPr sz="1700" spc="30" dirty="0">
                <a:solidFill>
                  <a:srgbClr val="404040"/>
                </a:solidFill>
                <a:latin typeface="Cambria Math"/>
                <a:cs typeface="Cambria Math"/>
              </a:rPr>
              <a:t> </a:t>
            </a:r>
            <a:r>
              <a:rPr sz="1700" b="1" i="1" dirty="0">
                <a:solidFill>
                  <a:srgbClr val="404040"/>
                </a:solidFill>
                <a:latin typeface="Times New Roman"/>
                <a:cs typeface="Times New Roman"/>
              </a:rPr>
              <a:t>a</a:t>
            </a:r>
            <a:r>
              <a:rPr sz="1700" b="1" i="1" spc="-10" dirty="0">
                <a:solidFill>
                  <a:srgbClr val="404040"/>
                </a:solidFill>
                <a:latin typeface="Times New Roman"/>
                <a:cs typeface="Times New Roman"/>
              </a:rPr>
              <a:t> </a:t>
            </a:r>
            <a:r>
              <a:rPr sz="1700" b="1" dirty="0">
                <a:solidFill>
                  <a:srgbClr val="404040"/>
                </a:solidFill>
                <a:latin typeface="Times New Roman"/>
                <a:cs typeface="Times New Roman"/>
              </a:rPr>
              <a:t>+</a:t>
            </a:r>
            <a:r>
              <a:rPr sz="1700" b="1" spc="-20" dirty="0">
                <a:solidFill>
                  <a:srgbClr val="404040"/>
                </a:solidFill>
                <a:latin typeface="Times New Roman"/>
                <a:cs typeface="Times New Roman"/>
              </a:rPr>
              <a:t> </a:t>
            </a:r>
            <a:r>
              <a:rPr sz="1700" b="1" i="1" dirty="0">
                <a:solidFill>
                  <a:srgbClr val="404040"/>
                </a:solidFill>
                <a:latin typeface="Times New Roman"/>
                <a:cs typeface="Times New Roman"/>
              </a:rPr>
              <a:t>b</a:t>
            </a:r>
            <a:r>
              <a:rPr sz="1700" b="1" i="1" spc="-10" dirty="0">
                <a:solidFill>
                  <a:srgbClr val="404040"/>
                </a:solidFill>
                <a:latin typeface="Times New Roman"/>
                <a:cs typeface="Times New Roman"/>
              </a:rPr>
              <a:t> </a:t>
            </a:r>
            <a:r>
              <a:rPr sz="1700" b="1" dirty="0">
                <a:solidFill>
                  <a:srgbClr val="404040"/>
                </a:solidFill>
                <a:latin typeface="Times New Roman"/>
                <a:cs typeface="Times New Roman"/>
              </a:rPr>
              <a:t>≤ </a:t>
            </a:r>
            <a:r>
              <a:rPr sz="1700" b="1" spc="-25" dirty="0">
                <a:solidFill>
                  <a:srgbClr val="404040"/>
                </a:solidFill>
                <a:latin typeface="Times New Roman"/>
                <a:cs typeface="Times New Roman"/>
              </a:rPr>
              <a:t>3}</a:t>
            </a:r>
            <a:r>
              <a:rPr sz="1700" b="1" i="1" spc="-25" dirty="0">
                <a:solidFill>
                  <a:srgbClr val="404040"/>
                </a:solidFill>
                <a:latin typeface="Times New Roman"/>
                <a:cs typeface="Times New Roman"/>
              </a:rPr>
              <a:t>.</a:t>
            </a:r>
            <a:endParaRPr sz="1700">
              <a:latin typeface="Times New Roman"/>
              <a:cs typeface="Times New Roman"/>
            </a:endParaRPr>
          </a:p>
          <a:p>
            <a:pPr marL="12700">
              <a:lnSpc>
                <a:spcPts val="1835"/>
              </a:lnSpc>
              <a:spcBef>
                <a:spcPts val="590"/>
              </a:spcBef>
            </a:pPr>
            <a:r>
              <a:rPr sz="1700" b="1" dirty="0">
                <a:solidFill>
                  <a:srgbClr val="404040"/>
                </a:solidFill>
                <a:latin typeface="Times New Roman"/>
                <a:cs typeface="Times New Roman"/>
              </a:rPr>
              <a:t>Which</a:t>
            </a:r>
            <a:r>
              <a:rPr sz="1700" b="1" spc="-15" dirty="0">
                <a:solidFill>
                  <a:srgbClr val="404040"/>
                </a:solidFill>
                <a:latin typeface="Times New Roman"/>
                <a:cs typeface="Times New Roman"/>
              </a:rPr>
              <a:t> </a:t>
            </a:r>
            <a:r>
              <a:rPr sz="1700" b="1" dirty="0">
                <a:solidFill>
                  <a:srgbClr val="404040"/>
                </a:solidFill>
                <a:latin typeface="Times New Roman"/>
                <a:cs typeface="Times New Roman"/>
              </a:rPr>
              <a:t>of</a:t>
            </a:r>
            <a:r>
              <a:rPr sz="1700" b="1" spc="-25" dirty="0">
                <a:solidFill>
                  <a:srgbClr val="404040"/>
                </a:solidFill>
                <a:latin typeface="Times New Roman"/>
                <a:cs typeface="Times New Roman"/>
              </a:rPr>
              <a:t> </a:t>
            </a:r>
            <a:r>
              <a:rPr sz="1700" b="1" dirty="0">
                <a:solidFill>
                  <a:srgbClr val="404040"/>
                </a:solidFill>
                <a:latin typeface="Times New Roman"/>
                <a:cs typeface="Times New Roman"/>
              </a:rPr>
              <a:t>these</a:t>
            </a:r>
            <a:r>
              <a:rPr sz="1700" b="1" spc="-25" dirty="0">
                <a:solidFill>
                  <a:srgbClr val="404040"/>
                </a:solidFill>
                <a:latin typeface="Times New Roman"/>
                <a:cs typeface="Times New Roman"/>
              </a:rPr>
              <a:t> </a:t>
            </a:r>
            <a:r>
              <a:rPr sz="1700" b="1" dirty="0">
                <a:solidFill>
                  <a:srgbClr val="404040"/>
                </a:solidFill>
                <a:latin typeface="Times New Roman"/>
                <a:cs typeface="Times New Roman"/>
              </a:rPr>
              <a:t>relations</a:t>
            </a:r>
            <a:r>
              <a:rPr sz="1700" b="1" spc="-25" dirty="0">
                <a:solidFill>
                  <a:srgbClr val="404040"/>
                </a:solidFill>
                <a:latin typeface="Times New Roman"/>
                <a:cs typeface="Times New Roman"/>
              </a:rPr>
              <a:t> </a:t>
            </a:r>
            <a:r>
              <a:rPr sz="1700" b="1" dirty="0">
                <a:solidFill>
                  <a:srgbClr val="404040"/>
                </a:solidFill>
                <a:latin typeface="Times New Roman"/>
                <a:cs typeface="Times New Roman"/>
              </a:rPr>
              <a:t>contain</a:t>
            </a:r>
            <a:r>
              <a:rPr sz="1700" b="1" spc="-30" dirty="0">
                <a:solidFill>
                  <a:srgbClr val="404040"/>
                </a:solidFill>
                <a:latin typeface="Times New Roman"/>
                <a:cs typeface="Times New Roman"/>
              </a:rPr>
              <a:t> </a:t>
            </a:r>
            <a:r>
              <a:rPr sz="1700" b="1" dirty="0">
                <a:solidFill>
                  <a:srgbClr val="404040"/>
                </a:solidFill>
                <a:latin typeface="Times New Roman"/>
                <a:cs typeface="Times New Roman"/>
              </a:rPr>
              <a:t>each</a:t>
            </a:r>
            <a:r>
              <a:rPr sz="1700" b="1" spc="-25" dirty="0">
                <a:solidFill>
                  <a:srgbClr val="404040"/>
                </a:solidFill>
                <a:latin typeface="Times New Roman"/>
                <a:cs typeface="Times New Roman"/>
              </a:rPr>
              <a:t> </a:t>
            </a:r>
            <a:r>
              <a:rPr sz="1700" b="1" dirty="0">
                <a:solidFill>
                  <a:srgbClr val="404040"/>
                </a:solidFill>
                <a:latin typeface="Times New Roman"/>
                <a:cs typeface="Times New Roman"/>
              </a:rPr>
              <a:t>of</a:t>
            </a:r>
            <a:r>
              <a:rPr sz="1700" b="1" spc="-30" dirty="0">
                <a:solidFill>
                  <a:srgbClr val="404040"/>
                </a:solidFill>
                <a:latin typeface="Times New Roman"/>
                <a:cs typeface="Times New Roman"/>
              </a:rPr>
              <a:t> </a:t>
            </a:r>
            <a:r>
              <a:rPr sz="1700" b="1" dirty="0">
                <a:solidFill>
                  <a:srgbClr val="404040"/>
                </a:solidFill>
                <a:latin typeface="Times New Roman"/>
                <a:cs typeface="Times New Roman"/>
              </a:rPr>
              <a:t>the</a:t>
            </a:r>
            <a:r>
              <a:rPr sz="1700" b="1" spc="-30" dirty="0">
                <a:solidFill>
                  <a:srgbClr val="404040"/>
                </a:solidFill>
                <a:latin typeface="Times New Roman"/>
                <a:cs typeface="Times New Roman"/>
              </a:rPr>
              <a:t> </a:t>
            </a:r>
            <a:r>
              <a:rPr sz="1700" b="1" dirty="0">
                <a:solidFill>
                  <a:srgbClr val="404040"/>
                </a:solidFill>
                <a:latin typeface="Times New Roman"/>
                <a:cs typeface="Times New Roman"/>
              </a:rPr>
              <a:t>pairs</a:t>
            </a:r>
            <a:r>
              <a:rPr sz="1700" b="1" spc="-15"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30" dirty="0">
                <a:solidFill>
                  <a:srgbClr val="404040"/>
                </a:solidFill>
                <a:latin typeface="Times New Roman"/>
                <a:cs typeface="Times New Roman"/>
              </a:rPr>
              <a:t> </a:t>
            </a:r>
            <a:r>
              <a:rPr sz="1700" b="1" dirty="0">
                <a:solidFill>
                  <a:srgbClr val="404040"/>
                </a:solidFill>
                <a:latin typeface="Times New Roman"/>
                <a:cs typeface="Times New Roman"/>
              </a:rPr>
              <a:t>1),</a:t>
            </a:r>
            <a:r>
              <a:rPr sz="1700" b="1" spc="-25"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2),</a:t>
            </a:r>
            <a:r>
              <a:rPr sz="1700" b="1" spc="-30"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1),</a:t>
            </a:r>
            <a:r>
              <a:rPr sz="1700" b="1" spc="-30" dirty="0">
                <a:solidFill>
                  <a:srgbClr val="404040"/>
                </a:solidFill>
                <a:latin typeface="Times New Roman"/>
                <a:cs typeface="Times New Roman"/>
              </a:rPr>
              <a:t> </a:t>
            </a:r>
            <a:r>
              <a:rPr sz="1700" b="1" spc="-10" dirty="0">
                <a:solidFill>
                  <a:srgbClr val="404040"/>
                </a:solidFill>
                <a:latin typeface="Times New Roman"/>
                <a:cs typeface="Times New Roman"/>
              </a:rPr>
              <a:t>(1</a:t>
            </a:r>
            <a:r>
              <a:rPr sz="1700" b="1" i="1" spc="-10" dirty="0">
                <a:solidFill>
                  <a:srgbClr val="404040"/>
                </a:solidFill>
                <a:latin typeface="Times New Roman"/>
                <a:cs typeface="Times New Roman"/>
              </a:rPr>
              <a:t>,</a:t>
            </a:r>
            <a:r>
              <a:rPr sz="1700" b="1" spc="-10" dirty="0">
                <a:solidFill>
                  <a:srgbClr val="404040"/>
                </a:solidFill>
                <a:latin typeface="Times New Roman"/>
                <a:cs typeface="Times New Roman"/>
              </a:rPr>
              <a:t>−1),</a:t>
            </a:r>
            <a:endParaRPr sz="1700">
              <a:latin typeface="Times New Roman"/>
              <a:cs typeface="Times New Roman"/>
            </a:endParaRPr>
          </a:p>
          <a:p>
            <a:pPr marL="12700">
              <a:lnSpc>
                <a:spcPts val="1835"/>
              </a:lnSpc>
            </a:pPr>
            <a:r>
              <a:rPr sz="1700" b="1" dirty="0">
                <a:solidFill>
                  <a:srgbClr val="404040"/>
                </a:solidFill>
                <a:latin typeface="Times New Roman"/>
                <a:cs typeface="Times New Roman"/>
              </a:rPr>
              <a:t>and</a:t>
            </a:r>
            <a:r>
              <a:rPr sz="1700" b="1" spc="-20"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spc="-25" dirty="0">
                <a:solidFill>
                  <a:srgbClr val="404040"/>
                </a:solidFill>
                <a:latin typeface="Times New Roman"/>
                <a:cs typeface="Times New Roman"/>
              </a:rPr>
              <a:t>2)?</a:t>
            </a:r>
            <a:endParaRPr sz="1700">
              <a:latin typeface="Times New Roman"/>
              <a:cs typeface="Times New Roman"/>
            </a:endParaRPr>
          </a:p>
          <a:p>
            <a:pPr marL="354965" indent="-342265">
              <a:lnSpc>
                <a:spcPts val="1835"/>
              </a:lnSpc>
              <a:spcBef>
                <a:spcPts val="595"/>
              </a:spcBef>
              <a:buClr>
                <a:srgbClr val="90C225"/>
              </a:buClr>
              <a:buSzPct val="79411"/>
              <a:buAutoNum type="arabicPeriod" startAt="2"/>
              <a:tabLst>
                <a:tab pos="354965" algn="l"/>
                <a:tab pos="6417310" algn="l"/>
              </a:tabLst>
            </a:pPr>
            <a:r>
              <a:rPr sz="1700" b="1" dirty="0">
                <a:solidFill>
                  <a:srgbClr val="404040"/>
                </a:solidFill>
                <a:latin typeface="Times New Roman"/>
                <a:cs typeface="Times New Roman"/>
              </a:rPr>
              <a:t>List</a:t>
            </a:r>
            <a:r>
              <a:rPr sz="1700" b="1" spc="-20" dirty="0">
                <a:solidFill>
                  <a:srgbClr val="404040"/>
                </a:solidFill>
                <a:latin typeface="Times New Roman"/>
                <a:cs typeface="Times New Roman"/>
              </a:rPr>
              <a:t> </a:t>
            </a:r>
            <a:r>
              <a:rPr sz="1700" b="1" dirty="0">
                <a:solidFill>
                  <a:srgbClr val="404040"/>
                </a:solidFill>
                <a:latin typeface="Times New Roman"/>
                <a:cs typeface="Times New Roman"/>
              </a:rPr>
              <a:t>the</a:t>
            </a:r>
            <a:r>
              <a:rPr sz="1700" b="1" spc="-25" dirty="0">
                <a:solidFill>
                  <a:srgbClr val="404040"/>
                </a:solidFill>
                <a:latin typeface="Times New Roman"/>
                <a:cs typeface="Times New Roman"/>
              </a:rPr>
              <a:t> </a:t>
            </a:r>
            <a:r>
              <a:rPr sz="1700" b="1" dirty="0">
                <a:solidFill>
                  <a:srgbClr val="404040"/>
                </a:solidFill>
                <a:latin typeface="Times New Roman"/>
                <a:cs typeface="Times New Roman"/>
              </a:rPr>
              <a:t>ordered</a:t>
            </a:r>
            <a:r>
              <a:rPr sz="1700" b="1" spc="-35" dirty="0">
                <a:solidFill>
                  <a:srgbClr val="404040"/>
                </a:solidFill>
                <a:latin typeface="Times New Roman"/>
                <a:cs typeface="Times New Roman"/>
              </a:rPr>
              <a:t> </a:t>
            </a:r>
            <a:r>
              <a:rPr sz="1700" b="1" dirty="0">
                <a:solidFill>
                  <a:srgbClr val="404040"/>
                </a:solidFill>
                <a:latin typeface="Times New Roman"/>
                <a:cs typeface="Times New Roman"/>
              </a:rPr>
              <a:t>pairs</a:t>
            </a:r>
            <a:r>
              <a:rPr sz="1700" b="1" spc="-20" dirty="0">
                <a:solidFill>
                  <a:srgbClr val="404040"/>
                </a:solidFill>
                <a:latin typeface="Times New Roman"/>
                <a:cs typeface="Times New Roman"/>
              </a:rPr>
              <a:t> </a:t>
            </a:r>
            <a:r>
              <a:rPr sz="1700" b="1" dirty="0">
                <a:solidFill>
                  <a:srgbClr val="404040"/>
                </a:solidFill>
                <a:latin typeface="Times New Roman"/>
                <a:cs typeface="Times New Roman"/>
              </a:rPr>
              <a:t>in</a:t>
            </a:r>
            <a:r>
              <a:rPr sz="1700" b="1" spc="-10" dirty="0">
                <a:solidFill>
                  <a:srgbClr val="404040"/>
                </a:solidFill>
                <a:latin typeface="Times New Roman"/>
                <a:cs typeface="Times New Roman"/>
              </a:rPr>
              <a:t> </a:t>
            </a:r>
            <a:r>
              <a:rPr sz="1700" b="1" dirty="0">
                <a:solidFill>
                  <a:srgbClr val="404040"/>
                </a:solidFill>
                <a:latin typeface="Times New Roman"/>
                <a:cs typeface="Times New Roman"/>
              </a:rPr>
              <a:t>the</a:t>
            </a:r>
            <a:r>
              <a:rPr sz="1700" b="1" spc="-30" dirty="0">
                <a:solidFill>
                  <a:srgbClr val="404040"/>
                </a:solidFill>
                <a:latin typeface="Times New Roman"/>
                <a:cs typeface="Times New Roman"/>
              </a:rPr>
              <a:t> </a:t>
            </a:r>
            <a:r>
              <a:rPr sz="1700" b="1" dirty="0">
                <a:solidFill>
                  <a:srgbClr val="404040"/>
                </a:solidFill>
                <a:latin typeface="Times New Roman"/>
                <a:cs typeface="Times New Roman"/>
              </a:rPr>
              <a:t>relation</a:t>
            </a:r>
            <a:r>
              <a:rPr sz="1700" b="1" spc="-15" dirty="0">
                <a:solidFill>
                  <a:srgbClr val="404040"/>
                </a:solidFill>
                <a:latin typeface="Times New Roman"/>
                <a:cs typeface="Times New Roman"/>
              </a:rPr>
              <a:t> </a:t>
            </a:r>
            <a:r>
              <a:rPr sz="1700" b="1" i="1" dirty="0">
                <a:solidFill>
                  <a:srgbClr val="404040"/>
                </a:solidFill>
                <a:latin typeface="Times New Roman"/>
                <a:cs typeface="Times New Roman"/>
              </a:rPr>
              <a:t>R</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from</a:t>
            </a:r>
            <a:r>
              <a:rPr sz="1700" b="1" spc="-30" dirty="0">
                <a:solidFill>
                  <a:srgbClr val="404040"/>
                </a:solidFill>
                <a:latin typeface="Times New Roman"/>
                <a:cs typeface="Times New Roman"/>
              </a:rPr>
              <a:t> </a:t>
            </a:r>
            <a:r>
              <a:rPr sz="1700" b="1" i="1" dirty="0">
                <a:solidFill>
                  <a:srgbClr val="404040"/>
                </a:solidFill>
                <a:latin typeface="Times New Roman"/>
                <a:cs typeface="Times New Roman"/>
              </a:rPr>
              <a:t>A</a:t>
            </a:r>
            <a:r>
              <a:rPr sz="1700" b="1" i="1" spc="-105" dirty="0">
                <a:solidFill>
                  <a:srgbClr val="404040"/>
                </a:solidFill>
                <a:latin typeface="Times New Roman"/>
                <a:cs typeface="Times New Roman"/>
              </a:rPr>
              <a:t> </a:t>
            </a:r>
            <a:r>
              <a:rPr sz="1700" b="1" dirty="0">
                <a:solidFill>
                  <a:srgbClr val="404040"/>
                </a:solidFill>
                <a:latin typeface="Times New Roman"/>
                <a:cs typeface="Times New Roman"/>
              </a:rPr>
              <a:t>=</a:t>
            </a:r>
            <a:r>
              <a:rPr sz="1700" b="1" spc="-30" dirty="0">
                <a:solidFill>
                  <a:srgbClr val="404040"/>
                </a:solidFill>
                <a:latin typeface="Times New Roman"/>
                <a:cs typeface="Times New Roman"/>
              </a:rPr>
              <a:t> </a:t>
            </a:r>
            <a:r>
              <a:rPr sz="1700" b="1" dirty="0">
                <a:solidFill>
                  <a:srgbClr val="404040"/>
                </a:solidFill>
                <a:latin typeface="Times New Roman"/>
                <a:cs typeface="Times New Roman"/>
              </a:rPr>
              <a:t>{0</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3</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4}</a:t>
            </a:r>
            <a:r>
              <a:rPr sz="1700" b="1" spc="-25" dirty="0">
                <a:solidFill>
                  <a:srgbClr val="404040"/>
                </a:solidFill>
                <a:latin typeface="Times New Roman"/>
                <a:cs typeface="Times New Roman"/>
              </a:rPr>
              <a:t> to</a:t>
            </a:r>
            <a:r>
              <a:rPr sz="1700" b="1" dirty="0">
                <a:solidFill>
                  <a:srgbClr val="404040"/>
                </a:solidFill>
                <a:latin typeface="Times New Roman"/>
                <a:cs typeface="Times New Roman"/>
              </a:rPr>
              <a:t>	</a:t>
            </a:r>
            <a:r>
              <a:rPr sz="1700" b="1" i="1" dirty="0">
                <a:solidFill>
                  <a:srgbClr val="404040"/>
                </a:solidFill>
                <a:latin typeface="Times New Roman"/>
                <a:cs typeface="Times New Roman"/>
              </a:rPr>
              <a:t>B</a:t>
            </a:r>
            <a:r>
              <a:rPr sz="1700" b="1" i="1" spc="-15" dirty="0">
                <a:solidFill>
                  <a:srgbClr val="404040"/>
                </a:solidFill>
                <a:latin typeface="Times New Roman"/>
                <a:cs typeface="Times New Roman"/>
              </a:rPr>
              <a:t> </a:t>
            </a:r>
            <a:r>
              <a:rPr sz="1700" b="1" spc="-50" dirty="0">
                <a:solidFill>
                  <a:srgbClr val="404040"/>
                </a:solidFill>
                <a:latin typeface="Times New Roman"/>
                <a:cs typeface="Times New Roman"/>
              </a:rPr>
              <a:t>=</a:t>
            </a:r>
            <a:endParaRPr sz="1700">
              <a:latin typeface="Times New Roman"/>
              <a:cs typeface="Times New Roman"/>
            </a:endParaRPr>
          </a:p>
          <a:p>
            <a:pPr marL="355600">
              <a:lnSpc>
                <a:spcPts val="1835"/>
              </a:lnSpc>
            </a:pPr>
            <a:r>
              <a:rPr sz="1700" b="1" dirty="0">
                <a:solidFill>
                  <a:srgbClr val="404040"/>
                </a:solidFill>
                <a:latin typeface="Times New Roman"/>
                <a:cs typeface="Times New Roman"/>
              </a:rPr>
              <a:t>{0</a:t>
            </a:r>
            <a:r>
              <a:rPr sz="1700" b="1" i="1" dirty="0">
                <a:solidFill>
                  <a:srgbClr val="404040"/>
                </a:solidFill>
                <a:latin typeface="Times New Roman"/>
                <a:cs typeface="Times New Roman"/>
              </a:rPr>
              <a:t>,</a:t>
            </a:r>
            <a:r>
              <a:rPr sz="1700" b="1" i="1" spc="-15"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15"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15" dirty="0">
                <a:solidFill>
                  <a:srgbClr val="404040"/>
                </a:solidFill>
                <a:latin typeface="Times New Roman"/>
                <a:cs typeface="Times New Roman"/>
              </a:rPr>
              <a:t> </a:t>
            </a:r>
            <a:r>
              <a:rPr sz="1700" b="1" dirty="0">
                <a:solidFill>
                  <a:srgbClr val="404040"/>
                </a:solidFill>
                <a:latin typeface="Times New Roman"/>
                <a:cs typeface="Times New Roman"/>
              </a:rPr>
              <a:t>3},</a:t>
            </a:r>
            <a:r>
              <a:rPr sz="1700" b="1" spc="-10" dirty="0">
                <a:solidFill>
                  <a:srgbClr val="404040"/>
                </a:solidFill>
                <a:latin typeface="Times New Roman"/>
                <a:cs typeface="Times New Roman"/>
              </a:rPr>
              <a:t> </a:t>
            </a:r>
            <a:r>
              <a:rPr sz="1700" b="1" dirty="0">
                <a:solidFill>
                  <a:srgbClr val="404040"/>
                </a:solidFill>
                <a:latin typeface="Times New Roman"/>
                <a:cs typeface="Times New Roman"/>
              </a:rPr>
              <a:t>where</a:t>
            </a:r>
            <a:r>
              <a:rPr sz="1700" b="1" spc="-15" dirty="0">
                <a:solidFill>
                  <a:srgbClr val="404040"/>
                </a:solidFill>
                <a:latin typeface="Times New Roman"/>
                <a:cs typeface="Times New Roman"/>
              </a:rPr>
              <a:t> </a:t>
            </a:r>
            <a:r>
              <a:rPr sz="1700" b="1" dirty="0">
                <a:solidFill>
                  <a:srgbClr val="404040"/>
                </a:solidFill>
                <a:latin typeface="Times New Roman"/>
                <a:cs typeface="Times New Roman"/>
              </a:rPr>
              <a:t>(</a:t>
            </a:r>
            <a:r>
              <a:rPr sz="1700" b="1" i="1" dirty="0">
                <a:solidFill>
                  <a:srgbClr val="404040"/>
                </a:solidFill>
                <a:latin typeface="Times New Roman"/>
                <a:cs typeface="Times New Roman"/>
              </a:rPr>
              <a:t>a,</a:t>
            </a:r>
            <a:r>
              <a:rPr sz="1700" b="1" i="1" spc="-10" dirty="0">
                <a:solidFill>
                  <a:srgbClr val="404040"/>
                </a:solidFill>
                <a:latin typeface="Times New Roman"/>
                <a:cs typeface="Times New Roman"/>
              </a:rPr>
              <a:t> </a:t>
            </a:r>
            <a:r>
              <a:rPr sz="1700" b="1" i="1" dirty="0">
                <a:solidFill>
                  <a:srgbClr val="404040"/>
                </a:solidFill>
                <a:latin typeface="Times New Roman"/>
                <a:cs typeface="Times New Roman"/>
              </a:rPr>
              <a:t>b</a:t>
            </a:r>
            <a:r>
              <a:rPr sz="1700" b="1" dirty="0">
                <a:solidFill>
                  <a:srgbClr val="404040"/>
                </a:solidFill>
                <a:latin typeface="Times New Roman"/>
                <a:cs typeface="Times New Roman"/>
              </a:rPr>
              <a:t>)</a:t>
            </a:r>
            <a:r>
              <a:rPr sz="1700" b="1" spc="-25" dirty="0">
                <a:solidFill>
                  <a:srgbClr val="404040"/>
                </a:solidFill>
                <a:latin typeface="Times New Roman"/>
                <a:cs typeface="Times New Roman"/>
              </a:rPr>
              <a:t> </a:t>
            </a:r>
            <a:r>
              <a:rPr sz="1700" dirty="0">
                <a:solidFill>
                  <a:srgbClr val="404040"/>
                </a:solidFill>
                <a:latin typeface="Cambria Math"/>
                <a:cs typeface="Cambria Math"/>
              </a:rPr>
              <a:t>∈</a:t>
            </a:r>
            <a:r>
              <a:rPr sz="1700" spc="20" dirty="0">
                <a:solidFill>
                  <a:srgbClr val="404040"/>
                </a:solidFill>
                <a:latin typeface="Cambria Math"/>
                <a:cs typeface="Cambria Math"/>
              </a:rPr>
              <a:t> </a:t>
            </a:r>
            <a:r>
              <a:rPr sz="1700" b="1" i="1" dirty="0">
                <a:solidFill>
                  <a:srgbClr val="404040"/>
                </a:solidFill>
                <a:latin typeface="Times New Roman"/>
                <a:cs typeface="Times New Roman"/>
              </a:rPr>
              <a:t>R</a:t>
            </a:r>
            <a:r>
              <a:rPr sz="1700" b="1" i="1" spc="-15" dirty="0">
                <a:solidFill>
                  <a:srgbClr val="404040"/>
                </a:solidFill>
                <a:latin typeface="Times New Roman"/>
                <a:cs typeface="Times New Roman"/>
              </a:rPr>
              <a:t> </a:t>
            </a:r>
            <a:r>
              <a:rPr sz="1700" b="1" dirty="0">
                <a:solidFill>
                  <a:srgbClr val="404040"/>
                </a:solidFill>
                <a:latin typeface="Times New Roman"/>
                <a:cs typeface="Times New Roman"/>
              </a:rPr>
              <a:t>if</a:t>
            </a:r>
            <a:r>
              <a:rPr sz="1700" b="1" spc="-10" dirty="0">
                <a:solidFill>
                  <a:srgbClr val="404040"/>
                </a:solidFill>
                <a:latin typeface="Times New Roman"/>
                <a:cs typeface="Times New Roman"/>
              </a:rPr>
              <a:t> </a:t>
            </a:r>
            <a:r>
              <a:rPr sz="1700" b="1" dirty="0">
                <a:solidFill>
                  <a:srgbClr val="404040"/>
                </a:solidFill>
                <a:latin typeface="Times New Roman"/>
                <a:cs typeface="Times New Roman"/>
              </a:rPr>
              <a:t>and</a:t>
            </a:r>
            <a:r>
              <a:rPr sz="1700" b="1" spc="-10" dirty="0">
                <a:solidFill>
                  <a:srgbClr val="404040"/>
                </a:solidFill>
                <a:latin typeface="Times New Roman"/>
                <a:cs typeface="Times New Roman"/>
              </a:rPr>
              <a:t> </a:t>
            </a:r>
            <a:r>
              <a:rPr sz="1700" b="1" dirty="0">
                <a:solidFill>
                  <a:srgbClr val="404040"/>
                </a:solidFill>
                <a:latin typeface="Times New Roman"/>
                <a:cs typeface="Times New Roman"/>
              </a:rPr>
              <a:t>only</a:t>
            </a:r>
            <a:r>
              <a:rPr sz="1700" b="1" spc="-5" dirty="0">
                <a:solidFill>
                  <a:srgbClr val="404040"/>
                </a:solidFill>
                <a:latin typeface="Times New Roman"/>
                <a:cs typeface="Times New Roman"/>
              </a:rPr>
              <a:t> </a:t>
            </a:r>
            <a:r>
              <a:rPr sz="1700" b="1" spc="-25" dirty="0">
                <a:solidFill>
                  <a:srgbClr val="404040"/>
                </a:solidFill>
                <a:latin typeface="Times New Roman"/>
                <a:cs typeface="Times New Roman"/>
              </a:rPr>
              <a:t>if</a:t>
            </a:r>
            <a:endParaRPr sz="1700">
              <a:latin typeface="Times New Roman"/>
              <a:cs typeface="Times New Roman"/>
            </a:endParaRPr>
          </a:p>
        </p:txBody>
      </p:sp>
      <p:sp>
        <p:nvSpPr>
          <p:cNvPr id="4" name="object 4"/>
          <p:cNvSpPr txBox="1"/>
          <p:nvPr/>
        </p:nvSpPr>
        <p:spPr>
          <a:xfrm>
            <a:off x="1145539" y="4007815"/>
            <a:ext cx="1417320" cy="1028700"/>
          </a:xfrm>
          <a:prstGeom prst="rect">
            <a:avLst/>
          </a:prstGeom>
        </p:spPr>
        <p:txBody>
          <a:bodyPr vert="horz" wrap="square" lIns="0" tIns="88265" rIns="0" bIns="0" rtlCol="0">
            <a:spAutoFit/>
          </a:bodyPr>
          <a:lstStyle/>
          <a:p>
            <a:pPr marL="12700">
              <a:lnSpc>
                <a:spcPct val="100000"/>
              </a:lnSpc>
              <a:spcBef>
                <a:spcPts val="695"/>
              </a:spcBef>
            </a:pPr>
            <a:r>
              <a:rPr sz="1700" b="1" dirty="0">
                <a:solidFill>
                  <a:srgbClr val="404040"/>
                </a:solidFill>
                <a:latin typeface="Times New Roman"/>
                <a:cs typeface="Times New Roman"/>
              </a:rPr>
              <a:t>a)</a:t>
            </a:r>
            <a:r>
              <a:rPr sz="1700" b="1" spc="-15" dirty="0">
                <a:solidFill>
                  <a:srgbClr val="404040"/>
                </a:solidFill>
                <a:latin typeface="Times New Roman"/>
                <a:cs typeface="Times New Roman"/>
              </a:rPr>
              <a:t> </a:t>
            </a:r>
            <a:r>
              <a:rPr sz="1700" i="1" dirty="0">
                <a:solidFill>
                  <a:srgbClr val="404040"/>
                </a:solidFill>
                <a:latin typeface="Times New Roman"/>
                <a:cs typeface="Times New Roman"/>
              </a:rPr>
              <a:t>a</a:t>
            </a:r>
            <a:r>
              <a:rPr sz="1700" i="1" spc="-5" dirty="0">
                <a:solidFill>
                  <a:srgbClr val="404040"/>
                </a:solidFill>
                <a:latin typeface="Times New Roman"/>
                <a:cs typeface="Times New Roman"/>
              </a:rPr>
              <a:t> </a:t>
            </a:r>
            <a:r>
              <a:rPr sz="1700" dirty="0">
                <a:solidFill>
                  <a:srgbClr val="404040"/>
                </a:solidFill>
                <a:latin typeface="Times New Roman"/>
                <a:cs typeface="Times New Roman"/>
              </a:rPr>
              <a:t>= </a:t>
            </a:r>
            <a:r>
              <a:rPr sz="1700" i="1" spc="-25" dirty="0">
                <a:solidFill>
                  <a:srgbClr val="404040"/>
                </a:solidFill>
                <a:latin typeface="Times New Roman"/>
                <a:cs typeface="Times New Roman"/>
              </a:rPr>
              <a:t>b</a:t>
            </a:r>
            <a:r>
              <a:rPr sz="1700" spc="-25" dirty="0">
                <a:solidFill>
                  <a:srgbClr val="404040"/>
                </a:solidFill>
                <a:latin typeface="Times New Roman"/>
                <a:cs typeface="Times New Roman"/>
              </a:rPr>
              <a:t>.</a:t>
            </a:r>
            <a:endParaRPr sz="1700">
              <a:latin typeface="Times New Roman"/>
              <a:cs typeface="Times New Roman"/>
            </a:endParaRPr>
          </a:p>
          <a:p>
            <a:pPr marL="12700">
              <a:lnSpc>
                <a:spcPct val="100000"/>
              </a:lnSpc>
              <a:spcBef>
                <a:spcPts val="590"/>
              </a:spcBef>
            </a:pPr>
            <a:r>
              <a:rPr sz="1700" b="1" dirty="0">
                <a:solidFill>
                  <a:srgbClr val="404040"/>
                </a:solidFill>
                <a:latin typeface="Times New Roman"/>
                <a:cs typeface="Times New Roman"/>
              </a:rPr>
              <a:t>c)</a:t>
            </a:r>
            <a:r>
              <a:rPr sz="1700" b="1" spc="-15" dirty="0">
                <a:solidFill>
                  <a:srgbClr val="404040"/>
                </a:solidFill>
                <a:latin typeface="Times New Roman"/>
                <a:cs typeface="Times New Roman"/>
              </a:rPr>
              <a:t> </a:t>
            </a:r>
            <a:r>
              <a:rPr sz="1700" i="1" dirty="0">
                <a:solidFill>
                  <a:srgbClr val="404040"/>
                </a:solidFill>
                <a:latin typeface="Times New Roman"/>
                <a:cs typeface="Times New Roman"/>
              </a:rPr>
              <a:t>a</a:t>
            </a:r>
            <a:r>
              <a:rPr sz="1700" i="1" spc="-10" dirty="0">
                <a:solidFill>
                  <a:srgbClr val="404040"/>
                </a:solidFill>
                <a:latin typeface="Times New Roman"/>
                <a:cs typeface="Times New Roman"/>
              </a:rPr>
              <a:t> </a:t>
            </a:r>
            <a:r>
              <a:rPr sz="1700" i="1" dirty="0">
                <a:solidFill>
                  <a:srgbClr val="404040"/>
                </a:solidFill>
                <a:latin typeface="Times New Roman"/>
                <a:cs typeface="Times New Roman"/>
              </a:rPr>
              <a:t>&gt;</a:t>
            </a:r>
            <a:r>
              <a:rPr sz="1700" i="1" spc="-5" dirty="0">
                <a:solidFill>
                  <a:srgbClr val="404040"/>
                </a:solidFill>
                <a:latin typeface="Times New Roman"/>
                <a:cs typeface="Times New Roman"/>
              </a:rPr>
              <a:t> </a:t>
            </a:r>
            <a:r>
              <a:rPr sz="1700" i="1" spc="-25" dirty="0">
                <a:solidFill>
                  <a:srgbClr val="404040"/>
                </a:solidFill>
                <a:latin typeface="Times New Roman"/>
                <a:cs typeface="Times New Roman"/>
              </a:rPr>
              <a:t>b</a:t>
            </a:r>
            <a:r>
              <a:rPr sz="1700" spc="-25" dirty="0">
                <a:solidFill>
                  <a:srgbClr val="404040"/>
                </a:solidFill>
                <a:latin typeface="Times New Roman"/>
                <a:cs typeface="Times New Roman"/>
              </a:rPr>
              <a:t>.</a:t>
            </a:r>
            <a:endParaRPr sz="1700">
              <a:latin typeface="Times New Roman"/>
              <a:cs typeface="Times New Roman"/>
            </a:endParaRPr>
          </a:p>
          <a:p>
            <a:pPr marL="12700">
              <a:lnSpc>
                <a:spcPct val="100000"/>
              </a:lnSpc>
              <a:spcBef>
                <a:spcPts val="590"/>
              </a:spcBef>
            </a:pPr>
            <a:r>
              <a:rPr sz="1700" b="1" dirty="0">
                <a:solidFill>
                  <a:srgbClr val="404040"/>
                </a:solidFill>
                <a:latin typeface="Times New Roman"/>
                <a:cs typeface="Times New Roman"/>
              </a:rPr>
              <a:t>e)</a:t>
            </a:r>
            <a:r>
              <a:rPr sz="1700" b="1" spc="-15" dirty="0">
                <a:solidFill>
                  <a:srgbClr val="404040"/>
                </a:solidFill>
                <a:latin typeface="Times New Roman"/>
                <a:cs typeface="Times New Roman"/>
              </a:rPr>
              <a:t> </a:t>
            </a:r>
            <a:r>
              <a:rPr sz="1700" dirty="0">
                <a:solidFill>
                  <a:srgbClr val="404040"/>
                </a:solidFill>
                <a:latin typeface="Times New Roman"/>
                <a:cs typeface="Times New Roman"/>
              </a:rPr>
              <a:t>gcd(</a:t>
            </a:r>
            <a:r>
              <a:rPr sz="1700" i="1" dirty="0">
                <a:solidFill>
                  <a:srgbClr val="404040"/>
                </a:solidFill>
                <a:latin typeface="Times New Roman"/>
                <a:cs typeface="Times New Roman"/>
              </a:rPr>
              <a:t>a,</a:t>
            </a:r>
            <a:r>
              <a:rPr sz="1700" i="1" spc="-25" dirty="0">
                <a:solidFill>
                  <a:srgbClr val="404040"/>
                </a:solidFill>
                <a:latin typeface="Times New Roman"/>
                <a:cs typeface="Times New Roman"/>
              </a:rPr>
              <a:t> </a:t>
            </a:r>
            <a:r>
              <a:rPr sz="1700" i="1" dirty="0">
                <a:solidFill>
                  <a:srgbClr val="404040"/>
                </a:solidFill>
                <a:latin typeface="Times New Roman"/>
                <a:cs typeface="Times New Roman"/>
              </a:rPr>
              <a:t>b</a:t>
            </a:r>
            <a:r>
              <a:rPr sz="1700" dirty="0">
                <a:solidFill>
                  <a:srgbClr val="404040"/>
                </a:solidFill>
                <a:latin typeface="Times New Roman"/>
                <a:cs typeface="Times New Roman"/>
              </a:rPr>
              <a:t>)</a:t>
            </a:r>
            <a:r>
              <a:rPr sz="1700" spc="-15" dirty="0">
                <a:solidFill>
                  <a:srgbClr val="404040"/>
                </a:solidFill>
                <a:latin typeface="Times New Roman"/>
                <a:cs typeface="Times New Roman"/>
              </a:rPr>
              <a:t> </a:t>
            </a:r>
            <a:r>
              <a:rPr sz="1700" dirty="0">
                <a:solidFill>
                  <a:srgbClr val="404040"/>
                </a:solidFill>
                <a:latin typeface="Times New Roman"/>
                <a:cs typeface="Times New Roman"/>
              </a:rPr>
              <a:t>=</a:t>
            </a:r>
            <a:r>
              <a:rPr sz="1700" spc="-5" dirty="0">
                <a:solidFill>
                  <a:srgbClr val="404040"/>
                </a:solidFill>
                <a:latin typeface="Times New Roman"/>
                <a:cs typeface="Times New Roman"/>
              </a:rPr>
              <a:t> </a:t>
            </a:r>
            <a:r>
              <a:rPr sz="1700" spc="-25" dirty="0">
                <a:solidFill>
                  <a:srgbClr val="404040"/>
                </a:solidFill>
                <a:latin typeface="Times New Roman"/>
                <a:cs typeface="Times New Roman"/>
              </a:rPr>
              <a:t>1.</a:t>
            </a:r>
            <a:endParaRPr sz="1700">
              <a:latin typeface="Times New Roman"/>
              <a:cs typeface="Times New Roman"/>
            </a:endParaRPr>
          </a:p>
        </p:txBody>
      </p:sp>
      <p:sp>
        <p:nvSpPr>
          <p:cNvPr id="5" name="object 5"/>
          <p:cNvSpPr txBox="1"/>
          <p:nvPr/>
        </p:nvSpPr>
        <p:spPr>
          <a:xfrm>
            <a:off x="2974594" y="4007815"/>
            <a:ext cx="1459865" cy="1028700"/>
          </a:xfrm>
          <a:prstGeom prst="rect">
            <a:avLst/>
          </a:prstGeom>
        </p:spPr>
        <p:txBody>
          <a:bodyPr vert="horz" wrap="square" lIns="0" tIns="88265" rIns="0" bIns="0" rtlCol="0">
            <a:spAutoFit/>
          </a:bodyPr>
          <a:lstStyle/>
          <a:p>
            <a:pPr marL="66675">
              <a:lnSpc>
                <a:spcPct val="100000"/>
              </a:lnSpc>
              <a:spcBef>
                <a:spcPts val="695"/>
              </a:spcBef>
            </a:pPr>
            <a:r>
              <a:rPr sz="1700" b="1" dirty="0">
                <a:solidFill>
                  <a:srgbClr val="404040"/>
                </a:solidFill>
                <a:latin typeface="Times New Roman"/>
                <a:cs typeface="Times New Roman"/>
              </a:rPr>
              <a:t>b)</a:t>
            </a:r>
            <a:r>
              <a:rPr sz="1700" b="1" spc="-10" dirty="0">
                <a:solidFill>
                  <a:srgbClr val="404040"/>
                </a:solidFill>
                <a:latin typeface="Times New Roman"/>
                <a:cs typeface="Times New Roman"/>
              </a:rPr>
              <a:t> </a:t>
            </a:r>
            <a:r>
              <a:rPr sz="1700" i="1" dirty="0">
                <a:solidFill>
                  <a:srgbClr val="404040"/>
                </a:solidFill>
                <a:latin typeface="Times New Roman"/>
                <a:cs typeface="Times New Roman"/>
              </a:rPr>
              <a:t>a</a:t>
            </a:r>
            <a:r>
              <a:rPr sz="1700" i="1" spc="-15" dirty="0">
                <a:solidFill>
                  <a:srgbClr val="404040"/>
                </a:solidFill>
                <a:latin typeface="Times New Roman"/>
                <a:cs typeface="Times New Roman"/>
              </a:rPr>
              <a:t> </a:t>
            </a:r>
            <a:r>
              <a:rPr sz="1700" dirty="0">
                <a:solidFill>
                  <a:srgbClr val="404040"/>
                </a:solidFill>
                <a:latin typeface="Times New Roman"/>
                <a:cs typeface="Times New Roman"/>
              </a:rPr>
              <a:t>+</a:t>
            </a:r>
            <a:r>
              <a:rPr sz="1700" spc="-5" dirty="0">
                <a:solidFill>
                  <a:srgbClr val="404040"/>
                </a:solidFill>
                <a:latin typeface="Times New Roman"/>
                <a:cs typeface="Times New Roman"/>
              </a:rPr>
              <a:t> </a:t>
            </a:r>
            <a:r>
              <a:rPr sz="1700" i="1" dirty="0">
                <a:solidFill>
                  <a:srgbClr val="404040"/>
                </a:solidFill>
                <a:latin typeface="Times New Roman"/>
                <a:cs typeface="Times New Roman"/>
              </a:rPr>
              <a:t>b</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a:t>
            </a:r>
            <a:r>
              <a:rPr sz="1700" spc="-10" dirty="0">
                <a:solidFill>
                  <a:srgbClr val="404040"/>
                </a:solidFill>
                <a:latin typeface="Times New Roman"/>
                <a:cs typeface="Times New Roman"/>
              </a:rPr>
              <a:t> </a:t>
            </a:r>
            <a:r>
              <a:rPr sz="1700" spc="-25" dirty="0">
                <a:solidFill>
                  <a:srgbClr val="404040"/>
                </a:solidFill>
                <a:latin typeface="Times New Roman"/>
                <a:cs typeface="Times New Roman"/>
              </a:rPr>
              <a:t>4.</a:t>
            </a:r>
            <a:endParaRPr sz="1700">
              <a:latin typeface="Times New Roman"/>
              <a:cs typeface="Times New Roman"/>
            </a:endParaRPr>
          </a:p>
          <a:p>
            <a:pPr marL="12700">
              <a:lnSpc>
                <a:spcPct val="100000"/>
              </a:lnSpc>
              <a:spcBef>
                <a:spcPts val="590"/>
              </a:spcBef>
            </a:pPr>
            <a:r>
              <a:rPr sz="1700" b="1" dirty="0">
                <a:solidFill>
                  <a:srgbClr val="404040"/>
                </a:solidFill>
                <a:latin typeface="Times New Roman"/>
                <a:cs typeface="Times New Roman"/>
              </a:rPr>
              <a:t>d)</a:t>
            </a:r>
            <a:r>
              <a:rPr sz="1700" b="1" spc="-10" dirty="0">
                <a:solidFill>
                  <a:srgbClr val="404040"/>
                </a:solidFill>
                <a:latin typeface="Times New Roman"/>
                <a:cs typeface="Times New Roman"/>
              </a:rPr>
              <a:t> </a:t>
            </a:r>
            <a:r>
              <a:rPr sz="1700" i="1" dirty="0">
                <a:solidFill>
                  <a:srgbClr val="404040"/>
                </a:solidFill>
                <a:latin typeface="Times New Roman"/>
                <a:cs typeface="Times New Roman"/>
              </a:rPr>
              <a:t>a</a:t>
            </a:r>
            <a:r>
              <a:rPr sz="1700" i="1" spc="-15" dirty="0">
                <a:solidFill>
                  <a:srgbClr val="404040"/>
                </a:solidFill>
                <a:latin typeface="Times New Roman"/>
                <a:cs typeface="Times New Roman"/>
              </a:rPr>
              <a:t> </a:t>
            </a:r>
            <a:r>
              <a:rPr sz="1700" dirty="0">
                <a:solidFill>
                  <a:srgbClr val="404040"/>
                </a:solidFill>
                <a:latin typeface="Cambria Math"/>
                <a:cs typeface="Cambria Math"/>
              </a:rPr>
              <a:t>∣</a:t>
            </a:r>
            <a:r>
              <a:rPr sz="1700" spc="45" dirty="0">
                <a:solidFill>
                  <a:srgbClr val="404040"/>
                </a:solidFill>
                <a:latin typeface="Cambria Math"/>
                <a:cs typeface="Cambria Math"/>
              </a:rPr>
              <a:t> </a:t>
            </a:r>
            <a:r>
              <a:rPr sz="1700" i="1" spc="-25" dirty="0">
                <a:solidFill>
                  <a:srgbClr val="404040"/>
                </a:solidFill>
                <a:latin typeface="Times New Roman"/>
                <a:cs typeface="Times New Roman"/>
              </a:rPr>
              <a:t>b</a:t>
            </a:r>
            <a:r>
              <a:rPr sz="1700" spc="-25" dirty="0">
                <a:solidFill>
                  <a:srgbClr val="404040"/>
                </a:solidFill>
                <a:latin typeface="Times New Roman"/>
                <a:cs typeface="Times New Roman"/>
              </a:rPr>
              <a:t>.</a:t>
            </a:r>
            <a:endParaRPr sz="1700">
              <a:latin typeface="Times New Roman"/>
              <a:cs typeface="Times New Roman"/>
            </a:endParaRPr>
          </a:p>
          <a:p>
            <a:pPr marL="12700">
              <a:lnSpc>
                <a:spcPct val="100000"/>
              </a:lnSpc>
              <a:spcBef>
                <a:spcPts val="590"/>
              </a:spcBef>
            </a:pPr>
            <a:r>
              <a:rPr sz="1700" b="1" dirty="0">
                <a:solidFill>
                  <a:srgbClr val="404040"/>
                </a:solidFill>
                <a:latin typeface="Times New Roman"/>
                <a:cs typeface="Times New Roman"/>
              </a:rPr>
              <a:t>f</a:t>
            </a:r>
            <a:r>
              <a:rPr sz="1700" b="1" spc="-20" dirty="0">
                <a:solidFill>
                  <a:srgbClr val="404040"/>
                </a:solidFill>
                <a:latin typeface="Times New Roman"/>
                <a:cs typeface="Times New Roman"/>
              </a:rPr>
              <a:t> </a:t>
            </a:r>
            <a:r>
              <a:rPr sz="1700" b="1" dirty="0">
                <a:solidFill>
                  <a:srgbClr val="404040"/>
                </a:solidFill>
                <a:latin typeface="Times New Roman"/>
                <a:cs typeface="Times New Roman"/>
              </a:rPr>
              <a:t>)</a:t>
            </a:r>
            <a:r>
              <a:rPr sz="1700" b="1" spc="-20" dirty="0">
                <a:solidFill>
                  <a:srgbClr val="404040"/>
                </a:solidFill>
                <a:latin typeface="Times New Roman"/>
                <a:cs typeface="Times New Roman"/>
              </a:rPr>
              <a:t> </a:t>
            </a:r>
            <a:r>
              <a:rPr sz="1700" dirty="0">
                <a:solidFill>
                  <a:srgbClr val="404040"/>
                </a:solidFill>
                <a:latin typeface="Times New Roman"/>
                <a:cs typeface="Times New Roman"/>
              </a:rPr>
              <a:t>lcm(</a:t>
            </a:r>
            <a:r>
              <a:rPr sz="1700" i="1" dirty="0">
                <a:solidFill>
                  <a:srgbClr val="404040"/>
                </a:solidFill>
                <a:latin typeface="Times New Roman"/>
                <a:cs typeface="Times New Roman"/>
              </a:rPr>
              <a:t>a,</a:t>
            </a:r>
            <a:r>
              <a:rPr sz="1700" i="1" spc="-20" dirty="0">
                <a:solidFill>
                  <a:srgbClr val="404040"/>
                </a:solidFill>
                <a:latin typeface="Times New Roman"/>
                <a:cs typeface="Times New Roman"/>
              </a:rPr>
              <a:t> </a:t>
            </a:r>
            <a:r>
              <a:rPr sz="1700" i="1" dirty="0">
                <a:solidFill>
                  <a:srgbClr val="404040"/>
                </a:solidFill>
                <a:latin typeface="Times New Roman"/>
                <a:cs typeface="Times New Roman"/>
              </a:rPr>
              <a:t>b</a:t>
            </a:r>
            <a:r>
              <a:rPr sz="1700" dirty="0">
                <a:solidFill>
                  <a:srgbClr val="404040"/>
                </a:solidFill>
                <a:latin typeface="Times New Roman"/>
                <a:cs typeface="Times New Roman"/>
              </a:rPr>
              <a:t>)</a:t>
            </a:r>
            <a:r>
              <a:rPr sz="1700" spc="-15" dirty="0">
                <a:solidFill>
                  <a:srgbClr val="404040"/>
                </a:solidFill>
                <a:latin typeface="Times New Roman"/>
                <a:cs typeface="Times New Roman"/>
              </a:rPr>
              <a:t> </a:t>
            </a:r>
            <a:r>
              <a:rPr sz="1700" dirty="0">
                <a:solidFill>
                  <a:srgbClr val="404040"/>
                </a:solidFill>
                <a:latin typeface="Times New Roman"/>
                <a:cs typeface="Times New Roman"/>
              </a:rPr>
              <a:t>=</a:t>
            </a:r>
            <a:r>
              <a:rPr sz="1700" spc="-15" dirty="0">
                <a:solidFill>
                  <a:srgbClr val="404040"/>
                </a:solidFill>
                <a:latin typeface="Times New Roman"/>
                <a:cs typeface="Times New Roman"/>
              </a:rPr>
              <a:t> </a:t>
            </a:r>
            <a:r>
              <a:rPr sz="1700" spc="-25" dirty="0">
                <a:solidFill>
                  <a:srgbClr val="404040"/>
                </a:solidFill>
                <a:latin typeface="Times New Roman"/>
                <a:cs typeface="Times New Roman"/>
              </a:rPr>
              <a:t>2.</a:t>
            </a:r>
            <a:endParaRPr sz="1700">
              <a:latin typeface="Times New Roman"/>
              <a:cs typeface="Times New Roman"/>
            </a:endParaRPr>
          </a:p>
        </p:txBody>
      </p:sp>
      <p:sp>
        <p:nvSpPr>
          <p:cNvPr id="6" name="object 6"/>
          <p:cNvSpPr txBox="1"/>
          <p:nvPr/>
        </p:nvSpPr>
        <p:spPr>
          <a:xfrm>
            <a:off x="231140" y="5086350"/>
            <a:ext cx="6835140" cy="1160145"/>
          </a:xfrm>
          <a:prstGeom prst="rect">
            <a:avLst/>
          </a:prstGeom>
        </p:spPr>
        <p:txBody>
          <a:bodyPr vert="horz" wrap="square" lIns="0" tIns="64135" rIns="0" bIns="0" rtlCol="0">
            <a:spAutoFit/>
          </a:bodyPr>
          <a:lstStyle/>
          <a:p>
            <a:pPr marL="355600" marR="5080" indent="-342900">
              <a:lnSpc>
                <a:spcPct val="80000"/>
              </a:lnSpc>
              <a:spcBef>
                <a:spcPts val="505"/>
              </a:spcBef>
              <a:buClr>
                <a:srgbClr val="90C225"/>
              </a:buClr>
              <a:buSzPct val="79411"/>
              <a:buAutoNum type="arabicPeriod" startAt="3"/>
              <a:tabLst>
                <a:tab pos="355600" algn="l"/>
              </a:tabLst>
            </a:pPr>
            <a:r>
              <a:rPr sz="1700" b="1" dirty="0">
                <a:solidFill>
                  <a:srgbClr val="404040"/>
                </a:solidFill>
                <a:latin typeface="Times New Roman"/>
                <a:cs typeface="Times New Roman"/>
              </a:rPr>
              <a:t>List</a:t>
            </a:r>
            <a:r>
              <a:rPr sz="1700" b="1" spc="-20" dirty="0">
                <a:solidFill>
                  <a:srgbClr val="404040"/>
                </a:solidFill>
                <a:latin typeface="Times New Roman"/>
                <a:cs typeface="Times New Roman"/>
              </a:rPr>
              <a:t> </a:t>
            </a:r>
            <a:r>
              <a:rPr sz="1700" b="1" dirty="0">
                <a:solidFill>
                  <a:srgbClr val="404040"/>
                </a:solidFill>
                <a:latin typeface="Times New Roman"/>
                <a:cs typeface="Times New Roman"/>
              </a:rPr>
              <a:t>all</a:t>
            </a:r>
            <a:r>
              <a:rPr sz="1700" b="1" spc="-20" dirty="0">
                <a:solidFill>
                  <a:srgbClr val="404040"/>
                </a:solidFill>
                <a:latin typeface="Times New Roman"/>
                <a:cs typeface="Times New Roman"/>
              </a:rPr>
              <a:t> </a:t>
            </a:r>
            <a:r>
              <a:rPr sz="1700" b="1" dirty="0">
                <a:solidFill>
                  <a:srgbClr val="404040"/>
                </a:solidFill>
                <a:latin typeface="Times New Roman"/>
                <a:cs typeface="Times New Roman"/>
              </a:rPr>
              <a:t>the</a:t>
            </a:r>
            <a:r>
              <a:rPr sz="1700" b="1" spc="-25" dirty="0">
                <a:solidFill>
                  <a:srgbClr val="404040"/>
                </a:solidFill>
                <a:latin typeface="Times New Roman"/>
                <a:cs typeface="Times New Roman"/>
              </a:rPr>
              <a:t> </a:t>
            </a:r>
            <a:r>
              <a:rPr sz="1700" b="1" dirty="0">
                <a:solidFill>
                  <a:srgbClr val="404040"/>
                </a:solidFill>
                <a:latin typeface="Times New Roman"/>
                <a:cs typeface="Times New Roman"/>
              </a:rPr>
              <a:t>ordered</a:t>
            </a:r>
            <a:r>
              <a:rPr sz="1700" b="1" spc="-30" dirty="0">
                <a:solidFill>
                  <a:srgbClr val="404040"/>
                </a:solidFill>
                <a:latin typeface="Times New Roman"/>
                <a:cs typeface="Times New Roman"/>
              </a:rPr>
              <a:t> </a:t>
            </a:r>
            <a:r>
              <a:rPr sz="1700" b="1" dirty="0">
                <a:solidFill>
                  <a:srgbClr val="404040"/>
                </a:solidFill>
                <a:latin typeface="Times New Roman"/>
                <a:cs typeface="Times New Roman"/>
              </a:rPr>
              <a:t>pairs</a:t>
            </a:r>
            <a:r>
              <a:rPr sz="1700" b="1" spc="-25" dirty="0">
                <a:solidFill>
                  <a:srgbClr val="404040"/>
                </a:solidFill>
                <a:latin typeface="Times New Roman"/>
                <a:cs typeface="Times New Roman"/>
              </a:rPr>
              <a:t> </a:t>
            </a:r>
            <a:r>
              <a:rPr sz="1700" b="1" dirty="0">
                <a:solidFill>
                  <a:srgbClr val="404040"/>
                </a:solidFill>
                <a:latin typeface="Times New Roman"/>
                <a:cs typeface="Times New Roman"/>
              </a:rPr>
              <a:t>in</a:t>
            </a:r>
            <a:r>
              <a:rPr sz="1700" b="1" spc="-20" dirty="0">
                <a:solidFill>
                  <a:srgbClr val="404040"/>
                </a:solidFill>
                <a:latin typeface="Times New Roman"/>
                <a:cs typeface="Times New Roman"/>
              </a:rPr>
              <a:t> </a:t>
            </a:r>
            <a:r>
              <a:rPr sz="1700" b="1" dirty="0">
                <a:solidFill>
                  <a:srgbClr val="404040"/>
                </a:solidFill>
                <a:latin typeface="Times New Roman"/>
                <a:cs typeface="Times New Roman"/>
              </a:rPr>
              <a:t>the</a:t>
            </a:r>
            <a:r>
              <a:rPr sz="1700" b="1" spc="-25" dirty="0">
                <a:solidFill>
                  <a:srgbClr val="404040"/>
                </a:solidFill>
                <a:latin typeface="Times New Roman"/>
                <a:cs typeface="Times New Roman"/>
              </a:rPr>
              <a:t> </a:t>
            </a:r>
            <a:r>
              <a:rPr sz="1700" b="1" dirty="0">
                <a:solidFill>
                  <a:srgbClr val="404040"/>
                </a:solidFill>
                <a:latin typeface="Times New Roman"/>
                <a:cs typeface="Times New Roman"/>
              </a:rPr>
              <a:t>relation</a:t>
            </a:r>
            <a:r>
              <a:rPr sz="1700" b="1" spc="-10" dirty="0">
                <a:solidFill>
                  <a:srgbClr val="404040"/>
                </a:solidFill>
                <a:latin typeface="Times New Roman"/>
                <a:cs typeface="Times New Roman"/>
              </a:rPr>
              <a:t> </a:t>
            </a:r>
            <a:r>
              <a:rPr sz="1700" b="1" i="1" dirty="0">
                <a:solidFill>
                  <a:srgbClr val="404040"/>
                </a:solidFill>
                <a:latin typeface="Times New Roman"/>
                <a:cs typeface="Times New Roman"/>
              </a:rPr>
              <a:t>R</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a:t>
            </a:r>
            <a:r>
              <a:rPr sz="1700" b="1" spc="-30" dirty="0">
                <a:solidFill>
                  <a:srgbClr val="404040"/>
                </a:solidFill>
                <a:latin typeface="Times New Roman"/>
                <a:cs typeface="Times New Roman"/>
              </a:rPr>
              <a:t> </a:t>
            </a:r>
            <a:r>
              <a:rPr sz="1700" b="1" dirty="0">
                <a:solidFill>
                  <a:srgbClr val="404040"/>
                </a:solidFill>
                <a:latin typeface="Times New Roman"/>
                <a:cs typeface="Times New Roman"/>
              </a:rPr>
              <a:t>{(</a:t>
            </a:r>
            <a:r>
              <a:rPr sz="1700" b="1" i="1" dirty="0">
                <a:solidFill>
                  <a:srgbClr val="404040"/>
                </a:solidFill>
                <a:latin typeface="Times New Roman"/>
                <a:cs typeface="Times New Roman"/>
              </a:rPr>
              <a:t>a,</a:t>
            </a:r>
            <a:r>
              <a:rPr sz="1700" b="1" i="1" spc="-25" dirty="0">
                <a:solidFill>
                  <a:srgbClr val="404040"/>
                </a:solidFill>
                <a:latin typeface="Times New Roman"/>
                <a:cs typeface="Times New Roman"/>
              </a:rPr>
              <a:t> </a:t>
            </a:r>
            <a:r>
              <a:rPr sz="1700" b="1" i="1" dirty="0">
                <a:solidFill>
                  <a:srgbClr val="404040"/>
                </a:solidFill>
                <a:latin typeface="Times New Roman"/>
                <a:cs typeface="Times New Roman"/>
              </a:rPr>
              <a:t>b</a:t>
            </a:r>
            <a:r>
              <a:rPr sz="1700" b="1" dirty="0">
                <a:solidFill>
                  <a:srgbClr val="404040"/>
                </a:solidFill>
                <a:latin typeface="Times New Roman"/>
                <a:cs typeface="Times New Roman"/>
              </a:rPr>
              <a:t>)</a:t>
            </a:r>
            <a:r>
              <a:rPr sz="1700" b="1" spc="-30" dirty="0">
                <a:solidFill>
                  <a:srgbClr val="404040"/>
                </a:solidFill>
                <a:latin typeface="Times New Roman"/>
                <a:cs typeface="Times New Roman"/>
              </a:rPr>
              <a:t> </a:t>
            </a:r>
            <a:r>
              <a:rPr sz="1700" dirty="0">
                <a:solidFill>
                  <a:srgbClr val="404040"/>
                </a:solidFill>
                <a:latin typeface="Cambria Math"/>
                <a:cs typeface="Cambria Math"/>
              </a:rPr>
              <a:t>∣</a:t>
            </a:r>
            <a:r>
              <a:rPr sz="1700" spc="20" dirty="0">
                <a:solidFill>
                  <a:srgbClr val="404040"/>
                </a:solidFill>
                <a:latin typeface="Cambria Math"/>
                <a:cs typeface="Cambria Math"/>
              </a:rPr>
              <a:t> </a:t>
            </a:r>
            <a:r>
              <a:rPr sz="1700" b="1" i="1" dirty="0">
                <a:solidFill>
                  <a:srgbClr val="404040"/>
                </a:solidFill>
                <a:latin typeface="Times New Roman"/>
                <a:cs typeface="Times New Roman"/>
              </a:rPr>
              <a:t>a</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divides</a:t>
            </a:r>
            <a:r>
              <a:rPr sz="1700" b="1" spc="-5" dirty="0">
                <a:solidFill>
                  <a:srgbClr val="404040"/>
                </a:solidFill>
                <a:latin typeface="Times New Roman"/>
                <a:cs typeface="Times New Roman"/>
              </a:rPr>
              <a:t> </a:t>
            </a:r>
            <a:r>
              <a:rPr sz="1700" b="1" i="1" dirty="0">
                <a:solidFill>
                  <a:srgbClr val="404040"/>
                </a:solidFill>
                <a:latin typeface="Times New Roman"/>
                <a:cs typeface="Times New Roman"/>
              </a:rPr>
              <a:t>b</a:t>
            </a:r>
            <a:r>
              <a:rPr sz="1700" b="1" dirty="0">
                <a:solidFill>
                  <a:srgbClr val="404040"/>
                </a:solidFill>
                <a:latin typeface="Times New Roman"/>
                <a:cs typeface="Times New Roman"/>
              </a:rPr>
              <a:t>}</a:t>
            </a:r>
            <a:r>
              <a:rPr sz="1700" b="1" spc="-30" dirty="0">
                <a:solidFill>
                  <a:srgbClr val="404040"/>
                </a:solidFill>
                <a:latin typeface="Times New Roman"/>
                <a:cs typeface="Times New Roman"/>
              </a:rPr>
              <a:t> </a:t>
            </a:r>
            <a:r>
              <a:rPr sz="1700" b="1" dirty="0">
                <a:solidFill>
                  <a:srgbClr val="404040"/>
                </a:solidFill>
                <a:latin typeface="Times New Roman"/>
                <a:cs typeface="Times New Roman"/>
              </a:rPr>
              <a:t>on</a:t>
            </a:r>
            <a:r>
              <a:rPr sz="1700" b="1" spc="-20" dirty="0">
                <a:solidFill>
                  <a:srgbClr val="404040"/>
                </a:solidFill>
                <a:latin typeface="Times New Roman"/>
                <a:cs typeface="Times New Roman"/>
              </a:rPr>
              <a:t> </a:t>
            </a:r>
            <a:r>
              <a:rPr sz="1700" b="1" spc="-25" dirty="0">
                <a:solidFill>
                  <a:srgbClr val="404040"/>
                </a:solidFill>
                <a:latin typeface="Times New Roman"/>
                <a:cs typeface="Times New Roman"/>
              </a:rPr>
              <a:t>the </a:t>
            </a:r>
            <a:r>
              <a:rPr sz="1700" b="1" dirty="0">
                <a:solidFill>
                  <a:srgbClr val="404040"/>
                </a:solidFill>
                <a:latin typeface="Times New Roman"/>
                <a:cs typeface="Times New Roman"/>
              </a:rPr>
              <a:t>set</a:t>
            </a:r>
            <a:r>
              <a:rPr sz="1700" b="1" spc="-20"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10"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3</a:t>
            </a:r>
            <a:r>
              <a:rPr sz="1700" b="1" i="1" dirty="0">
                <a:solidFill>
                  <a:srgbClr val="404040"/>
                </a:solidFill>
                <a:latin typeface="Times New Roman"/>
                <a:cs typeface="Times New Roman"/>
              </a:rPr>
              <a:t>,</a:t>
            </a:r>
            <a:r>
              <a:rPr sz="1700" b="1" i="1" spc="-10" dirty="0">
                <a:solidFill>
                  <a:srgbClr val="404040"/>
                </a:solidFill>
                <a:latin typeface="Times New Roman"/>
                <a:cs typeface="Times New Roman"/>
              </a:rPr>
              <a:t> </a:t>
            </a:r>
            <a:r>
              <a:rPr sz="1700" b="1" dirty="0">
                <a:solidFill>
                  <a:srgbClr val="404040"/>
                </a:solidFill>
                <a:latin typeface="Times New Roman"/>
                <a:cs typeface="Times New Roman"/>
              </a:rPr>
              <a:t>4</a:t>
            </a:r>
            <a:r>
              <a:rPr sz="1700" b="1" i="1" dirty="0">
                <a:solidFill>
                  <a:srgbClr val="404040"/>
                </a:solidFill>
                <a:latin typeface="Times New Roman"/>
                <a:cs typeface="Times New Roman"/>
              </a:rPr>
              <a:t>,</a:t>
            </a:r>
            <a:r>
              <a:rPr sz="1700" b="1" i="1" spc="-15" dirty="0">
                <a:solidFill>
                  <a:srgbClr val="404040"/>
                </a:solidFill>
                <a:latin typeface="Times New Roman"/>
                <a:cs typeface="Times New Roman"/>
              </a:rPr>
              <a:t> </a:t>
            </a:r>
            <a:r>
              <a:rPr sz="1700" b="1" dirty="0">
                <a:solidFill>
                  <a:srgbClr val="404040"/>
                </a:solidFill>
                <a:latin typeface="Times New Roman"/>
                <a:cs typeface="Times New Roman"/>
              </a:rPr>
              <a:t>5</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spc="-25" dirty="0">
                <a:solidFill>
                  <a:srgbClr val="404040"/>
                </a:solidFill>
                <a:latin typeface="Times New Roman"/>
                <a:cs typeface="Times New Roman"/>
              </a:rPr>
              <a:t>6}.</a:t>
            </a:r>
            <a:endParaRPr sz="1700">
              <a:latin typeface="Times New Roman"/>
              <a:cs typeface="Times New Roman"/>
            </a:endParaRPr>
          </a:p>
          <a:p>
            <a:pPr marL="1159510" lvl="1" indent="-232410">
              <a:lnSpc>
                <a:spcPct val="100000"/>
              </a:lnSpc>
              <a:spcBef>
                <a:spcPts val="585"/>
              </a:spcBef>
              <a:buFont typeface="Times New Roman"/>
              <a:buAutoNum type="alphaLcParenR"/>
              <a:tabLst>
                <a:tab pos="1159510" algn="l"/>
              </a:tabLst>
            </a:pPr>
            <a:r>
              <a:rPr sz="1700" dirty="0">
                <a:solidFill>
                  <a:srgbClr val="404040"/>
                </a:solidFill>
                <a:latin typeface="Times New Roman"/>
                <a:cs typeface="Times New Roman"/>
              </a:rPr>
              <a:t>Display</a:t>
            </a:r>
            <a:r>
              <a:rPr sz="1700" spc="-35" dirty="0">
                <a:solidFill>
                  <a:srgbClr val="404040"/>
                </a:solidFill>
                <a:latin typeface="Times New Roman"/>
                <a:cs typeface="Times New Roman"/>
              </a:rPr>
              <a:t> </a:t>
            </a:r>
            <a:r>
              <a:rPr sz="1700" dirty="0">
                <a:solidFill>
                  <a:srgbClr val="404040"/>
                </a:solidFill>
                <a:latin typeface="Times New Roman"/>
                <a:cs typeface="Times New Roman"/>
              </a:rPr>
              <a:t>this</a:t>
            </a:r>
            <a:r>
              <a:rPr sz="1700" spc="-35" dirty="0">
                <a:solidFill>
                  <a:srgbClr val="404040"/>
                </a:solidFill>
                <a:latin typeface="Times New Roman"/>
                <a:cs typeface="Times New Roman"/>
              </a:rPr>
              <a:t> </a:t>
            </a:r>
            <a:r>
              <a:rPr sz="1700" dirty="0">
                <a:solidFill>
                  <a:srgbClr val="404040"/>
                </a:solidFill>
                <a:latin typeface="Times New Roman"/>
                <a:cs typeface="Times New Roman"/>
              </a:rPr>
              <a:t>relation</a:t>
            </a:r>
            <a:r>
              <a:rPr sz="1700" spc="-40" dirty="0">
                <a:solidFill>
                  <a:srgbClr val="404040"/>
                </a:solidFill>
                <a:latin typeface="Times New Roman"/>
                <a:cs typeface="Times New Roman"/>
              </a:rPr>
              <a:t> </a:t>
            </a:r>
            <a:r>
              <a:rPr sz="1700" spc="-10" dirty="0">
                <a:solidFill>
                  <a:srgbClr val="404040"/>
                </a:solidFill>
                <a:latin typeface="Times New Roman"/>
                <a:cs typeface="Times New Roman"/>
              </a:rPr>
              <a:t>graphically.</a:t>
            </a:r>
            <a:endParaRPr sz="1700">
              <a:latin typeface="Times New Roman"/>
              <a:cs typeface="Times New Roman"/>
            </a:endParaRPr>
          </a:p>
          <a:p>
            <a:pPr marL="1172210" lvl="1" indent="-245110">
              <a:lnSpc>
                <a:spcPct val="100000"/>
              </a:lnSpc>
              <a:spcBef>
                <a:spcPts val="595"/>
              </a:spcBef>
              <a:buFont typeface="Times New Roman"/>
              <a:buAutoNum type="alphaLcParenR"/>
              <a:tabLst>
                <a:tab pos="1172210" algn="l"/>
              </a:tabLst>
            </a:pPr>
            <a:r>
              <a:rPr sz="1700" dirty="0">
                <a:solidFill>
                  <a:srgbClr val="404040"/>
                </a:solidFill>
                <a:latin typeface="Times New Roman"/>
                <a:cs typeface="Times New Roman"/>
              </a:rPr>
              <a:t>Display</a:t>
            </a:r>
            <a:r>
              <a:rPr sz="1700" spc="-35" dirty="0">
                <a:solidFill>
                  <a:srgbClr val="404040"/>
                </a:solidFill>
                <a:latin typeface="Times New Roman"/>
                <a:cs typeface="Times New Roman"/>
              </a:rPr>
              <a:t> </a:t>
            </a:r>
            <a:r>
              <a:rPr sz="1700" dirty="0">
                <a:solidFill>
                  <a:srgbClr val="404040"/>
                </a:solidFill>
                <a:latin typeface="Times New Roman"/>
                <a:cs typeface="Times New Roman"/>
              </a:rPr>
              <a:t>this</a:t>
            </a:r>
            <a:r>
              <a:rPr sz="1700" spc="-35" dirty="0">
                <a:solidFill>
                  <a:srgbClr val="404040"/>
                </a:solidFill>
                <a:latin typeface="Times New Roman"/>
                <a:cs typeface="Times New Roman"/>
              </a:rPr>
              <a:t> </a:t>
            </a:r>
            <a:r>
              <a:rPr sz="1700" dirty="0">
                <a:solidFill>
                  <a:srgbClr val="404040"/>
                </a:solidFill>
                <a:latin typeface="Times New Roman"/>
                <a:cs typeface="Times New Roman"/>
              </a:rPr>
              <a:t>relation</a:t>
            </a:r>
            <a:r>
              <a:rPr sz="1700" spc="-35" dirty="0">
                <a:solidFill>
                  <a:srgbClr val="404040"/>
                </a:solidFill>
                <a:latin typeface="Times New Roman"/>
                <a:cs typeface="Times New Roman"/>
              </a:rPr>
              <a:t> </a:t>
            </a:r>
            <a:r>
              <a:rPr sz="1700" dirty="0">
                <a:solidFill>
                  <a:srgbClr val="404040"/>
                </a:solidFill>
                <a:latin typeface="Times New Roman"/>
                <a:cs typeface="Times New Roman"/>
              </a:rPr>
              <a:t>in</a:t>
            </a:r>
            <a:r>
              <a:rPr sz="1700" spc="-35" dirty="0">
                <a:solidFill>
                  <a:srgbClr val="404040"/>
                </a:solidFill>
                <a:latin typeface="Times New Roman"/>
                <a:cs typeface="Times New Roman"/>
              </a:rPr>
              <a:t> </a:t>
            </a:r>
            <a:r>
              <a:rPr sz="1700" dirty="0">
                <a:solidFill>
                  <a:srgbClr val="404040"/>
                </a:solidFill>
                <a:latin typeface="Times New Roman"/>
                <a:cs typeface="Times New Roman"/>
              </a:rPr>
              <a:t>tabular</a:t>
            </a:r>
            <a:r>
              <a:rPr sz="1700" spc="-40" dirty="0">
                <a:solidFill>
                  <a:srgbClr val="404040"/>
                </a:solidFill>
                <a:latin typeface="Times New Roman"/>
                <a:cs typeface="Times New Roman"/>
              </a:rPr>
              <a:t> </a:t>
            </a:r>
            <a:r>
              <a:rPr sz="1700" spc="-10" dirty="0">
                <a:solidFill>
                  <a:srgbClr val="404040"/>
                </a:solidFill>
                <a:latin typeface="Times New Roman"/>
                <a:cs typeface="Times New Roman"/>
              </a:rPr>
              <a:t>form.</a:t>
            </a:r>
            <a:endParaRPr sz="1700">
              <a:latin typeface="Times New Roman"/>
              <a:cs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574675">
              <a:lnSpc>
                <a:spcPct val="100000"/>
              </a:lnSpc>
              <a:spcBef>
                <a:spcPts val="100"/>
              </a:spcBef>
            </a:pPr>
            <a:r>
              <a:rPr spc="-25" dirty="0"/>
              <a:t>RELATIONS</a:t>
            </a:r>
            <a:r>
              <a:rPr spc="-130" dirty="0"/>
              <a:t> </a:t>
            </a:r>
            <a:r>
              <a:rPr dirty="0"/>
              <a:t>ON</a:t>
            </a:r>
            <a:r>
              <a:rPr spc="-270" dirty="0"/>
              <a:t> </a:t>
            </a:r>
            <a:r>
              <a:rPr dirty="0"/>
              <a:t>A</a:t>
            </a:r>
            <a:r>
              <a:rPr spc="-275" dirty="0"/>
              <a:t> </a:t>
            </a:r>
            <a:r>
              <a:rPr spc="-25" dirty="0"/>
              <a:t>SET</a:t>
            </a:r>
          </a:p>
        </p:txBody>
      </p:sp>
      <p:sp>
        <p:nvSpPr>
          <p:cNvPr id="3" name="object 3"/>
          <p:cNvSpPr txBox="1">
            <a:spLocks noGrp="1"/>
          </p:cNvSpPr>
          <p:nvPr>
            <p:ph type="body" idx="1"/>
          </p:nvPr>
        </p:nvSpPr>
        <p:spPr>
          <a:xfrm>
            <a:off x="278128" y="778519"/>
            <a:ext cx="8027671" cy="3905749"/>
          </a:xfrm>
          <a:prstGeom prst="rect">
            <a:avLst/>
          </a:prstGeom>
        </p:spPr>
        <p:txBody>
          <a:bodyPr vert="horz" wrap="square" lIns="0" tIns="12065" rIns="0" bIns="0" rtlCol="0">
            <a:spAutoFit/>
          </a:bodyPr>
          <a:lstStyle/>
          <a:p>
            <a:pPr marL="63500" marR="833755">
              <a:lnSpc>
                <a:spcPct val="129000"/>
              </a:lnSpc>
              <a:spcBef>
                <a:spcPts val="95"/>
              </a:spcBef>
              <a:tabLst>
                <a:tab pos="405765" algn="l"/>
              </a:tabLst>
            </a:pPr>
            <a:r>
              <a:rPr sz="2000" spc="65" dirty="0">
                <a:solidFill>
                  <a:srgbClr val="90C225"/>
                </a:solidFill>
                <a:latin typeface="Lucida Sans Unicode"/>
                <a:cs typeface="Lucida Sans Unicode"/>
              </a:rPr>
              <a:t>▶</a:t>
            </a:r>
            <a:r>
              <a:rPr sz="2000" dirty="0">
                <a:solidFill>
                  <a:srgbClr val="90C225"/>
                </a:solidFill>
                <a:latin typeface="Lucida Sans Unicode"/>
                <a:cs typeface="Lucida Sans Unicode"/>
              </a:rPr>
              <a:t>	</a:t>
            </a:r>
            <a:r>
              <a:rPr sz="2000" dirty="0"/>
              <a:t>Relations</a:t>
            </a:r>
            <a:r>
              <a:rPr sz="2000" spc="-25" dirty="0"/>
              <a:t> </a:t>
            </a:r>
            <a:r>
              <a:rPr sz="2000" dirty="0"/>
              <a:t>from</a:t>
            </a:r>
            <a:r>
              <a:rPr sz="2000" spc="-25" dirty="0"/>
              <a:t> </a:t>
            </a:r>
            <a:r>
              <a:rPr sz="2000" dirty="0"/>
              <a:t>a</a:t>
            </a:r>
            <a:r>
              <a:rPr sz="2000" spc="-30" dirty="0"/>
              <a:t> </a:t>
            </a:r>
            <a:r>
              <a:rPr sz="2000" dirty="0"/>
              <a:t>set</a:t>
            </a:r>
            <a:r>
              <a:rPr sz="2000" spc="-20" dirty="0"/>
              <a:t> </a:t>
            </a:r>
            <a:r>
              <a:rPr sz="2000" i="1" dirty="0">
                <a:latin typeface="Trebuchet MS"/>
                <a:cs typeface="Trebuchet MS"/>
              </a:rPr>
              <a:t>A</a:t>
            </a:r>
            <a:r>
              <a:rPr sz="2000" i="1" spc="-85" dirty="0">
                <a:latin typeface="Trebuchet MS"/>
                <a:cs typeface="Trebuchet MS"/>
              </a:rPr>
              <a:t> </a:t>
            </a:r>
            <a:r>
              <a:rPr sz="2000" dirty="0"/>
              <a:t>to</a:t>
            </a:r>
            <a:r>
              <a:rPr sz="2000" spc="-30" dirty="0"/>
              <a:t> </a:t>
            </a:r>
            <a:r>
              <a:rPr sz="2000" dirty="0"/>
              <a:t>itself</a:t>
            </a:r>
            <a:r>
              <a:rPr sz="2000" spc="-25" dirty="0"/>
              <a:t> </a:t>
            </a:r>
            <a:r>
              <a:rPr sz="2000" dirty="0"/>
              <a:t>are</a:t>
            </a:r>
            <a:r>
              <a:rPr sz="2000" spc="-30" dirty="0"/>
              <a:t> </a:t>
            </a:r>
            <a:r>
              <a:rPr sz="2000" dirty="0"/>
              <a:t>of</a:t>
            </a:r>
            <a:r>
              <a:rPr sz="2000" spc="-25" dirty="0"/>
              <a:t> </a:t>
            </a:r>
            <a:r>
              <a:rPr sz="2000" dirty="0"/>
              <a:t>special</a:t>
            </a:r>
            <a:r>
              <a:rPr sz="2000" spc="-40" dirty="0"/>
              <a:t> </a:t>
            </a:r>
            <a:r>
              <a:rPr sz="2000" spc="-10" dirty="0"/>
              <a:t>interest. </a:t>
            </a:r>
            <a:r>
              <a:rPr sz="2000" b="1" u="sng" dirty="0">
                <a:solidFill>
                  <a:srgbClr val="6F2F9F"/>
                </a:solidFill>
                <a:uFill>
                  <a:solidFill>
                    <a:srgbClr val="6F2F9F"/>
                  </a:solidFill>
                </a:uFill>
                <a:latin typeface="Trebuchet MS"/>
                <a:cs typeface="Trebuchet MS"/>
              </a:rPr>
              <a:t>DEFINITION:</a:t>
            </a:r>
            <a:r>
              <a:rPr sz="2000" b="1" u="sng" spc="-20" dirty="0">
                <a:solidFill>
                  <a:srgbClr val="6F2F9F"/>
                </a:solidFill>
                <a:uFill>
                  <a:solidFill>
                    <a:srgbClr val="6F2F9F"/>
                  </a:solidFill>
                </a:uFill>
                <a:latin typeface="Trebuchet MS"/>
                <a:cs typeface="Trebuchet MS"/>
              </a:rPr>
              <a:t> </a:t>
            </a:r>
            <a:r>
              <a:rPr sz="2000" dirty="0"/>
              <a:t>A</a:t>
            </a:r>
            <a:r>
              <a:rPr sz="2000" spc="-114" dirty="0"/>
              <a:t> </a:t>
            </a:r>
            <a:r>
              <a:rPr sz="2000" i="1" dirty="0">
                <a:latin typeface="Trebuchet MS"/>
                <a:cs typeface="Trebuchet MS"/>
              </a:rPr>
              <a:t>relation</a:t>
            </a:r>
            <a:r>
              <a:rPr sz="2000" i="1" spc="-30" dirty="0">
                <a:latin typeface="Trebuchet MS"/>
                <a:cs typeface="Trebuchet MS"/>
              </a:rPr>
              <a:t> </a:t>
            </a:r>
            <a:r>
              <a:rPr sz="2000" i="1" dirty="0">
                <a:latin typeface="Trebuchet MS"/>
                <a:cs typeface="Trebuchet MS"/>
              </a:rPr>
              <a:t>on</a:t>
            </a:r>
            <a:r>
              <a:rPr sz="2000" i="1" spc="-25" dirty="0">
                <a:latin typeface="Trebuchet MS"/>
                <a:cs typeface="Trebuchet MS"/>
              </a:rPr>
              <a:t> </a:t>
            </a:r>
            <a:r>
              <a:rPr sz="2000" i="1" dirty="0">
                <a:latin typeface="Trebuchet MS"/>
                <a:cs typeface="Trebuchet MS"/>
              </a:rPr>
              <a:t>a</a:t>
            </a:r>
            <a:r>
              <a:rPr sz="2000" i="1" spc="-40" dirty="0">
                <a:latin typeface="Trebuchet MS"/>
                <a:cs typeface="Trebuchet MS"/>
              </a:rPr>
              <a:t> </a:t>
            </a:r>
            <a:r>
              <a:rPr sz="2000" i="1" dirty="0">
                <a:latin typeface="Trebuchet MS"/>
                <a:cs typeface="Trebuchet MS"/>
              </a:rPr>
              <a:t>set</a:t>
            </a:r>
            <a:r>
              <a:rPr sz="2000" i="1" spc="-85" dirty="0">
                <a:latin typeface="Trebuchet MS"/>
                <a:cs typeface="Trebuchet MS"/>
              </a:rPr>
              <a:t> </a:t>
            </a:r>
            <a:r>
              <a:rPr sz="2000" i="1" dirty="0">
                <a:latin typeface="Trebuchet MS"/>
                <a:cs typeface="Trebuchet MS"/>
              </a:rPr>
              <a:t>A</a:t>
            </a:r>
            <a:r>
              <a:rPr sz="2000" i="1" spc="-85" dirty="0">
                <a:latin typeface="Trebuchet MS"/>
                <a:cs typeface="Trebuchet MS"/>
              </a:rPr>
              <a:t> </a:t>
            </a:r>
            <a:r>
              <a:rPr sz="2000" dirty="0"/>
              <a:t>is</a:t>
            </a:r>
            <a:r>
              <a:rPr sz="2000" spc="-20" dirty="0"/>
              <a:t> </a:t>
            </a:r>
            <a:r>
              <a:rPr sz="2000" dirty="0"/>
              <a:t>a</a:t>
            </a:r>
            <a:r>
              <a:rPr sz="2000" spc="-30" dirty="0"/>
              <a:t> </a:t>
            </a:r>
            <a:r>
              <a:rPr sz="2000" dirty="0"/>
              <a:t>relation</a:t>
            </a:r>
            <a:r>
              <a:rPr sz="2000" spc="-35" dirty="0"/>
              <a:t> </a:t>
            </a:r>
            <a:r>
              <a:rPr sz="2000" dirty="0"/>
              <a:t>from</a:t>
            </a:r>
            <a:r>
              <a:rPr sz="2000" spc="-15" dirty="0"/>
              <a:t> </a:t>
            </a:r>
            <a:r>
              <a:rPr sz="2000" i="1" dirty="0">
                <a:latin typeface="Trebuchet MS"/>
                <a:cs typeface="Trebuchet MS"/>
              </a:rPr>
              <a:t>A</a:t>
            </a:r>
            <a:r>
              <a:rPr sz="2000" i="1" spc="-85" dirty="0">
                <a:latin typeface="Trebuchet MS"/>
                <a:cs typeface="Trebuchet MS"/>
              </a:rPr>
              <a:t> </a:t>
            </a:r>
            <a:r>
              <a:rPr sz="2000" dirty="0"/>
              <a:t>to</a:t>
            </a:r>
            <a:r>
              <a:rPr sz="2000" spc="-30" dirty="0"/>
              <a:t> </a:t>
            </a:r>
            <a:r>
              <a:rPr sz="2000" i="1" spc="-25" dirty="0">
                <a:latin typeface="Trebuchet MS"/>
                <a:cs typeface="Trebuchet MS"/>
              </a:rPr>
              <a:t>A</a:t>
            </a:r>
            <a:r>
              <a:rPr sz="2000" spc="-25" dirty="0"/>
              <a:t>. </a:t>
            </a:r>
            <a:r>
              <a:rPr sz="2000" dirty="0"/>
              <a:t>In</a:t>
            </a:r>
            <a:r>
              <a:rPr sz="2000" spc="-25" dirty="0"/>
              <a:t> </a:t>
            </a:r>
            <a:r>
              <a:rPr sz="2000" dirty="0"/>
              <a:t>other</a:t>
            </a:r>
            <a:r>
              <a:rPr sz="2000" spc="-25" dirty="0"/>
              <a:t> </a:t>
            </a:r>
            <a:r>
              <a:rPr sz="2000" dirty="0"/>
              <a:t>words,</a:t>
            </a:r>
            <a:r>
              <a:rPr sz="2000" spc="-25" dirty="0"/>
              <a:t> </a:t>
            </a:r>
            <a:r>
              <a:rPr sz="2000" dirty="0"/>
              <a:t>a</a:t>
            </a:r>
            <a:r>
              <a:rPr sz="2000" spc="-25" dirty="0"/>
              <a:t> </a:t>
            </a:r>
            <a:r>
              <a:rPr sz="2000" dirty="0"/>
              <a:t>relation</a:t>
            </a:r>
            <a:r>
              <a:rPr sz="2000" spc="-20" dirty="0"/>
              <a:t> </a:t>
            </a:r>
            <a:r>
              <a:rPr sz="2000" dirty="0"/>
              <a:t>on</a:t>
            </a:r>
            <a:r>
              <a:rPr sz="2000" spc="-25" dirty="0"/>
              <a:t> </a:t>
            </a:r>
            <a:r>
              <a:rPr sz="2000" dirty="0"/>
              <a:t>a</a:t>
            </a:r>
            <a:r>
              <a:rPr sz="2000" spc="-25" dirty="0"/>
              <a:t> </a:t>
            </a:r>
            <a:r>
              <a:rPr sz="2000" dirty="0"/>
              <a:t>set</a:t>
            </a:r>
            <a:r>
              <a:rPr sz="2000" spc="-10" dirty="0"/>
              <a:t> </a:t>
            </a:r>
            <a:r>
              <a:rPr sz="2000" i="1" dirty="0">
                <a:latin typeface="Trebuchet MS"/>
                <a:cs typeface="Trebuchet MS"/>
              </a:rPr>
              <a:t>A</a:t>
            </a:r>
            <a:r>
              <a:rPr sz="2000" i="1" spc="-80" dirty="0">
                <a:latin typeface="Trebuchet MS"/>
                <a:cs typeface="Trebuchet MS"/>
              </a:rPr>
              <a:t> </a:t>
            </a:r>
            <a:r>
              <a:rPr sz="2000" dirty="0"/>
              <a:t>is</a:t>
            </a:r>
            <a:r>
              <a:rPr sz="2000" spc="-25" dirty="0"/>
              <a:t> </a:t>
            </a:r>
            <a:r>
              <a:rPr sz="2000" dirty="0"/>
              <a:t>a</a:t>
            </a:r>
            <a:r>
              <a:rPr sz="2000" spc="-20" dirty="0"/>
              <a:t> </a:t>
            </a:r>
            <a:r>
              <a:rPr sz="2000" dirty="0"/>
              <a:t>subset</a:t>
            </a:r>
            <a:r>
              <a:rPr sz="2000" spc="-30" dirty="0"/>
              <a:t> </a:t>
            </a:r>
            <a:r>
              <a:rPr sz="2000" dirty="0"/>
              <a:t>of</a:t>
            </a:r>
            <a:r>
              <a:rPr sz="2000" spc="-15" dirty="0"/>
              <a:t> </a:t>
            </a:r>
            <a:r>
              <a:rPr sz="2000" i="1" dirty="0">
                <a:latin typeface="Trebuchet MS"/>
                <a:cs typeface="Trebuchet MS"/>
              </a:rPr>
              <a:t>A</a:t>
            </a:r>
            <a:r>
              <a:rPr sz="2000" i="1" spc="-75" dirty="0">
                <a:latin typeface="Trebuchet MS"/>
                <a:cs typeface="Trebuchet MS"/>
              </a:rPr>
              <a:t> </a:t>
            </a:r>
            <a:r>
              <a:rPr sz="2000" dirty="0"/>
              <a:t>×</a:t>
            </a:r>
            <a:r>
              <a:rPr sz="2000" spc="-25" dirty="0"/>
              <a:t> </a:t>
            </a:r>
            <a:r>
              <a:rPr sz="2000" i="1" spc="-25" dirty="0">
                <a:latin typeface="Trebuchet MS"/>
                <a:cs typeface="Trebuchet MS"/>
              </a:rPr>
              <a:t>A</a:t>
            </a:r>
            <a:r>
              <a:rPr sz="2000" spc="-25" dirty="0"/>
              <a:t>. </a:t>
            </a:r>
            <a:endParaRPr lang="en-US" sz="2000" spc="-25" dirty="0"/>
          </a:p>
          <a:p>
            <a:pPr marL="63500" marR="833755">
              <a:lnSpc>
                <a:spcPct val="129000"/>
              </a:lnSpc>
              <a:spcBef>
                <a:spcPts val="95"/>
              </a:spcBef>
              <a:tabLst>
                <a:tab pos="405765" algn="l"/>
              </a:tabLst>
            </a:pPr>
            <a:r>
              <a:rPr sz="2000" b="1" u="sng" spc="-10" dirty="0">
                <a:solidFill>
                  <a:srgbClr val="90C225"/>
                </a:solidFill>
                <a:uFill>
                  <a:solidFill>
                    <a:srgbClr val="90C225"/>
                  </a:solidFill>
                </a:uFill>
                <a:latin typeface="Trebuchet MS"/>
                <a:cs typeface="Trebuchet MS"/>
              </a:rPr>
              <a:t>EXAMPLE:</a:t>
            </a:r>
            <a:endParaRPr sz="2000" dirty="0">
              <a:latin typeface="Trebuchet MS"/>
              <a:cs typeface="Trebuchet MS"/>
            </a:endParaRPr>
          </a:p>
          <a:p>
            <a:pPr marL="63500">
              <a:lnSpc>
                <a:spcPct val="100000"/>
              </a:lnSpc>
              <a:spcBef>
                <a:spcPts val="590"/>
              </a:spcBef>
            </a:pPr>
            <a:r>
              <a:rPr sz="2000" dirty="0"/>
              <a:t>How</a:t>
            </a:r>
            <a:r>
              <a:rPr sz="2000" spc="-30" dirty="0"/>
              <a:t> </a:t>
            </a:r>
            <a:r>
              <a:rPr sz="2000" dirty="0"/>
              <a:t>many</a:t>
            </a:r>
            <a:r>
              <a:rPr sz="2000" spc="-25" dirty="0"/>
              <a:t> </a:t>
            </a:r>
            <a:r>
              <a:rPr sz="2000" dirty="0"/>
              <a:t>relations</a:t>
            </a:r>
            <a:r>
              <a:rPr sz="2000" spc="-20" dirty="0"/>
              <a:t> </a:t>
            </a:r>
            <a:r>
              <a:rPr sz="2000" dirty="0"/>
              <a:t>are</a:t>
            </a:r>
            <a:r>
              <a:rPr sz="2000" spc="-25" dirty="0"/>
              <a:t> </a:t>
            </a:r>
            <a:r>
              <a:rPr sz="2000" dirty="0"/>
              <a:t>there</a:t>
            </a:r>
            <a:r>
              <a:rPr sz="2000" spc="-25" dirty="0"/>
              <a:t> </a:t>
            </a:r>
            <a:r>
              <a:rPr sz="2000" dirty="0"/>
              <a:t>on</a:t>
            </a:r>
            <a:r>
              <a:rPr sz="2000" spc="-25" dirty="0"/>
              <a:t> </a:t>
            </a:r>
            <a:r>
              <a:rPr sz="2000" dirty="0"/>
              <a:t>a</a:t>
            </a:r>
            <a:r>
              <a:rPr sz="2000" spc="-35" dirty="0"/>
              <a:t> </a:t>
            </a:r>
            <a:r>
              <a:rPr sz="2000" dirty="0"/>
              <a:t>set</a:t>
            </a:r>
            <a:r>
              <a:rPr sz="2000" spc="-20" dirty="0"/>
              <a:t> </a:t>
            </a:r>
            <a:r>
              <a:rPr sz="2000" dirty="0"/>
              <a:t>with</a:t>
            </a:r>
            <a:r>
              <a:rPr sz="2000" spc="-5" dirty="0"/>
              <a:t> </a:t>
            </a:r>
            <a:r>
              <a:rPr sz="2000" i="1" dirty="0">
                <a:latin typeface="Trebuchet MS"/>
                <a:cs typeface="Trebuchet MS"/>
              </a:rPr>
              <a:t>n</a:t>
            </a:r>
            <a:r>
              <a:rPr sz="2000" i="1" spc="-30" dirty="0">
                <a:latin typeface="Trebuchet MS"/>
                <a:cs typeface="Trebuchet MS"/>
              </a:rPr>
              <a:t> </a:t>
            </a:r>
            <a:r>
              <a:rPr sz="2000" spc="-10" dirty="0"/>
              <a:t>elements?</a:t>
            </a:r>
            <a:endParaRPr sz="2000" dirty="0">
              <a:latin typeface="Trebuchet MS"/>
              <a:cs typeface="Trebuchet MS"/>
            </a:endParaRPr>
          </a:p>
          <a:p>
            <a:pPr marL="63500">
              <a:lnSpc>
                <a:spcPct val="100000"/>
              </a:lnSpc>
              <a:spcBef>
                <a:spcPts val="590"/>
              </a:spcBef>
            </a:pPr>
            <a:r>
              <a:rPr sz="2000" b="1" u="sng" spc="-10" dirty="0">
                <a:solidFill>
                  <a:srgbClr val="6F2F9F"/>
                </a:solidFill>
                <a:uFill>
                  <a:solidFill>
                    <a:srgbClr val="6F2F9F"/>
                  </a:solidFill>
                </a:uFill>
                <a:latin typeface="Trebuchet MS"/>
                <a:cs typeface="Trebuchet MS"/>
              </a:rPr>
              <a:t>SOLUTION:</a:t>
            </a:r>
            <a:endParaRPr sz="2000" dirty="0">
              <a:latin typeface="Trebuchet MS"/>
              <a:cs typeface="Trebuchet MS"/>
            </a:endParaRPr>
          </a:p>
          <a:p>
            <a:pPr marL="63500">
              <a:lnSpc>
                <a:spcPct val="100000"/>
              </a:lnSpc>
              <a:spcBef>
                <a:spcPts val="595"/>
              </a:spcBef>
            </a:pPr>
            <a:r>
              <a:rPr sz="2000" dirty="0"/>
              <a:t>A</a:t>
            </a:r>
            <a:r>
              <a:rPr sz="2000" spc="-114" dirty="0"/>
              <a:t> </a:t>
            </a:r>
            <a:r>
              <a:rPr sz="2000" dirty="0"/>
              <a:t>relation</a:t>
            </a:r>
            <a:r>
              <a:rPr sz="2000" spc="-15" dirty="0"/>
              <a:t> </a:t>
            </a:r>
            <a:r>
              <a:rPr sz="2000" dirty="0"/>
              <a:t>on</a:t>
            </a:r>
            <a:r>
              <a:rPr sz="2000" spc="-20" dirty="0"/>
              <a:t> </a:t>
            </a:r>
            <a:r>
              <a:rPr sz="2000" dirty="0"/>
              <a:t>a</a:t>
            </a:r>
            <a:r>
              <a:rPr sz="2000" spc="-25" dirty="0"/>
              <a:t> </a:t>
            </a:r>
            <a:r>
              <a:rPr sz="2000" dirty="0"/>
              <a:t>set</a:t>
            </a:r>
            <a:r>
              <a:rPr sz="2000" spc="-10" dirty="0"/>
              <a:t> </a:t>
            </a:r>
            <a:r>
              <a:rPr sz="2000" i="1" dirty="0">
                <a:latin typeface="Trebuchet MS"/>
                <a:cs typeface="Trebuchet MS"/>
              </a:rPr>
              <a:t>A</a:t>
            </a:r>
            <a:r>
              <a:rPr sz="2000" i="1" spc="-80" dirty="0">
                <a:latin typeface="Trebuchet MS"/>
                <a:cs typeface="Trebuchet MS"/>
              </a:rPr>
              <a:t> </a:t>
            </a:r>
            <a:r>
              <a:rPr sz="2000" dirty="0"/>
              <a:t>is</a:t>
            </a:r>
            <a:r>
              <a:rPr sz="2000" spc="-20" dirty="0"/>
              <a:t> </a:t>
            </a:r>
            <a:r>
              <a:rPr sz="2000" dirty="0"/>
              <a:t>a</a:t>
            </a:r>
            <a:r>
              <a:rPr sz="2000" spc="-15" dirty="0"/>
              <a:t> </a:t>
            </a:r>
            <a:r>
              <a:rPr sz="2000" dirty="0"/>
              <a:t>subset</a:t>
            </a:r>
            <a:r>
              <a:rPr sz="2000" spc="-20" dirty="0"/>
              <a:t> </a:t>
            </a:r>
            <a:r>
              <a:rPr sz="2000" dirty="0"/>
              <a:t>of</a:t>
            </a:r>
            <a:r>
              <a:rPr sz="2000" spc="-20" dirty="0"/>
              <a:t> </a:t>
            </a:r>
            <a:r>
              <a:rPr sz="2000" i="1" dirty="0">
                <a:latin typeface="Trebuchet MS"/>
                <a:cs typeface="Trebuchet MS"/>
              </a:rPr>
              <a:t>A</a:t>
            </a:r>
            <a:r>
              <a:rPr sz="2000" i="1" spc="-80" dirty="0">
                <a:latin typeface="Trebuchet MS"/>
                <a:cs typeface="Trebuchet MS"/>
              </a:rPr>
              <a:t> </a:t>
            </a:r>
            <a:r>
              <a:rPr sz="2000" dirty="0"/>
              <a:t>×</a:t>
            </a:r>
            <a:r>
              <a:rPr sz="2000" spc="-20" dirty="0"/>
              <a:t> </a:t>
            </a:r>
            <a:r>
              <a:rPr sz="2000" i="1" spc="-25" dirty="0">
                <a:latin typeface="Trebuchet MS"/>
                <a:cs typeface="Trebuchet MS"/>
              </a:rPr>
              <a:t>A</a:t>
            </a:r>
            <a:r>
              <a:rPr sz="2000" spc="-25" dirty="0"/>
              <a:t>.</a:t>
            </a:r>
            <a:endParaRPr sz="2000" dirty="0">
              <a:latin typeface="Trebuchet MS"/>
              <a:cs typeface="Trebuchet MS"/>
            </a:endParaRPr>
          </a:p>
          <a:p>
            <a:pPr marL="63500">
              <a:lnSpc>
                <a:spcPct val="100000"/>
              </a:lnSpc>
              <a:spcBef>
                <a:spcPts val="590"/>
              </a:spcBef>
            </a:pPr>
            <a:r>
              <a:rPr sz="2000" dirty="0"/>
              <a:t>Because</a:t>
            </a:r>
            <a:r>
              <a:rPr sz="2000" spc="-25" dirty="0"/>
              <a:t> </a:t>
            </a:r>
            <a:r>
              <a:rPr sz="2000" i="1" dirty="0">
                <a:latin typeface="Trebuchet MS"/>
                <a:cs typeface="Trebuchet MS"/>
              </a:rPr>
              <a:t>A</a:t>
            </a:r>
            <a:r>
              <a:rPr sz="2000" i="1" spc="-75" dirty="0">
                <a:latin typeface="Trebuchet MS"/>
                <a:cs typeface="Trebuchet MS"/>
              </a:rPr>
              <a:t> </a:t>
            </a:r>
            <a:r>
              <a:rPr sz="2000" dirty="0"/>
              <a:t>×</a:t>
            </a:r>
            <a:r>
              <a:rPr sz="2000" spc="-10" dirty="0"/>
              <a:t> </a:t>
            </a:r>
            <a:r>
              <a:rPr sz="2000" i="1" dirty="0">
                <a:latin typeface="Trebuchet MS"/>
                <a:cs typeface="Trebuchet MS"/>
              </a:rPr>
              <a:t>A</a:t>
            </a:r>
            <a:r>
              <a:rPr sz="2000" i="1" spc="-75" dirty="0">
                <a:latin typeface="Trebuchet MS"/>
                <a:cs typeface="Trebuchet MS"/>
              </a:rPr>
              <a:t> </a:t>
            </a:r>
            <a:r>
              <a:rPr sz="2000" dirty="0"/>
              <a:t>has</a:t>
            </a:r>
            <a:r>
              <a:rPr sz="2000" spc="-20" dirty="0"/>
              <a:t> </a:t>
            </a:r>
            <a:r>
              <a:rPr sz="2000" i="1" dirty="0">
                <a:latin typeface="Trebuchet MS"/>
                <a:cs typeface="Trebuchet MS"/>
              </a:rPr>
              <a:t>n</a:t>
            </a:r>
            <a:r>
              <a:rPr sz="2000" baseline="25252" dirty="0"/>
              <a:t>2</a:t>
            </a:r>
            <a:r>
              <a:rPr sz="2000" spc="254" baseline="25252" dirty="0"/>
              <a:t> </a:t>
            </a:r>
            <a:r>
              <a:rPr sz="2000" dirty="0"/>
              <a:t>elements</a:t>
            </a:r>
            <a:r>
              <a:rPr sz="2000" spc="-5" dirty="0"/>
              <a:t> </a:t>
            </a:r>
            <a:r>
              <a:rPr sz="2000" dirty="0"/>
              <a:t>when</a:t>
            </a:r>
            <a:r>
              <a:rPr sz="2000" spc="-25" dirty="0"/>
              <a:t> </a:t>
            </a:r>
            <a:r>
              <a:rPr sz="2000" i="1" dirty="0">
                <a:latin typeface="Trebuchet MS"/>
                <a:cs typeface="Trebuchet MS"/>
              </a:rPr>
              <a:t>A</a:t>
            </a:r>
            <a:r>
              <a:rPr sz="2000" i="1" spc="-75" dirty="0">
                <a:latin typeface="Trebuchet MS"/>
                <a:cs typeface="Trebuchet MS"/>
              </a:rPr>
              <a:t> </a:t>
            </a:r>
            <a:r>
              <a:rPr sz="2000" dirty="0"/>
              <a:t>has</a:t>
            </a:r>
            <a:r>
              <a:rPr sz="2000" spc="-20" dirty="0"/>
              <a:t> </a:t>
            </a:r>
            <a:r>
              <a:rPr sz="2000" i="1" dirty="0">
                <a:latin typeface="Trebuchet MS"/>
                <a:cs typeface="Trebuchet MS"/>
              </a:rPr>
              <a:t>n</a:t>
            </a:r>
            <a:r>
              <a:rPr sz="2000" i="1" spc="-15" dirty="0">
                <a:latin typeface="Trebuchet MS"/>
                <a:cs typeface="Trebuchet MS"/>
              </a:rPr>
              <a:t> </a:t>
            </a:r>
            <a:r>
              <a:rPr sz="2000" dirty="0"/>
              <a:t>elements,</a:t>
            </a:r>
            <a:r>
              <a:rPr sz="2000" spc="-10" dirty="0"/>
              <a:t> </a:t>
            </a:r>
            <a:r>
              <a:rPr sz="2000" dirty="0"/>
              <a:t>and</a:t>
            </a:r>
            <a:r>
              <a:rPr sz="2000" spc="-15" dirty="0"/>
              <a:t> </a:t>
            </a:r>
            <a:r>
              <a:rPr sz="2000" spc="-50" dirty="0"/>
              <a:t>a</a:t>
            </a:r>
            <a:endParaRPr sz="2000" dirty="0">
              <a:latin typeface="Trebuchet MS"/>
              <a:cs typeface="Trebuchet MS"/>
            </a:endParaRPr>
          </a:p>
          <a:p>
            <a:pPr marL="63500" marR="55880" indent="64769">
              <a:lnSpc>
                <a:spcPct val="129099"/>
              </a:lnSpc>
              <a:tabLst>
                <a:tab pos="1881505" algn="l"/>
                <a:tab pos="4965065" algn="l"/>
              </a:tabLst>
            </a:pPr>
            <a:r>
              <a:rPr sz="2000" dirty="0"/>
              <a:t>set</a:t>
            </a:r>
            <a:r>
              <a:rPr sz="2000" spc="-35" dirty="0"/>
              <a:t> </a:t>
            </a:r>
            <a:r>
              <a:rPr sz="2000" dirty="0"/>
              <a:t>with</a:t>
            </a:r>
            <a:r>
              <a:rPr sz="2000" spc="-25" dirty="0"/>
              <a:t> </a:t>
            </a:r>
            <a:r>
              <a:rPr sz="2000" i="1" dirty="0">
                <a:latin typeface="Trebuchet MS"/>
                <a:cs typeface="Trebuchet MS"/>
              </a:rPr>
              <a:t>m</a:t>
            </a:r>
            <a:r>
              <a:rPr sz="2000" i="1" spc="-30" dirty="0">
                <a:latin typeface="Trebuchet MS"/>
                <a:cs typeface="Trebuchet MS"/>
              </a:rPr>
              <a:t> </a:t>
            </a:r>
            <a:r>
              <a:rPr sz="2000" dirty="0"/>
              <a:t>elements</a:t>
            </a:r>
            <a:r>
              <a:rPr sz="2000" spc="-25" dirty="0"/>
              <a:t> </a:t>
            </a:r>
            <a:r>
              <a:rPr sz="2000" dirty="0"/>
              <a:t>has</a:t>
            </a:r>
            <a:r>
              <a:rPr sz="2000" spc="-45" dirty="0"/>
              <a:t> </a:t>
            </a:r>
            <a:r>
              <a:rPr sz="2000" dirty="0"/>
              <a:t>2</a:t>
            </a:r>
            <a:r>
              <a:rPr sz="2000" i="1" baseline="25252" dirty="0">
                <a:latin typeface="Trebuchet MS"/>
                <a:cs typeface="Trebuchet MS"/>
              </a:rPr>
              <a:t>m</a:t>
            </a:r>
            <a:r>
              <a:rPr sz="2000" i="1" spc="209" baseline="25252" dirty="0">
                <a:latin typeface="Trebuchet MS"/>
                <a:cs typeface="Trebuchet MS"/>
              </a:rPr>
              <a:t> </a:t>
            </a:r>
            <a:r>
              <a:rPr sz="2000" dirty="0"/>
              <a:t>subsets,</a:t>
            </a:r>
            <a:r>
              <a:rPr sz="2000" spc="-30" dirty="0"/>
              <a:t> </a:t>
            </a:r>
            <a:r>
              <a:rPr sz="2000" dirty="0"/>
              <a:t>there</a:t>
            </a:r>
            <a:r>
              <a:rPr sz="2000" spc="-35" dirty="0"/>
              <a:t> </a:t>
            </a:r>
            <a:r>
              <a:rPr sz="2000" spc="-25" dirty="0"/>
              <a:t>are</a:t>
            </a:r>
            <a:r>
              <a:rPr sz="2000" dirty="0"/>
              <a:t>	</a:t>
            </a:r>
            <a:r>
              <a:rPr lang="en-US" sz="2000" dirty="0"/>
              <a:t>  </a:t>
            </a:r>
            <a:r>
              <a:rPr sz="2000" dirty="0"/>
              <a:t>subsets</a:t>
            </a:r>
            <a:r>
              <a:rPr sz="2000" spc="-20" dirty="0"/>
              <a:t> </a:t>
            </a:r>
            <a:r>
              <a:rPr sz="2000" dirty="0"/>
              <a:t>of</a:t>
            </a:r>
            <a:r>
              <a:rPr sz="2000" spc="-25" dirty="0"/>
              <a:t> </a:t>
            </a:r>
            <a:r>
              <a:rPr sz="2000" i="1" dirty="0">
                <a:latin typeface="Trebuchet MS"/>
                <a:cs typeface="Trebuchet MS"/>
              </a:rPr>
              <a:t>A</a:t>
            </a:r>
            <a:r>
              <a:rPr sz="2000" i="1" spc="-75" dirty="0">
                <a:latin typeface="Trebuchet MS"/>
                <a:cs typeface="Trebuchet MS"/>
              </a:rPr>
              <a:t> </a:t>
            </a:r>
            <a:r>
              <a:rPr sz="2000" dirty="0"/>
              <a:t>×</a:t>
            </a:r>
            <a:r>
              <a:rPr sz="2000" spc="-10" dirty="0"/>
              <a:t> </a:t>
            </a:r>
            <a:r>
              <a:rPr sz="2000" i="1" spc="-25" dirty="0">
                <a:latin typeface="Trebuchet MS"/>
                <a:cs typeface="Trebuchet MS"/>
              </a:rPr>
              <a:t>A</a:t>
            </a:r>
            <a:r>
              <a:rPr sz="2000" spc="-25" dirty="0"/>
              <a:t>. </a:t>
            </a:r>
            <a:r>
              <a:rPr sz="2000" dirty="0"/>
              <a:t>Thus,</a:t>
            </a:r>
            <a:r>
              <a:rPr sz="2000" spc="-25" dirty="0"/>
              <a:t> </a:t>
            </a:r>
            <a:r>
              <a:rPr sz="2000" dirty="0"/>
              <a:t>there</a:t>
            </a:r>
            <a:r>
              <a:rPr sz="2000" spc="-20" dirty="0"/>
              <a:t> </a:t>
            </a:r>
            <a:r>
              <a:rPr sz="2000" spc="-25" dirty="0"/>
              <a:t>are</a:t>
            </a:r>
            <a:r>
              <a:rPr lang="en-US" sz="2000" spc="-25" dirty="0"/>
              <a:t>     </a:t>
            </a:r>
            <a:r>
              <a:rPr sz="2000" dirty="0"/>
              <a:t>relations</a:t>
            </a:r>
            <a:r>
              <a:rPr sz="2000" spc="-30" dirty="0"/>
              <a:t> </a:t>
            </a:r>
            <a:r>
              <a:rPr sz="2000" dirty="0"/>
              <a:t>on</a:t>
            </a:r>
            <a:r>
              <a:rPr sz="2000" spc="-25" dirty="0"/>
              <a:t> </a:t>
            </a:r>
            <a:r>
              <a:rPr sz="2000" dirty="0"/>
              <a:t>a</a:t>
            </a:r>
            <a:r>
              <a:rPr sz="2000" spc="-30" dirty="0"/>
              <a:t> </a:t>
            </a:r>
            <a:r>
              <a:rPr sz="2000" dirty="0"/>
              <a:t>set</a:t>
            </a:r>
            <a:r>
              <a:rPr sz="2000" spc="-20" dirty="0"/>
              <a:t> </a:t>
            </a:r>
            <a:r>
              <a:rPr sz="2000" dirty="0"/>
              <a:t>with</a:t>
            </a:r>
            <a:r>
              <a:rPr sz="2000" spc="-5" dirty="0"/>
              <a:t> </a:t>
            </a:r>
            <a:r>
              <a:rPr sz="2000" i="1" dirty="0">
                <a:latin typeface="Trebuchet MS"/>
                <a:cs typeface="Trebuchet MS"/>
              </a:rPr>
              <a:t>n</a:t>
            </a:r>
            <a:r>
              <a:rPr sz="2000" i="1" spc="-30" dirty="0">
                <a:latin typeface="Trebuchet MS"/>
                <a:cs typeface="Trebuchet MS"/>
              </a:rPr>
              <a:t> </a:t>
            </a:r>
            <a:r>
              <a:rPr sz="2000" spc="-10" dirty="0"/>
              <a:t>elements.</a:t>
            </a:r>
            <a:endParaRPr sz="2000" dirty="0">
              <a:latin typeface="Trebuchet MS"/>
              <a:cs typeface="Trebuchet MS"/>
            </a:endParaRPr>
          </a:p>
        </p:txBody>
      </p:sp>
      <p:sp>
        <p:nvSpPr>
          <p:cNvPr id="4" name="object 4"/>
          <p:cNvSpPr txBox="1"/>
          <p:nvPr/>
        </p:nvSpPr>
        <p:spPr>
          <a:xfrm>
            <a:off x="4944364" y="5053584"/>
            <a:ext cx="1911985" cy="284480"/>
          </a:xfrm>
          <a:prstGeom prst="rect">
            <a:avLst/>
          </a:prstGeom>
        </p:spPr>
        <p:txBody>
          <a:bodyPr vert="horz" wrap="square" lIns="0" tIns="12065" rIns="0" bIns="0" rtlCol="0">
            <a:spAutoFit/>
          </a:bodyPr>
          <a:lstStyle/>
          <a:p>
            <a:pPr marL="12700">
              <a:lnSpc>
                <a:spcPct val="100000"/>
              </a:lnSpc>
              <a:spcBef>
                <a:spcPts val="95"/>
              </a:spcBef>
            </a:pPr>
            <a:r>
              <a:rPr sz="1700" dirty="0">
                <a:solidFill>
                  <a:srgbClr val="404040"/>
                </a:solidFill>
                <a:latin typeface="Trebuchet MS"/>
                <a:cs typeface="Trebuchet MS"/>
              </a:rPr>
              <a:t>relations</a:t>
            </a:r>
            <a:r>
              <a:rPr sz="1700" spc="-10" dirty="0">
                <a:solidFill>
                  <a:srgbClr val="404040"/>
                </a:solidFill>
                <a:latin typeface="Trebuchet MS"/>
                <a:cs typeface="Trebuchet MS"/>
              </a:rPr>
              <a:t> </a:t>
            </a:r>
            <a:r>
              <a:rPr sz="1700" dirty="0">
                <a:solidFill>
                  <a:srgbClr val="404040"/>
                </a:solidFill>
                <a:latin typeface="Trebuchet MS"/>
                <a:cs typeface="Trebuchet MS"/>
              </a:rPr>
              <a:t>on</a:t>
            </a:r>
            <a:r>
              <a:rPr sz="1700" spc="-5" dirty="0">
                <a:solidFill>
                  <a:srgbClr val="404040"/>
                </a:solidFill>
                <a:latin typeface="Trebuchet MS"/>
                <a:cs typeface="Trebuchet MS"/>
              </a:rPr>
              <a:t> </a:t>
            </a:r>
            <a:r>
              <a:rPr sz="1700" dirty="0">
                <a:solidFill>
                  <a:srgbClr val="404040"/>
                </a:solidFill>
                <a:latin typeface="Trebuchet MS"/>
                <a:cs typeface="Trebuchet MS"/>
              </a:rPr>
              <a:t>the</a:t>
            </a:r>
            <a:r>
              <a:rPr sz="1700" spc="-10" dirty="0">
                <a:solidFill>
                  <a:srgbClr val="404040"/>
                </a:solidFill>
                <a:latin typeface="Trebuchet MS"/>
                <a:cs typeface="Trebuchet MS"/>
              </a:rPr>
              <a:t> </a:t>
            </a:r>
            <a:r>
              <a:rPr sz="1700" spc="-25" dirty="0">
                <a:solidFill>
                  <a:srgbClr val="404040"/>
                </a:solidFill>
                <a:latin typeface="Trebuchet MS"/>
                <a:cs typeface="Trebuchet MS"/>
              </a:rPr>
              <a:t>set</a:t>
            </a:r>
            <a:endParaRPr sz="1700">
              <a:latin typeface="Trebuchet MS"/>
              <a:cs typeface="Trebuchet MS"/>
            </a:endParaRPr>
          </a:p>
        </p:txBody>
      </p:sp>
      <p:sp>
        <p:nvSpPr>
          <p:cNvPr id="5" name="object 5"/>
          <p:cNvSpPr txBox="1"/>
          <p:nvPr/>
        </p:nvSpPr>
        <p:spPr>
          <a:xfrm>
            <a:off x="307340" y="4977841"/>
            <a:ext cx="2268855" cy="694690"/>
          </a:xfrm>
          <a:prstGeom prst="rect">
            <a:avLst/>
          </a:prstGeom>
        </p:spPr>
        <p:txBody>
          <a:bodyPr vert="horz" wrap="square" lIns="0" tIns="88265" rIns="0" bIns="0" rtlCol="0">
            <a:spAutoFit/>
          </a:bodyPr>
          <a:lstStyle/>
          <a:p>
            <a:pPr marL="12700">
              <a:lnSpc>
                <a:spcPct val="100000"/>
              </a:lnSpc>
              <a:spcBef>
                <a:spcPts val="695"/>
              </a:spcBef>
            </a:pPr>
            <a:r>
              <a:rPr sz="1700" dirty="0">
                <a:solidFill>
                  <a:srgbClr val="404040"/>
                </a:solidFill>
                <a:latin typeface="Trebuchet MS"/>
                <a:cs typeface="Trebuchet MS"/>
              </a:rPr>
              <a:t>For</a:t>
            </a:r>
            <a:r>
              <a:rPr sz="1700" spc="-55" dirty="0">
                <a:solidFill>
                  <a:srgbClr val="404040"/>
                </a:solidFill>
                <a:latin typeface="Trebuchet MS"/>
                <a:cs typeface="Trebuchet MS"/>
              </a:rPr>
              <a:t> </a:t>
            </a:r>
            <a:r>
              <a:rPr sz="1700" dirty="0">
                <a:solidFill>
                  <a:srgbClr val="404040"/>
                </a:solidFill>
                <a:latin typeface="Trebuchet MS"/>
                <a:cs typeface="Trebuchet MS"/>
              </a:rPr>
              <a:t>example,</a:t>
            </a:r>
            <a:r>
              <a:rPr sz="1700" spc="-45" dirty="0">
                <a:solidFill>
                  <a:srgbClr val="404040"/>
                </a:solidFill>
                <a:latin typeface="Trebuchet MS"/>
                <a:cs typeface="Trebuchet MS"/>
              </a:rPr>
              <a:t> </a:t>
            </a:r>
            <a:r>
              <a:rPr sz="1700" dirty="0">
                <a:solidFill>
                  <a:srgbClr val="404040"/>
                </a:solidFill>
                <a:latin typeface="Trebuchet MS"/>
                <a:cs typeface="Trebuchet MS"/>
              </a:rPr>
              <a:t>there</a:t>
            </a:r>
            <a:r>
              <a:rPr sz="1700" spc="-50" dirty="0">
                <a:solidFill>
                  <a:srgbClr val="404040"/>
                </a:solidFill>
                <a:latin typeface="Trebuchet MS"/>
                <a:cs typeface="Trebuchet MS"/>
              </a:rPr>
              <a:t> </a:t>
            </a:r>
            <a:r>
              <a:rPr sz="1700" spc="-25" dirty="0">
                <a:solidFill>
                  <a:srgbClr val="404040"/>
                </a:solidFill>
                <a:latin typeface="Trebuchet MS"/>
                <a:cs typeface="Trebuchet MS"/>
              </a:rPr>
              <a:t>are</a:t>
            </a:r>
            <a:endParaRPr sz="1700">
              <a:latin typeface="Trebuchet MS"/>
              <a:cs typeface="Trebuchet MS"/>
            </a:endParaRPr>
          </a:p>
          <a:p>
            <a:pPr marL="77470">
              <a:lnSpc>
                <a:spcPct val="100000"/>
              </a:lnSpc>
              <a:spcBef>
                <a:spcPts val="590"/>
              </a:spcBef>
            </a:pPr>
            <a:r>
              <a:rPr sz="1700" dirty="0">
                <a:solidFill>
                  <a:srgbClr val="404040"/>
                </a:solidFill>
                <a:latin typeface="Trebuchet MS"/>
                <a:cs typeface="Trebuchet MS"/>
              </a:rPr>
              <a:t>{</a:t>
            </a:r>
            <a:r>
              <a:rPr sz="1700" i="1" dirty="0">
                <a:solidFill>
                  <a:srgbClr val="404040"/>
                </a:solidFill>
                <a:latin typeface="Trebuchet MS"/>
                <a:cs typeface="Trebuchet MS"/>
              </a:rPr>
              <a:t>a,</a:t>
            </a:r>
            <a:r>
              <a:rPr sz="1700" i="1" spc="-25" dirty="0">
                <a:solidFill>
                  <a:srgbClr val="404040"/>
                </a:solidFill>
                <a:latin typeface="Trebuchet MS"/>
                <a:cs typeface="Trebuchet MS"/>
              </a:rPr>
              <a:t> </a:t>
            </a:r>
            <a:r>
              <a:rPr sz="1700" i="1" dirty="0">
                <a:solidFill>
                  <a:srgbClr val="404040"/>
                </a:solidFill>
                <a:latin typeface="Trebuchet MS"/>
                <a:cs typeface="Trebuchet MS"/>
              </a:rPr>
              <a:t>b,</a:t>
            </a:r>
            <a:r>
              <a:rPr sz="1700" i="1" spc="-15" dirty="0">
                <a:solidFill>
                  <a:srgbClr val="404040"/>
                </a:solidFill>
                <a:latin typeface="Trebuchet MS"/>
                <a:cs typeface="Trebuchet MS"/>
              </a:rPr>
              <a:t> </a:t>
            </a:r>
            <a:r>
              <a:rPr sz="1700" i="1" spc="-25" dirty="0">
                <a:solidFill>
                  <a:srgbClr val="404040"/>
                </a:solidFill>
                <a:latin typeface="Trebuchet MS"/>
                <a:cs typeface="Trebuchet MS"/>
              </a:rPr>
              <a:t>c</a:t>
            </a:r>
            <a:r>
              <a:rPr sz="1700" spc="-25" dirty="0">
                <a:solidFill>
                  <a:srgbClr val="404040"/>
                </a:solidFill>
                <a:latin typeface="Trebuchet MS"/>
                <a:cs typeface="Trebuchet MS"/>
              </a:rPr>
              <a:t>}.</a:t>
            </a:r>
            <a:endParaRPr sz="1700">
              <a:latin typeface="Trebuchet MS"/>
              <a:cs typeface="Trebuchet MS"/>
            </a:endParaRPr>
          </a:p>
        </p:txBody>
      </p:sp>
      <p:pic>
        <p:nvPicPr>
          <p:cNvPr id="6" name="object 6"/>
          <p:cNvPicPr/>
          <p:nvPr/>
        </p:nvPicPr>
        <p:blipFill>
          <a:blip r:embed="rId2" cstate="print"/>
          <a:stretch>
            <a:fillRect/>
          </a:stretch>
        </p:blipFill>
        <p:spPr>
          <a:xfrm>
            <a:off x="5646097" y="3904517"/>
            <a:ext cx="304800" cy="407669"/>
          </a:xfrm>
          <a:prstGeom prst="rect">
            <a:avLst/>
          </a:prstGeom>
        </p:spPr>
      </p:pic>
      <p:pic>
        <p:nvPicPr>
          <p:cNvPr id="7" name="object 7"/>
          <p:cNvPicPr/>
          <p:nvPr/>
        </p:nvPicPr>
        <p:blipFill>
          <a:blip r:embed="rId2" cstate="print"/>
          <a:stretch>
            <a:fillRect/>
          </a:stretch>
        </p:blipFill>
        <p:spPr>
          <a:xfrm>
            <a:off x="2133600" y="4312186"/>
            <a:ext cx="304800" cy="407669"/>
          </a:xfrm>
          <a:prstGeom prst="rect">
            <a:avLst/>
          </a:prstGeom>
        </p:spPr>
      </p:pic>
      <p:pic>
        <p:nvPicPr>
          <p:cNvPr id="8" name="object 8"/>
          <p:cNvPicPr/>
          <p:nvPr/>
        </p:nvPicPr>
        <p:blipFill>
          <a:blip r:embed="rId3" cstate="print"/>
          <a:stretch>
            <a:fillRect/>
          </a:stretch>
        </p:blipFill>
        <p:spPr>
          <a:xfrm>
            <a:off x="2705100" y="4991100"/>
            <a:ext cx="2156459" cy="3429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574675">
              <a:lnSpc>
                <a:spcPct val="100000"/>
              </a:lnSpc>
              <a:spcBef>
                <a:spcPts val="100"/>
              </a:spcBef>
            </a:pPr>
            <a:r>
              <a:rPr spc="-25" dirty="0"/>
              <a:t>RELATIONS</a:t>
            </a:r>
            <a:r>
              <a:rPr spc="-130" dirty="0"/>
              <a:t> </a:t>
            </a:r>
            <a:r>
              <a:rPr dirty="0"/>
              <a:t>ON</a:t>
            </a:r>
            <a:r>
              <a:rPr spc="-270" dirty="0"/>
              <a:t> </a:t>
            </a:r>
            <a:r>
              <a:rPr dirty="0"/>
              <a:t>A</a:t>
            </a:r>
            <a:r>
              <a:rPr spc="-275" dirty="0"/>
              <a:t> </a:t>
            </a:r>
            <a:r>
              <a:rPr spc="-25" dirty="0"/>
              <a:t>SET</a:t>
            </a:r>
          </a:p>
        </p:txBody>
      </p:sp>
      <p:sp>
        <p:nvSpPr>
          <p:cNvPr id="3" name="object 3"/>
          <p:cNvSpPr txBox="1">
            <a:spLocks noGrp="1"/>
          </p:cNvSpPr>
          <p:nvPr>
            <p:ph type="body" idx="1"/>
          </p:nvPr>
        </p:nvSpPr>
        <p:spPr>
          <a:xfrm>
            <a:off x="558163" y="990600"/>
            <a:ext cx="8027671" cy="4444165"/>
          </a:xfrm>
          <a:prstGeom prst="rect">
            <a:avLst/>
          </a:prstGeom>
        </p:spPr>
        <p:txBody>
          <a:bodyPr vert="horz" wrap="square" lIns="0" tIns="12065" rIns="0" bIns="0" rtlCol="0">
            <a:spAutoFit/>
          </a:bodyPr>
          <a:lstStyle/>
          <a:p>
            <a:r>
              <a:rPr lang="en-US" sz="2400" dirty="0">
                <a:solidFill>
                  <a:srgbClr val="CC0066"/>
                </a:solidFill>
              </a:rPr>
              <a:t>Let:</a:t>
            </a:r>
          </a:p>
          <a:p>
            <a:r>
              <a:rPr lang="en-US" sz="2400" dirty="0">
                <a:solidFill>
                  <a:srgbClr val="CC0066"/>
                </a:solidFill>
              </a:rPr>
              <a:t>A = {1,2}</a:t>
            </a:r>
          </a:p>
          <a:p>
            <a:r>
              <a:rPr lang="en-US" sz="2400" dirty="0">
                <a:solidFill>
                  <a:srgbClr val="CC0066"/>
                </a:solidFill>
              </a:rPr>
              <a:t>Then: n = 2</a:t>
            </a:r>
          </a:p>
          <a:p>
            <a:endParaRPr lang="en-US" sz="2400" dirty="0"/>
          </a:p>
          <a:p>
            <a:r>
              <a:rPr lang="en-US" sz="2400" dirty="0">
                <a:solidFill>
                  <a:srgbClr val="0070C0"/>
                </a:solidFill>
              </a:rPr>
              <a:t>Step 1:</a:t>
            </a:r>
            <a:br>
              <a:rPr lang="en-US" sz="2400" dirty="0"/>
            </a:br>
            <a:r>
              <a:rPr lang="en-US" sz="2400" dirty="0"/>
              <a:t>A × A has: 2² = 4 elements</a:t>
            </a:r>
          </a:p>
          <a:p>
            <a:r>
              <a:rPr lang="en-US" sz="2400" dirty="0"/>
              <a:t>Those are:</a:t>
            </a:r>
            <a:br>
              <a:rPr lang="en-US" sz="2400" dirty="0"/>
            </a:br>
            <a:r>
              <a:rPr lang="en-US" sz="2400" dirty="0"/>
              <a:t>(1,1), (1,2), (2,1), (2,2) So m = 4</a:t>
            </a:r>
          </a:p>
          <a:p>
            <a:endParaRPr lang="en-US" sz="2400" dirty="0"/>
          </a:p>
          <a:p>
            <a:r>
              <a:rPr lang="en-US" sz="2400" dirty="0">
                <a:solidFill>
                  <a:srgbClr val="0070C0"/>
                </a:solidFill>
              </a:rPr>
              <a:t>Step 2:</a:t>
            </a:r>
            <a:br>
              <a:rPr lang="en-US" sz="2400" dirty="0"/>
            </a:br>
            <a:r>
              <a:rPr lang="en-US" sz="2400" dirty="0"/>
              <a:t>Number of subsets = 2⁴ = 16</a:t>
            </a:r>
          </a:p>
          <a:p>
            <a:r>
              <a:rPr lang="en-US" sz="2400" dirty="0"/>
              <a:t>So there are 16 relations.</a:t>
            </a:r>
          </a:p>
        </p:txBody>
      </p:sp>
    </p:spTree>
    <p:extLst>
      <p:ext uri="{BB962C8B-B14F-4D97-AF65-F5344CB8AC3E}">
        <p14:creationId xmlns:p14="http://schemas.microsoft.com/office/powerpoint/2010/main" val="7239641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06017" y="95503"/>
            <a:ext cx="5754370" cy="574040"/>
          </a:xfrm>
          <a:prstGeom prst="rect">
            <a:avLst/>
          </a:prstGeom>
        </p:spPr>
        <p:txBody>
          <a:bodyPr vert="horz" wrap="square" lIns="0" tIns="12700" rIns="0" bIns="0" rtlCol="0">
            <a:spAutoFit/>
          </a:bodyPr>
          <a:lstStyle/>
          <a:p>
            <a:pPr marL="12700">
              <a:lnSpc>
                <a:spcPct val="100000"/>
              </a:lnSpc>
              <a:spcBef>
                <a:spcPts val="100"/>
              </a:spcBef>
            </a:pPr>
            <a:r>
              <a:rPr spc="-10" dirty="0"/>
              <a:t>PROPERTIES</a:t>
            </a:r>
            <a:r>
              <a:rPr spc="-130" dirty="0"/>
              <a:t> </a:t>
            </a:r>
            <a:r>
              <a:rPr dirty="0"/>
              <a:t>OF</a:t>
            </a:r>
            <a:r>
              <a:rPr spc="-114" dirty="0"/>
              <a:t> </a:t>
            </a:r>
            <a:r>
              <a:rPr spc="-20" dirty="0"/>
              <a:t>RELATIONS</a:t>
            </a:r>
          </a:p>
        </p:txBody>
      </p:sp>
      <p:sp>
        <p:nvSpPr>
          <p:cNvPr id="3" name="object 3"/>
          <p:cNvSpPr txBox="1">
            <a:spLocks noGrp="1"/>
          </p:cNvSpPr>
          <p:nvPr>
            <p:ph type="body" idx="1"/>
          </p:nvPr>
        </p:nvSpPr>
        <p:spPr>
          <a:xfrm>
            <a:off x="152400" y="1219200"/>
            <a:ext cx="8125460" cy="4388431"/>
          </a:xfrm>
          <a:prstGeom prst="rect">
            <a:avLst/>
          </a:prstGeom>
        </p:spPr>
        <p:txBody>
          <a:bodyPr vert="horz" wrap="square" lIns="0" tIns="358190" rIns="0" bIns="0" rtlCol="0">
            <a:spAutoFit/>
          </a:bodyPr>
          <a:lstStyle/>
          <a:p>
            <a:pPr marL="215900" marR="5080">
              <a:lnSpc>
                <a:spcPct val="100000"/>
              </a:lnSpc>
              <a:spcBef>
                <a:spcPts val="100"/>
              </a:spcBef>
            </a:pPr>
            <a:r>
              <a:rPr sz="2000" dirty="0"/>
              <a:t>There</a:t>
            </a:r>
            <a:r>
              <a:rPr sz="2000" spc="-35" dirty="0"/>
              <a:t> </a:t>
            </a:r>
            <a:r>
              <a:rPr sz="2000" dirty="0"/>
              <a:t>are</a:t>
            </a:r>
            <a:r>
              <a:rPr sz="2000" spc="-40" dirty="0"/>
              <a:t> </a:t>
            </a:r>
            <a:r>
              <a:rPr sz="2000" dirty="0"/>
              <a:t>several</a:t>
            </a:r>
            <a:r>
              <a:rPr sz="2000" spc="-45" dirty="0"/>
              <a:t> </a:t>
            </a:r>
            <a:r>
              <a:rPr sz="2000" dirty="0"/>
              <a:t>properties</a:t>
            </a:r>
            <a:r>
              <a:rPr sz="2000" spc="-60" dirty="0"/>
              <a:t> </a:t>
            </a:r>
            <a:r>
              <a:rPr sz="2000" dirty="0"/>
              <a:t>that</a:t>
            </a:r>
            <a:r>
              <a:rPr sz="2000" spc="-50" dirty="0"/>
              <a:t> </a:t>
            </a:r>
            <a:r>
              <a:rPr sz="2000" dirty="0"/>
              <a:t>are</a:t>
            </a:r>
            <a:r>
              <a:rPr sz="2000" spc="-40" dirty="0"/>
              <a:t> </a:t>
            </a:r>
            <a:r>
              <a:rPr sz="2000" dirty="0"/>
              <a:t>used</a:t>
            </a:r>
            <a:r>
              <a:rPr sz="2000" spc="-45" dirty="0"/>
              <a:t> </a:t>
            </a:r>
            <a:r>
              <a:rPr sz="2000" dirty="0"/>
              <a:t>to</a:t>
            </a:r>
            <a:r>
              <a:rPr sz="2000" spc="-55" dirty="0"/>
              <a:t> </a:t>
            </a:r>
            <a:r>
              <a:rPr sz="2000" dirty="0"/>
              <a:t>classify</a:t>
            </a:r>
            <a:r>
              <a:rPr sz="2000" spc="-65" dirty="0"/>
              <a:t> </a:t>
            </a:r>
            <a:r>
              <a:rPr sz="2000" spc="-10" dirty="0"/>
              <a:t>relations </a:t>
            </a:r>
            <a:r>
              <a:rPr sz="2000" dirty="0"/>
              <a:t>on</a:t>
            </a:r>
            <a:r>
              <a:rPr sz="2000" spc="-25" dirty="0"/>
              <a:t> </a:t>
            </a:r>
            <a:r>
              <a:rPr sz="2000" dirty="0"/>
              <a:t>a</a:t>
            </a:r>
            <a:r>
              <a:rPr sz="2000" spc="-20" dirty="0"/>
              <a:t> set.</a:t>
            </a:r>
          </a:p>
          <a:p>
            <a:pPr marL="215900">
              <a:lnSpc>
                <a:spcPct val="100000"/>
              </a:lnSpc>
              <a:spcBef>
                <a:spcPts val="994"/>
              </a:spcBef>
            </a:pPr>
            <a:r>
              <a:rPr sz="2000" dirty="0"/>
              <a:t>A</a:t>
            </a:r>
            <a:r>
              <a:rPr sz="2000" spc="-125" dirty="0"/>
              <a:t> </a:t>
            </a:r>
            <a:r>
              <a:rPr sz="2000" dirty="0"/>
              <a:t>relation</a:t>
            </a:r>
            <a:r>
              <a:rPr sz="2000" spc="-30" dirty="0"/>
              <a:t> </a:t>
            </a:r>
            <a:r>
              <a:rPr sz="2000" dirty="0"/>
              <a:t>R</a:t>
            </a:r>
            <a:r>
              <a:rPr sz="2000" spc="-25" dirty="0"/>
              <a:t> </a:t>
            </a:r>
            <a:r>
              <a:rPr sz="2000" dirty="0"/>
              <a:t>on</a:t>
            </a:r>
            <a:r>
              <a:rPr sz="2000" spc="-35" dirty="0"/>
              <a:t> </a:t>
            </a:r>
            <a:r>
              <a:rPr sz="2000" dirty="0"/>
              <a:t>a</a:t>
            </a:r>
            <a:r>
              <a:rPr sz="2000" spc="-25" dirty="0"/>
              <a:t> </a:t>
            </a:r>
            <a:r>
              <a:rPr sz="2000" spc="-10" dirty="0"/>
              <a:t>set</a:t>
            </a:r>
            <a:r>
              <a:rPr sz="2000" spc="-120" dirty="0"/>
              <a:t> </a:t>
            </a:r>
            <a:r>
              <a:rPr sz="2000" dirty="0"/>
              <a:t>A</a:t>
            </a:r>
            <a:r>
              <a:rPr sz="2000" spc="-125" dirty="0"/>
              <a:t> </a:t>
            </a:r>
            <a:r>
              <a:rPr sz="2000" dirty="0"/>
              <a:t>is</a:t>
            </a:r>
            <a:r>
              <a:rPr sz="2000" spc="-30" dirty="0"/>
              <a:t> </a:t>
            </a:r>
            <a:r>
              <a:rPr sz="2000" spc="-10" dirty="0"/>
              <a:t>called</a:t>
            </a:r>
          </a:p>
          <a:p>
            <a:pPr marL="958215" indent="-342265">
              <a:lnSpc>
                <a:spcPct val="100000"/>
              </a:lnSpc>
              <a:spcBef>
                <a:spcPts val="1010"/>
              </a:spcBef>
              <a:buClr>
                <a:srgbClr val="90C225"/>
              </a:buClr>
              <a:buSzPct val="78125"/>
              <a:buAutoNum type="arabicPeriod"/>
              <a:tabLst>
                <a:tab pos="958215" algn="l"/>
              </a:tabLst>
            </a:pPr>
            <a:r>
              <a:rPr sz="2000" b="1" dirty="0">
                <a:solidFill>
                  <a:srgbClr val="00AFEF"/>
                </a:solidFill>
                <a:latin typeface="Trebuchet MS"/>
                <a:cs typeface="Trebuchet MS"/>
              </a:rPr>
              <a:t>reflexive</a:t>
            </a:r>
            <a:r>
              <a:rPr sz="2000" b="1" spc="10" dirty="0">
                <a:solidFill>
                  <a:srgbClr val="00AFEF"/>
                </a:solidFill>
                <a:latin typeface="Trebuchet MS"/>
                <a:cs typeface="Trebuchet MS"/>
              </a:rPr>
              <a:t> </a:t>
            </a:r>
            <a:r>
              <a:rPr sz="2000" dirty="0"/>
              <a:t>if</a:t>
            </a:r>
            <a:r>
              <a:rPr sz="2000" spc="-20" dirty="0"/>
              <a:t> </a:t>
            </a:r>
            <a:r>
              <a:rPr sz="2000" dirty="0"/>
              <a:t>for</a:t>
            </a:r>
            <a:r>
              <a:rPr sz="2000" spc="-15" dirty="0"/>
              <a:t> </a:t>
            </a:r>
            <a:r>
              <a:rPr sz="2000" dirty="0"/>
              <a:t>all</a:t>
            </a:r>
            <a:r>
              <a:rPr sz="2000" spc="-20" dirty="0"/>
              <a:t> </a:t>
            </a:r>
            <a:r>
              <a:rPr sz="2000" dirty="0"/>
              <a:t>a</a:t>
            </a:r>
            <a:r>
              <a:rPr sz="2000" spc="370" dirty="0"/>
              <a:t> </a:t>
            </a:r>
            <a:r>
              <a:rPr sz="2000" dirty="0">
                <a:solidFill>
                  <a:srgbClr val="00AFEF"/>
                </a:solidFill>
                <a:latin typeface="Symbol"/>
                <a:cs typeface="Symbol"/>
              </a:rPr>
              <a:t></a:t>
            </a:r>
            <a:r>
              <a:rPr sz="2000" spc="365" dirty="0">
                <a:solidFill>
                  <a:srgbClr val="00AFEF"/>
                </a:solidFill>
                <a:latin typeface="Times New Roman"/>
                <a:cs typeface="Times New Roman"/>
              </a:rPr>
              <a:t> </a:t>
            </a:r>
            <a:r>
              <a:rPr sz="2000" dirty="0"/>
              <a:t>A,</a:t>
            </a:r>
            <a:r>
              <a:rPr sz="2000" spc="-15" dirty="0"/>
              <a:t> </a:t>
            </a:r>
            <a:r>
              <a:rPr sz="2000" spc="-20" dirty="0" err="1"/>
              <a:t>aRa</a:t>
            </a:r>
            <a:r>
              <a:rPr sz="2000" spc="-20" dirty="0"/>
              <a:t>.</a:t>
            </a:r>
            <a:br>
              <a:rPr lang="en-US" sz="2000" spc="-20" dirty="0"/>
            </a:br>
            <a:r>
              <a:rPr lang="en-US" sz="2000" dirty="0">
                <a:solidFill>
                  <a:srgbClr val="CC0066"/>
                </a:solidFill>
                <a:latin typeface="Times New Roman"/>
                <a:cs typeface="Times New Roman"/>
              </a:rPr>
              <a:t>Every element is related to itself.</a:t>
            </a:r>
            <a:endParaRPr sz="2000" dirty="0">
              <a:solidFill>
                <a:srgbClr val="CC0066"/>
              </a:solidFill>
              <a:latin typeface="Times New Roman"/>
              <a:cs typeface="Times New Roman"/>
            </a:endParaRPr>
          </a:p>
          <a:p>
            <a:pPr marL="958215" indent="-342265">
              <a:lnSpc>
                <a:spcPct val="100000"/>
              </a:lnSpc>
              <a:spcBef>
                <a:spcPts val="994"/>
              </a:spcBef>
              <a:buClr>
                <a:srgbClr val="90C225"/>
              </a:buClr>
              <a:buSzPct val="78125"/>
              <a:buAutoNum type="arabicPeriod"/>
              <a:tabLst>
                <a:tab pos="958215" algn="l"/>
              </a:tabLst>
            </a:pPr>
            <a:r>
              <a:rPr sz="2000" b="1" dirty="0">
                <a:solidFill>
                  <a:srgbClr val="00AFEF"/>
                </a:solidFill>
                <a:latin typeface="Trebuchet MS"/>
                <a:cs typeface="Trebuchet MS"/>
              </a:rPr>
              <a:t>symmetric </a:t>
            </a:r>
            <a:r>
              <a:rPr sz="2000" dirty="0"/>
              <a:t>if</a:t>
            </a:r>
            <a:r>
              <a:rPr sz="2000" spc="-10" dirty="0"/>
              <a:t> </a:t>
            </a:r>
            <a:r>
              <a:rPr sz="2000" dirty="0"/>
              <a:t>for</a:t>
            </a:r>
            <a:r>
              <a:rPr sz="2000" spc="-15" dirty="0"/>
              <a:t> </a:t>
            </a:r>
            <a:r>
              <a:rPr sz="2000" dirty="0"/>
              <a:t>all</a:t>
            </a:r>
            <a:r>
              <a:rPr sz="2000" spc="-10" dirty="0"/>
              <a:t> </a:t>
            </a:r>
            <a:r>
              <a:rPr sz="2000" dirty="0"/>
              <a:t>a,</a:t>
            </a:r>
            <a:r>
              <a:rPr sz="2000" spc="-20" dirty="0"/>
              <a:t> </a:t>
            </a:r>
            <a:r>
              <a:rPr sz="2000" dirty="0"/>
              <a:t>b</a:t>
            </a:r>
            <a:r>
              <a:rPr sz="2000" spc="375" dirty="0"/>
              <a:t> </a:t>
            </a:r>
            <a:r>
              <a:rPr sz="2000" dirty="0">
                <a:solidFill>
                  <a:srgbClr val="00AFEF"/>
                </a:solidFill>
                <a:latin typeface="Symbol"/>
                <a:cs typeface="Symbol"/>
              </a:rPr>
              <a:t></a:t>
            </a:r>
            <a:r>
              <a:rPr sz="2000" spc="365" dirty="0">
                <a:solidFill>
                  <a:srgbClr val="00AFEF"/>
                </a:solidFill>
                <a:latin typeface="Times New Roman"/>
                <a:cs typeface="Times New Roman"/>
              </a:rPr>
              <a:t> </a:t>
            </a:r>
            <a:r>
              <a:rPr sz="2000" dirty="0"/>
              <a:t>A,</a:t>
            </a:r>
            <a:r>
              <a:rPr sz="2000" spc="-5" dirty="0"/>
              <a:t> </a:t>
            </a:r>
            <a:r>
              <a:rPr sz="2000" dirty="0"/>
              <a:t>aRb</a:t>
            </a:r>
            <a:r>
              <a:rPr sz="2000" spc="-15" dirty="0"/>
              <a:t> </a:t>
            </a:r>
            <a:r>
              <a:rPr sz="2000" dirty="0"/>
              <a:t>implies</a:t>
            </a:r>
            <a:r>
              <a:rPr sz="2000" spc="-10" dirty="0"/>
              <a:t> </a:t>
            </a:r>
            <a:r>
              <a:rPr sz="2000" spc="-20" dirty="0" err="1"/>
              <a:t>bRa</a:t>
            </a:r>
            <a:r>
              <a:rPr sz="2000" spc="-20" dirty="0"/>
              <a:t>.</a:t>
            </a:r>
            <a:br>
              <a:rPr lang="en-US" sz="2000" spc="-20" dirty="0"/>
            </a:br>
            <a:r>
              <a:rPr lang="en-US" sz="2000" spc="-20" dirty="0">
                <a:solidFill>
                  <a:srgbClr val="CC0066"/>
                </a:solidFill>
              </a:rPr>
              <a:t>If (</a:t>
            </a:r>
            <a:r>
              <a:rPr lang="en-US" sz="2000" spc="-20" dirty="0" err="1">
                <a:solidFill>
                  <a:srgbClr val="CC0066"/>
                </a:solidFill>
              </a:rPr>
              <a:t>a,b</a:t>
            </a:r>
            <a:r>
              <a:rPr lang="en-US" sz="2000" spc="-20" dirty="0">
                <a:solidFill>
                  <a:srgbClr val="CC0066"/>
                </a:solidFill>
              </a:rPr>
              <a:t>) ∈ R then (</a:t>
            </a:r>
            <a:r>
              <a:rPr lang="en-US" sz="2000" spc="-20" dirty="0" err="1">
                <a:solidFill>
                  <a:srgbClr val="CC0066"/>
                </a:solidFill>
              </a:rPr>
              <a:t>b,a</a:t>
            </a:r>
            <a:r>
              <a:rPr lang="en-US" sz="2000" spc="-20" dirty="0">
                <a:solidFill>
                  <a:srgbClr val="CC0066"/>
                </a:solidFill>
              </a:rPr>
              <a:t>) must also be in R</a:t>
            </a:r>
            <a:endParaRPr sz="2000" dirty="0">
              <a:solidFill>
                <a:srgbClr val="CC0066"/>
              </a:solidFill>
              <a:latin typeface="Times New Roman"/>
              <a:cs typeface="Times New Roman"/>
            </a:endParaRPr>
          </a:p>
          <a:p>
            <a:pPr marL="958215" indent="-342265">
              <a:lnSpc>
                <a:spcPct val="100000"/>
              </a:lnSpc>
              <a:spcBef>
                <a:spcPts val="1000"/>
              </a:spcBef>
              <a:buClr>
                <a:srgbClr val="90C225"/>
              </a:buClr>
              <a:buSzPct val="78125"/>
              <a:buAutoNum type="arabicPeriod"/>
              <a:tabLst>
                <a:tab pos="958215" algn="l"/>
              </a:tabLst>
            </a:pPr>
            <a:r>
              <a:rPr sz="2000" b="1" dirty="0">
                <a:solidFill>
                  <a:srgbClr val="00AFEF"/>
                </a:solidFill>
                <a:latin typeface="Trebuchet MS"/>
                <a:cs typeface="Trebuchet MS"/>
              </a:rPr>
              <a:t>antisymmetric </a:t>
            </a:r>
            <a:r>
              <a:rPr sz="2000" dirty="0"/>
              <a:t>if</a:t>
            </a:r>
            <a:r>
              <a:rPr sz="2000" spc="-15" dirty="0"/>
              <a:t> </a:t>
            </a:r>
            <a:r>
              <a:rPr sz="2000" dirty="0"/>
              <a:t>for</a:t>
            </a:r>
            <a:r>
              <a:rPr sz="2000" spc="-10" dirty="0"/>
              <a:t> </a:t>
            </a:r>
            <a:r>
              <a:rPr sz="2000" dirty="0"/>
              <a:t>all</a:t>
            </a:r>
            <a:r>
              <a:rPr sz="2000" spc="-10" dirty="0"/>
              <a:t> </a:t>
            </a:r>
            <a:r>
              <a:rPr sz="2000" dirty="0"/>
              <a:t>a,</a:t>
            </a:r>
            <a:r>
              <a:rPr sz="2000" spc="-20" dirty="0"/>
              <a:t> </a:t>
            </a:r>
            <a:r>
              <a:rPr sz="2000" dirty="0"/>
              <a:t>b</a:t>
            </a:r>
            <a:r>
              <a:rPr sz="2000" spc="385" dirty="0"/>
              <a:t> </a:t>
            </a:r>
            <a:r>
              <a:rPr sz="2000" dirty="0">
                <a:solidFill>
                  <a:srgbClr val="00AFEF"/>
                </a:solidFill>
                <a:latin typeface="Symbol"/>
                <a:cs typeface="Symbol"/>
              </a:rPr>
              <a:t></a:t>
            </a:r>
            <a:r>
              <a:rPr sz="2000" spc="370" dirty="0">
                <a:solidFill>
                  <a:srgbClr val="00AFEF"/>
                </a:solidFill>
                <a:latin typeface="Times New Roman"/>
                <a:cs typeface="Times New Roman"/>
              </a:rPr>
              <a:t> </a:t>
            </a:r>
            <a:r>
              <a:rPr sz="2000" dirty="0"/>
              <a:t>A,</a:t>
            </a:r>
            <a:r>
              <a:rPr sz="2000" spc="-5" dirty="0"/>
              <a:t> </a:t>
            </a:r>
            <a:r>
              <a:rPr sz="2000" dirty="0"/>
              <a:t>aRb</a:t>
            </a:r>
            <a:r>
              <a:rPr sz="2000" spc="-15" dirty="0"/>
              <a:t> </a:t>
            </a:r>
            <a:r>
              <a:rPr sz="2000" dirty="0"/>
              <a:t>and</a:t>
            </a:r>
            <a:r>
              <a:rPr sz="2000" spc="-20" dirty="0"/>
              <a:t> </a:t>
            </a:r>
            <a:r>
              <a:rPr sz="2000" dirty="0"/>
              <a:t>bRa</a:t>
            </a:r>
            <a:r>
              <a:rPr sz="2000" spc="-10" dirty="0"/>
              <a:t> </a:t>
            </a:r>
            <a:r>
              <a:rPr sz="2000" dirty="0"/>
              <a:t>implies</a:t>
            </a:r>
            <a:r>
              <a:rPr sz="2000" spc="-15" dirty="0"/>
              <a:t> </a:t>
            </a:r>
            <a:r>
              <a:rPr sz="2000" dirty="0"/>
              <a:t>a</a:t>
            </a:r>
            <a:r>
              <a:rPr sz="2000" spc="-15" dirty="0"/>
              <a:t> </a:t>
            </a:r>
            <a:r>
              <a:rPr sz="2000" dirty="0"/>
              <a:t>=</a:t>
            </a:r>
            <a:r>
              <a:rPr sz="2000" spc="-15" dirty="0"/>
              <a:t> </a:t>
            </a:r>
            <a:r>
              <a:rPr sz="2000" spc="-25" dirty="0"/>
              <a:t>b.</a:t>
            </a:r>
            <a:br>
              <a:rPr lang="en-US" sz="2000" spc="-25" dirty="0"/>
            </a:br>
            <a:r>
              <a:rPr lang="en-US" sz="2000" spc="-25" dirty="0">
                <a:solidFill>
                  <a:srgbClr val="CC0066"/>
                </a:solidFill>
              </a:rPr>
              <a:t>If:(</a:t>
            </a:r>
            <a:r>
              <a:rPr lang="en-US" sz="2000" spc="-25" dirty="0" err="1">
                <a:solidFill>
                  <a:srgbClr val="CC0066"/>
                </a:solidFill>
              </a:rPr>
              <a:t>a,b</a:t>
            </a:r>
            <a:r>
              <a:rPr lang="en-US" sz="2000" spc="-25" dirty="0">
                <a:solidFill>
                  <a:srgbClr val="CC0066"/>
                </a:solidFill>
              </a:rPr>
              <a:t>) ∈ R and (</a:t>
            </a:r>
            <a:r>
              <a:rPr lang="en-US" sz="2000" spc="-25" dirty="0" err="1">
                <a:solidFill>
                  <a:srgbClr val="CC0066"/>
                </a:solidFill>
              </a:rPr>
              <a:t>b,a</a:t>
            </a:r>
            <a:r>
              <a:rPr lang="en-US" sz="2000" spc="-25" dirty="0">
                <a:solidFill>
                  <a:srgbClr val="CC0066"/>
                </a:solidFill>
              </a:rPr>
              <a:t>) ∈ R Then: a = b</a:t>
            </a:r>
            <a:endParaRPr sz="2000" dirty="0">
              <a:solidFill>
                <a:srgbClr val="CC0066"/>
              </a:solidFill>
              <a:latin typeface="Times New Roman"/>
              <a:cs typeface="Times New Roman"/>
            </a:endParaRPr>
          </a:p>
          <a:p>
            <a:pPr marL="958215" indent="-342265">
              <a:lnSpc>
                <a:spcPct val="100000"/>
              </a:lnSpc>
              <a:spcBef>
                <a:spcPts val="1005"/>
              </a:spcBef>
              <a:buClr>
                <a:srgbClr val="90C225"/>
              </a:buClr>
              <a:buSzPct val="78125"/>
              <a:buAutoNum type="arabicPeriod"/>
              <a:tabLst>
                <a:tab pos="958215" algn="l"/>
              </a:tabLst>
            </a:pPr>
            <a:r>
              <a:rPr sz="2000" b="1" dirty="0">
                <a:solidFill>
                  <a:srgbClr val="00AFEF"/>
                </a:solidFill>
                <a:latin typeface="Trebuchet MS"/>
                <a:cs typeface="Trebuchet MS"/>
              </a:rPr>
              <a:t>transitive</a:t>
            </a:r>
            <a:r>
              <a:rPr sz="2000" b="1" spc="-5" dirty="0">
                <a:solidFill>
                  <a:srgbClr val="00AFEF"/>
                </a:solidFill>
                <a:latin typeface="Trebuchet MS"/>
                <a:cs typeface="Trebuchet MS"/>
              </a:rPr>
              <a:t> </a:t>
            </a:r>
            <a:r>
              <a:rPr sz="2000" dirty="0"/>
              <a:t>if</a:t>
            </a:r>
            <a:r>
              <a:rPr sz="2000" spc="-10" dirty="0"/>
              <a:t> </a:t>
            </a:r>
            <a:r>
              <a:rPr sz="2000" dirty="0"/>
              <a:t>for</a:t>
            </a:r>
            <a:r>
              <a:rPr sz="2000" spc="-10" dirty="0"/>
              <a:t> </a:t>
            </a:r>
            <a:r>
              <a:rPr sz="2000" dirty="0"/>
              <a:t>all</a:t>
            </a:r>
            <a:r>
              <a:rPr sz="2000" spc="-5" dirty="0"/>
              <a:t> </a:t>
            </a:r>
            <a:r>
              <a:rPr sz="2000" dirty="0"/>
              <a:t>a,</a:t>
            </a:r>
            <a:r>
              <a:rPr sz="2000" spc="-10" dirty="0"/>
              <a:t> </a:t>
            </a:r>
            <a:r>
              <a:rPr sz="2000" dirty="0"/>
              <a:t>b,</a:t>
            </a:r>
            <a:r>
              <a:rPr sz="2000" spc="-10" dirty="0"/>
              <a:t> </a:t>
            </a:r>
            <a:r>
              <a:rPr sz="2000" dirty="0"/>
              <a:t>c</a:t>
            </a:r>
            <a:r>
              <a:rPr sz="2000" spc="380" dirty="0"/>
              <a:t> </a:t>
            </a:r>
            <a:r>
              <a:rPr sz="2000" dirty="0">
                <a:solidFill>
                  <a:srgbClr val="00AFEF"/>
                </a:solidFill>
                <a:latin typeface="Symbol"/>
                <a:cs typeface="Symbol"/>
              </a:rPr>
              <a:t></a:t>
            </a:r>
            <a:r>
              <a:rPr sz="2000" spc="375" dirty="0">
                <a:solidFill>
                  <a:srgbClr val="00AFEF"/>
                </a:solidFill>
                <a:latin typeface="Times New Roman"/>
                <a:cs typeface="Times New Roman"/>
              </a:rPr>
              <a:t> </a:t>
            </a:r>
            <a:r>
              <a:rPr sz="2000" dirty="0"/>
              <a:t>A, aRb</a:t>
            </a:r>
            <a:r>
              <a:rPr sz="2000" spc="-10" dirty="0"/>
              <a:t> </a:t>
            </a:r>
            <a:r>
              <a:rPr sz="2000" dirty="0"/>
              <a:t>and</a:t>
            </a:r>
            <a:r>
              <a:rPr sz="2000" spc="-25" dirty="0"/>
              <a:t> </a:t>
            </a:r>
            <a:r>
              <a:rPr sz="2000" dirty="0"/>
              <a:t>bRc</a:t>
            </a:r>
            <a:r>
              <a:rPr sz="2000" spc="-5" dirty="0"/>
              <a:t> </a:t>
            </a:r>
            <a:r>
              <a:rPr sz="2000" dirty="0"/>
              <a:t>implies</a:t>
            </a:r>
            <a:r>
              <a:rPr sz="2000" spc="-10" dirty="0"/>
              <a:t> </a:t>
            </a:r>
            <a:r>
              <a:rPr sz="2000" spc="-20" dirty="0" err="1"/>
              <a:t>aRc</a:t>
            </a:r>
            <a:r>
              <a:rPr sz="2000" spc="-20" dirty="0"/>
              <a:t>.</a:t>
            </a:r>
            <a:br>
              <a:rPr lang="en-US" sz="2000" spc="-20" dirty="0"/>
            </a:br>
            <a:r>
              <a:rPr lang="en-US" sz="2000" spc="-20" dirty="0">
                <a:solidFill>
                  <a:srgbClr val="CC0066"/>
                </a:solidFill>
              </a:rPr>
              <a:t>If:(</a:t>
            </a:r>
            <a:r>
              <a:rPr lang="en-US" sz="2000" spc="-20" dirty="0" err="1">
                <a:solidFill>
                  <a:srgbClr val="CC0066"/>
                </a:solidFill>
              </a:rPr>
              <a:t>a,b</a:t>
            </a:r>
            <a:r>
              <a:rPr lang="en-US" sz="2000" spc="-20" dirty="0">
                <a:solidFill>
                  <a:srgbClr val="CC0066"/>
                </a:solidFill>
              </a:rPr>
              <a:t>) ∈ Rand (</a:t>
            </a:r>
            <a:r>
              <a:rPr lang="en-US" sz="2000" spc="-20" dirty="0" err="1">
                <a:solidFill>
                  <a:srgbClr val="CC0066"/>
                </a:solidFill>
              </a:rPr>
              <a:t>b,c</a:t>
            </a:r>
            <a:r>
              <a:rPr lang="en-US" sz="2000" spc="-20" dirty="0">
                <a:solidFill>
                  <a:srgbClr val="CC0066"/>
                </a:solidFill>
              </a:rPr>
              <a:t>) ∈ R Then:(</a:t>
            </a:r>
            <a:r>
              <a:rPr lang="en-US" sz="2000" spc="-20" dirty="0" err="1">
                <a:solidFill>
                  <a:srgbClr val="CC0066"/>
                </a:solidFill>
              </a:rPr>
              <a:t>a,c</a:t>
            </a:r>
            <a:r>
              <a:rPr lang="en-US" sz="2000" spc="-20" dirty="0">
                <a:solidFill>
                  <a:srgbClr val="CC0066"/>
                </a:solidFill>
              </a:rPr>
              <a:t>) must also be in R</a:t>
            </a:r>
            <a:endParaRPr sz="2000" dirty="0">
              <a:solidFill>
                <a:srgbClr val="CC0066"/>
              </a:solidFill>
              <a:latin typeface="Times New Roman"/>
              <a:cs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4400" y="152400"/>
            <a:ext cx="5331461" cy="574040"/>
          </a:xfrm>
          <a:prstGeom prst="rect">
            <a:avLst/>
          </a:prstGeom>
        </p:spPr>
        <p:txBody>
          <a:bodyPr vert="horz" wrap="square" lIns="0" tIns="12700" rIns="0" bIns="0" rtlCol="0">
            <a:spAutoFit/>
          </a:bodyPr>
          <a:lstStyle/>
          <a:p>
            <a:pPr marL="12700">
              <a:lnSpc>
                <a:spcPct val="100000"/>
              </a:lnSpc>
              <a:spcBef>
                <a:spcPts val="100"/>
              </a:spcBef>
            </a:pPr>
            <a:r>
              <a:rPr dirty="0"/>
              <a:t>REFLEXIVE</a:t>
            </a:r>
            <a:r>
              <a:rPr spc="-185" dirty="0"/>
              <a:t> </a:t>
            </a:r>
            <a:r>
              <a:rPr spc="-20" dirty="0"/>
              <a:t>RELATION</a:t>
            </a:r>
          </a:p>
        </p:txBody>
      </p:sp>
      <p:sp>
        <p:nvSpPr>
          <p:cNvPr id="3" name="object 3"/>
          <p:cNvSpPr txBox="1"/>
          <p:nvPr/>
        </p:nvSpPr>
        <p:spPr>
          <a:xfrm>
            <a:off x="533400" y="1047906"/>
            <a:ext cx="7236460" cy="5000728"/>
          </a:xfrm>
          <a:prstGeom prst="rect">
            <a:avLst/>
          </a:prstGeom>
        </p:spPr>
        <p:txBody>
          <a:bodyPr vert="horz" wrap="square" lIns="0" tIns="12065" rIns="0" bIns="0" rtlCol="0">
            <a:spAutoFit/>
          </a:bodyPr>
          <a:lstStyle/>
          <a:p>
            <a:pPr marL="12700">
              <a:lnSpc>
                <a:spcPts val="1939"/>
              </a:lnSpc>
              <a:spcBef>
                <a:spcPts val="95"/>
              </a:spcBef>
            </a:pPr>
            <a:r>
              <a:rPr sz="2000" b="1" dirty="0">
                <a:solidFill>
                  <a:srgbClr val="00AFEF"/>
                </a:solidFill>
                <a:latin typeface="Times New Roman"/>
                <a:cs typeface="Times New Roman"/>
              </a:rPr>
              <a:t>A</a:t>
            </a:r>
            <a:r>
              <a:rPr sz="2000" b="1" spc="-110" dirty="0">
                <a:solidFill>
                  <a:srgbClr val="00AFEF"/>
                </a:solidFill>
                <a:latin typeface="Times New Roman"/>
                <a:cs typeface="Times New Roman"/>
              </a:rPr>
              <a:t> </a:t>
            </a:r>
            <a:r>
              <a:rPr sz="2000" b="1" dirty="0">
                <a:solidFill>
                  <a:srgbClr val="00AFEF"/>
                </a:solidFill>
                <a:latin typeface="Times New Roman"/>
                <a:cs typeface="Times New Roman"/>
              </a:rPr>
              <a:t>relation</a:t>
            </a:r>
            <a:r>
              <a:rPr sz="2000" b="1" spc="-30" dirty="0">
                <a:solidFill>
                  <a:srgbClr val="00AFEF"/>
                </a:solidFill>
                <a:latin typeface="Times New Roman"/>
                <a:cs typeface="Times New Roman"/>
              </a:rPr>
              <a:t> </a:t>
            </a:r>
            <a:r>
              <a:rPr sz="2000" b="1" dirty="0">
                <a:solidFill>
                  <a:srgbClr val="00AFEF"/>
                </a:solidFill>
                <a:latin typeface="Times New Roman"/>
                <a:cs typeface="Times New Roman"/>
              </a:rPr>
              <a:t>R</a:t>
            </a:r>
            <a:r>
              <a:rPr sz="2000" b="1" spc="-15" dirty="0">
                <a:solidFill>
                  <a:srgbClr val="00AFEF"/>
                </a:solidFill>
                <a:latin typeface="Times New Roman"/>
                <a:cs typeface="Times New Roman"/>
              </a:rPr>
              <a:t> </a:t>
            </a:r>
            <a:r>
              <a:rPr sz="2000" b="1" dirty="0">
                <a:solidFill>
                  <a:srgbClr val="00AFEF"/>
                </a:solidFill>
                <a:latin typeface="Times New Roman"/>
                <a:cs typeface="Times New Roman"/>
              </a:rPr>
              <a:t>on</a:t>
            </a:r>
            <a:r>
              <a:rPr sz="2000" b="1" spc="-20" dirty="0">
                <a:solidFill>
                  <a:srgbClr val="00AFEF"/>
                </a:solidFill>
                <a:latin typeface="Times New Roman"/>
                <a:cs typeface="Times New Roman"/>
              </a:rPr>
              <a:t> </a:t>
            </a:r>
            <a:r>
              <a:rPr sz="2000" b="1" dirty="0">
                <a:solidFill>
                  <a:srgbClr val="00AFEF"/>
                </a:solidFill>
                <a:latin typeface="Times New Roman"/>
                <a:cs typeface="Times New Roman"/>
              </a:rPr>
              <a:t>a</a:t>
            </a:r>
            <a:r>
              <a:rPr sz="2000" b="1" spc="-10" dirty="0">
                <a:solidFill>
                  <a:srgbClr val="00AFEF"/>
                </a:solidFill>
                <a:latin typeface="Times New Roman"/>
                <a:cs typeface="Times New Roman"/>
              </a:rPr>
              <a:t> </a:t>
            </a:r>
            <a:r>
              <a:rPr sz="2000" b="1" dirty="0">
                <a:solidFill>
                  <a:srgbClr val="00AFEF"/>
                </a:solidFill>
                <a:latin typeface="Times New Roman"/>
                <a:cs typeface="Times New Roman"/>
              </a:rPr>
              <a:t>set</a:t>
            </a:r>
            <a:r>
              <a:rPr sz="2000" b="1" spc="-105" dirty="0">
                <a:solidFill>
                  <a:srgbClr val="00AFEF"/>
                </a:solidFill>
                <a:latin typeface="Times New Roman"/>
                <a:cs typeface="Times New Roman"/>
              </a:rPr>
              <a:t> </a:t>
            </a:r>
            <a:r>
              <a:rPr sz="2000" b="1" dirty="0">
                <a:solidFill>
                  <a:srgbClr val="00AFEF"/>
                </a:solidFill>
                <a:latin typeface="Times New Roman"/>
                <a:cs typeface="Times New Roman"/>
              </a:rPr>
              <a:t>A</a:t>
            </a:r>
            <a:r>
              <a:rPr sz="2000" b="1" spc="-105" dirty="0">
                <a:solidFill>
                  <a:srgbClr val="00AFEF"/>
                </a:solidFill>
                <a:latin typeface="Times New Roman"/>
                <a:cs typeface="Times New Roman"/>
              </a:rPr>
              <a:t> </a:t>
            </a:r>
            <a:r>
              <a:rPr sz="2000" b="1" dirty="0">
                <a:solidFill>
                  <a:srgbClr val="00AFEF"/>
                </a:solidFill>
                <a:latin typeface="Times New Roman"/>
                <a:cs typeface="Times New Roman"/>
              </a:rPr>
              <a:t>is</a:t>
            </a:r>
            <a:r>
              <a:rPr sz="2000" b="1" spc="-20" dirty="0">
                <a:solidFill>
                  <a:srgbClr val="00AFEF"/>
                </a:solidFill>
                <a:latin typeface="Times New Roman"/>
                <a:cs typeface="Times New Roman"/>
              </a:rPr>
              <a:t> </a:t>
            </a:r>
            <a:r>
              <a:rPr sz="2000" b="1" dirty="0">
                <a:solidFill>
                  <a:srgbClr val="00AFEF"/>
                </a:solidFill>
                <a:latin typeface="Times New Roman"/>
                <a:cs typeface="Times New Roman"/>
              </a:rPr>
              <a:t>called</a:t>
            </a:r>
            <a:r>
              <a:rPr sz="2000" b="1" spc="-20" dirty="0">
                <a:solidFill>
                  <a:srgbClr val="00AFEF"/>
                </a:solidFill>
                <a:latin typeface="Times New Roman"/>
                <a:cs typeface="Times New Roman"/>
              </a:rPr>
              <a:t> </a:t>
            </a:r>
            <a:r>
              <a:rPr sz="2000" b="1" dirty="0">
                <a:solidFill>
                  <a:srgbClr val="00AFEF"/>
                </a:solidFill>
                <a:latin typeface="Times New Roman"/>
                <a:cs typeface="Times New Roman"/>
              </a:rPr>
              <a:t>reflexive</a:t>
            </a:r>
            <a:r>
              <a:rPr sz="2000" b="1" spc="-30" dirty="0">
                <a:solidFill>
                  <a:srgbClr val="00AFEF"/>
                </a:solidFill>
                <a:latin typeface="Times New Roman"/>
                <a:cs typeface="Times New Roman"/>
              </a:rPr>
              <a:t> </a:t>
            </a:r>
            <a:r>
              <a:rPr sz="2000" b="1" dirty="0">
                <a:solidFill>
                  <a:srgbClr val="00AFEF"/>
                </a:solidFill>
                <a:latin typeface="Times New Roman"/>
                <a:cs typeface="Times New Roman"/>
              </a:rPr>
              <a:t>if</a:t>
            </a:r>
            <a:r>
              <a:rPr sz="2000" b="1" spc="-20" dirty="0">
                <a:solidFill>
                  <a:srgbClr val="00AFEF"/>
                </a:solidFill>
                <a:latin typeface="Times New Roman"/>
                <a:cs typeface="Times New Roman"/>
              </a:rPr>
              <a:t> </a:t>
            </a:r>
            <a:r>
              <a:rPr sz="2000" b="1" dirty="0">
                <a:solidFill>
                  <a:srgbClr val="00AFEF"/>
                </a:solidFill>
                <a:latin typeface="Times New Roman"/>
                <a:cs typeface="Times New Roman"/>
              </a:rPr>
              <a:t>(a,</a:t>
            </a:r>
            <a:r>
              <a:rPr sz="2000" b="1" spc="-15" dirty="0">
                <a:solidFill>
                  <a:srgbClr val="00AFEF"/>
                </a:solidFill>
                <a:latin typeface="Times New Roman"/>
                <a:cs typeface="Times New Roman"/>
              </a:rPr>
              <a:t> </a:t>
            </a:r>
            <a:r>
              <a:rPr sz="2000" b="1" dirty="0">
                <a:solidFill>
                  <a:srgbClr val="00AFEF"/>
                </a:solidFill>
                <a:latin typeface="Times New Roman"/>
                <a:cs typeface="Times New Roman"/>
              </a:rPr>
              <a:t>a)</a:t>
            </a:r>
            <a:r>
              <a:rPr sz="2000" b="1" spc="-5" dirty="0">
                <a:solidFill>
                  <a:srgbClr val="00AFEF"/>
                </a:solidFill>
                <a:latin typeface="Times New Roman"/>
                <a:cs typeface="Times New Roman"/>
              </a:rPr>
              <a:t> </a:t>
            </a:r>
            <a:r>
              <a:rPr sz="2000" dirty="0">
                <a:solidFill>
                  <a:srgbClr val="00AFEF"/>
                </a:solidFill>
                <a:latin typeface="Cambria Math"/>
                <a:cs typeface="Cambria Math"/>
              </a:rPr>
              <a:t>∈</a:t>
            </a:r>
            <a:r>
              <a:rPr sz="2000" spc="10" dirty="0">
                <a:solidFill>
                  <a:srgbClr val="00AFEF"/>
                </a:solidFill>
                <a:latin typeface="Cambria Math"/>
                <a:cs typeface="Cambria Math"/>
              </a:rPr>
              <a:t> </a:t>
            </a:r>
            <a:r>
              <a:rPr sz="2000" b="1" dirty="0">
                <a:solidFill>
                  <a:srgbClr val="00AFEF"/>
                </a:solidFill>
                <a:latin typeface="Times New Roman"/>
                <a:cs typeface="Times New Roman"/>
              </a:rPr>
              <a:t>R</a:t>
            </a:r>
            <a:r>
              <a:rPr sz="2000" b="1" spc="-15" dirty="0">
                <a:solidFill>
                  <a:srgbClr val="00AFEF"/>
                </a:solidFill>
                <a:latin typeface="Times New Roman"/>
                <a:cs typeface="Times New Roman"/>
              </a:rPr>
              <a:t> </a:t>
            </a:r>
            <a:r>
              <a:rPr sz="2000" b="1" dirty="0">
                <a:solidFill>
                  <a:srgbClr val="00AFEF"/>
                </a:solidFill>
                <a:latin typeface="Times New Roman"/>
                <a:cs typeface="Times New Roman"/>
              </a:rPr>
              <a:t>for</a:t>
            </a:r>
            <a:r>
              <a:rPr sz="2000" b="1" spc="-45" dirty="0">
                <a:solidFill>
                  <a:srgbClr val="00AFEF"/>
                </a:solidFill>
                <a:latin typeface="Times New Roman"/>
                <a:cs typeface="Times New Roman"/>
              </a:rPr>
              <a:t> </a:t>
            </a:r>
            <a:r>
              <a:rPr sz="2000" b="1" dirty="0">
                <a:solidFill>
                  <a:srgbClr val="00AFEF"/>
                </a:solidFill>
                <a:latin typeface="Times New Roman"/>
                <a:cs typeface="Times New Roman"/>
              </a:rPr>
              <a:t>every</a:t>
            </a:r>
            <a:r>
              <a:rPr sz="2000" b="1" spc="-30" dirty="0">
                <a:solidFill>
                  <a:srgbClr val="00AFEF"/>
                </a:solidFill>
                <a:latin typeface="Times New Roman"/>
                <a:cs typeface="Times New Roman"/>
              </a:rPr>
              <a:t> </a:t>
            </a:r>
            <a:r>
              <a:rPr sz="2000" b="1" dirty="0">
                <a:solidFill>
                  <a:srgbClr val="00AFEF"/>
                </a:solidFill>
                <a:latin typeface="Times New Roman"/>
                <a:cs typeface="Times New Roman"/>
              </a:rPr>
              <a:t>element</a:t>
            </a:r>
            <a:r>
              <a:rPr sz="2000" b="1" spc="-35" dirty="0">
                <a:solidFill>
                  <a:srgbClr val="00AFEF"/>
                </a:solidFill>
                <a:latin typeface="Times New Roman"/>
                <a:cs typeface="Times New Roman"/>
              </a:rPr>
              <a:t> </a:t>
            </a:r>
            <a:r>
              <a:rPr sz="2000" b="1" spc="-60" dirty="0">
                <a:solidFill>
                  <a:srgbClr val="00AFEF"/>
                </a:solidFill>
                <a:latin typeface="Times New Roman"/>
                <a:cs typeface="Times New Roman"/>
              </a:rPr>
              <a:t>a</a:t>
            </a:r>
            <a:r>
              <a:rPr lang="en-US" sz="2000" b="1" spc="-60" dirty="0">
                <a:latin typeface="Times New Roman"/>
                <a:cs typeface="Times New Roman"/>
              </a:rPr>
              <a:t> </a:t>
            </a:r>
            <a:r>
              <a:rPr sz="2000" dirty="0">
                <a:solidFill>
                  <a:srgbClr val="00AFEF"/>
                </a:solidFill>
                <a:latin typeface="Cambria Math"/>
                <a:cs typeface="Cambria Math"/>
              </a:rPr>
              <a:t>∈</a:t>
            </a:r>
            <a:r>
              <a:rPr sz="2000" spc="-80" dirty="0">
                <a:solidFill>
                  <a:srgbClr val="00AFEF"/>
                </a:solidFill>
                <a:latin typeface="Cambria Math"/>
                <a:cs typeface="Cambria Math"/>
              </a:rPr>
              <a:t> </a:t>
            </a:r>
            <a:r>
              <a:rPr sz="2000" b="1" spc="-25" dirty="0">
                <a:solidFill>
                  <a:srgbClr val="00AFEF"/>
                </a:solidFill>
                <a:latin typeface="Times New Roman"/>
                <a:cs typeface="Times New Roman"/>
              </a:rPr>
              <a:t>A.</a:t>
            </a:r>
            <a:endParaRPr sz="2000" dirty="0">
              <a:latin typeface="Times New Roman"/>
              <a:cs typeface="Times New Roman"/>
            </a:endParaRPr>
          </a:p>
          <a:p>
            <a:pPr marL="12700" algn="ctr">
              <a:lnSpc>
                <a:spcPts val="1939"/>
              </a:lnSpc>
              <a:spcBef>
                <a:spcPts val="795"/>
              </a:spcBef>
            </a:pPr>
            <a:r>
              <a:rPr lang="en-US" sz="2400" b="1" spc="-45" dirty="0">
                <a:solidFill>
                  <a:srgbClr val="CC0066"/>
                </a:solidFill>
                <a:latin typeface="Times New Roman"/>
                <a:cs typeface="Times New Roman"/>
              </a:rPr>
              <a:t>(</a:t>
            </a:r>
            <a:r>
              <a:rPr lang="en-US" sz="2400" b="1" spc="-45" dirty="0" err="1">
                <a:solidFill>
                  <a:srgbClr val="CC0066"/>
                </a:solidFill>
                <a:latin typeface="Times New Roman"/>
                <a:cs typeface="Times New Roman"/>
              </a:rPr>
              <a:t>a,a</a:t>
            </a:r>
            <a:r>
              <a:rPr lang="en-US" sz="2400" b="1" spc="-45" dirty="0">
                <a:solidFill>
                  <a:srgbClr val="CC0066"/>
                </a:solidFill>
                <a:latin typeface="Times New Roman"/>
                <a:cs typeface="Times New Roman"/>
              </a:rPr>
              <a:t>) ∈ R</a:t>
            </a:r>
          </a:p>
          <a:p>
            <a:pPr marL="12700" algn="l">
              <a:lnSpc>
                <a:spcPts val="1939"/>
              </a:lnSpc>
              <a:spcBef>
                <a:spcPts val="795"/>
              </a:spcBef>
            </a:pPr>
            <a:r>
              <a:rPr lang="en-US" sz="2000" spc="-45" dirty="0">
                <a:solidFill>
                  <a:srgbClr val="CC0066"/>
                </a:solidFill>
                <a:latin typeface="Times New Roman"/>
                <a:cs typeface="Times New Roman"/>
              </a:rPr>
              <a:t>Every element is related to itself.</a:t>
            </a:r>
          </a:p>
          <a:p>
            <a:pPr marL="12700" algn="l">
              <a:lnSpc>
                <a:spcPts val="1939"/>
              </a:lnSpc>
              <a:spcBef>
                <a:spcPts val="795"/>
              </a:spcBef>
            </a:pPr>
            <a:endParaRPr lang="en-US" sz="2000" dirty="0">
              <a:solidFill>
                <a:srgbClr val="CC0066"/>
              </a:solidFill>
              <a:latin typeface="Times New Roman"/>
              <a:cs typeface="Times New Roman"/>
            </a:endParaRPr>
          </a:p>
          <a:p>
            <a:pPr marL="12700" algn="l">
              <a:lnSpc>
                <a:spcPts val="1939"/>
              </a:lnSpc>
              <a:spcBef>
                <a:spcPts val="795"/>
              </a:spcBef>
            </a:pPr>
            <a:r>
              <a:rPr lang="en-US" sz="2000" b="1" dirty="0">
                <a:solidFill>
                  <a:srgbClr val="002060"/>
                </a:solidFill>
                <a:latin typeface="Times New Roman"/>
                <a:cs typeface="Times New Roman"/>
              </a:rPr>
              <a:t>Example A = {1,2,3}</a:t>
            </a:r>
          </a:p>
          <a:p>
            <a:pPr marL="12700" algn="l">
              <a:lnSpc>
                <a:spcPts val="1939"/>
              </a:lnSpc>
              <a:spcBef>
                <a:spcPts val="795"/>
              </a:spcBef>
            </a:pPr>
            <a:r>
              <a:rPr lang="en-US" sz="2000" dirty="0">
                <a:solidFill>
                  <a:srgbClr val="002060"/>
                </a:solidFill>
                <a:latin typeface="Times New Roman"/>
                <a:cs typeface="Times New Roman"/>
              </a:rPr>
              <a:t>If R = {(1,1),(2,2),(3,3),(1,2)}</a:t>
            </a:r>
          </a:p>
          <a:p>
            <a:pPr marL="12700" algn="l">
              <a:lnSpc>
                <a:spcPts val="1939"/>
              </a:lnSpc>
              <a:spcBef>
                <a:spcPts val="795"/>
              </a:spcBef>
            </a:pPr>
            <a:r>
              <a:rPr lang="en-US" sz="2000" dirty="0">
                <a:solidFill>
                  <a:srgbClr val="002060"/>
                </a:solidFill>
                <a:latin typeface="Times New Roman"/>
                <a:cs typeface="Times New Roman"/>
              </a:rPr>
              <a:t>This is reflexive because:</a:t>
            </a:r>
          </a:p>
          <a:p>
            <a:pPr marL="12700" algn="l">
              <a:lnSpc>
                <a:spcPts val="1939"/>
              </a:lnSpc>
              <a:spcBef>
                <a:spcPts val="795"/>
              </a:spcBef>
            </a:pPr>
            <a:r>
              <a:rPr lang="en-US" sz="2000" dirty="0">
                <a:solidFill>
                  <a:srgbClr val="002060"/>
                </a:solidFill>
                <a:latin typeface="Times New Roman"/>
                <a:cs typeface="Times New Roman"/>
              </a:rPr>
              <a:t>(1,1) </a:t>
            </a:r>
          </a:p>
          <a:p>
            <a:pPr marL="12700" algn="l">
              <a:lnSpc>
                <a:spcPts val="1939"/>
              </a:lnSpc>
              <a:spcBef>
                <a:spcPts val="795"/>
              </a:spcBef>
            </a:pPr>
            <a:r>
              <a:rPr lang="en-US" sz="2000" dirty="0">
                <a:solidFill>
                  <a:srgbClr val="002060"/>
                </a:solidFill>
                <a:latin typeface="Times New Roman"/>
                <a:cs typeface="Times New Roman"/>
              </a:rPr>
              <a:t>(2,2) </a:t>
            </a:r>
          </a:p>
          <a:p>
            <a:pPr marL="12700" algn="l">
              <a:lnSpc>
                <a:spcPts val="1939"/>
              </a:lnSpc>
              <a:spcBef>
                <a:spcPts val="795"/>
              </a:spcBef>
            </a:pPr>
            <a:r>
              <a:rPr lang="en-US" sz="2000" dirty="0">
                <a:solidFill>
                  <a:srgbClr val="002060"/>
                </a:solidFill>
                <a:latin typeface="Times New Roman"/>
                <a:cs typeface="Times New Roman"/>
              </a:rPr>
              <a:t>(3,3) </a:t>
            </a:r>
          </a:p>
          <a:p>
            <a:pPr marL="12700" algn="l">
              <a:lnSpc>
                <a:spcPts val="1939"/>
              </a:lnSpc>
              <a:spcBef>
                <a:spcPts val="795"/>
              </a:spcBef>
            </a:pPr>
            <a:r>
              <a:rPr lang="en-US" sz="2000" dirty="0">
                <a:solidFill>
                  <a:srgbClr val="002060"/>
                </a:solidFill>
                <a:latin typeface="Times New Roman"/>
                <a:cs typeface="Times New Roman"/>
              </a:rPr>
              <a:t>All elements relate to themselves.</a:t>
            </a:r>
          </a:p>
          <a:p>
            <a:pPr marL="12700" algn="l">
              <a:lnSpc>
                <a:spcPts val="1939"/>
              </a:lnSpc>
              <a:spcBef>
                <a:spcPts val="795"/>
              </a:spcBef>
            </a:pPr>
            <a:endParaRPr lang="en-US" sz="2000" dirty="0">
              <a:solidFill>
                <a:srgbClr val="CC0066"/>
              </a:solidFill>
              <a:latin typeface="Times New Roman"/>
              <a:cs typeface="Times New Roman"/>
            </a:endParaRPr>
          </a:p>
          <a:p>
            <a:pPr marL="12700" algn="l">
              <a:lnSpc>
                <a:spcPts val="1939"/>
              </a:lnSpc>
              <a:spcBef>
                <a:spcPts val="795"/>
              </a:spcBef>
            </a:pPr>
            <a:r>
              <a:rPr lang="en-US" sz="2000" b="1" dirty="0">
                <a:solidFill>
                  <a:srgbClr val="7030A0"/>
                </a:solidFill>
                <a:latin typeface="Times New Roman"/>
                <a:cs typeface="Times New Roman"/>
              </a:rPr>
              <a:t>If one is missing?</a:t>
            </a:r>
          </a:p>
          <a:p>
            <a:pPr marL="12700" algn="l">
              <a:lnSpc>
                <a:spcPts val="1939"/>
              </a:lnSpc>
              <a:spcBef>
                <a:spcPts val="795"/>
              </a:spcBef>
            </a:pPr>
            <a:r>
              <a:rPr lang="en-US" sz="2000" dirty="0">
                <a:solidFill>
                  <a:srgbClr val="7030A0"/>
                </a:solidFill>
                <a:latin typeface="Times New Roman"/>
                <a:cs typeface="Times New Roman"/>
              </a:rPr>
              <a:t>If (3,3) is missing → NOT reflexive.</a:t>
            </a:r>
            <a:endParaRPr sz="2000" dirty="0">
              <a:solidFill>
                <a:srgbClr val="7030A0"/>
              </a:solidFill>
              <a:latin typeface="Times New Roman"/>
              <a:cs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40738" y="-82296"/>
            <a:ext cx="5407661" cy="574040"/>
          </a:xfrm>
          <a:prstGeom prst="rect">
            <a:avLst/>
          </a:prstGeom>
        </p:spPr>
        <p:txBody>
          <a:bodyPr vert="horz" wrap="square" lIns="0" tIns="12700" rIns="0" bIns="0" rtlCol="0">
            <a:spAutoFit/>
          </a:bodyPr>
          <a:lstStyle/>
          <a:p>
            <a:pPr marL="12700">
              <a:lnSpc>
                <a:spcPct val="100000"/>
              </a:lnSpc>
              <a:spcBef>
                <a:spcPts val="100"/>
              </a:spcBef>
            </a:pPr>
            <a:r>
              <a:rPr dirty="0"/>
              <a:t>REFLEXIVE</a:t>
            </a:r>
            <a:r>
              <a:rPr spc="-185" dirty="0"/>
              <a:t> </a:t>
            </a:r>
            <a:r>
              <a:rPr spc="-20" dirty="0"/>
              <a:t>RELATION</a:t>
            </a:r>
          </a:p>
        </p:txBody>
      </p:sp>
      <p:sp>
        <p:nvSpPr>
          <p:cNvPr id="3" name="object 3"/>
          <p:cNvSpPr txBox="1"/>
          <p:nvPr/>
        </p:nvSpPr>
        <p:spPr>
          <a:xfrm>
            <a:off x="381000" y="762000"/>
            <a:ext cx="7236460" cy="4951997"/>
          </a:xfrm>
          <a:prstGeom prst="rect">
            <a:avLst/>
          </a:prstGeom>
        </p:spPr>
        <p:txBody>
          <a:bodyPr vert="horz" wrap="square" lIns="0" tIns="12065" rIns="0" bIns="0" rtlCol="0">
            <a:spAutoFit/>
          </a:bodyPr>
          <a:lstStyle/>
          <a:p>
            <a:pPr marL="12700">
              <a:lnSpc>
                <a:spcPct val="100000"/>
              </a:lnSpc>
              <a:spcBef>
                <a:spcPts val="795"/>
              </a:spcBef>
            </a:pPr>
            <a:r>
              <a:rPr sz="1700" b="1" dirty="0">
                <a:solidFill>
                  <a:srgbClr val="90C225"/>
                </a:solidFill>
                <a:latin typeface="Times New Roman"/>
                <a:cs typeface="Times New Roman"/>
              </a:rPr>
              <a:t>EXAMPLE</a:t>
            </a:r>
            <a:r>
              <a:rPr sz="1700" b="1" spc="-75" dirty="0">
                <a:solidFill>
                  <a:srgbClr val="90C225"/>
                </a:solidFill>
                <a:latin typeface="Times New Roman"/>
                <a:cs typeface="Times New Roman"/>
              </a:rPr>
              <a:t> </a:t>
            </a:r>
            <a:r>
              <a:rPr sz="1700" b="1" spc="-50" dirty="0">
                <a:solidFill>
                  <a:srgbClr val="90C225"/>
                </a:solidFill>
                <a:latin typeface="Times New Roman"/>
                <a:cs typeface="Times New Roman"/>
              </a:rPr>
              <a:t>G</a:t>
            </a:r>
            <a:endParaRPr sz="1700" dirty="0">
              <a:latin typeface="Times New Roman"/>
              <a:cs typeface="Times New Roman"/>
            </a:endParaRPr>
          </a:p>
          <a:p>
            <a:pPr marL="12700">
              <a:lnSpc>
                <a:spcPct val="100000"/>
              </a:lnSpc>
              <a:spcBef>
                <a:spcPts val="800"/>
              </a:spcBef>
            </a:pPr>
            <a:r>
              <a:rPr sz="1700" b="1" dirty="0">
                <a:solidFill>
                  <a:srgbClr val="404040"/>
                </a:solidFill>
                <a:latin typeface="Times New Roman"/>
                <a:cs typeface="Times New Roman"/>
              </a:rPr>
              <a:t>Consider</a:t>
            </a:r>
            <a:r>
              <a:rPr sz="1700" b="1" spc="-60" dirty="0">
                <a:solidFill>
                  <a:srgbClr val="404040"/>
                </a:solidFill>
                <a:latin typeface="Times New Roman"/>
                <a:cs typeface="Times New Roman"/>
              </a:rPr>
              <a:t> </a:t>
            </a:r>
            <a:r>
              <a:rPr sz="1700" b="1" dirty="0">
                <a:solidFill>
                  <a:srgbClr val="404040"/>
                </a:solidFill>
                <a:latin typeface="Times New Roman"/>
                <a:cs typeface="Times New Roman"/>
              </a:rPr>
              <a:t>the</a:t>
            </a:r>
            <a:r>
              <a:rPr sz="1700" b="1" spc="-35" dirty="0">
                <a:solidFill>
                  <a:srgbClr val="404040"/>
                </a:solidFill>
                <a:latin typeface="Times New Roman"/>
                <a:cs typeface="Times New Roman"/>
              </a:rPr>
              <a:t> </a:t>
            </a:r>
            <a:r>
              <a:rPr sz="1700" b="1" dirty="0">
                <a:solidFill>
                  <a:srgbClr val="404040"/>
                </a:solidFill>
                <a:latin typeface="Times New Roman"/>
                <a:cs typeface="Times New Roman"/>
              </a:rPr>
              <a:t>following</a:t>
            </a:r>
            <a:r>
              <a:rPr sz="1700" b="1" spc="-35" dirty="0">
                <a:solidFill>
                  <a:srgbClr val="404040"/>
                </a:solidFill>
                <a:latin typeface="Times New Roman"/>
                <a:cs typeface="Times New Roman"/>
              </a:rPr>
              <a:t> </a:t>
            </a:r>
            <a:r>
              <a:rPr sz="1700" b="1" dirty="0">
                <a:solidFill>
                  <a:srgbClr val="404040"/>
                </a:solidFill>
                <a:latin typeface="Times New Roman"/>
                <a:cs typeface="Times New Roman"/>
              </a:rPr>
              <a:t>relations</a:t>
            </a:r>
            <a:r>
              <a:rPr sz="1700" b="1" spc="-35" dirty="0">
                <a:solidFill>
                  <a:srgbClr val="404040"/>
                </a:solidFill>
                <a:latin typeface="Times New Roman"/>
                <a:cs typeface="Times New Roman"/>
              </a:rPr>
              <a:t> </a:t>
            </a:r>
            <a:r>
              <a:rPr sz="1700" b="1" dirty="0">
                <a:solidFill>
                  <a:srgbClr val="404040"/>
                </a:solidFill>
                <a:latin typeface="Times New Roman"/>
                <a:cs typeface="Times New Roman"/>
              </a:rPr>
              <a:t>on</a:t>
            </a:r>
            <a:r>
              <a:rPr sz="1700" b="1" spc="-40"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35"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35" dirty="0">
                <a:solidFill>
                  <a:srgbClr val="404040"/>
                </a:solidFill>
                <a:latin typeface="Times New Roman"/>
                <a:cs typeface="Times New Roman"/>
              </a:rPr>
              <a:t> </a:t>
            </a:r>
            <a:r>
              <a:rPr sz="1700" b="1" dirty="0">
                <a:solidFill>
                  <a:srgbClr val="404040"/>
                </a:solidFill>
                <a:latin typeface="Times New Roman"/>
                <a:cs typeface="Times New Roman"/>
              </a:rPr>
              <a:t>3</a:t>
            </a:r>
            <a:r>
              <a:rPr sz="1700" b="1" i="1" dirty="0">
                <a:solidFill>
                  <a:srgbClr val="404040"/>
                </a:solidFill>
                <a:latin typeface="Times New Roman"/>
                <a:cs typeface="Times New Roman"/>
              </a:rPr>
              <a:t>,</a:t>
            </a:r>
            <a:r>
              <a:rPr sz="1700" b="1" i="1" spc="-35" dirty="0">
                <a:solidFill>
                  <a:srgbClr val="404040"/>
                </a:solidFill>
                <a:latin typeface="Times New Roman"/>
                <a:cs typeface="Times New Roman"/>
              </a:rPr>
              <a:t> </a:t>
            </a:r>
            <a:r>
              <a:rPr sz="1700" b="1" spc="-25" dirty="0">
                <a:solidFill>
                  <a:srgbClr val="404040"/>
                </a:solidFill>
                <a:latin typeface="Times New Roman"/>
                <a:cs typeface="Times New Roman"/>
              </a:rPr>
              <a:t>4}:</a:t>
            </a:r>
            <a:endParaRPr sz="1700" dirty="0">
              <a:latin typeface="Times New Roman"/>
              <a:cs typeface="Times New Roman"/>
            </a:endParaRPr>
          </a:p>
          <a:p>
            <a:pPr marL="12700">
              <a:lnSpc>
                <a:spcPct val="100000"/>
              </a:lnSpc>
              <a:spcBef>
                <a:spcPts val="790"/>
              </a:spcBef>
              <a:tabLst>
                <a:tab pos="354965" algn="l"/>
              </a:tabLst>
            </a:pPr>
            <a:r>
              <a:rPr sz="1350" spc="65" dirty="0">
                <a:solidFill>
                  <a:srgbClr val="90C225"/>
                </a:solidFill>
                <a:latin typeface="Lucida Sans Unicode"/>
                <a:cs typeface="Lucida Sans Unicode"/>
              </a:rPr>
              <a:t>▶</a:t>
            </a:r>
            <a:r>
              <a:rPr sz="1350" dirty="0">
                <a:solidFill>
                  <a:srgbClr val="90C225"/>
                </a:solidFill>
                <a:latin typeface="Lucida Sans Unicode"/>
                <a:cs typeface="Lucida Sans Unicode"/>
              </a:rPr>
              <a:t>	</a:t>
            </a:r>
            <a:r>
              <a:rPr sz="1700" i="1" dirty="0">
                <a:solidFill>
                  <a:srgbClr val="404040"/>
                </a:solidFill>
                <a:latin typeface="Times New Roman"/>
                <a:cs typeface="Times New Roman"/>
              </a:rPr>
              <a:t>R</a:t>
            </a:r>
            <a:r>
              <a:rPr sz="1700" dirty="0">
                <a:solidFill>
                  <a:srgbClr val="404040"/>
                </a:solidFill>
                <a:latin typeface="Times New Roman"/>
                <a:cs typeface="Times New Roman"/>
              </a:rPr>
              <a:t>1</a:t>
            </a:r>
            <a:r>
              <a:rPr sz="1700" spc="-25" dirty="0">
                <a:solidFill>
                  <a:srgbClr val="404040"/>
                </a:solidFill>
                <a:latin typeface="Times New Roman"/>
                <a:cs typeface="Times New Roman"/>
              </a:rPr>
              <a:t> </a:t>
            </a:r>
            <a:r>
              <a:rPr sz="1700" dirty="0">
                <a:solidFill>
                  <a:srgbClr val="404040"/>
                </a:solidFill>
                <a:latin typeface="Times New Roman"/>
                <a:cs typeface="Times New Roman"/>
              </a:rPr>
              <a:t>=</a:t>
            </a:r>
            <a:r>
              <a:rPr sz="1700" spc="-10" dirty="0">
                <a:solidFill>
                  <a:srgbClr val="404040"/>
                </a:solidFill>
                <a:latin typeface="Times New Roman"/>
                <a:cs typeface="Times New Roman"/>
              </a:rPr>
              <a:t> </a:t>
            </a: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25" dirty="0">
                <a:solidFill>
                  <a:srgbClr val="404040"/>
                </a:solidFill>
                <a:latin typeface="Times New Roman"/>
                <a:cs typeface="Times New Roman"/>
              </a:rPr>
              <a:t> </a:t>
            </a: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25" dirty="0">
                <a:solidFill>
                  <a:srgbClr val="404040"/>
                </a:solidFill>
                <a:latin typeface="Times New Roman"/>
                <a:cs typeface="Times New Roman"/>
              </a:rPr>
              <a:t> </a:t>
            </a: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25" dirty="0">
                <a:solidFill>
                  <a:srgbClr val="404040"/>
                </a:solidFill>
                <a:latin typeface="Times New Roman"/>
                <a:cs typeface="Times New Roman"/>
              </a:rPr>
              <a:t> </a:t>
            </a:r>
            <a:r>
              <a:rPr sz="1700" dirty="0">
                <a:solidFill>
                  <a:srgbClr val="404040"/>
                </a:solidFill>
                <a:latin typeface="Times New Roman"/>
                <a:cs typeface="Times New Roman"/>
              </a:rPr>
              <a:t>(3</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4)</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(4</a:t>
            </a:r>
            <a:r>
              <a:rPr sz="1700" i="1" dirty="0">
                <a:solidFill>
                  <a:srgbClr val="404040"/>
                </a:solidFill>
                <a:latin typeface="Times New Roman"/>
                <a:cs typeface="Times New Roman"/>
              </a:rPr>
              <a:t>,</a:t>
            </a:r>
            <a:r>
              <a:rPr sz="1700" i="1" spc="-25" dirty="0">
                <a:solidFill>
                  <a:srgbClr val="404040"/>
                </a:solidFill>
                <a:latin typeface="Times New Roman"/>
                <a:cs typeface="Times New Roman"/>
              </a:rPr>
              <a:t> </a:t>
            </a: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(4</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spc="-20" dirty="0">
                <a:solidFill>
                  <a:srgbClr val="404040"/>
                </a:solidFill>
                <a:latin typeface="Times New Roman"/>
                <a:cs typeface="Times New Roman"/>
              </a:rPr>
              <a:t>4)}</a:t>
            </a:r>
            <a:r>
              <a:rPr sz="1700" i="1" spc="-20" dirty="0">
                <a:solidFill>
                  <a:srgbClr val="404040"/>
                </a:solidFill>
                <a:latin typeface="Times New Roman"/>
                <a:cs typeface="Times New Roman"/>
              </a:rPr>
              <a:t>,</a:t>
            </a:r>
            <a:endParaRPr sz="1700" dirty="0">
              <a:latin typeface="Times New Roman"/>
              <a:cs typeface="Times New Roman"/>
            </a:endParaRPr>
          </a:p>
          <a:p>
            <a:pPr marL="12700">
              <a:lnSpc>
                <a:spcPct val="100000"/>
              </a:lnSpc>
              <a:spcBef>
                <a:spcPts val="800"/>
              </a:spcBef>
              <a:tabLst>
                <a:tab pos="354965" algn="l"/>
              </a:tabLst>
            </a:pPr>
            <a:r>
              <a:rPr sz="1350" spc="65" dirty="0">
                <a:solidFill>
                  <a:srgbClr val="90C225"/>
                </a:solidFill>
                <a:latin typeface="Lucida Sans Unicode"/>
                <a:cs typeface="Lucida Sans Unicode"/>
              </a:rPr>
              <a:t>▶</a:t>
            </a:r>
            <a:r>
              <a:rPr sz="1350" dirty="0">
                <a:solidFill>
                  <a:srgbClr val="90C225"/>
                </a:solidFill>
                <a:latin typeface="Lucida Sans Unicode"/>
                <a:cs typeface="Lucida Sans Unicode"/>
              </a:rPr>
              <a:t>	</a:t>
            </a:r>
            <a:r>
              <a:rPr sz="1700" i="1" dirty="0">
                <a:solidFill>
                  <a:srgbClr val="404040"/>
                </a:solidFill>
                <a:latin typeface="Times New Roman"/>
                <a:cs typeface="Times New Roman"/>
              </a:rPr>
              <a:t>R</a:t>
            </a:r>
            <a:r>
              <a:rPr sz="1700" dirty="0">
                <a:solidFill>
                  <a:srgbClr val="404040"/>
                </a:solidFill>
                <a:latin typeface="Times New Roman"/>
                <a:cs typeface="Times New Roman"/>
              </a:rPr>
              <a:t>2</a:t>
            </a:r>
            <a:r>
              <a:rPr sz="1700" spc="-25" dirty="0">
                <a:solidFill>
                  <a:srgbClr val="404040"/>
                </a:solidFill>
                <a:latin typeface="Times New Roman"/>
                <a:cs typeface="Times New Roman"/>
              </a:rPr>
              <a:t> </a:t>
            </a:r>
            <a:r>
              <a:rPr sz="1700" dirty="0">
                <a:solidFill>
                  <a:srgbClr val="404040"/>
                </a:solidFill>
                <a:latin typeface="Times New Roman"/>
                <a:cs typeface="Times New Roman"/>
              </a:rPr>
              <a:t>=</a:t>
            </a:r>
            <a:r>
              <a:rPr sz="1700" spc="-10" dirty="0">
                <a:solidFill>
                  <a:srgbClr val="404040"/>
                </a:solidFill>
                <a:latin typeface="Times New Roman"/>
                <a:cs typeface="Times New Roman"/>
              </a:rPr>
              <a:t> </a:t>
            </a: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25" dirty="0">
                <a:solidFill>
                  <a:srgbClr val="404040"/>
                </a:solidFill>
                <a:latin typeface="Times New Roman"/>
                <a:cs typeface="Times New Roman"/>
              </a:rPr>
              <a:t> </a:t>
            </a: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15" dirty="0">
                <a:solidFill>
                  <a:srgbClr val="404040"/>
                </a:solidFill>
                <a:latin typeface="Times New Roman"/>
                <a:cs typeface="Times New Roman"/>
              </a:rPr>
              <a:t> </a:t>
            </a:r>
            <a:r>
              <a:rPr sz="1700" spc="-20" dirty="0">
                <a:solidFill>
                  <a:srgbClr val="404040"/>
                </a:solidFill>
                <a:latin typeface="Times New Roman"/>
                <a:cs typeface="Times New Roman"/>
              </a:rPr>
              <a:t>1)}</a:t>
            </a:r>
            <a:r>
              <a:rPr sz="1700" i="1" spc="-20" dirty="0">
                <a:solidFill>
                  <a:srgbClr val="404040"/>
                </a:solidFill>
                <a:latin typeface="Times New Roman"/>
                <a:cs typeface="Times New Roman"/>
              </a:rPr>
              <a:t>,</a:t>
            </a:r>
            <a:endParaRPr sz="1700" dirty="0">
              <a:latin typeface="Times New Roman"/>
              <a:cs typeface="Times New Roman"/>
            </a:endParaRPr>
          </a:p>
          <a:p>
            <a:pPr marL="12700">
              <a:lnSpc>
                <a:spcPct val="100000"/>
              </a:lnSpc>
              <a:spcBef>
                <a:spcPts val="800"/>
              </a:spcBef>
              <a:tabLst>
                <a:tab pos="354965" algn="l"/>
              </a:tabLst>
            </a:pPr>
            <a:r>
              <a:rPr sz="1350" spc="65" dirty="0">
                <a:solidFill>
                  <a:srgbClr val="90C225"/>
                </a:solidFill>
                <a:latin typeface="Lucida Sans Unicode"/>
                <a:cs typeface="Lucida Sans Unicode"/>
              </a:rPr>
              <a:t>▶</a:t>
            </a:r>
            <a:r>
              <a:rPr sz="1350" dirty="0">
                <a:solidFill>
                  <a:srgbClr val="90C225"/>
                </a:solidFill>
                <a:latin typeface="Lucida Sans Unicode"/>
                <a:cs typeface="Lucida Sans Unicode"/>
              </a:rPr>
              <a:t>	</a:t>
            </a:r>
            <a:r>
              <a:rPr sz="1700" i="1" dirty="0">
                <a:solidFill>
                  <a:srgbClr val="404040"/>
                </a:solidFill>
                <a:latin typeface="Times New Roman"/>
                <a:cs typeface="Times New Roman"/>
              </a:rPr>
              <a:t>R</a:t>
            </a:r>
            <a:r>
              <a:rPr sz="1700" dirty="0">
                <a:solidFill>
                  <a:srgbClr val="404040"/>
                </a:solidFill>
                <a:latin typeface="Times New Roman"/>
                <a:cs typeface="Times New Roman"/>
              </a:rPr>
              <a:t>3</a:t>
            </a:r>
            <a:r>
              <a:rPr sz="1700" spc="-25" dirty="0">
                <a:solidFill>
                  <a:srgbClr val="404040"/>
                </a:solidFill>
                <a:latin typeface="Times New Roman"/>
                <a:cs typeface="Times New Roman"/>
              </a:rPr>
              <a:t> </a:t>
            </a:r>
            <a:r>
              <a:rPr sz="1700" dirty="0">
                <a:solidFill>
                  <a:srgbClr val="404040"/>
                </a:solidFill>
                <a:latin typeface="Times New Roman"/>
                <a:cs typeface="Times New Roman"/>
              </a:rPr>
              <a:t>=</a:t>
            </a:r>
            <a:r>
              <a:rPr sz="1700" spc="-10" dirty="0">
                <a:solidFill>
                  <a:srgbClr val="404040"/>
                </a:solidFill>
                <a:latin typeface="Times New Roman"/>
                <a:cs typeface="Times New Roman"/>
              </a:rPr>
              <a:t> </a:t>
            </a: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30" dirty="0">
                <a:solidFill>
                  <a:srgbClr val="404040"/>
                </a:solidFill>
                <a:latin typeface="Times New Roman"/>
                <a:cs typeface="Times New Roman"/>
              </a:rPr>
              <a:t> </a:t>
            </a: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25" dirty="0">
                <a:solidFill>
                  <a:srgbClr val="404040"/>
                </a:solidFill>
                <a:latin typeface="Times New Roman"/>
                <a:cs typeface="Times New Roman"/>
              </a:rPr>
              <a:t> </a:t>
            </a: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15" dirty="0">
                <a:solidFill>
                  <a:srgbClr val="404040"/>
                </a:solidFill>
                <a:latin typeface="Times New Roman"/>
                <a:cs typeface="Times New Roman"/>
              </a:rPr>
              <a:t> </a:t>
            </a:r>
            <a:r>
              <a:rPr sz="1700" dirty="0">
                <a:solidFill>
                  <a:srgbClr val="404040"/>
                </a:solidFill>
                <a:latin typeface="Times New Roman"/>
                <a:cs typeface="Times New Roman"/>
              </a:rPr>
              <a:t>4)</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25" dirty="0">
                <a:solidFill>
                  <a:srgbClr val="404040"/>
                </a:solidFill>
                <a:latin typeface="Times New Roman"/>
                <a:cs typeface="Times New Roman"/>
              </a:rPr>
              <a:t> </a:t>
            </a: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25" dirty="0">
                <a:solidFill>
                  <a:srgbClr val="404040"/>
                </a:solidFill>
                <a:latin typeface="Times New Roman"/>
                <a:cs typeface="Times New Roman"/>
              </a:rPr>
              <a:t> </a:t>
            </a:r>
            <a:r>
              <a:rPr sz="1700" dirty="0">
                <a:solidFill>
                  <a:srgbClr val="404040"/>
                </a:solidFill>
                <a:latin typeface="Times New Roman"/>
                <a:cs typeface="Times New Roman"/>
              </a:rPr>
              <a:t>(3</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3)</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(4</a:t>
            </a:r>
            <a:r>
              <a:rPr sz="1700" i="1" dirty="0">
                <a:solidFill>
                  <a:srgbClr val="404040"/>
                </a:solidFill>
                <a:latin typeface="Times New Roman"/>
                <a:cs typeface="Times New Roman"/>
              </a:rPr>
              <a:t>,</a:t>
            </a:r>
            <a:r>
              <a:rPr sz="1700" i="1" spc="-25" dirty="0">
                <a:solidFill>
                  <a:srgbClr val="404040"/>
                </a:solidFill>
                <a:latin typeface="Times New Roman"/>
                <a:cs typeface="Times New Roman"/>
              </a:rPr>
              <a:t> </a:t>
            </a: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(4</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spc="-20" dirty="0">
                <a:solidFill>
                  <a:srgbClr val="404040"/>
                </a:solidFill>
                <a:latin typeface="Times New Roman"/>
                <a:cs typeface="Times New Roman"/>
              </a:rPr>
              <a:t>4)}</a:t>
            </a:r>
            <a:r>
              <a:rPr sz="1700" i="1" spc="-20" dirty="0">
                <a:solidFill>
                  <a:srgbClr val="404040"/>
                </a:solidFill>
                <a:latin typeface="Times New Roman"/>
                <a:cs typeface="Times New Roman"/>
              </a:rPr>
              <a:t>,</a:t>
            </a:r>
            <a:endParaRPr sz="1700" dirty="0">
              <a:latin typeface="Times New Roman"/>
              <a:cs typeface="Times New Roman"/>
            </a:endParaRPr>
          </a:p>
          <a:p>
            <a:pPr marL="12700">
              <a:lnSpc>
                <a:spcPct val="100000"/>
              </a:lnSpc>
              <a:spcBef>
                <a:spcPts val="790"/>
              </a:spcBef>
              <a:tabLst>
                <a:tab pos="354965" algn="l"/>
              </a:tabLst>
            </a:pPr>
            <a:r>
              <a:rPr sz="1350" spc="65" dirty="0">
                <a:solidFill>
                  <a:srgbClr val="90C225"/>
                </a:solidFill>
                <a:latin typeface="Lucida Sans Unicode"/>
                <a:cs typeface="Lucida Sans Unicode"/>
              </a:rPr>
              <a:t>▶</a:t>
            </a:r>
            <a:r>
              <a:rPr sz="1350" dirty="0">
                <a:solidFill>
                  <a:srgbClr val="90C225"/>
                </a:solidFill>
                <a:latin typeface="Lucida Sans Unicode"/>
                <a:cs typeface="Lucida Sans Unicode"/>
              </a:rPr>
              <a:t>	</a:t>
            </a:r>
            <a:r>
              <a:rPr sz="1700" i="1" dirty="0">
                <a:solidFill>
                  <a:srgbClr val="404040"/>
                </a:solidFill>
                <a:latin typeface="Times New Roman"/>
                <a:cs typeface="Times New Roman"/>
              </a:rPr>
              <a:t>R</a:t>
            </a:r>
            <a:r>
              <a:rPr sz="1700" dirty="0">
                <a:solidFill>
                  <a:srgbClr val="404040"/>
                </a:solidFill>
                <a:latin typeface="Times New Roman"/>
                <a:cs typeface="Times New Roman"/>
              </a:rPr>
              <a:t>4</a:t>
            </a:r>
            <a:r>
              <a:rPr sz="1700" spc="-25" dirty="0">
                <a:solidFill>
                  <a:srgbClr val="404040"/>
                </a:solidFill>
                <a:latin typeface="Times New Roman"/>
                <a:cs typeface="Times New Roman"/>
              </a:rPr>
              <a:t> </a:t>
            </a:r>
            <a:r>
              <a:rPr sz="1700" dirty="0">
                <a:solidFill>
                  <a:srgbClr val="404040"/>
                </a:solidFill>
                <a:latin typeface="Times New Roman"/>
                <a:cs typeface="Times New Roman"/>
              </a:rPr>
              <a:t>=</a:t>
            </a:r>
            <a:r>
              <a:rPr sz="1700" spc="-10" dirty="0">
                <a:solidFill>
                  <a:srgbClr val="404040"/>
                </a:solidFill>
                <a:latin typeface="Times New Roman"/>
                <a:cs typeface="Times New Roman"/>
              </a:rPr>
              <a:t> </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25" dirty="0">
                <a:solidFill>
                  <a:srgbClr val="404040"/>
                </a:solidFill>
                <a:latin typeface="Times New Roman"/>
                <a:cs typeface="Times New Roman"/>
              </a:rPr>
              <a:t> </a:t>
            </a: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25" dirty="0">
                <a:solidFill>
                  <a:srgbClr val="404040"/>
                </a:solidFill>
                <a:latin typeface="Times New Roman"/>
                <a:cs typeface="Times New Roman"/>
              </a:rPr>
              <a:t> </a:t>
            </a:r>
            <a:r>
              <a:rPr sz="1700" dirty="0">
                <a:solidFill>
                  <a:srgbClr val="404040"/>
                </a:solidFill>
                <a:latin typeface="Times New Roman"/>
                <a:cs typeface="Times New Roman"/>
              </a:rPr>
              <a:t>(3</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(3</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(4</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(4</a:t>
            </a:r>
            <a:r>
              <a:rPr sz="1700" i="1" dirty="0">
                <a:solidFill>
                  <a:srgbClr val="404040"/>
                </a:solidFill>
                <a:latin typeface="Times New Roman"/>
                <a:cs typeface="Times New Roman"/>
              </a:rPr>
              <a:t>,</a:t>
            </a:r>
            <a:r>
              <a:rPr sz="1700" i="1" spc="-25" dirty="0">
                <a:solidFill>
                  <a:srgbClr val="404040"/>
                </a:solidFill>
                <a:latin typeface="Times New Roman"/>
                <a:cs typeface="Times New Roman"/>
              </a:rPr>
              <a:t> </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(4</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spc="-20" dirty="0">
                <a:solidFill>
                  <a:srgbClr val="404040"/>
                </a:solidFill>
                <a:latin typeface="Times New Roman"/>
                <a:cs typeface="Times New Roman"/>
              </a:rPr>
              <a:t>3)}</a:t>
            </a:r>
            <a:r>
              <a:rPr sz="1700" i="1" spc="-20" dirty="0">
                <a:solidFill>
                  <a:srgbClr val="404040"/>
                </a:solidFill>
                <a:latin typeface="Times New Roman"/>
                <a:cs typeface="Times New Roman"/>
              </a:rPr>
              <a:t>,</a:t>
            </a:r>
            <a:endParaRPr sz="1700" dirty="0">
              <a:latin typeface="Times New Roman"/>
              <a:cs typeface="Times New Roman"/>
            </a:endParaRPr>
          </a:p>
          <a:p>
            <a:pPr marL="12700">
              <a:lnSpc>
                <a:spcPct val="100000"/>
              </a:lnSpc>
              <a:spcBef>
                <a:spcPts val="800"/>
              </a:spcBef>
              <a:tabLst>
                <a:tab pos="354965" algn="l"/>
              </a:tabLst>
            </a:pPr>
            <a:r>
              <a:rPr sz="1350" spc="65" dirty="0">
                <a:solidFill>
                  <a:srgbClr val="90C225"/>
                </a:solidFill>
                <a:latin typeface="Lucida Sans Unicode"/>
                <a:cs typeface="Lucida Sans Unicode"/>
              </a:rPr>
              <a:t>▶</a:t>
            </a:r>
            <a:r>
              <a:rPr sz="1350" dirty="0">
                <a:solidFill>
                  <a:srgbClr val="90C225"/>
                </a:solidFill>
                <a:latin typeface="Lucida Sans Unicode"/>
                <a:cs typeface="Lucida Sans Unicode"/>
              </a:rPr>
              <a:t>	</a:t>
            </a:r>
            <a:r>
              <a:rPr sz="1700" i="1" dirty="0">
                <a:solidFill>
                  <a:srgbClr val="404040"/>
                </a:solidFill>
                <a:latin typeface="Times New Roman"/>
                <a:cs typeface="Times New Roman"/>
              </a:rPr>
              <a:t>R</a:t>
            </a:r>
            <a:r>
              <a:rPr sz="1700" dirty="0">
                <a:solidFill>
                  <a:srgbClr val="404040"/>
                </a:solidFill>
                <a:latin typeface="Times New Roman"/>
                <a:cs typeface="Times New Roman"/>
              </a:rPr>
              <a:t>5</a:t>
            </a:r>
            <a:r>
              <a:rPr sz="1700" spc="-15" dirty="0">
                <a:solidFill>
                  <a:srgbClr val="404040"/>
                </a:solidFill>
                <a:latin typeface="Times New Roman"/>
                <a:cs typeface="Times New Roman"/>
              </a:rPr>
              <a:t> </a:t>
            </a:r>
            <a:r>
              <a:rPr sz="1700" dirty="0">
                <a:solidFill>
                  <a:srgbClr val="404040"/>
                </a:solidFill>
                <a:latin typeface="Times New Roman"/>
                <a:cs typeface="Times New Roman"/>
              </a:rPr>
              <a:t>= {(1</a:t>
            </a:r>
            <a:r>
              <a:rPr sz="1700" i="1" dirty="0">
                <a:solidFill>
                  <a:srgbClr val="404040"/>
                </a:solidFill>
                <a:latin typeface="Times New Roman"/>
                <a:cs typeface="Times New Roman"/>
              </a:rPr>
              <a:t>,</a:t>
            </a:r>
            <a:r>
              <a:rPr sz="1700" i="1" spc="-15" dirty="0">
                <a:solidFill>
                  <a:srgbClr val="404040"/>
                </a:solidFill>
                <a:latin typeface="Times New Roman"/>
                <a:cs typeface="Times New Roman"/>
              </a:rPr>
              <a:t> </a:t>
            </a: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5" dirty="0">
                <a:solidFill>
                  <a:srgbClr val="404040"/>
                </a:solidFill>
                <a:latin typeface="Times New Roman"/>
                <a:cs typeface="Times New Roman"/>
              </a:rPr>
              <a:t> </a:t>
            </a:r>
            <a:r>
              <a:rPr sz="1700" dirty="0">
                <a:solidFill>
                  <a:srgbClr val="404040"/>
                </a:solidFill>
                <a:latin typeface="Times New Roman"/>
                <a:cs typeface="Times New Roman"/>
              </a:rPr>
              <a:t>3)</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dirty="0">
                <a:solidFill>
                  <a:srgbClr val="404040"/>
                </a:solidFill>
                <a:latin typeface="Times New Roman"/>
                <a:cs typeface="Times New Roman"/>
              </a:rPr>
              <a:t>4)</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dirty="0">
                <a:solidFill>
                  <a:srgbClr val="404040"/>
                </a:solidFill>
                <a:latin typeface="Times New Roman"/>
                <a:cs typeface="Times New Roman"/>
              </a:rPr>
              <a:t>3)</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dirty="0">
                <a:solidFill>
                  <a:srgbClr val="404040"/>
                </a:solidFill>
                <a:latin typeface="Times New Roman"/>
                <a:cs typeface="Times New Roman"/>
              </a:rPr>
              <a:t>4)</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dirty="0">
                <a:solidFill>
                  <a:srgbClr val="404040"/>
                </a:solidFill>
                <a:latin typeface="Times New Roman"/>
                <a:cs typeface="Times New Roman"/>
              </a:rPr>
              <a:t>(3</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dirty="0">
                <a:solidFill>
                  <a:srgbClr val="404040"/>
                </a:solidFill>
                <a:latin typeface="Times New Roman"/>
                <a:cs typeface="Times New Roman"/>
              </a:rPr>
              <a:t>3)</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dirty="0">
                <a:solidFill>
                  <a:srgbClr val="404040"/>
                </a:solidFill>
                <a:latin typeface="Times New Roman"/>
                <a:cs typeface="Times New Roman"/>
              </a:rPr>
              <a:t>(3</a:t>
            </a:r>
            <a:r>
              <a:rPr sz="1700" i="1" dirty="0">
                <a:solidFill>
                  <a:srgbClr val="404040"/>
                </a:solidFill>
                <a:latin typeface="Times New Roman"/>
                <a:cs typeface="Times New Roman"/>
              </a:rPr>
              <a:t>,</a:t>
            </a:r>
            <a:r>
              <a:rPr sz="1700" i="1" spc="-5" dirty="0">
                <a:solidFill>
                  <a:srgbClr val="404040"/>
                </a:solidFill>
                <a:latin typeface="Times New Roman"/>
                <a:cs typeface="Times New Roman"/>
              </a:rPr>
              <a:t> </a:t>
            </a:r>
            <a:r>
              <a:rPr sz="1700" dirty="0">
                <a:solidFill>
                  <a:srgbClr val="404040"/>
                </a:solidFill>
                <a:latin typeface="Times New Roman"/>
                <a:cs typeface="Times New Roman"/>
              </a:rPr>
              <a:t>4)</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dirty="0">
                <a:solidFill>
                  <a:srgbClr val="404040"/>
                </a:solidFill>
                <a:latin typeface="Times New Roman"/>
                <a:cs typeface="Times New Roman"/>
              </a:rPr>
              <a:t>(4</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spc="-20" dirty="0">
                <a:solidFill>
                  <a:srgbClr val="404040"/>
                </a:solidFill>
                <a:latin typeface="Times New Roman"/>
                <a:cs typeface="Times New Roman"/>
              </a:rPr>
              <a:t>4)}</a:t>
            </a:r>
            <a:r>
              <a:rPr sz="1700" i="1" spc="-20" dirty="0">
                <a:solidFill>
                  <a:srgbClr val="404040"/>
                </a:solidFill>
                <a:latin typeface="Times New Roman"/>
                <a:cs typeface="Times New Roman"/>
              </a:rPr>
              <a:t>,</a:t>
            </a:r>
            <a:endParaRPr sz="1700" dirty="0">
              <a:latin typeface="Times New Roman"/>
              <a:cs typeface="Times New Roman"/>
            </a:endParaRPr>
          </a:p>
          <a:p>
            <a:pPr marL="12700">
              <a:lnSpc>
                <a:spcPct val="100000"/>
              </a:lnSpc>
              <a:spcBef>
                <a:spcPts val="800"/>
              </a:spcBef>
              <a:tabLst>
                <a:tab pos="354965" algn="l"/>
              </a:tabLst>
            </a:pPr>
            <a:r>
              <a:rPr sz="1350" spc="65" dirty="0">
                <a:solidFill>
                  <a:srgbClr val="90C225"/>
                </a:solidFill>
                <a:latin typeface="Lucida Sans Unicode"/>
                <a:cs typeface="Lucida Sans Unicode"/>
              </a:rPr>
              <a:t>▶</a:t>
            </a:r>
            <a:r>
              <a:rPr sz="1350" dirty="0">
                <a:solidFill>
                  <a:srgbClr val="90C225"/>
                </a:solidFill>
                <a:latin typeface="Lucida Sans Unicode"/>
                <a:cs typeface="Lucida Sans Unicode"/>
              </a:rPr>
              <a:t>	</a:t>
            </a:r>
            <a:r>
              <a:rPr sz="1700" i="1" dirty="0">
                <a:solidFill>
                  <a:srgbClr val="404040"/>
                </a:solidFill>
                <a:latin typeface="Times New Roman"/>
                <a:cs typeface="Times New Roman"/>
              </a:rPr>
              <a:t>R</a:t>
            </a:r>
            <a:r>
              <a:rPr sz="1700" dirty="0">
                <a:solidFill>
                  <a:srgbClr val="404040"/>
                </a:solidFill>
                <a:latin typeface="Times New Roman"/>
                <a:cs typeface="Times New Roman"/>
              </a:rPr>
              <a:t>6</a:t>
            </a:r>
            <a:r>
              <a:rPr sz="1700" spc="-20" dirty="0">
                <a:solidFill>
                  <a:srgbClr val="404040"/>
                </a:solidFill>
                <a:latin typeface="Times New Roman"/>
                <a:cs typeface="Times New Roman"/>
              </a:rPr>
              <a:t> </a:t>
            </a:r>
            <a:r>
              <a:rPr sz="1700" dirty="0">
                <a:solidFill>
                  <a:srgbClr val="404040"/>
                </a:solidFill>
                <a:latin typeface="Times New Roman"/>
                <a:cs typeface="Times New Roman"/>
              </a:rPr>
              <a:t>=</a:t>
            </a:r>
            <a:r>
              <a:rPr sz="1700" spc="-10" dirty="0">
                <a:solidFill>
                  <a:srgbClr val="404040"/>
                </a:solidFill>
                <a:latin typeface="Times New Roman"/>
                <a:cs typeface="Times New Roman"/>
              </a:rPr>
              <a:t> </a:t>
            </a:r>
            <a:r>
              <a:rPr sz="1700" dirty="0">
                <a:solidFill>
                  <a:srgbClr val="404040"/>
                </a:solidFill>
                <a:latin typeface="Times New Roman"/>
                <a:cs typeface="Times New Roman"/>
              </a:rPr>
              <a:t>{(3</a:t>
            </a:r>
            <a:r>
              <a:rPr sz="1700" i="1" dirty="0">
                <a:solidFill>
                  <a:srgbClr val="404040"/>
                </a:solidFill>
                <a:latin typeface="Times New Roman"/>
                <a:cs typeface="Times New Roman"/>
              </a:rPr>
              <a:t>,</a:t>
            </a:r>
            <a:r>
              <a:rPr sz="1700" i="1" spc="-25" dirty="0">
                <a:solidFill>
                  <a:srgbClr val="404040"/>
                </a:solidFill>
                <a:latin typeface="Times New Roman"/>
                <a:cs typeface="Times New Roman"/>
              </a:rPr>
              <a:t> </a:t>
            </a:r>
            <a:r>
              <a:rPr sz="1700" spc="-20" dirty="0">
                <a:solidFill>
                  <a:srgbClr val="404040"/>
                </a:solidFill>
                <a:latin typeface="Times New Roman"/>
                <a:cs typeface="Times New Roman"/>
              </a:rPr>
              <a:t>4)}</a:t>
            </a:r>
            <a:r>
              <a:rPr sz="1700" i="1" spc="-20" dirty="0">
                <a:solidFill>
                  <a:srgbClr val="404040"/>
                </a:solidFill>
                <a:latin typeface="Times New Roman"/>
                <a:cs typeface="Times New Roman"/>
              </a:rPr>
              <a:t>.</a:t>
            </a:r>
            <a:endParaRPr sz="1700" dirty="0">
              <a:latin typeface="Times New Roman"/>
              <a:cs typeface="Times New Roman"/>
            </a:endParaRPr>
          </a:p>
          <a:p>
            <a:pPr marL="12700" marR="3201035">
              <a:lnSpc>
                <a:spcPts val="2840"/>
              </a:lnSpc>
              <a:spcBef>
                <a:spcPts val="219"/>
              </a:spcBef>
            </a:pPr>
            <a:r>
              <a:rPr sz="1700" b="1" dirty="0">
                <a:solidFill>
                  <a:srgbClr val="404040"/>
                </a:solidFill>
                <a:latin typeface="Times New Roman"/>
                <a:cs typeface="Times New Roman"/>
              </a:rPr>
              <a:t>Which</a:t>
            </a:r>
            <a:r>
              <a:rPr sz="1700" b="1" spc="-30" dirty="0">
                <a:solidFill>
                  <a:srgbClr val="404040"/>
                </a:solidFill>
                <a:latin typeface="Times New Roman"/>
                <a:cs typeface="Times New Roman"/>
              </a:rPr>
              <a:t> </a:t>
            </a:r>
            <a:r>
              <a:rPr sz="1700" b="1" dirty="0">
                <a:solidFill>
                  <a:srgbClr val="404040"/>
                </a:solidFill>
                <a:latin typeface="Times New Roman"/>
                <a:cs typeface="Times New Roman"/>
              </a:rPr>
              <a:t>of</a:t>
            </a:r>
            <a:r>
              <a:rPr sz="1700" b="1" spc="-40" dirty="0">
                <a:solidFill>
                  <a:srgbClr val="404040"/>
                </a:solidFill>
                <a:latin typeface="Times New Roman"/>
                <a:cs typeface="Times New Roman"/>
              </a:rPr>
              <a:t> </a:t>
            </a:r>
            <a:r>
              <a:rPr sz="1700" b="1" dirty="0">
                <a:solidFill>
                  <a:srgbClr val="404040"/>
                </a:solidFill>
                <a:latin typeface="Times New Roman"/>
                <a:cs typeface="Times New Roman"/>
              </a:rPr>
              <a:t>these</a:t>
            </a:r>
            <a:r>
              <a:rPr sz="1700" b="1" spc="-40" dirty="0">
                <a:solidFill>
                  <a:srgbClr val="404040"/>
                </a:solidFill>
                <a:latin typeface="Times New Roman"/>
                <a:cs typeface="Times New Roman"/>
              </a:rPr>
              <a:t> </a:t>
            </a:r>
            <a:r>
              <a:rPr sz="1700" b="1" dirty="0">
                <a:solidFill>
                  <a:srgbClr val="404040"/>
                </a:solidFill>
                <a:latin typeface="Times New Roman"/>
                <a:cs typeface="Times New Roman"/>
              </a:rPr>
              <a:t>relations</a:t>
            </a:r>
            <a:r>
              <a:rPr sz="1700" b="1" spc="-40" dirty="0">
                <a:solidFill>
                  <a:srgbClr val="404040"/>
                </a:solidFill>
                <a:latin typeface="Times New Roman"/>
                <a:cs typeface="Times New Roman"/>
              </a:rPr>
              <a:t> </a:t>
            </a:r>
            <a:r>
              <a:rPr sz="1700" b="1" dirty="0">
                <a:solidFill>
                  <a:srgbClr val="404040"/>
                </a:solidFill>
                <a:latin typeface="Times New Roman"/>
                <a:cs typeface="Times New Roman"/>
              </a:rPr>
              <a:t>are</a:t>
            </a:r>
            <a:r>
              <a:rPr sz="1700" b="1" spc="-50" dirty="0">
                <a:solidFill>
                  <a:srgbClr val="404040"/>
                </a:solidFill>
                <a:latin typeface="Times New Roman"/>
                <a:cs typeface="Times New Roman"/>
              </a:rPr>
              <a:t> </a:t>
            </a:r>
            <a:r>
              <a:rPr sz="1700" b="1" spc="-10" dirty="0">
                <a:solidFill>
                  <a:srgbClr val="404040"/>
                </a:solidFill>
                <a:latin typeface="Times New Roman"/>
                <a:cs typeface="Times New Roman"/>
              </a:rPr>
              <a:t>reflexive? </a:t>
            </a:r>
            <a:r>
              <a:rPr sz="1700" b="1" u="sng" spc="-10" dirty="0">
                <a:solidFill>
                  <a:srgbClr val="6F2F9F"/>
                </a:solidFill>
                <a:uFill>
                  <a:solidFill>
                    <a:srgbClr val="6F2F9F"/>
                  </a:solidFill>
                </a:uFill>
                <a:latin typeface="Times New Roman"/>
                <a:cs typeface="Times New Roman"/>
              </a:rPr>
              <a:t>SOLUTION:</a:t>
            </a:r>
            <a:endParaRPr sz="1700" dirty="0">
              <a:latin typeface="Times New Roman"/>
              <a:cs typeface="Times New Roman"/>
            </a:endParaRPr>
          </a:p>
          <a:p>
            <a:pPr marL="355600" marR="20320" indent="-342900">
              <a:lnSpc>
                <a:spcPts val="1839"/>
              </a:lnSpc>
              <a:spcBef>
                <a:spcPts val="795"/>
              </a:spcBef>
              <a:tabLst>
                <a:tab pos="354965" algn="l"/>
              </a:tabLst>
            </a:pPr>
            <a:r>
              <a:rPr sz="1350" spc="65" dirty="0">
                <a:solidFill>
                  <a:srgbClr val="90C225"/>
                </a:solidFill>
                <a:latin typeface="Lucida Sans Unicode"/>
                <a:cs typeface="Lucida Sans Unicode"/>
              </a:rPr>
              <a:t>▶</a:t>
            </a:r>
            <a:r>
              <a:rPr sz="1350" dirty="0">
                <a:solidFill>
                  <a:srgbClr val="90C225"/>
                </a:solidFill>
                <a:latin typeface="Lucida Sans Unicode"/>
                <a:cs typeface="Lucida Sans Unicode"/>
              </a:rPr>
              <a:t>	</a:t>
            </a:r>
            <a:r>
              <a:rPr sz="1700" dirty="0">
                <a:solidFill>
                  <a:srgbClr val="404040"/>
                </a:solidFill>
                <a:latin typeface="Times New Roman"/>
                <a:cs typeface="Times New Roman"/>
              </a:rPr>
              <a:t>The</a:t>
            </a:r>
            <a:r>
              <a:rPr sz="1700" spc="-30" dirty="0">
                <a:solidFill>
                  <a:srgbClr val="404040"/>
                </a:solidFill>
                <a:latin typeface="Times New Roman"/>
                <a:cs typeface="Times New Roman"/>
              </a:rPr>
              <a:t> </a:t>
            </a:r>
            <a:r>
              <a:rPr sz="1700" dirty="0">
                <a:solidFill>
                  <a:srgbClr val="404040"/>
                </a:solidFill>
                <a:latin typeface="Times New Roman"/>
                <a:cs typeface="Times New Roman"/>
              </a:rPr>
              <a:t>relations</a:t>
            </a:r>
            <a:r>
              <a:rPr sz="1700" spc="-20" dirty="0">
                <a:solidFill>
                  <a:srgbClr val="404040"/>
                </a:solidFill>
                <a:latin typeface="Times New Roman"/>
                <a:cs typeface="Times New Roman"/>
              </a:rPr>
              <a:t> </a:t>
            </a:r>
            <a:r>
              <a:rPr sz="1700" b="1" dirty="0">
                <a:solidFill>
                  <a:srgbClr val="00AFEF"/>
                </a:solidFill>
                <a:latin typeface="Times New Roman"/>
                <a:cs typeface="Times New Roman"/>
              </a:rPr>
              <a:t>R3</a:t>
            </a:r>
            <a:r>
              <a:rPr sz="1700" b="1" spc="-20" dirty="0">
                <a:solidFill>
                  <a:srgbClr val="00AFEF"/>
                </a:solidFill>
                <a:latin typeface="Times New Roman"/>
                <a:cs typeface="Times New Roman"/>
              </a:rPr>
              <a:t> </a:t>
            </a:r>
            <a:r>
              <a:rPr sz="1700" b="1" dirty="0">
                <a:solidFill>
                  <a:srgbClr val="00AFEF"/>
                </a:solidFill>
                <a:latin typeface="Times New Roman"/>
                <a:cs typeface="Times New Roman"/>
              </a:rPr>
              <a:t>and</a:t>
            </a:r>
            <a:r>
              <a:rPr sz="1700" b="1" spc="-15" dirty="0">
                <a:solidFill>
                  <a:srgbClr val="00AFEF"/>
                </a:solidFill>
                <a:latin typeface="Times New Roman"/>
                <a:cs typeface="Times New Roman"/>
              </a:rPr>
              <a:t> </a:t>
            </a:r>
            <a:r>
              <a:rPr sz="1700" b="1" dirty="0">
                <a:solidFill>
                  <a:srgbClr val="00AFEF"/>
                </a:solidFill>
                <a:latin typeface="Times New Roman"/>
                <a:cs typeface="Times New Roman"/>
              </a:rPr>
              <a:t>R5</a:t>
            </a:r>
            <a:r>
              <a:rPr sz="1700" b="1" spc="-15" dirty="0">
                <a:solidFill>
                  <a:srgbClr val="00AFEF"/>
                </a:solidFill>
                <a:latin typeface="Times New Roman"/>
                <a:cs typeface="Times New Roman"/>
              </a:rPr>
              <a:t> </a:t>
            </a:r>
            <a:r>
              <a:rPr sz="1700" dirty="0">
                <a:solidFill>
                  <a:srgbClr val="404040"/>
                </a:solidFill>
                <a:latin typeface="Times New Roman"/>
                <a:cs typeface="Times New Roman"/>
              </a:rPr>
              <a:t>are</a:t>
            </a:r>
            <a:r>
              <a:rPr sz="1700" spc="-35" dirty="0">
                <a:solidFill>
                  <a:srgbClr val="404040"/>
                </a:solidFill>
                <a:latin typeface="Times New Roman"/>
                <a:cs typeface="Times New Roman"/>
              </a:rPr>
              <a:t> </a:t>
            </a:r>
            <a:r>
              <a:rPr sz="1700" b="1" dirty="0">
                <a:solidFill>
                  <a:srgbClr val="00AFEF"/>
                </a:solidFill>
                <a:latin typeface="Times New Roman"/>
                <a:cs typeface="Times New Roman"/>
              </a:rPr>
              <a:t>reflexive</a:t>
            </a:r>
            <a:r>
              <a:rPr sz="1700" b="1" spc="-30" dirty="0">
                <a:solidFill>
                  <a:srgbClr val="00AFEF"/>
                </a:solidFill>
                <a:latin typeface="Times New Roman"/>
                <a:cs typeface="Times New Roman"/>
              </a:rPr>
              <a:t> </a:t>
            </a:r>
            <a:r>
              <a:rPr sz="1700" dirty="0">
                <a:solidFill>
                  <a:srgbClr val="404040"/>
                </a:solidFill>
                <a:latin typeface="Times New Roman"/>
                <a:cs typeface="Times New Roman"/>
              </a:rPr>
              <a:t>because</a:t>
            </a:r>
            <a:r>
              <a:rPr sz="1700" spc="-40" dirty="0">
                <a:solidFill>
                  <a:srgbClr val="404040"/>
                </a:solidFill>
                <a:latin typeface="Times New Roman"/>
                <a:cs typeface="Times New Roman"/>
              </a:rPr>
              <a:t> </a:t>
            </a:r>
            <a:r>
              <a:rPr sz="1700" dirty="0">
                <a:solidFill>
                  <a:srgbClr val="404040"/>
                </a:solidFill>
                <a:latin typeface="Times New Roman"/>
                <a:cs typeface="Times New Roman"/>
              </a:rPr>
              <a:t>they</a:t>
            </a:r>
            <a:r>
              <a:rPr sz="1700" spc="-30" dirty="0">
                <a:solidFill>
                  <a:srgbClr val="404040"/>
                </a:solidFill>
                <a:latin typeface="Times New Roman"/>
                <a:cs typeface="Times New Roman"/>
              </a:rPr>
              <a:t> </a:t>
            </a:r>
            <a:r>
              <a:rPr sz="1700" dirty="0">
                <a:solidFill>
                  <a:srgbClr val="404040"/>
                </a:solidFill>
                <a:latin typeface="Times New Roman"/>
                <a:cs typeface="Times New Roman"/>
              </a:rPr>
              <a:t>both</a:t>
            </a:r>
            <a:r>
              <a:rPr sz="1700" spc="-20" dirty="0">
                <a:solidFill>
                  <a:srgbClr val="404040"/>
                </a:solidFill>
                <a:latin typeface="Times New Roman"/>
                <a:cs typeface="Times New Roman"/>
              </a:rPr>
              <a:t> </a:t>
            </a:r>
            <a:r>
              <a:rPr sz="1700" dirty="0">
                <a:solidFill>
                  <a:srgbClr val="404040"/>
                </a:solidFill>
                <a:latin typeface="Times New Roman"/>
                <a:cs typeface="Times New Roman"/>
              </a:rPr>
              <a:t>contain</a:t>
            </a:r>
            <a:r>
              <a:rPr sz="1700" spc="-30" dirty="0">
                <a:solidFill>
                  <a:srgbClr val="404040"/>
                </a:solidFill>
                <a:latin typeface="Times New Roman"/>
                <a:cs typeface="Times New Roman"/>
              </a:rPr>
              <a:t> </a:t>
            </a:r>
            <a:r>
              <a:rPr sz="1700" dirty="0">
                <a:solidFill>
                  <a:srgbClr val="404040"/>
                </a:solidFill>
                <a:latin typeface="Times New Roman"/>
                <a:cs typeface="Times New Roman"/>
              </a:rPr>
              <a:t>all</a:t>
            </a:r>
            <a:r>
              <a:rPr sz="1700" spc="-15" dirty="0">
                <a:solidFill>
                  <a:srgbClr val="404040"/>
                </a:solidFill>
                <a:latin typeface="Times New Roman"/>
                <a:cs typeface="Times New Roman"/>
              </a:rPr>
              <a:t> </a:t>
            </a:r>
            <a:r>
              <a:rPr sz="1700" spc="-10" dirty="0">
                <a:solidFill>
                  <a:srgbClr val="404040"/>
                </a:solidFill>
                <a:latin typeface="Times New Roman"/>
                <a:cs typeface="Times New Roman"/>
              </a:rPr>
              <a:t>pairs </a:t>
            </a:r>
            <a:r>
              <a:rPr sz="1700" dirty="0">
                <a:solidFill>
                  <a:srgbClr val="404040"/>
                </a:solidFill>
                <a:latin typeface="Times New Roman"/>
                <a:cs typeface="Times New Roman"/>
              </a:rPr>
              <a:t>of</a:t>
            </a:r>
            <a:r>
              <a:rPr sz="1700" spc="-20" dirty="0">
                <a:solidFill>
                  <a:srgbClr val="404040"/>
                </a:solidFill>
                <a:latin typeface="Times New Roman"/>
                <a:cs typeface="Times New Roman"/>
              </a:rPr>
              <a:t> </a:t>
            </a:r>
            <a:r>
              <a:rPr sz="1700" dirty="0">
                <a:solidFill>
                  <a:srgbClr val="404040"/>
                </a:solidFill>
                <a:latin typeface="Times New Roman"/>
                <a:cs typeface="Times New Roman"/>
              </a:rPr>
              <a:t>the</a:t>
            </a:r>
            <a:r>
              <a:rPr sz="1700" spc="-15" dirty="0">
                <a:solidFill>
                  <a:srgbClr val="404040"/>
                </a:solidFill>
                <a:latin typeface="Times New Roman"/>
                <a:cs typeface="Times New Roman"/>
              </a:rPr>
              <a:t> </a:t>
            </a:r>
            <a:r>
              <a:rPr sz="1700" dirty="0">
                <a:solidFill>
                  <a:srgbClr val="404040"/>
                </a:solidFill>
                <a:latin typeface="Times New Roman"/>
                <a:cs typeface="Times New Roman"/>
              </a:rPr>
              <a:t>form</a:t>
            </a:r>
            <a:r>
              <a:rPr sz="1700" spc="-15" dirty="0">
                <a:solidFill>
                  <a:srgbClr val="404040"/>
                </a:solidFill>
                <a:latin typeface="Times New Roman"/>
                <a:cs typeface="Times New Roman"/>
              </a:rPr>
              <a:t> </a:t>
            </a:r>
            <a:r>
              <a:rPr sz="1700" dirty="0">
                <a:solidFill>
                  <a:srgbClr val="404040"/>
                </a:solidFill>
                <a:latin typeface="Times New Roman"/>
                <a:cs typeface="Times New Roman"/>
              </a:rPr>
              <a:t>(</a:t>
            </a:r>
            <a:r>
              <a:rPr sz="1700" i="1" dirty="0">
                <a:solidFill>
                  <a:srgbClr val="404040"/>
                </a:solidFill>
                <a:latin typeface="Times New Roman"/>
                <a:cs typeface="Times New Roman"/>
              </a:rPr>
              <a:t>a,</a:t>
            </a:r>
            <a:r>
              <a:rPr sz="1700" i="1" spc="-20" dirty="0">
                <a:solidFill>
                  <a:srgbClr val="404040"/>
                </a:solidFill>
                <a:latin typeface="Times New Roman"/>
                <a:cs typeface="Times New Roman"/>
              </a:rPr>
              <a:t> </a:t>
            </a:r>
            <a:r>
              <a:rPr sz="1700" i="1" dirty="0">
                <a:solidFill>
                  <a:srgbClr val="404040"/>
                </a:solidFill>
                <a:latin typeface="Times New Roman"/>
                <a:cs typeface="Times New Roman"/>
              </a:rPr>
              <a:t>a</a:t>
            </a:r>
            <a:r>
              <a:rPr sz="1700" dirty="0">
                <a:solidFill>
                  <a:srgbClr val="404040"/>
                </a:solidFill>
                <a:latin typeface="Times New Roman"/>
                <a:cs typeface="Times New Roman"/>
              </a:rPr>
              <a:t>),</a:t>
            </a:r>
            <a:r>
              <a:rPr sz="1700" spc="-15" dirty="0">
                <a:solidFill>
                  <a:srgbClr val="404040"/>
                </a:solidFill>
                <a:latin typeface="Times New Roman"/>
                <a:cs typeface="Times New Roman"/>
              </a:rPr>
              <a:t> </a:t>
            </a:r>
            <a:r>
              <a:rPr sz="1700" spc="-20" dirty="0">
                <a:solidFill>
                  <a:srgbClr val="404040"/>
                </a:solidFill>
                <a:latin typeface="Times New Roman"/>
                <a:cs typeface="Times New Roman"/>
              </a:rPr>
              <a:t>namely, </a:t>
            </a: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1),</a:t>
            </a:r>
            <a:r>
              <a:rPr sz="1700" spc="-15" dirty="0">
                <a:solidFill>
                  <a:srgbClr val="404040"/>
                </a:solidFill>
                <a:latin typeface="Times New Roman"/>
                <a:cs typeface="Times New Roman"/>
              </a:rPr>
              <a:t> </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15" dirty="0">
                <a:solidFill>
                  <a:srgbClr val="404040"/>
                </a:solidFill>
                <a:latin typeface="Times New Roman"/>
                <a:cs typeface="Times New Roman"/>
              </a:rPr>
              <a:t> </a:t>
            </a:r>
            <a:r>
              <a:rPr sz="1700" dirty="0">
                <a:solidFill>
                  <a:srgbClr val="404040"/>
                </a:solidFill>
                <a:latin typeface="Times New Roman"/>
                <a:cs typeface="Times New Roman"/>
              </a:rPr>
              <a:t>2),</a:t>
            </a:r>
            <a:r>
              <a:rPr sz="1700" spc="-20" dirty="0">
                <a:solidFill>
                  <a:srgbClr val="404040"/>
                </a:solidFill>
                <a:latin typeface="Times New Roman"/>
                <a:cs typeface="Times New Roman"/>
              </a:rPr>
              <a:t> </a:t>
            </a:r>
            <a:r>
              <a:rPr sz="1700" dirty="0">
                <a:solidFill>
                  <a:srgbClr val="404040"/>
                </a:solidFill>
                <a:latin typeface="Times New Roman"/>
                <a:cs typeface="Times New Roman"/>
              </a:rPr>
              <a:t>(3</a:t>
            </a:r>
            <a:r>
              <a:rPr sz="1700" i="1" dirty="0">
                <a:solidFill>
                  <a:srgbClr val="404040"/>
                </a:solidFill>
                <a:latin typeface="Times New Roman"/>
                <a:cs typeface="Times New Roman"/>
              </a:rPr>
              <a:t>,</a:t>
            </a:r>
            <a:r>
              <a:rPr sz="1700" i="1" spc="-15" dirty="0">
                <a:solidFill>
                  <a:srgbClr val="404040"/>
                </a:solidFill>
                <a:latin typeface="Times New Roman"/>
                <a:cs typeface="Times New Roman"/>
              </a:rPr>
              <a:t> </a:t>
            </a:r>
            <a:r>
              <a:rPr sz="1700" dirty="0">
                <a:solidFill>
                  <a:srgbClr val="404040"/>
                </a:solidFill>
                <a:latin typeface="Times New Roman"/>
                <a:cs typeface="Times New Roman"/>
              </a:rPr>
              <a:t>3),</a:t>
            </a:r>
            <a:r>
              <a:rPr sz="1700" spc="-15" dirty="0">
                <a:solidFill>
                  <a:srgbClr val="404040"/>
                </a:solidFill>
                <a:latin typeface="Times New Roman"/>
                <a:cs typeface="Times New Roman"/>
              </a:rPr>
              <a:t> </a:t>
            </a:r>
            <a:r>
              <a:rPr sz="1700" dirty="0">
                <a:solidFill>
                  <a:srgbClr val="404040"/>
                </a:solidFill>
                <a:latin typeface="Times New Roman"/>
                <a:cs typeface="Times New Roman"/>
              </a:rPr>
              <a:t>and</a:t>
            </a:r>
            <a:r>
              <a:rPr sz="1700" spc="-25" dirty="0">
                <a:solidFill>
                  <a:srgbClr val="404040"/>
                </a:solidFill>
                <a:latin typeface="Times New Roman"/>
                <a:cs typeface="Times New Roman"/>
              </a:rPr>
              <a:t> </a:t>
            </a:r>
            <a:r>
              <a:rPr sz="1700" dirty="0">
                <a:solidFill>
                  <a:srgbClr val="404040"/>
                </a:solidFill>
                <a:latin typeface="Times New Roman"/>
                <a:cs typeface="Times New Roman"/>
              </a:rPr>
              <a:t>(4</a:t>
            </a:r>
            <a:r>
              <a:rPr sz="1700" i="1" dirty="0">
                <a:solidFill>
                  <a:srgbClr val="404040"/>
                </a:solidFill>
                <a:latin typeface="Times New Roman"/>
                <a:cs typeface="Times New Roman"/>
              </a:rPr>
              <a:t>,</a:t>
            </a:r>
            <a:r>
              <a:rPr sz="1700" i="1" spc="-15" dirty="0">
                <a:solidFill>
                  <a:srgbClr val="404040"/>
                </a:solidFill>
                <a:latin typeface="Times New Roman"/>
                <a:cs typeface="Times New Roman"/>
              </a:rPr>
              <a:t> </a:t>
            </a:r>
            <a:r>
              <a:rPr sz="1700" spc="-25" dirty="0">
                <a:solidFill>
                  <a:srgbClr val="404040"/>
                </a:solidFill>
                <a:latin typeface="Times New Roman"/>
                <a:cs typeface="Times New Roman"/>
              </a:rPr>
              <a:t>4).</a:t>
            </a:r>
            <a:endParaRPr sz="1700" dirty="0">
              <a:latin typeface="Times New Roman"/>
              <a:cs typeface="Times New Roman"/>
            </a:endParaRPr>
          </a:p>
          <a:p>
            <a:pPr marL="355600" marR="233679" indent="-342900" algn="just">
              <a:lnSpc>
                <a:spcPts val="1839"/>
              </a:lnSpc>
              <a:spcBef>
                <a:spcPts val="985"/>
              </a:spcBef>
            </a:pPr>
            <a:r>
              <a:rPr sz="1350" spc="114" dirty="0">
                <a:solidFill>
                  <a:srgbClr val="90C225"/>
                </a:solidFill>
                <a:latin typeface="Lucida Sans Unicode"/>
                <a:cs typeface="Lucida Sans Unicode"/>
              </a:rPr>
              <a:t>▶</a:t>
            </a:r>
            <a:r>
              <a:rPr sz="1350" spc="490" dirty="0">
                <a:solidFill>
                  <a:srgbClr val="90C225"/>
                </a:solidFill>
                <a:latin typeface="Lucida Sans Unicode"/>
                <a:cs typeface="Lucida Sans Unicode"/>
              </a:rPr>
              <a:t>  </a:t>
            </a:r>
            <a:r>
              <a:rPr sz="1700" dirty="0">
                <a:solidFill>
                  <a:srgbClr val="404040"/>
                </a:solidFill>
                <a:latin typeface="Times New Roman"/>
                <a:cs typeface="Times New Roman"/>
              </a:rPr>
              <a:t>The</a:t>
            </a:r>
            <a:r>
              <a:rPr sz="1700" spc="-20" dirty="0">
                <a:solidFill>
                  <a:srgbClr val="404040"/>
                </a:solidFill>
                <a:latin typeface="Times New Roman"/>
                <a:cs typeface="Times New Roman"/>
              </a:rPr>
              <a:t> </a:t>
            </a:r>
            <a:r>
              <a:rPr sz="1700" dirty="0">
                <a:solidFill>
                  <a:srgbClr val="404040"/>
                </a:solidFill>
                <a:latin typeface="Times New Roman"/>
                <a:cs typeface="Times New Roman"/>
              </a:rPr>
              <a:t>other</a:t>
            </a:r>
            <a:r>
              <a:rPr sz="1700" spc="-30" dirty="0">
                <a:solidFill>
                  <a:srgbClr val="404040"/>
                </a:solidFill>
                <a:latin typeface="Times New Roman"/>
                <a:cs typeface="Times New Roman"/>
              </a:rPr>
              <a:t> </a:t>
            </a:r>
            <a:r>
              <a:rPr sz="1700" dirty="0">
                <a:solidFill>
                  <a:srgbClr val="404040"/>
                </a:solidFill>
                <a:latin typeface="Times New Roman"/>
                <a:cs typeface="Times New Roman"/>
              </a:rPr>
              <a:t>relations</a:t>
            </a:r>
            <a:r>
              <a:rPr sz="1700" spc="-25" dirty="0">
                <a:solidFill>
                  <a:srgbClr val="404040"/>
                </a:solidFill>
                <a:latin typeface="Times New Roman"/>
                <a:cs typeface="Times New Roman"/>
              </a:rPr>
              <a:t> </a:t>
            </a:r>
            <a:r>
              <a:rPr sz="1700" dirty="0">
                <a:solidFill>
                  <a:srgbClr val="404040"/>
                </a:solidFill>
                <a:latin typeface="Times New Roman"/>
                <a:cs typeface="Times New Roman"/>
              </a:rPr>
              <a:t>are</a:t>
            </a:r>
            <a:r>
              <a:rPr sz="1700" spc="-10" dirty="0">
                <a:solidFill>
                  <a:srgbClr val="404040"/>
                </a:solidFill>
                <a:latin typeface="Times New Roman"/>
                <a:cs typeface="Times New Roman"/>
              </a:rPr>
              <a:t> </a:t>
            </a:r>
            <a:r>
              <a:rPr sz="1700" b="1" dirty="0">
                <a:solidFill>
                  <a:srgbClr val="E6B81E"/>
                </a:solidFill>
                <a:latin typeface="Times New Roman"/>
                <a:cs typeface="Times New Roman"/>
              </a:rPr>
              <a:t>not</a:t>
            </a:r>
            <a:r>
              <a:rPr sz="1700" b="1" spc="-20" dirty="0">
                <a:solidFill>
                  <a:srgbClr val="E6B81E"/>
                </a:solidFill>
                <a:latin typeface="Times New Roman"/>
                <a:cs typeface="Times New Roman"/>
              </a:rPr>
              <a:t> </a:t>
            </a:r>
            <a:r>
              <a:rPr sz="1700" b="1" dirty="0">
                <a:solidFill>
                  <a:srgbClr val="E6B81E"/>
                </a:solidFill>
                <a:latin typeface="Times New Roman"/>
                <a:cs typeface="Times New Roman"/>
              </a:rPr>
              <a:t>reflexive</a:t>
            </a:r>
            <a:r>
              <a:rPr sz="1700" b="1" spc="-30" dirty="0">
                <a:solidFill>
                  <a:srgbClr val="E6B81E"/>
                </a:solidFill>
                <a:latin typeface="Times New Roman"/>
                <a:cs typeface="Times New Roman"/>
              </a:rPr>
              <a:t> </a:t>
            </a:r>
            <a:r>
              <a:rPr sz="1700" dirty="0">
                <a:solidFill>
                  <a:srgbClr val="404040"/>
                </a:solidFill>
                <a:latin typeface="Times New Roman"/>
                <a:cs typeface="Times New Roman"/>
              </a:rPr>
              <a:t>because</a:t>
            </a:r>
            <a:r>
              <a:rPr sz="1700" spc="-30" dirty="0">
                <a:solidFill>
                  <a:srgbClr val="404040"/>
                </a:solidFill>
                <a:latin typeface="Times New Roman"/>
                <a:cs typeface="Times New Roman"/>
              </a:rPr>
              <a:t> </a:t>
            </a:r>
            <a:r>
              <a:rPr sz="1700" dirty="0">
                <a:solidFill>
                  <a:srgbClr val="404040"/>
                </a:solidFill>
                <a:latin typeface="Times New Roman"/>
                <a:cs typeface="Times New Roman"/>
              </a:rPr>
              <a:t>they</a:t>
            </a:r>
            <a:r>
              <a:rPr sz="1700" spc="-20" dirty="0">
                <a:solidFill>
                  <a:srgbClr val="404040"/>
                </a:solidFill>
                <a:latin typeface="Times New Roman"/>
                <a:cs typeface="Times New Roman"/>
              </a:rPr>
              <a:t> </a:t>
            </a:r>
            <a:r>
              <a:rPr sz="1700" dirty="0">
                <a:solidFill>
                  <a:srgbClr val="404040"/>
                </a:solidFill>
                <a:latin typeface="Times New Roman"/>
                <a:cs typeface="Times New Roman"/>
              </a:rPr>
              <a:t>do</a:t>
            </a:r>
            <a:r>
              <a:rPr sz="1700" spc="-15" dirty="0">
                <a:solidFill>
                  <a:srgbClr val="404040"/>
                </a:solidFill>
                <a:latin typeface="Times New Roman"/>
                <a:cs typeface="Times New Roman"/>
              </a:rPr>
              <a:t> </a:t>
            </a:r>
            <a:r>
              <a:rPr sz="1700" dirty="0">
                <a:solidFill>
                  <a:srgbClr val="404040"/>
                </a:solidFill>
                <a:latin typeface="Times New Roman"/>
                <a:cs typeface="Times New Roman"/>
              </a:rPr>
              <a:t>not</a:t>
            </a:r>
            <a:r>
              <a:rPr sz="1700" spc="-15" dirty="0">
                <a:solidFill>
                  <a:srgbClr val="404040"/>
                </a:solidFill>
                <a:latin typeface="Times New Roman"/>
                <a:cs typeface="Times New Roman"/>
              </a:rPr>
              <a:t> </a:t>
            </a:r>
            <a:r>
              <a:rPr sz="1700" dirty="0">
                <a:solidFill>
                  <a:srgbClr val="404040"/>
                </a:solidFill>
                <a:latin typeface="Times New Roman"/>
                <a:cs typeface="Times New Roman"/>
              </a:rPr>
              <a:t>contain</a:t>
            </a:r>
            <a:r>
              <a:rPr sz="1700" spc="-25" dirty="0">
                <a:solidFill>
                  <a:srgbClr val="404040"/>
                </a:solidFill>
                <a:latin typeface="Times New Roman"/>
                <a:cs typeface="Times New Roman"/>
              </a:rPr>
              <a:t> </a:t>
            </a:r>
            <a:r>
              <a:rPr sz="1700" dirty="0">
                <a:solidFill>
                  <a:srgbClr val="404040"/>
                </a:solidFill>
                <a:latin typeface="Times New Roman"/>
                <a:cs typeface="Times New Roman"/>
              </a:rPr>
              <a:t>all</a:t>
            </a:r>
            <a:r>
              <a:rPr sz="1700" spc="-15" dirty="0">
                <a:solidFill>
                  <a:srgbClr val="404040"/>
                </a:solidFill>
                <a:latin typeface="Times New Roman"/>
                <a:cs typeface="Times New Roman"/>
              </a:rPr>
              <a:t> </a:t>
            </a:r>
            <a:r>
              <a:rPr sz="1700" spc="-25" dirty="0">
                <a:solidFill>
                  <a:srgbClr val="404040"/>
                </a:solidFill>
                <a:latin typeface="Times New Roman"/>
                <a:cs typeface="Times New Roman"/>
              </a:rPr>
              <a:t>of </a:t>
            </a:r>
            <a:r>
              <a:rPr sz="1700" dirty="0">
                <a:solidFill>
                  <a:srgbClr val="404040"/>
                </a:solidFill>
                <a:latin typeface="Times New Roman"/>
                <a:cs typeface="Times New Roman"/>
              </a:rPr>
              <a:t>these</a:t>
            </a:r>
            <a:r>
              <a:rPr sz="1700" spc="-25" dirty="0">
                <a:solidFill>
                  <a:srgbClr val="404040"/>
                </a:solidFill>
                <a:latin typeface="Times New Roman"/>
                <a:cs typeface="Times New Roman"/>
              </a:rPr>
              <a:t> </a:t>
            </a:r>
            <a:r>
              <a:rPr sz="1700" dirty="0">
                <a:solidFill>
                  <a:srgbClr val="404040"/>
                </a:solidFill>
                <a:latin typeface="Times New Roman"/>
                <a:cs typeface="Times New Roman"/>
              </a:rPr>
              <a:t>ordered</a:t>
            </a:r>
            <a:r>
              <a:rPr sz="1700" spc="-35" dirty="0">
                <a:solidFill>
                  <a:srgbClr val="404040"/>
                </a:solidFill>
                <a:latin typeface="Times New Roman"/>
                <a:cs typeface="Times New Roman"/>
              </a:rPr>
              <a:t> </a:t>
            </a:r>
            <a:r>
              <a:rPr sz="1700" dirty="0">
                <a:solidFill>
                  <a:srgbClr val="404040"/>
                </a:solidFill>
                <a:latin typeface="Times New Roman"/>
                <a:cs typeface="Times New Roman"/>
              </a:rPr>
              <a:t>pairs.</a:t>
            </a:r>
            <a:r>
              <a:rPr sz="1700" spc="-15" dirty="0">
                <a:solidFill>
                  <a:srgbClr val="404040"/>
                </a:solidFill>
                <a:latin typeface="Times New Roman"/>
                <a:cs typeface="Times New Roman"/>
              </a:rPr>
              <a:t> </a:t>
            </a:r>
            <a:r>
              <a:rPr sz="1700" dirty="0">
                <a:solidFill>
                  <a:srgbClr val="404040"/>
                </a:solidFill>
                <a:latin typeface="Times New Roman"/>
                <a:cs typeface="Times New Roman"/>
              </a:rPr>
              <a:t>In</a:t>
            </a:r>
            <a:r>
              <a:rPr sz="1700" spc="-20" dirty="0">
                <a:solidFill>
                  <a:srgbClr val="404040"/>
                </a:solidFill>
                <a:latin typeface="Times New Roman"/>
                <a:cs typeface="Times New Roman"/>
              </a:rPr>
              <a:t> </a:t>
            </a:r>
            <a:r>
              <a:rPr sz="1700" spc="-10" dirty="0">
                <a:solidFill>
                  <a:srgbClr val="404040"/>
                </a:solidFill>
                <a:latin typeface="Times New Roman"/>
                <a:cs typeface="Times New Roman"/>
              </a:rPr>
              <a:t>particular,</a:t>
            </a:r>
            <a:r>
              <a:rPr sz="1700" spc="-20" dirty="0">
                <a:solidFill>
                  <a:srgbClr val="404040"/>
                </a:solidFill>
                <a:latin typeface="Times New Roman"/>
                <a:cs typeface="Times New Roman"/>
              </a:rPr>
              <a:t> </a:t>
            </a:r>
            <a:r>
              <a:rPr sz="1700" b="1" dirty="0">
                <a:solidFill>
                  <a:srgbClr val="E6B81E"/>
                </a:solidFill>
                <a:latin typeface="Times New Roman"/>
                <a:cs typeface="Times New Roman"/>
              </a:rPr>
              <a:t>R1,</a:t>
            </a:r>
            <a:r>
              <a:rPr sz="1700" b="1" spc="-15" dirty="0">
                <a:solidFill>
                  <a:srgbClr val="E6B81E"/>
                </a:solidFill>
                <a:latin typeface="Times New Roman"/>
                <a:cs typeface="Times New Roman"/>
              </a:rPr>
              <a:t> </a:t>
            </a:r>
            <a:r>
              <a:rPr sz="1700" b="1" dirty="0">
                <a:solidFill>
                  <a:srgbClr val="E6B81E"/>
                </a:solidFill>
                <a:latin typeface="Times New Roman"/>
                <a:cs typeface="Times New Roman"/>
              </a:rPr>
              <a:t>R2,</a:t>
            </a:r>
            <a:r>
              <a:rPr sz="1700" b="1" spc="-15" dirty="0">
                <a:solidFill>
                  <a:srgbClr val="E6B81E"/>
                </a:solidFill>
                <a:latin typeface="Times New Roman"/>
                <a:cs typeface="Times New Roman"/>
              </a:rPr>
              <a:t> </a:t>
            </a:r>
            <a:r>
              <a:rPr sz="1700" b="1" dirty="0">
                <a:solidFill>
                  <a:srgbClr val="E6B81E"/>
                </a:solidFill>
                <a:latin typeface="Times New Roman"/>
                <a:cs typeface="Times New Roman"/>
              </a:rPr>
              <a:t>R4,</a:t>
            </a:r>
            <a:r>
              <a:rPr sz="1700" b="1" spc="-20" dirty="0">
                <a:solidFill>
                  <a:srgbClr val="E6B81E"/>
                </a:solidFill>
                <a:latin typeface="Times New Roman"/>
                <a:cs typeface="Times New Roman"/>
              </a:rPr>
              <a:t> </a:t>
            </a:r>
            <a:r>
              <a:rPr sz="1700" b="1" dirty="0">
                <a:solidFill>
                  <a:srgbClr val="E6B81E"/>
                </a:solidFill>
                <a:latin typeface="Times New Roman"/>
                <a:cs typeface="Times New Roman"/>
              </a:rPr>
              <a:t>and</a:t>
            </a:r>
            <a:r>
              <a:rPr sz="1700" b="1" spc="-10" dirty="0">
                <a:solidFill>
                  <a:srgbClr val="E6B81E"/>
                </a:solidFill>
                <a:latin typeface="Times New Roman"/>
                <a:cs typeface="Times New Roman"/>
              </a:rPr>
              <a:t> </a:t>
            </a:r>
            <a:r>
              <a:rPr sz="1700" b="1" dirty="0">
                <a:solidFill>
                  <a:srgbClr val="E6B81E"/>
                </a:solidFill>
                <a:latin typeface="Times New Roman"/>
                <a:cs typeface="Times New Roman"/>
              </a:rPr>
              <a:t>R6</a:t>
            </a:r>
            <a:r>
              <a:rPr sz="1700" b="1" spc="-20" dirty="0">
                <a:solidFill>
                  <a:srgbClr val="E6B81E"/>
                </a:solidFill>
                <a:latin typeface="Times New Roman"/>
                <a:cs typeface="Times New Roman"/>
              </a:rPr>
              <a:t> </a:t>
            </a:r>
            <a:r>
              <a:rPr sz="1700" dirty="0">
                <a:solidFill>
                  <a:srgbClr val="404040"/>
                </a:solidFill>
                <a:latin typeface="Times New Roman"/>
                <a:cs typeface="Times New Roman"/>
              </a:rPr>
              <a:t>are</a:t>
            </a:r>
            <a:r>
              <a:rPr sz="1700" spc="-20" dirty="0">
                <a:solidFill>
                  <a:srgbClr val="404040"/>
                </a:solidFill>
                <a:latin typeface="Times New Roman"/>
                <a:cs typeface="Times New Roman"/>
              </a:rPr>
              <a:t> </a:t>
            </a:r>
            <a:r>
              <a:rPr sz="1700" dirty="0">
                <a:solidFill>
                  <a:srgbClr val="404040"/>
                </a:solidFill>
                <a:latin typeface="Times New Roman"/>
                <a:cs typeface="Times New Roman"/>
              </a:rPr>
              <a:t>not</a:t>
            </a:r>
            <a:r>
              <a:rPr sz="1700" spc="-20" dirty="0">
                <a:solidFill>
                  <a:srgbClr val="404040"/>
                </a:solidFill>
                <a:latin typeface="Times New Roman"/>
                <a:cs typeface="Times New Roman"/>
              </a:rPr>
              <a:t> </a:t>
            </a:r>
            <a:r>
              <a:rPr sz="1700" spc="-10" dirty="0">
                <a:solidFill>
                  <a:srgbClr val="404040"/>
                </a:solidFill>
                <a:latin typeface="Times New Roman"/>
                <a:cs typeface="Times New Roman"/>
              </a:rPr>
              <a:t>reflexive </a:t>
            </a:r>
            <a:r>
              <a:rPr sz="1700" dirty="0">
                <a:solidFill>
                  <a:srgbClr val="404040"/>
                </a:solidFill>
                <a:latin typeface="Times New Roman"/>
                <a:cs typeface="Times New Roman"/>
              </a:rPr>
              <a:t>because</a:t>
            </a:r>
            <a:r>
              <a:rPr sz="1700" spc="-30" dirty="0">
                <a:solidFill>
                  <a:srgbClr val="404040"/>
                </a:solidFill>
                <a:latin typeface="Times New Roman"/>
                <a:cs typeface="Times New Roman"/>
              </a:rPr>
              <a:t> </a:t>
            </a:r>
            <a:r>
              <a:rPr sz="1700" dirty="0">
                <a:solidFill>
                  <a:srgbClr val="404040"/>
                </a:solidFill>
                <a:latin typeface="Times New Roman"/>
                <a:cs typeface="Times New Roman"/>
              </a:rPr>
              <a:t>(3</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dirty="0">
                <a:solidFill>
                  <a:srgbClr val="404040"/>
                </a:solidFill>
                <a:latin typeface="Times New Roman"/>
                <a:cs typeface="Times New Roman"/>
              </a:rPr>
              <a:t>3)</a:t>
            </a:r>
            <a:r>
              <a:rPr sz="1700" spc="-20" dirty="0">
                <a:solidFill>
                  <a:srgbClr val="404040"/>
                </a:solidFill>
                <a:latin typeface="Times New Roman"/>
                <a:cs typeface="Times New Roman"/>
              </a:rPr>
              <a:t> </a:t>
            </a:r>
            <a:r>
              <a:rPr sz="1700" dirty="0">
                <a:solidFill>
                  <a:srgbClr val="404040"/>
                </a:solidFill>
                <a:latin typeface="Times New Roman"/>
                <a:cs typeface="Times New Roman"/>
              </a:rPr>
              <a:t>is</a:t>
            </a:r>
            <a:r>
              <a:rPr sz="1700" spc="-10" dirty="0">
                <a:solidFill>
                  <a:srgbClr val="404040"/>
                </a:solidFill>
                <a:latin typeface="Times New Roman"/>
                <a:cs typeface="Times New Roman"/>
              </a:rPr>
              <a:t> </a:t>
            </a:r>
            <a:r>
              <a:rPr sz="1700" dirty="0">
                <a:solidFill>
                  <a:srgbClr val="404040"/>
                </a:solidFill>
                <a:latin typeface="Times New Roman"/>
                <a:cs typeface="Times New Roman"/>
              </a:rPr>
              <a:t>not</a:t>
            </a:r>
            <a:r>
              <a:rPr sz="1700" spc="-10" dirty="0">
                <a:solidFill>
                  <a:srgbClr val="404040"/>
                </a:solidFill>
                <a:latin typeface="Times New Roman"/>
                <a:cs typeface="Times New Roman"/>
              </a:rPr>
              <a:t> </a:t>
            </a:r>
            <a:r>
              <a:rPr sz="1700" dirty="0">
                <a:solidFill>
                  <a:srgbClr val="404040"/>
                </a:solidFill>
                <a:latin typeface="Times New Roman"/>
                <a:cs typeface="Times New Roman"/>
              </a:rPr>
              <a:t>in</a:t>
            </a:r>
            <a:r>
              <a:rPr sz="1700" spc="-10" dirty="0">
                <a:solidFill>
                  <a:srgbClr val="404040"/>
                </a:solidFill>
                <a:latin typeface="Times New Roman"/>
                <a:cs typeface="Times New Roman"/>
              </a:rPr>
              <a:t> </a:t>
            </a:r>
            <a:r>
              <a:rPr sz="1700" dirty="0">
                <a:solidFill>
                  <a:srgbClr val="404040"/>
                </a:solidFill>
                <a:latin typeface="Times New Roman"/>
                <a:cs typeface="Times New Roman"/>
              </a:rPr>
              <a:t>any</a:t>
            </a:r>
            <a:r>
              <a:rPr sz="1700" spc="-15" dirty="0">
                <a:solidFill>
                  <a:srgbClr val="404040"/>
                </a:solidFill>
                <a:latin typeface="Times New Roman"/>
                <a:cs typeface="Times New Roman"/>
              </a:rPr>
              <a:t> </a:t>
            </a:r>
            <a:r>
              <a:rPr sz="1700" dirty="0">
                <a:solidFill>
                  <a:srgbClr val="404040"/>
                </a:solidFill>
                <a:latin typeface="Times New Roman"/>
                <a:cs typeface="Times New Roman"/>
              </a:rPr>
              <a:t>of</a:t>
            </a:r>
            <a:r>
              <a:rPr sz="1700" spc="-10" dirty="0">
                <a:solidFill>
                  <a:srgbClr val="404040"/>
                </a:solidFill>
                <a:latin typeface="Times New Roman"/>
                <a:cs typeface="Times New Roman"/>
              </a:rPr>
              <a:t> </a:t>
            </a:r>
            <a:r>
              <a:rPr sz="1700" dirty="0">
                <a:solidFill>
                  <a:srgbClr val="404040"/>
                </a:solidFill>
                <a:latin typeface="Times New Roman"/>
                <a:cs typeface="Times New Roman"/>
              </a:rPr>
              <a:t>these</a:t>
            </a:r>
            <a:r>
              <a:rPr sz="1700" spc="-20" dirty="0">
                <a:solidFill>
                  <a:srgbClr val="404040"/>
                </a:solidFill>
                <a:latin typeface="Times New Roman"/>
                <a:cs typeface="Times New Roman"/>
              </a:rPr>
              <a:t> </a:t>
            </a:r>
            <a:r>
              <a:rPr sz="1700" spc="-10" dirty="0">
                <a:solidFill>
                  <a:srgbClr val="404040"/>
                </a:solidFill>
                <a:latin typeface="Times New Roman"/>
                <a:cs typeface="Times New Roman"/>
              </a:rPr>
              <a:t>relations.</a:t>
            </a:r>
            <a:endParaRPr sz="1700" dirty="0">
              <a:latin typeface="Times New Roman"/>
              <a:cs typeface="Times New Roman"/>
            </a:endParaRPr>
          </a:p>
        </p:txBody>
      </p:sp>
    </p:spTree>
    <p:extLst>
      <p:ext uri="{BB962C8B-B14F-4D97-AF65-F5344CB8AC3E}">
        <p14:creationId xmlns:p14="http://schemas.microsoft.com/office/powerpoint/2010/main" val="2970367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77900" y="38608"/>
            <a:ext cx="6489700" cy="1123315"/>
          </a:xfrm>
          <a:prstGeom prst="rect">
            <a:avLst/>
          </a:prstGeom>
        </p:spPr>
        <p:txBody>
          <a:bodyPr vert="horz" wrap="square" lIns="0" tIns="12700" rIns="0" bIns="0" rtlCol="0">
            <a:spAutoFit/>
          </a:bodyPr>
          <a:lstStyle/>
          <a:p>
            <a:pPr marL="12700" marR="5080" indent="1374140">
              <a:lnSpc>
                <a:spcPct val="100000"/>
              </a:lnSpc>
              <a:spcBef>
                <a:spcPts val="100"/>
              </a:spcBef>
            </a:pPr>
            <a:r>
              <a:rPr dirty="0"/>
              <a:t>SYMMETRIC</a:t>
            </a:r>
            <a:r>
              <a:rPr spc="-190" dirty="0"/>
              <a:t> </a:t>
            </a:r>
            <a:r>
              <a:rPr spc="-50" dirty="0"/>
              <a:t>&amp; </a:t>
            </a:r>
            <a:r>
              <a:rPr dirty="0"/>
              <a:t>ANTISYMMETRIC</a:t>
            </a:r>
            <a:r>
              <a:rPr spc="-15" dirty="0"/>
              <a:t> </a:t>
            </a:r>
            <a:r>
              <a:rPr spc="-50" dirty="0"/>
              <a:t>RELATION</a:t>
            </a:r>
          </a:p>
        </p:txBody>
      </p:sp>
      <p:sp>
        <p:nvSpPr>
          <p:cNvPr id="3" name="object 3"/>
          <p:cNvSpPr txBox="1"/>
          <p:nvPr/>
        </p:nvSpPr>
        <p:spPr>
          <a:xfrm>
            <a:off x="228600" y="1230071"/>
            <a:ext cx="7239000" cy="5630387"/>
          </a:xfrm>
          <a:prstGeom prst="rect">
            <a:avLst/>
          </a:prstGeom>
        </p:spPr>
        <p:txBody>
          <a:bodyPr vert="horz" wrap="square" lIns="0" tIns="64135" rIns="0" bIns="0" rtlCol="0">
            <a:spAutoFit/>
          </a:bodyPr>
          <a:lstStyle/>
          <a:p>
            <a:pPr marL="12700" marR="107314">
              <a:lnSpc>
                <a:spcPct val="80000"/>
              </a:lnSpc>
              <a:spcBef>
                <a:spcPts val="505"/>
              </a:spcBef>
            </a:pPr>
            <a:r>
              <a:rPr sz="2000" b="1" dirty="0">
                <a:solidFill>
                  <a:srgbClr val="00AFEF"/>
                </a:solidFill>
                <a:latin typeface="Times New Roman" panose="02020603050405020304" pitchFamily="18" charset="0"/>
                <a:cs typeface="Times New Roman" panose="02020603050405020304" pitchFamily="18" charset="0"/>
              </a:rPr>
              <a:t>A</a:t>
            </a:r>
            <a:r>
              <a:rPr sz="2000" b="1" spc="-110" dirty="0">
                <a:solidFill>
                  <a:srgbClr val="00AFEF"/>
                </a:solidFill>
                <a:latin typeface="Times New Roman" panose="02020603050405020304" pitchFamily="18" charset="0"/>
                <a:cs typeface="Times New Roman" panose="02020603050405020304" pitchFamily="18" charset="0"/>
              </a:rPr>
              <a:t> </a:t>
            </a:r>
            <a:r>
              <a:rPr sz="2000" b="1" dirty="0">
                <a:solidFill>
                  <a:srgbClr val="00AFEF"/>
                </a:solidFill>
                <a:latin typeface="Times New Roman" panose="02020603050405020304" pitchFamily="18" charset="0"/>
                <a:cs typeface="Times New Roman" panose="02020603050405020304" pitchFamily="18" charset="0"/>
              </a:rPr>
              <a:t>relation</a:t>
            </a:r>
            <a:r>
              <a:rPr sz="2000" b="1" spc="-45" dirty="0">
                <a:solidFill>
                  <a:srgbClr val="00AFEF"/>
                </a:solidFill>
                <a:latin typeface="Times New Roman" panose="02020603050405020304" pitchFamily="18" charset="0"/>
                <a:cs typeface="Times New Roman" panose="02020603050405020304" pitchFamily="18" charset="0"/>
              </a:rPr>
              <a:t> </a:t>
            </a:r>
            <a:r>
              <a:rPr sz="2000" b="1" i="1" dirty="0">
                <a:solidFill>
                  <a:srgbClr val="00AFEF"/>
                </a:solidFill>
                <a:latin typeface="Times New Roman" panose="02020603050405020304" pitchFamily="18" charset="0"/>
                <a:cs typeface="Times New Roman" panose="02020603050405020304" pitchFamily="18" charset="0"/>
              </a:rPr>
              <a:t>R</a:t>
            </a:r>
            <a:r>
              <a:rPr sz="2000" b="1" i="1" spc="-20" dirty="0">
                <a:solidFill>
                  <a:srgbClr val="00AFEF"/>
                </a:solidFill>
                <a:latin typeface="Times New Roman" panose="02020603050405020304" pitchFamily="18" charset="0"/>
                <a:cs typeface="Times New Roman" panose="02020603050405020304" pitchFamily="18" charset="0"/>
              </a:rPr>
              <a:t> </a:t>
            </a:r>
            <a:r>
              <a:rPr sz="2000" b="1" dirty="0">
                <a:solidFill>
                  <a:srgbClr val="00AFEF"/>
                </a:solidFill>
                <a:latin typeface="Times New Roman" panose="02020603050405020304" pitchFamily="18" charset="0"/>
                <a:cs typeface="Times New Roman" panose="02020603050405020304" pitchFamily="18" charset="0"/>
              </a:rPr>
              <a:t>on</a:t>
            </a:r>
            <a:r>
              <a:rPr sz="2000" b="1" spc="-15" dirty="0">
                <a:solidFill>
                  <a:srgbClr val="00AFEF"/>
                </a:solidFill>
                <a:latin typeface="Times New Roman" panose="02020603050405020304" pitchFamily="18" charset="0"/>
                <a:cs typeface="Times New Roman" panose="02020603050405020304" pitchFamily="18" charset="0"/>
              </a:rPr>
              <a:t> </a:t>
            </a:r>
            <a:r>
              <a:rPr sz="2000" b="1" dirty="0">
                <a:solidFill>
                  <a:srgbClr val="00AFEF"/>
                </a:solidFill>
                <a:latin typeface="Times New Roman" panose="02020603050405020304" pitchFamily="18" charset="0"/>
                <a:cs typeface="Times New Roman" panose="02020603050405020304" pitchFamily="18" charset="0"/>
              </a:rPr>
              <a:t>a</a:t>
            </a:r>
            <a:r>
              <a:rPr sz="2000" b="1" spc="-25" dirty="0">
                <a:solidFill>
                  <a:srgbClr val="00AFEF"/>
                </a:solidFill>
                <a:latin typeface="Times New Roman" panose="02020603050405020304" pitchFamily="18" charset="0"/>
                <a:cs typeface="Times New Roman" panose="02020603050405020304" pitchFamily="18" charset="0"/>
              </a:rPr>
              <a:t> </a:t>
            </a:r>
            <a:r>
              <a:rPr sz="2000" b="1" dirty="0">
                <a:solidFill>
                  <a:srgbClr val="00AFEF"/>
                </a:solidFill>
                <a:latin typeface="Times New Roman" panose="02020603050405020304" pitchFamily="18" charset="0"/>
                <a:cs typeface="Times New Roman" panose="02020603050405020304" pitchFamily="18" charset="0"/>
              </a:rPr>
              <a:t>set</a:t>
            </a:r>
            <a:r>
              <a:rPr sz="2000" b="1" spc="-25" dirty="0">
                <a:solidFill>
                  <a:srgbClr val="00AFEF"/>
                </a:solidFill>
                <a:latin typeface="Times New Roman" panose="02020603050405020304" pitchFamily="18" charset="0"/>
                <a:cs typeface="Times New Roman" panose="02020603050405020304" pitchFamily="18" charset="0"/>
              </a:rPr>
              <a:t> </a:t>
            </a:r>
            <a:r>
              <a:rPr sz="2000" b="1" i="1" spc="-20" dirty="0">
                <a:solidFill>
                  <a:srgbClr val="00AFEF"/>
                </a:solidFill>
                <a:latin typeface="Times New Roman" panose="02020603050405020304" pitchFamily="18" charset="0"/>
                <a:cs typeface="Times New Roman" panose="02020603050405020304" pitchFamily="18" charset="0"/>
              </a:rPr>
              <a:t>A</a:t>
            </a:r>
            <a:r>
              <a:rPr sz="2000" b="1" i="1" spc="-95" dirty="0">
                <a:solidFill>
                  <a:srgbClr val="00AFEF"/>
                </a:solidFill>
                <a:latin typeface="Times New Roman" panose="02020603050405020304" pitchFamily="18" charset="0"/>
                <a:cs typeface="Times New Roman" panose="02020603050405020304" pitchFamily="18" charset="0"/>
              </a:rPr>
              <a:t> </a:t>
            </a:r>
            <a:r>
              <a:rPr sz="2000" b="1" dirty="0">
                <a:solidFill>
                  <a:srgbClr val="00AFEF"/>
                </a:solidFill>
                <a:latin typeface="Times New Roman" panose="02020603050405020304" pitchFamily="18" charset="0"/>
                <a:cs typeface="Times New Roman" panose="02020603050405020304" pitchFamily="18" charset="0"/>
              </a:rPr>
              <a:t>is</a:t>
            </a:r>
            <a:r>
              <a:rPr sz="2000" b="1" spc="-15" dirty="0">
                <a:solidFill>
                  <a:srgbClr val="00AFEF"/>
                </a:solidFill>
                <a:latin typeface="Times New Roman" panose="02020603050405020304" pitchFamily="18" charset="0"/>
                <a:cs typeface="Times New Roman" panose="02020603050405020304" pitchFamily="18" charset="0"/>
              </a:rPr>
              <a:t> </a:t>
            </a:r>
            <a:r>
              <a:rPr sz="2000" b="1" dirty="0">
                <a:solidFill>
                  <a:srgbClr val="00AFEF"/>
                </a:solidFill>
                <a:latin typeface="Times New Roman" panose="02020603050405020304" pitchFamily="18" charset="0"/>
                <a:cs typeface="Times New Roman" panose="02020603050405020304" pitchFamily="18" charset="0"/>
              </a:rPr>
              <a:t>called</a:t>
            </a:r>
            <a:r>
              <a:rPr sz="2000" b="1" spc="-20" dirty="0">
                <a:solidFill>
                  <a:srgbClr val="00AFEF"/>
                </a:solidFill>
                <a:latin typeface="Times New Roman" panose="02020603050405020304" pitchFamily="18" charset="0"/>
                <a:cs typeface="Times New Roman" panose="02020603050405020304" pitchFamily="18" charset="0"/>
              </a:rPr>
              <a:t> </a:t>
            </a:r>
            <a:r>
              <a:rPr sz="2000" b="1" i="1" dirty="0">
                <a:solidFill>
                  <a:srgbClr val="00AFEF"/>
                </a:solidFill>
                <a:latin typeface="Times New Roman" panose="02020603050405020304" pitchFamily="18" charset="0"/>
                <a:cs typeface="Times New Roman" panose="02020603050405020304" pitchFamily="18" charset="0"/>
              </a:rPr>
              <a:t>symmetric</a:t>
            </a:r>
            <a:r>
              <a:rPr sz="2000" b="1" i="1" spc="-15" dirty="0">
                <a:solidFill>
                  <a:srgbClr val="00AFEF"/>
                </a:solidFill>
                <a:latin typeface="Times New Roman" panose="02020603050405020304" pitchFamily="18" charset="0"/>
                <a:cs typeface="Times New Roman" panose="02020603050405020304" pitchFamily="18" charset="0"/>
              </a:rPr>
              <a:t> </a:t>
            </a:r>
            <a:r>
              <a:rPr sz="2000" b="1" dirty="0">
                <a:solidFill>
                  <a:srgbClr val="00AFEF"/>
                </a:solidFill>
                <a:latin typeface="Times New Roman" panose="02020603050405020304" pitchFamily="18" charset="0"/>
                <a:cs typeface="Times New Roman" panose="02020603050405020304" pitchFamily="18" charset="0"/>
              </a:rPr>
              <a:t>if</a:t>
            </a:r>
            <a:r>
              <a:rPr sz="2000" b="1" spc="-25" dirty="0">
                <a:solidFill>
                  <a:srgbClr val="00AFEF"/>
                </a:solidFill>
                <a:latin typeface="Times New Roman" panose="02020603050405020304" pitchFamily="18" charset="0"/>
                <a:cs typeface="Times New Roman" panose="02020603050405020304" pitchFamily="18" charset="0"/>
              </a:rPr>
              <a:t> </a:t>
            </a:r>
            <a:r>
              <a:rPr sz="2000" b="1" dirty="0">
                <a:solidFill>
                  <a:srgbClr val="00AFEF"/>
                </a:solidFill>
                <a:latin typeface="Times New Roman" panose="02020603050405020304" pitchFamily="18" charset="0"/>
                <a:cs typeface="Times New Roman" panose="02020603050405020304" pitchFamily="18" charset="0"/>
              </a:rPr>
              <a:t>(</a:t>
            </a:r>
            <a:r>
              <a:rPr sz="2000" b="1" i="1" dirty="0">
                <a:solidFill>
                  <a:srgbClr val="00AFEF"/>
                </a:solidFill>
                <a:latin typeface="Times New Roman" panose="02020603050405020304" pitchFamily="18" charset="0"/>
                <a:cs typeface="Times New Roman" panose="02020603050405020304" pitchFamily="18" charset="0"/>
              </a:rPr>
              <a:t>b,</a:t>
            </a:r>
            <a:r>
              <a:rPr sz="2000" b="1" i="1" spc="-25" dirty="0">
                <a:solidFill>
                  <a:srgbClr val="00AFEF"/>
                </a:solidFill>
                <a:latin typeface="Times New Roman" panose="02020603050405020304" pitchFamily="18" charset="0"/>
                <a:cs typeface="Times New Roman" panose="02020603050405020304" pitchFamily="18" charset="0"/>
              </a:rPr>
              <a:t> </a:t>
            </a:r>
            <a:r>
              <a:rPr sz="2000" b="1" i="1" dirty="0">
                <a:solidFill>
                  <a:srgbClr val="00AFEF"/>
                </a:solidFill>
                <a:latin typeface="Times New Roman" panose="02020603050405020304" pitchFamily="18" charset="0"/>
                <a:cs typeface="Times New Roman" panose="02020603050405020304" pitchFamily="18" charset="0"/>
              </a:rPr>
              <a:t>a</a:t>
            </a:r>
            <a:r>
              <a:rPr sz="2000" b="1" dirty="0">
                <a:solidFill>
                  <a:srgbClr val="00AFEF"/>
                </a:solidFill>
                <a:latin typeface="Times New Roman" panose="02020603050405020304" pitchFamily="18" charset="0"/>
                <a:cs typeface="Times New Roman" panose="02020603050405020304" pitchFamily="18" charset="0"/>
              </a:rPr>
              <a:t>)</a:t>
            </a:r>
            <a:r>
              <a:rPr sz="2000" b="1" spc="-25" dirty="0">
                <a:solidFill>
                  <a:srgbClr val="00AFEF"/>
                </a:solidFill>
                <a:latin typeface="Times New Roman" panose="02020603050405020304" pitchFamily="18" charset="0"/>
                <a:cs typeface="Times New Roman" panose="02020603050405020304" pitchFamily="18" charset="0"/>
              </a:rPr>
              <a:t> </a:t>
            </a:r>
            <a:r>
              <a:rPr sz="2000" dirty="0">
                <a:solidFill>
                  <a:srgbClr val="00AFEF"/>
                </a:solidFill>
                <a:latin typeface="Times New Roman" panose="02020603050405020304" pitchFamily="18" charset="0"/>
                <a:cs typeface="Times New Roman" panose="02020603050405020304" pitchFamily="18" charset="0"/>
              </a:rPr>
              <a:t>∈</a:t>
            </a:r>
            <a:r>
              <a:rPr sz="2000" spc="5" dirty="0">
                <a:solidFill>
                  <a:srgbClr val="00AFEF"/>
                </a:solidFill>
                <a:latin typeface="Times New Roman" panose="02020603050405020304" pitchFamily="18" charset="0"/>
                <a:cs typeface="Times New Roman" panose="02020603050405020304" pitchFamily="18" charset="0"/>
              </a:rPr>
              <a:t> </a:t>
            </a:r>
            <a:r>
              <a:rPr sz="2000" b="1" i="1" dirty="0">
                <a:solidFill>
                  <a:srgbClr val="00AFEF"/>
                </a:solidFill>
                <a:latin typeface="Times New Roman" panose="02020603050405020304" pitchFamily="18" charset="0"/>
                <a:cs typeface="Times New Roman" panose="02020603050405020304" pitchFamily="18" charset="0"/>
              </a:rPr>
              <a:t>R</a:t>
            </a:r>
            <a:r>
              <a:rPr sz="2000" b="1" i="1" spc="-15" dirty="0">
                <a:solidFill>
                  <a:srgbClr val="00AFEF"/>
                </a:solidFill>
                <a:latin typeface="Times New Roman" panose="02020603050405020304" pitchFamily="18" charset="0"/>
                <a:cs typeface="Times New Roman" panose="02020603050405020304" pitchFamily="18" charset="0"/>
              </a:rPr>
              <a:t> </a:t>
            </a:r>
            <a:r>
              <a:rPr sz="2000" b="1" dirty="0">
                <a:solidFill>
                  <a:srgbClr val="00AFEF"/>
                </a:solidFill>
                <a:latin typeface="Times New Roman" panose="02020603050405020304" pitchFamily="18" charset="0"/>
                <a:cs typeface="Times New Roman" panose="02020603050405020304" pitchFamily="18" charset="0"/>
              </a:rPr>
              <a:t>whenever</a:t>
            </a:r>
            <a:r>
              <a:rPr sz="2000" b="1" spc="-60" dirty="0">
                <a:solidFill>
                  <a:srgbClr val="00AFEF"/>
                </a:solidFill>
                <a:latin typeface="Times New Roman" panose="02020603050405020304" pitchFamily="18" charset="0"/>
                <a:cs typeface="Times New Roman" panose="02020603050405020304" pitchFamily="18" charset="0"/>
              </a:rPr>
              <a:t> </a:t>
            </a:r>
            <a:r>
              <a:rPr sz="2000" b="1" dirty="0">
                <a:solidFill>
                  <a:srgbClr val="00AFEF"/>
                </a:solidFill>
                <a:latin typeface="Times New Roman" panose="02020603050405020304" pitchFamily="18" charset="0"/>
                <a:cs typeface="Times New Roman" panose="02020603050405020304" pitchFamily="18" charset="0"/>
              </a:rPr>
              <a:t>(</a:t>
            </a:r>
            <a:r>
              <a:rPr sz="2000" b="1" i="1" dirty="0">
                <a:solidFill>
                  <a:srgbClr val="00AFEF"/>
                </a:solidFill>
                <a:latin typeface="Times New Roman" panose="02020603050405020304" pitchFamily="18" charset="0"/>
                <a:cs typeface="Times New Roman" panose="02020603050405020304" pitchFamily="18" charset="0"/>
              </a:rPr>
              <a:t>a,</a:t>
            </a:r>
            <a:r>
              <a:rPr sz="2000" b="1" i="1" spc="-25" dirty="0">
                <a:solidFill>
                  <a:srgbClr val="00AFEF"/>
                </a:solidFill>
                <a:latin typeface="Times New Roman" panose="02020603050405020304" pitchFamily="18" charset="0"/>
                <a:cs typeface="Times New Roman" panose="02020603050405020304" pitchFamily="18" charset="0"/>
              </a:rPr>
              <a:t> </a:t>
            </a:r>
            <a:r>
              <a:rPr sz="2000" b="1" i="1" dirty="0">
                <a:solidFill>
                  <a:srgbClr val="00AFEF"/>
                </a:solidFill>
                <a:latin typeface="Times New Roman" panose="02020603050405020304" pitchFamily="18" charset="0"/>
                <a:cs typeface="Times New Roman" panose="02020603050405020304" pitchFamily="18" charset="0"/>
              </a:rPr>
              <a:t>b</a:t>
            </a:r>
            <a:r>
              <a:rPr sz="2000" b="1" dirty="0">
                <a:solidFill>
                  <a:srgbClr val="00AFEF"/>
                </a:solidFill>
                <a:latin typeface="Times New Roman" panose="02020603050405020304" pitchFamily="18" charset="0"/>
                <a:cs typeface="Times New Roman" panose="02020603050405020304" pitchFamily="18" charset="0"/>
              </a:rPr>
              <a:t>)</a:t>
            </a:r>
            <a:r>
              <a:rPr sz="2000" b="1" spc="-25" dirty="0">
                <a:solidFill>
                  <a:srgbClr val="00AFEF"/>
                </a:solidFill>
                <a:latin typeface="Times New Roman" panose="02020603050405020304" pitchFamily="18" charset="0"/>
                <a:cs typeface="Times New Roman" panose="02020603050405020304" pitchFamily="18" charset="0"/>
              </a:rPr>
              <a:t> </a:t>
            </a:r>
            <a:r>
              <a:rPr sz="2000" dirty="0">
                <a:solidFill>
                  <a:srgbClr val="00AFEF"/>
                </a:solidFill>
                <a:latin typeface="Times New Roman" panose="02020603050405020304" pitchFamily="18" charset="0"/>
                <a:cs typeface="Times New Roman" panose="02020603050405020304" pitchFamily="18" charset="0"/>
              </a:rPr>
              <a:t>∈</a:t>
            </a:r>
            <a:r>
              <a:rPr sz="2000" spc="10" dirty="0">
                <a:solidFill>
                  <a:srgbClr val="00AFEF"/>
                </a:solidFill>
                <a:latin typeface="Times New Roman" panose="02020603050405020304" pitchFamily="18" charset="0"/>
                <a:cs typeface="Times New Roman" panose="02020603050405020304" pitchFamily="18" charset="0"/>
              </a:rPr>
              <a:t> </a:t>
            </a:r>
            <a:r>
              <a:rPr sz="2000" b="1" i="1" spc="-25" dirty="0">
                <a:solidFill>
                  <a:srgbClr val="00AFEF"/>
                </a:solidFill>
                <a:latin typeface="Times New Roman" panose="02020603050405020304" pitchFamily="18" charset="0"/>
                <a:cs typeface="Times New Roman" panose="02020603050405020304" pitchFamily="18" charset="0"/>
              </a:rPr>
              <a:t>R</a:t>
            </a:r>
            <a:r>
              <a:rPr sz="2000" b="1" spc="-25" dirty="0">
                <a:solidFill>
                  <a:srgbClr val="00AFEF"/>
                </a:solidFill>
                <a:latin typeface="Times New Roman" panose="02020603050405020304" pitchFamily="18" charset="0"/>
                <a:cs typeface="Times New Roman" panose="02020603050405020304" pitchFamily="18" charset="0"/>
              </a:rPr>
              <a:t>, </a:t>
            </a:r>
            <a:r>
              <a:rPr sz="2000" b="1" dirty="0">
                <a:solidFill>
                  <a:srgbClr val="00AFEF"/>
                </a:solidFill>
                <a:latin typeface="Times New Roman" panose="02020603050405020304" pitchFamily="18" charset="0"/>
                <a:cs typeface="Times New Roman" panose="02020603050405020304" pitchFamily="18" charset="0"/>
              </a:rPr>
              <a:t>for</a:t>
            </a:r>
            <a:r>
              <a:rPr sz="2000" b="1" spc="-50" dirty="0">
                <a:solidFill>
                  <a:srgbClr val="00AFEF"/>
                </a:solidFill>
                <a:latin typeface="Times New Roman" panose="02020603050405020304" pitchFamily="18" charset="0"/>
                <a:cs typeface="Times New Roman" panose="02020603050405020304" pitchFamily="18" charset="0"/>
              </a:rPr>
              <a:t> </a:t>
            </a:r>
            <a:r>
              <a:rPr sz="2000" b="1" dirty="0">
                <a:solidFill>
                  <a:srgbClr val="00AFEF"/>
                </a:solidFill>
                <a:latin typeface="Times New Roman" panose="02020603050405020304" pitchFamily="18" charset="0"/>
                <a:cs typeface="Times New Roman" panose="02020603050405020304" pitchFamily="18" charset="0"/>
              </a:rPr>
              <a:t>all</a:t>
            </a:r>
            <a:r>
              <a:rPr sz="2000" b="1" spc="-5" dirty="0">
                <a:solidFill>
                  <a:srgbClr val="00AFEF"/>
                </a:solidFill>
                <a:latin typeface="Times New Roman" panose="02020603050405020304" pitchFamily="18" charset="0"/>
                <a:cs typeface="Times New Roman" panose="02020603050405020304" pitchFamily="18" charset="0"/>
              </a:rPr>
              <a:t> </a:t>
            </a:r>
            <a:r>
              <a:rPr sz="2000" b="1" i="1" dirty="0">
                <a:solidFill>
                  <a:srgbClr val="00AFEF"/>
                </a:solidFill>
                <a:latin typeface="Times New Roman" panose="02020603050405020304" pitchFamily="18" charset="0"/>
                <a:cs typeface="Times New Roman" panose="02020603050405020304" pitchFamily="18" charset="0"/>
              </a:rPr>
              <a:t>a,</a:t>
            </a:r>
            <a:r>
              <a:rPr sz="2000" b="1" i="1" spc="-15" dirty="0">
                <a:solidFill>
                  <a:srgbClr val="00AFEF"/>
                </a:solidFill>
                <a:latin typeface="Times New Roman" panose="02020603050405020304" pitchFamily="18" charset="0"/>
                <a:cs typeface="Times New Roman" panose="02020603050405020304" pitchFamily="18" charset="0"/>
              </a:rPr>
              <a:t> </a:t>
            </a:r>
            <a:r>
              <a:rPr sz="2000" b="1" i="1" dirty="0">
                <a:solidFill>
                  <a:srgbClr val="00AFEF"/>
                </a:solidFill>
                <a:latin typeface="Times New Roman" panose="02020603050405020304" pitchFamily="18" charset="0"/>
                <a:cs typeface="Times New Roman" panose="02020603050405020304" pitchFamily="18" charset="0"/>
              </a:rPr>
              <a:t>b</a:t>
            </a:r>
            <a:r>
              <a:rPr sz="2000" b="1" i="1" spc="-15" dirty="0">
                <a:solidFill>
                  <a:srgbClr val="00AFEF"/>
                </a:solidFill>
                <a:latin typeface="Times New Roman" panose="02020603050405020304" pitchFamily="18" charset="0"/>
                <a:cs typeface="Times New Roman" panose="02020603050405020304" pitchFamily="18" charset="0"/>
              </a:rPr>
              <a:t> </a:t>
            </a:r>
            <a:r>
              <a:rPr sz="2000" dirty="0">
                <a:solidFill>
                  <a:srgbClr val="00AFEF"/>
                </a:solidFill>
                <a:latin typeface="Times New Roman" panose="02020603050405020304" pitchFamily="18" charset="0"/>
                <a:cs typeface="Times New Roman" panose="02020603050405020304" pitchFamily="18" charset="0"/>
              </a:rPr>
              <a:t>∈</a:t>
            </a:r>
            <a:r>
              <a:rPr sz="2000" spc="25" dirty="0">
                <a:solidFill>
                  <a:srgbClr val="00AFEF"/>
                </a:solidFill>
                <a:latin typeface="Times New Roman" panose="02020603050405020304" pitchFamily="18" charset="0"/>
                <a:cs typeface="Times New Roman" panose="02020603050405020304" pitchFamily="18" charset="0"/>
              </a:rPr>
              <a:t> </a:t>
            </a:r>
            <a:r>
              <a:rPr sz="2000" b="1" i="1" spc="-25" dirty="0">
                <a:solidFill>
                  <a:srgbClr val="00AFEF"/>
                </a:solidFill>
                <a:latin typeface="Times New Roman" panose="02020603050405020304" pitchFamily="18" charset="0"/>
                <a:cs typeface="Times New Roman" panose="02020603050405020304" pitchFamily="18" charset="0"/>
              </a:rPr>
              <a:t>A</a:t>
            </a:r>
            <a:r>
              <a:rPr sz="2000" b="1" spc="-25" dirty="0">
                <a:solidFill>
                  <a:srgbClr val="00AFEF"/>
                </a:solidFill>
                <a:latin typeface="Times New Roman" panose="02020603050405020304" pitchFamily="18" charset="0"/>
                <a:cs typeface="Times New Roman" panose="02020603050405020304" pitchFamily="18" charset="0"/>
              </a:rPr>
              <a:t>.</a:t>
            </a:r>
            <a:endParaRPr sz="2000" dirty="0">
              <a:latin typeface="Times New Roman" panose="02020603050405020304" pitchFamily="18" charset="0"/>
              <a:cs typeface="Times New Roman" panose="02020603050405020304" pitchFamily="18" charset="0"/>
            </a:endParaRPr>
          </a:p>
          <a:p>
            <a:pPr marR="931544" algn="ctr">
              <a:lnSpc>
                <a:spcPct val="100000"/>
              </a:lnSpc>
              <a:spcBef>
                <a:spcPts val="585"/>
              </a:spcBef>
            </a:pPr>
            <a:r>
              <a:rPr sz="2000" b="1" spc="-25" dirty="0">
                <a:solidFill>
                  <a:srgbClr val="E6B81E"/>
                </a:solidFill>
                <a:latin typeface="Times New Roman" panose="02020603050405020304" pitchFamily="18" charset="0"/>
                <a:cs typeface="Times New Roman" panose="02020603050405020304" pitchFamily="18" charset="0"/>
              </a:rPr>
              <a:t>AND</a:t>
            </a:r>
            <a:endParaRPr sz="2000" dirty="0">
              <a:latin typeface="Times New Roman" panose="02020603050405020304" pitchFamily="18" charset="0"/>
              <a:cs typeface="Times New Roman" panose="02020603050405020304" pitchFamily="18" charset="0"/>
            </a:endParaRPr>
          </a:p>
          <a:p>
            <a:pPr marL="12700" marR="74295">
              <a:lnSpc>
                <a:spcPct val="80000"/>
              </a:lnSpc>
              <a:spcBef>
                <a:spcPts val="1005"/>
              </a:spcBef>
            </a:pPr>
            <a:r>
              <a:rPr sz="2000" b="1" dirty="0">
                <a:solidFill>
                  <a:srgbClr val="6F2F9F"/>
                </a:solidFill>
                <a:latin typeface="Times New Roman" panose="02020603050405020304" pitchFamily="18" charset="0"/>
                <a:cs typeface="Times New Roman" panose="02020603050405020304" pitchFamily="18" charset="0"/>
              </a:rPr>
              <a:t>A</a:t>
            </a:r>
            <a:r>
              <a:rPr sz="2000" b="1" spc="-110" dirty="0">
                <a:solidFill>
                  <a:srgbClr val="6F2F9F"/>
                </a:solidFill>
                <a:latin typeface="Times New Roman" panose="02020603050405020304" pitchFamily="18" charset="0"/>
                <a:cs typeface="Times New Roman" panose="02020603050405020304" pitchFamily="18" charset="0"/>
              </a:rPr>
              <a:t> </a:t>
            </a:r>
            <a:r>
              <a:rPr sz="2000" b="1" dirty="0">
                <a:solidFill>
                  <a:srgbClr val="6F2F9F"/>
                </a:solidFill>
                <a:latin typeface="Times New Roman" panose="02020603050405020304" pitchFamily="18" charset="0"/>
                <a:cs typeface="Times New Roman" panose="02020603050405020304" pitchFamily="18" charset="0"/>
              </a:rPr>
              <a:t>relation</a:t>
            </a:r>
            <a:r>
              <a:rPr sz="2000" b="1" spc="-30" dirty="0">
                <a:solidFill>
                  <a:srgbClr val="6F2F9F"/>
                </a:solidFill>
                <a:latin typeface="Times New Roman" panose="02020603050405020304" pitchFamily="18" charset="0"/>
                <a:cs typeface="Times New Roman" panose="02020603050405020304" pitchFamily="18" charset="0"/>
              </a:rPr>
              <a:t> </a:t>
            </a:r>
            <a:r>
              <a:rPr sz="2000" b="1" i="1" dirty="0">
                <a:solidFill>
                  <a:srgbClr val="6F2F9F"/>
                </a:solidFill>
                <a:latin typeface="Times New Roman" panose="02020603050405020304" pitchFamily="18" charset="0"/>
                <a:cs typeface="Times New Roman" panose="02020603050405020304" pitchFamily="18" charset="0"/>
              </a:rPr>
              <a:t>R</a:t>
            </a:r>
            <a:r>
              <a:rPr sz="2000" b="1" i="1" spc="-15" dirty="0">
                <a:solidFill>
                  <a:srgbClr val="6F2F9F"/>
                </a:solidFill>
                <a:latin typeface="Times New Roman" panose="02020603050405020304" pitchFamily="18" charset="0"/>
                <a:cs typeface="Times New Roman" panose="02020603050405020304" pitchFamily="18" charset="0"/>
              </a:rPr>
              <a:t> </a:t>
            </a:r>
            <a:r>
              <a:rPr sz="2000" b="1" dirty="0">
                <a:solidFill>
                  <a:srgbClr val="6F2F9F"/>
                </a:solidFill>
                <a:latin typeface="Times New Roman" panose="02020603050405020304" pitchFamily="18" charset="0"/>
                <a:cs typeface="Times New Roman" panose="02020603050405020304" pitchFamily="18" charset="0"/>
              </a:rPr>
              <a:t>on</a:t>
            </a:r>
            <a:r>
              <a:rPr sz="2000" b="1" spc="-10" dirty="0">
                <a:solidFill>
                  <a:srgbClr val="6F2F9F"/>
                </a:solidFill>
                <a:latin typeface="Times New Roman" panose="02020603050405020304" pitchFamily="18" charset="0"/>
                <a:cs typeface="Times New Roman" panose="02020603050405020304" pitchFamily="18" charset="0"/>
              </a:rPr>
              <a:t> </a:t>
            </a:r>
            <a:r>
              <a:rPr sz="2000" b="1" dirty="0">
                <a:solidFill>
                  <a:srgbClr val="6F2F9F"/>
                </a:solidFill>
                <a:latin typeface="Times New Roman" panose="02020603050405020304" pitchFamily="18" charset="0"/>
                <a:cs typeface="Times New Roman" panose="02020603050405020304" pitchFamily="18" charset="0"/>
              </a:rPr>
              <a:t>a</a:t>
            </a:r>
            <a:r>
              <a:rPr sz="2000" b="1" spc="-20" dirty="0">
                <a:solidFill>
                  <a:srgbClr val="6F2F9F"/>
                </a:solidFill>
                <a:latin typeface="Times New Roman" panose="02020603050405020304" pitchFamily="18" charset="0"/>
                <a:cs typeface="Times New Roman" panose="02020603050405020304" pitchFamily="18" charset="0"/>
              </a:rPr>
              <a:t> </a:t>
            </a:r>
            <a:r>
              <a:rPr sz="2000" b="1" dirty="0">
                <a:solidFill>
                  <a:srgbClr val="6F2F9F"/>
                </a:solidFill>
                <a:latin typeface="Times New Roman" panose="02020603050405020304" pitchFamily="18" charset="0"/>
                <a:cs typeface="Times New Roman" panose="02020603050405020304" pitchFamily="18" charset="0"/>
              </a:rPr>
              <a:t>set</a:t>
            </a:r>
            <a:r>
              <a:rPr sz="2000" b="1" spc="-20" dirty="0">
                <a:solidFill>
                  <a:srgbClr val="6F2F9F"/>
                </a:solidFill>
                <a:latin typeface="Times New Roman" panose="02020603050405020304" pitchFamily="18" charset="0"/>
                <a:cs typeface="Times New Roman" panose="02020603050405020304" pitchFamily="18" charset="0"/>
              </a:rPr>
              <a:t> </a:t>
            </a:r>
            <a:r>
              <a:rPr sz="2000" b="1" i="1" spc="-20" dirty="0">
                <a:solidFill>
                  <a:srgbClr val="6F2F9F"/>
                </a:solidFill>
                <a:latin typeface="Times New Roman" panose="02020603050405020304" pitchFamily="18" charset="0"/>
                <a:cs typeface="Times New Roman" panose="02020603050405020304" pitchFamily="18" charset="0"/>
              </a:rPr>
              <a:t>A</a:t>
            </a:r>
            <a:r>
              <a:rPr sz="2000" b="1" i="1" spc="-95" dirty="0">
                <a:solidFill>
                  <a:srgbClr val="6F2F9F"/>
                </a:solidFill>
                <a:latin typeface="Times New Roman" panose="02020603050405020304" pitchFamily="18" charset="0"/>
                <a:cs typeface="Times New Roman" panose="02020603050405020304" pitchFamily="18" charset="0"/>
              </a:rPr>
              <a:t> </a:t>
            </a:r>
            <a:r>
              <a:rPr sz="2000" b="1" dirty="0">
                <a:solidFill>
                  <a:srgbClr val="6F2F9F"/>
                </a:solidFill>
                <a:latin typeface="Times New Roman" panose="02020603050405020304" pitchFamily="18" charset="0"/>
                <a:cs typeface="Times New Roman" panose="02020603050405020304" pitchFamily="18" charset="0"/>
              </a:rPr>
              <a:t>such</a:t>
            </a:r>
            <a:r>
              <a:rPr sz="2000" b="1" spc="-10" dirty="0">
                <a:solidFill>
                  <a:srgbClr val="6F2F9F"/>
                </a:solidFill>
                <a:latin typeface="Times New Roman" panose="02020603050405020304" pitchFamily="18" charset="0"/>
                <a:cs typeface="Times New Roman" panose="02020603050405020304" pitchFamily="18" charset="0"/>
              </a:rPr>
              <a:t> </a:t>
            </a:r>
            <a:r>
              <a:rPr sz="2000" b="1" dirty="0">
                <a:solidFill>
                  <a:srgbClr val="6F2F9F"/>
                </a:solidFill>
                <a:latin typeface="Times New Roman" panose="02020603050405020304" pitchFamily="18" charset="0"/>
                <a:cs typeface="Times New Roman" panose="02020603050405020304" pitchFamily="18" charset="0"/>
              </a:rPr>
              <a:t>that</a:t>
            </a:r>
            <a:r>
              <a:rPr sz="2000" b="1" spc="-10" dirty="0">
                <a:solidFill>
                  <a:srgbClr val="6F2F9F"/>
                </a:solidFill>
                <a:latin typeface="Times New Roman" panose="02020603050405020304" pitchFamily="18" charset="0"/>
                <a:cs typeface="Times New Roman" panose="02020603050405020304" pitchFamily="18" charset="0"/>
              </a:rPr>
              <a:t> </a:t>
            </a:r>
            <a:r>
              <a:rPr sz="2000" b="1" dirty="0">
                <a:solidFill>
                  <a:srgbClr val="6F2F9F"/>
                </a:solidFill>
                <a:latin typeface="Times New Roman" panose="02020603050405020304" pitchFamily="18" charset="0"/>
                <a:cs typeface="Times New Roman" panose="02020603050405020304" pitchFamily="18" charset="0"/>
              </a:rPr>
              <a:t>for</a:t>
            </a:r>
            <a:r>
              <a:rPr sz="2000" b="1" spc="-55" dirty="0">
                <a:solidFill>
                  <a:srgbClr val="6F2F9F"/>
                </a:solidFill>
                <a:latin typeface="Times New Roman" panose="02020603050405020304" pitchFamily="18" charset="0"/>
                <a:cs typeface="Times New Roman" panose="02020603050405020304" pitchFamily="18" charset="0"/>
              </a:rPr>
              <a:t> </a:t>
            </a:r>
            <a:r>
              <a:rPr sz="2000" b="1" dirty="0">
                <a:solidFill>
                  <a:srgbClr val="6F2F9F"/>
                </a:solidFill>
                <a:latin typeface="Times New Roman" panose="02020603050405020304" pitchFamily="18" charset="0"/>
                <a:cs typeface="Times New Roman" panose="02020603050405020304" pitchFamily="18" charset="0"/>
              </a:rPr>
              <a:t>all</a:t>
            </a:r>
            <a:r>
              <a:rPr sz="2000" b="1" spc="-5" dirty="0">
                <a:solidFill>
                  <a:srgbClr val="6F2F9F"/>
                </a:solidFill>
                <a:latin typeface="Times New Roman" panose="02020603050405020304" pitchFamily="18" charset="0"/>
                <a:cs typeface="Times New Roman" panose="02020603050405020304" pitchFamily="18" charset="0"/>
              </a:rPr>
              <a:t> </a:t>
            </a:r>
            <a:r>
              <a:rPr sz="2000" b="1" i="1" dirty="0">
                <a:solidFill>
                  <a:srgbClr val="6F2F9F"/>
                </a:solidFill>
                <a:latin typeface="Times New Roman" panose="02020603050405020304" pitchFamily="18" charset="0"/>
                <a:cs typeface="Times New Roman" panose="02020603050405020304" pitchFamily="18" charset="0"/>
              </a:rPr>
              <a:t>a,</a:t>
            </a:r>
            <a:r>
              <a:rPr sz="2000" b="1" i="1" spc="-20" dirty="0">
                <a:solidFill>
                  <a:srgbClr val="6F2F9F"/>
                </a:solidFill>
                <a:latin typeface="Times New Roman" panose="02020603050405020304" pitchFamily="18" charset="0"/>
                <a:cs typeface="Times New Roman" panose="02020603050405020304" pitchFamily="18" charset="0"/>
              </a:rPr>
              <a:t> </a:t>
            </a:r>
            <a:r>
              <a:rPr sz="2000" b="1" i="1" dirty="0">
                <a:solidFill>
                  <a:srgbClr val="6F2F9F"/>
                </a:solidFill>
                <a:latin typeface="Times New Roman" panose="02020603050405020304" pitchFamily="18" charset="0"/>
                <a:cs typeface="Times New Roman" panose="02020603050405020304" pitchFamily="18" charset="0"/>
              </a:rPr>
              <a:t>b</a:t>
            </a:r>
            <a:r>
              <a:rPr sz="2000" b="1" i="1" spc="-20" dirty="0">
                <a:solidFill>
                  <a:srgbClr val="6F2F9F"/>
                </a:solidFill>
                <a:latin typeface="Times New Roman" panose="02020603050405020304" pitchFamily="18" charset="0"/>
                <a:cs typeface="Times New Roman" panose="02020603050405020304" pitchFamily="18" charset="0"/>
              </a:rPr>
              <a:t> </a:t>
            </a:r>
            <a:r>
              <a:rPr sz="2000" dirty="0">
                <a:solidFill>
                  <a:srgbClr val="6F2F9F"/>
                </a:solidFill>
                <a:latin typeface="Times New Roman" panose="02020603050405020304" pitchFamily="18" charset="0"/>
                <a:cs typeface="Times New Roman" panose="02020603050405020304" pitchFamily="18" charset="0"/>
              </a:rPr>
              <a:t>∈</a:t>
            </a:r>
            <a:r>
              <a:rPr sz="2000" spc="15" dirty="0">
                <a:solidFill>
                  <a:srgbClr val="6F2F9F"/>
                </a:solidFill>
                <a:latin typeface="Times New Roman" panose="02020603050405020304" pitchFamily="18" charset="0"/>
                <a:cs typeface="Times New Roman" panose="02020603050405020304" pitchFamily="18" charset="0"/>
              </a:rPr>
              <a:t> </a:t>
            </a:r>
            <a:r>
              <a:rPr sz="2000" b="1" i="1" dirty="0">
                <a:solidFill>
                  <a:srgbClr val="6F2F9F"/>
                </a:solidFill>
                <a:latin typeface="Times New Roman" panose="02020603050405020304" pitchFamily="18" charset="0"/>
                <a:cs typeface="Times New Roman" panose="02020603050405020304" pitchFamily="18" charset="0"/>
              </a:rPr>
              <a:t>A</a:t>
            </a:r>
            <a:r>
              <a:rPr sz="2000" b="1" dirty="0">
                <a:solidFill>
                  <a:srgbClr val="6F2F9F"/>
                </a:solidFill>
                <a:latin typeface="Times New Roman" panose="02020603050405020304" pitchFamily="18" charset="0"/>
                <a:cs typeface="Times New Roman" panose="02020603050405020304" pitchFamily="18" charset="0"/>
              </a:rPr>
              <a:t>,</a:t>
            </a:r>
            <a:r>
              <a:rPr sz="2000" b="1" spc="-15" dirty="0">
                <a:solidFill>
                  <a:srgbClr val="6F2F9F"/>
                </a:solidFill>
                <a:latin typeface="Times New Roman" panose="02020603050405020304" pitchFamily="18" charset="0"/>
                <a:cs typeface="Times New Roman" panose="02020603050405020304" pitchFamily="18" charset="0"/>
              </a:rPr>
              <a:t> </a:t>
            </a:r>
            <a:r>
              <a:rPr sz="2000" b="1" dirty="0">
                <a:solidFill>
                  <a:srgbClr val="6F2F9F"/>
                </a:solidFill>
                <a:latin typeface="Times New Roman" panose="02020603050405020304" pitchFamily="18" charset="0"/>
                <a:cs typeface="Times New Roman" panose="02020603050405020304" pitchFamily="18" charset="0"/>
              </a:rPr>
              <a:t>if</a:t>
            </a:r>
            <a:r>
              <a:rPr sz="2000" b="1" spc="-20" dirty="0">
                <a:solidFill>
                  <a:srgbClr val="6F2F9F"/>
                </a:solidFill>
                <a:latin typeface="Times New Roman" panose="02020603050405020304" pitchFamily="18" charset="0"/>
                <a:cs typeface="Times New Roman" panose="02020603050405020304" pitchFamily="18" charset="0"/>
              </a:rPr>
              <a:t> </a:t>
            </a:r>
            <a:r>
              <a:rPr sz="2000" b="1" dirty="0">
                <a:solidFill>
                  <a:srgbClr val="6F2F9F"/>
                </a:solidFill>
                <a:latin typeface="Times New Roman" panose="02020603050405020304" pitchFamily="18" charset="0"/>
                <a:cs typeface="Times New Roman" panose="02020603050405020304" pitchFamily="18" charset="0"/>
              </a:rPr>
              <a:t>(</a:t>
            </a:r>
            <a:r>
              <a:rPr sz="2000" b="1" i="1" dirty="0">
                <a:solidFill>
                  <a:srgbClr val="6F2F9F"/>
                </a:solidFill>
                <a:latin typeface="Times New Roman" panose="02020603050405020304" pitchFamily="18" charset="0"/>
                <a:cs typeface="Times New Roman" panose="02020603050405020304" pitchFamily="18" charset="0"/>
              </a:rPr>
              <a:t>a,</a:t>
            </a:r>
            <a:r>
              <a:rPr sz="2000" b="1" i="1" spc="-20" dirty="0">
                <a:solidFill>
                  <a:srgbClr val="6F2F9F"/>
                </a:solidFill>
                <a:latin typeface="Times New Roman" panose="02020603050405020304" pitchFamily="18" charset="0"/>
                <a:cs typeface="Times New Roman" panose="02020603050405020304" pitchFamily="18" charset="0"/>
              </a:rPr>
              <a:t> </a:t>
            </a:r>
            <a:r>
              <a:rPr sz="2000" b="1" i="1" dirty="0">
                <a:solidFill>
                  <a:srgbClr val="6F2F9F"/>
                </a:solidFill>
                <a:latin typeface="Times New Roman" panose="02020603050405020304" pitchFamily="18" charset="0"/>
                <a:cs typeface="Times New Roman" panose="02020603050405020304" pitchFamily="18" charset="0"/>
              </a:rPr>
              <a:t>b</a:t>
            </a:r>
            <a:r>
              <a:rPr sz="2000" b="1" dirty="0">
                <a:solidFill>
                  <a:srgbClr val="6F2F9F"/>
                </a:solidFill>
                <a:latin typeface="Times New Roman" panose="02020603050405020304" pitchFamily="18" charset="0"/>
                <a:cs typeface="Times New Roman" panose="02020603050405020304" pitchFamily="18" charset="0"/>
              </a:rPr>
              <a:t>)</a:t>
            </a:r>
            <a:r>
              <a:rPr sz="2000" b="1" spc="-15" dirty="0">
                <a:solidFill>
                  <a:srgbClr val="6F2F9F"/>
                </a:solidFill>
                <a:latin typeface="Times New Roman" panose="02020603050405020304" pitchFamily="18" charset="0"/>
                <a:cs typeface="Times New Roman" panose="02020603050405020304" pitchFamily="18" charset="0"/>
              </a:rPr>
              <a:t> </a:t>
            </a:r>
            <a:r>
              <a:rPr sz="2000" dirty="0">
                <a:solidFill>
                  <a:srgbClr val="6F2F9F"/>
                </a:solidFill>
                <a:latin typeface="Times New Roman" panose="02020603050405020304" pitchFamily="18" charset="0"/>
                <a:cs typeface="Times New Roman" panose="02020603050405020304" pitchFamily="18" charset="0"/>
              </a:rPr>
              <a:t>∈</a:t>
            </a:r>
            <a:r>
              <a:rPr sz="2000" spc="10" dirty="0">
                <a:solidFill>
                  <a:srgbClr val="6F2F9F"/>
                </a:solidFill>
                <a:latin typeface="Times New Roman" panose="02020603050405020304" pitchFamily="18" charset="0"/>
                <a:cs typeface="Times New Roman" panose="02020603050405020304" pitchFamily="18" charset="0"/>
              </a:rPr>
              <a:t> </a:t>
            </a:r>
            <a:r>
              <a:rPr sz="2000" b="1" i="1" dirty="0">
                <a:solidFill>
                  <a:srgbClr val="6F2F9F"/>
                </a:solidFill>
                <a:latin typeface="Times New Roman" panose="02020603050405020304" pitchFamily="18" charset="0"/>
                <a:cs typeface="Times New Roman" panose="02020603050405020304" pitchFamily="18" charset="0"/>
              </a:rPr>
              <a:t>R</a:t>
            </a:r>
            <a:r>
              <a:rPr sz="2000" b="1" i="1" spc="-10" dirty="0">
                <a:solidFill>
                  <a:srgbClr val="6F2F9F"/>
                </a:solidFill>
                <a:latin typeface="Times New Roman" panose="02020603050405020304" pitchFamily="18" charset="0"/>
                <a:cs typeface="Times New Roman" panose="02020603050405020304" pitchFamily="18" charset="0"/>
              </a:rPr>
              <a:t> </a:t>
            </a:r>
            <a:r>
              <a:rPr sz="2000" b="1" dirty="0">
                <a:solidFill>
                  <a:srgbClr val="6F2F9F"/>
                </a:solidFill>
                <a:latin typeface="Times New Roman" panose="02020603050405020304" pitchFamily="18" charset="0"/>
                <a:cs typeface="Times New Roman" panose="02020603050405020304" pitchFamily="18" charset="0"/>
              </a:rPr>
              <a:t>and</a:t>
            </a:r>
            <a:r>
              <a:rPr sz="2000" b="1" spc="-10" dirty="0">
                <a:solidFill>
                  <a:srgbClr val="6F2F9F"/>
                </a:solidFill>
                <a:latin typeface="Times New Roman" panose="02020603050405020304" pitchFamily="18" charset="0"/>
                <a:cs typeface="Times New Roman" panose="02020603050405020304" pitchFamily="18" charset="0"/>
              </a:rPr>
              <a:t> </a:t>
            </a:r>
            <a:r>
              <a:rPr sz="2000" b="1" dirty="0">
                <a:solidFill>
                  <a:srgbClr val="6F2F9F"/>
                </a:solidFill>
                <a:latin typeface="Times New Roman" panose="02020603050405020304" pitchFamily="18" charset="0"/>
                <a:cs typeface="Times New Roman" panose="02020603050405020304" pitchFamily="18" charset="0"/>
              </a:rPr>
              <a:t>(</a:t>
            </a:r>
            <a:r>
              <a:rPr sz="2000" b="1" i="1" dirty="0">
                <a:solidFill>
                  <a:srgbClr val="6F2F9F"/>
                </a:solidFill>
                <a:latin typeface="Times New Roman" panose="02020603050405020304" pitchFamily="18" charset="0"/>
                <a:cs typeface="Times New Roman" panose="02020603050405020304" pitchFamily="18" charset="0"/>
              </a:rPr>
              <a:t>b,</a:t>
            </a:r>
            <a:r>
              <a:rPr sz="2000" b="1" i="1" spc="-20" dirty="0">
                <a:solidFill>
                  <a:srgbClr val="6F2F9F"/>
                </a:solidFill>
                <a:latin typeface="Times New Roman" panose="02020603050405020304" pitchFamily="18" charset="0"/>
                <a:cs typeface="Times New Roman" panose="02020603050405020304" pitchFamily="18" charset="0"/>
              </a:rPr>
              <a:t> </a:t>
            </a:r>
            <a:r>
              <a:rPr sz="2000" b="1" i="1" dirty="0">
                <a:solidFill>
                  <a:srgbClr val="6F2F9F"/>
                </a:solidFill>
                <a:latin typeface="Times New Roman" panose="02020603050405020304" pitchFamily="18" charset="0"/>
                <a:cs typeface="Times New Roman" panose="02020603050405020304" pitchFamily="18" charset="0"/>
              </a:rPr>
              <a:t>a</a:t>
            </a:r>
            <a:r>
              <a:rPr sz="2000" b="1" dirty="0">
                <a:solidFill>
                  <a:srgbClr val="6F2F9F"/>
                </a:solidFill>
                <a:latin typeface="Times New Roman" panose="02020603050405020304" pitchFamily="18" charset="0"/>
                <a:cs typeface="Times New Roman" panose="02020603050405020304" pitchFamily="18" charset="0"/>
              </a:rPr>
              <a:t>)</a:t>
            </a:r>
            <a:r>
              <a:rPr sz="2000" b="1" spc="-25" dirty="0">
                <a:solidFill>
                  <a:srgbClr val="6F2F9F"/>
                </a:solidFill>
                <a:latin typeface="Times New Roman" panose="02020603050405020304" pitchFamily="18" charset="0"/>
                <a:cs typeface="Times New Roman" panose="02020603050405020304" pitchFamily="18" charset="0"/>
              </a:rPr>
              <a:t> </a:t>
            </a:r>
            <a:r>
              <a:rPr sz="2000" dirty="0">
                <a:solidFill>
                  <a:srgbClr val="6F2F9F"/>
                </a:solidFill>
                <a:latin typeface="Times New Roman" panose="02020603050405020304" pitchFamily="18" charset="0"/>
                <a:cs typeface="Times New Roman" panose="02020603050405020304" pitchFamily="18" charset="0"/>
              </a:rPr>
              <a:t>∈</a:t>
            </a:r>
            <a:r>
              <a:rPr sz="2000" spc="20" dirty="0">
                <a:solidFill>
                  <a:srgbClr val="6F2F9F"/>
                </a:solidFill>
                <a:latin typeface="Times New Roman" panose="02020603050405020304" pitchFamily="18" charset="0"/>
                <a:cs typeface="Times New Roman" panose="02020603050405020304" pitchFamily="18" charset="0"/>
              </a:rPr>
              <a:t> </a:t>
            </a:r>
            <a:r>
              <a:rPr sz="2000" b="1" i="1" spc="-25" dirty="0">
                <a:solidFill>
                  <a:srgbClr val="6F2F9F"/>
                </a:solidFill>
                <a:latin typeface="Times New Roman" panose="02020603050405020304" pitchFamily="18" charset="0"/>
                <a:cs typeface="Times New Roman" panose="02020603050405020304" pitchFamily="18" charset="0"/>
              </a:rPr>
              <a:t>R</a:t>
            </a:r>
            <a:r>
              <a:rPr sz="2000" b="1" spc="-25" dirty="0">
                <a:solidFill>
                  <a:srgbClr val="6F2F9F"/>
                </a:solidFill>
                <a:latin typeface="Times New Roman" panose="02020603050405020304" pitchFamily="18" charset="0"/>
                <a:cs typeface="Times New Roman" panose="02020603050405020304" pitchFamily="18" charset="0"/>
              </a:rPr>
              <a:t>, </a:t>
            </a:r>
            <a:r>
              <a:rPr sz="2000" b="1" dirty="0">
                <a:solidFill>
                  <a:srgbClr val="6F2F9F"/>
                </a:solidFill>
                <a:latin typeface="Times New Roman" panose="02020603050405020304" pitchFamily="18" charset="0"/>
                <a:cs typeface="Times New Roman" panose="02020603050405020304" pitchFamily="18" charset="0"/>
              </a:rPr>
              <a:t>then</a:t>
            </a:r>
            <a:r>
              <a:rPr sz="2000" b="1" spc="-15" dirty="0">
                <a:solidFill>
                  <a:srgbClr val="6F2F9F"/>
                </a:solidFill>
                <a:latin typeface="Times New Roman" panose="02020603050405020304" pitchFamily="18" charset="0"/>
                <a:cs typeface="Times New Roman" panose="02020603050405020304" pitchFamily="18" charset="0"/>
              </a:rPr>
              <a:t> </a:t>
            </a:r>
            <a:r>
              <a:rPr sz="2000" b="1" i="1" dirty="0">
                <a:solidFill>
                  <a:srgbClr val="6F2F9F"/>
                </a:solidFill>
                <a:latin typeface="Times New Roman" panose="02020603050405020304" pitchFamily="18" charset="0"/>
                <a:cs typeface="Times New Roman" panose="02020603050405020304" pitchFamily="18" charset="0"/>
              </a:rPr>
              <a:t>a</a:t>
            </a:r>
            <a:r>
              <a:rPr sz="2000" b="1" i="1" spc="-15" dirty="0">
                <a:solidFill>
                  <a:srgbClr val="6F2F9F"/>
                </a:solidFill>
                <a:latin typeface="Times New Roman" panose="02020603050405020304" pitchFamily="18" charset="0"/>
                <a:cs typeface="Times New Roman" panose="02020603050405020304" pitchFamily="18" charset="0"/>
              </a:rPr>
              <a:t> </a:t>
            </a:r>
            <a:r>
              <a:rPr sz="2000" b="1" dirty="0">
                <a:solidFill>
                  <a:srgbClr val="6F2F9F"/>
                </a:solidFill>
                <a:latin typeface="Times New Roman" panose="02020603050405020304" pitchFamily="18" charset="0"/>
                <a:cs typeface="Times New Roman" panose="02020603050405020304" pitchFamily="18" charset="0"/>
              </a:rPr>
              <a:t>=</a:t>
            </a:r>
            <a:r>
              <a:rPr sz="2000" b="1" spc="-20" dirty="0">
                <a:solidFill>
                  <a:srgbClr val="6F2F9F"/>
                </a:solidFill>
                <a:latin typeface="Times New Roman" panose="02020603050405020304" pitchFamily="18" charset="0"/>
                <a:cs typeface="Times New Roman" panose="02020603050405020304" pitchFamily="18" charset="0"/>
              </a:rPr>
              <a:t> </a:t>
            </a:r>
            <a:r>
              <a:rPr sz="2000" b="1" i="1" dirty="0">
                <a:solidFill>
                  <a:srgbClr val="6F2F9F"/>
                </a:solidFill>
                <a:latin typeface="Times New Roman" panose="02020603050405020304" pitchFamily="18" charset="0"/>
                <a:cs typeface="Times New Roman" panose="02020603050405020304" pitchFamily="18" charset="0"/>
              </a:rPr>
              <a:t>b</a:t>
            </a:r>
            <a:r>
              <a:rPr sz="2000" b="1" i="1" spc="-15" dirty="0">
                <a:solidFill>
                  <a:srgbClr val="6F2F9F"/>
                </a:solidFill>
                <a:latin typeface="Times New Roman" panose="02020603050405020304" pitchFamily="18" charset="0"/>
                <a:cs typeface="Times New Roman" panose="02020603050405020304" pitchFamily="18" charset="0"/>
              </a:rPr>
              <a:t> </a:t>
            </a:r>
            <a:r>
              <a:rPr sz="2000" b="1" dirty="0">
                <a:solidFill>
                  <a:srgbClr val="6F2F9F"/>
                </a:solidFill>
                <a:latin typeface="Times New Roman" panose="02020603050405020304" pitchFamily="18" charset="0"/>
                <a:cs typeface="Times New Roman" panose="02020603050405020304" pitchFamily="18" charset="0"/>
              </a:rPr>
              <a:t>is</a:t>
            </a:r>
            <a:r>
              <a:rPr sz="2000" b="1" spc="-15" dirty="0">
                <a:solidFill>
                  <a:srgbClr val="6F2F9F"/>
                </a:solidFill>
                <a:latin typeface="Times New Roman" panose="02020603050405020304" pitchFamily="18" charset="0"/>
                <a:cs typeface="Times New Roman" panose="02020603050405020304" pitchFamily="18" charset="0"/>
              </a:rPr>
              <a:t> </a:t>
            </a:r>
            <a:r>
              <a:rPr sz="2000" b="1" dirty="0">
                <a:solidFill>
                  <a:srgbClr val="6F2F9F"/>
                </a:solidFill>
                <a:latin typeface="Times New Roman" panose="02020603050405020304" pitchFamily="18" charset="0"/>
                <a:cs typeface="Times New Roman" panose="02020603050405020304" pitchFamily="18" charset="0"/>
              </a:rPr>
              <a:t>called</a:t>
            </a:r>
            <a:r>
              <a:rPr sz="2000" b="1" spc="-20" dirty="0">
                <a:solidFill>
                  <a:srgbClr val="6F2F9F"/>
                </a:solidFill>
                <a:latin typeface="Times New Roman" panose="02020603050405020304" pitchFamily="18" charset="0"/>
                <a:cs typeface="Times New Roman" panose="02020603050405020304" pitchFamily="18" charset="0"/>
              </a:rPr>
              <a:t> </a:t>
            </a:r>
            <a:r>
              <a:rPr sz="2000" b="1" i="1" spc="-10" dirty="0">
                <a:solidFill>
                  <a:srgbClr val="6F2F9F"/>
                </a:solidFill>
                <a:latin typeface="Times New Roman" panose="02020603050405020304" pitchFamily="18" charset="0"/>
                <a:cs typeface="Times New Roman" panose="02020603050405020304" pitchFamily="18" charset="0"/>
              </a:rPr>
              <a:t>antisymmetric</a:t>
            </a:r>
            <a:r>
              <a:rPr sz="2000" b="1" spc="-10" dirty="0">
                <a:solidFill>
                  <a:srgbClr val="6F2F9F"/>
                </a:solidFill>
                <a:latin typeface="Times New Roman" panose="02020603050405020304" pitchFamily="18" charset="0"/>
                <a:cs typeface="Times New Roman" panose="02020603050405020304" pitchFamily="18" charset="0"/>
              </a:rPr>
              <a:t>.</a:t>
            </a:r>
            <a:endParaRPr lang="en-US" sz="2000" b="1" spc="-10" dirty="0">
              <a:solidFill>
                <a:srgbClr val="6F2F9F"/>
              </a:solidFill>
              <a:latin typeface="Times New Roman" panose="02020603050405020304" pitchFamily="18" charset="0"/>
              <a:cs typeface="Times New Roman" panose="02020603050405020304" pitchFamily="18" charset="0"/>
            </a:endParaRPr>
          </a:p>
          <a:p>
            <a:pPr marL="12700" marR="74295">
              <a:lnSpc>
                <a:spcPct val="80000"/>
              </a:lnSpc>
              <a:spcBef>
                <a:spcPts val="1005"/>
              </a:spcBef>
            </a:pPr>
            <a:endParaRPr sz="2000" dirty="0">
              <a:latin typeface="Times New Roman" panose="02020603050405020304" pitchFamily="18" charset="0"/>
              <a:cs typeface="Times New Roman" panose="02020603050405020304" pitchFamily="18" charset="0"/>
            </a:endParaRPr>
          </a:p>
          <a:p>
            <a:pPr marL="285750" lvl="2" indent="-285750" algn="l">
              <a:buFont typeface="Arial" panose="020B0604020202020204" pitchFamily="34" charset="0"/>
              <a:buChar char="•"/>
            </a:pPr>
            <a:r>
              <a:rPr lang="en-US" sz="2000" b="0" i="0" dirty="0">
                <a:solidFill>
                  <a:srgbClr val="0F1115"/>
                </a:solidFill>
                <a:effectLst/>
                <a:latin typeface="Times New Roman" panose="02020603050405020304" pitchFamily="18" charset="0"/>
                <a:cs typeface="Times New Roman" panose="02020603050405020304" pitchFamily="18" charset="0"/>
              </a:rPr>
              <a:t>A </a:t>
            </a:r>
            <a:r>
              <a:rPr lang="en-US" sz="2000" b="1" i="0" dirty="0">
                <a:solidFill>
                  <a:srgbClr val="0F1115"/>
                </a:solidFill>
                <a:effectLst/>
                <a:latin typeface="Times New Roman" panose="02020603050405020304" pitchFamily="18" charset="0"/>
                <a:cs typeface="Times New Roman" panose="02020603050405020304" pitchFamily="18" charset="0"/>
              </a:rPr>
              <a:t>symmetric</a:t>
            </a:r>
            <a:r>
              <a:rPr lang="en-US" sz="2000" b="0" i="0" dirty="0">
                <a:solidFill>
                  <a:srgbClr val="0F1115"/>
                </a:solidFill>
                <a:effectLst/>
                <a:latin typeface="Times New Roman" panose="02020603050405020304" pitchFamily="18" charset="0"/>
                <a:cs typeface="Times New Roman" panose="02020603050405020304" pitchFamily="18" charset="0"/>
              </a:rPr>
              <a:t> relation:</a:t>
            </a:r>
            <a:br>
              <a:rPr lang="en-US" sz="2000" b="0" i="0" dirty="0">
                <a:solidFill>
                  <a:srgbClr val="0F1115"/>
                </a:solidFill>
                <a:effectLst/>
                <a:latin typeface="Times New Roman" panose="02020603050405020304" pitchFamily="18" charset="0"/>
                <a:cs typeface="Times New Roman" panose="02020603050405020304" pitchFamily="18" charset="0"/>
              </a:rPr>
            </a:br>
            <a:r>
              <a:rPr lang="en-US" sz="2000" b="0" i="0" dirty="0">
                <a:solidFill>
                  <a:srgbClr val="0F1115"/>
                </a:solidFill>
                <a:effectLst/>
                <a:latin typeface="Times New Roman" panose="02020603050405020304" pitchFamily="18" charset="0"/>
                <a:cs typeface="Times New Roman" panose="02020603050405020304" pitchFamily="18" charset="0"/>
              </a:rPr>
              <a:t>A relation R on a set A is symmetric if: </a:t>
            </a:r>
            <a:r>
              <a:rPr lang="en-US" sz="2000" b="1" i="0" dirty="0">
                <a:solidFill>
                  <a:srgbClr val="CC0066"/>
                </a:solidFill>
                <a:effectLst/>
                <a:latin typeface="Times New Roman" panose="02020603050405020304" pitchFamily="18" charset="0"/>
                <a:cs typeface="Times New Roman" panose="02020603050405020304" pitchFamily="18" charset="0"/>
              </a:rPr>
              <a:t>(𝑎,𝑏)∈𝑅 ⇒ (𝑏,𝑎)∈𝑅 </a:t>
            </a:r>
            <a:br>
              <a:rPr lang="en-US" sz="2000" b="0" i="0" dirty="0">
                <a:solidFill>
                  <a:srgbClr val="0F1115"/>
                </a:solidFill>
                <a:effectLst/>
                <a:latin typeface="Times New Roman" panose="02020603050405020304" pitchFamily="18" charset="0"/>
                <a:cs typeface="Times New Roman" panose="02020603050405020304" pitchFamily="18" charset="0"/>
              </a:rPr>
            </a:br>
            <a:r>
              <a:rPr lang="en-US" sz="2000" b="0" i="0" dirty="0">
                <a:solidFill>
                  <a:srgbClr val="0070C0"/>
                </a:solidFill>
                <a:effectLst/>
                <a:latin typeface="Times New Roman" panose="02020603050405020304" pitchFamily="18" charset="0"/>
                <a:cs typeface="Times New Roman" panose="02020603050405020304" pitchFamily="18" charset="0"/>
              </a:rPr>
              <a:t>Meaning: Whenever a is related to b, b must also be related to a.</a:t>
            </a:r>
          </a:p>
          <a:p>
            <a:pPr marL="285750" lvl="2" indent="-285750" algn="l">
              <a:buFont typeface="Arial" panose="020B0604020202020204" pitchFamily="34" charset="0"/>
              <a:buChar char="•"/>
            </a:pPr>
            <a:r>
              <a:rPr lang="en-US" sz="2000" b="0" i="0" dirty="0">
                <a:solidFill>
                  <a:srgbClr val="CC0066"/>
                </a:solidFill>
                <a:effectLst/>
                <a:latin typeface="Times New Roman" panose="02020603050405020304" pitchFamily="18" charset="0"/>
                <a:cs typeface="Times New Roman" panose="02020603050405020304" pitchFamily="18" charset="0"/>
              </a:rPr>
              <a:t>Let 𝐴={1,2,3} so 𝑅={(1,2),(2,1),(2,3),(3,2)} </a:t>
            </a:r>
            <a:r>
              <a:rPr lang="en-US" sz="2000" b="1" i="0" dirty="0">
                <a:solidFill>
                  <a:srgbClr val="7030A0"/>
                </a:solidFill>
                <a:effectLst/>
                <a:latin typeface="Times New Roman" panose="02020603050405020304" pitchFamily="18" charset="0"/>
                <a:cs typeface="Times New Roman" panose="02020603050405020304" pitchFamily="18" charset="0"/>
              </a:rPr>
              <a:t>So R is symmetric</a:t>
            </a:r>
            <a:br>
              <a:rPr lang="en-US" sz="2000" b="0" i="0" dirty="0">
                <a:solidFill>
                  <a:srgbClr val="0F1115"/>
                </a:solidFill>
                <a:effectLst/>
                <a:latin typeface="Times New Roman" panose="02020603050405020304" pitchFamily="18" charset="0"/>
                <a:cs typeface="Times New Roman" panose="02020603050405020304" pitchFamily="18" charset="0"/>
              </a:rPr>
            </a:br>
            <a:r>
              <a:rPr lang="en-US" sz="2000" b="0" i="0" dirty="0">
                <a:solidFill>
                  <a:srgbClr val="0F1115"/>
                </a:solidFill>
                <a:effectLst/>
                <a:latin typeface="Times New Roman" panose="02020603050405020304" pitchFamily="18" charset="0"/>
                <a:cs typeface="Times New Roman" panose="02020603050405020304" pitchFamily="18" charset="0"/>
              </a:rPr>
              <a:t> </a:t>
            </a:r>
            <a:endParaRPr lang="en-US" sz="2000" dirty="0">
              <a:solidFill>
                <a:srgbClr val="0F1115"/>
              </a:solidFill>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sz="2000" b="0" i="0" dirty="0">
                <a:solidFill>
                  <a:srgbClr val="0F1115"/>
                </a:solidFill>
                <a:effectLst/>
                <a:latin typeface="Times New Roman" panose="02020603050405020304" pitchFamily="18" charset="0"/>
                <a:cs typeface="Times New Roman" panose="02020603050405020304" pitchFamily="18" charset="0"/>
              </a:rPr>
              <a:t>An </a:t>
            </a:r>
            <a:r>
              <a:rPr lang="en-US" sz="2000" b="1" i="0" dirty="0">
                <a:solidFill>
                  <a:srgbClr val="0F1115"/>
                </a:solidFill>
                <a:effectLst/>
                <a:latin typeface="Times New Roman" panose="02020603050405020304" pitchFamily="18" charset="0"/>
                <a:cs typeface="Times New Roman" panose="02020603050405020304" pitchFamily="18" charset="0"/>
              </a:rPr>
              <a:t>antisymmetric</a:t>
            </a:r>
            <a:r>
              <a:rPr lang="en-US" sz="2000" b="0" i="0" dirty="0">
                <a:solidFill>
                  <a:srgbClr val="0F1115"/>
                </a:solidFill>
                <a:effectLst/>
                <a:latin typeface="Times New Roman" panose="02020603050405020304" pitchFamily="18" charset="0"/>
                <a:cs typeface="Times New Roman" panose="02020603050405020304" pitchFamily="18" charset="0"/>
              </a:rPr>
              <a:t> relation:</a:t>
            </a:r>
            <a:br>
              <a:rPr lang="en-US" sz="2000" b="0" i="0" dirty="0">
                <a:solidFill>
                  <a:srgbClr val="0F1115"/>
                </a:solidFill>
                <a:effectLst/>
                <a:latin typeface="Times New Roman" panose="02020603050405020304" pitchFamily="18" charset="0"/>
                <a:cs typeface="Times New Roman" panose="02020603050405020304" pitchFamily="18" charset="0"/>
              </a:rPr>
            </a:br>
            <a:r>
              <a:rPr lang="en-US" sz="2000" b="0" i="0" dirty="0">
                <a:solidFill>
                  <a:srgbClr val="0F1115"/>
                </a:solidFill>
                <a:effectLst/>
                <a:latin typeface="quote-cjk-patch"/>
              </a:rPr>
              <a:t>A relation R on A is antisymmetric if</a:t>
            </a:r>
            <a:r>
              <a:rPr lang="en-US" sz="2000" b="1" i="0" dirty="0">
                <a:solidFill>
                  <a:srgbClr val="CC0066"/>
                </a:solidFill>
                <a:effectLst/>
                <a:latin typeface="quote-cjk-patch"/>
              </a:rPr>
              <a:t>: (𝑎,𝑏)∈𝑅 and (𝑏,𝑎)∈𝑅⇒ 𝑎=𝑏</a:t>
            </a:r>
            <a:br>
              <a:rPr lang="en-US" sz="2000" b="1" i="0" dirty="0">
                <a:solidFill>
                  <a:srgbClr val="CC0066"/>
                </a:solidFill>
                <a:effectLst/>
                <a:latin typeface="quote-cjk-patch"/>
              </a:rPr>
            </a:br>
            <a:r>
              <a:rPr lang="en-US" sz="2000" i="0" dirty="0">
                <a:solidFill>
                  <a:srgbClr val="0070C0"/>
                </a:solidFill>
                <a:effectLst/>
                <a:latin typeface="Times New Roman" panose="02020603050405020304" pitchFamily="18" charset="0"/>
                <a:cs typeface="Times New Roman" panose="02020603050405020304" pitchFamily="18" charset="0"/>
              </a:rPr>
              <a:t>Meaning: If both directions happen, then a and b must be the same element.</a:t>
            </a:r>
          </a:p>
          <a:p>
            <a:pPr marL="285750" indent="-285750" algn="l">
              <a:buFont typeface="Wingdings" panose="05000000000000000000" pitchFamily="2" charset="2"/>
              <a:buChar char="Ø"/>
            </a:pPr>
            <a:r>
              <a:rPr lang="en-US" i="0" dirty="0">
                <a:solidFill>
                  <a:srgbClr val="CC0066"/>
                </a:solidFill>
                <a:effectLst/>
                <a:latin typeface="Times New Roman" panose="02020603050405020304" pitchFamily="18" charset="0"/>
                <a:cs typeface="Times New Roman" panose="02020603050405020304" pitchFamily="18" charset="0"/>
              </a:rPr>
              <a:t>Let 𝐴={1,2,3}, 𝑅={(1,1),(2,2),(3,3),(1,2)} </a:t>
            </a:r>
            <a:br>
              <a:rPr lang="en-US" i="0" dirty="0">
                <a:solidFill>
                  <a:srgbClr val="CC0066"/>
                </a:solidFill>
                <a:effectLst/>
                <a:latin typeface="Times New Roman" panose="02020603050405020304" pitchFamily="18" charset="0"/>
                <a:cs typeface="Times New Roman" panose="02020603050405020304" pitchFamily="18" charset="0"/>
              </a:rPr>
            </a:br>
            <a:r>
              <a:rPr lang="en-US" i="0" dirty="0">
                <a:solidFill>
                  <a:srgbClr val="7030A0"/>
                </a:solidFill>
                <a:effectLst/>
                <a:latin typeface="Times New Roman" panose="02020603050405020304" pitchFamily="18" charset="0"/>
                <a:cs typeface="Times New Roman" panose="02020603050405020304" pitchFamily="18" charset="0"/>
              </a:rPr>
              <a:t>Notice: (1,2) is there (2,1) is NOT there </a:t>
            </a:r>
            <a:br>
              <a:rPr lang="en-US" i="0" dirty="0">
                <a:solidFill>
                  <a:srgbClr val="7030A0"/>
                </a:solidFill>
                <a:effectLst/>
                <a:latin typeface="Times New Roman" panose="02020603050405020304" pitchFamily="18" charset="0"/>
                <a:cs typeface="Times New Roman" panose="02020603050405020304" pitchFamily="18" charset="0"/>
              </a:rPr>
            </a:br>
            <a:r>
              <a:rPr lang="en-US" i="0" dirty="0">
                <a:solidFill>
                  <a:srgbClr val="7030A0"/>
                </a:solidFill>
                <a:effectLst/>
                <a:latin typeface="Times New Roman" panose="02020603050405020304" pitchFamily="18" charset="0"/>
                <a:cs typeface="Times New Roman" panose="02020603050405020304" pitchFamily="18" charset="0"/>
              </a:rPr>
              <a:t>So no two different numbers point to each other.</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41676" y="27178"/>
            <a:ext cx="2237105" cy="574040"/>
          </a:xfrm>
          <a:prstGeom prst="rect">
            <a:avLst/>
          </a:prstGeom>
        </p:spPr>
        <p:txBody>
          <a:bodyPr vert="horz" wrap="square" lIns="0" tIns="12700" rIns="0" bIns="0" rtlCol="0">
            <a:spAutoFit/>
          </a:bodyPr>
          <a:lstStyle/>
          <a:p>
            <a:pPr marL="12700">
              <a:lnSpc>
                <a:spcPct val="100000"/>
              </a:lnSpc>
              <a:spcBef>
                <a:spcPts val="100"/>
              </a:spcBef>
            </a:pPr>
            <a:r>
              <a:rPr dirty="0"/>
              <a:t>EXAMPLE</a:t>
            </a:r>
            <a:r>
              <a:rPr spc="-160" dirty="0"/>
              <a:t> </a:t>
            </a:r>
            <a:r>
              <a:rPr spc="-50" dirty="0"/>
              <a:t>I</a:t>
            </a:r>
          </a:p>
        </p:txBody>
      </p:sp>
      <p:sp>
        <p:nvSpPr>
          <p:cNvPr id="3" name="object 3"/>
          <p:cNvSpPr txBox="1"/>
          <p:nvPr/>
        </p:nvSpPr>
        <p:spPr>
          <a:xfrm>
            <a:off x="231140" y="584911"/>
            <a:ext cx="7234555" cy="5480346"/>
          </a:xfrm>
          <a:prstGeom prst="rect">
            <a:avLst/>
          </a:prstGeom>
        </p:spPr>
        <p:txBody>
          <a:bodyPr vert="horz" wrap="square" lIns="0" tIns="139065" rIns="0" bIns="0" rtlCol="0">
            <a:spAutoFit/>
          </a:bodyPr>
          <a:lstStyle/>
          <a:p>
            <a:pPr marL="12700">
              <a:lnSpc>
                <a:spcPct val="100000"/>
              </a:lnSpc>
              <a:spcBef>
                <a:spcPts val="1095"/>
              </a:spcBef>
            </a:pPr>
            <a:r>
              <a:rPr sz="1700" dirty="0">
                <a:solidFill>
                  <a:srgbClr val="404040"/>
                </a:solidFill>
                <a:latin typeface="Times New Roman"/>
                <a:cs typeface="Times New Roman"/>
              </a:rPr>
              <a:t>C</a:t>
            </a:r>
            <a:r>
              <a:rPr sz="1700" b="1" dirty="0">
                <a:solidFill>
                  <a:srgbClr val="404040"/>
                </a:solidFill>
                <a:latin typeface="Times New Roman"/>
                <a:cs typeface="Times New Roman"/>
              </a:rPr>
              <a:t>onsider</a:t>
            </a:r>
            <a:r>
              <a:rPr sz="1700" b="1" spc="-60" dirty="0">
                <a:solidFill>
                  <a:srgbClr val="404040"/>
                </a:solidFill>
                <a:latin typeface="Times New Roman"/>
                <a:cs typeface="Times New Roman"/>
              </a:rPr>
              <a:t> </a:t>
            </a:r>
            <a:r>
              <a:rPr sz="1700" b="1" dirty="0">
                <a:solidFill>
                  <a:srgbClr val="404040"/>
                </a:solidFill>
                <a:latin typeface="Times New Roman"/>
                <a:cs typeface="Times New Roman"/>
              </a:rPr>
              <a:t>the</a:t>
            </a:r>
            <a:r>
              <a:rPr sz="1700" b="1" spc="-35" dirty="0">
                <a:solidFill>
                  <a:srgbClr val="404040"/>
                </a:solidFill>
                <a:latin typeface="Times New Roman"/>
                <a:cs typeface="Times New Roman"/>
              </a:rPr>
              <a:t> </a:t>
            </a:r>
            <a:r>
              <a:rPr sz="1700" b="1" dirty="0">
                <a:solidFill>
                  <a:srgbClr val="404040"/>
                </a:solidFill>
                <a:latin typeface="Times New Roman"/>
                <a:cs typeface="Times New Roman"/>
              </a:rPr>
              <a:t>following</a:t>
            </a:r>
            <a:r>
              <a:rPr sz="1700" b="1" spc="-30" dirty="0">
                <a:solidFill>
                  <a:srgbClr val="404040"/>
                </a:solidFill>
                <a:latin typeface="Times New Roman"/>
                <a:cs typeface="Times New Roman"/>
              </a:rPr>
              <a:t> </a:t>
            </a:r>
            <a:r>
              <a:rPr sz="1700" b="1" dirty="0">
                <a:solidFill>
                  <a:srgbClr val="404040"/>
                </a:solidFill>
                <a:latin typeface="Times New Roman"/>
                <a:cs typeface="Times New Roman"/>
              </a:rPr>
              <a:t>relations</a:t>
            </a:r>
            <a:r>
              <a:rPr sz="1700" b="1" spc="-35" dirty="0">
                <a:solidFill>
                  <a:srgbClr val="404040"/>
                </a:solidFill>
                <a:latin typeface="Times New Roman"/>
                <a:cs typeface="Times New Roman"/>
              </a:rPr>
              <a:t> </a:t>
            </a:r>
            <a:r>
              <a:rPr sz="1700" b="1" dirty="0">
                <a:solidFill>
                  <a:srgbClr val="404040"/>
                </a:solidFill>
                <a:latin typeface="Times New Roman"/>
                <a:cs typeface="Times New Roman"/>
              </a:rPr>
              <a:t>on</a:t>
            </a:r>
            <a:r>
              <a:rPr sz="1700" b="1" spc="-40"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40"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30" dirty="0">
                <a:solidFill>
                  <a:srgbClr val="404040"/>
                </a:solidFill>
                <a:latin typeface="Times New Roman"/>
                <a:cs typeface="Times New Roman"/>
              </a:rPr>
              <a:t> </a:t>
            </a:r>
            <a:r>
              <a:rPr sz="1700" b="1" dirty="0">
                <a:solidFill>
                  <a:srgbClr val="404040"/>
                </a:solidFill>
                <a:latin typeface="Times New Roman"/>
                <a:cs typeface="Times New Roman"/>
              </a:rPr>
              <a:t>3</a:t>
            </a:r>
            <a:r>
              <a:rPr sz="1700" b="1" i="1" dirty="0">
                <a:solidFill>
                  <a:srgbClr val="404040"/>
                </a:solidFill>
                <a:latin typeface="Times New Roman"/>
                <a:cs typeface="Times New Roman"/>
              </a:rPr>
              <a:t>,</a:t>
            </a:r>
            <a:r>
              <a:rPr sz="1700" b="1" i="1" spc="-40" dirty="0">
                <a:solidFill>
                  <a:srgbClr val="404040"/>
                </a:solidFill>
                <a:latin typeface="Times New Roman"/>
                <a:cs typeface="Times New Roman"/>
              </a:rPr>
              <a:t> </a:t>
            </a:r>
            <a:r>
              <a:rPr sz="1700" b="1" spc="-25" dirty="0">
                <a:solidFill>
                  <a:srgbClr val="404040"/>
                </a:solidFill>
                <a:latin typeface="Times New Roman"/>
                <a:cs typeface="Times New Roman"/>
              </a:rPr>
              <a:t>4}:</a:t>
            </a:r>
            <a:endParaRPr sz="1700" dirty="0">
              <a:latin typeface="Times New Roman"/>
              <a:cs typeface="Times New Roman"/>
            </a:endParaRPr>
          </a:p>
          <a:p>
            <a:pPr marL="12700">
              <a:lnSpc>
                <a:spcPct val="100000"/>
              </a:lnSpc>
              <a:spcBef>
                <a:spcPts val="1000"/>
              </a:spcBef>
              <a:tabLst>
                <a:tab pos="354965" algn="l"/>
              </a:tabLst>
            </a:pPr>
            <a:r>
              <a:rPr sz="1350" spc="65" dirty="0">
                <a:solidFill>
                  <a:srgbClr val="90C225"/>
                </a:solidFill>
                <a:latin typeface="Lucida Sans Unicode"/>
                <a:cs typeface="Lucida Sans Unicode"/>
              </a:rPr>
              <a:t>▶</a:t>
            </a:r>
            <a:r>
              <a:rPr sz="1350" dirty="0">
                <a:solidFill>
                  <a:srgbClr val="90C225"/>
                </a:solidFill>
                <a:latin typeface="Lucida Sans Unicode"/>
                <a:cs typeface="Lucida Sans Unicode"/>
              </a:rPr>
              <a:t>	</a:t>
            </a:r>
            <a:r>
              <a:rPr sz="1700" b="1" i="1" dirty="0">
                <a:solidFill>
                  <a:srgbClr val="404040"/>
                </a:solidFill>
                <a:latin typeface="Times New Roman"/>
                <a:cs typeface="Times New Roman"/>
              </a:rPr>
              <a:t>R</a:t>
            </a:r>
            <a:r>
              <a:rPr sz="1700" b="1" dirty="0">
                <a:solidFill>
                  <a:srgbClr val="404040"/>
                </a:solidFill>
                <a:latin typeface="Times New Roman"/>
                <a:cs typeface="Times New Roman"/>
              </a:rPr>
              <a:t>2</a:t>
            </a:r>
            <a:r>
              <a:rPr sz="1700" b="1" spc="-20" dirty="0">
                <a:solidFill>
                  <a:srgbClr val="404040"/>
                </a:solidFill>
                <a:latin typeface="Times New Roman"/>
                <a:cs typeface="Times New Roman"/>
              </a:rPr>
              <a:t> </a:t>
            </a:r>
            <a:r>
              <a:rPr sz="1700" b="1" dirty="0">
                <a:solidFill>
                  <a:srgbClr val="404040"/>
                </a:solidFill>
                <a:latin typeface="Times New Roman"/>
                <a:cs typeface="Times New Roman"/>
              </a:rPr>
              <a:t>=</a:t>
            </a:r>
            <a:r>
              <a:rPr sz="1700" b="1" spc="-25"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15"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spc="-20" dirty="0">
                <a:solidFill>
                  <a:srgbClr val="404040"/>
                </a:solidFill>
                <a:latin typeface="Times New Roman"/>
                <a:cs typeface="Times New Roman"/>
              </a:rPr>
              <a:t>1)}</a:t>
            </a:r>
            <a:r>
              <a:rPr sz="1700" b="1" i="1" spc="-20" dirty="0">
                <a:solidFill>
                  <a:srgbClr val="404040"/>
                </a:solidFill>
                <a:latin typeface="Times New Roman"/>
                <a:cs typeface="Times New Roman"/>
              </a:rPr>
              <a:t>,</a:t>
            </a:r>
            <a:endParaRPr sz="1700" dirty="0">
              <a:latin typeface="Times New Roman"/>
              <a:cs typeface="Times New Roman"/>
            </a:endParaRPr>
          </a:p>
          <a:p>
            <a:pPr marL="12700">
              <a:lnSpc>
                <a:spcPct val="100000"/>
              </a:lnSpc>
              <a:spcBef>
                <a:spcPts val="1005"/>
              </a:spcBef>
              <a:tabLst>
                <a:tab pos="354965" algn="l"/>
              </a:tabLst>
            </a:pPr>
            <a:r>
              <a:rPr sz="1350" spc="65" dirty="0">
                <a:solidFill>
                  <a:srgbClr val="90C225"/>
                </a:solidFill>
                <a:latin typeface="Lucida Sans Unicode"/>
                <a:cs typeface="Lucida Sans Unicode"/>
              </a:rPr>
              <a:t>▶</a:t>
            </a:r>
            <a:r>
              <a:rPr sz="1350" dirty="0">
                <a:solidFill>
                  <a:srgbClr val="90C225"/>
                </a:solidFill>
                <a:latin typeface="Lucida Sans Unicode"/>
                <a:cs typeface="Lucida Sans Unicode"/>
              </a:rPr>
              <a:t>	</a:t>
            </a:r>
            <a:r>
              <a:rPr sz="1700" b="1" i="1" dirty="0">
                <a:solidFill>
                  <a:srgbClr val="404040"/>
                </a:solidFill>
                <a:latin typeface="Times New Roman"/>
                <a:cs typeface="Times New Roman"/>
              </a:rPr>
              <a:t>R</a:t>
            </a:r>
            <a:r>
              <a:rPr sz="1700" b="1" dirty="0">
                <a:solidFill>
                  <a:srgbClr val="404040"/>
                </a:solidFill>
                <a:latin typeface="Times New Roman"/>
                <a:cs typeface="Times New Roman"/>
              </a:rPr>
              <a:t>3</a:t>
            </a:r>
            <a:r>
              <a:rPr sz="1700" b="1" spc="-20" dirty="0">
                <a:solidFill>
                  <a:srgbClr val="404040"/>
                </a:solidFill>
                <a:latin typeface="Times New Roman"/>
                <a:cs typeface="Times New Roman"/>
              </a:rPr>
              <a:t> </a:t>
            </a:r>
            <a:r>
              <a:rPr sz="1700" b="1" dirty="0">
                <a:solidFill>
                  <a:srgbClr val="404040"/>
                </a:solidFill>
                <a:latin typeface="Times New Roman"/>
                <a:cs typeface="Times New Roman"/>
              </a:rPr>
              <a:t>=</a:t>
            </a:r>
            <a:r>
              <a:rPr sz="1700" b="1" spc="-25"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4)</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15"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(3</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3)</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(4</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(4</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spc="-20" dirty="0">
                <a:solidFill>
                  <a:srgbClr val="404040"/>
                </a:solidFill>
                <a:latin typeface="Times New Roman"/>
                <a:cs typeface="Times New Roman"/>
              </a:rPr>
              <a:t>4)}</a:t>
            </a:r>
            <a:r>
              <a:rPr sz="1700" b="1" i="1" spc="-20" dirty="0">
                <a:solidFill>
                  <a:srgbClr val="404040"/>
                </a:solidFill>
                <a:latin typeface="Times New Roman"/>
                <a:cs typeface="Times New Roman"/>
              </a:rPr>
              <a:t>,</a:t>
            </a:r>
            <a:endParaRPr sz="1700" dirty="0">
              <a:latin typeface="Times New Roman"/>
              <a:cs typeface="Times New Roman"/>
            </a:endParaRPr>
          </a:p>
          <a:p>
            <a:pPr marL="12700">
              <a:lnSpc>
                <a:spcPct val="100000"/>
              </a:lnSpc>
              <a:spcBef>
                <a:spcPts val="994"/>
              </a:spcBef>
              <a:tabLst>
                <a:tab pos="354965" algn="l"/>
              </a:tabLst>
            </a:pPr>
            <a:r>
              <a:rPr sz="1350" spc="65" dirty="0">
                <a:solidFill>
                  <a:srgbClr val="90C225"/>
                </a:solidFill>
                <a:latin typeface="Lucida Sans Unicode"/>
                <a:cs typeface="Lucida Sans Unicode"/>
              </a:rPr>
              <a:t>▶</a:t>
            </a:r>
            <a:r>
              <a:rPr sz="1350" dirty="0">
                <a:solidFill>
                  <a:srgbClr val="90C225"/>
                </a:solidFill>
                <a:latin typeface="Lucida Sans Unicode"/>
                <a:cs typeface="Lucida Sans Unicode"/>
              </a:rPr>
              <a:t>	</a:t>
            </a:r>
            <a:r>
              <a:rPr sz="1700" b="1" i="1" dirty="0">
                <a:solidFill>
                  <a:srgbClr val="404040"/>
                </a:solidFill>
                <a:latin typeface="Times New Roman"/>
                <a:cs typeface="Times New Roman"/>
              </a:rPr>
              <a:t>R</a:t>
            </a:r>
            <a:r>
              <a:rPr sz="1700" b="1" dirty="0">
                <a:solidFill>
                  <a:srgbClr val="404040"/>
                </a:solidFill>
                <a:latin typeface="Times New Roman"/>
                <a:cs typeface="Times New Roman"/>
              </a:rPr>
              <a:t>4</a:t>
            </a:r>
            <a:r>
              <a:rPr sz="1700" b="1" spc="-20" dirty="0">
                <a:solidFill>
                  <a:srgbClr val="404040"/>
                </a:solidFill>
                <a:latin typeface="Times New Roman"/>
                <a:cs typeface="Times New Roman"/>
              </a:rPr>
              <a:t> </a:t>
            </a:r>
            <a:r>
              <a:rPr sz="1700" b="1" dirty="0">
                <a:solidFill>
                  <a:srgbClr val="404040"/>
                </a:solidFill>
                <a:latin typeface="Times New Roman"/>
                <a:cs typeface="Times New Roman"/>
              </a:rPr>
              <a:t>=</a:t>
            </a:r>
            <a:r>
              <a:rPr sz="1700" b="1" spc="-25"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(3</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(3</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(4</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(4</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(4</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spc="-20" dirty="0">
                <a:solidFill>
                  <a:srgbClr val="404040"/>
                </a:solidFill>
                <a:latin typeface="Times New Roman"/>
                <a:cs typeface="Times New Roman"/>
              </a:rPr>
              <a:t>3)}</a:t>
            </a:r>
            <a:r>
              <a:rPr sz="1700" b="1" i="1" spc="-20" dirty="0">
                <a:solidFill>
                  <a:srgbClr val="404040"/>
                </a:solidFill>
                <a:latin typeface="Times New Roman"/>
                <a:cs typeface="Times New Roman"/>
              </a:rPr>
              <a:t>,</a:t>
            </a:r>
            <a:endParaRPr sz="1700" dirty="0">
              <a:latin typeface="Times New Roman"/>
              <a:cs typeface="Times New Roman"/>
            </a:endParaRPr>
          </a:p>
          <a:p>
            <a:pPr marL="12700">
              <a:lnSpc>
                <a:spcPct val="100000"/>
              </a:lnSpc>
              <a:spcBef>
                <a:spcPts val="1000"/>
              </a:spcBef>
              <a:tabLst>
                <a:tab pos="354965" algn="l"/>
              </a:tabLst>
            </a:pPr>
            <a:r>
              <a:rPr sz="1350" spc="65" dirty="0">
                <a:solidFill>
                  <a:srgbClr val="90C225"/>
                </a:solidFill>
                <a:latin typeface="Lucida Sans Unicode"/>
                <a:cs typeface="Lucida Sans Unicode"/>
              </a:rPr>
              <a:t>▶</a:t>
            </a:r>
            <a:r>
              <a:rPr sz="1350" dirty="0">
                <a:solidFill>
                  <a:srgbClr val="90C225"/>
                </a:solidFill>
                <a:latin typeface="Lucida Sans Unicode"/>
                <a:cs typeface="Lucida Sans Unicode"/>
              </a:rPr>
              <a:t>	</a:t>
            </a:r>
            <a:r>
              <a:rPr sz="1700" b="1" i="1" dirty="0">
                <a:solidFill>
                  <a:srgbClr val="404040"/>
                </a:solidFill>
                <a:latin typeface="Times New Roman"/>
                <a:cs typeface="Times New Roman"/>
              </a:rPr>
              <a:t>R</a:t>
            </a:r>
            <a:r>
              <a:rPr sz="1700" b="1" dirty="0">
                <a:solidFill>
                  <a:srgbClr val="404040"/>
                </a:solidFill>
                <a:latin typeface="Times New Roman"/>
                <a:cs typeface="Times New Roman"/>
              </a:rPr>
              <a:t>5</a:t>
            </a:r>
            <a:r>
              <a:rPr sz="1700" b="1" spc="-20" dirty="0">
                <a:solidFill>
                  <a:srgbClr val="404040"/>
                </a:solidFill>
                <a:latin typeface="Times New Roman"/>
                <a:cs typeface="Times New Roman"/>
              </a:rPr>
              <a:t> </a:t>
            </a:r>
            <a:r>
              <a:rPr sz="1700" b="1" dirty="0">
                <a:solidFill>
                  <a:srgbClr val="404040"/>
                </a:solidFill>
                <a:latin typeface="Times New Roman"/>
                <a:cs typeface="Times New Roman"/>
              </a:rPr>
              <a:t>=</a:t>
            </a:r>
            <a:r>
              <a:rPr sz="1700" b="1" spc="-25"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3)</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4)</a:t>
            </a:r>
            <a:r>
              <a:rPr sz="1700" b="1" i="1" dirty="0">
                <a:solidFill>
                  <a:srgbClr val="404040"/>
                </a:solidFill>
                <a:latin typeface="Times New Roman"/>
                <a:cs typeface="Times New Roman"/>
              </a:rPr>
              <a:t>,</a:t>
            </a:r>
            <a:r>
              <a:rPr sz="1700" b="1" i="1" spc="-15"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3)</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4)</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(3</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3)</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(3</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4)</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(4</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spc="-20" dirty="0">
                <a:solidFill>
                  <a:srgbClr val="404040"/>
                </a:solidFill>
                <a:latin typeface="Times New Roman"/>
                <a:cs typeface="Times New Roman"/>
              </a:rPr>
              <a:t>4)}</a:t>
            </a:r>
            <a:r>
              <a:rPr sz="1700" b="1" i="1" spc="-20" dirty="0">
                <a:solidFill>
                  <a:srgbClr val="404040"/>
                </a:solidFill>
                <a:latin typeface="Times New Roman"/>
                <a:cs typeface="Times New Roman"/>
              </a:rPr>
              <a:t>,</a:t>
            </a:r>
            <a:endParaRPr sz="1700" dirty="0">
              <a:latin typeface="Times New Roman"/>
              <a:cs typeface="Times New Roman"/>
            </a:endParaRPr>
          </a:p>
          <a:p>
            <a:pPr marL="12700">
              <a:lnSpc>
                <a:spcPct val="100000"/>
              </a:lnSpc>
              <a:spcBef>
                <a:spcPts val="1005"/>
              </a:spcBef>
              <a:tabLst>
                <a:tab pos="354965" algn="l"/>
              </a:tabLst>
            </a:pPr>
            <a:r>
              <a:rPr sz="1350" spc="65" dirty="0">
                <a:solidFill>
                  <a:srgbClr val="90C225"/>
                </a:solidFill>
                <a:latin typeface="Lucida Sans Unicode"/>
                <a:cs typeface="Lucida Sans Unicode"/>
              </a:rPr>
              <a:t>▶</a:t>
            </a:r>
            <a:r>
              <a:rPr sz="1350" dirty="0">
                <a:solidFill>
                  <a:srgbClr val="90C225"/>
                </a:solidFill>
                <a:latin typeface="Lucida Sans Unicode"/>
                <a:cs typeface="Lucida Sans Unicode"/>
              </a:rPr>
              <a:t>	</a:t>
            </a:r>
            <a:r>
              <a:rPr sz="1700" b="1" i="1" dirty="0">
                <a:solidFill>
                  <a:srgbClr val="404040"/>
                </a:solidFill>
                <a:latin typeface="Times New Roman"/>
                <a:cs typeface="Times New Roman"/>
              </a:rPr>
              <a:t>R</a:t>
            </a:r>
            <a:r>
              <a:rPr sz="1700" b="1" dirty="0">
                <a:solidFill>
                  <a:srgbClr val="404040"/>
                </a:solidFill>
                <a:latin typeface="Times New Roman"/>
                <a:cs typeface="Times New Roman"/>
              </a:rPr>
              <a:t>6</a:t>
            </a:r>
            <a:r>
              <a:rPr sz="1700" b="1" spc="-20" dirty="0">
                <a:solidFill>
                  <a:srgbClr val="404040"/>
                </a:solidFill>
                <a:latin typeface="Times New Roman"/>
                <a:cs typeface="Times New Roman"/>
              </a:rPr>
              <a:t> </a:t>
            </a:r>
            <a:r>
              <a:rPr sz="1700" b="1" dirty="0">
                <a:solidFill>
                  <a:srgbClr val="404040"/>
                </a:solidFill>
                <a:latin typeface="Times New Roman"/>
                <a:cs typeface="Times New Roman"/>
              </a:rPr>
              <a:t>=</a:t>
            </a:r>
            <a:r>
              <a:rPr sz="1700" b="1" spc="-20" dirty="0">
                <a:solidFill>
                  <a:srgbClr val="404040"/>
                </a:solidFill>
                <a:latin typeface="Times New Roman"/>
                <a:cs typeface="Times New Roman"/>
              </a:rPr>
              <a:t> </a:t>
            </a:r>
            <a:r>
              <a:rPr sz="1700" b="1" dirty="0">
                <a:solidFill>
                  <a:srgbClr val="404040"/>
                </a:solidFill>
                <a:latin typeface="Times New Roman"/>
                <a:cs typeface="Times New Roman"/>
              </a:rPr>
              <a:t>{(3</a:t>
            </a:r>
            <a:r>
              <a:rPr sz="1700" b="1" i="1" dirty="0">
                <a:solidFill>
                  <a:srgbClr val="404040"/>
                </a:solidFill>
                <a:latin typeface="Times New Roman"/>
                <a:cs typeface="Times New Roman"/>
              </a:rPr>
              <a:t>,</a:t>
            </a:r>
            <a:r>
              <a:rPr sz="1700" b="1" i="1" spc="-15" dirty="0">
                <a:solidFill>
                  <a:srgbClr val="404040"/>
                </a:solidFill>
                <a:latin typeface="Times New Roman"/>
                <a:cs typeface="Times New Roman"/>
              </a:rPr>
              <a:t> </a:t>
            </a:r>
            <a:r>
              <a:rPr sz="1700" b="1" spc="-20" dirty="0">
                <a:solidFill>
                  <a:srgbClr val="404040"/>
                </a:solidFill>
                <a:latin typeface="Times New Roman"/>
                <a:cs typeface="Times New Roman"/>
              </a:rPr>
              <a:t>4)}</a:t>
            </a:r>
            <a:r>
              <a:rPr sz="1700" b="1" i="1" spc="-20" dirty="0">
                <a:solidFill>
                  <a:srgbClr val="404040"/>
                </a:solidFill>
                <a:latin typeface="Times New Roman"/>
                <a:cs typeface="Times New Roman"/>
              </a:rPr>
              <a:t>.</a:t>
            </a:r>
            <a:endParaRPr sz="1700" dirty="0">
              <a:latin typeface="Times New Roman"/>
              <a:cs typeface="Times New Roman"/>
            </a:endParaRPr>
          </a:p>
          <a:p>
            <a:pPr marL="12700">
              <a:lnSpc>
                <a:spcPct val="100000"/>
              </a:lnSpc>
              <a:spcBef>
                <a:spcPts val="994"/>
              </a:spcBef>
            </a:pPr>
            <a:r>
              <a:rPr sz="1700" b="1" dirty="0">
                <a:solidFill>
                  <a:srgbClr val="404040"/>
                </a:solidFill>
                <a:latin typeface="Times New Roman"/>
                <a:cs typeface="Times New Roman"/>
              </a:rPr>
              <a:t>Which</a:t>
            </a:r>
            <a:r>
              <a:rPr sz="1700" b="1" spc="-25" dirty="0">
                <a:solidFill>
                  <a:srgbClr val="404040"/>
                </a:solidFill>
                <a:latin typeface="Times New Roman"/>
                <a:cs typeface="Times New Roman"/>
              </a:rPr>
              <a:t> </a:t>
            </a:r>
            <a:r>
              <a:rPr sz="1700" b="1" dirty="0">
                <a:solidFill>
                  <a:srgbClr val="404040"/>
                </a:solidFill>
                <a:latin typeface="Times New Roman"/>
                <a:cs typeface="Times New Roman"/>
              </a:rPr>
              <a:t>of</a:t>
            </a:r>
            <a:r>
              <a:rPr sz="1700" b="1" spc="-40" dirty="0">
                <a:solidFill>
                  <a:srgbClr val="404040"/>
                </a:solidFill>
                <a:latin typeface="Times New Roman"/>
                <a:cs typeface="Times New Roman"/>
              </a:rPr>
              <a:t> </a:t>
            </a:r>
            <a:r>
              <a:rPr sz="1700" b="1" dirty="0">
                <a:solidFill>
                  <a:srgbClr val="404040"/>
                </a:solidFill>
                <a:latin typeface="Times New Roman"/>
                <a:cs typeface="Times New Roman"/>
              </a:rPr>
              <a:t>these</a:t>
            </a:r>
            <a:r>
              <a:rPr sz="1700" b="1" spc="-30" dirty="0">
                <a:solidFill>
                  <a:srgbClr val="404040"/>
                </a:solidFill>
                <a:latin typeface="Times New Roman"/>
                <a:cs typeface="Times New Roman"/>
              </a:rPr>
              <a:t> </a:t>
            </a:r>
            <a:r>
              <a:rPr sz="1700" b="1" dirty="0">
                <a:solidFill>
                  <a:srgbClr val="404040"/>
                </a:solidFill>
                <a:latin typeface="Times New Roman"/>
                <a:cs typeface="Times New Roman"/>
              </a:rPr>
              <a:t>relations</a:t>
            </a:r>
            <a:r>
              <a:rPr sz="1700" b="1" spc="-40" dirty="0">
                <a:solidFill>
                  <a:srgbClr val="404040"/>
                </a:solidFill>
                <a:latin typeface="Times New Roman"/>
                <a:cs typeface="Times New Roman"/>
              </a:rPr>
              <a:t> </a:t>
            </a:r>
            <a:r>
              <a:rPr sz="1700" b="1" dirty="0">
                <a:solidFill>
                  <a:srgbClr val="404040"/>
                </a:solidFill>
                <a:latin typeface="Times New Roman"/>
                <a:cs typeface="Times New Roman"/>
              </a:rPr>
              <a:t>are</a:t>
            </a:r>
            <a:r>
              <a:rPr sz="1700" b="1" spc="-45" dirty="0">
                <a:solidFill>
                  <a:srgbClr val="404040"/>
                </a:solidFill>
                <a:latin typeface="Times New Roman"/>
                <a:cs typeface="Times New Roman"/>
              </a:rPr>
              <a:t> </a:t>
            </a:r>
            <a:r>
              <a:rPr sz="1700" b="1" dirty="0">
                <a:solidFill>
                  <a:srgbClr val="404040"/>
                </a:solidFill>
                <a:latin typeface="Times New Roman"/>
                <a:cs typeface="Times New Roman"/>
              </a:rPr>
              <a:t>Symmetric</a:t>
            </a:r>
            <a:r>
              <a:rPr sz="1700" b="1" spc="-45" dirty="0">
                <a:solidFill>
                  <a:srgbClr val="404040"/>
                </a:solidFill>
                <a:latin typeface="Times New Roman"/>
                <a:cs typeface="Times New Roman"/>
              </a:rPr>
              <a:t> </a:t>
            </a:r>
            <a:r>
              <a:rPr sz="1700" b="1" dirty="0">
                <a:solidFill>
                  <a:srgbClr val="404040"/>
                </a:solidFill>
                <a:latin typeface="Times New Roman"/>
                <a:cs typeface="Times New Roman"/>
              </a:rPr>
              <a:t>and</a:t>
            </a:r>
            <a:r>
              <a:rPr sz="1700" b="1" spc="-30" dirty="0">
                <a:solidFill>
                  <a:srgbClr val="404040"/>
                </a:solidFill>
                <a:latin typeface="Times New Roman"/>
                <a:cs typeface="Times New Roman"/>
              </a:rPr>
              <a:t> </a:t>
            </a:r>
            <a:r>
              <a:rPr sz="1700" b="1" dirty="0">
                <a:solidFill>
                  <a:srgbClr val="404040"/>
                </a:solidFill>
                <a:latin typeface="Times New Roman"/>
                <a:cs typeface="Times New Roman"/>
              </a:rPr>
              <a:t>antisymmetric</a:t>
            </a:r>
            <a:r>
              <a:rPr sz="1700" b="1" spc="-55" dirty="0">
                <a:solidFill>
                  <a:srgbClr val="404040"/>
                </a:solidFill>
                <a:latin typeface="Times New Roman"/>
                <a:cs typeface="Times New Roman"/>
              </a:rPr>
              <a:t> </a:t>
            </a:r>
            <a:r>
              <a:rPr sz="1700" b="1" spc="-50" dirty="0">
                <a:solidFill>
                  <a:srgbClr val="404040"/>
                </a:solidFill>
                <a:latin typeface="Times New Roman"/>
                <a:cs typeface="Times New Roman"/>
              </a:rPr>
              <a:t>?</a:t>
            </a:r>
            <a:endParaRPr sz="1700" dirty="0">
              <a:latin typeface="Times New Roman"/>
              <a:cs typeface="Times New Roman"/>
            </a:endParaRPr>
          </a:p>
          <a:p>
            <a:pPr marL="12700">
              <a:lnSpc>
                <a:spcPct val="100000"/>
              </a:lnSpc>
              <a:spcBef>
                <a:spcPts val="1000"/>
              </a:spcBef>
            </a:pPr>
            <a:r>
              <a:rPr sz="1700" b="1" spc="-10" dirty="0">
                <a:solidFill>
                  <a:srgbClr val="6F2F9F"/>
                </a:solidFill>
                <a:latin typeface="Times New Roman"/>
                <a:cs typeface="Times New Roman"/>
              </a:rPr>
              <a:t>SOLUTION:</a:t>
            </a:r>
            <a:endParaRPr sz="1700" dirty="0">
              <a:latin typeface="Times New Roman"/>
              <a:cs typeface="Times New Roman"/>
            </a:endParaRPr>
          </a:p>
          <a:p>
            <a:pPr marL="355600" marR="11430" indent="-342900">
              <a:lnSpc>
                <a:spcPct val="100000"/>
              </a:lnSpc>
              <a:spcBef>
                <a:spcPts val="1005"/>
              </a:spcBef>
              <a:tabLst>
                <a:tab pos="354965" algn="l"/>
              </a:tabLst>
            </a:pPr>
            <a:r>
              <a:rPr sz="1350" spc="65" dirty="0">
                <a:solidFill>
                  <a:srgbClr val="90C225"/>
                </a:solidFill>
                <a:latin typeface="Lucida Sans Unicode"/>
                <a:cs typeface="Lucida Sans Unicode"/>
              </a:rPr>
              <a:t>▶</a:t>
            </a:r>
            <a:r>
              <a:rPr sz="1350" dirty="0">
                <a:solidFill>
                  <a:srgbClr val="90C225"/>
                </a:solidFill>
                <a:latin typeface="Lucida Sans Unicode"/>
                <a:cs typeface="Lucida Sans Unicode"/>
              </a:rPr>
              <a:t>	</a:t>
            </a:r>
            <a:r>
              <a:rPr sz="1700" b="1" dirty="0">
                <a:solidFill>
                  <a:srgbClr val="00AFEF"/>
                </a:solidFill>
                <a:latin typeface="Times New Roman"/>
                <a:cs typeface="Times New Roman"/>
              </a:rPr>
              <a:t>The</a:t>
            </a:r>
            <a:r>
              <a:rPr sz="1700" b="1" spc="-15" dirty="0">
                <a:solidFill>
                  <a:srgbClr val="00AFEF"/>
                </a:solidFill>
                <a:latin typeface="Times New Roman"/>
                <a:cs typeface="Times New Roman"/>
              </a:rPr>
              <a:t> </a:t>
            </a:r>
            <a:r>
              <a:rPr sz="1700" b="1" dirty="0">
                <a:solidFill>
                  <a:srgbClr val="00AFEF"/>
                </a:solidFill>
                <a:latin typeface="Times New Roman"/>
                <a:cs typeface="Times New Roman"/>
              </a:rPr>
              <a:t>relations</a:t>
            </a:r>
            <a:r>
              <a:rPr sz="1700" b="1" spc="-20" dirty="0">
                <a:solidFill>
                  <a:srgbClr val="00AFEF"/>
                </a:solidFill>
                <a:latin typeface="Times New Roman"/>
                <a:cs typeface="Times New Roman"/>
              </a:rPr>
              <a:t> </a:t>
            </a:r>
            <a:r>
              <a:rPr sz="1700" b="1" i="1" dirty="0">
                <a:solidFill>
                  <a:srgbClr val="00AFEF"/>
                </a:solidFill>
                <a:latin typeface="Times New Roman"/>
                <a:cs typeface="Times New Roman"/>
              </a:rPr>
              <a:t>R</a:t>
            </a:r>
            <a:r>
              <a:rPr sz="1700" b="1" dirty="0">
                <a:solidFill>
                  <a:srgbClr val="00AFEF"/>
                </a:solidFill>
                <a:latin typeface="Times New Roman"/>
                <a:cs typeface="Times New Roman"/>
              </a:rPr>
              <a:t>2</a:t>
            </a:r>
            <a:r>
              <a:rPr sz="1700" b="1" spc="-20" dirty="0">
                <a:solidFill>
                  <a:srgbClr val="00AFEF"/>
                </a:solidFill>
                <a:latin typeface="Times New Roman"/>
                <a:cs typeface="Times New Roman"/>
              </a:rPr>
              <a:t> </a:t>
            </a:r>
            <a:r>
              <a:rPr sz="1700" b="1" dirty="0">
                <a:solidFill>
                  <a:srgbClr val="00AFEF"/>
                </a:solidFill>
                <a:latin typeface="Times New Roman"/>
                <a:cs typeface="Times New Roman"/>
              </a:rPr>
              <a:t>and</a:t>
            </a:r>
            <a:r>
              <a:rPr sz="1700" b="1" spc="-10" dirty="0">
                <a:solidFill>
                  <a:srgbClr val="00AFEF"/>
                </a:solidFill>
                <a:latin typeface="Times New Roman"/>
                <a:cs typeface="Times New Roman"/>
              </a:rPr>
              <a:t> </a:t>
            </a:r>
            <a:r>
              <a:rPr sz="1700" b="1" i="1" dirty="0">
                <a:solidFill>
                  <a:srgbClr val="00AFEF"/>
                </a:solidFill>
                <a:latin typeface="Times New Roman"/>
                <a:cs typeface="Times New Roman"/>
              </a:rPr>
              <a:t>R</a:t>
            </a:r>
            <a:r>
              <a:rPr sz="1700" b="1" dirty="0">
                <a:solidFill>
                  <a:srgbClr val="00AFEF"/>
                </a:solidFill>
                <a:latin typeface="Times New Roman"/>
                <a:cs typeface="Times New Roman"/>
              </a:rPr>
              <a:t>3</a:t>
            </a:r>
            <a:r>
              <a:rPr sz="1700" b="1" spc="-15" dirty="0">
                <a:solidFill>
                  <a:srgbClr val="00AFEF"/>
                </a:solidFill>
                <a:latin typeface="Times New Roman"/>
                <a:cs typeface="Times New Roman"/>
              </a:rPr>
              <a:t> </a:t>
            </a:r>
            <a:r>
              <a:rPr sz="1700" b="1" dirty="0">
                <a:solidFill>
                  <a:srgbClr val="00AFEF"/>
                </a:solidFill>
                <a:latin typeface="Times New Roman"/>
                <a:cs typeface="Times New Roman"/>
              </a:rPr>
              <a:t>are</a:t>
            </a:r>
            <a:r>
              <a:rPr sz="1700" b="1" spc="-35" dirty="0">
                <a:solidFill>
                  <a:srgbClr val="00AFEF"/>
                </a:solidFill>
                <a:latin typeface="Times New Roman"/>
                <a:cs typeface="Times New Roman"/>
              </a:rPr>
              <a:t> </a:t>
            </a:r>
            <a:r>
              <a:rPr sz="1700" b="1" dirty="0">
                <a:solidFill>
                  <a:srgbClr val="00AFEF"/>
                </a:solidFill>
                <a:latin typeface="Times New Roman"/>
                <a:cs typeface="Times New Roman"/>
              </a:rPr>
              <a:t>symmetric</a:t>
            </a:r>
            <a:r>
              <a:rPr sz="1700" b="1" dirty="0">
                <a:solidFill>
                  <a:srgbClr val="404040"/>
                </a:solidFill>
                <a:latin typeface="Times New Roman"/>
                <a:cs typeface="Times New Roman"/>
              </a:rPr>
              <a:t>,</a:t>
            </a:r>
            <a:r>
              <a:rPr sz="1700" b="1" spc="-35" dirty="0">
                <a:solidFill>
                  <a:srgbClr val="404040"/>
                </a:solidFill>
                <a:latin typeface="Times New Roman"/>
                <a:cs typeface="Times New Roman"/>
              </a:rPr>
              <a:t> </a:t>
            </a:r>
            <a:r>
              <a:rPr sz="1700" dirty="0">
                <a:solidFill>
                  <a:srgbClr val="404040"/>
                </a:solidFill>
                <a:latin typeface="Times New Roman"/>
                <a:cs typeface="Times New Roman"/>
              </a:rPr>
              <a:t>because</a:t>
            </a:r>
            <a:r>
              <a:rPr sz="1700" spc="-40" dirty="0">
                <a:solidFill>
                  <a:srgbClr val="404040"/>
                </a:solidFill>
                <a:latin typeface="Times New Roman"/>
                <a:cs typeface="Times New Roman"/>
              </a:rPr>
              <a:t> </a:t>
            </a:r>
            <a:r>
              <a:rPr sz="1700" dirty="0">
                <a:solidFill>
                  <a:srgbClr val="404040"/>
                </a:solidFill>
                <a:latin typeface="Times New Roman"/>
                <a:cs typeface="Times New Roman"/>
              </a:rPr>
              <a:t>in</a:t>
            </a:r>
            <a:r>
              <a:rPr sz="1700" spc="-25" dirty="0">
                <a:solidFill>
                  <a:srgbClr val="404040"/>
                </a:solidFill>
                <a:latin typeface="Times New Roman"/>
                <a:cs typeface="Times New Roman"/>
              </a:rPr>
              <a:t> </a:t>
            </a:r>
            <a:r>
              <a:rPr sz="1700" dirty="0">
                <a:solidFill>
                  <a:srgbClr val="404040"/>
                </a:solidFill>
                <a:latin typeface="Times New Roman"/>
                <a:cs typeface="Times New Roman"/>
              </a:rPr>
              <a:t>each</a:t>
            </a:r>
            <a:r>
              <a:rPr sz="1700" spc="-30" dirty="0">
                <a:solidFill>
                  <a:srgbClr val="404040"/>
                </a:solidFill>
                <a:latin typeface="Times New Roman"/>
                <a:cs typeface="Times New Roman"/>
              </a:rPr>
              <a:t> </a:t>
            </a:r>
            <a:r>
              <a:rPr sz="1700" dirty="0">
                <a:solidFill>
                  <a:srgbClr val="404040"/>
                </a:solidFill>
                <a:latin typeface="Times New Roman"/>
                <a:cs typeface="Times New Roman"/>
              </a:rPr>
              <a:t>case</a:t>
            </a:r>
            <a:r>
              <a:rPr sz="1700" spc="-35" dirty="0">
                <a:solidFill>
                  <a:srgbClr val="404040"/>
                </a:solidFill>
                <a:latin typeface="Times New Roman"/>
                <a:cs typeface="Times New Roman"/>
              </a:rPr>
              <a:t> </a:t>
            </a:r>
            <a:r>
              <a:rPr sz="1700" dirty="0">
                <a:solidFill>
                  <a:srgbClr val="404040"/>
                </a:solidFill>
                <a:latin typeface="Times New Roman"/>
                <a:cs typeface="Times New Roman"/>
              </a:rPr>
              <a:t>(</a:t>
            </a:r>
            <a:r>
              <a:rPr sz="1700" i="1" dirty="0">
                <a:solidFill>
                  <a:srgbClr val="404040"/>
                </a:solidFill>
                <a:latin typeface="Times New Roman"/>
                <a:cs typeface="Times New Roman"/>
              </a:rPr>
              <a:t>b,</a:t>
            </a:r>
            <a:r>
              <a:rPr sz="1700" i="1" spc="-25" dirty="0">
                <a:solidFill>
                  <a:srgbClr val="404040"/>
                </a:solidFill>
                <a:latin typeface="Times New Roman"/>
                <a:cs typeface="Times New Roman"/>
              </a:rPr>
              <a:t> </a:t>
            </a:r>
            <a:r>
              <a:rPr sz="1700" i="1" dirty="0">
                <a:solidFill>
                  <a:srgbClr val="404040"/>
                </a:solidFill>
                <a:latin typeface="Times New Roman"/>
                <a:cs typeface="Times New Roman"/>
              </a:rPr>
              <a:t>a</a:t>
            </a:r>
            <a:r>
              <a:rPr sz="1700" dirty="0">
                <a:solidFill>
                  <a:srgbClr val="404040"/>
                </a:solidFill>
                <a:latin typeface="Times New Roman"/>
                <a:cs typeface="Times New Roman"/>
              </a:rPr>
              <a:t>)</a:t>
            </a:r>
            <a:r>
              <a:rPr sz="1700" spc="-25" dirty="0">
                <a:solidFill>
                  <a:srgbClr val="404040"/>
                </a:solidFill>
                <a:latin typeface="Times New Roman"/>
                <a:cs typeface="Times New Roman"/>
              </a:rPr>
              <a:t> </a:t>
            </a:r>
            <a:r>
              <a:rPr sz="1700" spc="-10" dirty="0">
                <a:solidFill>
                  <a:srgbClr val="404040"/>
                </a:solidFill>
                <a:latin typeface="Times New Roman"/>
                <a:cs typeface="Times New Roman"/>
              </a:rPr>
              <a:t>belongs </a:t>
            </a:r>
            <a:r>
              <a:rPr sz="1700" dirty="0">
                <a:solidFill>
                  <a:srgbClr val="404040"/>
                </a:solidFill>
                <a:latin typeface="Times New Roman"/>
                <a:cs typeface="Times New Roman"/>
              </a:rPr>
              <a:t>to</a:t>
            </a:r>
            <a:r>
              <a:rPr sz="1700" spc="-15" dirty="0">
                <a:solidFill>
                  <a:srgbClr val="404040"/>
                </a:solidFill>
                <a:latin typeface="Times New Roman"/>
                <a:cs typeface="Times New Roman"/>
              </a:rPr>
              <a:t> </a:t>
            </a:r>
            <a:r>
              <a:rPr sz="1700" dirty="0">
                <a:solidFill>
                  <a:srgbClr val="404040"/>
                </a:solidFill>
                <a:latin typeface="Times New Roman"/>
                <a:cs typeface="Times New Roman"/>
              </a:rPr>
              <a:t>the</a:t>
            </a:r>
            <a:r>
              <a:rPr sz="1700" spc="-25" dirty="0">
                <a:solidFill>
                  <a:srgbClr val="404040"/>
                </a:solidFill>
                <a:latin typeface="Times New Roman"/>
                <a:cs typeface="Times New Roman"/>
              </a:rPr>
              <a:t> </a:t>
            </a:r>
            <a:r>
              <a:rPr sz="1700" dirty="0">
                <a:solidFill>
                  <a:srgbClr val="404040"/>
                </a:solidFill>
                <a:latin typeface="Times New Roman"/>
                <a:cs typeface="Times New Roman"/>
              </a:rPr>
              <a:t>relation</a:t>
            </a:r>
            <a:r>
              <a:rPr sz="1700" spc="-20" dirty="0">
                <a:solidFill>
                  <a:srgbClr val="404040"/>
                </a:solidFill>
                <a:latin typeface="Times New Roman"/>
                <a:cs typeface="Times New Roman"/>
              </a:rPr>
              <a:t> </a:t>
            </a:r>
            <a:r>
              <a:rPr sz="1700" dirty="0">
                <a:solidFill>
                  <a:srgbClr val="404040"/>
                </a:solidFill>
                <a:latin typeface="Times New Roman"/>
                <a:cs typeface="Times New Roman"/>
              </a:rPr>
              <a:t>whenever</a:t>
            </a:r>
            <a:r>
              <a:rPr sz="1700" spc="-35" dirty="0">
                <a:solidFill>
                  <a:srgbClr val="404040"/>
                </a:solidFill>
                <a:latin typeface="Times New Roman"/>
                <a:cs typeface="Times New Roman"/>
              </a:rPr>
              <a:t> </a:t>
            </a:r>
            <a:r>
              <a:rPr sz="1700" dirty="0">
                <a:solidFill>
                  <a:srgbClr val="404040"/>
                </a:solidFill>
                <a:latin typeface="Times New Roman"/>
                <a:cs typeface="Times New Roman"/>
              </a:rPr>
              <a:t>(</a:t>
            </a:r>
            <a:r>
              <a:rPr sz="1700" i="1" dirty="0">
                <a:solidFill>
                  <a:srgbClr val="404040"/>
                </a:solidFill>
                <a:latin typeface="Times New Roman"/>
                <a:cs typeface="Times New Roman"/>
              </a:rPr>
              <a:t>a,</a:t>
            </a:r>
            <a:r>
              <a:rPr sz="1700" i="1" spc="-20" dirty="0">
                <a:solidFill>
                  <a:srgbClr val="404040"/>
                </a:solidFill>
                <a:latin typeface="Times New Roman"/>
                <a:cs typeface="Times New Roman"/>
              </a:rPr>
              <a:t> </a:t>
            </a:r>
            <a:r>
              <a:rPr sz="1700" i="1" dirty="0">
                <a:solidFill>
                  <a:srgbClr val="404040"/>
                </a:solidFill>
                <a:latin typeface="Times New Roman"/>
                <a:cs typeface="Times New Roman"/>
              </a:rPr>
              <a:t>b</a:t>
            </a:r>
            <a:r>
              <a:rPr sz="1700" dirty="0">
                <a:solidFill>
                  <a:srgbClr val="404040"/>
                </a:solidFill>
                <a:latin typeface="Times New Roman"/>
                <a:cs typeface="Times New Roman"/>
              </a:rPr>
              <a:t>)</a:t>
            </a:r>
            <a:r>
              <a:rPr sz="1700" spc="-25" dirty="0">
                <a:solidFill>
                  <a:srgbClr val="404040"/>
                </a:solidFill>
                <a:latin typeface="Times New Roman"/>
                <a:cs typeface="Times New Roman"/>
              </a:rPr>
              <a:t> </a:t>
            </a:r>
            <a:r>
              <a:rPr sz="1700" dirty="0">
                <a:solidFill>
                  <a:srgbClr val="404040"/>
                </a:solidFill>
                <a:latin typeface="Times New Roman"/>
                <a:cs typeface="Times New Roman"/>
              </a:rPr>
              <a:t>does.</a:t>
            </a:r>
            <a:r>
              <a:rPr sz="1700" spc="-25" dirty="0">
                <a:solidFill>
                  <a:srgbClr val="404040"/>
                </a:solidFill>
                <a:latin typeface="Times New Roman"/>
                <a:cs typeface="Times New Roman"/>
              </a:rPr>
              <a:t> </a:t>
            </a:r>
            <a:r>
              <a:rPr sz="1700" dirty="0">
                <a:solidFill>
                  <a:srgbClr val="404040"/>
                </a:solidFill>
                <a:latin typeface="Times New Roman"/>
                <a:cs typeface="Times New Roman"/>
              </a:rPr>
              <a:t>For</a:t>
            </a:r>
            <a:r>
              <a:rPr sz="1700" spc="-10" dirty="0">
                <a:solidFill>
                  <a:srgbClr val="404040"/>
                </a:solidFill>
                <a:latin typeface="Times New Roman"/>
                <a:cs typeface="Times New Roman"/>
              </a:rPr>
              <a:t> </a:t>
            </a:r>
            <a:r>
              <a:rPr sz="1700" i="1" dirty="0">
                <a:solidFill>
                  <a:srgbClr val="404040"/>
                </a:solidFill>
                <a:latin typeface="Times New Roman"/>
                <a:cs typeface="Times New Roman"/>
              </a:rPr>
              <a:t>R</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the</a:t>
            </a:r>
            <a:r>
              <a:rPr sz="1700" spc="-15" dirty="0">
                <a:solidFill>
                  <a:srgbClr val="404040"/>
                </a:solidFill>
                <a:latin typeface="Times New Roman"/>
                <a:cs typeface="Times New Roman"/>
              </a:rPr>
              <a:t> </a:t>
            </a:r>
            <a:r>
              <a:rPr sz="1700" dirty="0">
                <a:solidFill>
                  <a:srgbClr val="404040"/>
                </a:solidFill>
                <a:latin typeface="Times New Roman"/>
                <a:cs typeface="Times New Roman"/>
              </a:rPr>
              <a:t>only</a:t>
            </a:r>
            <a:r>
              <a:rPr sz="1700" spc="-15" dirty="0">
                <a:solidFill>
                  <a:srgbClr val="404040"/>
                </a:solidFill>
                <a:latin typeface="Times New Roman"/>
                <a:cs typeface="Times New Roman"/>
              </a:rPr>
              <a:t> </a:t>
            </a:r>
            <a:r>
              <a:rPr sz="1700" dirty="0">
                <a:solidFill>
                  <a:srgbClr val="404040"/>
                </a:solidFill>
                <a:latin typeface="Times New Roman"/>
                <a:cs typeface="Times New Roman"/>
              </a:rPr>
              <a:t>thing</a:t>
            </a:r>
            <a:r>
              <a:rPr sz="1700" spc="-20" dirty="0">
                <a:solidFill>
                  <a:srgbClr val="404040"/>
                </a:solidFill>
                <a:latin typeface="Times New Roman"/>
                <a:cs typeface="Times New Roman"/>
              </a:rPr>
              <a:t> </a:t>
            </a:r>
            <a:r>
              <a:rPr sz="1700" dirty="0">
                <a:solidFill>
                  <a:srgbClr val="404040"/>
                </a:solidFill>
                <a:latin typeface="Times New Roman"/>
                <a:cs typeface="Times New Roman"/>
              </a:rPr>
              <a:t>to</a:t>
            </a:r>
            <a:r>
              <a:rPr sz="1700" spc="-20" dirty="0">
                <a:solidFill>
                  <a:srgbClr val="404040"/>
                </a:solidFill>
                <a:latin typeface="Times New Roman"/>
                <a:cs typeface="Times New Roman"/>
              </a:rPr>
              <a:t> </a:t>
            </a:r>
            <a:r>
              <a:rPr sz="1700" dirty="0">
                <a:solidFill>
                  <a:srgbClr val="404040"/>
                </a:solidFill>
                <a:latin typeface="Times New Roman"/>
                <a:cs typeface="Times New Roman"/>
              </a:rPr>
              <a:t>check</a:t>
            </a:r>
            <a:r>
              <a:rPr sz="1700" spc="-30" dirty="0">
                <a:solidFill>
                  <a:srgbClr val="404040"/>
                </a:solidFill>
                <a:latin typeface="Times New Roman"/>
                <a:cs typeface="Times New Roman"/>
              </a:rPr>
              <a:t> </a:t>
            </a:r>
            <a:r>
              <a:rPr sz="1700" dirty="0">
                <a:solidFill>
                  <a:srgbClr val="404040"/>
                </a:solidFill>
                <a:latin typeface="Times New Roman"/>
                <a:cs typeface="Times New Roman"/>
              </a:rPr>
              <a:t>is</a:t>
            </a:r>
            <a:r>
              <a:rPr sz="1700" spc="-15" dirty="0">
                <a:solidFill>
                  <a:srgbClr val="404040"/>
                </a:solidFill>
                <a:latin typeface="Times New Roman"/>
                <a:cs typeface="Times New Roman"/>
              </a:rPr>
              <a:t> </a:t>
            </a:r>
            <a:r>
              <a:rPr sz="1700" dirty="0">
                <a:solidFill>
                  <a:srgbClr val="404040"/>
                </a:solidFill>
                <a:latin typeface="Times New Roman"/>
                <a:cs typeface="Times New Roman"/>
              </a:rPr>
              <a:t>that</a:t>
            </a:r>
            <a:r>
              <a:rPr sz="1700" spc="-20" dirty="0">
                <a:solidFill>
                  <a:srgbClr val="404040"/>
                </a:solidFill>
                <a:latin typeface="Times New Roman"/>
                <a:cs typeface="Times New Roman"/>
              </a:rPr>
              <a:t> both </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1)</a:t>
            </a:r>
            <a:r>
              <a:rPr sz="1700" spc="-25" dirty="0">
                <a:solidFill>
                  <a:srgbClr val="404040"/>
                </a:solidFill>
                <a:latin typeface="Times New Roman"/>
                <a:cs typeface="Times New Roman"/>
              </a:rPr>
              <a:t> </a:t>
            </a:r>
            <a:r>
              <a:rPr sz="1700" dirty="0">
                <a:solidFill>
                  <a:srgbClr val="404040"/>
                </a:solidFill>
                <a:latin typeface="Times New Roman"/>
                <a:cs typeface="Times New Roman"/>
              </a:rPr>
              <a:t>and</a:t>
            </a:r>
            <a:r>
              <a:rPr sz="1700" spc="-10" dirty="0">
                <a:solidFill>
                  <a:srgbClr val="404040"/>
                </a:solidFill>
                <a:latin typeface="Times New Roman"/>
                <a:cs typeface="Times New Roman"/>
              </a:rPr>
              <a:t> </a:t>
            </a: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15" dirty="0">
                <a:solidFill>
                  <a:srgbClr val="404040"/>
                </a:solidFill>
                <a:latin typeface="Times New Roman"/>
                <a:cs typeface="Times New Roman"/>
              </a:rPr>
              <a:t> </a:t>
            </a:r>
            <a:r>
              <a:rPr sz="1700" dirty="0">
                <a:solidFill>
                  <a:srgbClr val="404040"/>
                </a:solidFill>
                <a:latin typeface="Times New Roman"/>
                <a:cs typeface="Times New Roman"/>
              </a:rPr>
              <a:t>2)</a:t>
            </a:r>
            <a:r>
              <a:rPr sz="1700" spc="-25" dirty="0">
                <a:solidFill>
                  <a:srgbClr val="404040"/>
                </a:solidFill>
                <a:latin typeface="Times New Roman"/>
                <a:cs typeface="Times New Roman"/>
              </a:rPr>
              <a:t> </a:t>
            </a:r>
            <a:r>
              <a:rPr sz="1700" dirty="0">
                <a:solidFill>
                  <a:srgbClr val="404040"/>
                </a:solidFill>
                <a:latin typeface="Times New Roman"/>
                <a:cs typeface="Times New Roman"/>
              </a:rPr>
              <a:t>are</a:t>
            </a:r>
            <a:r>
              <a:rPr sz="1700" spc="-30" dirty="0">
                <a:solidFill>
                  <a:srgbClr val="404040"/>
                </a:solidFill>
                <a:latin typeface="Times New Roman"/>
                <a:cs typeface="Times New Roman"/>
              </a:rPr>
              <a:t> </a:t>
            </a:r>
            <a:r>
              <a:rPr sz="1700" dirty="0">
                <a:solidFill>
                  <a:srgbClr val="404040"/>
                </a:solidFill>
                <a:latin typeface="Times New Roman"/>
                <a:cs typeface="Times New Roman"/>
              </a:rPr>
              <a:t>in</a:t>
            </a:r>
            <a:r>
              <a:rPr sz="1700" spc="-10" dirty="0">
                <a:solidFill>
                  <a:srgbClr val="404040"/>
                </a:solidFill>
                <a:latin typeface="Times New Roman"/>
                <a:cs typeface="Times New Roman"/>
              </a:rPr>
              <a:t> </a:t>
            </a:r>
            <a:r>
              <a:rPr sz="1700" dirty="0">
                <a:solidFill>
                  <a:srgbClr val="404040"/>
                </a:solidFill>
                <a:latin typeface="Times New Roman"/>
                <a:cs typeface="Times New Roman"/>
              </a:rPr>
              <a:t>the</a:t>
            </a:r>
            <a:r>
              <a:rPr sz="1700" spc="-15" dirty="0">
                <a:solidFill>
                  <a:srgbClr val="404040"/>
                </a:solidFill>
                <a:latin typeface="Times New Roman"/>
                <a:cs typeface="Times New Roman"/>
              </a:rPr>
              <a:t> </a:t>
            </a:r>
            <a:r>
              <a:rPr sz="1700" dirty="0">
                <a:solidFill>
                  <a:srgbClr val="404040"/>
                </a:solidFill>
                <a:latin typeface="Times New Roman"/>
                <a:cs typeface="Times New Roman"/>
              </a:rPr>
              <a:t>relation.</a:t>
            </a:r>
            <a:r>
              <a:rPr sz="1700" spc="-30" dirty="0">
                <a:solidFill>
                  <a:srgbClr val="404040"/>
                </a:solidFill>
                <a:latin typeface="Times New Roman"/>
                <a:cs typeface="Times New Roman"/>
              </a:rPr>
              <a:t> </a:t>
            </a:r>
            <a:r>
              <a:rPr sz="1700" dirty="0">
                <a:solidFill>
                  <a:srgbClr val="404040"/>
                </a:solidFill>
                <a:latin typeface="Times New Roman"/>
                <a:cs typeface="Times New Roman"/>
              </a:rPr>
              <a:t>For</a:t>
            </a:r>
            <a:r>
              <a:rPr sz="1700" spc="-5" dirty="0">
                <a:solidFill>
                  <a:srgbClr val="404040"/>
                </a:solidFill>
                <a:latin typeface="Times New Roman"/>
                <a:cs typeface="Times New Roman"/>
              </a:rPr>
              <a:t> </a:t>
            </a:r>
            <a:r>
              <a:rPr sz="1700" i="1" dirty="0">
                <a:solidFill>
                  <a:srgbClr val="404040"/>
                </a:solidFill>
                <a:latin typeface="Times New Roman"/>
                <a:cs typeface="Times New Roman"/>
              </a:rPr>
              <a:t>R</a:t>
            </a:r>
            <a:r>
              <a:rPr sz="1700" dirty="0">
                <a:solidFill>
                  <a:srgbClr val="404040"/>
                </a:solidFill>
                <a:latin typeface="Times New Roman"/>
                <a:cs typeface="Times New Roman"/>
              </a:rPr>
              <a:t>3,</a:t>
            </a:r>
            <a:r>
              <a:rPr sz="1700" spc="-15" dirty="0">
                <a:solidFill>
                  <a:srgbClr val="404040"/>
                </a:solidFill>
                <a:latin typeface="Times New Roman"/>
                <a:cs typeface="Times New Roman"/>
              </a:rPr>
              <a:t> </a:t>
            </a:r>
            <a:r>
              <a:rPr sz="1700" dirty="0">
                <a:solidFill>
                  <a:srgbClr val="404040"/>
                </a:solidFill>
                <a:latin typeface="Times New Roman"/>
                <a:cs typeface="Times New Roman"/>
              </a:rPr>
              <a:t>it</a:t>
            </a:r>
            <a:r>
              <a:rPr sz="1700" spc="-20" dirty="0">
                <a:solidFill>
                  <a:srgbClr val="404040"/>
                </a:solidFill>
                <a:latin typeface="Times New Roman"/>
                <a:cs typeface="Times New Roman"/>
              </a:rPr>
              <a:t> </a:t>
            </a:r>
            <a:r>
              <a:rPr sz="1700" dirty="0">
                <a:solidFill>
                  <a:srgbClr val="404040"/>
                </a:solidFill>
                <a:latin typeface="Times New Roman"/>
                <a:cs typeface="Times New Roman"/>
              </a:rPr>
              <a:t>is</a:t>
            </a:r>
            <a:r>
              <a:rPr sz="1700" spc="-15" dirty="0">
                <a:solidFill>
                  <a:srgbClr val="404040"/>
                </a:solidFill>
                <a:latin typeface="Times New Roman"/>
                <a:cs typeface="Times New Roman"/>
              </a:rPr>
              <a:t> </a:t>
            </a:r>
            <a:r>
              <a:rPr sz="1700" dirty="0">
                <a:solidFill>
                  <a:srgbClr val="404040"/>
                </a:solidFill>
                <a:latin typeface="Times New Roman"/>
                <a:cs typeface="Times New Roman"/>
              </a:rPr>
              <a:t>necessary</a:t>
            </a:r>
            <a:r>
              <a:rPr sz="1700" spc="-30" dirty="0">
                <a:solidFill>
                  <a:srgbClr val="404040"/>
                </a:solidFill>
                <a:latin typeface="Times New Roman"/>
                <a:cs typeface="Times New Roman"/>
              </a:rPr>
              <a:t> </a:t>
            </a:r>
            <a:r>
              <a:rPr sz="1700" dirty="0">
                <a:solidFill>
                  <a:srgbClr val="404040"/>
                </a:solidFill>
                <a:latin typeface="Times New Roman"/>
                <a:cs typeface="Times New Roman"/>
              </a:rPr>
              <a:t>to</a:t>
            </a:r>
            <a:r>
              <a:rPr sz="1700" spc="-15" dirty="0">
                <a:solidFill>
                  <a:srgbClr val="404040"/>
                </a:solidFill>
                <a:latin typeface="Times New Roman"/>
                <a:cs typeface="Times New Roman"/>
              </a:rPr>
              <a:t> </a:t>
            </a:r>
            <a:r>
              <a:rPr sz="1700" dirty="0">
                <a:solidFill>
                  <a:srgbClr val="404040"/>
                </a:solidFill>
                <a:latin typeface="Times New Roman"/>
                <a:cs typeface="Times New Roman"/>
              </a:rPr>
              <a:t>check</a:t>
            </a:r>
            <a:r>
              <a:rPr sz="1700" spc="-35" dirty="0">
                <a:solidFill>
                  <a:srgbClr val="404040"/>
                </a:solidFill>
                <a:latin typeface="Times New Roman"/>
                <a:cs typeface="Times New Roman"/>
              </a:rPr>
              <a:t> </a:t>
            </a:r>
            <a:r>
              <a:rPr sz="1700" dirty="0">
                <a:solidFill>
                  <a:srgbClr val="404040"/>
                </a:solidFill>
                <a:latin typeface="Times New Roman"/>
                <a:cs typeface="Times New Roman"/>
              </a:rPr>
              <a:t>that</a:t>
            </a:r>
            <a:r>
              <a:rPr sz="1700" spc="-20" dirty="0">
                <a:solidFill>
                  <a:srgbClr val="404040"/>
                </a:solidFill>
                <a:latin typeface="Times New Roman"/>
                <a:cs typeface="Times New Roman"/>
              </a:rPr>
              <a:t> </a:t>
            </a:r>
            <a:r>
              <a:rPr sz="1700" dirty="0">
                <a:solidFill>
                  <a:srgbClr val="404040"/>
                </a:solidFill>
                <a:latin typeface="Times New Roman"/>
                <a:cs typeface="Times New Roman"/>
              </a:rPr>
              <a:t>both</a:t>
            </a:r>
            <a:r>
              <a:rPr sz="1700" spc="-15" dirty="0">
                <a:solidFill>
                  <a:srgbClr val="404040"/>
                </a:solidFill>
                <a:latin typeface="Times New Roman"/>
                <a:cs typeface="Times New Roman"/>
              </a:rPr>
              <a:t> </a:t>
            </a:r>
            <a:r>
              <a:rPr sz="1700" spc="-25" dirty="0">
                <a:solidFill>
                  <a:srgbClr val="404040"/>
                </a:solidFill>
                <a:latin typeface="Times New Roman"/>
                <a:cs typeface="Times New Roman"/>
              </a:rPr>
              <a:t>(1</a:t>
            </a:r>
            <a:r>
              <a:rPr sz="1700" i="1" spc="-25" dirty="0">
                <a:solidFill>
                  <a:srgbClr val="404040"/>
                </a:solidFill>
                <a:latin typeface="Times New Roman"/>
                <a:cs typeface="Times New Roman"/>
              </a:rPr>
              <a:t>, </a:t>
            </a:r>
            <a:r>
              <a:rPr sz="1700" dirty="0">
                <a:solidFill>
                  <a:srgbClr val="404040"/>
                </a:solidFill>
                <a:latin typeface="Times New Roman"/>
                <a:cs typeface="Times New Roman"/>
              </a:rPr>
              <a:t>2)</a:t>
            </a:r>
            <a:r>
              <a:rPr sz="1700" spc="-25" dirty="0">
                <a:solidFill>
                  <a:srgbClr val="404040"/>
                </a:solidFill>
                <a:latin typeface="Times New Roman"/>
                <a:cs typeface="Times New Roman"/>
              </a:rPr>
              <a:t> </a:t>
            </a:r>
            <a:r>
              <a:rPr sz="1700" dirty="0">
                <a:solidFill>
                  <a:srgbClr val="404040"/>
                </a:solidFill>
                <a:latin typeface="Times New Roman"/>
                <a:cs typeface="Times New Roman"/>
              </a:rPr>
              <a:t>and</a:t>
            </a:r>
            <a:r>
              <a:rPr sz="1700" spc="-20" dirty="0">
                <a:solidFill>
                  <a:srgbClr val="404040"/>
                </a:solidFill>
                <a:latin typeface="Times New Roman"/>
                <a:cs typeface="Times New Roman"/>
              </a:rPr>
              <a:t> </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15" dirty="0">
                <a:solidFill>
                  <a:srgbClr val="404040"/>
                </a:solidFill>
                <a:latin typeface="Times New Roman"/>
                <a:cs typeface="Times New Roman"/>
              </a:rPr>
              <a:t> </a:t>
            </a:r>
            <a:r>
              <a:rPr sz="1700" dirty="0">
                <a:solidFill>
                  <a:srgbClr val="404040"/>
                </a:solidFill>
                <a:latin typeface="Times New Roman"/>
                <a:cs typeface="Times New Roman"/>
              </a:rPr>
              <a:t>1)</a:t>
            </a:r>
            <a:r>
              <a:rPr sz="1700" spc="-25" dirty="0">
                <a:solidFill>
                  <a:srgbClr val="404040"/>
                </a:solidFill>
                <a:latin typeface="Times New Roman"/>
                <a:cs typeface="Times New Roman"/>
              </a:rPr>
              <a:t> </a:t>
            </a:r>
            <a:r>
              <a:rPr sz="1700" dirty="0">
                <a:solidFill>
                  <a:srgbClr val="404040"/>
                </a:solidFill>
                <a:latin typeface="Times New Roman"/>
                <a:cs typeface="Times New Roman"/>
              </a:rPr>
              <a:t>belong</a:t>
            </a:r>
            <a:r>
              <a:rPr sz="1700" spc="-30" dirty="0">
                <a:solidFill>
                  <a:srgbClr val="404040"/>
                </a:solidFill>
                <a:latin typeface="Times New Roman"/>
                <a:cs typeface="Times New Roman"/>
              </a:rPr>
              <a:t> </a:t>
            </a:r>
            <a:r>
              <a:rPr sz="1700" dirty="0">
                <a:solidFill>
                  <a:srgbClr val="404040"/>
                </a:solidFill>
                <a:latin typeface="Times New Roman"/>
                <a:cs typeface="Times New Roman"/>
              </a:rPr>
              <a:t>to</a:t>
            </a:r>
            <a:r>
              <a:rPr sz="1700" spc="-15" dirty="0">
                <a:solidFill>
                  <a:srgbClr val="404040"/>
                </a:solidFill>
                <a:latin typeface="Times New Roman"/>
                <a:cs typeface="Times New Roman"/>
              </a:rPr>
              <a:t> </a:t>
            </a:r>
            <a:r>
              <a:rPr sz="1700" dirty="0">
                <a:solidFill>
                  <a:srgbClr val="404040"/>
                </a:solidFill>
                <a:latin typeface="Times New Roman"/>
                <a:cs typeface="Times New Roman"/>
              </a:rPr>
              <a:t>the</a:t>
            </a:r>
            <a:r>
              <a:rPr sz="1700" spc="-15" dirty="0">
                <a:solidFill>
                  <a:srgbClr val="404040"/>
                </a:solidFill>
                <a:latin typeface="Times New Roman"/>
                <a:cs typeface="Times New Roman"/>
              </a:rPr>
              <a:t> </a:t>
            </a:r>
            <a:r>
              <a:rPr sz="1700" dirty="0">
                <a:solidFill>
                  <a:srgbClr val="404040"/>
                </a:solidFill>
                <a:latin typeface="Times New Roman"/>
                <a:cs typeface="Times New Roman"/>
              </a:rPr>
              <a:t>relation,</a:t>
            </a:r>
            <a:r>
              <a:rPr sz="1700" spc="-25" dirty="0">
                <a:solidFill>
                  <a:srgbClr val="404040"/>
                </a:solidFill>
                <a:latin typeface="Times New Roman"/>
                <a:cs typeface="Times New Roman"/>
              </a:rPr>
              <a:t> </a:t>
            </a:r>
            <a:r>
              <a:rPr sz="1700" dirty="0">
                <a:solidFill>
                  <a:srgbClr val="404040"/>
                </a:solidFill>
                <a:latin typeface="Times New Roman"/>
                <a:cs typeface="Times New Roman"/>
              </a:rPr>
              <a:t>and</a:t>
            </a:r>
            <a:r>
              <a:rPr sz="1700" spc="-20" dirty="0">
                <a:solidFill>
                  <a:srgbClr val="404040"/>
                </a:solidFill>
                <a:latin typeface="Times New Roman"/>
                <a:cs typeface="Times New Roman"/>
              </a:rPr>
              <a:t> </a:t>
            </a: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4)</a:t>
            </a:r>
            <a:r>
              <a:rPr sz="1700" spc="-20" dirty="0">
                <a:solidFill>
                  <a:srgbClr val="404040"/>
                </a:solidFill>
                <a:latin typeface="Times New Roman"/>
                <a:cs typeface="Times New Roman"/>
              </a:rPr>
              <a:t> </a:t>
            </a:r>
            <a:r>
              <a:rPr sz="1700" dirty="0">
                <a:solidFill>
                  <a:srgbClr val="404040"/>
                </a:solidFill>
                <a:latin typeface="Times New Roman"/>
                <a:cs typeface="Times New Roman"/>
              </a:rPr>
              <a:t>and</a:t>
            </a:r>
            <a:r>
              <a:rPr sz="1700" spc="-25" dirty="0">
                <a:solidFill>
                  <a:srgbClr val="404040"/>
                </a:solidFill>
                <a:latin typeface="Times New Roman"/>
                <a:cs typeface="Times New Roman"/>
              </a:rPr>
              <a:t> </a:t>
            </a:r>
            <a:r>
              <a:rPr sz="1700" dirty="0">
                <a:solidFill>
                  <a:srgbClr val="404040"/>
                </a:solidFill>
                <a:latin typeface="Times New Roman"/>
                <a:cs typeface="Times New Roman"/>
              </a:rPr>
              <a:t>(4</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1)</a:t>
            </a:r>
            <a:r>
              <a:rPr sz="1700" spc="-25" dirty="0">
                <a:solidFill>
                  <a:srgbClr val="404040"/>
                </a:solidFill>
                <a:latin typeface="Times New Roman"/>
                <a:cs typeface="Times New Roman"/>
              </a:rPr>
              <a:t> </a:t>
            </a:r>
            <a:r>
              <a:rPr sz="1700" dirty="0">
                <a:solidFill>
                  <a:srgbClr val="404040"/>
                </a:solidFill>
                <a:latin typeface="Times New Roman"/>
                <a:cs typeface="Times New Roman"/>
              </a:rPr>
              <a:t>belong</a:t>
            </a:r>
            <a:r>
              <a:rPr sz="1700" spc="-25" dirty="0">
                <a:solidFill>
                  <a:srgbClr val="404040"/>
                </a:solidFill>
                <a:latin typeface="Times New Roman"/>
                <a:cs typeface="Times New Roman"/>
              </a:rPr>
              <a:t> </a:t>
            </a:r>
            <a:r>
              <a:rPr sz="1700" dirty="0">
                <a:solidFill>
                  <a:srgbClr val="404040"/>
                </a:solidFill>
                <a:latin typeface="Times New Roman"/>
                <a:cs typeface="Times New Roman"/>
              </a:rPr>
              <a:t>to</a:t>
            </a:r>
            <a:r>
              <a:rPr sz="1700" spc="-20" dirty="0">
                <a:solidFill>
                  <a:srgbClr val="404040"/>
                </a:solidFill>
                <a:latin typeface="Times New Roman"/>
                <a:cs typeface="Times New Roman"/>
              </a:rPr>
              <a:t> </a:t>
            </a:r>
            <a:r>
              <a:rPr sz="1700" dirty="0">
                <a:solidFill>
                  <a:srgbClr val="404040"/>
                </a:solidFill>
                <a:latin typeface="Times New Roman"/>
                <a:cs typeface="Times New Roman"/>
              </a:rPr>
              <a:t>the</a:t>
            </a:r>
            <a:r>
              <a:rPr sz="1700" spc="-15" dirty="0">
                <a:solidFill>
                  <a:srgbClr val="404040"/>
                </a:solidFill>
                <a:latin typeface="Times New Roman"/>
                <a:cs typeface="Times New Roman"/>
              </a:rPr>
              <a:t> </a:t>
            </a:r>
            <a:r>
              <a:rPr sz="1700" spc="-10" dirty="0">
                <a:solidFill>
                  <a:srgbClr val="404040"/>
                </a:solidFill>
                <a:latin typeface="Times New Roman"/>
                <a:cs typeface="Times New Roman"/>
              </a:rPr>
              <a:t>relation.</a:t>
            </a:r>
            <a:endParaRPr sz="1700" dirty="0">
              <a:latin typeface="Times New Roman"/>
              <a:cs typeface="Times New Roman"/>
            </a:endParaRPr>
          </a:p>
          <a:p>
            <a:pPr marL="355600" marR="5080" indent="-342900">
              <a:lnSpc>
                <a:spcPct val="100000"/>
              </a:lnSpc>
              <a:spcBef>
                <a:spcPts val="994"/>
              </a:spcBef>
              <a:tabLst>
                <a:tab pos="354965" algn="l"/>
              </a:tabLst>
            </a:pPr>
            <a:r>
              <a:rPr sz="1350" spc="65" dirty="0">
                <a:solidFill>
                  <a:srgbClr val="90C225"/>
                </a:solidFill>
                <a:latin typeface="Lucida Sans Unicode"/>
                <a:cs typeface="Lucida Sans Unicode"/>
              </a:rPr>
              <a:t>▶</a:t>
            </a:r>
            <a:r>
              <a:rPr sz="1350" dirty="0">
                <a:solidFill>
                  <a:srgbClr val="90C225"/>
                </a:solidFill>
                <a:latin typeface="Lucida Sans Unicode"/>
                <a:cs typeface="Lucida Sans Unicode"/>
              </a:rPr>
              <a:t>	</a:t>
            </a:r>
            <a:r>
              <a:rPr sz="1700" b="1" i="1" dirty="0">
                <a:solidFill>
                  <a:srgbClr val="00AFEF"/>
                </a:solidFill>
                <a:latin typeface="Times New Roman"/>
                <a:cs typeface="Times New Roman"/>
              </a:rPr>
              <a:t>R</a:t>
            </a:r>
            <a:r>
              <a:rPr sz="1700" b="1" dirty="0">
                <a:solidFill>
                  <a:srgbClr val="00AFEF"/>
                </a:solidFill>
                <a:latin typeface="Times New Roman"/>
                <a:cs typeface="Times New Roman"/>
              </a:rPr>
              <a:t>4,</a:t>
            </a:r>
            <a:r>
              <a:rPr sz="1700" b="1" spc="-15" dirty="0">
                <a:solidFill>
                  <a:srgbClr val="00AFEF"/>
                </a:solidFill>
                <a:latin typeface="Times New Roman"/>
                <a:cs typeface="Times New Roman"/>
              </a:rPr>
              <a:t> </a:t>
            </a:r>
            <a:r>
              <a:rPr sz="1700" b="1" i="1" dirty="0">
                <a:solidFill>
                  <a:srgbClr val="00AFEF"/>
                </a:solidFill>
                <a:latin typeface="Times New Roman"/>
                <a:cs typeface="Times New Roman"/>
              </a:rPr>
              <a:t>R</a:t>
            </a:r>
            <a:r>
              <a:rPr sz="1700" b="1" dirty="0">
                <a:solidFill>
                  <a:srgbClr val="00AFEF"/>
                </a:solidFill>
                <a:latin typeface="Times New Roman"/>
                <a:cs typeface="Times New Roman"/>
              </a:rPr>
              <a:t>5,</a:t>
            </a:r>
            <a:r>
              <a:rPr sz="1700" b="1" spc="-20" dirty="0">
                <a:solidFill>
                  <a:srgbClr val="00AFEF"/>
                </a:solidFill>
                <a:latin typeface="Times New Roman"/>
                <a:cs typeface="Times New Roman"/>
              </a:rPr>
              <a:t> </a:t>
            </a:r>
            <a:r>
              <a:rPr sz="1700" b="1" dirty="0">
                <a:solidFill>
                  <a:srgbClr val="00AFEF"/>
                </a:solidFill>
                <a:latin typeface="Times New Roman"/>
                <a:cs typeface="Times New Roman"/>
              </a:rPr>
              <a:t>and</a:t>
            </a:r>
            <a:r>
              <a:rPr sz="1700" b="1" spc="-10" dirty="0">
                <a:solidFill>
                  <a:srgbClr val="00AFEF"/>
                </a:solidFill>
                <a:latin typeface="Times New Roman"/>
                <a:cs typeface="Times New Roman"/>
              </a:rPr>
              <a:t> </a:t>
            </a:r>
            <a:r>
              <a:rPr sz="1700" b="1" i="1" dirty="0">
                <a:solidFill>
                  <a:srgbClr val="00AFEF"/>
                </a:solidFill>
                <a:latin typeface="Times New Roman"/>
                <a:cs typeface="Times New Roman"/>
              </a:rPr>
              <a:t>R</a:t>
            </a:r>
            <a:r>
              <a:rPr sz="1700" b="1" dirty="0">
                <a:solidFill>
                  <a:srgbClr val="00AFEF"/>
                </a:solidFill>
                <a:latin typeface="Times New Roman"/>
                <a:cs typeface="Times New Roman"/>
              </a:rPr>
              <a:t>6</a:t>
            </a:r>
            <a:r>
              <a:rPr sz="1700" b="1" spc="-15" dirty="0">
                <a:solidFill>
                  <a:srgbClr val="00AFEF"/>
                </a:solidFill>
                <a:latin typeface="Times New Roman"/>
                <a:cs typeface="Times New Roman"/>
              </a:rPr>
              <a:t> </a:t>
            </a:r>
            <a:r>
              <a:rPr sz="1700" b="1" dirty="0">
                <a:solidFill>
                  <a:srgbClr val="00AFEF"/>
                </a:solidFill>
                <a:latin typeface="Times New Roman"/>
                <a:cs typeface="Times New Roman"/>
              </a:rPr>
              <a:t>are</a:t>
            </a:r>
            <a:r>
              <a:rPr sz="1700" b="1" spc="-25" dirty="0">
                <a:solidFill>
                  <a:srgbClr val="00AFEF"/>
                </a:solidFill>
                <a:latin typeface="Times New Roman"/>
                <a:cs typeface="Times New Roman"/>
              </a:rPr>
              <a:t> </a:t>
            </a:r>
            <a:r>
              <a:rPr sz="1700" b="1" dirty="0">
                <a:solidFill>
                  <a:srgbClr val="00AFEF"/>
                </a:solidFill>
                <a:latin typeface="Times New Roman"/>
                <a:cs typeface="Times New Roman"/>
              </a:rPr>
              <a:t>all</a:t>
            </a:r>
            <a:r>
              <a:rPr sz="1700" b="1" spc="-15" dirty="0">
                <a:solidFill>
                  <a:srgbClr val="00AFEF"/>
                </a:solidFill>
                <a:latin typeface="Times New Roman"/>
                <a:cs typeface="Times New Roman"/>
              </a:rPr>
              <a:t> </a:t>
            </a:r>
            <a:r>
              <a:rPr sz="1700" b="1" dirty="0">
                <a:solidFill>
                  <a:srgbClr val="00AFEF"/>
                </a:solidFill>
                <a:latin typeface="Times New Roman"/>
                <a:cs typeface="Times New Roman"/>
              </a:rPr>
              <a:t>antisymmetric</a:t>
            </a:r>
            <a:r>
              <a:rPr sz="1700" dirty="0">
                <a:solidFill>
                  <a:srgbClr val="404040"/>
                </a:solidFill>
                <a:latin typeface="Times New Roman"/>
                <a:cs typeface="Times New Roman"/>
              </a:rPr>
              <a:t>.</a:t>
            </a:r>
            <a:r>
              <a:rPr sz="1700" spc="-35" dirty="0">
                <a:solidFill>
                  <a:srgbClr val="404040"/>
                </a:solidFill>
                <a:latin typeface="Times New Roman"/>
                <a:cs typeface="Times New Roman"/>
              </a:rPr>
              <a:t> </a:t>
            </a:r>
            <a:r>
              <a:rPr sz="1700" dirty="0">
                <a:solidFill>
                  <a:srgbClr val="404040"/>
                </a:solidFill>
                <a:latin typeface="Times New Roman"/>
                <a:cs typeface="Times New Roman"/>
              </a:rPr>
              <a:t>For</a:t>
            </a:r>
            <a:r>
              <a:rPr sz="1700" spc="-20" dirty="0">
                <a:solidFill>
                  <a:srgbClr val="404040"/>
                </a:solidFill>
                <a:latin typeface="Times New Roman"/>
                <a:cs typeface="Times New Roman"/>
              </a:rPr>
              <a:t> </a:t>
            </a:r>
            <a:r>
              <a:rPr sz="1700" dirty="0">
                <a:solidFill>
                  <a:srgbClr val="404040"/>
                </a:solidFill>
                <a:latin typeface="Times New Roman"/>
                <a:cs typeface="Times New Roman"/>
              </a:rPr>
              <a:t>each</a:t>
            </a:r>
            <a:r>
              <a:rPr sz="1700" spc="-30" dirty="0">
                <a:solidFill>
                  <a:srgbClr val="404040"/>
                </a:solidFill>
                <a:latin typeface="Times New Roman"/>
                <a:cs typeface="Times New Roman"/>
              </a:rPr>
              <a:t> </a:t>
            </a:r>
            <a:r>
              <a:rPr sz="1700" dirty="0">
                <a:solidFill>
                  <a:srgbClr val="404040"/>
                </a:solidFill>
                <a:latin typeface="Times New Roman"/>
                <a:cs typeface="Times New Roman"/>
              </a:rPr>
              <a:t>of</a:t>
            </a:r>
            <a:r>
              <a:rPr sz="1700" spc="-15" dirty="0">
                <a:solidFill>
                  <a:srgbClr val="404040"/>
                </a:solidFill>
                <a:latin typeface="Times New Roman"/>
                <a:cs typeface="Times New Roman"/>
              </a:rPr>
              <a:t> </a:t>
            </a:r>
            <a:r>
              <a:rPr sz="1700" dirty="0">
                <a:solidFill>
                  <a:srgbClr val="404040"/>
                </a:solidFill>
                <a:latin typeface="Times New Roman"/>
                <a:cs typeface="Times New Roman"/>
              </a:rPr>
              <a:t>these</a:t>
            </a:r>
            <a:r>
              <a:rPr sz="1700" spc="-25" dirty="0">
                <a:solidFill>
                  <a:srgbClr val="404040"/>
                </a:solidFill>
                <a:latin typeface="Times New Roman"/>
                <a:cs typeface="Times New Roman"/>
              </a:rPr>
              <a:t> </a:t>
            </a:r>
            <a:r>
              <a:rPr sz="1700" dirty="0">
                <a:solidFill>
                  <a:srgbClr val="404040"/>
                </a:solidFill>
                <a:latin typeface="Times New Roman"/>
                <a:cs typeface="Times New Roman"/>
              </a:rPr>
              <a:t>relations</a:t>
            </a:r>
            <a:r>
              <a:rPr sz="1700" spc="-30" dirty="0">
                <a:solidFill>
                  <a:srgbClr val="404040"/>
                </a:solidFill>
                <a:latin typeface="Times New Roman"/>
                <a:cs typeface="Times New Roman"/>
              </a:rPr>
              <a:t> </a:t>
            </a:r>
            <a:r>
              <a:rPr sz="1700" dirty="0">
                <a:solidFill>
                  <a:srgbClr val="404040"/>
                </a:solidFill>
                <a:latin typeface="Times New Roman"/>
                <a:cs typeface="Times New Roman"/>
              </a:rPr>
              <a:t>there</a:t>
            </a:r>
            <a:r>
              <a:rPr sz="1700" spc="-35" dirty="0">
                <a:solidFill>
                  <a:srgbClr val="404040"/>
                </a:solidFill>
                <a:latin typeface="Times New Roman"/>
                <a:cs typeface="Times New Roman"/>
              </a:rPr>
              <a:t> </a:t>
            </a:r>
            <a:r>
              <a:rPr sz="1700" dirty="0">
                <a:solidFill>
                  <a:srgbClr val="404040"/>
                </a:solidFill>
                <a:latin typeface="Times New Roman"/>
                <a:cs typeface="Times New Roman"/>
              </a:rPr>
              <a:t>is</a:t>
            </a:r>
            <a:r>
              <a:rPr sz="1700" spc="-10" dirty="0">
                <a:solidFill>
                  <a:srgbClr val="404040"/>
                </a:solidFill>
                <a:latin typeface="Times New Roman"/>
                <a:cs typeface="Times New Roman"/>
              </a:rPr>
              <a:t> </a:t>
            </a:r>
            <a:r>
              <a:rPr sz="1700" spc="-25" dirty="0">
                <a:solidFill>
                  <a:srgbClr val="404040"/>
                </a:solidFill>
                <a:latin typeface="Times New Roman"/>
                <a:cs typeface="Times New Roman"/>
              </a:rPr>
              <a:t>no </a:t>
            </a:r>
            <a:r>
              <a:rPr sz="1700" dirty="0">
                <a:solidFill>
                  <a:srgbClr val="404040"/>
                </a:solidFill>
                <a:latin typeface="Times New Roman"/>
                <a:cs typeface="Times New Roman"/>
              </a:rPr>
              <a:t>pair</a:t>
            </a:r>
            <a:r>
              <a:rPr sz="1700" spc="-40" dirty="0">
                <a:solidFill>
                  <a:srgbClr val="404040"/>
                </a:solidFill>
                <a:latin typeface="Times New Roman"/>
                <a:cs typeface="Times New Roman"/>
              </a:rPr>
              <a:t> </a:t>
            </a:r>
            <a:r>
              <a:rPr sz="1700" dirty="0">
                <a:solidFill>
                  <a:srgbClr val="404040"/>
                </a:solidFill>
                <a:latin typeface="Times New Roman"/>
                <a:cs typeface="Times New Roman"/>
              </a:rPr>
              <a:t>of</a:t>
            </a:r>
            <a:r>
              <a:rPr sz="1700" spc="-20" dirty="0">
                <a:solidFill>
                  <a:srgbClr val="404040"/>
                </a:solidFill>
                <a:latin typeface="Times New Roman"/>
                <a:cs typeface="Times New Roman"/>
              </a:rPr>
              <a:t> </a:t>
            </a:r>
            <a:r>
              <a:rPr sz="1700" dirty="0">
                <a:solidFill>
                  <a:srgbClr val="404040"/>
                </a:solidFill>
                <a:latin typeface="Times New Roman"/>
                <a:cs typeface="Times New Roman"/>
              </a:rPr>
              <a:t>elements</a:t>
            </a:r>
            <a:r>
              <a:rPr sz="1700" spc="-20" dirty="0">
                <a:solidFill>
                  <a:srgbClr val="404040"/>
                </a:solidFill>
                <a:latin typeface="Times New Roman"/>
                <a:cs typeface="Times New Roman"/>
              </a:rPr>
              <a:t> </a:t>
            </a:r>
            <a:r>
              <a:rPr sz="1700" i="1" dirty="0">
                <a:solidFill>
                  <a:srgbClr val="404040"/>
                </a:solidFill>
                <a:latin typeface="Times New Roman"/>
                <a:cs typeface="Times New Roman"/>
              </a:rPr>
              <a:t>a</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and</a:t>
            </a:r>
            <a:r>
              <a:rPr sz="1700" spc="-20" dirty="0">
                <a:solidFill>
                  <a:srgbClr val="404040"/>
                </a:solidFill>
                <a:latin typeface="Times New Roman"/>
                <a:cs typeface="Times New Roman"/>
              </a:rPr>
              <a:t> </a:t>
            </a:r>
            <a:r>
              <a:rPr sz="1700" i="1" dirty="0">
                <a:solidFill>
                  <a:srgbClr val="404040"/>
                </a:solidFill>
                <a:latin typeface="Times New Roman"/>
                <a:cs typeface="Times New Roman"/>
              </a:rPr>
              <a:t>b</a:t>
            </a:r>
            <a:r>
              <a:rPr sz="1700" i="1" spc="-15" dirty="0">
                <a:solidFill>
                  <a:srgbClr val="404040"/>
                </a:solidFill>
                <a:latin typeface="Times New Roman"/>
                <a:cs typeface="Times New Roman"/>
              </a:rPr>
              <a:t> </a:t>
            </a:r>
            <a:r>
              <a:rPr sz="1700" dirty="0">
                <a:solidFill>
                  <a:srgbClr val="404040"/>
                </a:solidFill>
                <a:latin typeface="Times New Roman"/>
                <a:cs typeface="Times New Roman"/>
              </a:rPr>
              <a:t>with</a:t>
            </a:r>
            <a:r>
              <a:rPr sz="1700" spc="-10" dirty="0">
                <a:solidFill>
                  <a:srgbClr val="404040"/>
                </a:solidFill>
                <a:latin typeface="Times New Roman"/>
                <a:cs typeface="Times New Roman"/>
              </a:rPr>
              <a:t> </a:t>
            </a:r>
            <a:r>
              <a:rPr sz="1700" i="1" dirty="0">
                <a:solidFill>
                  <a:srgbClr val="404040"/>
                </a:solidFill>
                <a:latin typeface="Times New Roman"/>
                <a:cs typeface="Times New Roman"/>
              </a:rPr>
              <a:t>a</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a:t>
            </a:r>
            <a:r>
              <a:rPr sz="1700" spc="-5" dirty="0">
                <a:solidFill>
                  <a:srgbClr val="404040"/>
                </a:solidFill>
                <a:latin typeface="Times New Roman"/>
                <a:cs typeface="Times New Roman"/>
              </a:rPr>
              <a:t> </a:t>
            </a:r>
            <a:r>
              <a:rPr sz="1700" i="1" dirty="0">
                <a:solidFill>
                  <a:srgbClr val="404040"/>
                </a:solidFill>
                <a:latin typeface="Times New Roman"/>
                <a:cs typeface="Times New Roman"/>
              </a:rPr>
              <a:t>b</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such</a:t>
            </a:r>
            <a:r>
              <a:rPr sz="1700" spc="-10" dirty="0">
                <a:solidFill>
                  <a:srgbClr val="404040"/>
                </a:solidFill>
                <a:latin typeface="Times New Roman"/>
                <a:cs typeface="Times New Roman"/>
              </a:rPr>
              <a:t> </a:t>
            </a:r>
            <a:r>
              <a:rPr sz="1700" dirty="0">
                <a:solidFill>
                  <a:srgbClr val="404040"/>
                </a:solidFill>
                <a:latin typeface="Times New Roman"/>
                <a:cs typeface="Times New Roman"/>
              </a:rPr>
              <a:t>that</a:t>
            </a:r>
            <a:r>
              <a:rPr sz="1700" spc="-25" dirty="0">
                <a:solidFill>
                  <a:srgbClr val="404040"/>
                </a:solidFill>
                <a:latin typeface="Times New Roman"/>
                <a:cs typeface="Times New Roman"/>
              </a:rPr>
              <a:t> </a:t>
            </a:r>
            <a:r>
              <a:rPr sz="1700" dirty="0">
                <a:solidFill>
                  <a:srgbClr val="404040"/>
                </a:solidFill>
                <a:latin typeface="Times New Roman"/>
                <a:cs typeface="Times New Roman"/>
              </a:rPr>
              <a:t>both</a:t>
            </a:r>
            <a:r>
              <a:rPr sz="1700" spc="-20" dirty="0">
                <a:solidFill>
                  <a:srgbClr val="404040"/>
                </a:solidFill>
                <a:latin typeface="Times New Roman"/>
                <a:cs typeface="Times New Roman"/>
              </a:rPr>
              <a:t> </a:t>
            </a:r>
            <a:r>
              <a:rPr sz="1700" dirty="0">
                <a:solidFill>
                  <a:srgbClr val="404040"/>
                </a:solidFill>
                <a:latin typeface="Times New Roman"/>
                <a:cs typeface="Times New Roman"/>
              </a:rPr>
              <a:t>(</a:t>
            </a:r>
            <a:r>
              <a:rPr sz="1700" i="1" dirty="0">
                <a:solidFill>
                  <a:srgbClr val="404040"/>
                </a:solidFill>
                <a:latin typeface="Times New Roman"/>
                <a:cs typeface="Times New Roman"/>
              </a:rPr>
              <a:t>a,</a:t>
            </a:r>
            <a:r>
              <a:rPr sz="1700" i="1" spc="-15" dirty="0">
                <a:solidFill>
                  <a:srgbClr val="404040"/>
                </a:solidFill>
                <a:latin typeface="Times New Roman"/>
                <a:cs typeface="Times New Roman"/>
              </a:rPr>
              <a:t> </a:t>
            </a:r>
            <a:r>
              <a:rPr sz="1700" i="1" dirty="0">
                <a:solidFill>
                  <a:srgbClr val="404040"/>
                </a:solidFill>
                <a:latin typeface="Times New Roman"/>
                <a:cs typeface="Times New Roman"/>
              </a:rPr>
              <a:t>b</a:t>
            </a:r>
            <a:r>
              <a:rPr sz="1700" dirty="0">
                <a:solidFill>
                  <a:srgbClr val="404040"/>
                </a:solidFill>
                <a:latin typeface="Times New Roman"/>
                <a:cs typeface="Times New Roman"/>
              </a:rPr>
              <a:t>)</a:t>
            </a:r>
            <a:r>
              <a:rPr sz="1700" spc="-25" dirty="0">
                <a:solidFill>
                  <a:srgbClr val="404040"/>
                </a:solidFill>
                <a:latin typeface="Times New Roman"/>
                <a:cs typeface="Times New Roman"/>
              </a:rPr>
              <a:t> </a:t>
            </a:r>
            <a:r>
              <a:rPr sz="1700" dirty="0">
                <a:solidFill>
                  <a:srgbClr val="404040"/>
                </a:solidFill>
                <a:latin typeface="Times New Roman"/>
                <a:cs typeface="Times New Roman"/>
              </a:rPr>
              <a:t>and</a:t>
            </a:r>
            <a:r>
              <a:rPr sz="1700" spc="-15" dirty="0">
                <a:solidFill>
                  <a:srgbClr val="404040"/>
                </a:solidFill>
                <a:latin typeface="Times New Roman"/>
                <a:cs typeface="Times New Roman"/>
              </a:rPr>
              <a:t> </a:t>
            </a:r>
            <a:r>
              <a:rPr sz="1700" dirty="0">
                <a:solidFill>
                  <a:srgbClr val="404040"/>
                </a:solidFill>
                <a:latin typeface="Times New Roman"/>
                <a:cs typeface="Times New Roman"/>
              </a:rPr>
              <a:t>(</a:t>
            </a:r>
            <a:r>
              <a:rPr sz="1700" i="1" dirty="0">
                <a:solidFill>
                  <a:srgbClr val="404040"/>
                </a:solidFill>
                <a:latin typeface="Times New Roman"/>
                <a:cs typeface="Times New Roman"/>
              </a:rPr>
              <a:t>b,</a:t>
            </a:r>
            <a:r>
              <a:rPr sz="1700" i="1" spc="-20" dirty="0">
                <a:solidFill>
                  <a:srgbClr val="404040"/>
                </a:solidFill>
                <a:latin typeface="Times New Roman"/>
                <a:cs typeface="Times New Roman"/>
              </a:rPr>
              <a:t> </a:t>
            </a:r>
            <a:r>
              <a:rPr sz="1700" i="1" dirty="0">
                <a:solidFill>
                  <a:srgbClr val="404040"/>
                </a:solidFill>
                <a:latin typeface="Times New Roman"/>
                <a:cs typeface="Times New Roman"/>
              </a:rPr>
              <a:t>a</a:t>
            </a:r>
            <a:r>
              <a:rPr sz="1700" dirty="0">
                <a:solidFill>
                  <a:srgbClr val="404040"/>
                </a:solidFill>
                <a:latin typeface="Times New Roman"/>
                <a:cs typeface="Times New Roman"/>
              </a:rPr>
              <a:t>)</a:t>
            </a:r>
            <a:r>
              <a:rPr sz="1700" spc="-25" dirty="0">
                <a:solidFill>
                  <a:srgbClr val="404040"/>
                </a:solidFill>
                <a:latin typeface="Times New Roman"/>
                <a:cs typeface="Times New Roman"/>
              </a:rPr>
              <a:t> </a:t>
            </a:r>
            <a:r>
              <a:rPr sz="1700" dirty="0">
                <a:solidFill>
                  <a:srgbClr val="404040"/>
                </a:solidFill>
                <a:latin typeface="Times New Roman"/>
                <a:cs typeface="Times New Roman"/>
              </a:rPr>
              <a:t>belong</a:t>
            </a:r>
            <a:r>
              <a:rPr sz="1700" spc="-25" dirty="0">
                <a:solidFill>
                  <a:srgbClr val="404040"/>
                </a:solidFill>
                <a:latin typeface="Times New Roman"/>
                <a:cs typeface="Times New Roman"/>
              </a:rPr>
              <a:t> </a:t>
            </a:r>
            <a:r>
              <a:rPr sz="1700" dirty="0">
                <a:solidFill>
                  <a:srgbClr val="404040"/>
                </a:solidFill>
                <a:latin typeface="Times New Roman"/>
                <a:cs typeface="Times New Roman"/>
              </a:rPr>
              <a:t>to</a:t>
            </a:r>
            <a:r>
              <a:rPr sz="1700" spc="-10" dirty="0">
                <a:solidFill>
                  <a:srgbClr val="404040"/>
                </a:solidFill>
                <a:latin typeface="Times New Roman"/>
                <a:cs typeface="Times New Roman"/>
              </a:rPr>
              <a:t> </a:t>
            </a:r>
            <a:r>
              <a:rPr sz="1700" spc="-25" dirty="0">
                <a:solidFill>
                  <a:srgbClr val="404040"/>
                </a:solidFill>
                <a:latin typeface="Times New Roman"/>
                <a:cs typeface="Times New Roman"/>
              </a:rPr>
              <a:t>the </a:t>
            </a:r>
            <a:r>
              <a:rPr sz="1700" dirty="0">
                <a:solidFill>
                  <a:srgbClr val="404040"/>
                </a:solidFill>
                <a:latin typeface="Times New Roman"/>
                <a:cs typeface="Times New Roman"/>
              </a:rPr>
              <a:t>relation.</a:t>
            </a:r>
            <a:r>
              <a:rPr sz="1700" spc="-65" dirty="0">
                <a:solidFill>
                  <a:srgbClr val="404040"/>
                </a:solidFill>
                <a:latin typeface="Times New Roman"/>
                <a:cs typeface="Times New Roman"/>
              </a:rPr>
              <a:t> </a:t>
            </a:r>
            <a:r>
              <a:rPr sz="1700" dirty="0">
                <a:solidFill>
                  <a:srgbClr val="404040"/>
                </a:solidFill>
                <a:latin typeface="Times New Roman"/>
                <a:cs typeface="Times New Roman"/>
              </a:rPr>
              <a:t>This</a:t>
            </a:r>
            <a:r>
              <a:rPr sz="1700" spc="-15" dirty="0">
                <a:solidFill>
                  <a:srgbClr val="404040"/>
                </a:solidFill>
                <a:latin typeface="Times New Roman"/>
                <a:cs typeface="Times New Roman"/>
              </a:rPr>
              <a:t> </a:t>
            </a:r>
            <a:r>
              <a:rPr sz="1700" dirty="0">
                <a:solidFill>
                  <a:srgbClr val="404040"/>
                </a:solidFill>
                <a:latin typeface="Times New Roman"/>
                <a:cs typeface="Times New Roman"/>
              </a:rPr>
              <a:t>is</a:t>
            </a:r>
            <a:r>
              <a:rPr sz="1700" spc="-10" dirty="0">
                <a:solidFill>
                  <a:srgbClr val="404040"/>
                </a:solidFill>
                <a:latin typeface="Times New Roman"/>
                <a:cs typeface="Times New Roman"/>
              </a:rPr>
              <a:t> </a:t>
            </a:r>
            <a:r>
              <a:rPr sz="1700" dirty="0">
                <a:solidFill>
                  <a:srgbClr val="404040"/>
                </a:solidFill>
                <a:latin typeface="Times New Roman"/>
                <a:cs typeface="Times New Roman"/>
              </a:rPr>
              <a:t>done</a:t>
            </a:r>
            <a:r>
              <a:rPr sz="1700" spc="-30" dirty="0">
                <a:solidFill>
                  <a:srgbClr val="404040"/>
                </a:solidFill>
                <a:latin typeface="Times New Roman"/>
                <a:cs typeface="Times New Roman"/>
              </a:rPr>
              <a:t> </a:t>
            </a:r>
            <a:r>
              <a:rPr sz="1700" dirty="0">
                <a:solidFill>
                  <a:srgbClr val="404040"/>
                </a:solidFill>
                <a:latin typeface="Times New Roman"/>
                <a:cs typeface="Times New Roman"/>
              </a:rPr>
              <a:t>by</a:t>
            </a:r>
            <a:r>
              <a:rPr sz="1700" spc="-10" dirty="0">
                <a:solidFill>
                  <a:srgbClr val="404040"/>
                </a:solidFill>
                <a:latin typeface="Times New Roman"/>
                <a:cs typeface="Times New Roman"/>
              </a:rPr>
              <a:t> </a:t>
            </a:r>
            <a:r>
              <a:rPr sz="1700" dirty="0">
                <a:solidFill>
                  <a:srgbClr val="404040"/>
                </a:solidFill>
                <a:latin typeface="Times New Roman"/>
                <a:cs typeface="Times New Roman"/>
              </a:rPr>
              <a:t>finding</a:t>
            </a:r>
            <a:r>
              <a:rPr sz="1700" spc="-20" dirty="0">
                <a:solidFill>
                  <a:srgbClr val="404040"/>
                </a:solidFill>
                <a:latin typeface="Times New Roman"/>
                <a:cs typeface="Times New Roman"/>
              </a:rPr>
              <a:t> </a:t>
            </a:r>
            <a:r>
              <a:rPr sz="1700" dirty="0">
                <a:solidFill>
                  <a:srgbClr val="404040"/>
                </a:solidFill>
                <a:latin typeface="Times New Roman"/>
                <a:cs typeface="Times New Roman"/>
              </a:rPr>
              <a:t>a</a:t>
            </a:r>
            <a:r>
              <a:rPr sz="1700" spc="-20" dirty="0">
                <a:solidFill>
                  <a:srgbClr val="404040"/>
                </a:solidFill>
                <a:latin typeface="Times New Roman"/>
                <a:cs typeface="Times New Roman"/>
              </a:rPr>
              <a:t> </a:t>
            </a:r>
            <a:r>
              <a:rPr sz="1700" dirty="0">
                <a:solidFill>
                  <a:srgbClr val="404040"/>
                </a:solidFill>
                <a:latin typeface="Times New Roman"/>
                <a:cs typeface="Times New Roman"/>
              </a:rPr>
              <a:t>pair</a:t>
            </a:r>
            <a:r>
              <a:rPr sz="1700" spc="-20" dirty="0">
                <a:solidFill>
                  <a:srgbClr val="404040"/>
                </a:solidFill>
                <a:latin typeface="Times New Roman"/>
                <a:cs typeface="Times New Roman"/>
              </a:rPr>
              <a:t> </a:t>
            </a:r>
            <a:r>
              <a:rPr sz="1700" dirty="0">
                <a:solidFill>
                  <a:srgbClr val="404040"/>
                </a:solidFill>
                <a:latin typeface="Times New Roman"/>
                <a:cs typeface="Times New Roman"/>
              </a:rPr>
              <a:t>(</a:t>
            </a:r>
            <a:r>
              <a:rPr sz="1700" i="1" dirty="0">
                <a:solidFill>
                  <a:srgbClr val="404040"/>
                </a:solidFill>
                <a:latin typeface="Times New Roman"/>
                <a:cs typeface="Times New Roman"/>
              </a:rPr>
              <a:t>a,</a:t>
            </a:r>
            <a:r>
              <a:rPr sz="1700" i="1" spc="-15" dirty="0">
                <a:solidFill>
                  <a:srgbClr val="404040"/>
                </a:solidFill>
                <a:latin typeface="Times New Roman"/>
                <a:cs typeface="Times New Roman"/>
              </a:rPr>
              <a:t> </a:t>
            </a:r>
            <a:r>
              <a:rPr sz="1700" i="1" dirty="0">
                <a:solidFill>
                  <a:srgbClr val="404040"/>
                </a:solidFill>
                <a:latin typeface="Times New Roman"/>
                <a:cs typeface="Times New Roman"/>
              </a:rPr>
              <a:t>b</a:t>
            </a:r>
            <a:r>
              <a:rPr sz="1700" dirty="0">
                <a:solidFill>
                  <a:srgbClr val="404040"/>
                </a:solidFill>
                <a:latin typeface="Times New Roman"/>
                <a:cs typeface="Times New Roman"/>
              </a:rPr>
              <a:t>)</a:t>
            </a:r>
            <a:r>
              <a:rPr sz="1700" spc="-20" dirty="0">
                <a:solidFill>
                  <a:srgbClr val="404040"/>
                </a:solidFill>
                <a:latin typeface="Times New Roman"/>
                <a:cs typeface="Times New Roman"/>
              </a:rPr>
              <a:t> </a:t>
            </a:r>
            <a:r>
              <a:rPr sz="1700" dirty="0">
                <a:solidFill>
                  <a:srgbClr val="404040"/>
                </a:solidFill>
                <a:latin typeface="Times New Roman"/>
                <a:cs typeface="Times New Roman"/>
              </a:rPr>
              <a:t>with</a:t>
            </a:r>
            <a:r>
              <a:rPr sz="1700" spc="-10" dirty="0">
                <a:solidFill>
                  <a:srgbClr val="404040"/>
                </a:solidFill>
                <a:latin typeface="Times New Roman"/>
                <a:cs typeface="Times New Roman"/>
              </a:rPr>
              <a:t> </a:t>
            </a:r>
            <a:r>
              <a:rPr sz="1700" i="1" dirty="0">
                <a:solidFill>
                  <a:srgbClr val="404040"/>
                </a:solidFill>
                <a:latin typeface="Times New Roman"/>
                <a:cs typeface="Times New Roman"/>
              </a:rPr>
              <a:t>a</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a:t>
            </a:r>
            <a:r>
              <a:rPr sz="1700" spc="-5" dirty="0">
                <a:solidFill>
                  <a:srgbClr val="404040"/>
                </a:solidFill>
                <a:latin typeface="Times New Roman"/>
                <a:cs typeface="Times New Roman"/>
              </a:rPr>
              <a:t> </a:t>
            </a:r>
            <a:r>
              <a:rPr sz="1700" i="1" dirty="0">
                <a:solidFill>
                  <a:srgbClr val="404040"/>
                </a:solidFill>
                <a:latin typeface="Times New Roman"/>
                <a:cs typeface="Times New Roman"/>
              </a:rPr>
              <a:t>b</a:t>
            </a:r>
            <a:r>
              <a:rPr sz="1700" i="1" spc="-10" dirty="0">
                <a:solidFill>
                  <a:srgbClr val="404040"/>
                </a:solidFill>
                <a:latin typeface="Times New Roman"/>
                <a:cs typeface="Times New Roman"/>
              </a:rPr>
              <a:t> </a:t>
            </a:r>
            <a:r>
              <a:rPr sz="1700" dirty="0">
                <a:solidFill>
                  <a:srgbClr val="404040"/>
                </a:solidFill>
                <a:latin typeface="Times New Roman"/>
                <a:cs typeface="Times New Roman"/>
              </a:rPr>
              <a:t>such</a:t>
            </a:r>
            <a:r>
              <a:rPr sz="1700" spc="-25" dirty="0">
                <a:solidFill>
                  <a:srgbClr val="404040"/>
                </a:solidFill>
                <a:latin typeface="Times New Roman"/>
                <a:cs typeface="Times New Roman"/>
              </a:rPr>
              <a:t> </a:t>
            </a:r>
            <a:r>
              <a:rPr sz="1700" dirty="0">
                <a:solidFill>
                  <a:srgbClr val="404040"/>
                </a:solidFill>
                <a:latin typeface="Times New Roman"/>
                <a:cs typeface="Times New Roman"/>
              </a:rPr>
              <a:t>that</a:t>
            </a:r>
            <a:r>
              <a:rPr sz="1700" spc="-15" dirty="0">
                <a:solidFill>
                  <a:srgbClr val="404040"/>
                </a:solidFill>
                <a:latin typeface="Times New Roman"/>
                <a:cs typeface="Times New Roman"/>
              </a:rPr>
              <a:t> </a:t>
            </a:r>
            <a:r>
              <a:rPr sz="1700" dirty="0">
                <a:solidFill>
                  <a:srgbClr val="404040"/>
                </a:solidFill>
                <a:latin typeface="Times New Roman"/>
                <a:cs typeface="Times New Roman"/>
              </a:rPr>
              <a:t>(</a:t>
            </a:r>
            <a:r>
              <a:rPr sz="1700" i="1" dirty="0">
                <a:solidFill>
                  <a:srgbClr val="404040"/>
                </a:solidFill>
                <a:latin typeface="Times New Roman"/>
                <a:cs typeface="Times New Roman"/>
              </a:rPr>
              <a:t>a,</a:t>
            </a:r>
            <a:r>
              <a:rPr sz="1700" i="1" spc="-20" dirty="0">
                <a:solidFill>
                  <a:srgbClr val="404040"/>
                </a:solidFill>
                <a:latin typeface="Times New Roman"/>
                <a:cs typeface="Times New Roman"/>
              </a:rPr>
              <a:t> </a:t>
            </a:r>
            <a:r>
              <a:rPr sz="1700" i="1" dirty="0">
                <a:solidFill>
                  <a:srgbClr val="404040"/>
                </a:solidFill>
                <a:latin typeface="Times New Roman"/>
                <a:cs typeface="Times New Roman"/>
              </a:rPr>
              <a:t>b</a:t>
            </a:r>
            <a:r>
              <a:rPr sz="1700" dirty="0">
                <a:solidFill>
                  <a:srgbClr val="404040"/>
                </a:solidFill>
                <a:latin typeface="Times New Roman"/>
                <a:cs typeface="Times New Roman"/>
              </a:rPr>
              <a:t>)</a:t>
            </a:r>
            <a:r>
              <a:rPr sz="1700" spc="-20" dirty="0">
                <a:solidFill>
                  <a:srgbClr val="404040"/>
                </a:solidFill>
                <a:latin typeface="Times New Roman"/>
                <a:cs typeface="Times New Roman"/>
              </a:rPr>
              <a:t> </a:t>
            </a:r>
            <a:r>
              <a:rPr sz="1700" dirty="0">
                <a:solidFill>
                  <a:srgbClr val="404040"/>
                </a:solidFill>
                <a:latin typeface="Times New Roman"/>
                <a:cs typeface="Times New Roman"/>
              </a:rPr>
              <a:t>and</a:t>
            </a:r>
            <a:r>
              <a:rPr sz="1700" spc="-20" dirty="0">
                <a:solidFill>
                  <a:srgbClr val="404040"/>
                </a:solidFill>
                <a:latin typeface="Times New Roman"/>
                <a:cs typeface="Times New Roman"/>
              </a:rPr>
              <a:t> </a:t>
            </a:r>
            <a:r>
              <a:rPr sz="1700" spc="-25" dirty="0">
                <a:solidFill>
                  <a:srgbClr val="404040"/>
                </a:solidFill>
                <a:latin typeface="Times New Roman"/>
                <a:cs typeface="Times New Roman"/>
              </a:rPr>
              <a:t>(</a:t>
            </a:r>
            <a:r>
              <a:rPr sz="1700" i="1" spc="-25" dirty="0">
                <a:solidFill>
                  <a:srgbClr val="404040"/>
                </a:solidFill>
                <a:latin typeface="Times New Roman"/>
                <a:cs typeface="Times New Roman"/>
              </a:rPr>
              <a:t>b, </a:t>
            </a:r>
            <a:r>
              <a:rPr sz="1700" i="1" dirty="0">
                <a:solidFill>
                  <a:srgbClr val="404040"/>
                </a:solidFill>
                <a:latin typeface="Times New Roman"/>
                <a:cs typeface="Times New Roman"/>
              </a:rPr>
              <a:t>a</a:t>
            </a:r>
            <a:r>
              <a:rPr sz="1700" dirty="0">
                <a:solidFill>
                  <a:srgbClr val="404040"/>
                </a:solidFill>
                <a:latin typeface="Times New Roman"/>
                <a:cs typeface="Times New Roman"/>
              </a:rPr>
              <a:t>)</a:t>
            </a:r>
            <a:r>
              <a:rPr sz="1700" spc="-25" dirty="0">
                <a:solidFill>
                  <a:srgbClr val="404040"/>
                </a:solidFill>
                <a:latin typeface="Times New Roman"/>
                <a:cs typeface="Times New Roman"/>
              </a:rPr>
              <a:t> </a:t>
            </a:r>
            <a:r>
              <a:rPr sz="1700" dirty="0">
                <a:solidFill>
                  <a:srgbClr val="404040"/>
                </a:solidFill>
                <a:latin typeface="Times New Roman"/>
                <a:cs typeface="Times New Roman"/>
              </a:rPr>
              <a:t>are</a:t>
            </a:r>
            <a:r>
              <a:rPr sz="1700" spc="-20" dirty="0">
                <a:solidFill>
                  <a:srgbClr val="404040"/>
                </a:solidFill>
                <a:latin typeface="Times New Roman"/>
                <a:cs typeface="Times New Roman"/>
              </a:rPr>
              <a:t> </a:t>
            </a:r>
            <a:r>
              <a:rPr sz="1700" dirty="0">
                <a:solidFill>
                  <a:srgbClr val="404040"/>
                </a:solidFill>
                <a:latin typeface="Times New Roman"/>
                <a:cs typeface="Times New Roman"/>
              </a:rPr>
              <a:t>both</a:t>
            </a:r>
            <a:r>
              <a:rPr sz="1700" spc="-15" dirty="0">
                <a:solidFill>
                  <a:srgbClr val="404040"/>
                </a:solidFill>
                <a:latin typeface="Times New Roman"/>
                <a:cs typeface="Times New Roman"/>
              </a:rPr>
              <a:t> </a:t>
            </a:r>
            <a:r>
              <a:rPr sz="1700" dirty="0">
                <a:solidFill>
                  <a:srgbClr val="404040"/>
                </a:solidFill>
                <a:latin typeface="Times New Roman"/>
                <a:cs typeface="Times New Roman"/>
              </a:rPr>
              <a:t>in</a:t>
            </a:r>
            <a:r>
              <a:rPr sz="1700" spc="-10" dirty="0">
                <a:solidFill>
                  <a:srgbClr val="404040"/>
                </a:solidFill>
                <a:latin typeface="Times New Roman"/>
                <a:cs typeface="Times New Roman"/>
              </a:rPr>
              <a:t> </a:t>
            </a:r>
            <a:r>
              <a:rPr sz="1700" dirty="0">
                <a:solidFill>
                  <a:srgbClr val="404040"/>
                </a:solidFill>
                <a:latin typeface="Times New Roman"/>
                <a:cs typeface="Times New Roman"/>
              </a:rPr>
              <a:t>the</a:t>
            </a:r>
            <a:r>
              <a:rPr sz="1700" spc="-25" dirty="0">
                <a:solidFill>
                  <a:srgbClr val="404040"/>
                </a:solidFill>
                <a:latin typeface="Times New Roman"/>
                <a:cs typeface="Times New Roman"/>
              </a:rPr>
              <a:t> </a:t>
            </a:r>
            <a:r>
              <a:rPr sz="1700" spc="-10" dirty="0">
                <a:solidFill>
                  <a:srgbClr val="404040"/>
                </a:solidFill>
                <a:latin typeface="Times New Roman"/>
                <a:cs typeface="Times New Roman"/>
              </a:rPr>
              <a:t>relation.</a:t>
            </a:r>
            <a:endParaRPr sz="1700" dirty="0">
              <a:latin typeface="Times New Roman"/>
              <a:cs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2338070">
              <a:lnSpc>
                <a:spcPct val="100000"/>
              </a:lnSpc>
              <a:spcBef>
                <a:spcPts val="100"/>
              </a:spcBef>
            </a:pPr>
            <a:r>
              <a:rPr dirty="0"/>
              <a:t>EXAMPLE</a:t>
            </a:r>
            <a:r>
              <a:rPr spc="-160" dirty="0"/>
              <a:t> </a:t>
            </a:r>
            <a:r>
              <a:rPr spc="-50" dirty="0"/>
              <a:t>J</a:t>
            </a:r>
          </a:p>
        </p:txBody>
      </p:sp>
      <p:sp>
        <p:nvSpPr>
          <p:cNvPr id="3" name="object 3"/>
          <p:cNvSpPr txBox="1"/>
          <p:nvPr/>
        </p:nvSpPr>
        <p:spPr>
          <a:xfrm>
            <a:off x="688340" y="1015746"/>
            <a:ext cx="6171565" cy="1377315"/>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404040"/>
                </a:solidFill>
                <a:latin typeface="Times New Roman"/>
                <a:cs typeface="Times New Roman"/>
              </a:rPr>
              <a:t>Is</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the</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“divides”</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relation</a:t>
            </a:r>
            <a:r>
              <a:rPr sz="1800" b="1" spc="-5" dirty="0">
                <a:solidFill>
                  <a:srgbClr val="404040"/>
                </a:solidFill>
                <a:latin typeface="Times New Roman"/>
                <a:cs typeface="Times New Roman"/>
              </a:rPr>
              <a:t> </a:t>
            </a:r>
            <a:r>
              <a:rPr sz="1800" b="1" dirty="0">
                <a:solidFill>
                  <a:srgbClr val="404040"/>
                </a:solidFill>
                <a:latin typeface="Times New Roman"/>
                <a:cs typeface="Times New Roman"/>
              </a:rPr>
              <a:t>on</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the</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set</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of</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positive</a:t>
            </a:r>
            <a:r>
              <a:rPr sz="1800" b="1" spc="-10" dirty="0">
                <a:solidFill>
                  <a:srgbClr val="404040"/>
                </a:solidFill>
                <a:latin typeface="Times New Roman"/>
                <a:cs typeface="Times New Roman"/>
              </a:rPr>
              <a:t> integers</a:t>
            </a:r>
            <a:endParaRPr sz="1800">
              <a:latin typeface="Times New Roman"/>
              <a:cs typeface="Times New Roman"/>
            </a:endParaRPr>
          </a:p>
          <a:p>
            <a:pPr marL="12700">
              <a:lnSpc>
                <a:spcPct val="100000"/>
              </a:lnSpc>
            </a:pPr>
            <a:r>
              <a:rPr sz="1800" b="1" spc="-10" dirty="0">
                <a:solidFill>
                  <a:srgbClr val="404040"/>
                </a:solidFill>
                <a:latin typeface="Times New Roman"/>
                <a:cs typeface="Times New Roman"/>
              </a:rPr>
              <a:t>symmetric?</a:t>
            </a:r>
            <a:endParaRPr sz="1800">
              <a:latin typeface="Times New Roman"/>
              <a:cs typeface="Times New Roman"/>
            </a:endParaRPr>
          </a:p>
          <a:p>
            <a:pPr marL="12700">
              <a:lnSpc>
                <a:spcPct val="100000"/>
              </a:lnSpc>
              <a:spcBef>
                <a:spcPts val="1000"/>
              </a:spcBef>
            </a:pPr>
            <a:r>
              <a:rPr sz="1800" b="1" u="sng" spc="-10" dirty="0">
                <a:solidFill>
                  <a:srgbClr val="6F2F9F"/>
                </a:solidFill>
                <a:uFill>
                  <a:solidFill>
                    <a:srgbClr val="6F2F9F"/>
                  </a:solidFill>
                </a:uFill>
                <a:latin typeface="Times New Roman"/>
                <a:cs typeface="Times New Roman"/>
              </a:rPr>
              <a:t>SOLUTION:</a:t>
            </a:r>
            <a:endParaRPr sz="1800">
              <a:latin typeface="Times New Roman"/>
              <a:cs typeface="Times New Roman"/>
            </a:endParaRPr>
          </a:p>
          <a:p>
            <a:pPr marL="12700">
              <a:lnSpc>
                <a:spcPct val="100000"/>
              </a:lnSpc>
              <a:spcBef>
                <a:spcPts val="1000"/>
              </a:spcBef>
            </a:pPr>
            <a:r>
              <a:rPr sz="1800" dirty="0">
                <a:solidFill>
                  <a:srgbClr val="404040"/>
                </a:solidFill>
                <a:latin typeface="Times New Roman"/>
                <a:cs typeface="Times New Roman"/>
              </a:rPr>
              <a:t>This</a:t>
            </a:r>
            <a:r>
              <a:rPr sz="1800" spc="-25" dirty="0">
                <a:solidFill>
                  <a:srgbClr val="404040"/>
                </a:solidFill>
                <a:latin typeface="Times New Roman"/>
                <a:cs typeface="Times New Roman"/>
              </a:rPr>
              <a:t> </a:t>
            </a:r>
            <a:r>
              <a:rPr sz="1800" dirty="0">
                <a:solidFill>
                  <a:srgbClr val="404040"/>
                </a:solidFill>
                <a:latin typeface="Times New Roman"/>
                <a:cs typeface="Times New Roman"/>
              </a:rPr>
              <a:t>relation</a:t>
            </a:r>
            <a:r>
              <a:rPr sz="1800" spc="-10" dirty="0">
                <a:solidFill>
                  <a:srgbClr val="404040"/>
                </a:solidFill>
                <a:latin typeface="Times New Roman"/>
                <a:cs typeface="Times New Roman"/>
              </a:rPr>
              <a:t> </a:t>
            </a:r>
            <a:r>
              <a:rPr sz="1800" dirty="0">
                <a:solidFill>
                  <a:srgbClr val="404040"/>
                </a:solidFill>
                <a:latin typeface="Times New Roman"/>
                <a:cs typeface="Times New Roman"/>
              </a:rPr>
              <a:t>is</a:t>
            </a:r>
            <a:r>
              <a:rPr sz="1800" spc="-15" dirty="0">
                <a:solidFill>
                  <a:srgbClr val="404040"/>
                </a:solidFill>
                <a:latin typeface="Times New Roman"/>
                <a:cs typeface="Times New Roman"/>
              </a:rPr>
              <a:t> </a:t>
            </a:r>
            <a:r>
              <a:rPr sz="1800" dirty="0">
                <a:solidFill>
                  <a:srgbClr val="404040"/>
                </a:solidFill>
                <a:latin typeface="Times New Roman"/>
                <a:cs typeface="Times New Roman"/>
              </a:rPr>
              <a:t>not</a:t>
            </a:r>
            <a:r>
              <a:rPr sz="1800" spc="-15" dirty="0">
                <a:solidFill>
                  <a:srgbClr val="404040"/>
                </a:solidFill>
                <a:latin typeface="Times New Roman"/>
                <a:cs typeface="Times New Roman"/>
              </a:rPr>
              <a:t> </a:t>
            </a:r>
            <a:r>
              <a:rPr sz="1800" dirty="0">
                <a:solidFill>
                  <a:srgbClr val="404040"/>
                </a:solidFill>
                <a:latin typeface="Times New Roman"/>
                <a:cs typeface="Times New Roman"/>
              </a:rPr>
              <a:t>symmetric</a:t>
            </a:r>
            <a:r>
              <a:rPr sz="1800" spc="-10" dirty="0">
                <a:solidFill>
                  <a:srgbClr val="404040"/>
                </a:solidFill>
                <a:latin typeface="Times New Roman"/>
                <a:cs typeface="Times New Roman"/>
              </a:rPr>
              <a:t> </a:t>
            </a:r>
            <a:r>
              <a:rPr sz="1800" dirty="0">
                <a:solidFill>
                  <a:srgbClr val="404040"/>
                </a:solidFill>
                <a:latin typeface="Times New Roman"/>
                <a:cs typeface="Times New Roman"/>
              </a:rPr>
              <a:t>because</a:t>
            </a:r>
            <a:r>
              <a:rPr sz="1800" spc="-5" dirty="0">
                <a:solidFill>
                  <a:srgbClr val="404040"/>
                </a:solidFill>
                <a:latin typeface="Times New Roman"/>
                <a:cs typeface="Times New Roman"/>
              </a:rPr>
              <a:t> </a:t>
            </a:r>
            <a:r>
              <a:rPr sz="1800" dirty="0">
                <a:solidFill>
                  <a:srgbClr val="404040"/>
                </a:solidFill>
                <a:latin typeface="Times New Roman"/>
                <a:cs typeface="Times New Roman"/>
              </a:rPr>
              <a:t>1/</a:t>
            </a:r>
            <a:r>
              <a:rPr sz="1800" spc="-20" dirty="0">
                <a:solidFill>
                  <a:srgbClr val="404040"/>
                </a:solidFill>
                <a:latin typeface="Times New Roman"/>
                <a:cs typeface="Times New Roman"/>
              </a:rPr>
              <a:t> </a:t>
            </a:r>
            <a:r>
              <a:rPr sz="1800" dirty="0">
                <a:solidFill>
                  <a:srgbClr val="404040"/>
                </a:solidFill>
                <a:latin typeface="Times New Roman"/>
                <a:cs typeface="Times New Roman"/>
              </a:rPr>
              <a:t>2,</a:t>
            </a:r>
            <a:r>
              <a:rPr sz="1800" spc="-15" dirty="0">
                <a:solidFill>
                  <a:srgbClr val="404040"/>
                </a:solidFill>
                <a:latin typeface="Times New Roman"/>
                <a:cs typeface="Times New Roman"/>
              </a:rPr>
              <a:t> </a:t>
            </a:r>
            <a:r>
              <a:rPr sz="1800" dirty="0">
                <a:solidFill>
                  <a:srgbClr val="404040"/>
                </a:solidFill>
                <a:latin typeface="Times New Roman"/>
                <a:cs typeface="Times New Roman"/>
              </a:rPr>
              <a:t>are</a:t>
            </a:r>
            <a:r>
              <a:rPr sz="1800" spc="-15" dirty="0">
                <a:solidFill>
                  <a:srgbClr val="404040"/>
                </a:solidFill>
                <a:latin typeface="Times New Roman"/>
                <a:cs typeface="Times New Roman"/>
              </a:rPr>
              <a:t> </a:t>
            </a:r>
            <a:r>
              <a:rPr sz="1800" dirty="0">
                <a:solidFill>
                  <a:srgbClr val="404040"/>
                </a:solidFill>
                <a:latin typeface="Times New Roman"/>
                <a:cs typeface="Times New Roman"/>
              </a:rPr>
              <a:t>2</a:t>
            </a:r>
            <a:r>
              <a:rPr sz="1800" spc="-15" dirty="0">
                <a:solidFill>
                  <a:srgbClr val="404040"/>
                </a:solidFill>
                <a:latin typeface="Times New Roman"/>
                <a:cs typeface="Times New Roman"/>
              </a:rPr>
              <a:t> </a:t>
            </a:r>
            <a:r>
              <a:rPr sz="1800" dirty="0">
                <a:solidFill>
                  <a:srgbClr val="404040"/>
                </a:solidFill>
                <a:latin typeface="Times New Roman"/>
                <a:cs typeface="Times New Roman"/>
              </a:rPr>
              <a:t≯</a:t>
            </a:r>
            <a:r>
              <a:rPr sz="1800" spc="-15" dirty="0">
                <a:solidFill>
                  <a:srgbClr val="404040"/>
                </a:solidFill>
                <a:latin typeface="Times New Roman"/>
                <a:cs typeface="Times New Roman"/>
              </a:rPr>
              <a:t> </a:t>
            </a:r>
            <a:r>
              <a:rPr sz="1800" dirty="0">
                <a:solidFill>
                  <a:srgbClr val="404040"/>
                </a:solidFill>
                <a:latin typeface="Times New Roman"/>
                <a:cs typeface="Times New Roman"/>
              </a:rPr>
              <a:t>1</a:t>
            </a:r>
            <a:r>
              <a:rPr sz="1800" spc="-15" dirty="0">
                <a:solidFill>
                  <a:srgbClr val="404040"/>
                </a:solidFill>
                <a:latin typeface="Times New Roman"/>
                <a:cs typeface="Times New Roman"/>
              </a:rPr>
              <a:t> </a:t>
            </a:r>
            <a:r>
              <a:rPr sz="1800" dirty="0">
                <a:solidFill>
                  <a:srgbClr val="404040"/>
                </a:solidFill>
                <a:latin typeface="Times New Roman"/>
                <a:cs typeface="Times New Roman"/>
              </a:rPr>
              <a:t>are</a:t>
            </a:r>
            <a:r>
              <a:rPr sz="1800" spc="-10" dirty="0">
                <a:solidFill>
                  <a:srgbClr val="404040"/>
                </a:solidFill>
                <a:latin typeface="Times New Roman"/>
                <a:cs typeface="Times New Roman"/>
              </a:rPr>
              <a:t> </a:t>
            </a:r>
            <a:r>
              <a:rPr sz="1800" dirty="0">
                <a:solidFill>
                  <a:srgbClr val="404040"/>
                </a:solidFill>
                <a:latin typeface="Times New Roman"/>
                <a:cs typeface="Times New Roman"/>
              </a:rPr>
              <a:t>not</a:t>
            </a:r>
            <a:r>
              <a:rPr sz="1800" spc="-15" dirty="0">
                <a:solidFill>
                  <a:srgbClr val="404040"/>
                </a:solidFill>
                <a:latin typeface="Times New Roman"/>
                <a:cs typeface="Times New Roman"/>
              </a:rPr>
              <a:t> </a:t>
            </a:r>
            <a:r>
              <a:rPr sz="1800" spc="-10" dirty="0">
                <a:solidFill>
                  <a:srgbClr val="404040"/>
                </a:solidFill>
                <a:latin typeface="Times New Roman"/>
                <a:cs typeface="Times New Roman"/>
              </a:rPr>
              <a:t>related.</a:t>
            </a:r>
            <a:endParaRPr sz="1800">
              <a:latin typeface="Times New Roman"/>
              <a:cs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22400" y="-6095"/>
            <a:ext cx="5283200" cy="574675"/>
          </a:xfrm>
          <a:prstGeom prst="rect">
            <a:avLst/>
          </a:prstGeom>
        </p:spPr>
        <p:txBody>
          <a:bodyPr vert="horz" wrap="square" lIns="0" tIns="12700" rIns="0" bIns="0" rtlCol="0">
            <a:spAutoFit/>
          </a:bodyPr>
          <a:lstStyle/>
          <a:p>
            <a:pPr marL="12700">
              <a:lnSpc>
                <a:spcPct val="100000"/>
              </a:lnSpc>
              <a:spcBef>
                <a:spcPts val="100"/>
              </a:spcBef>
            </a:pPr>
            <a:r>
              <a:rPr dirty="0"/>
              <a:t>TRANSITIVE</a:t>
            </a:r>
            <a:r>
              <a:rPr spc="-20" dirty="0"/>
              <a:t> </a:t>
            </a:r>
            <a:r>
              <a:rPr spc="-40" dirty="0"/>
              <a:t>RELATION</a:t>
            </a:r>
          </a:p>
        </p:txBody>
      </p:sp>
      <p:sp>
        <p:nvSpPr>
          <p:cNvPr id="3" name="object 3"/>
          <p:cNvSpPr txBox="1"/>
          <p:nvPr/>
        </p:nvSpPr>
        <p:spPr>
          <a:xfrm>
            <a:off x="356870" y="914400"/>
            <a:ext cx="7414260" cy="3166893"/>
          </a:xfrm>
          <a:prstGeom prst="rect">
            <a:avLst/>
          </a:prstGeom>
        </p:spPr>
        <p:txBody>
          <a:bodyPr vert="horz" wrap="square" lIns="0" tIns="12065" rIns="0" bIns="0" rtlCol="0">
            <a:spAutoFit/>
          </a:bodyPr>
          <a:lstStyle/>
          <a:p>
            <a:pPr marL="12700">
              <a:lnSpc>
                <a:spcPts val="1939"/>
              </a:lnSpc>
              <a:spcBef>
                <a:spcPts val="95"/>
              </a:spcBef>
            </a:pPr>
            <a:r>
              <a:rPr sz="2000" b="1" dirty="0">
                <a:solidFill>
                  <a:srgbClr val="00AFEF"/>
                </a:solidFill>
                <a:latin typeface="Times New Roman"/>
                <a:cs typeface="Times New Roman"/>
              </a:rPr>
              <a:t>A</a:t>
            </a:r>
            <a:r>
              <a:rPr sz="2000" b="1" spc="-110" dirty="0">
                <a:solidFill>
                  <a:srgbClr val="00AFEF"/>
                </a:solidFill>
                <a:latin typeface="Times New Roman"/>
                <a:cs typeface="Times New Roman"/>
              </a:rPr>
              <a:t> </a:t>
            </a:r>
            <a:r>
              <a:rPr sz="2000" b="1" dirty="0">
                <a:solidFill>
                  <a:srgbClr val="00AFEF"/>
                </a:solidFill>
                <a:latin typeface="Times New Roman"/>
                <a:cs typeface="Times New Roman"/>
              </a:rPr>
              <a:t>relation</a:t>
            </a:r>
            <a:r>
              <a:rPr sz="2000" b="1" spc="-40" dirty="0">
                <a:solidFill>
                  <a:srgbClr val="00AFEF"/>
                </a:solidFill>
                <a:latin typeface="Times New Roman"/>
                <a:cs typeface="Times New Roman"/>
              </a:rPr>
              <a:t> </a:t>
            </a:r>
            <a:r>
              <a:rPr sz="2000" b="1" dirty="0">
                <a:solidFill>
                  <a:srgbClr val="00AFEF"/>
                </a:solidFill>
                <a:latin typeface="Times New Roman"/>
                <a:cs typeface="Times New Roman"/>
              </a:rPr>
              <a:t>R</a:t>
            </a:r>
            <a:r>
              <a:rPr sz="2000" b="1" spc="-20" dirty="0">
                <a:solidFill>
                  <a:srgbClr val="00AFEF"/>
                </a:solidFill>
                <a:latin typeface="Times New Roman"/>
                <a:cs typeface="Times New Roman"/>
              </a:rPr>
              <a:t> </a:t>
            </a:r>
            <a:r>
              <a:rPr sz="2000" b="1" dirty="0">
                <a:solidFill>
                  <a:srgbClr val="00AFEF"/>
                </a:solidFill>
                <a:latin typeface="Times New Roman"/>
                <a:cs typeface="Times New Roman"/>
              </a:rPr>
              <a:t>on</a:t>
            </a:r>
            <a:r>
              <a:rPr sz="2000" b="1" spc="-20" dirty="0">
                <a:solidFill>
                  <a:srgbClr val="00AFEF"/>
                </a:solidFill>
                <a:latin typeface="Times New Roman"/>
                <a:cs typeface="Times New Roman"/>
              </a:rPr>
              <a:t> </a:t>
            </a:r>
            <a:r>
              <a:rPr sz="2000" b="1" dirty="0">
                <a:solidFill>
                  <a:srgbClr val="00AFEF"/>
                </a:solidFill>
                <a:latin typeface="Times New Roman"/>
                <a:cs typeface="Times New Roman"/>
              </a:rPr>
              <a:t>a</a:t>
            </a:r>
            <a:r>
              <a:rPr sz="2000" b="1" spc="-15" dirty="0">
                <a:solidFill>
                  <a:srgbClr val="00AFEF"/>
                </a:solidFill>
                <a:latin typeface="Times New Roman"/>
                <a:cs typeface="Times New Roman"/>
              </a:rPr>
              <a:t> </a:t>
            </a:r>
            <a:r>
              <a:rPr sz="2000" b="1" dirty="0">
                <a:solidFill>
                  <a:srgbClr val="00AFEF"/>
                </a:solidFill>
                <a:latin typeface="Times New Roman"/>
                <a:cs typeface="Times New Roman"/>
              </a:rPr>
              <a:t>set</a:t>
            </a:r>
            <a:r>
              <a:rPr sz="2000" b="1" spc="-105" dirty="0">
                <a:solidFill>
                  <a:srgbClr val="00AFEF"/>
                </a:solidFill>
                <a:latin typeface="Times New Roman"/>
                <a:cs typeface="Times New Roman"/>
              </a:rPr>
              <a:t> </a:t>
            </a:r>
            <a:r>
              <a:rPr sz="2000" b="1" dirty="0">
                <a:solidFill>
                  <a:srgbClr val="00AFEF"/>
                </a:solidFill>
                <a:latin typeface="Times New Roman"/>
                <a:cs typeface="Times New Roman"/>
              </a:rPr>
              <a:t>A</a:t>
            </a:r>
            <a:r>
              <a:rPr sz="2000" b="1" spc="-105" dirty="0">
                <a:solidFill>
                  <a:srgbClr val="00AFEF"/>
                </a:solidFill>
                <a:latin typeface="Times New Roman"/>
                <a:cs typeface="Times New Roman"/>
              </a:rPr>
              <a:t> </a:t>
            </a:r>
            <a:r>
              <a:rPr sz="2000" b="1" dirty="0">
                <a:solidFill>
                  <a:srgbClr val="00AFEF"/>
                </a:solidFill>
                <a:latin typeface="Times New Roman"/>
                <a:cs typeface="Times New Roman"/>
              </a:rPr>
              <a:t>is</a:t>
            </a:r>
            <a:r>
              <a:rPr sz="2000" b="1" spc="-20" dirty="0">
                <a:solidFill>
                  <a:srgbClr val="00AFEF"/>
                </a:solidFill>
                <a:latin typeface="Times New Roman"/>
                <a:cs typeface="Times New Roman"/>
              </a:rPr>
              <a:t> </a:t>
            </a:r>
            <a:r>
              <a:rPr sz="2000" b="1" dirty="0">
                <a:solidFill>
                  <a:srgbClr val="00AFEF"/>
                </a:solidFill>
                <a:latin typeface="Times New Roman"/>
                <a:cs typeface="Times New Roman"/>
              </a:rPr>
              <a:t>called</a:t>
            </a:r>
            <a:r>
              <a:rPr sz="2000" b="1" spc="-25" dirty="0">
                <a:solidFill>
                  <a:srgbClr val="00AFEF"/>
                </a:solidFill>
                <a:latin typeface="Times New Roman"/>
                <a:cs typeface="Times New Roman"/>
              </a:rPr>
              <a:t> </a:t>
            </a:r>
            <a:r>
              <a:rPr sz="2000" b="1" dirty="0">
                <a:solidFill>
                  <a:srgbClr val="00AFEF"/>
                </a:solidFill>
                <a:latin typeface="Times New Roman"/>
                <a:cs typeface="Times New Roman"/>
              </a:rPr>
              <a:t>transitive</a:t>
            </a:r>
            <a:r>
              <a:rPr sz="2000" b="1" spc="-20" dirty="0">
                <a:solidFill>
                  <a:srgbClr val="00AFEF"/>
                </a:solidFill>
                <a:latin typeface="Times New Roman"/>
                <a:cs typeface="Times New Roman"/>
              </a:rPr>
              <a:t> </a:t>
            </a:r>
            <a:r>
              <a:rPr sz="2000" b="1" dirty="0">
                <a:solidFill>
                  <a:srgbClr val="00AFEF"/>
                </a:solidFill>
                <a:latin typeface="Times New Roman"/>
                <a:cs typeface="Times New Roman"/>
              </a:rPr>
              <a:t>if</a:t>
            </a:r>
            <a:r>
              <a:rPr sz="2000" b="1" spc="-20" dirty="0">
                <a:solidFill>
                  <a:srgbClr val="00AFEF"/>
                </a:solidFill>
                <a:latin typeface="Times New Roman"/>
                <a:cs typeface="Times New Roman"/>
              </a:rPr>
              <a:t> </a:t>
            </a:r>
            <a:r>
              <a:rPr sz="2000" b="1" dirty="0">
                <a:solidFill>
                  <a:srgbClr val="00AFEF"/>
                </a:solidFill>
                <a:latin typeface="Times New Roman"/>
                <a:cs typeface="Times New Roman"/>
              </a:rPr>
              <a:t>whenever</a:t>
            </a:r>
            <a:r>
              <a:rPr sz="2000" b="1" spc="-55" dirty="0">
                <a:solidFill>
                  <a:srgbClr val="00AFEF"/>
                </a:solidFill>
                <a:latin typeface="Times New Roman"/>
                <a:cs typeface="Times New Roman"/>
              </a:rPr>
              <a:t> </a:t>
            </a:r>
            <a:r>
              <a:rPr sz="2000" b="1" dirty="0">
                <a:solidFill>
                  <a:srgbClr val="00AFEF"/>
                </a:solidFill>
                <a:latin typeface="Times New Roman"/>
                <a:cs typeface="Times New Roman"/>
              </a:rPr>
              <a:t>(a,</a:t>
            </a:r>
            <a:r>
              <a:rPr sz="2000" b="1" spc="-20" dirty="0">
                <a:solidFill>
                  <a:srgbClr val="00AFEF"/>
                </a:solidFill>
                <a:latin typeface="Times New Roman"/>
                <a:cs typeface="Times New Roman"/>
              </a:rPr>
              <a:t> </a:t>
            </a:r>
            <a:r>
              <a:rPr sz="2000" b="1" dirty="0">
                <a:solidFill>
                  <a:srgbClr val="00AFEF"/>
                </a:solidFill>
                <a:latin typeface="Times New Roman"/>
                <a:cs typeface="Times New Roman"/>
              </a:rPr>
              <a:t>b)</a:t>
            </a:r>
            <a:r>
              <a:rPr sz="2000" b="1" spc="-5" dirty="0">
                <a:solidFill>
                  <a:srgbClr val="00AFEF"/>
                </a:solidFill>
                <a:latin typeface="Times New Roman"/>
                <a:cs typeface="Times New Roman"/>
              </a:rPr>
              <a:t> </a:t>
            </a:r>
            <a:r>
              <a:rPr sz="2000" dirty="0">
                <a:solidFill>
                  <a:srgbClr val="00AFEF"/>
                </a:solidFill>
                <a:latin typeface="Cambria Math"/>
                <a:cs typeface="Cambria Math"/>
              </a:rPr>
              <a:t>∈</a:t>
            </a:r>
            <a:r>
              <a:rPr sz="2000" spc="15" dirty="0">
                <a:solidFill>
                  <a:srgbClr val="00AFEF"/>
                </a:solidFill>
                <a:latin typeface="Cambria Math"/>
                <a:cs typeface="Cambria Math"/>
              </a:rPr>
              <a:t> </a:t>
            </a:r>
            <a:r>
              <a:rPr sz="2000" b="1" dirty="0">
                <a:solidFill>
                  <a:srgbClr val="00AFEF"/>
                </a:solidFill>
                <a:latin typeface="Times New Roman"/>
                <a:cs typeface="Times New Roman"/>
              </a:rPr>
              <a:t>R</a:t>
            </a:r>
            <a:r>
              <a:rPr sz="2000" b="1" spc="-20" dirty="0">
                <a:solidFill>
                  <a:srgbClr val="00AFEF"/>
                </a:solidFill>
                <a:latin typeface="Times New Roman"/>
                <a:cs typeface="Times New Roman"/>
              </a:rPr>
              <a:t> </a:t>
            </a:r>
            <a:r>
              <a:rPr sz="2000" b="1" dirty="0">
                <a:solidFill>
                  <a:srgbClr val="00AFEF"/>
                </a:solidFill>
                <a:latin typeface="Times New Roman"/>
                <a:cs typeface="Times New Roman"/>
              </a:rPr>
              <a:t>and</a:t>
            </a:r>
            <a:r>
              <a:rPr sz="2000" b="1" spc="-10" dirty="0">
                <a:solidFill>
                  <a:srgbClr val="00AFEF"/>
                </a:solidFill>
                <a:latin typeface="Times New Roman"/>
                <a:cs typeface="Times New Roman"/>
              </a:rPr>
              <a:t> </a:t>
            </a:r>
            <a:r>
              <a:rPr sz="2000" b="1" dirty="0">
                <a:solidFill>
                  <a:srgbClr val="00AFEF"/>
                </a:solidFill>
                <a:latin typeface="Times New Roman"/>
                <a:cs typeface="Times New Roman"/>
              </a:rPr>
              <a:t>(b,</a:t>
            </a:r>
            <a:r>
              <a:rPr sz="2000" b="1" spc="-20" dirty="0">
                <a:solidFill>
                  <a:srgbClr val="00AFEF"/>
                </a:solidFill>
                <a:latin typeface="Times New Roman"/>
                <a:cs typeface="Times New Roman"/>
              </a:rPr>
              <a:t> </a:t>
            </a:r>
            <a:r>
              <a:rPr sz="2000" b="1" spc="-25" dirty="0">
                <a:solidFill>
                  <a:srgbClr val="00AFEF"/>
                </a:solidFill>
                <a:latin typeface="Times New Roman"/>
                <a:cs typeface="Times New Roman"/>
              </a:rPr>
              <a:t>c)</a:t>
            </a:r>
            <a:r>
              <a:rPr sz="2000" dirty="0">
                <a:solidFill>
                  <a:srgbClr val="00AFEF"/>
                </a:solidFill>
                <a:latin typeface="Cambria Math"/>
                <a:cs typeface="Cambria Math"/>
              </a:rPr>
              <a:t>∈</a:t>
            </a:r>
            <a:r>
              <a:rPr sz="2000" spc="20" dirty="0">
                <a:solidFill>
                  <a:srgbClr val="00AFEF"/>
                </a:solidFill>
                <a:latin typeface="Cambria Math"/>
                <a:cs typeface="Cambria Math"/>
              </a:rPr>
              <a:t> </a:t>
            </a:r>
            <a:r>
              <a:rPr sz="2000" b="1" dirty="0">
                <a:solidFill>
                  <a:srgbClr val="00AFEF"/>
                </a:solidFill>
                <a:latin typeface="Times New Roman"/>
                <a:cs typeface="Times New Roman"/>
              </a:rPr>
              <a:t>R,</a:t>
            </a:r>
            <a:r>
              <a:rPr sz="2000" b="1" spc="-15" dirty="0">
                <a:solidFill>
                  <a:srgbClr val="00AFEF"/>
                </a:solidFill>
                <a:latin typeface="Times New Roman"/>
                <a:cs typeface="Times New Roman"/>
              </a:rPr>
              <a:t> </a:t>
            </a:r>
            <a:r>
              <a:rPr sz="2000" b="1" dirty="0">
                <a:solidFill>
                  <a:srgbClr val="00AFEF"/>
                </a:solidFill>
                <a:latin typeface="Times New Roman"/>
                <a:cs typeface="Times New Roman"/>
              </a:rPr>
              <a:t>then</a:t>
            </a:r>
            <a:r>
              <a:rPr sz="2000" b="1" spc="-15" dirty="0">
                <a:solidFill>
                  <a:srgbClr val="00AFEF"/>
                </a:solidFill>
                <a:latin typeface="Times New Roman"/>
                <a:cs typeface="Times New Roman"/>
              </a:rPr>
              <a:t> </a:t>
            </a:r>
            <a:r>
              <a:rPr sz="2000" b="1" dirty="0">
                <a:solidFill>
                  <a:srgbClr val="00AFEF"/>
                </a:solidFill>
                <a:latin typeface="Times New Roman"/>
                <a:cs typeface="Times New Roman"/>
              </a:rPr>
              <a:t>(a,</a:t>
            </a:r>
            <a:r>
              <a:rPr sz="2000" b="1" spc="-15" dirty="0">
                <a:solidFill>
                  <a:srgbClr val="00AFEF"/>
                </a:solidFill>
                <a:latin typeface="Times New Roman"/>
                <a:cs typeface="Times New Roman"/>
              </a:rPr>
              <a:t> </a:t>
            </a:r>
            <a:r>
              <a:rPr sz="2000" b="1" dirty="0">
                <a:solidFill>
                  <a:srgbClr val="00AFEF"/>
                </a:solidFill>
                <a:latin typeface="Times New Roman"/>
                <a:cs typeface="Times New Roman"/>
              </a:rPr>
              <a:t>c)</a:t>
            </a:r>
            <a:r>
              <a:rPr sz="2000" b="1" spc="-15" dirty="0">
                <a:solidFill>
                  <a:srgbClr val="00AFEF"/>
                </a:solidFill>
                <a:latin typeface="Times New Roman"/>
                <a:cs typeface="Times New Roman"/>
              </a:rPr>
              <a:t> </a:t>
            </a:r>
            <a:r>
              <a:rPr sz="2000" dirty="0">
                <a:solidFill>
                  <a:srgbClr val="00AFEF"/>
                </a:solidFill>
                <a:latin typeface="Cambria Math"/>
                <a:cs typeface="Cambria Math"/>
              </a:rPr>
              <a:t>∈</a:t>
            </a:r>
            <a:r>
              <a:rPr sz="2000" spc="15" dirty="0">
                <a:solidFill>
                  <a:srgbClr val="00AFEF"/>
                </a:solidFill>
                <a:latin typeface="Cambria Math"/>
                <a:cs typeface="Cambria Math"/>
              </a:rPr>
              <a:t> </a:t>
            </a:r>
            <a:r>
              <a:rPr sz="2000" b="1" dirty="0">
                <a:solidFill>
                  <a:srgbClr val="00AFEF"/>
                </a:solidFill>
                <a:latin typeface="Times New Roman"/>
                <a:cs typeface="Times New Roman"/>
              </a:rPr>
              <a:t>R,</a:t>
            </a:r>
            <a:r>
              <a:rPr sz="2000" b="1" spc="-10" dirty="0">
                <a:solidFill>
                  <a:srgbClr val="00AFEF"/>
                </a:solidFill>
                <a:latin typeface="Times New Roman"/>
                <a:cs typeface="Times New Roman"/>
              </a:rPr>
              <a:t> </a:t>
            </a:r>
            <a:r>
              <a:rPr sz="2000" b="1" dirty="0">
                <a:solidFill>
                  <a:srgbClr val="00AFEF"/>
                </a:solidFill>
                <a:latin typeface="Times New Roman"/>
                <a:cs typeface="Times New Roman"/>
              </a:rPr>
              <a:t>for</a:t>
            </a:r>
            <a:r>
              <a:rPr sz="2000" b="1" spc="-50" dirty="0">
                <a:solidFill>
                  <a:srgbClr val="00AFEF"/>
                </a:solidFill>
                <a:latin typeface="Times New Roman"/>
                <a:cs typeface="Times New Roman"/>
              </a:rPr>
              <a:t> </a:t>
            </a:r>
            <a:r>
              <a:rPr sz="2000" b="1" dirty="0">
                <a:solidFill>
                  <a:srgbClr val="00AFEF"/>
                </a:solidFill>
                <a:latin typeface="Times New Roman"/>
                <a:cs typeface="Times New Roman"/>
              </a:rPr>
              <a:t>all</a:t>
            </a:r>
            <a:r>
              <a:rPr sz="2000" b="1" spc="-10" dirty="0">
                <a:solidFill>
                  <a:srgbClr val="00AFEF"/>
                </a:solidFill>
                <a:latin typeface="Times New Roman"/>
                <a:cs typeface="Times New Roman"/>
              </a:rPr>
              <a:t> </a:t>
            </a:r>
            <a:r>
              <a:rPr sz="2000" b="1" dirty="0">
                <a:solidFill>
                  <a:srgbClr val="00AFEF"/>
                </a:solidFill>
                <a:latin typeface="Times New Roman"/>
                <a:cs typeface="Times New Roman"/>
              </a:rPr>
              <a:t>a,</a:t>
            </a:r>
            <a:r>
              <a:rPr sz="2000" b="1" spc="-10" dirty="0">
                <a:solidFill>
                  <a:srgbClr val="00AFEF"/>
                </a:solidFill>
                <a:latin typeface="Times New Roman"/>
                <a:cs typeface="Times New Roman"/>
              </a:rPr>
              <a:t> </a:t>
            </a:r>
            <a:r>
              <a:rPr sz="2000" b="1" dirty="0">
                <a:solidFill>
                  <a:srgbClr val="00AFEF"/>
                </a:solidFill>
                <a:latin typeface="Times New Roman"/>
                <a:cs typeface="Times New Roman"/>
              </a:rPr>
              <a:t>b,</a:t>
            </a:r>
            <a:r>
              <a:rPr sz="2000" b="1" spc="-5" dirty="0">
                <a:solidFill>
                  <a:srgbClr val="00AFEF"/>
                </a:solidFill>
                <a:latin typeface="Times New Roman"/>
                <a:cs typeface="Times New Roman"/>
              </a:rPr>
              <a:t> </a:t>
            </a:r>
            <a:r>
              <a:rPr sz="2000" b="1" dirty="0">
                <a:solidFill>
                  <a:srgbClr val="00AFEF"/>
                </a:solidFill>
                <a:latin typeface="Times New Roman"/>
                <a:cs typeface="Times New Roman"/>
              </a:rPr>
              <a:t>c</a:t>
            </a:r>
            <a:r>
              <a:rPr sz="2000" b="1" spc="-10" dirty="0">
                <a:solidFill>
                  <a:srgbClr val="00AFEF"/>
                </a:solidFill>
                <a:latin typeface="Times New Roman"/>
                <a:cs typeface="Times New Roman"/>
              </a:rPr>
              <a:t> </a:t>
            </a:r>
            <a:r>
              <a:rPr sz="2000" dirty="0">
                <a:solidFill>
                  <a:srgbClr val="00AFEF"/>
                </a:solidFill>
                <a:latin typeface="Cambria Math"/>
                <a:cs typeface="Cambria Math"/>
              </a:rPr>
              <a:t>∈</a:t>
            </a:r>
            <a:r>
              <a:rPr sz="2000" spc="-70" dirty="0">
                <a:solidFill>
                  <a:srgbClr val="00AFEF"/>
                </a:solidFill>
                <a:latin typeface="Cambria Math"/>
                <a:cs typeface="Cambria Math"/>
              </a:rPr>
              <a:t> </a:t>
            </a:r>
            <a:r>
              <a:rPr sz="2000" b="1" spc="-25" dirty="0">
                <a:solidFill>
                  <a:srgbClr val="00AFEF"/>
                </a:solidFill>
                <a:latin typeface="Times New Roman"/>
                <a:cs typeface="Times New Roman"/>
              </a:rPr>
              <a:t>A.</a:t>
            </a:r>
            <a:endParaRPr sz="2000" dirty="0">
              <a:latin typeface="Times New Roman"/>
              <a:cs typeface="Times New Roman"/>
            </a:endParaRPr>
          </a:p>
          <a:p>
            <a:pPr marL="298450" indent="-285750">
              <a:lnSpc>
                <a:spcPct val="100000"/>
              </a:lnSpc>
              <a:spcBef>
                <a:spcPts val="795"/>
              </a:spcBef>
              <a:buFont typeface="Arial" panose="020B0604020202020204" pitchFamily="34" charset="0"/>
              <a:buChar char="•"/>
            </a:pPr>
            <a:r>
              <a:rPr lang="en-US" sz="2000" dirty="0">
                <a:solidFill>
                  <a:srgbClr val="CC0066"/>
                </a:solidFill>
              </a:rPr>
              <a:t>If two-step paths exist, the shortcut must exist.</a:t>
            </a:r>
            <a:br>
              <a:rPr lang="en-US" sz="2000" dirty="0">
                <a:solidFill>
                  <a:srgbClr val="CC0066"/>
                </a:solidFill>
              </a:rPr>
            </a:br>
            <a:r>
              <a:rPr lang="en-US" sz="2000" dirty="0">
                <a:solidFill>
                  <a:srgbClr val="CC0066"/>
                </a:solidFill>
              </a:rPr>
              <a:t>If no two-step path exists, nothing can go wrong.</a:t>
            </a:r>
          </a:p>
          <a:p>
            <a:pPr marL="12700">
              <a:lnSpc>
                <a:spcPct val="100000"/>
              </a:lnSpc>
              <a:spcBef>
                <a:spcPts val="795"/>
              </a:spcBef>
            </a:pPr>
            <a:r>
              <a:rPr lang="en-US" sz="2000" b="1" dirty="0">
                <a:solidFill>
                  <a:srgbClr val="C00000"/>
                </a:solidFill>
                <a:latin typeface="Times New Roman"/>
                <a:cs typeface="Times New Roman"/>
              </a:rPr>
              <a:t>NOTE:</a:t>
            </a:r>
          </a:p>
          <a:p>
            <a:pPr marL="12700">
              <a:lnSpc>
                <a:spcPct val="100000"/>
              </a:lnSpc>
              <a:spcBef>
                <a:spcPts val="795"/>
              </a:spcBef>
            </a:pPr>
            <a:r>
              <a:rPr lang="en-US" sz="2000" b="1" dirty="0">
                <a:solidFill>
                  <a:srgbClr val="7030A0"/>
                </a:solidFill>
                <a:latin typeface="Times New Roman"/>
                <a:cs typeface="Times New Roman"/>
              </a:rPr>
              <a:t>Transitivity only requires that when a chain exists, the resulting pair (</a:t>
            </a:r>
            <a:r>
              <a:rPr lang="en-US" sz="2000" b="1" dirty="0" err="1">
                <a:solidFill>
                  <a:srgbClr val="7030A0"/>
                </a:solidFill>
                <a:latin typeface="Times New Roman"/>
                <a:cs typeface="Times New Roman"/>
              </a:rPr>
              <a:t>a,c</a:t>
            </a:r>
            <a:r>
              <a:rPr lang="en-US" sz="2000" b="1" dirty="0">
                <a:solidFill>
                  <a:srgbClr val="7030A0"/>
                </a:solidFill>
                <a:latin typeface="Times New Roman"/>
                <a:cs typeface="Times New Roman"/>
              </a:rPr>
              <a:t>) is in the relation.</a:t>
            </a:r>
          </a:p>
          <a:p>
            <a:pPr marL="12700">
              <a:lnSpc>
                <a:spcPct val="100000"/>
              </a:lnSpc>
              <a:spcBef>
                <a:spcPts val="795"/>
              </a:spcBef>
            </a:pPr>
            <a:r>
              <a:rPr lang="en-US" sz="2000" b="1" dirty="0">
                <a:solidFill>
                  <a:srgbClr val="7030A0"/>
                </a:solidFill>
                <a:latin typeface="Times New Roman"/>
                <a:cs typeface="Times New Roman"/>
              </a:rPr>
              <a:t>If no chain exists, there’s nothing to check → automatically OK</a:t>
            </a:r>
          </a:p>
          <a:p>
            <a:pPr marL="12700">
              <a:lnSpc>
                <a:spcPct val="100000"/>
              </a:lnSpc>
              <a:spcBef>
                <a:spcPts val="795"/>
              </a:spcBef>
            </a:pPr>
            <a:endParaRPr lang="en-US" sz="2000" b="1" dirty="0">
              <a:solidFill>
                <a:srgbClr val="CC0066"/>
              </a:solidFill>
              <a:latin typeface="Times New Roman"/>
              <a:cs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22400" y="-6095"/>
            <a:ext cx="5283200" cy="574675"/>
          </a:xfrm>
          <a:prstGeom prst="rect">
            <a:avLst/>
          </a:prstGeom>
        </p:spPr>
        <p:txBody>
          <a:bodyPr vert="horz" wrap="square" lIns="0" tIns="12700" rIns="0" bIns="0" rtlCol="0">
            <a:spAutoFit/>
          </a:bodyPr>
          <a:lstStyle/>
          <a:p>
            <a:pPr marL="12700">
              <a:lnSpc>
                <a:spcPct val="100000"/>
              </a:lnSpc>
              <a:spcBef>
                <a:spcPts val="100"/>
              </a:spcBef>
            </a:pPr>
            <a:r>
              <a:rPr dirty="0"/>
              <a:t>TRANSITIVE</a:t>
            </a:r>
            <a:r>
              <a:rPr spc="-20" dirty="0"/>
              <a:t> </a:t>
            </a:r>
            <a:r>
              <a:rPr spc="-40" dirty="0"/>
              <a:t>RELATION</a:t>
            </a:r>
          </a:p>
        </p:txBody>
      </p:sp>
      <p:sp>
        <p:nvSpPr>
          <p:cNvPr id="3" name="object 3"/>
          <p:cNvSpPr txBox="1"/>
          <p:nvPr/>
        </p:nvSpPr>
        <p:spPr>
          <a:xfrm>
            <a:off x="307340" y="521970"/>
            <a:ext cx="7084060" cy="6113853"/>
          </a:xfrm>
          <a:prstGeom prst="rect">
            <a:avLst/>
          </a:prstGeom>
        </p:spPr>
        <p:txBody>
          <a:bodyPr vert="horz" wrap="square" lIns="0" tIns="12065" rIns="0" bIns="0" rtlCol="0">
            <a:spAutoFit/>
          </a:bodyPr>
          <a:lstStyle/>
          <a:p>
            <a:pPr marL="12700">
              <a:lnSpc>
                <a:spcPts val="1939"/>
              </a:lnSpc>
              <a:spcBef>
                <a:spcPts val="95"/>
              </a:spcBef>
            </a:pPr>
            <a:r>
              <a:rPr sz="1700" b="1" dirty="0">
                <a:solidFill>
                  <a:srgbClr val="00AFEF"/>
                </a:solidFill>
                <a:latin typeface="Times New Roman"/>
                <a:cs typeface="Times New Roman"/>
              </a:rPr>
              <a:t>A</a:t>
            </a:r>
            <a:r>
              <a:rPr sz="1700" b="1" spc="-110" dirty="0">
                <a:solidFill>
                  <a:srgbClr val="00AFEF"/>
                </a:solidFill>
                <a:latin typeface="Times New Roman"/>
                <a:cs typeface="Times New Roman"/>
              </a:rPr>
              <a:t> </a:t>
            </a:r>
            <a:r>
              <a:rPr sz="1700" b="1" dirty="0">
                <a:solidFill>
                  <a:srgbClr val="00AFEF"/>
                </a:solidFill>
                <a:latin typeface="Times New Roman"/>
                <a:cs typeface="Times New Roman"/>
              </a:rPr>
              <a:t>relation</a:t>
            </a:r>
            <a:r>
              <a:rPr sz="1700" b="1" spc="-40" dirty="0">
                <a:solidFill>
                  <a:srgbClr val="00AFEF"/>
                </a:solidFill>
                <a:latin typeface="Times New Roman"/>
                <a:cs typeface="Times New Roman"/>
              </a:rPr>
              <a:t> </a:t>
            </a:r>
            <a:r>
              <a:rPr sz="1700" b="1" dirty="0">
                <a:solidFill>
                  <a:srgbClr val="00AFEF"/>
                </a:solidFill>
                <a:latin typeface="Times New Roman"/>
                <a:cs typeface="Times New Roman"/>
              </a:rPr>
              <a:t>R</a:t>
            </a:r>
            <a:r>
              <a:rPr sz="1700" b="1" spc="-20" dirty="0">
                <a:solidFill>
                  <a:srgbClr val="00AFEF"/>
                </a:solidFill>
                <a:latin typeface="Times New Roman"/>
                <a:cs typeface="Times New Roman"/>
              </a:rPr>
              <a:t> </a:t>
            </a:r>
            <a:r>
              <a:rPr sz="1700" b="1" dirty="0">
                <a:solidFill>
                  <a:srgbClr val="00AFEF"/>
                </a:solidFill>
                <a:latin typeface="Times New Roman"/>
                <a:cs typeface="Times New Roman"/>
              </a:rPr>
              <a:t>on</a:t>
            </a:r>
            <a:r>
              <a:rPr sz="1700" b="1" spc="-20" dirty="0">
                <a:solidFill>
                  <a:srgbClr val="00AFEF"/>
                </a:solidFill>
                <a:latin typeface="Times New Roman"/>
                <a:cs typeface="Times New Roman"/>
              </a:rPr>
              <a:t> </a:t>
            </a:r>
            <a:r>
              <a:rPr sz="1700" b="1" dirty="0">
                <a:solidFill>
                  <a:srgbClr val="00AFEF"/>
                </a:solidFill>
                <a:latin typeface="Times New Roman"/>
                <a:cs typeface="Times New Roman"/>
              </a:rPr>
              <a:t>a</a:t>
            </a:r>
            <a:r>
              <a:rPr sz="1700" b="1" spc="-15" dirty="0">
                <a:solidFill>
                  <a:srgbClr val="00AFEF"/>
                </a:solidFill>
                <a:latin typeface="Times New Roman"/>
                <a:cs typeface="Times New Roman"/>
              </a:rPr>
              <a:t> </a:t>
            </a:r>
            <a:r>
              <a:rPr sz="1700" b="1" dirty="0">
                <a:solidFill>
                  <a:srgbClr val="00AFEF"/>
                </a:solidFill>
                <a:latin typeface="Times New Roman"/>
                <a:cs typeface="Times New Roman"/>
              </a:rPr>
              <a:t>set</a:t>
            </a:r>
            <a:r>
              <a:rPr sz="1700" b="1" spc="-105" dirty="0">
                <a:solidFill>
                  <a:srgbClr val="00AFEF"/>
                </a:solidFill>
                <a:latin typeface="Times New Roman"/>
                <a:cs typeface="Times New Roman"/>
              </a:rPr>
              <a:t> </a:t>
            </a:r>
            <a:r>
              <a:rPr sz="1700" b="1" dirty="0">
                <a:solidFill>
                  <a:srgbClr val="00AFEF"/>
                </a:solidFill>
                <a:latin typeface="Times New Roman"/>
                <a:cs typeface="Times New Roman"/>
              </a:rPr>
              <a:t>A</a:t>
            </a:r>
            <a:r>
              <a:rPr sz="1700" b="1" spc="-105" dirty="0">
                <a:solidFill>
                  <a:srgbClr val="00AFEF"/>
                </a:solidFill>
                <a:latin typeface="Times New Roman"/>
                <a:cs typeface="Times New Roman"/>
              </a:rPr>
              <a:t> </a:t>
            </a:r>
            <a:r>
              <a:rPr sz="1700" b="1" dirty="0">
                <a:solidFill>
                  <a:srgbClr val="00AFEF"/>
                </a:solidFill>
                <a:latin typeface="Times New Roman"/>
                <a:cs typeface="Times New Roman"/>
              </a:rPr>
              <a:t>is</a:t>
            </a:r>
            <a:r>
              <a:rPr sz="1700" b="1" spc="-20" dirty="0">
                <a:solidFill>
                  <a:srgbClr val="00AFEF"/>
                </a:solidFill>
                <a:latin typeface="Times New Roman"/>
                <a:cs typeface="Times New Roman"/>
              </a:rPr>
              <a:t> </a:t>
            </a:r>
            <a:r>
              <a:rPr sz="1700" b="1" dirty="0">
                <a:solidFill>
                  <a:srgbClr val="00AFEF"/>
                </a:solidFill>
                <a:latin typeface="Times New Roman"/>
                <a:cs typeface="Times New Roman"/>
              </a:rPr>
              <a:t>called</a:t>
            </a:r>
            <a:r>
              <a:rPr sz="1700" b="1" spc="-25" dirty="0">
                <a:solidFill>
                  <a:srgbClr val="00AFEF"/>
                </a:solidFill>
                <a:latin typeface="Times New Roman"/>
                <a:cs typeface="Times New Roman"/>
              </a:rPr>
              <a:t> </a:t>
            </a:r>
            <a:r>
              <a:rPr sz="1700" b="1" dirty="0">
                <a:solidFill>
                  <a:srgbClr val="00AFEF"/>
                </a:solidFill>
                <a:latin typeface="Times New Roman"/>
                <a:cs typeface="Times New Roman"/>
              </a:rPr>
              <a:t>transitive</a:t>
            </a:r>
            <a:r>
              <a:rPr sz="1700" b="1" spc="-20" dirty="0">
                <a:solidFill>
                  <a:srgbClr val="00AFEF"/>
                </a:solidFill>
                <a:latin typeface="Times New Roman"/>
                <a:cs typeface="Times New Roman"/>
              </a:rPr>
              <a:t> </a:t>
            </a:r>
            <a:r>
              <a:rPr sz="1700" b="1" dirty="0">
                <a:solidFill>
                  <a:srgbClr val="00AFEF"/>
                </a:solidFill>
                <a:latin typeface="Times New Roman"/>
                <a:cs typeface="Times New Roman"/>
              </a:rPr>
              <a:t>if</a:t>
            </a:r>
            <a:r>
              <a:rPr sz="1700" b="1" spc="-20" dirty="0">
                <a:solidFill>
                  <a:srgbClr val="00AFEF"/>
                </a:solidFill>
                <a:latin typeface="Times New Roman"/>
                <a:cs typeface="Times New Roman"/>
              </a:rPr>
              <a:t> </a:t>
            </a:r>
            <a:r>
              <a:rPr sz="1700" b="1" dirty="0">
                <a:solidFill>
                  <a:srgbClr val="00AFEF"/>
                </a:solidFill>
                <a:latin typeface="Times New Roman"/>
                <a:cs typeface="Times New Roman"/>
              </a:rPr>
              <a:t>whenever</a:t>
            </a:r>
            <a:r>
              <a:rPr sz="1700" b="1" spc="-55" dirty="0">
                <a:solidFill>
                  <a:srgbClr val="00AFEF"/>
                </a:solidFill>
                <a:latin typeface="Times New Roman"/>
                <a:cs typeface="Times New Roman"/>
              </a:rPr>
              <a:t> </a:t>
            </a:r>
            <a:r>
              <a:rPr sz="1700" b="1" dirty="0">
                <a:solidFill>
                  <a:srgbClr val="00AFEF"/>
                </a:solidFill>
                <a:latin typeface="Times New Roman"/>
                <a:cs typeface="Times New Roman"/>
              </a:rPr>
              <a:t>(a,</a:t>
            </a:r>
            <a:r>
              <a:rPr sz="1700" b="1" spc="-20" dirty="0">
                <a:solidFill>
                  <a:srgbClr val="00AFEF"/>
                </a:solidFill>
                <a:latin typeface="Times New Roman"/>
                <a:cs typeface="Times New Roman"/>
              </a:rPr>
              <a:t> </a:t>
            </a:r>
            <a:r>
              <a:rPr sz="1700" b="1" dirty="0">
                <a:solidFill>
                  <a:srgbClr val="00AFEF"/>
                </a:solidFill>
                <a:latin typeface="Times New Roman"/>
                <a:cs typeface="Times New Roman"/>
              </a:rPr>
              <a:t>b)</a:t>
            </a:r>
            <a:r>
              <a:rPr sz="1700" b="1" spc="-5" dirty="0">
                <a:solidFill>
                  <a:srgbClr val="00AFEF"/>
                </a:solidFill>
                <a:latin typeface="Times New Roman"/>
                <a:cs typeface="Times New Roman"/>
              </a:rPr>
              <a:t> </a:t>
            </a:r>
            <a:r>
              <a:rPr sz="1700" dirty="0">
                <a:solidFill>
                  <a:srgbClr val="00AFEF"/>
                </a:solidFill>
                <a:latin typeface="Cambria Math"/>
                <a:cs typeface="Cambria Math"/>
              </a:rPr>
              <a:t>∈</a:t>
            </a:r>
            <a:r>
              <a:rPr sz="1700" spc="15" dirty="0">
                <a:solidFill>
                  <a:srgbClr val="00AFEF"/>
                </a:solidFill>
                <a:latin typeface="Cambria Math"/>
                <a:cs typeface="Cambria Math"/>
              </a:rPr>
              <a:t> </a:t>
            </a:r>
            <a:r>
              <a:rPr sz="1700" b="1" dirty="0">
                <a:solidFill>
                  <a:srgbClr val="00AFEF"/>
                </a:solidFill>
                <a:latin typeface="Times New Roman"/>
                <a:cs typeface="Times New Roman"/>
              </a:rPr>
              <a:t>R</a:t>
            </a:r>
            <a:r>
              <a:rPr sz="1700" b="1" spc="-20" dirty="0">
                <a:solidFill>
                  <a:srgbClr val="00AFEF"/>
                </a:solidFill>
                <a:latin typeface="Times New Roman"/>
                <a:cs typeface="Times New Roman"/>
              </a:rPr>
              <a:t> </a:t>
            </a:r>
            <a:r>
              <a:rPr sz="1700" b="1" dirty="0">
                <a:solidFill>
                  <a:srgbClr val="00AFEF"/>
                </a:solidFill>
                <a:latin typeface="Times New Roman"/>
                <a:cs typeface="Times New Roman"/>
              </a:rPr>
              <a:t>and</a:t>
            </a:r>
            <a:r>
              <a:rPr sz="1700" b="1" spc="-10" dirty="0">
                <a:solidFill>
                  <a:srgbClr val="00AFEF"/>
                </a:solidFill>
                <a:latin typeface="Times New Roman"/>
                <a:cs typeface="Times New Roman"/>
              </a:rPr>
              <a:t> </a:t>
            </a:r>
            <a:r>
              <a:rPr sz="1700" b="1" dirty="0">
                <a:solidFill>
                  <a:srgbClr val="00AFEF"/>
                </a:solidFill>
                <a:latin typeface="Times New Roman"/>
                <a:cs typeface="Times New Roman"/>
              </a:rPr>
              <a:t>(b,</a:t>
            </a:r>
            <a:r>
              <a:rPr sz="1700" b="1" spc="-20" dirty="0">
                <a:solidFill>
                  <a:srgbClr val="00AFEF"/>
                </a:solidFill>
                <a:latin typeface="Times New Roman"/>
                <a:cs typeface="Times New Roman"/>
              </a:rPr>
              <a:t> </a:t>
            </a:r>
            <a:r>
              <a:rPr sz="1700" b="1" spc="-25" dirty="0">
                <a:solidFill>
                  <a:srgbClr val="00AFEF"/>
                </a:solidFill>
                <a:latin typeface="Times New Roman"/>
                <a:cs typeface="Times New Roman"/>
              </a:rPr>
              <a:t>c)</a:t>
            </a:r>
            <a:endParaRPr sz="1700" dirty="0">
              <a:latin typeface="Times New Roman"/>
              <a:cs typeface="Times New Roman"/>
            </a:endParaRPr>
          </a:p>
          <a:p>
            <a:pPr marL="12700">
              <a:lnSpc>
                <a:spcPts val="1939"/>
              </a:lnSpc>
            </a:pPr>
            <a:r>
              <a:rPr sz="1700" dirty="0">
                <a:solidFill>
                  <a:srgbClr val="00AFEF"/>
                </a:solidFill>
                <a:latin typeface="Cambria Math"/>
                <a:cs typeface="Cambria Math"/>
              </a:rPr>
              <a:t>∈</a:t>
            </a:r>
            <a:r>
              <a:rPr sz="1700" spc="20" dirty="0">
                <a:solidFill>
                  <a:srgbClr val="00AFEF"/>
                </a:solidFill>
                <a:latin typeface="Cambria Math"/>
                <a:cs typeface="Cambria Math"/>
              </a:rPr>
              <a:t> </a:t>
            </a:r>
            <a:r>
              <a:rPr sz="1700" b="1" dirty="0">
                <a:solidFill>
                  <a:srgbClr val="00AFEF"/>
                </a:solidFill>
                <a:latin typeface="Times New Roman"/>
                <a:cs typeface="Times New Roman"/>
              </a:rPr>
              <a:t>R,</a:t>
            </a:r>
            <a:r>
              <a:rPr sz="1700" b="1" spc="-15" dirty="0">
                <a:solidFill>
                  <a:srgbClr val="00AFEF"/>
                </a:solidFill>
                <a:latin typeface="Times New Roman"/>
                <a:cs typeface="Times New Roman"/>
              </a:rPr>
              <a:t> </a:t>
            </a:r>
            <a:r>
              <a:rPr sz="1700" b="1" dirty="0">
                <a:solidFill>
                  <a:srgbClr val="00AFEF"/>
                </a:solidFill>
                <a:latin typeface="Times New Roman"/>
                <a:cs typeface="Times New Roman"/>
              </a:rPr>
              <a:t>then</a:t>
            </a:r>
            <a:r>
              <a:rPr sz="1700" b="1" spc="-15" dirty="0">
                <a:solidFill>
                  <a:srgbClr val="00AFEF"/>
                </a:solidFill>
                <a:latin typeface="Times New Roman"/>
                <a:cs typeface="Times New Roman"/>
              </a:rPr>
              <a:t> </a:t>
            </a:r>
            <a:r>
              <a:rPr sz="1700" b="1" dirty="0">
                <a:solidFill>
                  <a:srgbClr val="00AFEF"/>
                </a:solidFill>
                <a:latin typeface="Times New Roman"/>
                <a:cs typeface="Times New Roman"/>
              </a:rPr>
              <a:t>(a,</a:t>
            </a:r>
            <a:r>
              <a:rPr sz="1700" b="1" spc="-15" dirty="0">
                <a:solidFill>
                  <a:srgbClr val="00AFEF"/>
                </a:solidFill>
                <a:latin typeface="Times New Roman"/>
                <a:cs typeface="Times New Roman"/>
              </a:rPr>
              <a:t> </a:t>
            </a:r>
            <a:r>
              <a:rPr sz="1700" b="1" dirty="0">
                <a:solidFill>
                  <a:srgbClr val="00AFEF"/>
                </a:solidFill>
                <a:latin typeface="Times New Roman"/>
                <a:cs typeface="Times New Roman"/>
              </a:rPr>
              <a:t>c)</a:t>
            </a:r>
            <a:r>
              <a:rPr sz="1700" b="1" spc="-15" dirty="0">
                <a:solidFill>
                  <a:srgbClr val="00AFEF"/>
                </a:solidFill>
                <a:latin typeface="Times New Roman"/>
                <a:cs typeface="Times New Roman"/>
              </a:rPr>
              <a:t> </a:t>
            </a:r>
            <a:r>
              <a:rPr sz="1700" dirty="0">
                <a:solidFill>
                  <a:srgbClr val="00AFEF"/>
                </a:solidFill>
                <a:latin typeface="Cambria Math"/>
                <a:cs typeface="Cambria Math"/>
              </a:rPr>
              <a:t>∈</a:t>
            </a:r>
            <a:r>
              <a:rPr sz="1700" spc="15" dirty="0">
                <a:solidFill>
                  <a:srgbClr val="00AFEF"/>
                </a:solidFill>
                <a:latin typeface="Cambria Math"/>
                <a:cs typeface="Cambria Math"/>
              </a:rPr>
              <a:t> </a:t>
            </a:r>
            <a:r>
              <a:rPr sz="1700" b="1" dirty="0">
                <a:solidFill>
                  <a:srgbClr val="00AFEF"/>
                </a:solidFill>
                <a:latin typeface="Times New Roman"/>
                <a:cs typeface="Times New Roman"/>
              </a:rPr>
              <a:t>R,</a:t>
            </a:r>
            <a:r>
              <a:rPr sz="1700" b="1" spc="-10" dirty="0">
                <a:solidFill>
                  <a:srgbClr val="00AFEF"/>
                </a:solidFill>
                <a:latin typeface="Times New Roman"/>
                <a:cs typeface="Times New Roman"/>
              </a:rPr>
              <a:t> </a:t>
            </a:r>
            <a:r>
              <a:rPr sz="1700" b="1" dirty="0">
                <a:solidFill>
                  <a:srgbClr val="00AFEF"/>
                </a:solidFill>
                <a:latin typeface="Times New Roman"/>
                <a:cs typeface="Times New Roman"/>
              </a:rPr>
              <a:t>for</a:t>
            </a:r>
            <a:r>
              <a:rPr sz="1700" b="1" spc="-50" dirty="0">
                <a:solidFill>
                  <a:srgbClr val="00AFEF"/>
                </a:solidFill>
                <a:latin typeface="Times New Roman"/>
                <a:cs typeface="Times New Roman"/>
              </a:rPr>
              <a:t> </a:t>
            </a:r>
            <a:r>
              <a:rPr sz="1700" b="1" dirty="0">
                <a:solidFill>
                  <a:srgbClr val="00AFEF"/>
                </a:solidFill>
                <a:latin typeface="Times New Roman"/>
                <a:cs typeface="Times New Roman"/>
              </a:rPr>
              <a:t>all</a:t>
            </a:r>
            <a:r>
              <a:rPr sz="1700" b="1" spc="-10" dirty="0">
                <a:solidFill>
                  <a:srgbClr val="00AFEF"/>
                </a:solidFill>
                <a:latin typeface="Times New Roman"/>
                <a:cs typeface="Times New Roman"/>
              </a:rPr>
              <a:t> </a:t>
            </a:r>
            <a:r>
              <a:rPr sz="1700" b="1" dirty="0">
                <a:solidFill>
                  <a:srgbClr val="00AFEF"/>
                </a:solidFill>
                <a:latin typeface="Times New Roman"/>
                <a:cs typeface="Times New Roman"/>
              </a:rPr>
              <a:t>a,</a:t>
            </a:r>
            <a:r>
              <a:rPr sz="1700" b="1" spc="-10" dirty="0">
                <a:solidFill>
                  <a:srgbClr val="00AFEF"/>
                </a:solidFill>
                <a:latin typeface="Times New Roman"/>
                <a:cs typeface="Times New Roman"/>
              </a:rPr>
              <a:t> </a:t>
            </a:r>
            <a:r>
              <a:rPr sz="1700" b="1" dirty="0">
                <a:solidFill>
                  <a:srgbClr val="00AFEF"/>
                </a:solidFill>
                <a:latin typeface="Times New Roman"/>
                <a:cs typeface="Times New Roman"/>
              </a:rPr>
              <a:t>b,</a:t>
            </a:r>
            <a:r>
              <a:rPr sz="1700" b="1" spc="-5" dirty="0">
                <a:solidFill>
                  <a:srgbClr val="00AFEF"/>
                </a:solidFill>
                <a:latin typeface="Times New Roman"/>
                <a:cs typeface="Times New Roman"/>
              </a:rPr>
              <a:t> </a:t>
            </a:r>
            <a:r>
              <a:rPr sz="1700" b="1" dirty="0">
                <a:solidFill>
                  <a:srgbClr val="00AFEF"/>
                </a:solidFill>
                <a:latin typeface="Times New Roman"/>
                <a:cs typeface="Times New Roman"/>
              </a:rPr>
              <a:t>c</a:t>
            </a:r>
            <a:r>
              <a:rPr sz="1700" b="1" spc="-10" dirty="0">
                <a:solidFill>
                  <a:srgbClr val="00AFEF"/>
                </a:solidFill>
                <a:latin typeface="Times New Roman"/>
                <a:cs typeface="Times New Roman"/>
              </a:rPr>
              <a:t> </a:t>
            </a:r>
            <a:r>
              <a:rPr sz="1700" dirty="0">
                <a:solidFill>
                  <a:srgbClr val="00AFEF"/>
                </a:solidFill>
                <a:latin typeface="Cambria Math"/>
                <a:cs typeface="Cambria Math"/>
              </a:rPr>
              <a:t>∈</a:t>
            </a:r>
            <a:r>
              <a:rPr sz="1700" spc="-70" dirty="0">
                <a:solidFill>
                  <a:srgbClr val="00AFEF"/>
                </a:solidFill>
                <a:latin typeface="Cambria Math"/>
                <a:cs typeface="Cambria Math"/>
              </a:rPr>
              <a:t> </a:t>
            </a:r>
            <a:r>
              <a:rPr sz="1700" b="1" spc="-25" dirty="0">
                <a:solidFill>
                  <a:srgbClr val="00AFEF"/>
                </a:solidFill>
                <a:latin typeface="Times New Roman"/>
                <a:cs typeface="Times New Roman"/>
              </a:rPr>
              <a:t>A.</a:t>
            </a:r>
            <a:endParaRPr sz="1700" dirty="0">
              <a:latin typeface="Times New Roman"/>
              <a:cs typeface="Times New Roman"/>
            </a:endParaRPr>
          </a:p>
          <a:p>
            <a:pPr marL="12700">
              <a:lnSpc>
                <a:spcPct val="100000"/>
              </a:lnSpc>
              <a:spcBef>
                <a:spcPts val="795"/>
              </a:spcBef>
            </a:pPr>
            <a:r>
              <a:rPr sz="1700" b="1" u="sng" dirty="0">
                <a:solidFill>
                  <a:srgbClr val="90C225"/>
                </a:solidFill>
                <a:uFill>
                  <a:solidFill>
                    <a:srgbClr val="90C225"/>
                  </a:solidFill>
                </a:uFill>
                <a:latin typeface="Times New Roman"/>
                <a:cs typeface="Times New Roman"/>
              </a:rPr>
              <a:t>EXAMPLE</a:t>
            </a:r>
            <a:r>
              <a:rPr sz="1700" b="1" u="sng" spc="-20" dirty="0">
                <a:solidFill>
                  <a:srgbClr val="90C225"/>
                </a:solidFill>
                <a:uFill>
                  <a:solidFill>
                    <a:srgbClr val="90C225"/>
                  </a:solidFill>
                </a:uFill>
                <a:latin typeface="Times New Roman"/>
                <a:cs typeface="Times New Roman"/>
              </a:rPr>
              <a:t> </a:t>
            </a:r>
            <a:r>
              <a:rPr sz="1700" b="1" u="sng" spc="-50" dirty="0">
                <a:solidFill>
                  <a:srgbClr val="90C225"/>
                </a:solidFill>
                <a:uFill>
                  <a:solidFill>
                    <a:srgbClr val="90C225"/>
                  </a:solidFill>
                </a:uFill>
                <a:latin typeface="Times New Roman"/>
                <a:cs typeface="Times New Roman"/>
              </a:rPr>
              <a:t>K</a:t>
            </a:r>
            <a:endParaRPr sz="1700" dirty="0">
              <a:latin typeface="Times New Roman"/>
              <a:cs typeface="Times New Roman"/>
            </a:endParaRPr>
          </a:p>
          <a:p>
            <a:pPr marL="12700">
              <a:lnSpc>
                <a:spcPct val="100000"/>
              </a:lnSpc>
              <a:spcBef>
                <a:spcPts val="800"/>
              </a:spcBef>
            </a:pPr>
            <a:r>
              <a:rPr sz="1700" dirty="0">
                <a:solidFill>
                  <a:srgbClr val="404040"/>
                </a:solidFill>
                <a:latin typeface="Times New Roman"/>
                <a:cs typeface="Times New Roman"/>
              </a:rPr>
              <a:t>C</a:t>
            </a:r>
            <a:r>
              <a:rPr sz="1700" b="1" dirty="0">
                <a:solidFill>
                  <a:srgbClr val="404040"/>
                </a:solidFill>
                <a:latin typeface="Times New Roman"/>
                <a:cs typeface="Times New Roman"/>
              </a:rPr>
              <a:t>onsider</a:t>
            </a:r>
            <a:r>
              <a:rPr sz="1700" b="1" spc="-60" dirty="0">
                <a:solidFill>
                  <a:srgbClr val="404040"/>
                </a:solidFill>
                <a:latin typeface="Times New Roman"/>
                <a:cs typeface="Times New Roman"/>
              </a:rPr>
              <a:t> </a:t>
            </a:r>
            <a:r>
              <a:rPr sz="1700" b="1" dirty="0">
                <a:solidFill>
                  <a:srgbClr val="404040"/>
                </a:solidFill>
                <a:latin typeface="Times New Roman"/>
                <a:cs typeface="Times New Roman"/>
              </a:rPr>
              <a:t>the</a:t>
            </a:r>
            <a:r>
              <a:rPr sz="1700" b="1" spc="-35" dirty="0">
                <a:solidFill>
                  <a:srgbClr val="404040"/>
                </a:solidFill>
                <a:latin typeface="Times New Roman"/>
                <a:cs typeface="Times New Roman"/>
              </a:rPr>
              <a:t> </a:t>
            </a:r>
            <a:r>
              <a:rPr sz="1700" b="1" dirty="0">
                <a:solidFill>
                  <a:srgbClr val="404040"/>
                </a:solidFill>
                <a:latin typeface="Times New Roman"/>
                <a:cs typeface="Times New Roman"/>
              </a:rPr>
              <a:t>following</a:t>
            </a:r>
            <a:r>
              <a:rPr sz="1700" b="1" spc="-30" dirty="0">
                <a:solidFill>
                  <a:srgbClr val="404040"/>
                </a:solidFill>
                <a:latin typeface="Times New Roman"/>
                <a:cs typeface="Times New Roman"/>
              </a:rPr>
              <a:t> </a:t>
            </a:r>
            <a:r>
              <a:rPr sz="1700" b="1" dirty="0">
                <a:solidFill>
                  <a:srgbClr val="404040"/>
                </a:solidFill>
                <a:latin typeface="Times New Roman"/>
                <a:cs typeface="Times New Roman"/>
              </a:rPr>
              <a:t>relations</a:t>
            </a:r>
            <a:r>
              <a:rPr sz="1700" b="1" spc="-35" dirty="0">
                <a:solidFill>
                  <a:srgbClr val="404040"/>
                </a:solidFill>
                <a:latin typeface="Times New Roman"/>
                <a:cs typeface="Times New Roman"/>
              </a:rPr>
              <a:t> </a:t>
            </a:r>
            <a:r>
              <a:rPr sz="1700" b="1" dirty="0">
                <a:solidFill>
                  <a:srgbClr val="404040"/>
                </a:solidFill>
                <a:latin typeface="Times New Roman"/>
                <a:cs typeface="Times New Roman"/>
              </a:rPr>
              <a:t>on</a:t>
            </a:r>
            <a:r>
              <a:rPr sz="1700" b="1" spc="-40"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40"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30" dirty="0">
                <a:solidFill>
                  <a:srgbClr val="404040"/>
                </a:solidFill>
                <a:latin typeface="Times New Roman"/>
                <a:cs typeface="Times New Roman"/>
              </a:rPr>
              <a:t> </a:t>
            </a:r>
            <a:r>
              <a:rPr sz="1700" b="1" dirty="0">
                <a:solidFill>
                  <a:srgbClr val="404040"/>
                </a:solidFill>
                <a:latin typeface="Times New Roman"/>
                <a:cs typeface="Times New Roman"/>
              </a:rPr>
              <a:t>3</a:t>
            </a:r>
            <a:r>
              <a:rPr sz="1700" b="1" i="1" dirty="0">
                <a:solidFill>
                  <a:srgbClr val="404040"/>
                </a:solidFill>
                <a:latin typeface="Times New Roman"/>
                <a:cs typeface="Times New Roman"/>
              </a:rPr>
              <a:t>,</a:t>
            </a:r>
            <a:r>
              <a:rPr sz="1700" b="1" i="1" spc="-40" dirty="0">
                <a:solidFill>
                  <a:srgbClr val="404040"/>
                </a:solidFill>
                <a:latin typeface="Times New Roman"/>
                <a:cs typeface="Times New Roman"/>
              </a:rPr>
              <a:t> </a:t>
            </a:r>
            <a:r>
              <a:rPr sz="1700" b="1" spc="-25" dirty="0">
                <a:solidFill>
                  <a:srgbClr val="404040"/>
                </a:solidFill>
                <a:latin typeface="Times New Roman"/>
                <a:cs typeface="Times New Roman"/>
              </a:rPr>
              <a:t>4}:</a:t>
            </a:r>
            <a:endParaRPr sz="1700" dirty="0">
              <a:latin typeface="Times New Roman"/>
              <a:cs typeface="Times New Roman"/>
            </a:endParaRPr>
          </a:p>
          <a:p>
            <a:pPr marL="12700">
              <a:lnSpc>
                <a:spcPct val="100000"/>
              </a:lnSpc>
              <a:spcBef>
                <a:spcPts val="795"/>
              </a:spcBef>
              <a:tabLst>
                <a:tab pos="354965" algn="l"/>
              </a:tabLst>
            </a:pPr>
            <a:r>
              <a:rPr sz="1350" spc="65" dirty="0">
                <a:solidFill>
                  <a:srgbClr val="90C225"/>
                </a:solidFill>
                <a:latin typeface="Lucida Sans Unicode"/>
                <a:cs typeface="Lucida Sans Unicode"/>
              </a:rPr>
              <a:t>▶</a:t>
            </a:r>
            <a:r>
              <a:rPr sz="1350" dirty="0">
                <a:solidFill>
                  <a:srgbClr val="90C225"/>
                </a:solidFill>
                <a:latin typeface="Lucida Sans Unicode"/>
                <a:cs typeface="Lucida Sans Unicode"/>
              </a:rPr>
              <a:t>	</a:t>
            </a:r>
            <a:r>
              <a:rPr sz="1700" b="1" i="1" dirty="0">
                <a:solidFill>
                  <a:srgbClr val="404040"/>
                </a:solidFill>
                <a:latin typeface="Times New Roman"/>
                <a:cs typeface="Times New Roman"/>
              </a:rPr>
              <a:t>R</a:t>
            </a:r>
            <a:r>
              <a:rPr sz="1700" b="1" dirty="0">
                <a:solidFill>
                  <a:srgbClr val="404040"/>
                </a:solidFill>
                <a:latin typeface="Times New Roman"/>
                <a:cs typeface="Times New Roman"/>
              </a:rPr>
              <a:t>1</a:t>
            </a:r>
            <a:r>
              <a:rPr sz="1700" b="1" spc="-20" dirty="0">
                <a:solidFill>
                  <a:srgbClr val="404040"/>
                </a:solidFill>
                <a:latin typeface="Times New Roman"/>
                <a:cs typeface="Times New Roman"/>
              </a:rPr>
              <a:t> </a:t>
            </a:r>
            <a:r>
              <a:rPr sz="1700" b="1" dirty="0">
                <a:solidFill>
                  <a:srgbClr val="404040"/>
                </a:solidFill>
                <a:latin typeface="Times New Roman"/>
                <a:cs typeface="Times New Roman"/>
              </a:rPr>
              <a:t>=</a:t>
            </a:r>
            <a:r>
              <a:rPr sz="1700" b="1" spc="-25"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(3</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4)</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(4</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(4</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spc="-20" dirty="0">
                <a:solidFill>
                  <a:srgbClr val="404040"/>
                </a:solidFill>
                <a:latin typeface="Times New Roman"/>
                <a:cs typeface="Times New Roman"/>
              </a:rPr>
              <a:t>4)}</a:t>
            </a:r>
            <a:r>
              <a:rPr sz="1700" b="1" i="1" spc="-20" dirty="0">
                <a:solidFill>
                  <a:srgbClr val="404040"/>
                </a:solidFill>
                <a:latin typeface="Times New Roman"/>
                <a:cs typeface="Times New Roman"/>
              </a:rPr>
              <a:t>,</a:t>
            </a:r>
            <a:endParaRPr sz="1700" dirty="0">
              <a:latin typeface="Times New Roman"/>
              <a:cs typeface="Times New Roman"/>
            </a:endParaRPr>
          </a:p>
          <a:p>
            <a:pPr marL="12700">
              <a:lnSpc>
                <a:spcPct val="100000"/>
              </a:lnSpc>
              <a:spcBef>
                <a:spcPts val="795"/>
              </a:spcBef>
              <a:tabLst>
                <a:tab pos="354965" algn="l"/>
              </a:tabLst>
            </a:pPr>
            <a:r>
              <a:rPr sz="1350" spc="65" dirty="0">
                <a:solidFill>
                  <a:srgbClr val="90C225"/>
                </a:solidFill>
                <a:latin typeface="Lucida Sans Unicode"/>
                <a:cs typeface="Lucida Sans Unicode"/>
              </a:rPr>
              <a:t>▶</a:t>
            </a:r>
            <a:r>
              <a:rPr sz="1350" dirty="0">
                <a:solidFill>
                  <a:srgbClr val="90C225"/>
                </a:solidFill>
                <a:latin typeface="Lucida Sans Unicode"/>
                <a:cs typeface="Lucida Sans Unicode"/>
              </a:rPr>
              <a:t>	</a:t>
            </a:r>
            <a:r>
              <a:rPr sz="1700" b="1" i="1" dirty="0">
                <a:solidFill>
                  <a:srgbClr val="404040"/>
                </a:solidFill>
                <a:latin typeface="Times New Roman"/>
                <a:cs typeface="Times New Roman"/>
              </a:rPr>
              <a:t>R</a:t>
            </a:r>
            <a:r>
              <a:rPr sz="1700" b="1" dirty="0">
                <a:solidFill>
                  <a:srgbClr val="404040"/>
                </a:solidFill>
                <a:latin typeface="Times New Roman"/>
                <a:cs typeface="Times New Roman"/>
              </a:rPr>
              <a:t>2</a:t>
            </a:r>
            <a:r>
              <a:rPr sz="1700" b="1" spc="-20" dirty="0">
                <a:solidFill>
                  <a:srgbClr val="404040"/>
                </a:solidFill>
                <a:latin typeface="Times New Roman"/>
                <a:cs typeface="Times New Roman"/>
              </a:rPr>
              <a:t> </a:t>
            </a:r>
            <a:r>
              <a:rPr sz="1700" b="1" dirty="0">
                <a:solidFill>
                  <a:srgbClr val="404040"/>
                </a:solidFill>
                <a:latin typeface="Times New Roman"/>
                <a:cs typeface="Times New Roman"/>
              </a:rPr>
              <a:t>=</a:t>
            </a:r>
            <a:r>
              <a:rPr sz="1700" b="1" spc="-25"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15"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spc="-20" dirty="0">
                <a:solidFill>
                  <a:srgbClr val="404040"/>
                </a:solidFill>
                <a:latin typeface="Times New Roman"/>
                <a:cs typeface="Times New Roman"/>
              </a:rPr>
              <a:t>1)}</a:t>
            </a:r>
            <a:r>
              <a:rPr sz="1700" b="1" i="1" spc="-20" dirty="0">
                <a:solidFill>
                  <a:srgbClr val="404040"/>
                </a:solidFill>
                <a:latin typeface="Times New Roman"/>
                <a:cs typeface="Times New Roman"/>
              </a:rPr>
              <a:t>,</a:t>
            </a:r>
            <a:endParaRPr sz="1700" dirty="0">
              <a:latin typeface="Times New Roman"/>
              <a:cs typeface="Times New Roman"/>
            </a:endParaRPr>
          </a:p>
          <a:p>
            <a:pPr marL="12700">
              <a:lnSpc>
                <a:spcPct val="100000"/>
              </a:lnSpc>
              <a:spcBef>
                <a:spcPts val="795"/>
              </a:spcBef>
              <a:tabLst>
                <a:tab pos="354965" algn="l"/>
              </a:tabLst>
            </a:pPr>
            <a:r>
              <a:rPr sz="1350" spc="65" dirty="0">
                <a:solidFill>
                  <a:srgbClr val="90C225"/>
                </a:solidFill>
                <a:latin typeface="Lucida Sans Unicode"/>
                <a:cs typeface="Lucida Sans Unicode"/>
              </a:rPr>
              <a:t>▶</a:t>
            </a:r>
            <a:r>
              <a:rPr sz="1350" dirty="0">
                <a:solidFill>
                  <a:srgbClr val="90C225"/>
                </a:solidFill>
                <a:latin typeface="Lucida Sans Unicode"/>
                <a:cs typeface="Lucida Sans Unicode"/>
              </a:rPr>
              <a:t>	</a:t>
            </a:r>
            <a:r>
              <a:rPr sz="1700" b="1" i="1" dirty="0">
                <a:solidFill>
                  <a:srgbClr val="404040"/>
                </a:solidFill>
                <a:latin typeface="Times New Roman"/>
                <a:cs typeface="Times New Roman"/>
              </a:rPr>
              <a:t>R</a:t>
            </a:r>
            <a:r>
              <a:rPr sz="1700" b="1" dirty="0">
                <a:solidFill>
                  <a:srgbClr val="404040"/>
                </a:solidFill>
                <a:latin typeface="Times New Roman"/>
                <a:cs typeface="Times New Roman"/>
              </a:rPr>
              <a:t>3</a:t>
            </a:r>
            <a:r>
              <a:rPr sz="1700" b="1" spc="-20" dirty="0">
                <a:solidFill>
                  <a:srgbClr val="404040"/>
                </a:solidFill>
                <a:latin typeface="Times New Roman"/>
                <a:cs typeface="Times New Roman"/>
              </a:rPr>
              <a:t> </a:t>
            </a:r>
            <a:r>
              <a:rPr sz="1700" b="1" dirty="0">
                <a:solidFill>
                  <a:srgbClr val="404040"/>
                </a:solidFill>
                <a:latin typeface="Times New Roman"/>
                <a:cs typeface="Times New Roman"/>
              </a:rPr>
              <a:t>=</a:t>
            </a:r>
            <a:r>
              <a:rPr sz="1700" b="1" spc="-25"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4)</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15"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(3</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3)</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(4</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(4</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spc="-20" dirty="0">
                <a:solidFill>
                  <a:srgbClr val="404040"/>
                </a:solidFill>
                <a:latin typeface="Times New Roman"/>
                <a:cs typeface="Times New Roman"/>
              </a:rPr>
              <a:t>4)}</a:t>
            </a:r>
            <a:r>
              <a:rPr sz="1700" b="1" i="1" spc="-20" dirty="0">
                <a:solidFill>
                  <a:srgbClr val="404040"/>
                </a:solidFill>
                <a:latin typeface="Times New Roman"/>
                <a:cs typeface="Times New Roman"/>
              </a:rPr>
              <a:t>,</a:t>
            </a:r>
            <a:endParaRPr sz="1700" dirty="0">
              <a:latin typeface="Times New Roman"/>
              <a:cs typeface="Times New Roman"/>
            </a:endParaRPr>
          </a:p>
          <a:p>
            <a:pPr marL="12700">
              <a:lnSpc>
                <a:spcPct val="100000"/>
              </a:lnSpc>
              <a:spcBef>
                <a:spcPts val="800"/>
              </a:spcBef>
              <a:tabLst>
                <a:tab pos="354965" algn="l"/>
              </a:tabLst>
            </a:pPr>
            <a:r>
              <a:rPr sz="1350" spc="65" dirty="0">
                <a:solidFill>
                  <a:srgbClr val="90C225"/>
                </a:solidFill>
                <a:latin typeface="Lucida Sans Unicode"/>
                <a:cs typeface="Lucida Sans Unicode"/>
              </a:rPr>
              <a:t>▶</a:t>
            </a:r>
            <a:r>
              <a:rPr sz="1350" dirty="0">
                <a:solidFill>
                  <a:srgbClr val="90C225"/>
                </a:solidFill>
                <a:latin typeface="Lucida Sans Unicode"/>
                <a:cs typeface="Lucida Sans Unicode"/>
              </a:rPr>
              <a:t>	</a:t>
            </a:r>
            <a:r>
              <a:rPr sz="1700" b="1" i="1" dirty="0">
                <a:solidFill>
                  <a:srgbClr val="404040"/>
                </a:solidFill>
                <a:latin typeface="Times New Roman"/>
                <a:cs typeface="Times New Roman"/>
              </a:rPr>
              <a:t>R</a:t>
            </a:r>
            <a:r>
              <a:rPr sz="1700" b="1" dirty="0">
                <a:solidFill>
                  <a:srgbClr val="404040"/>
                </a:solidFill>
                <a:latin typeface="Times New Roman"/>
                <a:cs typeface="Times New Roman"/>
              </a:rPr>
              <a:t>4</a:t>
            </a:r>
            <a:r>
              <a:rPr sz="1700" b="1" spc="-20" dirty="0">
                <a:solidFill>
                  <a:srgbClr val="404040"/>
                </a:solidFill>
                <a:latin typeface="Times New Roman"/>
                <a:cs typeface="Times New Roman"/>
              </a:rPr>
              <a:t> </a:t>
            </a:r>
            <a:r>
              <a:rPr sz="1700" b="1" dirty="0">
                <a:solidFill>
                  <a:srgbClr val="404040"/>
                </a:solidFill>
                <a:latin typeface="Times New Roman"/>
                <a:cs typeface="Times New Roman"/>
              </a:rPr>
              <a:t>=</a:t>
            </a:r>
            <a:r>
              <a:rPr sz="1700" b="1" spc="-25"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(3</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(3</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(4</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(4</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(4</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spc="-20" dirty="0">
                <a:solidFill>
                  <a:srgbClr val="404040"/>
                </a:solidFill>
                <a:latin typeface="Times New Roman"/>
                <a:cs typeface="Times New Roman"/>
              </a:rPr>
              <a:t>3)}</a:t>
            </a:r>
            <a:r>
              <a:rPr sz="1700" b="1" i="1" spc="-20" dirty="0">
                <a:solidFill>
                  <a:srgbClr val="404040"/>
                </a:solidFill>
                <a:latin typeface="Times New Roman"/>
                <a:cs typeface="Times New Roman"/>
              </a:rPr>
              <a:t>,</a:t>
            </a:r>
            <a:endParaRPr sz="1700" dirty="0">
              <a:latin typeface="Times New Roman"/>
              <a:cs typeface="Times New Roman"/>
            </a:endParaRPr>
          </a:p>
          <a:p>
            <a:pPr marL="12700">
              <a:lnSpc>
                <a:spcPct val="100000"/>
              </a:lnSpc>
              <a:spcBef>
                <a:spcPts val="790"/>
              </a:spcBef>
              <a:tabLst>
                <a:tab pos="354965" algn="l"/>
              </a:tabLst>
            </a:pPr>
            <a:r>
              <a:rPr sz="1350" spc="65" dirty="0">
                <a:solidFill>
                  <a:srgbClr val="90C225"/>
                </a:solidFill>
                <a:latin typeface="Lucida Sans Unicode"/>
                <a:cs typeface="Lucida Sans Unicode"/>
              </a:rPr>
              <a:t>▶</a:t>
            </a:r>
            <a:r>
              <a:rPr sz="1350" dirty="0">
                <a:solidFill>
                  <a:srgbClr val="90C225"/>
                </a:solidFill>
                <a:latin typeface="Lucida Sans Unicode"/>
                <a:cs typeface="Lucida Sans Unicode"/>
              </a:rPr>
              <a:t>	</a:t>
            </a:r>
            <a:r>
              <a:rPr sz="1700" b="1" i="1" dirty="0">
                <a:solidFill>
                  <a:srgbClr val="404040"/>
                </a:solidFill>
                <a:latin typeface="Times New Roman"/>
                <a:cs typeface="Times New Roman"/>
              </a:rPr>
              <a:t>R</a:t>
            </a:r>
            <a:r>
              <a:rPr sz="1700" b="1" dirty="0">
                <a:solidFill>
                  <a:srgbClr val="404040"/>
                </a:solidFill>
                <a:latin typeface="Times New Roman"/>
                <a:cs typeface="Times New Roman"/>
              </a:rPr>
              <a:t>5</a:t>
            </a:r>
            <a:r>
              <a:rPr sz="1700" b="1" spc="-20" dirty="0">
                <a:solidFill>
                  <a:srgbClr val="404040"/>
                </a:solidFill>
                <a:latin typeface="Times New Roman"/>
                <a:cs typeface="Times New Roman"/>
              </a:rPr>
              <a:t> </a:t>
            </a:r>
            <a:r>
              <a:rPr sz="1700" b="1" dirty="0">
                <a:solidFill>
                  <a:srgbClr val="404040"/>
                </a:solidFill>
                <a:latin typeface="Times New Roman"/>
                <a:cs typeface="Times New Roman"/>
              </a:rPr>
              <a:t>=</a:t>
            </a:r>
            <a:r>
              <a:rPr sz="1700" b="1" spc="-25"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3)</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4)</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3)</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4)</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(3</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3)</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(3</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4)</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(4</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spc="-20" dirty="0">
                <a:solidFill>
                  <a:srgbClr val="404040"/>
                </a:solidFill>
                <a:latin typeface="Times New Roman"/>
                <a:cs typeface="Times New Roman"/>
              </a:rPr>
              <a:t>4)}</a:t>
            </a:r>
            <a:r>
              <a:rPr sz="1700" b="1" i="1" spc="-20" dirty="0">
                <a:solidFill>
                  <a:srgbClr val="404040"/>
                </a:solidFill>
                <a:latin typeface="Times New Roman"/>
                <a:cs typeface="Times New Roman"/>
              </a:rPr>
              <a:t>.</a:t>
            </a:r>
            <a:endParaRPr sz="1700" dirty="0">
              <a:latin typeface="Times New Roman"/>
              <a:cs typeface="Times New Roman"/>
            </a:endParaRPr>
          </a:p>
          <a:p>
            <a:pPr marL="12700" marR="3140710">
              <a:lnSpc>
                <a:spcPts val="2840"/>
              </a:lnSpc>
              <a:spcBef>
                <a:spcPts val="229"/>
              </a:spcBef>
            </a:pPr>
            <a:r>
              <a:rPr sz="1700" b="1" dirty="0">
                <a:solidFill>
                  <a:srgbClr val="404040"/>
                </a:solidFill>
                <a:latin typeface="Times New Roman"/>
                <a:cs typeface="Times New Roman"/>
              </a:rPr>
              <a:t>Which</a:t>
            </a:r>
            <a:r>
              <a:rPr sz="1700" b="1" spc="-35" dirty="0">
                <a:solidFill>
                  <a:srgbClr val="404040"/>
                </a:solidFill>
                <a:latin typeface="Times New Roman"/>
                <a:cs typeface="Times New Roman"/>
              </a:rPr>
              <a:t> </a:t>
            </a:r>
            <a:r>
              <a:rPr sz="1700" b="1" dirty="0">
                <a:solidFill>
                  <a:srgbClr val="404040"/>
                </a:solidFill>
                <a:latin typeface="Times New Roman"/>
                <a:cs typeface="Times New Roman"/>
              </a:rPr>
              <a:t>of</a:t>
            </a:r>
            <a:r>
              <a:rPr sz="1700" b="1" spc="-45" dirty="0">
                <a:solidFill>
                  <a:srgbClr val="404040"/>
                </a:solidFill>
                <a:latin typeface="Times New Roman"/>
                <a:cs typeface="Times New Roman"/>
              </a:rPr>
              <a:t> </a:t>
            </a:r>
            <a:r>
              <a:rPr sz="1700" b="1" dirty="0">
                <a:solidFill>
                  <a:srgbClr val="404040"/>
                </a:solidFill>
                <a:latin typeface="Times New Roman"/>
                <a:cs typeface="Times New Roman"/>
              </a:rPr>
              <a:t>these</a:t>
            </a:r>
            <a:r>
              <a:rPr sz="1700" b="1" spc="-40" dirty="0">
                <a:solidFill>
                  <a:srgbClr val="404040"/>
                </a:solidFill>
                <a:latin typeface="Times New Roman"/>
                <a:cs typeface="Times New Roman"/>
              </a:rPr>
              <a:t> </a:t>
            </a:r>
            <a:r>
              <a:rPr sz="1700" b="1" dirty="0">
                <a:solidFill>
                  <a:srgbClr val="404040"/>
                </a:solidFill>
                <a:latin typeface="Times New Roman"/>
                <a:cs typeface="Times New Roman"/>
              </a:rPr>
              <a:t>relations</a:t>
            </a:r>
            <a:r>
              <a:rPr sz="1700" b="1" spc="-45" dirty="0">
                <a:solidFill>
                  <a:srgbClr val="404040"/>
                </a:solidFill>
                <a:latin typeface="Times New Roman"/>
                <a:cs typeface="Times New Roman"/>
              </a:rPr>
              <a:t> </a:t>
            </a:r>
            <a:r>
              <a:rPr sz="1700" b="1" dirty="0">
                <a:solidFill>
                  <a:srgbClr val="404040"/>
                </a:solidFill>
                <a:latin typeface="Times New Roman"/>
                <a:cs typeface="Times New Roman"/>
              </a:rPr>
              <a:t>are</a:t>
            </a:r>
            <a:r>
              <a:rPr sz="1700" b="1" spc="-55" dirty="0">
                <a:solidFill>
                  <a:srgbClr val="404040"/>
                </a:solidFill>
                <a:latin typeface="Times New Roman"/>
                <a:cs typeface="Times New Roman"/>
              </a:rPr>
              <a:t> </a:t>
            </a:r>
            <a:r>
              <a:rPr sz="1700" b="1" dirty="0">
                <a:solidFill>
                  <a:srgbClr val="404040"/>
                </a:solidFill>
                <a:latin typeface="Times New Roman"/>
                <a:cs typeface="Times New Roman"/>
              </a:rPr>
              <a:t>transitive</a:t>
            </a:r>
            <a:r>
              <a:rPr sz="1700" b="1" spc="-45" dirty="0">
                <a:solidFill>
                  <a:srgbClr val="404040"/>
                </a:solidFill>
                <a:latin typeface="Times New Roman"/>
                <a:cs typeface="Times New Roman"/>
              </a:rPr>
              <a:t> </a:t>
            </a:r>
            <a:r>
              <a:rPr sz="1700" b="1" spc="-50" dirty="0">
                <a:solidFill>
                  <a:srgbClr val="404040"/>
                </a:solidFill>
                <a:latin typeface="Times New Roman"/>
                <a:cs typeface="Times New Roman"/>
              </a:rPr>
              <a:t>? </a:t>
            </a:r>
            <a:r>
              <a:rPr sz="1700" b="1" u="sng" spc="-10" dirty="0">
                <a:solidFill>
                  <a:srgbClr val="6F2F9F"/>
                </a:solidFill>
                <a:uFill>
                  <a:solidFill>
                    <a:srgbClr val="6F2F9F"/>
                  </a:solidFill>
                </a:uFill>
                <a:latin typeface="Times New Roman"/>
                <a:cs typeface="Times New Roman"/>
              </a:rPr>
              <a:t>SOLUTION:</a:t>
            </a:r>
            <a:endParaRPr sz="1700" dirty="0">
              <a:latin typeface="Times New Roman"/>
              <a:cs typeface="Times New Roman"/>
            </a:endParaRPr>
          </a:p>
          <a:p>
            <a:pPr marL="12700" marR="22225">
              <a:lnSpc>
                <a:spcPts val="1839"/>
              </a:lnSpc>
              <a:spcBef>
                <a:spcPts val="790"/>
              </a:spcBef>
            </a:pPr>
            <a:r>
              <a:rPr sz="1700" b="1" dirty="0">
                <a:solidFill>
                  <a:srgbClr val="00AFEF"/>
                </a:solidFill>
                <a:latin typeface="Times New Roman"/>
                <a:cs typeface="Times New Roman"/>
              </a:rPr>
              <a:t>R4</a:t>
            </a:r>
            <a:r>
              <a:rPr sz="1700" b="1" spc="-20" dirty="0">
                <a:solidFill>
                  <a:srgbClr val="00AFEF"/>
                </a:solidFill>
                <a:latin typeface="Times New Roman"/>
                <a:cs typeface="Times New Roman"/>
              </a:rPr>
              <a:t> </a:t>
            </a:r>
            <a:r>
              <a:rPr sz="1700" b="1" dirty="0">
                <a:solidFill>
                  <a:srgbClr val="00AFEF"/>
                </a:solidFill>
                <a:latin typeface="Times New Roman"/>
                <a:cs typeface="Times New Roman"/>
              </a:rPr>
              <a:t>and</a:t>
            </a:r>
            <a:r>
              <a:rPr sz="1700" b="1" spc="-10" dirty="0">
                <a:solidFill>
                  <a:srgbClr val="00AFEF"/>
                </a:solidFill>
                <a:latin typeface="Times New Roman"/>
                <a:cs typeface="Times New Roman"/>
              </a:rPr>
              <a:t> </a:t>
            </a:r>
            <a:r>
              <a:rPr sz="1700" b="1" dirty="0">
                <a:solidFill>
                  <a:srgbClr val="00AFEF"/>
                </a:solidFill>
                <a:latin typeface="Times New Roman"/>
                <a:cs typeface="Times New Roman"/>
              </a:rPr>
              <a:t>R5</a:t>
            </a:r>
            <a:r>
              <a:rPr sz="1700" b="1" spc="-15" dirty="0">
                <a:solidFill>
                  <a:srgbClr val="00AFEF"/>
                </a:solidFill>
                <a:latin typeface="Times New Roman"/>
                <a:cs typeface="Times New Roman"/>
              </a:rPr>
              <a:t> </a:t>
            </a:r>
            <a:r>
              <a:rPr sz="1700" b="1" dirty="0">
                <a:solidFill>
                  <a:srgbClr val="00AFEF"/>
                </a:solidFill>
                <a:latin typeface="Times New Roman"/>
                <a:cs typeface="Times New Roman"/>
              </a:rPr>
              <a:t>are</a:t>
            </a:r>
            <a:r>
              <a:rPr sz="1700" b="1" spc="-30" dirty="0">
                <a:solidFill>
                  <a:srgbClr val="00AFEF"/>
                </a:solidFill>
                <a:latin typeface="Times New Roman"/>
                <a:cs typeface="Times New Roman"/>
              </a:rPr>
              <a:t> </a:t>
            </a:r>
            <a:r>
              <a:rPr sz="1700" b="1" dirty="0">
                <a:solidFill>
                  <a:srgbClr val="00AFEF"/>
                </a:solidFill>
                <a:latin typeface="Times New Roman"/>
                <a:cs typeface="Times New Roman"/>
              </a:rPr>
              <a:t>transitive</a:t>
            </a:r>
            <a:r>
              <a:rPr sz="1700" dirty="0">
                <a:solidFill>
                  <a:srgbClr val="404040"/>
                </a:solidFill>
                <a:latin typeface="Times New Roman"/>
                <a:cs typeface="Times New Roman"/>
              </a:rPr>
              <a:t>.</a:t>
            </a:r>
            <a:r>
              <a:rPr sz="1700" spc="-25" dirty="0">
                <a:solidFill>
                  <a:srgbClr val="404040"/>
                </a:solidFill>
                <a:latin typeface="Times New Roman"/>
                <a:cs typeface="Times New Roman"/>
              </a:rPr>
              <a:t> </a:t>
            </a:r>
            <a:r>
              <a:rPr sz="1700" dirty="0">
                <a:solidFill>
                  <a:srgbClr val="404040"/>
                </a:solidFill>
                <a:latin typeface="Times New Roman"/>
                <a:cs typeface="Times New Roman"/>
              </a:rPr>
              <a:t>For</a:t>
            </a:r>
            <a:r>
              <a:rPr sz="1700" spc="-20" dirty="0">
                <a:solidFill>
                  <a:srgbClr val="404040"/>
                </a:solidFill>
                <a:latin typeface="Times New Roman"/>
                <a:cs typeface="Times New Roman"/>
              </a:rPr>
              <a:t> </a:t>
            </a:r>
            <a:r>
              <a:rPr sz="1700" dirty="0">
                <a:solidFill>
                  <a:srgbClr val="404040"/>
                </a:solidFill>
                <a:latin typeface="Times New Roman"/>
                <a:cs typeface="Times New Roman"/>
              </a:rPr>
              <a:t>each</a:t>
            </a:r>
            <a:r>
              <a:rPr sz="1700" spc="-30" dirty="0">
                <a:solidFill>
                  <a:srgbClr val="404040"/>
                </a:solidFill>
                <a:latin typeface="Times New Roman"/>
                <a:cs typeface="Times New Roman"/>
              </a:rPr>
              <a:t> </a:t>
            </a:r>
            <a:r>
              <a:rPr sz="1700" dirty="0">
                <a:solidFill>
                  <a:srgbClr val="404040"/>
                </a:solidFill>
                <a:latin typeface="Times New Roman"/>
                <a:cs typeface="Times New Roman"/>
              </a:rPr>
              <a:t>of</a:t>
            </a:r>
            <a:r>
              <a:rPr sz="1700" spc="-20" dirty="0">
                <a:solidFill>
                  <a:srgbClr val="404040"/>
                </a:solidFill>
                <a:latin typeface="Times New Roman"/>
                <a:cs typeface="Times New Roman"/>
              </a:rPr>
              <a:t> </a:t>
            </a:r>
            <a:r>
              <a:rPr sz="1700" dirty="0">
                <a:solidFill>
                  <a:srgbClr val="404040"/>
                </a:solidFill>
                <a:latin typeface="Times New Roman"/>
                <a:cs typeface="Times New Roman"/>
              </a:rPr>
              <a:t>these</a:t>
            </a:r>
            <a:r>
              <a:rPr sz="1700" spc="-25" dirty="0">
                <a:solidFill>
                  <a:srgbClr val="404040"/>
                </a:solidFill>
                <a:latin typeface="Times New Roman"/>
                <a:cs typeface="Times New Roman"/>
              </a:rPr>
              <a:t> </a:t>
            </a:r>
            <a:r>
              <a:rPr sz="1700" dirty="0">
                <a:solidFill>
                  <a:srgbClr val="404040"/>
                </a:solidFill>
                <a:latin typeface="Times New Roman"/>
                <a:cs typeface="Times New Roman"/>
              </a:rPr>
              <a:t>relations,</a:t>
            </a:r>
            <a:r>
              <a:rPr sz="1700" spc="-35" dirty="0">
                <a:solidFill>
                  <a:srgbClr val="404040"/>
                </a:solidFill>
                <a:latin typeface="Times New Roman"/>
                <a:cs typeface="Times New Roman"/>
              </a:rPr>
              <a:t> </a:t>
            </a:r>
            <a:r>
              <a:rPr sz="1700" dirty="0">
                <a:solidFill>
                  <a:srgbClr val="404040"/>
                </a:solidFill>
                <a:latin typeface="Times New Roman"/>
                <a:cs typeface="Times New Roman"/>
              </a:rPr>
              <a:t>we</a:t>
            </a:r>
            <a:r>
              <a:rPr sz="1700" spc="-20" dirty="0">
                <a:solidFill>
                  <a:srgbClr val="404040"/>
                </a:solidFill>
                <a:latin typeface="Times New Roman"/>
                <a:cs typeface="Times New Roman"/>
              </a:rPr>
              <a:t> </a:t>
            </a:r>
            <a:r>
              <a:rPr sz="1700" dirty="0">
                <a:solidFill>
                  <a:srgbClr val="404040"/>
                </a:solidFill>
                <a:latin typeface="Times New Roman"/>
                <a:cs typeface="Times New Roman"/>
              </a:rPr>
              <a:t>can</a:t>
            </a:r>
            <a:r>
              <a:rPr sz="1700" spc="-30" dirty="0">
                <a:solidFill>
                  <a:srgbClr val="404040"/>
                </a:solidFill>
                <a:latin typeface="Times New Roman"/>
                <a:cs typeface="Times New Roman"/>
              </a:rPr>
              <a:t> </a:t>
            </a:r>
            <a:r>
              <a:rPr sz="1700" dirty="0">
                <a:solidFill>
                  <a:srgbClr val="404040"/>
                </a:solidFill>
                <a:latin typeface="Times New Roman"/>
                <a:cs typeface="Times New Roman"/>
              </a:rPr>
              <a:t>show</a:t>
            </a:r>
            <a:r>
              <a:rPr sz="1700" spc="-20" dirty="0">
                <a:solidFill>
                  <a:srgbClr val="404040"/>
                </a:solidFill>
                <a:latin typeface="Times New Roman"/>
                <a:cs typeface="Times New Roman"/>
              </a:rPr>
              <a:t> </a:t>
            </a:r>
            <a:r>
              <a:rPr sz="1700" dirty="0">
                <a:solidFill>
                  <a:srgbClr val="404040"/>
                </a:solidFill>
                <a:latin typeface="Times New Roman"/>
                <a:cs typeface="Times New Roman"/>
              </a:rPr>
              <a:t>that</a:t>
            </a:r>
            <a:r>
              <a:rPr sz="1700" spc="-20" dirty="0">
                <a:solidFill>
                  <a:srgbClr val="404040"/>
                </a:solidFill>
                <a:latin typeface="Times New Roman"/>
                <a:cs typeface="Times New Roman"/>
              </a:rPr>
              <a:t> </a:t>
            </a:r>
            <a:r>
              <a:rPr sz="1700" dirty="0">
                <a:solidFill>
                  <a:srgbClr val="404040"/>
                </a:solidFill>
                <a:latin typeface="Times New Roman"/>
                <a:cs typeface="Times New Roman"/>
              </a:rPr>
              <a:t>it</a:t>
            </a:r>
            <a:r>
              <a:rPr sz="1700" spc="-20" dirty="0">
                <a:solidFill>
                  <a:srgbClr val="404040"/>
                </a:solidFill>
                <a:latin typeface="Times New Roman"/>
                <a:cs typeface="Times New Roman"/>
              </a:rPr>
              <a:t> </a:t>
            </a:r>
            <a:r>
              <a:rPr sz="1700" spc="-35" dirty="0">
                <a:solidFill>
                  <a:srgbClr val="404040"/>
                </a:solidFill>
                <a:latin typeface="Times New Roman"/>
                <a:cs typeface="Times New Roman"/>
              </a:rPr>
              <a:t>is </a:t>
            </a:r>
            <a:r>
              <a:rPr sz="1700" dirty="0">
                <a:solidFill>
                  <a:srgbClr val="404040"/>
                </a:solidFill>
                <a:latin typeface="Times New Roman"/>
                <a:cs typeface="Times New Roman"/>
              </a:rPr>
              <a:t>transitive</a:t>
            </a:r>
            <a:r>
              <a:rPr sz="1700" spc="-25" dirty="0">
                <a:solidFill>
                  <a:srgbClr val="404040"/>
                </a:solidFill>
                <a:latin typeface="Times New Roman"/>
                <a:cs typeface="Times New Roman"/>
              </a:rPr>
              <a:t> </a:t>
            </a:r>
            <a:r>
              <a:rPr sz="1700" dirty="0">
                <a:solidFill>
                  <a:srgbClr val="404040"/>
                </a:solidFill>
                <a:latin typeface="Times New Roman"/>
                <a:cs typeface="Times New Roman"/>
              </a:rPr>
              <a:t>by</a:t>
            </a:r>
            <a:r>
              <a:rPr sz="1700" spc="-10" dirty="0">
                <a:solidFill>
                  <a:srgbClr val="404040"/>
                </a:solidFill>
                <a:latin typeface="Times New Roman"/>
                <a:cs typeface="Times New Roman"/>
              </a:rPr>
              <a:t> </a:t>
            </a:r>
            <a:r>
              <a:rPr sz="1700" dirty="0">
                <a:solidFill>
                  <a:srgbClr val="404040"/>
                </a:solidFill>
                <a:latin typeface="Times New Roman"/>
                <a:cs typeface="Times New Roman"/>
              </a:rPr>
              <a:t>verifying</a:t>
            </a:r>
            <a:r>
              <a:rPr sz="1700" spc="-25" dirty="0">
                <a:solidFill>
                  <a:srgbClr val="404040"/>
                </a:solidFill>
                <a:latin typeface="Times New Roman"/>
                <a:cs typeface="Times New Roman"/>
              </a:rPr>
              <a:t> </a:t>
            </a:r>
            <a:r>
              <a:rPr sz="1700" dirty="0">
                <a:solidFill>
                  <a:srgbClr val="404040"/>
                </a:solidFill>
                <a:latin typeface="Times New Roman"/>
                <a:cs typeface="Times New Roman"/>
              </a:rPr>
              <a:t>that</a:t>
            </a:r>
            <a:r>
              <a:rPr sz="1700" spc="-20" dirty="0">
                <a:solidFill>
                  <a:srgbClr val="404040"/>
                </a:solidFill>
                <a:latin typeface="Times New Roman"/>
                <a:cs typeface="Times New Roman"/>
              </a:rPr>
              <a:t> </a:t>
            </a:r>
            <a:r>
              <a:rPr sz="1700" dirty="0">
                <a:solidFill>
                  <a:srgbClr val="404040"/>
                </a:solidFill>
                <a:latin typeface="Times New Roman"/>
                <a:cs typeface="Times New Roman"/>
              </a:rPr>
              <a:t>if</a:t>
            </a:r>
            <a:r>
              <a:rPr sz="1700" spc="-15" dirty="0">
                <a:solidFill>
                  <a:srgbClr val="404040"/>
                </a:solidFill>
                <a:latin typeface="Times New Roman"/>
                <a:cs typeface="Times New Roman"/>
              </a:rPr>
              <a:t> </a:t>
            </a:r>
            <a:r>
              <a:rPr sz="1700" dirty="0">
                <a:solidFill>
                  <a:srgbClr val="404040"/>
                </a:solidFill>
                <a:latin typeface="Times New Roman"/>
                <a:cs typeface="Times New Roman"/>
              </a:rPr>
              <a:t>(a,</a:t>
            </a:r>
            <a:r>
              <a:rPr sz="1700" spc="-20" dirty="0">
                <a:solidFill>
                  <a:srgbClr val="404040"/>
                </a:solidFill>
                <a:latin typeface="Times New Roman"/>
                <a:cs typeface="Times New Roman"/>
              </a:rPr>
              <a:t> </a:t>
            </a:r>
            <a:r>
              <a:rPr sz="1700" dirty="0">
                <a:solidFill>
                  <a:srgbClr val="404040"/>
                </a:solidFill>
                <a:latin typeface="Times New Roman"/>
                <a:cs typeface="Times New Roman"/>
              </a:rPr>
              <a:t>b)</a:t>
            </a:r>
            <a:r>
              <a:rPr sz="1700" spc="-15" dirty="0">
                <a:solidFill>
                  <a:srgbClr val="404040"/>
                </a:solidFill>
                <a:latin typeface="Times New Roman"/>
                <a:cs typeface="Times New Roman"/>
              </a:rPr>
              <a:t> </a:t>
            </a:r>
            <a:r>
              <a:rPr sz="1700" dirty="0">
                <a:solidFill>
                  <a:srgbClr val="404040"/>
                </a:solidFill>
                <a:latin typeface="Times New Roman"/>
                <a:cs typeface="Times New Roman"/>
              </a:rPr>
              <a:t>and</a:t>
            </a:r>
            <a:r>
              <a:rPr sz="1700" spc="-25" dirty="0">
                <a:solidFill>
                  <a:srgbClr val="404040"/>
                </a:solidFill>
                <a:latin typeface="Times New Roman"/>
                <a:cs typeface="Times New Roman"/>
              </a:rPr>
              <a:t> </a:t>
            </a:r>
            <a:r>
              <a:rPr sz="1700" dirty="0">
                <a:solidFill>
                  <a:srgbClr val="404040"/>
                </a:solidFill>
                <a:latin typeface="Times New Roman"/>
                <a:cs typeface="Times New Roman"/>
              </a:rPr>
              <a:t>(b,</a:t>
            </a:r>
            <a:r>
              <a:rPr sz="1700" spc="-15" dirty="0">
                <a:solidFill>
                  <a:srgbClr val="404040"/>
                </a:solidFill>
                <a:latin typeface="Times New Roman"/>
                <a:cs typeface="Times New Roman"/>
              </a:rPr>
              <a:t> </a:t>
            </a:r>
            <a:r>
              <a:rPr sz="1700" dirty="0">
                <a:solidFill>
                  <a:srgbClr val="404040"/>
                </a:solidFill>
                <a:latin typeface="Times New Roman"/>
                <a:cs typeface="Times New Roman"/>
              </a:rPr>
              <a:t>c)</a:t>
            </a:r>
            <a:r>
              <a:rPr sz="1700" spc="-20" dirty="0">
                <a:solidFill>
                  <a:srgbClr val="404040"/>
                </a:solidFill>
                <a:latin typeface="Times New Roman"/>
                <a:cs typeface="Times New Roman"/>
              </a:rPr>
              <a:t> </a:t>
            </a:r>
            <a:r>
              <a:rPr sz="1700" dirty="0">
                <a:solidFill>
                  <a:srgbClr val="404040"/>
                </a:solidFill>
                <a:latin typeface="Times New Roman"/>
                <a:cs typeface="Times New Roman"/>
              </a:rPr>
              <a:t>belong</a:t>
            </a:r>
            <a:r>
              <a:rPr sz="1700" spc="-30" dirty="0">
                <a:solidFill>
                  <a:srgbClr val="404040"/>
                </a:solidFill>
                <a:latin typeface="Times New Roman"/>
                <a:cs typeface="Times New Roman"/>
              </a:rPr>
              <a:t> </a:t>
            </a:r>
            <a:r>
              <a:rPr sz="1700" dirty="0">
                <a:solidFill>
                  <a:srgbClr val="404040"/>
                </a:solidFill>
                <a:latin typeface="Times New Roman"/>
                <a:cs typeface="Times New Roman"/>
              </a:rPr>
              <a:t>to</a:t>
            </a:r>
            <a:r>
              <a:rPr sz="1700" spc="-10" dirty="0">
                <a:solidFill>
                  <a:srgbClr val="404040"/>
                </a:solidFill>
                <a:latin typeface="Times New Roman"/>
                <a:cs typeface="Times New Roman"/>
              </a:rPr>
              <a:t> </a:t>
            </a:r>
            <a:r>
              <a:rPr sz="1700" dirty="0">
                <a:solidFill>
                  <a:srgbClr val="404040"/>
                </a:solidFill>
                <a:latin typeface="Times New Roman"/>
                <a:cs typeface="Times New Roman"/>
              </a:rPr>
              <a:t>this</a:t>
            </a:r>
            <a:r>
              <a:rPr sz="1700" spc="-20" dirty="0">
                <a:solidFill>
                  <a:srgbClr val="404040"/>
                </a:solidFill>
                <a:latin typeface="Times New Roman"/>
                <a:cs typeface="Times New Roman"/>
              </a:rPr>
              <a:t> </a:t>
            </a:r>
            <a:r>
              <a:rPr sz="1700" dirty="0">
                <a:solidFill>
                  <a:srgbClr val="404040"/>
                </a:solidFill>
                <a:latin typeface="Times New Roman"/>
                <a:cs typeface="Times New Roman"/>
              </a:rPr>
              <a:t>relation,</a:t>
            </a:r>
            <a:r>
              <a:rPr sz="1700" spc="-25" dirty="0">
                <a:solidFill>
                  <a:srgbClr val="404040"/>
                </a:solidFill>
                <a:latin typeface="Times New Roman"/>
                <a:cs typeface="Times New Roman"/>
              </a:rPr>
              <a:t> </a:t>
            </a:r>
            <a:r>
              <a:rPr sz="1700" dirty="0">
                <a:solidFill>
                  <a:srgbClr val="404040"/>
                </a:solidFill>
                <a:latin typeface="Times New Roman"/>
                <a:cs typeface="Times New Roman"/>
              </a:rPr>
              <a:t>then</a:t>
            </a:r>
            <a:r>
              <a:rPr sz="1700" spc="-15" dirty="0">
                <a:solidFill>
                  <a:srgbClr val="404040"/>
                </a:solidFill>
                <a:latin typeface="Times New Roman"/>
                <a:cs typeface="Times New Roman"/>
              </a:rPr>
              <a:t> </a:t>
            </a:r>
            <a:r>
              <a:rPr sz="1700" dirty="0">
                <a:solidFill>
                  <a:srgbClr val="404040"/>
                </a:solidFill>
                <a:latin typeface="Times New Roman"/>
                <a:cs typeface="Times New Roman"/>
              </a:rPr>
              <a:t>(a,</a:t>
            </a:r>
            <a:r>
              <a:rPr sz="1700" spc="-30" dirty="0">
                <a:solidFill>
                  <a:srgbClr val="404040"/>
                </a:solidFill>
                <a:latin typeface="Times New Roman"/>
                <a:cs typeface="Times New Roman"/>
              </a:rPr>
              <a:t> </a:t>
            </a:r>
            <a:r>
              <a:rPr sz="1700" spc="-25" dirty="0">
                <a:solidFill>
                  <a:srgbClr val="404040"/>
                </a:solidFill>
                <a:latin typeface="Times New Roman"/>
                <a:cs typeface="Times New Roman"/>
              </a:rPr>
              <a:t>c) </a:t>
            </a:r>
            <a:r>
              <a:rPr sz="1700" dirty="0">
                <a:solidFill>
                  <a:srgbClr val="404040"/>
                </a:solidFill>
                <a:latin typeface="Times New Roman"/>
                <a:cs typeface="Times New Roman"/>
              </a:rPr>
              <a:t>also</a:t>
            </a:r>
            <a:r>
              <a:rPr sz="1700" spc="-20" dirty="0">
                <a:solidFill>
                  <a:srgbClr val="404040"/>
                </a:solidFill>
                <a:latin typeface="Times New Roman"/>
                <a:cs typeface="Times New Roman"/>
              </a:rPr>
              <a:t> </a:t>
            </a:r>
            <a:r>
              <a:rPr sz="1700" dirty="0">
                <a:solidFill>
                  <a:srgbClr val="404040"/>
                </a:solidFill>
                <a:latin typeface="Times New Roman"/>
                <a:cs typeface="Times New Roman"/>
              </a:rPr>
              <a:t>does.</a:t>
            </a:r>
            <a:r>
              <a:rPr sz="1700" spc="-20" dirty="0">
                <a:solidFill>
                  <a:srgbClr val="404040"/>
                </a:solidFill>
                <a:latin typeface="Times New Roman"/>
                <a:cs typeface="Times New Roman"/>
              </a:rPr>
              <a:t> </a:t>
            </a:r>
            <a:r>
              <a:rPr sz="1700" dirty="0">
                <a:solidFill>
                  <a:srgbClr val="404040"/>
                </a:solidFill>
                <a:latin typeface="Times New Roman"/>
                <a:cs typeface="Times New Roman"/>
              </a:rPr>
              <a:t>For</a:t>
            </a:r>
            <a:r>
              <a:rPr sz="1700" spc="-20" dirty="0">
                <a:solidFill>
                  <a:srgbClr val="404040"/>
                </a:solidFill>
                <a:latin typeface="Times New Roman"/>
                <a:cs typeface="Times New Roman"/>
              </a:rPr>
              <a:t> </a:t>
            </a:r>
            <a:r>
              <a:rPr sz="1700" dirty="0">
                <a:solidFill>
                  <a:srgbClr val="404040"/>
                </a:solidFill>
                <a:latin typeface="Times New Roman"/>
                <a:cs typeface="Times New Roman"/>
              </a:rPr>
              <a:t>instance,</a:t>
            </a:r>
            <a:r>
              <a:rPr sz="1700" spc="-30" dirty="0">
                <a:solidFill>
                  <a:srgbClr val="404040"/>
                </a:solidFill>
                <a:latin typeface="Times New Roman"/>
                <a:cs typeface="Times New Roman"/>
              </a:rPr>
              <a:t> </a:t>
            </a:r>
            <a:r>
              <a:rPr sz="1700" dirty="0">
                <a:solidFill>
                  <a:srgbClr val="404040"/>
                </a:solidFill>
                <a:latin typeface="Times New Roman"/>
                <a:cs typeface="Times New Roman"/>
              </a:rPr>
              <a:t>R4</a:t>
            </a:r>
            <a:r>
              <a:rPr sz="1700" spc="-15" dirty="0">
                <a:solidFill>
                  <a:srgbClr val="404040"/>
                </a:solidFill>
                <a:latin typeface="Times New Roman"/>
                <a:cs typeface="Times New Roman"/>
              </a:rPr>
              <a:t> </a:t>
            </a:r>
            <a:r>
              <a:rPr sz="1700" dirty="0">
                <a:solidFill>
                  <a:srgbClr val="404040"/>
                </a:solidFill>
                <a:latin typeface="Times New Roman"/>
                <a:cs typeface="Times New Roman"/>
              </a:rPr>
              <a:t>is</a:t>
            </a:r>
            <a:r>
              <a:rPr sz="1700" spc="-20" dirty="0">
                <a:solidFill>
                  <a:srgbClr val="404040"/>
                </a:solidFill>
                <a:latin typeface="Times New Roman"/>
                <a:cs typeface="Times New Roman"/>
              </a:rPr>
              <a:t> </a:t>
            </a:r>
            <a:r>
              <a:rPr sz="1700" dirty="0">
                <a:solidFill>
                  <a:srgbClr val="404040"/>
                </a:solidFill>
                <a:latin typeface="Times New Roman"/>
                <a:cs typeface="Times New Roman"/>
              </a:rPr>
              <a:t>transitive,</a:t>
            </a:r>
            <a:r>
              <a:rPr sz="1700" spc="-30" dirty="0">
                <a:solidFill>
                  <a:srgbClr val="404040"/>
                </a:solidFill>
                <a:latin typeface="Times New Roman"/>
                <a:cs typeface="Times New Roman"/>
              </a:rPr>
              <a:t> </a:t>
            </a:r>
            <a:r>
              <a:rPr sz="1700" dirty="0">
                <a:solidFill>
                  <a:srgbClr val="404040"/>
                </a:solidFill>
                <a:latin typeface="Times New Roman"/>
                <a:cs typeface="Times New Roman"/>
              </a:rPr>
              <a:t>because</a:t>
            </a:r>
            <a:r>
              <a:rPr sz="1700" spc="-35" dirty="0">
                <a:solidFill>
                  <a:srgbClr val="404040"/>
                </a:solidFill>
                <a:latin typeface="Times New Roman"/>
                <a:cs typeface="Times New Roman"/>
              </a:rPr>
              <a:t> </a:t>
            </a:r>
            <a:r>
              <a:rPr sz="1700" dirty="0">
                <a:solidFill>
                  <a:srgbClr val="404040"/>
                </a:solidFill>
                <a:latin typeface="Times New Roman"/>
                <a:cs typeface="Times New Roman"/>
              </a:rPr>
              <a:t>of</a:t>
            </a:r>
            <a:r>
              <a:rPr sz="1700" spc="-20" dirty="0">
                <a:solidFill>
                  <a:srgbClr val="404040"/>
                </a:solidFill>
                <a:latin typeface="Times New Roman"/>
                <a:cs typeface="Times New Roman"/>
              </a:rPr>
              <a:t> </a:t>
            </a:r>
            <a:r>
              <a:rPr sz="1700" dirty="0">
                <a:solidFill>
                  <a:srgbClr val="404040"/>
                </a:solidFill>
                <a:latin typeface="Times New Roman"/>
                <a:cs typeface="Times New Roman"/>
              </a:rPr>
              <a:t>(3,</a:t>
            </a:r>
            <a:r>
              <a:rPr sz="1700" spc="-20" dirty="0">
                <a:solidFill>
                  <a:srgbClr val="404040"/>
                </a:solidFill>
                <a:latin typeface="Times New Roman"/>
                <a:cs typeface="Times New Roman"/>
              </a:rPr>
              <a:t> </a:t>
            </a:r>
            <a:r>
              <a:rPr sz="1700" dirty="0">
                <a:solidFill>
                  <a:srgbClr val="404040"/>
                </a:solidFill>
                <a:latin typeface="Times New Roman"/>
                <a:cs typeface="Times New Roman"/>
              </a:rPr>
              <a:t>2)</a:t>
            </a:r>
            <a:r>
              <a:rPr sz="1700" spc="-25" dirty="0">
                <a:solidFill>
                  <a:srgbClr val="404040"/>
                </a:solidFill>
                <a:latin typeface="Times New Roman"/>
                <a:cs typeface="Times New Roman"/>
              </a:rPr>
              <a:t> </a:t>
            </a:r>
            <a:r>
              <a:rPr sz="1700" dirty="0">
                <a:solidFill>
                  <a:srgbClr val="404040"/>
                </a:solidFill>
                <a:latin typeface="Times New Roman"/>
                <a:cs typeface="Times New Roman"/>
              </a:rPr>
              <a:t>and</a:t>
            </a:r>
            <a:r>
              <a:rPr sz="1700" spc="-10" dirty="0">
                <a:solidFill>
                  <a:srgbClr val="404040"/>
                </a:solidFill>
                <a:latin typeface="Times New Roman"/>
                <a:cs typeface="Times New Roman"/>
              </a:rPr>
              <a:t> </a:t>
            </a:r>
            <a:r>
              <a:rPr sz="1700" dirty="0">
                <a:solidFill>
                  <a:srgbClr val="404040"/>
                </a:solidFill>
                <a:latin typeface="Times New Roman"/>
                <a:cs typeface="Times New Roman"/>
              </a:rPr>
              <a:t>(2,</a:t>
            </a:r>
            <a:r>
              <a:rPr sz="1700" spc="-20" dirty="0">
                <a:solidFill>
                  <a:srgbClr val="404040"/>
                </a:solidFill>
                <a:latin typeface="Times New Roman"/>
                <a:cs typeface="Times New Roman"/>
              </a:rPr>
              <a:t> </a:t>
            </a:r>
            <a:r>
              <a:rPr sz="1700" dirty="0">
                <a:solidFill>
                  <a:srgbClr val="404040"/>
                </a:solidFill>
                <a:latin typeface="Times New Roman"/>
                <a:cs typeface="Times New Roman"/>
              </a:rPr>
              <a:t>1),</a:t>
            </a:r>
            <a:r>
              <a:rPr sz="1700" spc="-25" dirty="0">
                <a:solidFill>
                  <a:srgbClr val="404040"/>
                </a:solidFill>
                <a:latin typeface="Times New Roman"/>
                <a:cs typeface="Times New Roman"/>
              </a:rPr>
              <a:t> </a:t>
            </a:r>
            <a:r>
              <a:rPr sz="1700" dirty="0">
                <a:solidFill>
                  <a:srgbClr val="404040"/>
                </a:solidFill>
                <a:latin typeface="Times New Roman"/>
                <a:cs typeface="Times New Roman"/>
              </a:rPr>
              <a:t>(4,</a:t>
            </a:r>
            <a:r>
              <a:rPr sz="1700" spc="-20" dirty="0">
                <a:solidFill>
                  <a:srgbClr val="404040"/>
                </a:solidFill>
                <a:latin typeface="Times New Roman"/>
                <a:cs typeface="Times New Roman"/>
              </a:rPr>
              <a:t> </a:t>
            </a:r>
            <a:r>
              <a:rPr sz="1700" dirty="0">
                <a:solidFill>
                  <a:srgbClr val="404040"/>
                </a:solidFill>
                <a:latin typeface="Times New Roman"/>
                <a:cs typeface="Times New Roman"/>
              </a:rPr>
              <a:t>2)</a:t>
            </a:r>
            <a:r>
              <a:rPr sz="1700" spc="-25" dirty="0">
                <a:solidFill>
                  <a:srgbClr val="404040"/>
                </a:solidFill>
                <a:latin typeface="Times New Roman"/>
                <a:cs typeface="Times New Roman"/>
              </a:rPr>
              <a:t> and</a:t>
            </a:r>
            <a:endParaRPr sz="1700" dirty="0">
              <a:latin typeface="Times New Roman"/>
              <a:cs typeface="Times New Roman"/>
            </a:endParaRPr>
          </a:p>
          <a:p>
            <a:pPr marL="12700">
              <a:lnSpc>
                <a:spcPts val="1700"/>
              </a:lnSpc>
            </a:pPr>
            <a:r>
              <a:rPr sz="1700" dirty="0">
                <a:solidFill>
                  <a:srgbClr val="404040"/>
                </a:solidFill>
                <a:latin typeface="Times New Roman"/>
                <a:cs typeface="Times New Roman"/>
              </a:rPr>
              <a:t>(2,</a:t>
            </a:r>
            <a:r>
              <a:rPr sz="1700" spc="-20" dirty="0">
                <a:solidFill>
                  <a:srgbClr val="404040"/>
                </a:solidFill>
                <a:latin typeface="Times New Roman"/>
                <a:cs typeface="Times New Roman"/>
              </a:rPr>
              <a:t> </a:t>
            </a:r>
            <a:r>
              <a:rPr sz="1700" dirty="0">
                <a:solidFill>
                  <a:srgbClr val="404040"/>
                </a:solidFill>
                <a:latin typeface="Times New Roman"/>
                <a:cs typeface="Times New Roman"/>
              </a:rPr>
              <a:t>1),</a:t>
            </a:r>
            <a:r>
              <a:rPr sz="1700" spc="-15" dirty="0">
                <a:solidFill>
                  <a:srgbClr val="404040"/>
                </a:solidFill>
                <a:latin typeface="Times New Roman"/>
                <a:cs typeface="Times New Roman"/>
              </a:rPr>
              <a:t> </a:t>
            </a:r>
            <a:r>
              <a:rPr sz="1700" dirty="0">
                <a:solidFill>
                  <a:srgbClr val="404040"/>
                </a:solidFill>
                <a:latin typeface="Times New Roman"/>
                <a:cs typeface="Times New Roman"/>
              </a:rPr>
              <a:t>(4,</a:t>
            </a:r>
            <a:r>
              <a:rPr sz="1700" spc="-20" dirty="0">
                <a:solidFill>
                  <a:srgbClr val="404040"/>
                </a:solidFill>
                <a:latin typeface="Times New Roman"/>
                <a:cs typeface="Times New Roman"/>
              </a:rPr>
              <a:t> </a:t>
            </a:r>
            <a:r>
              <a:rPr sz="1700" dirty="0">
                <a:solidFill>
                  <a:srgbClr val="404040"/>
                </a:solidFill>
                <a:latin typeface="Times New Roman"/>
                <a:cs typeface="Times New Roman"/>
              </a:rPr>
              <a:t>3)</a:t>
            </a:r>
            <a:r>
              <a:rPr sz="1700" spc="-15" dirty="0">
                <a:solidFill>
                  <a:srgbClr val="404040"/>
                </a:solidFill>
                <a:latin typeface="Times New Roman"/>
                <a:cs typeface="Times New Roman"/>
              </a:rPr>
              <a:t> </a:t>
            </a:r>
            <a:r>
              <a:rPr sz="1700" dirty="0">
                <a:solidFill>
                  <a:srgbClr val="404040"/>
                </a:solidFill>
                <a:latin typeface="Times New Roman"/>
                <a:cs typeface="Times New Roman"/>
              </a:rPr>
              <a:t>and</a:t>
            </a:r>
            <a:r>
              <a:rPr sz="1700" spc="-25" dirty="0">
                <a:solidFill>
                  <a:srgbClr val="404040"/>
                </a:solidFill>
                <a:latin typeface="Times New Roman"/>
                <a:cs typeface="Times New Roman"/>
              </a:rPr>
              <a:t> </a:t>
            </a:r>
            <a:r>
              <a:rPr sz="1700" dirty="0">
                <a:solidFill>
                  <a:srgbClr val="404040"/>
                </a:solidFill>
                <a:latin typeface="Times New Roman"/>
                <a:cs typeface="Times New Roman"/>
              </a:rPr>
              <a:t>(3,</a:t>
            </a:r>
            <a:r>
              <a:rPr sz="1700" spc="-15" dirty="0">
                <a:solidFill>
                  <a:srgbClr val="404040"/>
                </a:solidFill>
                <a:latin typeface="Times New Roman"/>
                <a:cs typeface="Times New Roman"/>
              </a:rPr>
              <a:t> </a:t>
            </a:r>
            <a:r>
              <a:rPr sz="1700" dirty="0">
                <a:solidFill>
                  <a:srgbClr val="404040"/>
                </a:solidFill>
                <a:latin typeface="Times New Roman"/>
                <a:cs typeface="Times New Roman"/>
              </a:rPr>
              <a:t>1),</a:t>
            </a:r>
            <a:r>
              <a:rPr sz="1700" spc="-15" dirty="0">
                <a:solidFill>
                  <a:srgbClr val="404040"/>
                </a:solidFill>
                <a:latin typeface="Times New Roman"/>
                <a:cs typeface="Times New Roman"/>
              </a:rPr>
              <a:t> </a:t>
            </a:r>
            <a:r>
              <a:rPr sz="1700" dirty="0">
                <a:solidFill>
                  <a:srgbClr val="404040"/>
                </a:solidFill>
                <a:latin typeface="Times New Roman"/>
                <a:cs typeface="Times New Roman"/>
              </a:rPr>
              <a:t>and</a:t>
            </a:r>
            <a:r>
              <a:rPr sz="1700" spc="-25" dirty="0">
                <a:solidFill>
                  <a:srgbClr val="404040"/>
                </a:solidFill>
                <a:latin typeface="Times New Roman"/>
                <a:cs typeface="Times New Roman"/>
              </a:rPr>
              <a:t> </a:t>
            </a:r>
            <a:r>
              <a:rPr sz="1700" dirty="0">
                <a:solidFill>
                  <a:srgbClr val="404040"/>
                </a:solidFill>
                <a:latin typeface="Times New Roman"/>
                <a:cs typeface="Times New Roman"/>
              </a:rPr>
              <a:t>(4,</a:t>
            </a:r>
            <a:r>
              <a:rPr sz="1700" spc="-15" dirty="0">
                <a:solidFill>
                  <a:srgbClr val="404040"/>
                </a:solidFill>
                <a:latin typeface="Times New Roman"/>
                <a:cs typeface="Times New Roman"/>
              </a:rPr>
              <a:t> </a:t>
            </a:r>
            <a:r>
              <a:rPr sz="1700" dirty="0">
                <a:solidFill>
                  <a:srgbClr val="404040"/>
                </a:solidFill>
                <a:latin typeface="Times New Roman"/>
                <a:cs typeface="Times New Roman"/>
              </a:rPr>
              <a:t>3)</a:t>
            </a:r>
            <a:r>
              <a:rPr sz="1700" spc="-25" dirty="0">
                <a:solidFill>
                  <a:srgbClr val="404040"/>
                </a:solidFill>
                <a:latin typeface="Times New Roman"/>
                <a:cs typeface="Times New Roman"/>
              </a:rPr>
              <a:t> </a:t>
            </a:r>
            <a:r>
              <a:rPr sz="1700" dirty="0">
                <a:solidFill>
                  <a:srgbClr val="404040"/>
                </a:solidFill>
                <a:latin typeface="Times New Roman"/>
                <a:cs typeface="Times New Roman"/>
              </a:rPr>
              <a:t>and</a:t>
            </a:r>
            <a:r>
              <a:rPr sz="1700" spc="-5" dirty="0">
                <a:solidFill>
                  <a:srgbClr val="404040"/>
                </a:solidFill>
                <a:latin typeface="Times New Roman"/>
                <a:cs typeface="Times New Roman"/>
              </a:rPr>
              <a:t> </a:t>
            </a:r>
            <a:r>
              <a:rPr sz="1700" dirty="0">
                <a:solidFill>
                  <a:srgbClr val="404040"/>
                </a:solidFill>
                <a:latin typeface="Times New Roman"/>
                <a:cs typeface="Times New Roman"/>
              </a:rPr>
              <a:t>(3,</a:t>
            </a:r>
            <a:r>
              <a:rPr sz="1700" spc="-15" dirty="0">
                <a:solidFill>
                  <a:srgbClr val="404040"/>
                </a:solidFill>
                <a:latin typeface="Times New Roman"/>
                <a:cs typeface="Times New Roman"/>
              </a:rPr>
              <a:t> </a:t>
            </a:r>
            <a:r>
              <a:rPr sz="1700" dirty="0">
                <a:solidFill>
                  <a:srgbClr val="404040"/>
                </a:solidFill>
                <a:latin typeface="Times New Roman"/>
                <a:cs typeface="Times New Roman"/>
              </a:rPr>
              <a:t>2)</a:t>
            </a:r>
            <a:r>
              <a:rPr sz="1700" spc="-25" dirty="0">
                <a:solidFill>
                  <a:srgbClr val="404040"/>
                </a:solidFill>
                <a:latin typeface="Times New Roman"/>
                <a:cs typeface="Times New Roman"/>
              </a:rPr>
              <a:t> </a:t>
            </a:r>
            <a:r>
              <a:rPr sz="1700" dirty="0">
                <a:solidFill>
                  <a:srgbClr val="404040"/>
                </a:solidFill>
                <a:latin typeface="Times New Roman"/>
                <a:cs typeface="Times New Roman"/>
              </a:rPr>
              <a:t>are</a:t>
            </a:r>
            <a:r>
              <a:rPr sz="1700" spc="-25" dirty="0">
                <a:solidFill>
                  <a:srgbClr val="404040"/>
                </a:solidFill>
                <a:latin typeface="Times New Roman"/>
                <a:cs typeface="Times New Roman"/>
              </a:rPr>
              <a:t> </a:t>
            </a:r>
            <a:r>
              <a:rPr sz="1700" dirty="0">
                <a:solidFill>
                  <a:srgbClr val="404040"/>
                </a:solidFill>
                <a:latin typeface="Times New Roman"/>
                <a:cs typeface="Times New Roman"/>
              </a:rPr>
              <a:t>the</a:t>
            </a:r>
            <a:r>
              <a:rPr sz="1700" spc="-15" dirty="0">
                <a:solidFill>
                  <a:srgbClr val="404040"/>
                </a:solidFill>
                <a:latin typeface="Times New Roman"/>
                <a:cs typeface="Times New Roman"/>
              </a:rPr>
              <a:t> </a:t>
            </a:r>
            <a:r>
              <a:rPr sz="1700" dirty="0">
                <a:solidFill>
                  <a:srgbClr val="404040"/>
                </a:solidFill>
                <a:latin typeface="Times New Roman"/>
                <a:cs typeface="Times New Roman"/>
              </a:rPr>
              <a:t>only</a:t>
            </a:r>
            <a:r>
              <a:rPr sz="1700" spc="-10" dirty="0">
                <a:solidFill>
                  <a:srgbClr val="404040"/>
                </a:solidFill>
                <a:latin typeface="Times New Roman"/>
                <a:cs typeface="Times New Roman"/>
              </a:rPr>
              <a:t> </a:t>
            </a:r>
            <a:r>
              <a:rPr sz="1700" dirty="0">
                <a:solidFill>
                  <a:srgbClr val="404040"/>
                </a:solidFill>
                <a:latin typeface="Times New Roman"/>
                <a:cs typeface="Times New Roman"/>
              </a:rPr>
              <a:t>such</a:t>
            </a:r>
            <a:r>
              <a:rPr sz="1700" spc="-15" dirty="0">
                <a:solidFill>
                  <a:srgbClr val="404040"/>
                </a:solidFill>
                <a:latin typeface="Times New Roman"/>
                <a:cs typeface="Times New Roman"/>
              </a:rPr>
              <a:t> </a:t>
            </a:r>
            <a:r>
              <a:rPr sz="1700" dirty="0">
                <a:solidFill>
                  <a:srgbClr val="404040"/>
                </a:solidFill>
                <a:latin typeface="Times New Roman"/>
                <a:cs typeface="Times New Roman"/>
              </a:rPr>
              <a:t>sets</a:t>
            </a:r>
            <a:r>
              <a:rPr sz="1700" spc="-20" dirty="0">
                <a:solidFill>
                  <a:srgbClr val="404040"/>
                </a:solidFill>
                <a:latin typeface="Times New Roman"/>
                <a:cs typeface="Times New Roman"/>
              </a:rPr>
              <a:t> </a:t>
            </a:r>
            <a:r>
              <a:rPr sz="1700" dirty="0">
                <a:solidFill>
                  <a:srgbClr val="404040"/>
                </a:solidFill>
                <a:latin typeface="Times New Roman"/>
                <a:cs typeface="Times New Roman"/>
              </a:rPr>
              <a:t>of</a:t>
            </a:r>
            <a:r>
              <a:rPr sz="1700" spc="-20" dirty="0">
                <a:solidFill>
                  <a:srgbClr val="404040"/>
                </a:solidFill>
                <a:latin typeface="Times New Roman"/>
                <a:cs typeface="Times New Roman"/>
              </a:rPr>
              <a:t> </a:t>
            </a:r>
            <a:r>
              <a:rPr sz="1700" dirty="0">
                <a:solidFill>
                  <a:srgbClr val="404040"/>
                </a:solidFill>
                <a:latin typeface="Times New Roman"/>
                <a:cs typeface="Times New Roman"/>
              </a:rPr>
              <a:t>pairs,</a:t>
            </a:r>
            <a:r>
              <a:rPr sz="1700" spc="-30" dirty="0">
                <a:solidFill>
                  <a:srgbClr val="404040"/>
                </a:solidFill>
                <a:latin typeface="Times New Roman"/>
                <a:cs typeface="Times New Roman"/>
              </a:rPr>
              <a:t> </a:t>
            </a:r>
            <a:r>
              <a:rPr sz="1700" spc="-25" dirty="0">
                <a:solidFill>
                  <a:srgbClr val="404040"/>
                </a:solidFill>
                <a:latin typeface="Times New Roman"/>
                <a:cs typeface="Times New Roman"/>
              </a:rPr>
              <a:t>and</a:t>
            </a:r>
            <a:endParaRPr sz="1700" dirty="0">
              <a:latin typeface="Times New Roman"/>
              <a:cs typeface="Times New Roman"/>
            </a:endParaRPr>
          </a:p>
          <a:p>
            <a:pPr marL="12700">
              <a:lnSpc>
                <a:spcPts val="1939"/>
              </a:lnSpc>
            </a:pPr>
            <a:r>
              <a:rPr sz="1700" dirty="0">
                <a:solidFill>
                  <a:srgbClr val="404040"/>
                </a:solidFill>
                <a:latin typeface="Times New Roman"/>
                <a:cs typeface="Times New Roman"/>
              </a:rPr>
              <a:t>(3,</a:t>
            </a:r>
            <a:r>
              <a:rPr sz="1700" spc="-20" dirty="0">
                <a:solidFill>
                  <a:srgbClr val="404040"/>
                </a:solidFill>
                <a:latin typeface="Times New Roman"/>
                <a:cs typeface="Times New Roman"/>
              </a:rPr>
              <a:t> </a:t>
            </a:r>
            <a:r>
              <a:rPr sz="1700" dirty="0">
                <a:solidFill>
                  <a:srgbClr val="404040"/>
                </a:solidFill>
                <a:latin typeface="Times New Roman"/>
                <a:cs typeface="Times New Roman"/>
              </a:rPr>
              <a:t>1),</a:t>
            </a:r>
            <a:r>
              <a:rPr sz="1700" spc="-20" dirty="0">
                <a:solidFill>
                  <a:srgbClr val="404040"/>
                </a:solidFill>
                <a:latin typeface="Times New Roman"/>
                <a:cs typeface="Times New Roman"/>
              </a:rPr>
              <a:t> </a:t>
            </a:r>
            <a:r>
              <a:rPr sz="1700" dirty="0">
                <a:solidFill>
                  <a:srgbClr val="404040"/>
                </a:solidFill>
                <a:latin typeface="Times New Roman"/>
                <a:cs typeface="Times New Roman"/>
              </a:rPr>
              <a:t>(4,</a:t>
            </a:r>
            <a:r>
              <a:rPr sz="1700" spc="-20" dirty="0">
                <a:solidFill>
                  <a:srgbClr val="404040"/>
                </a:solidFill>
                <a:latin typeface="Times New Roman"/>
                <a:cs typeface="Times New Roman"/>
              </a:rPr>
              <a:t> </a:t>
            </a:r>
            <a:r>
              <a:rPr sz="1700" dirty="0">
                <a:solidFill>
                  <a:srgbClr val="404040"/>
                </a:solidFill>
                <a:latin typeface="Times New Roman"/>
                <a:cs typeface="Times New Roman"/>
              </a:rPr>
              <a:t>1),</a:t>
            </a:r>
            <a:r>
              <a:rPr sz="1700" spc="-20" dirty="0">
                <a:solidFill>
                  <a:srgbClr val="404040"/>
                </a:solidFill>
                <a:latin typeface="Times New Roman"/>
                <a:cs typeface="Times New Roman"/>
              </a:rPr>
              <a:t> </a:t>
            </a:r>
            <a:r>
              <a:rPr sz="1700" dirty="0">
                <a:solidFill>
                  <a:srgbClr val="404040"/>
                </a:solidFill>
                <a:latin typeface="Times New Roman"/>
                <a:cs typeface="Times New Roman"/>
              </a:rPr>
              <a:t>and</a:t>
            </a:r>
            <a:r>
              <a:rPr sz="1700" spc="-20" dirty="0">
                <a:solidFill>
                  <a:srgbClr val="404040"/>
                </a:solidFill>
                <a:latin typeface="Times New Roman"/>
                <a:cs typeface="Times New Roman"/>
              </a:rPr>
              <a:t> </a:t>
            </a:r>
            <a:r>
              <a:rPr sz="1700" dirty="0">
                <a:solidFill>
                  <a:srgbClr val="404040"/>
                </a:solidFill>
                <a:latin typeface="Times New Roman"/>
                <a:cs typeface="Times New Roman"/>
              </a:rPr>
              <a:t>(4,</a:t>
            </a:r>
            <a:r>
              <a:rPr sz="1700" spc="-20" dirty="0">
                <a:solidFill>
                  <a:srgbClr val="404040"/>
                </a:solidFill>
                <a:latin typeface="Times New Roman"/>
                <a:cs typeface="Times New Roman"/>
              </a:rPr>
              <a:t> </a:t>
            </a:r>
            <a:r>
              <a:rPr sz="1700" dirty="0">
                <a:solidFill>
                  <a:srgbClr val="404040"/>
                </a:solidFill>
                <a:latin typeface="Times New Roman"/>
                <a:cs typeface="Times New Roman"/>
              </a:rPr>
              <a:t>2)</a:t>
            </a:r>
            <a:r>
              <a:rPr sz="1700" spc="-20" dirty="0">
                <a:solidFill>
                  <a:srgbClr val="404040"/>
                </a:solidFill>
                <a:latin typeface="Times New Roman"/>
                <a:cs typeface="Times New Roman"/>
              </a:rPr>
              <a:t> </a:t>
            </a:r>
            <a:r>
              <a:rPr sz="1700" dirty="0">
                <a:solidFill>
                  <a:srgbClr val="404040"/>
                </a:solidFill>
                <a:latin typeface="Times New Roman"/>
                <a:cs typeface="Times New Roman"/>
              </a:rPr>
              <a:t>belong</a:t>
            </a:r>
            <a:r>
              <a:rPr sz="1700" spc="-25" dirty="0">
                <a:solidFill>
                  <a:srgbClr val="404040"/>
                </a:solidFill>
                <a:latin typeface="Times New Roman"/>
                <a:cs typeface="Times New Roman"/>
              </a:rPr>
              <a:t> </a:t>
            </a:r>
            <a:r>
              <a:rPr sz="1700" dirty="0">
                <a:solidFill>
                  <a:srgbClr val="404040"/>
                </a:solidFill>
                <a:latin typeface="Times New Roman"/>
                <a:cs typeface="Times New Roman"/>
              </a:rPr>
              <a:t>to</a:t>
            </a:r>
            <a:r>
              <a:rPr sz="1700" spc="-20" dirty="0">
                <a:solidFill>
                  <a:srgbClr val="404040"/>
                </a:solidFill>
                <a:latin typeface="Times New Roman"/>
                <a:cs typeface="Times New Roman"/>
              </a:rPr>
              <a:t> </a:t>
            </a:r>
            <a:r>
              <a:rPr sz="1700" spc="-25" dirty="0">
                <a:solidFill>
                  <a:srgbClr val="404040"/>
                </a:solidFill>
                <a:latin typeface="Times New Roman"/>
                <a:cs typeface="Times New Roman"/>
              </a:rPr>
              <a:t>R4.</a:t>
            </a:r>
            <a:endParaRPr sz="1700" dirty="0">
              <a:latin typeface="Times New Roman"/>
              <a:cs typeface="Times New Roman"/>
            </a:endParaRPr>
          </a:p>
          <a:p>
            <a:pPr marL="12700">
              <a:lnSpc>
                <a:spcPts val="1939"/>
              </a:lnSpc>
              <a:spcBef>
                <a:spcPts val="800"/>
              </a:spcBef>
            </a:pPr>
            <a:r>
              <a:rPr sz="1700" b="1" dirty="0">
                <a:solidFill>
                  <a:srgbClr val="00AFEF"/>
                </a:solidFill>
                <a:latin typeface="Times New Roman"/>
                <a:cs typeface="Times New Roman"/>
              </a:rPr>
              <a:t>R1</a:t>
            </a:r>
            <a:r>
              <a:rPr sz="1700" b="1" spc="-20" dirty="0">
                <a:solidFill>
                  <a:srgbClr val="00AFEF"/>
                </a:solidFill>
                <a:latin typeface="Times New Roman"/>
                <a:cs typeface="Times New Roman"/>
              </a:rPr>
              <a:t> </a:t>
            </a:r>
            <a:r>
              <a:rPr sz="1700" b="1" dirty="0">
                <a:solidFill>
                  <a:srgbClr val="00AFEF"/>
                </a:solidFill>
                <a:latin typeface="Times New Roman"/>
                <a:cs typeface="Times New Roman"/>
              </a:rPr>
              <a:t>is</a:t>
            </a:r>
            <a:r>
              <a:rPr sz="1700" b="1" spc="-20" dirty="0">
                <a:solidFill>
                  <a:srgbClr val="00AFEF"/>
                </a:solidFill>
                <a:latin typeface="Times New Roman"/>
                <a:cs typeface="Times New Roman"/>
              </a:rPr>
              <a:t> </a:t>
            </a:r>
            <a:r>
              <a:rPr sz="1700" b="1" dirty="0">
                <a:solidFill>
                  <a:srgbClr val="00AFEF"/>
                </a:solidFill>
                <a:latin typeface="Times New Roman"/>
                <a:cs typeface="Times New Roman"/>
              </a:rPr>
              <a:t>not</a:t>
            </a:r>
            <a:r>
              <a:rPr sz="1700" b="1" spc="-10" dirty="0">
                <a:solidFill>
                  <a:srgbClr val="00AFEF"/>
                </a:solidFill>
                <a:latin typeface="Times New Roman"/>
                <a:cs typeface="Times New Roman"/>
              </a:rPr>
              <a:t> </a:t>
            </a:r>
            <a:r>
              <a:rPr sz="1700" b="1" dirty="0">
                <a:solidFill>
                  <a:srgbClr val="00AFEF"/>
                </a:solidFill>
                <a:latin typeface="Times New Roman"/>
                <a:cs typeface="Times New Roman"/>
              </a:rPr>
              <a:t>transitive</a:t>
            </a:r>
            <a:r>
              <a:rPr sz="1700" b="1" spc="-20" dirty="0">
                <a:solidFill>
                  <a:srgbClr val="00AFEF"/>
                </a:solidFill>
                <a:latin typeface="Times New Roman"/>
                <a:cs typeface="Times New Roman"/>
              </a:rPr>
              <a:t> </a:t>
            </a:r>
            <a:r>
              <a:rPr sz="1700" dirty="0">
                <a:solidFill>
                  <a:srgbClr val="404040"/>
                </a:solidFill>
                <a:latin typeface="Times New Roman"/>
                <a:cs typeface="Times New Roman"/>
              </a:rPr>
              <a:t>because</a:t>
            </a:r>
            <a:r>
              <a:rPr sz="1700" spc="-35" dirty="0">
                <a:solidFill>
                  <a:srgbClr val="404040"/>
                </a:solidFill>
                <a:latin typeface="Times New Roman"/>
                <a:cs typeface="Times New Roman"/>
              </a:rPr>
              <a:t> </a:t>
            </a:r>
            <a:r>
              <a:rPr sz="1700" dirty="0">
                <a:solidFill>
                  <a:srgbClr val="404040"/>
                </a:solidFill>
                <a:latin typeface="Times New Roman"/>
                <a:cs typeface="Times New Roman"/>
              </a:rPr>
              <a:t>(3,</a:t>
            </a:r>
            <a:r>
              <a:rPr sz="1700" spc="-25" dirty="0">
                <a:solidFill>
                  <a:srgbClr val="404040"/>
                </a:solidFill>
                <a:latin typeface="Times New Roman"/>
                <a:cs typeface="Times New Roman"/>
              </a:rPr>
              <a:t> </a:t>
            </a:r>
            <a:r>
              <a:rPr sz="1700" dirty="0">
                <a:solidFill>
                  <a:srgbClr val="404040"/>
                </a:solidFill>
                <a:latin typeface="Times New Roman"/>
                <a:cs typeface="Times New Roman"/>
              </a:rPr>
              <a:t>4)</a:t>
            </a:r>
            <a:r>
              <a:rPr sz="1700" spc="-25" dirty="0">
                <a:solidFill>
                  <a:srgbClr val="404040"/>
                </a:solidFill>
                <a:latin typeface="Times New Roman"/>
                <a:cs typeface="Times New Roman"/>
              </a:rPr>
              <a:t> </a:t>
            </a:r>
            <a:r>
              <a:rPr sz="1700" dirty="0">
                <a:solidFill>
                  <a:srgbClr val="404040"/>
                </a:solidFill>
                <a:latin typeface="Times New Roman"/>
                <a:cs typeface="Times New Roman"/>
              </a:rPr>
              <a:t>and</a:t>
            </a:r>
            <a:r>
              <a:rPr sz="1700" spc="-10" dirty="0">
                <a:solidFill>
                  <a:srgbClr val="404040"/>
                </a:solidFill>
                <a:latin typeface="Times New Roman"/>
                <a:cs typeface="Times New Roman"/>
              </a:rPr>
              <a:t> </a:t>
            </a:r>
            <a:r>
              <a:rPr sz="1700" dirty="0">
                <a:solidFill>
                  <a:srgbClr val="404040"/>
                </a:solidFill>
                <a:latin typeface="Times New Roman"/>
                <a:cs typeface="Times New Roman"/>
              </a:rPr>
              <a:t>(4,</a:t>
            </a:r>
            <a:r>
              <a:rPr sz="1700" spc="-20" dirty="0">
                <a:solidFill>
                  <a:srgbClr val="404040"/>
                </a:solidFill>
                <a:latin typeface="Times New Roman"/>
                <a:cs typeface="Times New Roman"/>
              </a:rPr>
              <a:t> </a:t>
            </a:r>
            <a:r>
              <a:rPr sz="1700" dirty="0">
                <a:solidFill>
                  <a:srgbClr val="404040"/>
                </a:solidFill>
                <a:latin typeface="Times New Roman"/>
                <a:cs typeface="Times New Roman"/>
              </a:rPr>
              <a:t>1)</a:t>
            </a:r>
            <a:r>
              <a:rPr sz="1700" spc="-25" dirty="0">
                <a:solidFill>
                  <a:srgbClr val="404040"/>
                </a:solidFill>
                <a:latin typeface="Times New Roman"/>
                <a:cs typeface="Times New Roman"/>
              </a:rPr>
              <a:t> </a:t>
            </a:r>
            <a:r>
              <a:rPr sz="1700" dirty="0">
                <a:solidFill>
                  <a:srgbClr val="404040"/>
                </a:solidFill>
                <a:latin typeface="Times New Roman"/>
                <a:cs typeface="Times New Roman"/>
              </a:rPr>
              <a:t>belong</a:t>
            </a:r>
            <a:r>
              <a:rPr sz="1700" spc="-30" dirty="0">
                <a:solidFill>
                  <a:srgbClr val="404040"/>
                </a:solidFill>
                <a:latin typeface="Times New Roman"/>
                <a:cs typeface="Times New Roman"/>
              </a:rPr>
              <a:t> </a:t>
            </a:r>
            <a:r>
              <a:rPr sz="1700" dirty="0">
                <a:solidFill>
                  <a:srgbClr val="404040"/>
                </a:solidFill>
                <a:latin typeface="Times New Roman"/>
                <a:cs typeface="Times New Roman"/>
              </a:rPr>
              <a:t>to</a:t>
            </a:r>
            <a:r>
              <a:rPr sz="1700" spc="-20" dirty="0">
                <a:solidFill>
                  <a:srgbClr val="404040"/>
                </a:solidFill>
                <a:latin typeface="Times New Roman"/>
                <a:cs typeface="Times New Roman"/>
              </a:rPr>
              <a:t> </a:t>
            </a:r>
            <a:r>
              <a:rPr sz="1700" dirty="0">
                <a:solidFill>
                  <a:srgbClr val="404040"/>
                </a:solidFill>
                <a:latin typeface="Times New Roman"/>
                <a:cs typeface="Times New Roman"/>
              </a:rPr>
              <a:t>R1,</a:t>
            </a:r>
            <a:r>
              <a:rPr sz="1700" spc="-20" dirty="0">
                <a:solidFill>
                  <a:srgbClr val="404040"/>
                </a:solidFill>
                <a:latin typeface="Times New Roman"/>
                <a:cs typeface="Times New Roman"/>
              </a:rPr>
              <a:t> </a:t>
            </a:r>
            <a:r>
              <a:rPr sz="1700" dirty="0">
                <a:solidFill>
                  <a:srgbClr val="404040"/>
                </a:solidFill>
                <a:latin typeface="Times New Roman"/>
                <a:cs typeface="Times New Roman"/>
              </a:rPr>
              <a:t>but</a:t>
            </a:r>
            <a:r>
              <a:rPr sz="1700" spc="-20" dirty="0">
                <a:solidFill>
                  <a:srgbClr val="404040"/>
                </a:solidFill>
                <a:latin typeface="Times New Roman"/>
                <a:cs typeface="Times New Roman"/>
              </a:rPr>
              <a:t> </a:t>
            </a:r>
            <a:r>
              <a:rPr sz="1700" dirty="0">
                <a:solidFill>
                  <a:srgbClr val="404040"/>
                </a:solidFill>
                <a:latin typeface="Times New Roman"/>
                <a:cs typeface="Times New Roman"/>
              </a:rPr>
              <a:t>(3,</a:t>
            </a:r>
            <a:r>
              <a:rPr sz="1700" spc="-15" dirty="0">
                <a:solidFill>
                  <a:srgbClr val="404040"/>
                </a:solidFill>
                <a:latin typeface="Times New Roman"/>
                <a:cs typeface="Times New Roman"/>
              </a:rPr>
              <a:t> </a:t>
            </a:r>
            <a:r>
              <a:rPr sz="1700" dirty="0">
                <a:solidFill>
                  <a:srgbClr val="404040"/>
                </a:solidFill>
                <a:latin typeface="Times New Roman"/>
                <a:cs typeface="Times New Roman"/>
              </a:rPr>
              <a:t>1)</a:t>
            </a:r>
            <a:r>
              <a:rPr sz="1700" spc="-30" dirty="0">
                <a:solidFill>
                  <a:srgbClr val="404040"/>
                </a:solidFill>
                <a:latin typeface="Times New Roman"/>
                <a:cs typeface="Times New Roman"/>
              </a:rPr>
              <a:t> </a:t>
            </a:r>
            <a:r>
              <a:rPr sz="1700" dirty="0">
                <a:solidFill>
                  <a:srgbClr val="404040"/>
                </a:solidFill>
                <a:latin typeface="Times New Roman"/>
                <a:cs typeface="Times New Roman"/>
              </a:rPr>
              <a:t>does</a:t>
            </a:r>
            <a:r>
              <a:rPr sz="1700" spc="-25" dirty="0">
                <a:solidFill>
                  <a:srgbClr val="404040"/>
                </a:solidFill>
                <a:latin typeface="Times New Roman"/>
                <a:cs typeface="Times New Roman"/>
              </a:rPr>
              <a:t> </a:t>
            </a:r>
            <a:r>
              <a:rPr sz="1700" spc="-20" dirty="0">
                <a:solidFill>
                  <a:srgbClr val="404040"/>
                </a:solidFill>
                <a:latin typeface="Times New Roman"/>
                <a:cs typeface="Times New Roman"/>
              </a:rPr>
              <a:t>not.</a:t>
            </a:r>
            <a:endParaRPr sz="1700" dirty="0">
              <a:latin typeface="Times New Roman"/>
              <a:cs typeface="Times New Roman"/>
            </a:endParaRPr>
          </a:p>
          <a:p>
            <a:pPr marL="12700">
              <a:lnSpc>
                <a:spcPts val="1835"/>
              </a:lnSpc>
            </a:pPr>
            <a:r>
              <a:rPr sz="1700" b="1" dirty="0">
                <a:solidFill>
                  <a:srgbClr val="00AFEF"/>
                </a:solidFill>
                <a:latin typeface="Times New Roman"/>
                <a:cs typeface="Times New Roman"/>
              </a:rPr>
              <a:t>R2</a:t>
            </a:r>
            <a:r>
              <a:rPr sz="1700" b="1" spc="-20" dirty="0">
                <a:solidFill>
                  <a:srgbClr val="00AFEF"/>
                </a:solidFill>
                <a:latin typeface="Times New Roman"/>
                <a:cs typeface="Times New Roman"/>
              </a:rPr>
              <a:t> </a:t>
            </a:r>
            <a:r>
              <a:rPr sz="1700" b="1" dirty="0">
                <a:solidFill>
                  <a:srgbClr val="00AFEF"/>
                </a:solidFill>
                <a:latin typeface="Times New Roman"/>
                <a:cs typeface="Times New Roman"/>
              </a:rPr>
              <a:t>is</a:t>
            </a:r>
            <a:r>
              <a:rPr sz="1700" b="1" spc="-20" dirty="0">
                <a:solidFill>
                  <a:srgbClr val="00AFEF"/>
                </a:solidFill>
                <a:latin typeface="Times New Roman"/>
                <a:cs typeface="Times New Roman"/>
              </a:rPr>
              <a:t> </a:t>
            </a:r>
            <a:r>
              <a:rPr sz="1700" b="1" dirty="0">
                <a:solidFill>
                  <a:srgbClr val="00AFEF"/>
                </a:solidFill>
                <a:latin typeface="Times New Roman"/>
                <a:cs typeface="Times New Roman"/>
              </a:rPr>
              <a:t>not</a:t>
            </a:r>
            <a:r>
              <a:rPr sz="1700" b="1" spc="-10" dirty="0">
                <a:solidFill>
                  <a:srgbClr val="00AFEF"/>
                </a:solidFill>
                <a:latin typeface="Times New Roman"/>
                <a:cs typeface="Times New Roman"/>
              </a:rPr>
              <a:t> </a:t>
            </a:r>
            <a:r>
              <a:rPr sz="1700" b="1" dirty="0">
                <a:solidFill>
                  <a:srgbClr val="00AFEF"/>
                </a:solidFill>
                <a:latin typeface="Times New Roman"/>
                <a:cs typeface="Times New Roman"/>
              </a:rPr>
              <a:t>transitive</a:t>
            </a:r>
            <a:r>
              <a:rPr sz="1700" b="1" spc="-20" dirty="0">
                <a:solidFill>
                  <a:srgbClr val="00AFEF"/>
                </a:solidFill>
                <a:latin typeface="Times New Roman"/>
                <a:cs typeface="Times New Roman"/>
              </a:rPr>
              <a:t> </a:t>
            </a:r>
            <a:r>
              <a:rPr sz="1700" dirty="0">
                <a:solidFill>
                  <a:srgbClr val="404040"/>
                </a:solidFill>
                <a:latin typeface="Times New Roman"/>
                <a:cs typeface="Times New Roman"/>
              </a:rPr>
              <a:t>because</a:t>
            </a:r>
            <a:r>
              <a:rPr sz="1700" spc="-35" dirty="0">
                <a:solidFill>
                  <a:srgbClr val="404040"/>
                </a:solidFill>
                <a:latin typeface="Times New Roman"/>
                <a:cs typeface="Times New Roman"/>
              </a:rPr>
              <a:t> </a:t>
            </a:r>
            <a:r>
              <a:rPr sz="1700" dirty="0">
                <a:solidFill>
                  <a:srgbClr val="404040"/>
                </a:solidFill>
                <a:latin typeface="Times New Roman"/>
                <a:cs typeface="Times New Roman"/>
              </a:rPr>
              <a:t>(2,</a:t>
            </a:r>
            <a:r>
              <a:rPr sz="1700" spc="-25" dirty="0">
                <a:solidFill>
                  <a:srgbClr val="404040"/>
                </a:solidFill>
                <a:latin typeface="Times New Roman"/>
                <a:cs typeface="Times New Roman"/>
              </a:rPr>
              <a:t> </a:t>
            </a:r>
            <a:r>
              <a:rPr sz="1700" dirty="0">
                <a:solidFill>
                  <a:srgbClr val="404040"/>
                </a:solidFill>
                <a:latin typeface="Times New Roman"/>
                <a:cs typeface="Times New Roman"/>
              </a:rPr>
              <a:t>1)</a:t>
            </a:r>
            <a:r>
              <a:rPr sz="1700" spc="-25" dirty="0">
                <a:solidFill>
                  <a:srgbClr val="404040"/>
                </a:solidFill>
                <a:latin typeface="Times New Roman"/>
                <a:cs typeface="Times New Roman"/>
              </a:rPr>
              <a:t> </a:t>
            </a:r>
            <a:r>
              <a:rPr sz="1700" dirty="0">
                <a:solidFill>
                  <a:srgbClr val="404040"/>
                </a:solidFill>
                <a:latin typeface="Times New Roman"/>
                <a:cs typeface="Times New Roman"/>
              </a:rPr>
              <a:t>and</a:t>
            </a:r>
            <a:r>
              <a:rPr sz="1700" spc="-10" dirty="0">
                <a:solidFill>
                  <a:srgbClr val="404040"/>
                </a:solidFill>
                <a:latin typeface="Times New Roman"/>
                <a:cs typeface="Times New Roman"/>
              </a:rPr>
              <a:t> </a:t>
            </a:r>
            <a:r>
              <a:rPr sz="1700" dirty="0">
                <a:solidFill>
                  <a:srgbClr val="404040"/>
                </a:solidFill>
                <a:latin typeface="Times New Roman"/>
                <a:cs typeface="Times New Roman"/>
              </a:rPr>
              <a:t>(1,</a:t>
            </a:r>
            <a:r>
              <a:rPr sz="1700" spc="-20" dirty="0">
                <a:solidFill>
                  <a:srgbClr val="404040"/>
                </a:solidFill>
                <a:latin typeface="Times New Roman"/>
                <a:cs typeface="Times New Roman"/>
              </a:rPr>
              <a:t> </a:t>
            </a:r>
            <a:r>
              <a:rPr sz="1700" dirty="0">
                <a:solidFill>
                  <a:srgbClr val="404040"/>
                </a:solidFill>
                <a:latin typeface="Times New Roman"/>
                <a:cs typeface="Times New Roman"/>
              </a:rPr>
              <a:t>2)</a:t>
            </a:r>
            <a:r>
              <a:rPr sz="1700" spc="-25" dirty="0">
                <a:solidFill>
                  <a:srgbClr val="404040"/>
                </a:solidFill>
                <a:latin typeface="Times New Roman"/>
                <a:cs typeface="Times New Roman"/>
              </a:rPr>
              <a:t> </a:t>
            </a:r>
            <a:r>
              <a:rPr sz="1700" dirty="0">
                <a:solidFill>
                  <a:srgbClr val="404040"/>
                </a:solidFill>
                <a:latin typeface="Times New Roman"/>
                <a:cs typeface="Times New Roman"/>
              </a:rPr>
              <a:t>belong</a:t>
            </a:r>
            <a:r>
              <a:rPr sz="1700" spc="-30" dirty="0">
                <a:solidFill>
                  <a:srgbClr val="404040"/>
                </a:solidFill>
                <a:latin typeface="Times New Roman"/>
                <a:cs typeface="Times New Roman"/>
              </a:rPr>
              <a:t> </a:t>
            </a:r>
            <a:r>
              <a:rPr sz="1700" dirty="0">
                <a:solidFill>
                  <a:srgbClr val="404040"/>
                </a:solidFill>
                <a:latin typeface="Times New Roman"/>
                <a:cs typeface="Times New Roman"/>
              </a:rPr>
              <a:t>to</a:t>
            </a:r>
            <a:r>
              <a:rPr sz="1700" spc="-20" dirty="0">
                <a:solidFill>
                  <a:srgbClr val="404040"/>
                </a:solidFill>
                <a:latin typeface="Times New Roman"/>
                <a:cs typeface="Times New Roman"/>
              </a:rPr>
              <a:t> </a:t>
            </a:r>
            <a:r>
              <a:rPr sz="1700" dirty="0">
                <a:solidFill>
                  <a:srgbClr val="404040"/>
                </a:solidFill>
                <a:latin typeface="Times New Roman"/>
                <a:cs typeface="Times New Roman"/>
              </a:rPr>
              <a:t>R2,</a:t>
            </a:r>
            <a:r>
              <a:rPr sz="1700" spc="-20" dirty="0">
                <a:solidFill>
                  <a:srgbClr val="404040"/>
                </a:solidFill>
                <a:latin typeface="Times New Roman"/>
                <a:cs typeface="Times New Roman"/>
              </a:rPr>
              <a:t> </a:t>
            </a:r>
            <a:r>
              <a:rPr sz="1700" dirty="0">
                <a:solidFill>
                  <a:srgbClr val="404040"/>
                </a:solidFill>
                <a:latin typeface="Times New Roman"/>
                <a:cs typeface="Times New Roman"/>
              </a:rPr>
              <a:t>but</a:t>
            </a:r>
            <a:r>
              <a:rPr sz="1700" spc="-20" dirty="0">
                <a:solidFill>
                  <a:srgbClr val="404040"/>
                </a:solidFill>
                <a:latin typeface="Times New Roman"/>
                <a:cs typeface="Times New Roman"/>
              </a:rPr>
              <a:t> </a:t>
            </a:r>
            <a:r>
              <a:rPr sz="1700" dirty="0">
                <a:solidFill>
                  <a:srgbClr val="404040"/>
                </a:solidFill>
                <a:latin typeface="Times New Roman"/>
                <a:cs typeface="Times New Roman"/>
              </a:rPr>
              <a:t>(2,</a:t>
            </a:r>
            <a:r>
              <a:rPr sz="1700" spc="-15" dirty="0">
                <a:solidFill>
                  <a:srgbClr val="404040"/>
                </a:solidFill>
                <a:latin typeface="Times New Roman"/>
                <a:cs typeface="Times New Roman"/>
              </a:rPr>
              <a:t> </a:t>
            </a:r>
            <a:r>
              <a:rPr sz="1700" dirty="0">
                <a:solidFill>
                  <a:srgbClr val="404040"/>
                </a:solidFill>
                <a:latin typeface="Times New Roman"/>
                <a:cs typeface="Times New Roman"/>
              </a:rPr>
              <a:t>2)</a:t>
            </a:r>
            <a:r>
              <a:rPr sz="1700" spc="-30" dirty="0">
                <a:solidFill>
                  <a:srgbClr val="404040"/>
                </a:solidFill>
                <a:latin typeface="Times New Roman"/>
                <a:cs typeface="Times New Roman"/>
              </a:rPr>
              <a:t> </a:t>
            </a:r>
            <a:r>
              <a:rPr sz="1700" dirty="0">
                <a:solidFill>
                  <a:srgbClr val="404040"/>
                </a:solidFill>
                <a:latin typeface="Times New Roman"/>
                <a:cs typeface="Times New Roman"/>
              </a:rPr>
              <a:t>does</a:t>
            </a:r>
            <a:r>
              <a:rPr sz="1700" spc="-25" dirty="0">
                <a:solidFill>
                  <a:srgbClr val="404040"/>
                </a:solidFill>
                <a:latin typeface="Times New Roman"/>
                <a:cs typeface="Times New Roman"/>
              </a:rPr>
              <a:t> </a:t>
            </a:r>
            <a:r>
              <a:rPr sz="1700" spc="-20" dirty="0">
                <a:solidFill>
                  <a:srgbClr val="404040"/>
                </a:solidFill>
                <a:latin typeface="Times New Roman"/>
                <a:cs typeface="Times New Roman"/>
              </a:rPr>
              <a:t>not.</a:t>
            </a:r>
            <a:endParaRPr sz="1700" dirty="0">
              <a:latin typeface="Times New Roman"/>
              <a:cs typeface="Times New Roman"/>
            </a:endParaRPr>
          </a:p>
          <a:p>
            <a:pPr marL="12700">
              <a:lnSpc>
                <a:spcPts val="1939"/>
              </a:lnSpc>
            </a:pPr>
            <a:r>
              <a:rPr sz="1700" b="1" dirty="0">
                <a:solidFill>
                  <a:srgbClr val="00AFEF"/>
                </a:solidFill>
                <a:latin typeface="Times New Roman"/>
                <a:cs typeface="Times New Roman"/>
              </a:rPr>
              <a:t>R3</a:t>
            </a:r>
            <a:r>
              <a:rPr sz="1700" b="1" spc="-20" dirty="0">
                <a:solidFill>
                  <a:srgbClr val="00AFEF"/>
                </a:solidFill>
                <a:latin typeface="Times New Roman"/>
                <a:cs typeface="Times New Roman"/>
              </a:rPr>
              <a:t> </a:t>
            </a:r>
            <a:r>
              <a:rPr sz="1700" b="1" dirty="0">
                <a:solidFill>
                  <a:srgbClr val="00AFEF"/>
                </a:solidFill>
                <a:latin typeface="Times New Roman"/>
                <a:cs typeface="Times New Roman"/>
              </a:rPr>
              <a:t>is</a:t>
            </a:r>
            <a:r>
              <a:rPr sz="1700" b="1" spc="-20" dirty="0">
                <a:solidFill>
                  <a:srgbClr val="00AFEF"/>
                </a:solidFill>
                <a:latin typeface="Times New Roman"/>
                <a:cs typeface="Times New Roman"/>
              </a:rPr>
              <a:t> </a:t>
            </a:r>
            <a:r>
              <a:rPr sz="1700" b="1" dirty="0">
                <a:solidFill>
                  <a:srgbClr val="00AFEF"/>
                </a:solidFill>
                <a:latin typeface="Times New Roman"/>
                <a:cs typeface="Times New Roman"/>
              </a:rPr>
              <a:t>not</a:t>
            </a:r>
            <a:r>
              <a:rPr sz="1700" b="1" spc="-10" dirty="0">
                <a:solidFill>
                  <a:srgbClr val="00AFEF"/>
                </a:solidFill>
                <a:latin typeface="Times New Roman"/>
                <a:cs typeface="Times New Roman"/>
              </a:rPr>
              <a:t> </a:t>
            </a:r>
            <a:r>
              <a:rPr sz="1700" b="1" dirty="0">
                <a:solidFill>
                  <a:srgbClr val="00AFEF"/>
                </a:solidFill>
                <a:latin typeface="Times New Roman"/>
                <a:cs typeface="Times New Roman"/>
              </a:rPr>
              <a:t>transitive</a:t>
            </a:r>
            <a:r>
              <a:rPr sz="1700" b="1" spc="-20" dirty="0">
                <a:solidFill>
                  <a:srgbClr val="00AFEF"/>
                </a:solidFill>
                <a:latin typeface="Times New Roman"/>
                <a:cs typeface="Times New Roman"/>
              </a:rPr>
              <a:t> </a:t>
            </a:r>
            <a:r>
              <a:rPr sz="1700" dirty="0">
                <a:solidFill>
                  <a:srgbClr val="404040"/>
                </a:solidFill>
                <a:latin typeface="Times New Roman"/>
                <a:cs typeface="Times New Roman"/>
              </a:rPr>
              <a:t>because</a:t>
            </a:r>
            <a:r>
              <a:rPr sz="1700" spc="-35" dirty="0">
                <a:solidFill>
                  <a:srgbClr val="404040"/>
                </a:solidFill>
                <a:latin typeface="Times New Roman"/>
                <a:cs typeface="Times New Roman"/>
              </a:rPr>
              <a:t> </a:t>
            </a:r>
            <a:r>
              <a:rPr sz="1700" dirty="0">
                <a:solidFill>
                  <a:srgbClr val="404040"/>
                </a:solidFill>
                <a:latin typeface="Times New Roman"/>
                <a:cs typeface="Times New Roman"/>
              </a:rPr>
              <a:t>(4,</a:t>
            </a:r>
            <a:r>
              <a:rPr sz="1700" spc="-25" dirty="0">
                <a:solidFill>
                  <a:srgbClr val="404040"/>
                </a:solidFill>
                <a:latin typeface="Times New Roman"/>
                <a:cs typeface="Times New Roman"/>
              </a:rPr>
              <a:t> </a:t>
            </a:r>
            <a:r>
              <a:rPr sz="1700" dirty="0">
                <a:solidFill>
                  <a:srgbClr val="404040"/>
                </a:solidFill>
                <a:latin typeface="Times New Roman"/>
                <a:cs typeface="Times New Roman"/>
              </a:rPr>
              <a:t>1)</a:t>
            </a:r>
            <a:r>
              <a:rPr sz="1700" spc="-25" dirty="0">
                <a:solidFill>
                  <a:srgbClr val="404040"/>
                </a:solidFill>
                <a:latin typeface="Times New Roman"/>
                <a:cs typeface="Times New Roman"/>
              </a:rPr>
              <a:t> </a:t>
            </a:r>
            <a:r>
              <a:rPr sz="1700" dirty="0">
                <a:solidFill>
                  <a:srgbClr val="404040"/>
                </a:solidFill>
                <a:latin typeface="Times New Roman"/>
                <a:cs typeface="Times New Roman"/>
              </a:rPr>
              <a:t>and</a:t>
            </a:r>
            <a:r>
              <a:rPr sz="1700" spc="-10" dirty="0">
                <a:solidFill>
                  <a:srgbClr val="404040"/>
                </a:solidFill>
                <a:latin typeface="Times New Roman"/>
                <a:cs typeface="Times New Roman"/>
              </a:rPr>
              <a:t> </a:t>
            </a:r>
            <a:r>
              <a:rPr sz="1700" dirty="0">
                <a:solidFill>
                  <a:srgbClr val="404040"/>
                </a:solidFill>
                <a:latin typeface="Times New Roman"/>
                <a:cs typeface="Times New Roman"/>
              </a:rPr>
              <a:t>(1,</a:t>
            </a:r>
            <a:r>
              <a:rPr sz="1700" spc="-20" dirty="0">
                <a:solidFill>
                  <a:srgbClr val="404040"/>
                </a:solidFill>
                <a:latin typeface="Times New Roman"/>
                <a:cs typeface="Times New Roman"/>
              </a:rPr>
              <a:t> </a:t>
            </a:r>
            <a:r>
              <a:rPr sz="1700" dirty="0">
                <a:solidFill>
                  <a:srgbClr val="404040"/>
                </a:solidFill>
                <a:latin typeface="Times New Roman"/>
                <a:cs typeface="Times New Roman"/>
              </a:rPr>
              <a:t>2)</a:t>
            </a:r>
            <a:r>
              <a:rPr sz="1700" spc="-25" dirty="0">
                <a:solidFill>
                  <a:srgbClr val="404040"/>
                </a:solidFill>
                <a:latin typeface="Times New Roman"/>
                <a:cs typeface="Times New Roman"/>
              </a:rPr>
              <a:t> </a:t>
            </a:r>
            <a:r>
              <a:rPr sz="1700" dirty="0">
                <a:solidFill>
                  <a:srgbClr val="404040"/>
                </a:solidFill>
                <a:latin typeface="Times New Roman"/>
                <a:cs typeface="Times New Roman"/>
              </a:rPr>
              <a:t>belong</a:t>
            </a:r>
            <a:r>
              <a:rPr sz="1700" spc="-30" dirty="0">
                <a:solidFill>
                  <a:srgbClr val="404040"/>
                </a:solidFill>
                <a:latin typeface="Times New Roman"/>
                <a:cs typeface="Times New Roman"/>
              </a:rPr>
              <a:t> </a:t>
            </a:r>
            <a:r>
              <a:rPr sz="1700" dirty="0">
                <a:solidFill>
                  <a:srgbClr val="404040"/>
                </a:solidFill>
                <a:latin typeface="Times New Roman"/>
                <a:cs typeface="Times New Roman"/>
              </a:rPr>
              <a:t>to</a:t>
            </a:r>
            <a:r>
              <a:rPr sz="1700" spc="-20" dirty="0">
                <a:solidFill>
                  <a:srgbClr val="404040"/>
                </a:solidFill>
                <a:latin typeface="Times New Roman"/>
                <a:cs typeface="Times New Roman"/>
              </a:rPr>
              <a:t> </a:t>
            </a:r>
            <a:r>
              <a:rPr sz="1700" dirty="0">
                <a:solidFill>
                  <a:srgbClr val="404040"/>
                </a:solidFill>
                <a:latin typeface="Times New Roman"/>
                <a:cs typeface="Times New Roman"/>
              </a:rPr>
              <a:t>R3,</a:t>
            </a:r>
            <a:r>
              <a:rPr sz="1700" spc="-20" dirty="0">
                <a:solidFill>
                  <a:srgbClr val="404040"/>
                </a:solidFill>
                <a:latin typeface="Times New Roman"/>
                <a:cs typeface="Times New Roman"/>
              </a:rPr>
              <a:t> </a:t>
            </a:r>
            <a:r>
              <a:rPr sz="1700" dirty="0">
                <a:solidFill>
                  <a:srgbClr val="404040"/>
                </a:solidFill>
                <a:latin typeface="Times New Roman"/>
                <a:cs typeface="Times New Roman"/>
              </a:rPr>
              <a:t>but</a:t>
            </a:r>
            <a:r>
              <a:rPr sz="1700" spc="-20" dirty="0">
                <a:solidFill>
                  <a:srgbClr val="404040"/>
                </a:solidFill>
                <a:latin typeface="Times New Roman"/>
                <a:cs typeface="Times New Roman"/>
              </a:rPr>
              <a:t> </a:t>
            </a:r>
            <a:r>
              <a:rPr sz="1700" dirty="0">
                <a:solidFill>
                  <a:srgbClr val="404040"/>
                </a:solidFill>
                <a:latin typeface="Times New Roman"/>
                <a:cs typeface="Times New Roman"/>
              </a:rPr>
              <a:t>(4,</a:t>
            </a:r>
            <a:r>
              <a:rPr sz="1700" spc="-15" dirty="0">
                <a:solidFill>
                  <a:srgbClr val="404040"/>
                </a:solidFill>
                <a:latin typeface="Times New Roman"/>
                <a:cs typeface="Times New Roman"/>
              </a:rPr>
              <a:t> </a:t>
            </a:r>
            <a:r>
              <a:rPr sz="1700" dirty="0">
                <a:solidFill>
                  <a:srgbClr val="404040"/>
                </a:solidFill>
                <a:latin typeface="Times New Roman"/>
                <a:cs typeface="Times New Roman"/>
              </a:rPr>
              <a:t>2)</a:t>
            </a:r>
            <a:r>
              <a:rPr sz="1700" spc="-30" dirty="0">
                <a:solidFill>
                  <a:srgbClr val="404040"/>
                </a:solidFill>
                <a:latin typeface="Times New Roman"/>
                <a:cs typeface="Times New Roman"/>
              </a:rPr>
              <a:t> </a:t>
            </a:r>
            <a:r>
              <a:rPr sz="1700" dirty="0">
                <a:solidFill>
                  <a:srgbClr val="404040"/>
                </a:solidFill>
                <a:latin typeface="Times New Roman"/>
                <a:cs typeface="Times New Roman"/>
              </a:rPr>
              <a:t>does</a:t>
            </a:r>
            <a:r>
              <a:rPr sz="1700" spc="-25" dirty="0">
                <a:solidFill>
                  <a:srgbClr val="404040"/>
                </a:solidFill>
                <a:latin typeface="Times New Roman"/>
                <a:cs typeface="Times New Roman"/>
              </a:rPr>
              <a:t> </a:t>
            </a:r>
            <a:r>
              <a:rPr sz="1700" spc="-20" dirty="0">
                <a:solidFill>
                  <a:srgbClr val="404040"/>
                </a:solidFill>
                <a:latin typeface="Times New Roman"/>
                <a:cs typeface="Times New Roman"/>
              </a:rPr>
              <a:t>not.</a:t>
            </a:r>
            <a:br>
              <a:rPr lang="en-US" sz="1700" spc="-20" dirty="0">
                <a:solidFill>
                  <a:srgbClr val="404040"/>
                </a:solidFill>
                <a:latin typeface="Times New Roman"/>
                <a:cs typeface="Times New Roman"/>
              </a:rPr>
            </a:br>
            <a:r>
              <a:rPr lang="en-US" sz="1700" b="1" spc="-20" dirty="0">
                <a:solidFill>
                  <a:srgbClr val="CC0066"/>
                </a:solidFill>
                <a:latin typeface="Times New Roman"/>
                <a:cs typeface="Times New Roman"/>
              </a:rPr>
              <a:t>Transitivity means: ALL possible chains must satisfy the rule.</a:t>
            </a:r>
            <a:endParaRPr sz="1700" b="1" dirty="0">
              <a:solidFill>
                <a:srgbClr val="CC0066"/>
              </a:solidFill>
              <a:latin typeface="Times New Roman"/>
              <a:cs typeface="Times New Roman"/>
            </a:endParaRPr>
          </a:p>
        </p:txBody>
      </p:sp>
    </p:spTree>
    <p:extLst>
      <p:ext uri="{BB962C8B-B14F-4D97-AF65-F5344CB8AC3E}">
        <p14:creationId xmlns:p14="http://schemas.microsoft.com/office/powerpoint/2010/main" val="40546374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78607" y="400049"/>
            <a:ext cx="2410460" cy="574675"/>
          </a:xfrm>
          <a:prstGeom prst="rect">
            <a:avLst/>
          </a:prstGeom>
        </p:spPr>
        <p:txBody>
          <a:bodyPr vert="horz" wrap="square" lIns="0" tIns="12700" rIns="0" bIns="0" rtlCol="0">
            <a:spAutoFit/>
          </a:bodyPr>
          <a:lstStyle/>
          <a:p>
            <a:pPr marL="12700">
              <a:lnSpc>
                <a:spcPct val="100000"/>
              </a:lnSpc>
              <a:spcBef>
                <a:spcPts val="100"/>
              </a:spcBef>
            </a:pPr>
            <a:r>
              <a:rPr dirty="0"/>
              <a:t>EXERCISE</a:t>
            </a:r>
            <a:r>
              <a:rPr spc="-80" dirty="0"/>
              <a:t> </a:t>
            </a:r>
            <a:r>
              <a:rPr spc="-50" dirty="0"/>
              <a:t>B</a:t>
            </a:r>
          </a:p>
        </p:txBody>
      </p:sp>
      <p:sp>
        <p:nvSpPr>
          <p:cNvPr id="3" name="object 3"/>
          <p:cNvSpPr txBox="1"/>
          <p:nvPr/>
        </p:nvSpPr>
        <p:spPr>
          <a:xfrm>
            <a:off x="307340" y="965619"/>
            <a:ext cx="7215505" cy="4993640"/>
          </a:xfrm>
          <a:prstGeom prst="rect">
            <a:avLst/>
          </a:prstGeom>
        </p:spPr>
        <p:txBody>
          <a:bodyPr vert="horz" wrap="square" lIns="0" tIns="87630" rIns="0" bIns="0" rtlCol="0">
            <a:spAutoFit/>
          </a:bodyPr>
          <a:lstStyle/>
          <a:p>
            <a:pPr marL="12700">
              <a:lnSpc>
                <a:spcPct val="100000"/>
              </a:lnSpc>
              <a:spcBef>
                <a:spcPts val="690"/>
              </a:spcBef>
              <a:tabLst>
                <a:tab pos="354965" algn="l"/>
              </a:tabLst>
            </a:pPr>
            <a:r>
              <a:rPr sz="1350" spc="65" dirty="0">
                <a:solidFill>
                  <a:srgbClr val="90C225"/>
                </a:solidFill>
                <a:latin typeface="Lucida Sans Unicode"/>
                <a:cs typeface="Lucida Sans Unicode"/>
              </a:rPr>
              <a:t>▶</a:t>
            </a:r>
            <a:r>
              <a:rPr sz="1350" dirty="0">
                <a:solidFill>
                  <a:srgbClr val="90C225"/>
                </a:solidFill>
                <a:latin typeface="Lucida Sans Unicode"/>
                <a:cs typeface="Lucida Sans Unicode"/>
              </a:rPr>
              <a:t>	</a:t>
            </a:r>
            <a:r>
              <a:rPr sz="1700" b="1" dirty="0">
                <a:solidFill>
                  <a:srgbClr val="404040"/>
                </a:solidFill>
                <a:latin typeface="Times New Roman"/>
                <a:cs typeface="Times New Roman"/>
              </a:rPr>
              <a:t>Is</a:t>
            </a:r>
            <a:r>
              <a:rPr sz="1700" b="1" spc="-30" dirty="0">
                <a:solidFill>
                  <a:srgbClr val="404040"/>
                </a:solidFill>
                <a:latin typeface="Times New Roman"/>
                <a:cs typeface="Times New Roman"/>
              </a:rPr>
              <a:t> </a:t>
            </a:r>
            <a:r>
              <a:rPr sz="1700" b="1" dirty="0">
                <a:solidFill>
                  <a:srgbClr val="404040"/>
                </a:solidFill>
                <a:latin typeface="Times New Roman"/>
                <a:cs typeface="Times New Roman"/>
              </a:rPr>
              <a:t>the</a:t>
            </a:r>
            <a:r>
              <a:rPr sz="1700" b="1" spc="-25" dirty="0">
                <a:solidFill>
                  <a:srgbClr val="404040"/>
                </a:solidFill>
                <a:latin typeface="Times New Roman"/>
                <a:cs typeface="Times New Roman"/>
              </a:rPr>
              <a:t> </a:t>
            </a:r>
            <a:r>
              <a:rPr sz="1700" b="1" dirty="0">
                <a:solidFill>
                  <a:srgbClr val="404040"/>
                </a:solidFill>
                <a:latin typeface="Times New Roman"/>
                <a:cs typeface="Times New Roman"/>
              </a:rPr>
              <a:t>“divides”</a:t>
            </a:r>
            <a:r>
              <a:rPr sz="1700" b="1" spc="-20" dirty="0">
                <a:solidFill>
                  <a:srgbClr val="404040"/>
                </a:solidFill>
                <a:latin typeface="Times New Roman"/>
                <a:cs typeface="Times New Roman"/>
              </a:rPr>
              <a:t> </a:t>
            </a:r>
            <a:r>
              <a:rPr sz="1700" b="1" dirty="0">
                <a:solidFill>
                  <a:srgbClr val="404040"/>
                </a:solidFill>
                <a:latin typeface="Times New Roman"/>
                <a:cs typeface="Times New Roman"/>
              </a:rPr>
              <a:t>relation</a:t>
            </a:r>
            <a:r>
              <a:rPr sz="1700" b="1" spc="-35" dirty="0">
                <a:solidFill>
                  <a:srgbClr val="404040"/>
                </a:solidFill>
                <a:latin typeface="Times New Roman"/>
                <a:cs typeface="Times New Roman"/>
              </a:rPr>
              <a:t> </a:t>
            </a:r>
            <a:r>
              <a:rPr sz="1700" b="1" dirty="0">
                <a:solidFill>
                  <a:srgbClr val="404040"/>
                </a:solidFill>
                <a:latin typeface="Times New Roman"/>
                <a:cs typeface="Times New Roman"/>
              </a:rPr>
              <a:t>on</a:t>
            </a:r>
            <a:r>
              <a:rPr sz="1700" b="1" spc="-25" dirty="0">
                <a:solidFill>
                  <a:srgbClr val="404040"/>
                </a:solidFill>
                <a:latin typeface="Times New Roman"/>
                <a:cs typeface="Times New Roman"/>
              </a:rPr>
              <a:t> </a:t>
            </a:r>
            <a:r>
              <a:rPr sz="1700" b="1" dirty="0">
                <a:solidFill>
                  <a:srgbClr val="404040"/>
                </a:solidFill>
                <a:latin typeface="Times New Roman"/>
                <a:cs typeface="Times New Roman"/>
              </a:rPr>
              <a:t>the</a:t>
            </a:r>
            <a:r>
              <a:rPr sz="1700" b="1" spc="-25" dirty="0">
                <a:solidFill>
                  <a:srgbClr val="404040"/>
                </a:solidFill>
                <a:latin typeface="Times New Roman"/>
                <a:cs typeface="Times New Roman"/>
              </a:rPr>
              <a:t> </a:t>
            </a:r>
            <a:r>
              <a:rPr sz="1700" b="1" dirty="0">
                <a:solidFill>
                  <a:srgbClr val="404040"/>
                </a:solidFill>
                <a:latin typeface="Times New Roman"/>
                <a:cs typeface="Times New Roman"/>
              </a:rPr>
              <a:t>set</a:t>
            </a:r>
            <a:r>
              <a:rPr sz="1700" b="1" spc="-20" dirty="0">
                <a:solidFill>
                  <a:srgbClr val="404040"/>
                </a:solidFill>
                <a:latin typeface="Times New Roman"/>
                <a:cs typeface="Times New Roman"/>
              </a:rPr>
              <a:t> </a:t>
            </a:r>
            <a:r>
              <a:rPr sz="1700" b="1" dirty="0">
                <a:solidFill>
                  <a:srgbClr val="404040"/>
                </a:solidFill>
                <a:latin typeface="Times New Roman"/>
                <a:cs typeface="Times New Roman"/>
              </a:rPr>
              <a:t>of</a:t>
            </a:r>
            <a:r>
              <a:rPr sz="1700" b="1" spc="-35" dirty="0">
                <a:solidFill>
                  <a:srgbClr val="404040"/>
                </a:solidFill>
                <a:latin typeface="Times New Roman"/>
                <a:cs typeface="Times New Roman"/>
              </a:rPr>
              <a:t> </a:t>
            </a:r>
            <a:r>
              <a:rPr sz="1700" b="1" dirty="0">
                <a:solidFill>
                  <a:srgbClr val="404040"/>
                </a:solidFill>
                <a:latin typeface="Times New Roman"/>
                <a:cs typeface="Times New Roman"/>
              </a:rPr>
              <a:t>positive</a:t>
            </a:r>
            <a:r>
              <a:rPr sz="1700" b="1" spc="-25" dirty="0">
                <a:solidFill>
                  <a:srgbClr val="404040"/>
                </a:solidFill>
                <a:latin typeface="Times New Roman"/>
                <a:cs typeface="Times New Roman"/>
              </a:rPr>
              <a:t> </a:t>
            </a:r>
            <a:r>
              <a:rPr sz="1700" b="1" dirty="0">
                <a:solidFill>
                  <a:srgbClr val="404040"/>
                </a:solidFill>
                <a:latin typeface="Times New Roman"/>
                <a:cs typeface="Times New Roman"/>
              </a:rPr>
              <a:t>integers</a:t>
            </a:r>
            <a:r>
              <a:rPr sz="1700" b="1" spc="-25" dirty="0">
                <a:solidFill>
                  <a:srgbClr val="404040"/>
                </a:solidFill>
                <a:latin typeface="Times New Roman"/>
                <a:cs typeface="Times New Roman"/>
              </a:rPr>
              <a:t> </a:t>
            </a:r>
            <a:r>
              <a:rPr sz="1700" b="1" spc="-10" dirty="0">
                <a:solidFill>
                  <a:srgbClr val="404040"/>
                </a:solidFill>
                <a:latin typeface="Times New Roman"/>
                <a:cs typeface="Times New Roman"/>
              </a:rPr>
              <a:t>transitive?</a:t>
            </a:r>
            <a:endParaRPr sz="1700">
              <a:latin typeface="Times New Roman"/>
              <a:cs typeface="Times New Roman"/>
            </a:endParaRPr>
          </a:p>
          <a:p>
            <a:pPr marL="355600" marR="647065" indent="-342900">
              <a:lnSpc>
                <a:spcPct val="80000"/>
              </a:lnSpc>
              <a:spcBef>
                <a:spcPts val="1000"/>
              </a:spcBef>
              <a:tabLst>
                <a:tab pos="354965" algn="l"/>
              </a:tabLst>
            </a:pPr>
            <a:r>
              <a:rPr sz="1350" spc="65" dirty="0">
                <a:solidFill>
                  <a:srgbClr val="90C225"/>
                </a:solidFill>
                <a:latin typeface="Lucida Sans Unicode"/>
                <a:cs typeface="Lucida Sans Unicode"/>
              </a:rPr>
              <a:t>▶</a:t>
            </a:r>
            <a:r>
              <a:rPr sz="1350" dirty="0">
                <a:solidFill>
                  <a:srgbClr val="90C225"/>
                </a:solidFill>
                <a:latin typeface="Lucida Sans Unicode"/>
                <a:cs typeface="Lucida Sans Unicode"/>
              </a:rPr>
              <a:t>	</a:t>
            </a:r>
            <a:r>
              <a:rPr sz="1700" b="1" dirty="0">
                <a:solidFill>
                  <a:srgbClr val="404040"/>
                </a:solidFill>
                <a:latin typeface="Times New Roman"/>
                <a:cs typeface="Times New Roman"/>
              </a:rPr>
              <a:t>For</a:t>
            </a:r>
            <a:r>
              <a:rPr sz="1700" b="1" spc="-50" dirty="0">
                <a:solidFill>
                  <a:srgbClr val="404040"/>
                </a:solidFill>
                <a:latin typeface="Times New Roman"/>
                <a:cs typeface="Times New Roman"/>
              </a:rPr>
              <a:t> </a:t>
            </a:r>
            <a:r>
              <a:rPr sz="1700" b="1" dirty="0">
                <a:solidFill>
                  <a:srgbClr val="404040"/>
                </a:solidFill>
                <a:latin typeface="Times New Roman"/>
                <a:cs typeface="Times New Roman"/>
              </a:rPr>
              <a:t>each</a:t>
            </a:r>
            <a:r>
              <a:rPr sz="1700" b="1" spc="-30" dirty="0">
                <a:solidFill>
                  <a:srgbClr val="404040"/>
                </a:solidFill>
                <a:latin typeface="Times New Roman"/>
                <a:cs typeface="Times New Roman"/>
              </a:rPr>
              <a:t> </a:t>
            </a:r>
            <a:r>
              <a:rPr sz="1700" b="1" dirty="0">
                <a:solidFill>
                  <a:srgbClr val="404040"/>
                </a:solidFill>
                <a:latin typeface="Times New Roman"/>
                <a:cs typeface="Times New Roman"/>
              </a:rPr>
              <a:t>of</a:t>
            </a:r>
            <a:r>
              <a:rPr sz="1700" b="1" spc="-20" dirty="0">
                <a:solidFill>
                  <a:srgbClr val="404040"/>
                </a:solidFill>
                <a:latin typeface="Times New Roman"/>
                <a:cs typeface="Times New Roman"/>
              </a:rPr>
              <a:t> </a:t>
            </a:r>
            <a:r>
              <a:rPr sz="1700" b="1" dirty="0">
                <a:solidFill>
                  <a:srgbClr val="404040"/>
                </a:solidFill>
                <a:latin typeface="Times New Roman"/>
                <a:cs typeface="Times New Roman"/>
              </a:rPr>
              <a:t>these</a:t>
            </a:r>
            <a:r>
              <a:rPr sz="1700" b="1" spc="-15" dirty="0">
                <a:solidFill>
                  <a:srgbClr val="404040"/>
                </a:solidFill>
                <a:latin typeface="Times New Roman"/>
                <a:cs typeface="Times New Roman"/>
              </a:rPr>
              <a:t> </a:t>
            </a:r>
            <a:r>
              <a:rPr sz="1700" b="1" dirty="0">
                <a:solidFill>
                  <a:srgbClr val="404040"/>
                </a:solidFill>
                <a:latin typeface="Times New Roman"/>
                <a:cs typeface="Times New Roman"/>
              </a:rPr>
              <a:t>relations</a:t>
            </a:r>
            <a:r>
              <a:rPr sz="1700" b="1" spc="-20" dirty="0">
                <a:solidFill>
                  <a:srgbClr val="404040"/>
                </a:solidFill>
                <a:latin typeface="Times New Roman"/>
                <a:cs typeface="Times New Roman"/>
              </a:rPr>
              <a:t> </a:t>
            </a:r>
            <a:r>
              <a:rPr sz="1700" b="1" dirty="0">
                <a:solidFill>
                  <a:srgbClr val="404040"/>
                </a:solidFill>
                <a:latin typeface="Times New Roman"/>
                <a:cs typeface="Times New Roman"/>
              </a:rPr>
              <a:t>on</a:t>
            </a:r>
            <a:r>
              <a:rPr sz="1700" b="1" spc="-25" dirty="0">
                <a:solidFill>
                  <a:srgbClr val="404040"/>
                </a:solidFill>
                <a:latin typeface="Times New Roman"/>
                <a:cs typeface="Times New Roman"/>
              </a:rPr>
              <a:t> </a:t>
            </a:r>
            <a:r>
              <a:rPr sz="1700" b="1" dirty="0">
                <a:solidFill>
                  <a:srgbClr val="404040"/>
                </a:solidFill>
                <a:latin typeface="Times New Roman"/>
                <a:cs typeface="Times New Roman"/>
              </a:rPr>
              <a:t>the</a:t>
            </a:r>
            <a:r>
              <a:rPr sz="1700" b="1" spc="-20" dirty="0">
                <a:solidFill>
                  <a:srgbClr val="404040"/>
                </a:solidFill>
                <a:latin typeface="Times New Roman"/>
                <a:cs typeface="Times New Roman"/>
              </a:rPr>
              <a:t> </a:t>
            </a:r>
            <a:r>
              <a:rPr sz="1700" b="1" dirty="0">
                <a:solidFill>
                  <a:srgbClr val="404040"/>
                </a:solidFill>
                <a:latin typeface="Times New Roman"/>
                <a:cs typeface="Times New Roman"/>
              </a:rPr>
              <a:t>set</a:t>
            </a:r>
            <a:r>
              <a:rPr sz="1700" b="1" spc="-25"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15"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15" dirty="0">
                <a:solidFill>
                  <a:srgbClr val="404040"/>
                </a:solidFill>
                <a:latin typeface="Times New Roman"/>
                <a:cs typeface="Times New Roman"/>
              </a:rPr>
              <a:t> </a:t>
            </a:r>
            <a:r>
              <a:rPr sz="1700" b="1" dirty="0">
                <a:solidFill>
                  <a:srgbClr val="404040"/>
                </a:solidFill>
                <a:latin typeface="Times New Roman"/>
                <a:cs typeface="Times New Roman"/>
              </a:rPr>
              <a:t>3</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4},</a:t>
            </a:r>
            <a:r>
              <a:rPr sz="1700" b="1" spc="-20" dirty="0">
                <a:solidFill>
                  <a:srgbClr val="404040"/>
                </a:solidFill>
                <a:latin typeface="Times New Roman"/>
                <a:cs typeface="Times New Roman"/>
              </a:rPr>
              <a:t> </a:t>
            </a:r>
            <a:r>
              <a:rPr sz="1700" b="1" dirty="0">
                <a:solidFill>
                  <a:srgbClr val="404040"/>
                </a:solidFill>
                <a:latin typeface="Times New Roman"/>
                <a:cs typeface="Times New Roman"/>
              </a:rPr>
              <a:t>decide</a:t>
            </a:r>
            <a:r>
              <a:rPr sz="1700" b="1" spc="-20" dirty="0">
                <a:solidFill>
                  <a:srgbClr val="404040"/>
                </a:solidFill>
                <a:latin typeface="Times New Roman"/>
                <a:cs typeface="Times New Roman"/>
              </a:rPr>
              <a:t> </a:t>
            </a:r>
            <a:r>
              <a:rPr sz="1700" b="1" dirty="0">
                <a:solidFill>
                  <a:srgbClr val="404040"/>
                </a:solidFill>
                <a:latin typeface="Times New Roman"/>
                <a:cs typeface="Times New Roman"/>
              </a:rPr>
              <a:t>whether</a:t>
            </a:r>
            <a:r>
              <a:rPr sz="1700" b="1" spc="-45" dirty="0">
                <a:solidFill>
                  <a:srgbClr val="404040"/>
                </a:solidFill>
                <a:latin typeface="Times New Roman"/>
                <a:cs typeface="Times New Roman"/>
              </a:rPr>
              <a:t> </a:t>
            </a:r>
            <a:r>
              <a:rPr sz="1700" b="1" dirty="0">
                <a:solidFill>
                  <a:srgbClr val="404040"/>
                </a:solidFill>
                <a:latin typeface="Times New Roman"/>
                <a:cs typeface="Times New Roman"/>
              </a:rPr>
              <a:t>it</a:t>
            </a:r>
            <a:r>
              <a:rPr sz="1700" b="1" spc="-20" dirty="0">
                <a:solidFill>
                  <a:srgbClr val="404040"/>
                </a:solidFill>
                <a:latin typeface="Times New Roman"/>
                <a:cs typeface="Times New Roman"/>
              </a:rPr>
              <a:t> </a:t>
            </a:r>
            <a:r>
              <a:rPr sz="1700" b="1" spc="-25" dirty="0">
                <a:solidFill>
                  <a:srgbClr val="404040"/>
                </a:solidFill>
                <a:latin typeface="Times New Roman"/>
                <a:cs typeface="Times New Roman"/>
              </a:rPr>
              <a:t>is </a:t>
            </a:r>
            <a:r>
              <a:rPr sz="1700" b="1" dirty="0">
                <a:solidFill>
                  <a:srgbClr val="404040"/>
                </a:solidFill>
                <a:latin typeface="Times New Roman"/>
                <a:cs typeface="Times New Roman"/>
              </a:rPr>
              <a:t>reflexive,</a:t>
            </a:r>
            <a:r>
              <a:rPr sz="1700" b="1" spc="-55" dirty="0">
                <a:solidFill>
                  <a:srgbClr val="404040"/>
                </a:solidFill>
                <a:latin typeface="Times New Roman"/>
                <a:cs typeface="Times New Roman"/>
              </a:rPr>
              <a:t> </a:t>
            </a:r>
            <a:r>
              <a:rPr sz="1700" b="1" dirty="0">
                <a:solidFill>
                  <a:srgbClr val="404040"/>
                </a:solidFill>
                <a:latin typeface="Times New Roman"/>
                <a:cs typeface="Times New Roman"/>
              </a:rPr>
              <a:t>whether</a:t>
            </a:r>
            <a:r>
              <a:rPr sz="1700" b="1" spc="-60" dirty="0">
                <a:solidFill>
                  <a:srgbClr val="404040"/>
                </a:solidFill>
                <a:latin typeface="Times New Roman"/>
                <a:cs typeface="Times New Roman"/>
              </a:rPr>
              <a:t> </a:t>
            </a:r>
            <a:r>
              <a:rPr sz="1700" b="1" dirty="0">
                <a:solidFill>
                  <a:srgbClr val="404040"/>
                </a:solidFill>
                <a:latin typeface="Times New Roman"/>
                <a:cs typeface="Times New Roman"/>
              </a:rPr>
              <a:t>it</a:t>
            </a:r>
            <a:r>
              <a:rPr sz="1700" b="1" spc="-35" dirty="0">
                <a:solidFill>
                  <a:srgbClr val="404040"/>
                </a:solidFill>
                <a:latin typeface="Times New Roman"/>
                <a:cs typeface="Times New Roman"/>
              </a:rPr>
              <a:t> </a:t>
            </a:r>
            <a:r>
              <a:rPr sz="1700" b="1" dirty="0">
                <a:solidFill>
                  <a:srgbClr val="404040"/>
                </a:solidFill>
                <a:latin typeface="Times New Roman"/>
                <a:cs typeface="Times New Roman"/>
              </a:rPr>
              <a:t>is</a:t>
            </a:r>
            <a:r>
              <a:rPr sz="1700" b="1" spc="-30" dirty="0">
                <a:solidFill>
                  <a:srgbClr val="404040"/>
                </a:solidFill>
                <a:latin typeface="Times New Roman"/>
                <a:cs typeface="Times New Roman"/>
              </a:rPr>
              <a:t> </a:t>
            </a:r>
            <a:r>
              <a:rPr sz="1700" b="1" dirty="0">
                <a:solidFill>
                  <a:srgbClr val="404040"/>
                </a:solidFill>
                <a:latin typeface="Times New Roman"/>
                <a:cs typeface="Times New Roman"/>
              </a:rPr>
              <a:t>symmetric,</a:t>
            </a:r>
            <a:r>
              <a:rPr sz="1700" b="1" spc="-50" dirty="0">
                <a:solidFill>
                  <a:srgbClr val="404040"/>
                </a:solidFill>
                <a:latin typeface="Times New Roman"/>
                <a:cs typeface="Times New Roman"/>
              </a:rPr>
              <a:t> </a:t>
            </a:r>
            <a:r>
              <a:rPr sz="1700" b="1" dirty="0">
                <a:solidFill>
                  <a:srgbClr val="404040"/>
                </a:solidFill>
                <a:latin typeface="Times New Roman"/>
                <a:cs typeface="Times New Roman"/>
              </a:rPr>
              <a:t>whether</a:t>
            </a:r>
            <a:r>
              <a:rPr sz="1700" b="1" spc="-60" dirty="0">
                <a:solidFill>
                  <a:srgbClr val="404040"/>
                </a:solidFill>
                <a:latin typeface="Times New Roman"/>
                <a:cs typeface="Times New Roman"/>
              </a:rPr>
              <a:t> </a:t>
            </a:r>
            <a:r>
              <a:rPr sz="1700" b="1" dirty="0">
                <a:solidFill>
                  <a:srgbClr val="404040"/>
                </a:solidFill>
                <a:latin typeface="Times New Roman"/>
                <a:cs typeface="Times New Roman"/>
              </a:rPr>
              <a:t>it</a:t>
            </a:r>
            <a:r>
              <a:rPr sz="1700" b="1" spc="-35" dirty="0">
                <a:solidFill>
                  <a:srgbClr val="404040"/>
                </a:solidFill>
                <a:latin typeface="Times New Roman"/>
                <a:cs typeface="Times New Roman"/>
              </a:rPr>
              <a:t> </a:t>
            </a:r>
            <a:r>
              <a:rPr sz="1700" b="1" dirty="0">
                <a:solidFill>
                  <a:srgbClr val="404040"/>
                </a:solidFill>
                <a:latin typeface="Times New Roman"/>
                <a:cs typeface="Times New Roman"/>
              </a:rPr>
              <a:t>is</a:t>
            </a:r>
            <a:r>
              <a:rPr sz="1700" b="1" spc="-30" dirty="0">
                <a:solidFill>
                  <a:srgbClr val="404040"/>
                </a:solidFill>
                <a:latin typeface="Times New Roman"/>
                <a:cs typeface="Times New Roman"/>
              </a:rPr>
              <a:t> </a:t>
            </a:r>
            <a:r>
              <a:rPr sz="1700" b="1" dirty="0">
                <a:solidFill>
                  <a:srgbClr val="404040"/>
                </a:solidFill>
                <a:latin typeface="Times New Roman"/>
                <a:cs typeface="Times New Roman"/>
              </a:rPr>
              <a:t>antisymmetric,</a:t>
            </a:r>
            <a:r>
              <a:rPr sz="1700" b="1" spc="-50" dirty="0">
                <a:solidFill>
                  <a:srgbClr val="404040"/>
                </a:solidFill>
                <a:latin typeface="Times New Roman"/>
                <a:cs typeface="Times New Roman"/>
              </a:rPr>
              <a:t> </a:t>
            </a:r>
            <a:r>
              <a:rPr sz="1700" b="1" spc="-25" dirty="0">
                <a:solidFill>
                  <a:srgbClr val="404040"/>
                </a:solidFill>
                <a:latin typeface="Times New Roman"/>
                <a:cs typeface="Times New Roman"/>
              </a:rPr>
              <a:t>and </a:t>
            </a:r>
            <a:r>
              <a:rPr sz="1700" b="1" dirty="0">
                <a:solidFill>
                  <a:srgbClr val="404040"/>
                </a:solidFill>
                <a:latin typeface="Times New Roman"/>
                <a:cs typeface="Times New Roman"/>
              </a:rPr>
              <a:t>whether</a:t>
            </a:r>
            <a:r>
              <a:rPr sz="1700" b="1" spc="-55" dirty="0">
                <a:solidFill>
                  <a:srgbClr val="404040"/>
                </a:solidFill>
                <a:latin typeface="Times New Roman"/>
                <a:cs typeface="Times New Roman"/>
              </a:rPr>
              <a:t> </a:t>
            </a:r>
            <a:r>
              <a:rPr sz="1700" b="1" dirty="0">
                <a:solidFill>
                  <a:srgbClr val="404040"/>
                </a:solidFill>
                <a:latin typeface="Times New Roman"/>
                <a:cs typeface="Times New Roman"/>
              </a:rPr>
              <a:t>it</a:t>
            </a:r>
            <a:r>
              <a:rPr sz="1700" b="1" spc="-30" dirty="0">
                <a:solidFill>
                  <a:srgbClr val="404040"/>
                </a:solidFill>
                <a:latin typeface="Times New Roman"/>
                <a:cs typeface="Times New Roman"/>
              </a:rPr>
              <a:t> </a:t>
            </a:r>
            <a:r>
              <a:rPr sz="1700" b="1" dirty="0">
                <a:solidFill>
                  <a:srgbClr val="404040"/>
                </a:solidFill>
                <a:latin typeface="Times New Roman"/>
                <a:cs typeface="Times New Roman"/>
              </a:rPr>
              <a:t>is</a:t>
            </a:r>
            <a:r>
              <a:rPr sz="1700" b="1" spc="-30" dirty="0">
                <a:solidFill>
                  <a:srgbClr val="404040"/>
                </a:solidFill>
                <a:latin typeface="Times New Roman"/>
                <a:cs typeface="Times New Roman"/>
              </a:rPr>
              <a:t> </a:t>
            </a:r>
            <a:r>
              <a:rPr sz="1700" b="1" spc="-10" dirty="0">
                <a:solidFill>
                  <a:srgbClr val="404040"/>
                </a:solidFill>
                <a:latin typeface="Times New Roman"/>
                <a:cs typeface="Times New Roman"/>
              </a:rPr>
              <a:t>transitive.</a:t>
            </a:r>
            <a:endParaRPr sz="1700">
              <a:latin typeface="Times New Roman"/>
              <a:cs typeface="Times New Roman"/>
            </a:endParaRPr>
          </a:p>
          <a:p>
            <a:pPr marL="702310" indent="-232410">
              <a:lnSpc>
                <a:spcPct val="100000"/>
              </a:lnSpc>
              <a:spcBef>
                <a:spcPts val="595"/>
              </a:spcBef>
              <a:buFont typeface="Times New Roman"/>
              <a:buAutoNum type="alphaLcParenR"/>
              <a:tabLst>
                <a:tab pos="702310" algn="l"/>
              </a:tabLst>
            </a:pP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15" dirty="0">
                <a:solidFill>
                  <a:srgbClr val="404040"/>
                </a:solidFill>
                <a:latin typeface="Times New Roman"/>
                <a:cs typeface="Times New Roman"/>
              </a:rPr>
              <a:t> </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15" dirty="0">
                <a:solidFill>
                  <a:srgbClr val="404040"/>
                </a:solidFill>
                <a:latin typeface="Times New Roman"/>
                <a:cs typeface="Times New Roman"/>
              </a:rPr>
              <a:t> </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dirty="0">
                <a:solidFill>
                  <a:srgbClr val="404040"/>
                </a:solidFill>
                <a:latin typeface="Times New Roman"/>
                <a:cs typeface="Times New Roman"/>
              </a:rPr>
              <a:t>3)</a:t>
            </a:r>
            <a:r>
              <a:rPr sz="1700" i="1" dirty="0">
                <a:solidFill>
                  <a:srgbClr val="404040"/>
                </a:solidFill>
                <a:latin typeface="Times New Roman"/>
                <a:cs typeface="Times New Roman"/>
              </a:rPr>
              <a:t>,</a:t>
            </a:r>
            <a:r>
              <a:rPr sz="1700" i="1" spc="-15" dirty="0">
                <a:solidFill>
                  <a:srgbClr val="404040"/>
                </a:solidFill>
                <a:latin typeface="Times New Roman"/>
                <a:cs typeface="Times New Roman"/>
              </a:rPr>
              <a:t> </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15" dirty="0">
                <a:solidFill>
                  <a:srgbClr val="404040"/>
                </a:solidFill>
                <a:latin typeface="Times New Roman"/>
                <a:cs typeface="Times New Roman"/>
              </a:rPr>
              <a:t> </a:t>
            </a:r>
            <a:r>
              <a:rPr sz="1700" dirty="0">
                <a:solidFill>
                  <a:srgbClr val="404040"/>
                </a:solidFill>
                <a:latin typeface="Times New Roman"/>
                <a:cs typeface="Times New Roman"/>
              </a:rPr>
              <a:t>4)</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dirty="0">
                <a:solidFill>
                  <a:srgbClr val="404040"/>
                </a:solidFill>
                <a:latin typeface="Times New Roman"/>
                <a:cs typeface="Times New Roman"/>
              </a:rPr>
              <a:t>(3</a:t>
            </a:r>
            <a:r>
              <a:rPr sz="1700" i="1" dirty="0">
                <a:solidFill>
                  <a:srgbClr val="404040"/>
                </a:solidFill>
                <a:latin typeface="Times New Roman"/>
                <a:cs typeface="Times New Roman"/>
              </a:rPr>
              <a:t>,</a:t>
            </a:r>
            <a:r>
              <a:rPr sz="1700" i="1" spc="-15" dirty="0">
                <a:solidFill>
                  <a:srgbClr val="404040"/>
                </a:solidFill>
                <a:latin typeface="Times New Roman"/>
                <a:cs typeface="Times New Roman"/>
              </a:rPr>
              <a:t> </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15" dirty="0">
                <a:solidFill>
                  <a:srgbClr val="404040"/>
                </a:solidFill>
                <a:latin typeface="Times New Roman"/>
                <a:cs typeface="Times New Roman"/>
              </a:rPr>
              <a:t> </a:t>
            </a:r>
            <a:r>
              <a:rPr sz="1700" dirty="0">
                <a:solidFill>
                  <a:srgbClr val="404040"/>
                </a:solidFill>
                <a:latin typeface="Times New Roman"/>
                <a:cs typeface="Times New Roman"/>
              </a:rPr>
              <a:t>(3</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dirty="0">
                <a:solidFill>
                  <a:srgbClr val="404040"/>
                </a:solidFill>
                <a:latin typeface="Times New Roman"/>
                <a:cs typeface="Times New Roman"/>
              </a:rPr>
              <a:t>3)</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dirty="0">
                <a:solidFill>
                  <a:srgbClr val="404040"/>
                </a:solidFill>
                <a:latin typeface="Times New Roman"/>
                <a:cs typeface="Times New Roman"/>
              </a:rPr>
              <a:t>(3</a:t>
            </a:r>
            <a:r>
              <a:rPr sz="1700" i="1" dirty="0">
                <a:solidFill>
                  <a:srgbClr val="404040"/>
                </a:solidFill>
                <a:latin typeface="Times New Roman"/>
                <a:cs typeface="Times New Roman"/>
              </a:rPr>
              <a:t>,</a:t>
            </a:r>
            <a:r>
              <a:rPr sz="1700" i="1" spc="-15" dirty="0">
                <a:solidFill>
                  <a:srgbClr val="404040"/>
                </a:solidFill>
                <a:latin typeface="Times New Roman"/>
                <a:cs typeface="Times New Roman"/>
              </a:rPr>
              <a:t> </a:t>
            </a:r>
            <a:r>
              <a:rPr sz="1700" spc="-25" dirty="0">
                <a:solidFill>
                  <a:srgbClr val="404040"/>
                </a:solidFill>
                <a:latin typeface="Times New Roman"/>
                <a:cs typeface="Times New Roman"/>
              </a:rPr>
              <a:t>4)}</a:t>
            </a:r>
            <a:endParaRPr sz="1700">
              <a:latin typeface="Times New Roman"/>
              <a:cs typeface="Times New Roman"/>
            </a:endParaRPr>
          </a:p>
          <a:p>
            <a:pPr marL="715010" indent="-245110">
              <a:lnSpc>
                <a:spcPct val="100000"/>
              </a:lnSpc>
              <a:spcBef>
                <a:spcPts val="590"/>
              </a:spcBef>
              <a:buFont typeface="Times New Roman"/>
              <a:buAutoNum type="alphaLcParenR"/>
              <a:tabLst>
                <a:tab pos="715010" algn="l"/>
              </a:tabLst>
            </a:pP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15" dirty="0">
                <a:solidFill>
                  <a:srgbClr val="404040"/>
                </a:solidFill>
                <a:latin typeface="Times New Roman"/>
                <a:cs typeface="Times New Roman"/>
              </a:rPr>
              <a:t> </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15" dirty="0">
                <a:solidFill>
                  <a:srgbClr val="404040"/>
                </a:solidFill>
                <a:latin typeface="Times New Roman"/>
                <a:cs typeface="Times New Roman"/>
              </a:rPr>
              <a:t> </a:t>
            </a: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15" dirty="0">
                <a:solidFill>
                  <a:srgbClr val="404040"/>
                </a:solidFill>
                <a:latin typeface="Times New Roman"/>
                <a:cs typeface="Times New Roman"/>
              </a:rPr>
              <a:t> </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15" dirty="0">
                <a:solidFill>
                  <a:srgbClr val="404040"/>
                </a:solidFill>
                <a:latin typeface="Times New Roman"/>
                <a:cs typeface="Times New Roman"/>
              </a:rPr>
              <a:t> </a:t>
            </a:r>
            <a:r>
              <a:rPr sz="1700" dirty="0">
                <a:solidFill>
                  <a:srgbClr val="404040"/>
                </a:solidFill>
                <a:latin typeface="Times New Roman"/>
                <a:cs typeface="Times New Roman"/>
              </a:rPr>
              <a:t>(3</a:t>
            </a:r>
            <a:r>
              <a:rPr sz="1700" i="1" dirty="0">
                <a:solidFill>
                  <a:srgbClr val="404040"/>
                </a:solidFill>
                <a:latin typeface="Times New Roman"/>
                <a:cs typeface="Times New Roman"/>
              </a:rPr>
              <a:t>,</a:t>
            </a:r>
            <a:r>
              <a:rPr sz="1700" i="1" spc="-15" dirty="0">
                <a:solidFill>
                  <a:srgbClr val="404040"/>
                </a:solidFill>
                <a:latin typeface="Times New Roman"/>
                <a:cs typeface="Times New Roman"/>
              </a:rPr>
              <a:t> </a:t>
            </a:r>
            <a:r>
              <a:rPr sz="1700" dirty="0">
                <a:solidFill>
                  <a:srgbClr val="404040"/>
                </a:solidFill>
                <a:latin typeface="Times New Roman"/>
                <a:cs typeface="Times New Roman"/>
              </a:rPr>
              <a:t>3)</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dirty="0">
                <a:solidFill>
                  <a:srgbClr val="404040"/>
                </a:solidFill>
                <a:latin typeface="Times New Roman"/>
                <a:cs typeface="Times New Roman"/>
              </a:rPr>
              <a:t>(4</a:t>
            </a:r>
            <a:r>
              <a:rPr sz="1700" i="1" dirty="0">
                <a:solidFill>
                  <a:srgbClr val="404040"/>
                </a:solidFill>
                <a:latin typeface="Times New Roman"/>
                <a:cs typeface="Times New Roman"/>
              </a:rPr>
              <a:t>,</a:t>
            </a:r>
            <a:r>
              <a:rPr sz="1700" i="1" spc="-15" dirty="0">
                <a:solidFill>
                  <a:srgbClr val="404040"/>
                </a:solidFill>
                <a:latin typeface="Times New Roman"/>
                <a:cs typeface="Times New Roman"/>
              </a:rPr>
              <a:t> </a:t>
            </a:r>
            <a:r>
              <a:rPr sz="1700" spc="-25" dirty="0">
                <a:solidFill>
                  <a:srgbClr val="404040"/>
                </a:solidFill>
                <a:latin typeface="Times New Roman"/>
                <a:cs typeface="Times New Roman"/>
              </a:rPr>
              <a:t>4)}</a:t>
            </a:r>
            <a:endParaRPr sz="1700">
              <a:latin typeface="Times New Roman"/>
              <a:cs typeface="Times New Roman"/>
            </a:endParaRPr>
          </a:p>
          <a:p>
            <a:pPr marL="690245" indent="-220345">
              <a:lnSpc>
                <a:spcPct val="100000"/>
              </a:lnSpc>
              <a:spcBef>
                <a:spcPts val="590"/>
              </a:spcBef>
              <a:buFont typeface="Times New Roman"/>
              <a:buAutoNum type="alphaLcParenR"/>
              <a:tabLst>
                <a:tab pos="690245" algn="l"/>
              </a:tabLst>
            </a:pP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4)</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dirty="0">
                <a:solidFill>
                  <a:srgbClr val="404040"/>
                </a:solidFill>
                <a:latin typeface="Times New Roman"/>
                <a:cs typeface="Times New Roman"/>
              </a:rPr>
              <a:t>(4</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spc="-25" dirty="0">
                <a:solidFill>
                  <a:srgbClr val="404040"/>
                </a:solidFill>
                <a:latin typeface="Times New Roman"/>
                <a:cs typeface="Times New Roman"/>
              </a:rPr>
              <a:t>2)}</a:t>
            </a:r>
            <a:endParaRPr sz="1700">
              <a:latin typeface="Times New Roman"/>
              <a:cs typeface="Times New Roman"/>
            </a:endParaRPr>
          </a:p>
          <a:p>
            <a:pPr marL="715010" indent="-245110">
              <a:lnSpc>
                <a:spcPct val="100000"/>
              </a:lnSpc>
              <a:spcBef>
                <a:spcPts val="595"/>
              </a:spcBef>
              <a:buFont typeface="Times New Roman"/>
              <a:buAutoNum type="alphaLcParenR"/>
              <a:tabLst>
                <a:tab pos="715010" algn="l"/>
              </a:tabLst>
            </a:pP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5" dirty="0">
                <a:solidFill>
                  <a:srgbClr val="404040"/>
                </a:solidFill>
                <a:latin typeface="Times New Roman"/>
                <a:cs typeface="Times New Roman"/>
              </a:rPr>
              <a:t> </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15" dirty="0">
                <a:solidFill>
                  <a:srgbClr val="404040"/>
                </a:solidFill>
                <a:latin typeface="Times New Roman"/>
                <a:cs typeface="Times New Roman"/>
              </a:rPr>
              <a:t> </a:t>
            </a:r>
            <a:r>
              <a:rPr sz="1700" dirty="0">
                <a:solidFill>
                  <a:srgbClr val="404040"/>
                </a:solidFill>
                <a:latin typeface="Times New Roman"/>
                <a:cs typeface="Times New Roman"/>
              </a:rPr>
              <a:t>3)</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dirty="0">
                <a:solidFill>
                  <a:srgbClr val="404040"/>
                </a:solidFill>
                <a:latin typeface="Times New Roman"/>
                <a:cs typeface="Times New Roman"/>
              </a:rPr>
              <a:t>(3</a:t>
            </a:r>
            <a:r>
              <a:rPr sz="1700" i="1" dirty="0">
                <a:solidFill>
                  <a:srgbClr val="404040"/>
                </a:solidFill>
                <a:latin typeface="Times New Roman"/>
                <a:cs typeface="Times New Roman"/>
              </a:rPr>
              <a:t>,</a:t>
            </a:r>
            <a:r>
              <a:rPr sz="1700" i="1" spc="-15" dirty="0">
                <a:solidFill>
                  <a:srgbClr val="404040"/>
                </a:solidFill>
                <a:latin typeface="Times New Roman"/>
                <a:cs typeface="Times New Roman"/>
              </a:rPr>
              <a:t> </a:t>
            </a:r>
            <a:r>
              <a:rPr sz="1700" spc="-25" dirty="0">
                <a:solidFill>
                  <a:srgbClr val="404040"/>
                </a:solidFill>
                <a:latin typeface="Times New Roman"/>
                <a:cs typeface="Times New Roman"/>
              </a:rPr>
              <a:t>4)}</a:t>
            </a:r>
            <a:endParaRPr sz="1700">
              <a:latin typeface="Times New Roman"/>
              <a:cs typeface="Times New Roman"/>
            </a:endParaRPr>
          </a:p>
          <a:p>
            <a:pPr marL="690245" indent="-220345">
              <a:lnSpc>
                <a:spcPct val="100000"/>
              </a:lnSpc>
              <a:spcBef>
                <a:spcPts val="595"/>
              </a:spcBef>
              <a:buFont typeface="Times New Roman"/>
              <a:buAutoNum type="alphaLcParenR"/>
              <a:tabLst>
                <a:tab pos="690245" algn="l"/>
              </a:tabLst>
            </a:pP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15" dirty="0">
                <a:solidFill>
                  <a:srgbClr val="404040"/>
                </a:solidFill>
                <a:latin typeface="Times New Roman"/>
                <a:cs typeface="Times New Roman"/>
              </a:rPr>
              <a:t> </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15" dirty="0">
                <a:solidFill>
                  <a:srgbClr val="404040"/>
                </a:solidFill>
                <a:latin typeface="Times New Roman"/>
                <a:cs typeface="Times New Roman"/>
              </a:rPr>
              <a:t> </a:t>
            </a:r>
            <a:r>
              <a:rPr sz="1700" dirty="0">
                <a:solidFill>
                  <a:srgbClr val="404040"/>
                </a:solidFill>
                <a:latin typeface="Times New Roman"/>
                <a:cs typeface="Times New Roman"/>
              </a:rPr>
              <a:t>(3</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dirty="0">
                <a:solidFill>
                  <a:srgbClr val="404040"/>
                </a:solidFill>
                <a:latin typeface="Times New Roman"/>
                <a:cs typeface="Times New Roman"/>
              </a:rPr>
              <a:t>3)</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dirty="0">
                <a:solidFill>
                  <a:srgbClr val="404040"/>
                </a:solidFill>
                <a:latin typeface="Times New Roman"/>
                <a:cs typeface="Times New Roman"/>
              </a:rPr>
              <a:t>(4</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spc="-25" dirty="0">
                <a:solidFill>
                  <a:srgbClr val="404040"/>
                </a:solidFill>
                <a:latin typeface="Times New Roman"/>
                <a:cs typeface="Times New Roman"/>
              </a:rPr>
              <a:t>4)}</a:t>
            </a:r>
            <a:endParaRPr sz="1700">
              <a:latin typeface="Times New Roman"/>
              <a:cs typeface="Times New Roman"/>
            </a:endParaRPr>
          </a:p>
          <a:p>
            <a:pPr marL="720090" indent="-250190">
              <a:lnSpc>
                <a:spcPct val="100000"/>
              </a:lnSpc>
              <a:spcBef>
                <a:spcPts val="585"/>
              </a:spcBef>
              <a:buFont typeface="Times New Roman"/>
              <a:buAutoNum type="alphaLcParenR"/>
              <a:tabLst>
                <a:tab pos="720090" algn="l"/>
              </a:tabLst>
            </a:pP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3)</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dirty="0">
                <a:solidFill>
                  <a:srgbClr val="404040"/>
                </a:solidFill>
                <a:latin typeface="Times New Roman"/>
                <a:cs typeface="Times New Roman"/>
              </a:rPr>
              <a:t>4)</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dirty="0">
                <a:solidFill>
                  <a:srgbClr val="404040"/>
                </a:solidFill>
                <a:latin typeface="Times New Roman"/>
                <a:cs typeface="Times New Roman"/>
              </a:rPr>
              <a:t>3)</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dirty="0">
                <a:solidFill>
                  <a:srgbClr val="404040"/>
                </a:solidFill>
                <a:latin typeface="Times New Roman"/>
                <a:cs typeface="Times New Roman"/>
              </a:rPr>
              <a:t>4)</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dirty="0">
                <a:solidFill>
                  <a:srgbClr val="404040"/>
                </a:solidFill>
                <a:latin typeface="Times New Roman"/>
                <a:cs typeface="Times New Roman"/>
              </a:rPr>
              <a:t>(3</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dirty="0">
                <a:solidFill>
                  <a:srgbClr val="404040"/>
                </a:solidFill>
                <a:latin typeface="Times New Roman"/>
                <a:cs typeface="Times New Roman"/>
              </a:rPr>
              <a:t>(3</a:t>
            </a:r>
            <a:r>
              <a:rPr sz="1700" i="1" dirty="0">
                <a:solidFill>
                  <a:srgbClr val="404040"/>
                </a:solidFill>
                <a:latin typeface="Times New Roman"/>
                <a:cs typeface="Times New Roman"/>
              </a:rPr>
              <a:t>,</a:t>
            </a:r>
            <a:r>
              <a:rPr sz="1700" i="1" spc="-5" dirty="0">
                <a:solidFill>
                  <a:srgbClr val="404040"/>
                </a:solidFill>
                <a:latin typeface="Times New Roman"/>
                <a:cs typeface="Times New Roman"/>
              </a:rPr>
              <a:t> </a:t>
            </a:r>
            <a:r>
              <a:rPr sz="1700" spc="-25" dirty="0">
                <a:solidFill>
                  <a:srgbClr val="404040"/>
                </a:solidFill>
                <a:latin typeface="Times New Roman"/>
                <a:cs typeface="Times New Roman"/>
              </a:rPr>
              <a:t>4)}</a:t>
            </a:r>
            <a:endParaRPr sz="1700">
              <a:latin typeface="Times New Roman"/>
              <a:cs typeface="Times New Roman"/>
            </a:endParaRPr>
          </a:p>
          <a:p>
            <a:pPr marL="355600" marR="5080" indent="-342900">
              <a:lnSpc>
                <a:spcPts val="1630"/>
              </a:lnSpc>
              <a:spcBef>
                <a:spcPts val="995"/>
              </a:spcBef>
              <a:tabLst>
                <a:tab pos="354965" algn="l"/>
              </a:tabLst>
            </a:pPr>
            <a:r>
              <a:rPr sz="1350" spc="65" dirty="0">
                <a:solidFill>
                  <a:srgbClr val="90C225"/>
                </a:solidFill>
                <a:latin typeface="Lucida Sans Unicode"/>
                <a:cs typeface="Lucida Sans Unicode"/>
              </a:rPr>
              <a:t>▶</a:t>
            </a:r>
            <a:r>
              <a:rPr sz="1350" dirty="0">
                <a:solidFill>
                  <a:srgbClr val="90C225"/>
                </a:solidFill>
                <a:latin typeface="Lucida Sans Unicode"/>
                <a:cs typeface="Lucida Sans Unicode"/>
              </a:rPr>
              <a:t>	</a:t>
            </a:r>
            <a:r>
              <a:rPr sz="1700" b="1" dirty="0">
                <a:solidFill>
                  <a:srgbClr val="404040"/>
                </a:solidFill>
                <a:latin typeface="Times New Roman"/>
                <a:cs typeface="Times New Roman"/>
              </a:rPr>
              <a:t>Determine</a:t>
            </a:r>
            <a:r>
              <a:rPr sz="1700" b="1" spc="-40" dirty="0">
                <a:solidFill>
                  <a:srgbClr val="404040"/>
                </a:solidFill>
                <a:latin typeface="Times New Roman"/>
                <a:cs typeface="Times New Roman"/>
              </a:rPr>
              <a:t> </a:t>
            </a:r>
            <a:r>
              <a:rPr sz="1700" b="1" dirty="0">
                <a:solidFill>
                  <a:srgbClr val="404040"/>
                </a:solidFill>
                <a:latin typeface="Times New Roman"/>
                <a:cs typeface="Times New Roman"/>
              </a:rPr>
              <a:t>whether</a:t>
            </a:r>
            <a:r>
              <a:rPr sz="1700" b="1" spc="-50" dirty="0">
                <a:solidFill>
                  <a:srgbClr val="404040"/>
                </a:solidFill>
                <a:latin typeface="Times New Roman"/>
                <a:cs typeface="Times New Roman"/>
              </a:rPr>
              <a:t> </a:t>
            </a:r>
            <a:r>
              <a:rPr sz="1700" b="1" dirty="0">
                <a:solidFill>
                  <a:srgbClr val="404040"/>
                </a:solidFill>
                <a:latin typeface="Times New Roman"/>
                <a:cs typeface="Times New Roman"/>
              </a:rPr>
              <a:t>the</a:t>
            </a:r>
            <a:r>
              <a:rPr sz="1700" b="1" spc="-25" dirty="0">
                <a:solidFill>
                  <a:srgbClr val="404040"/>
                </a:solidFill>
                <a:latin typeface="Times New Roman"/>
                <a:cs typeface="Times New Roman"/>
              </a:rPr>
              <a:t> </a:t>
            </a:r>
            <a:r>
              <a:rPr sz="1700" b="1" dirty="0">
                <a:solidFill>
                  <a:srgbClr val="404040"/>
                </a:solidFill>
                <a:latin typeface="Times New Roman"/>
                <a:cs typeface="Times New Roman"/>
              </a:rPr>
              <a:t>relation</a:t>
            </a:r>
            <a:r>
              <a:rPr sz="1700" b="1" spc="-30" dirty="0">
                <a:solidFill>
                  <a:srgbClr val="404040"/>
                </a:solidFill>
                <a:latin typeface="Times New Roman"/>
                <a:cs typeface="Times New Roman"/>
              </a:rPr>
              <a:t> </a:t>
            </a:r>
            <a:r>
              <a:rPr sz="1700" b="1" i="1" dirty="0">
                <a:solidFill>
                  <a:srgbClr val="404040"/>
                </a:solidFill>
                <a:latin typeface="Times New Roman"/>
                <a:cs typeface="Times New Roman"/>
              </a:rPr>
              <a:t>R</a:t>
            </a:r>
            <a:r>
              <a:rPr sz="1700" b="1" i="1" spc="-15" dirty="0">
                <a:solidFill>
                  <a:srgbClr val="404040"/>
                </a:solidFill>
                <a:latin typeface="Times New Roman"/>
                <a:cs typeface="Times New Roman"/>
              </a:rPr>
              <a:t> </a:t>
            </a:r>
            <a:r>
              <a:rPr sz="1700" b="1" dirty="0">
                <a:solidFill>
                  <a:srgbClr val="404040"/>
                </a:solidFill>
                <a:latin typeface="Times New Roman"/>
                <a:cs typeface="Times New Roman"/>
              </a:rPr>
              <a:t>on</a:t>
            </a:r>
            <a:r>
              <a:rPr sz="1700" b="1" spc="-20" dirty="0">
                <a:solidFill>
                  <a:srgbClr val="404040"/>
                </a:solidFill>
                <a:latin typeface="Times New Roman"/>
                <a:cs typeface="Times New Roman"/>
              </a:rPr>
              <a:t> </a:t>
            </a:r>
            <a:r>
              <a:rPr sz="1700" b="1" dirty="0">
                <a:solidFill>
                  <a:srgbClr val="404040"/>
                </a:solidFill>
                <a:latin typeface="Times New Roman"/>
                <a:cs typeface="Times New Roman"/>
              </a:rPr>
              <a:t>the</a:t>
            </a:r>
            <a:r>
              <a:rPr sz="1700" b="1" spc="-25" dirty="0">
                <a:solidFill>
                  <a:srgbClr val="404040"/>
                </a:solidFill>
                <a:latin typeface="Times New Roman"/>
                <a:cs typeface="Times New Roman"/>
              </a:rPr>
              <a:t> </a:t>
            </a:r>
            <a:r>
              <a:rPr sz="1700" b="1" dirty="0">
                <a:solidFill>
                  <a:srgbClr val="404040"/>
                </a:solidFill>
                <a:latin typeface="Times New Roman"/>
                <a:cs typeface="Times New Roman"/>
              </a:rPr>
              <a:t>set</a:t>
            </a:r>
            <a:r>
              <a:rPr sz="1700" b="1" spc="-25" dirty="0">
                <a:solidFill>
                  <a:srgbClr val="404040"/>
                </a:solidFill>
                <a:latin typeface="Times New Roman"/>
                <a:cs typeface="Times New Roman"/>
              </a:rPr>
              <a:t> </a:t>
            </a:r>
            <a:r>
              <a:rPr sz="1700" b="1" dirty="0">
                <a:solidFill>
                  <a:srgbClr val="404040"/>
                </a:solidFill>
                <a:latin typeface="Times New Roman"/>
                <a:cs typeface="Times New Roman"/>
              </a:rPr>
              <a:t>of</a:t>
            </a:r>
            <a:r>
              <a:rPr sz="1700" b="1" spc="-35" dirty="0">
                <a:solidFill>
                  <a:srgbClr val="404040"/>
                </a:solidFill>
                <a:latin typeface="Times New Roman"/>
                <a:cs typeface="Times New Roman"/>
              </a:rPr>
              <a:t> </a:t>
            </a:r>
            <a:r>
              <a:rPr sz="1700" b="1" dirty="0">
                <a:solidFill>
                  <a:srgbClr val="404040"/>
                </a:solidFill>
                <a:latin typeface="Times New Roman"/>
                <a:cs typeface="Times New Roman"/>
              </a:rPr>
              <a:t>all</a:t>
            </a:r>
            <a:r>
              <a:rPr sz="1700" b="1" spc="-20" dirty="0">
                <a:solidFill>
                  <a:srgbClr val="404040"/>
                </a:solidFill>
                <a:latin typeface="Times New Roman"/>
                <a:cs typeface="Times New Roman"/>
              </a:rPr>
              <a:t> </a:t>
            </a:r>
            <a:r>
              <a:rPr sz="1700" b="1" dirty="0">
                <a:solidFill>
                  <a:srgbClr val="404040"/>
                </a:solidFill>
                <a:latin typeface="Times New Roman"/>
                <a:cs typeface="Times New Roman"/>
              </a:rPr>
              <a:t>people</a:t>
            </a:r>
            <a:r>
              <a:rPr sz="1700" b="1" spc="-20" dirty="0">
                <a:solidFill>
                  <a:srgbClr val="404040"/>
                </a:solidFill>
                <a:latin typeface="Times New Roman"/>
                <a:cs typeface="Times New Roman"/>
              </a:rPr>
              <a:t> </a:t>
            </a:r>
            <a:r>
              <a:rPr sz="1700" b="1" dirty="0">
                <a:solidFill>
                  <a:srgbClr val="404040"/>
                </a:solidFill>
                <a:latin typeface="Times New Roman"/>
                <a:cs typeface="Times New Roman"/>
              </a:rPr>
              <a:t>is</a:t>
            </a:r>
            <a:r>
              <a:rPr sz="1700" b="1" spc="-30" dirty="0">
                <a:solidFill>
                  <a:srgbClr val="404040"/>
                </a:solidFill>
                <a:latin typeface="Times New Roman"/>
                <a:cs typeface="Times New Roman"/>
              </a:rPr>
              <a:t> </a:t>
            </a:r>
            <a:r>
              <a:rPr sz="1700" b="1" spc="-10" dirty="0">
                <a:solidFill>
                  <a:srgbClr val="404040"/>
                </a:solidFill>
                <a:latin typeface="Times New Roman"/>
                <a:cs typeface="Times New Roman"/>
              </a:rPr>
              <a:t>reflexive, </a:t>
            </a:r>
            <a:r>
              <a:rPr sz="1700" b="1" dirty="0">
                <a:solidFill>
                  <a:srgbClr val="404040"/>
                </a:solidFill>
                <a:latin typeface="Times New Roman"/>
                <a:cs typeface="Times New Roman"/>
              </a:rPr>
              <a:t>symmetric,</a:t>
            </a:r>
            <a:r>
              <a:rPr sz="1700" b="1" spc="-40" dirty="0">
                <a:solidFill>
                  <a:srgbClr val="404040"/>
                </a:solidFill>
                <a:latin typeface="Times New Roman"/>
                <a:cs typeface="Times New Roman"/>
              </a:rPr>
              <a:t> </a:t>
            </a:r>
            <a:r>
              <a:rPr sz="1700" b="1" dirty="0">
                <a:solidFill>
                  <a:srgbClr val="404040"/>
                </a:solidFill>
                <a:latin typeface="Times New Roman"/>
                <a:cs typeface="Times New Roman"/>
              </a:rPr>
              <a:t>antisymmetric,</a:t>
            </a:r>
            <a:r>
              <a:rPr sz="1700" b="1" spc="-45" dirty="0">
                <a:solidFill>
                  <a:srgbClr val="404040"/>
                </a:solidFill>
                <a:latin typeface="Times New Roman"/>
                <a:cs typeface="Times New Roman"/>
              </a:rPr>
              <a:t> </a:t>
            </a:r>
            <a:r>
              <a:rPr sz="1700" b="1" dirty="0">
                <a:solidFill>
                  <a:srgbClr val="404040"/>
                </a:solidFill>
                <a:latin typeface="Times New Roman"/>
                <a:cs typeface="Times New Roman"/>
              </a:rPr>
              <a:t>and/or</a:t>
            </a:r>
            <a:r>
              <a:rPr sz="1700" b="1" spc="-45" dirty="0">
                <a:solidFill>
                  <a:srgbClr val="404040"/>
                </a:solidFill>
                <a:latin typeface="Times New Roman"/>
                <a:cs typeface="Times New Roman"/>
              </a:rPr>
              <a:t> </a:t>
            </a:r>
            <a:r>
              <a:rPr sz="1700" b="1" dirty="0">
                <a:solidFill>
                  <a:srgbClr val="404040"/>
                </a:solidFill>
                <a:latin typeface="Times New Roman"/>
                <a:cs typeface="Times New Roman"/>
              </a:rPr>
              <a:t>transitive,</a:t>
            </a:r>
            <a:r>
              <a:rPr sz="1700" b="1" spc="-35" dirty="0">
                <a:solidFill>
                  <a:srgbClr val="404040"/>
                </a:solidFill>
                <a:latin typeface="Times New Roman"/>
                <a:cs typeface="Times New Roman"/>
              </a:rPr>
              <a:t> </a:t>
            </a:r>
            <a:r>
              <a:rPr sz="1700" b="1" dirty="0">
                <a:solidFill>
                  <a:srgbClr val="404040"/>
                </a:solidFill>
                <a:latin typeface="Times New Roman"/>
                <a:cs typeface="Times New Roman"/>
              </a:rPr>
              <a:t>where</a:t>
            </a:r>
            <a:r>
              <a:rPr sz="1700" b="1" spc="-30" dirty="0">
                <a:solidFill>
                  <a:srgbClr val="404040"/>
                </a:solidFill>
                <a:latin typeface="Times New Roman"/>
                <a:cs typeface="Times New Roman"/>
              </a:rPr>
              <a:t> </a:t>
            </a:r>
            <a:r>
              <a:rPr sz="1700" b="1" dirty="0">
                <a:solidFill>
                  <a:srgbClr val="404040"/>
                </a:solidFill>
                <a:latin typeface="Times New Roman"/>
                <a:cs typeface="Times New Roman"/>
              </a:rPr>
              <a:t>(</a:t>
            </a:r>
            <a:r>
              <a:rPr sz="1700" b="1" i="1" dirty="0">
                <a:solidFill>
                  <a:srgbClr val="404040"/>
                </a:solidFill>
                <a:latin typeface="Times New Roman"/>
                <a:cs typeface="Times New Roman"/>
              </a:rPr>
              <a:t>a,</a:t>
            </a:r>
            <a:r>
              <a:rPr sz="1700" b="1" i="1" spc="-30" dirty="0">
                <a:solidFill>
                  <a:srgbClr val="404040"/>
                </a:solidFill>
                <a:latin typeface="Times New Roman"/>
                <a:cs typeface="Times New Roman"/>
              </a:rPr>
              <a:t> </a:t>
            </a:r>
            <a:r>
              <a:rPr sz="1700" b="1" i="1" dirty="0">
                <a:solidFill>
                  <a:srgbClr val="404040"/>
                </a:solidFill>
                <a:latin typeface="Times New Roman"/>
                <a:cs typeface="Times New Roman"/>
              </a:rPr>
              <a:t>b</a:t>
            </a:r>
            <a:r>
              <a:rPr sz="1700" b="1" dirty="0">
                <a:solidFill>
                  <a:srgbClr val="404040"/>
                </a:solidFill>
                <a:latin typeface="Times New Roman"/>
                <a:cs typeface="Times New Roman"/>
              </a:rPr>
              <a:t>)</a:t>
            </a:r>
            <a:r>
              <a:rPr sz="1700" b="1" spc="-35" dirty="0">
                <a:solidFill>
                  <a:srgbClr val="404040"/>
                </a:solidFill>
                <a:latin typeface="Times New Roman"/>
                <a:cs typeface="Times New Roman"/>
              </a:rPr>
              <a:t> </a:t>
            </a:r>
            <a:r>
              <a:rPr sz="1700" dirty="0">
                <a:solidFill>
                  <a:srgbClr val="404040"/>
                </a:solidFill>
                <a:latin typeface="Cambria Math"/>
                <a:cs typeface="Cambria Math"/>
              </a:rPr>
              <a:t>∈</a:t>
            </a:r>
            <a:r>
              <a:rPr sz="1700" spc="10" dirty="0">
                <a:solidFill>
                  <a:srgbClr val="404040"/>
                </a:solidFill>
                <a:latin typeface="Cambria Math"/>
                <a:cs typeface="Cambria Math"/>
              </a:rPr>
              <a:t> </a:t>
            </a:r>
            <a:r>
              <a:rPr sz="1700" b="1" i="1" dirty="0">
                <a:solidFill>
                  <a:srgbClr val="404040"/>
                </a:solidFill>
                <a:latin typeface="Times New Roman"/>
                <a:cs typeface="Times New Roman"/>
              </a:rPr>
              <a:t>R</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if</a:t>
            </a:r>
            <a:r>
              <a:rPr sz="1700" b="1" spc="-30" dirty="0">
                <a:solidFill>
                  <a:srgbClr val="404040"/>
                </a:solidFill>
                <a:latin typeface="Times New Roman"/>
                <a:cs typeface="Times New Roman"/>
              </a:rPr>
              <a:t> </a:t>
            </a:r>
            <a:r>
              <a:rPr sz="1700" b="1" dirty="0">
                <a:solidFill>
                  <a:srgbClr val="404040"/>
                </a:solidFill>
                <a:latin typeface="Times New Roman"/>
                <a:cs typeface="Times New Roman"/>
              </a:rPr>
              <a:t>and</a:t>
            </a:r>
            <a:r>
              <a:rPr sz="1700" b="1" spc="-15" dirty="0">
                <a:solidFill>
                  <a:srgbClr val="404040"/>
                </a:solidFill>
                <a:latin typeface="Times New Roman"/>
                <a:cs typeface="Times New Roman"/>
              </a:rPr>
              <a:t> </a:t>
            </a:r>
            <a:r>
              <a:rPr sz="1700" b="1" dirty="0">
                <a:solidFill>
                  <a:srgbClr val="404040"/>
                </a:solidFill>
                <a:latin typeface="Times New Roman"/>
                <a:cs typeface="Times New Roman"/>
              </a:rPr>
              <a:t>only</a:t>
            </a:r>
            <a:r>
              <a:rPr sz="1700" b="1" spc="-20" dirty="0">
                <a:solidFill>
                  <a:srgbClr val="404040"/>
                </a:solidFill>
                <a:latin typeface="Times New Roman"/>
                <a:cs typeface="Times New Roman"/>
              </a:rPr>
              <a:t> </a:t>
            </a:r>
            <a:r>
              <a:rPr sz="1700" b="1" spc="-25" dirty="0">
                <a:solidFill>
                  <a:srgbClr val="404040"/>
                </a:solidFill>
                <a:latin typeface="Times New Roman"/>
                <a:cs typeface="Times New Roman"/>
              </a:rPr>
              <a:t>if</a:t>
            </a:r>
            <a:endParaRPr sz="1700">
              <a:latin typeface="Times New Roman"/>
              <a:cs typeface="Times New Roman"/>
            </a:endParaRPr>
          </a:p>
          <a:p>
            <a:pPr marL="702310" indent="-232410">
              <a:lnSpc>
                <a:spcPct val="100000"/>
              </a:lnSpc>
              <a:spcBef>
                <a:spcPts val="610"/>
              </a:spcBef>
              <a:buFont typeface="Times New Roman"/>
              <a:buAutoNum type="alphaLcParenR"/>
              <a:tabLst>
                <a:tab pos="702310" algn="l"/>
              </a:tabLst>
            </a:pPr>
            <a:r>
              <a:rPr sz="1700" i="1" dirty="0">
                <a:solidFill>
                  <a:srgbClr val="404040"/>
                </a:solidFill>
                <a:latin typeface="Times New Roman"/>
                <a:cs typeface="Times New Roman"/>
              </a:rPr>
              <a:t>a</a:t>
            </a:r>
            <a:r>
              <a:rPr sz="1700" i="1" spc="-15" dirty="0">
                <a:solidFill>
                  <a:srgbClr val="404040"/>
                </a:solidFill>
                <a:latin typeface="Times New Roman"/>
                <a:cs typeface="Times New Roman"/>
              </a:rPr>
              <a:t> </a:t>
            </a:r>
            <a:r>
              <a:rPr sz="1700" dirty="0">
                <a:solidFill>
                  <a:srgbClr val="404040"/>
                </a:solidFill>
                <a:latin typeface="Times New Roman"/>
                <a:cs typeface="Times New Roman"/>
              </a:rPr>
              <a:t>is</a:t>
            </a:r>
            <a:r>
              <a:rPr sz="1700" spc="-20" dirty="0">
                <a:solidFill>
                  <a:srgbClr val="404040"/>
                </a:solidFill>
                <a:latin typeface="Times New Roman"/>
                <a:cs typeface="Times New Roman"/>
              </a:rPr>
              <a:t> </a:t>
            </a:r>
            <a:r>
              <a:rPr sz="1700" dirty="0">
                <a:solidFill>
                  <a:srgbClr val="404040"/>
                </a:solidFill>
                <a:latin typeface="Times New Roman"/>
                <a:cs typeface="Times New Roman"/>
              </a:rPr>
              <a:t>taller</a:t>
            </a:r>
            <a:r>
              <a:rPr sz="1700" spc="-25" dirty="0">
                <a:solidFill>
                  <a:srgbClr val="404040"/>
                </a:solidFill>
                <a:latin typeface="Times New Roman"/>
                <a:cs typeface="Times New Roman"/>
              </a:rPr>
              <a:t> </a:t>
            </a:r>
            <a:r>
              <a:rPr sz="1700" dirty="0">
                <a:solidFill>
                  <a:srgbClr val="404040"/>
                </a:solidFill>
                <a:latin typeface="Times New Roman"/>
                <a:cs typeface="Times New Roman"/>
              </a:rPr>
              <a:t>than</a:t>
            </a:r>
            <a:r>
              <a:rPr sz="1700" spc="-10" dirty="0">
                <a:solidFill>
                  <a:srgbClr val="404040"/>
                </a:solidFill>
                <a:latin typeface="Times New Roman"/>
                <a:cs typeface="Times New Roman"/>
              </a:rPr>
              <a:t> </a:t>
            </a:r>
            <a:r>
              <a:rPr sz="1700" i="1" spc="-25" dirty="0">
                <a:solidFill>
                  <a:srgbClr val="404040"/>
                </a:solidFill>
                <a:latin typeface="Times New Roman"/>
                <a:cs typeface="Times New Roman"/>
              </a:rPr>
              <a:t>b</a:t>
            </a:r>
            <a:r>
              <a:rPr sz="1700" spc="-25" dirty="0">
                <a:solidFill>
                  <a:srgbClr val="404040"/>
                </a:solidFill>
                <a:latin typeface="Times New Roman"/>
                <a:cs typeface="Times New Roman"/>
              </a:rPr>
              <a:t>.</a:t>
            </a:r>
            <a:endParaRPr sz="1700">
              <a:latin typeface="Times New Roman"/>
              <a:cs typeface="Times New Roman"/>
            </a:endParaRPr>
          </a:p>
          <a:p>
            <a:pPr marL="715010" indent="-245110">
              <a:lnSpc>
                <a:spcPct val="100000"/>
              </a:lnSpc>
              <a:spcBef>
                <a:spcPts val="585"/>
              </a:spcBef>
              <a:buFont typeface="Times New Roman"/>
              <a:buAutoNum type="alphaLcParenR"/>
              <a:tabLst>
                <a:tab pos="715010" algn="l"/>
              </a:tabLst>
            </a:pPr>
            <a:r>
              <a:rPr sz="1700" i="1" dirty="0">
                <a:solidFill>
                  <a:srgbClr val="404040"/>
                </a:solidFill>
                <a:latin typeface="Times New Roman"/>
                <a:cs typeface="Times New Roman"/>
              </a:rPr>
              <a:t>a</a:t>
            </a:r>
            <a:r>
              <a:rPr sz="1700" i="1" spc="-15" dirty="0">
                <a:solidFill>
                  <a:srgbClr val="404040"/>
                </a:solidFill>
                <a:latin typeface="Times New Roman"/>
                <a:cs typeface="Times New Roman"/>
              </a:rPr>
              <a:t> </a:t>
            </a:r>
            <a:r>
              <a:rPr sz="1700" dirty="0">
                <a:solidFill>
                  <a:srgbClr val="404040"/>
                </a:solidFill>
                <a:latin typeface="Times New Roman"/>
                <a:cs typeface="Times New Roman"/>
              </a:rPr>
              <a:t>and</a:t>
            </a:r>
            <a:r>
              <a:rPr sz="1700" spc="-10" dirty="0">
                <a:solidFill>
                  <a:srgbClr val="404040"/>
                </a:solidFill>
                <a:latin typeface="Times New Roman"/>
                <a:cs typeface="Times New Roman"/>
              </a:rPr>
              <a:t> </a:t>
            </a:r>
            <a:r>
              <a:rPr sz="1700" i="1" dirty="0">
                <a:solidFill>
                  <a:srgbClr val="404040"/>
                </a:solidFill>
                <a:latin typeface="Times New Roman"/>
                <a:cs typeface="Times New Roman"/>
              </a:rPr>
              <a:t>b</a:t>
            </a:r>
            <a:r>
              <a:rPr sz="1700" i="1" spc="-10" dirty="0">
                <a:solidFill>
                  <a:srgbClr val="404040"/>
                </a:solidFill>
                <a:latin typeface="Times New Roman"/>
                <a:cs typeface="Times New Roman"/>
              </a:rPr>
              <a:t> </a:t>
            </a:r>
            <a:r>
              <a:rPr sz="1700" dirty="0">
                <a:solidFill>
                  <a:srgbClr val="404040"/>
                </a:solidFill>
                <a:latin typeface="Times New Roman"/>
                <a:cs typeface="Times New Roman"/>
              </a:rPr>
              <a:t>were</a:t>
            </a:r>
            <a:r>
              <a:rPr sz="1700" spc="-20" dirty="0">
                <a:solidFill>
                  <a:srgbClr val="404040"/>
                </a:solidFill>
                <a:latin typeface="Times New Roman"/>
                <a:cs typeface="Times New Roman"/>
              </a:rPr>
              <a:t> </a:t>
            </a:r>
            <a:r>
              <a:rPr sz="1700" dirty="0">
                <a:solidFill>
                  <a:srgbClr val="404040"/>
                </a:solidFill>
                <a:latin typeface="Times New Roman"/>
                <a:cs typeface="Times New Roman"/>
              </a:rPr>
              <a:t>born</a:t>
            </a:r>
            <a:r>
              <a:rPr sz="1700" spc="-15" dirty="0">
                <a:solidFill>
                  <a:srgbClr val="404040"/>
                </a:solidFill>
                <a:latin typeface="Times New Roman"/>
                <a:cs typeface="Times New Roman"/>
              </a:rPr>
              <a:t> </a:t>
            </a:r>
            <a:r>
              <a:rPr sz="1700" dirty="0">
                <a:solidFill>
                  <a:srgbClr val="404040"/>
                </a:solidFill>
                <a:latin typeface="Times New Roman"/>
                <a:cs typeface="Times New Roman"/>
              </a:rPr>
              <a:t>on</a:t>
            </a:r>
            <a:r>
              <a:rPr sz="1700" spc="-10" dirty="0">
                <a:solidFill>
                  <a:srgbClr val="404040"/>
                </a:solidFill>
                <a:latin typeface="Times New Roman"/>
                <a:cs typeface="Times New Roman"/>
              </a:rPr>
              <a:t> </a:t>
            </a:r>
            <a:r>
              <a:rPr sz="1700" dirty="0">
                <a:solidFill>
                  <a:srgbClr val="404040"/>
                </a:solidFill>
                <a:latin typeface="Times New Roman"/>
                <a:cs typeface="Times New Roman"/>
              </a:rPr>
              <a:t>the</a:t>
            </a:r>
            <a:r>
              <a:rPr sz="1700" spc="-15" dirty="0">
                <a:solidFill>
                  <a:srgbClr val="404040"/>
                </a:solidFill>
                <a:latin typeface="Times New Roman"/>
                <a:cs typeface="Times New Roman"/>
              </a:rPr>
              <a:t> </a:t>
            </a:r>
            <a:r>
              <a:rPr sz="1700" dirty="0">
                <a:solidFill>
                  <a:srgbClr val="404040"/>
                </a:solidFill>
                <a:latin typeface="Times New Roman"/>
                <a:cs typeface="Times New Roman"/>
              </a:rPr>
              <a:t>same</a:t>
            </a:r>
            <a:r>
              <a:rPr sz="1700" spc="-10" dirty="0">
                <a:solidFill>
                  <a:srgbClr val="404040"/>
                </a:solidFill>
                <a:latin typeface="Times New Roman"/>
                <a:cs typeface="Times New Roman"/>
              </a:rPr>
              <a:t> </a:t>
            </a:r>
            <a:r>
              <a:rPr sz="1700" spc="-20" dirty="0">
                <a:solidFill>
                  <a:srgbClr val="404040"/>
                </a:solidFill>
                <a:latin typeface="Times New Roman"/>
                <a:cs typeface="Times New Roman"/>
              </a:rPr>
              <a:t>day.</a:t>
            </a:r>
            <a:endParaRPr sz="1700">
              <a:latin typeface="Times New Roman"/>
              <a:cs typeface="Times New Roman"/>
            </a:endParaRPr>
          </a:p>
          <a:p>
            <a:pPr marL="690245" indent="-220345">
              <a:lnSpc>
                <a:spcPct val="100000"/>
              </a:lnSpc>
              <a:spcBef>
                <a:spcPts val="595"/>
              </a:spcBef>
              <a:buFont typeface="Times New Roman"/>
              <a:buAutoNum type="alphaLcParenR"/>
              <a:tabLst>
                <a:tab pos="690245" algn="l"/>
              </a:tabLst>
            </a:pPr>
            <a:r>
              <a:rPr sz="1700" i="1" dirty="0">
                <a:solidFill>
                  <a:srgbClr val="404040"/>
                </a:solidFill>
                <a:latin typeface="Times New Roman"/>
                <a:cs typeface="Times New Roman"/>
              </a:rPr>
              <a:t>a</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has</a:t>
            </a:r>
            <a:r>
              <a:rPr sz="1700" spc="-15" dirty="0">
                <a:solidFill>
                  <a:srgbClr val="404040"/>
                </a:solidFill>
                <a:latin typeface="Times New Roman"/>
                <a:cs typeface="Times New Roman"/>
              </a:rPr>
              <a:t> </a:t>
            </a:r>
            <a:r>
              <a:rPr sz="1700" dirty="0">
                <a:solidFill>
                  <a:srgbClr val="404040"/>
                </a:solidFill>
                <a:latin typeface="Times New Roman"/>
                <a:cs typeface="Times New Roman"/>
              </a:rPr>
              <a:t>the</a:t>
            </a:r>
            <a:r>
              <a:rPr sz="1700" spc="-10" dirty="0">
                <a:solidFill>
                  <a:srgbClr val="404040"/>
                </a:solidFill>
                <a:latin typeface="Times New Roman"/>
                <a:cs typeface="Times New Roman"/>
              </a:rPr>
              <a:t> </a:t>
            </a:r>
            <a:r>
              <a:rPr sz="1700" dirty="0">
                <a:solidFill>
                  <a:srgbClr val="404040"/>
                </a:solidFill>
                <a:latin typeface="Times New Roman"/>
                <a:cs typeface="Times New Roman"/>
              </a:rPr>
              <a:t>same</a:t>
            </a:r>
            <a:r>
              <a:rPr sz="1700" spc="-20" dirty="0">
                <a:solidFill>
                  <a:srgbClr val="404040"/>
                </a:solidFill>
                <a:latin typeface="Times New Roman"/>
                <a:cs typeface="Times New Roman"/>
              </a:rPr>
              <a:t> </a:t>
            </a:r>
            <a:r>
              <a:rPr sz="1700" dirty="0">
                <a:solidFill>
                  <a:srgbClr val="404040"/>
                </a:solidFill>
                <a:latin typeface="Times New Roman"/>
                <a:cs typeface="Times New Roman"/>
              </a:rPr>
              <a:t>first</a:t>
            </a:r>
            <a:r>
              <a:rPr sz="1700" spc="-15" dirty="0">
                <a:solidFill>
                  <a:srgbClr val="404040"/>
                </a:solidFill>
                <a:latin typeface="Times New Roman"/>
                <a:cs typeface="Times New Roman"/>
              </a:rPr>
              <a:t> </a:t>
            </a:r>
            <a:r>
              <a:rPr sz="1700" dirty="0">
                <a:solidFill>
                  <a:srgbClr val="404040"/>
                </a:solidFill>
                <a:latin typeface="Times New Roman"/>
                <a:cs typeface="Times New Roman"/>
              </a:rPr>
              <a:t>name</a:t>
            </a:r>
            <a:r>
              <a:rPr sz="1700" spc="-25" dirty="0">
                <a:solidFill>
                  <a:srgbClr val="404040"/>
                </a:solidFill>
                <a:latin typeface="Times New Roman"/>
                <a:cs typeface="Times New Roman"/>
              </a:rPr>
              <a:t> </a:t>
            </a:r>
            <a:r>
              <a:rPr sz="1700" dirty="0">
                <a:solidFill>
                  <a:srgbClr val="404040"/>
                </a:solidFill>
                <a:latin typeface="Times New Roman"/>
                <a:cs typeface="Times New Roman"/>
              </a:rPr>
              <a:t>as</a:t>
            </a:r>
            <a:r>
              <a:rPr sz="1700" spc="-5" dirty="0">
                <a:solidFill>
                  <a:srgbClr val="404040"/>
                </a:solidFill>
                <a:latin typeface="Times New Roman"/>
                <a:cs typeface="Times New Roman"/>
              </a:rPr>
              <a:t> </a:t>
            </a:r>
            <a:r>
              <a:rPr sz="1700" i="1" spc="-25" dirty="0">
                <a:solidFill>
                  <a:srgbClr val="404040"/>
                </a:solidFill>
                <a:latin typeface="Times New Roman"/>
                <a:cs typeface="Times New Roman"/>
              </a:rPr>
              <a:t>b</a:t>
            </a:r>
            <a:r>
              <a:rPr sz="1700" spc="-25" dirty="0">
                <a:solidFill>
                  <a:srgbClr val="404040"/>
                </a:solidFill>
                <a:latin typeface="Times New Roman"/>
                <a:cs typeface="Times New Roman"/>
              </a:rPr>
              <a:t>.</a:t>
            </a:r>
            <a:endParaRPr sz="1700">
              <a:latin typeface="Times New Roman"/>
              <a:cs typeface="Times New Roman"/>
            </a:endParaRPr>
          </a:p>
          <a:p>
            <a:pPr marL="715010" indent="-245110">
              <a:lnSpc>
                <a:spcPct val="100000"/>
              </a:lnSpc>
              <a:spcBef>
                <a:spcPts val="595"/>
              </a:spcBef>
              <a:buFont typeface="Times New Roman"/>
              <a:buAutoNum type="alphaLcParenR"/>
              <a:tabLst>
                <a:tab pos="715010" algn="l"/>
              </a:tabLst>
            </a:pPr>
            <a:r>
              <a:rPr sz="1700" i="1" dirty="0">
                <a:solidFill>
                  <a:srgbClr val="404040"/>
                </a:solidFill>
                <a:latin typeface="Times New Roman"/>
                <a:cs typeface="Times New Roman"/>
              </a:rPr>
              <a:t>a</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and</a:t>
            </a:r>
            <a:r>
              <a:rPr sz="1700" spc="-15" dirty="0">
                <a:solidFill>
                  <a:srgbClr val="404040"/>
                </a:solidFill>
                <a:latin typeface="Times New Roman"/>
                <a:cs typeface="Times New Roman"/>
              </a:rPr>
              <a:t> </a:t>
            </a:r>
            <a:r>
              <a:rPr sz="1700" i="1" dirty="0">
                <a:solidFill>
                  <a:srgbClr val="404040"/>
                </a:solidFill>
                <a:latin typeface="Times New Roman"/>
                <a:cs typeface="Times New Roman"/>
              </a:rPr>
              <a:t>b</a:t>
            </a:r>
            <a:r>
              <a:rPr sz="1700" i="1" spc="-15" dirty="0">
                <a:solidFill>
                  <a:srgbClr val="404040"/>
                </a:solidFill>
                <a:latin typeface="Times New Roman"/>
                <a:cs typeface="Times New Roman"/>
              </a:rPr>
              <a:t> </a:t>
            </a:r>
            <a:r>
              <a:rPr sz="1700" dirty="0">
                <a:solidFill>
                  <a:srgbClr val="404040"/>
                </a:solidFill>
                <a:latin typeface="Times New Roman"/>
                <a:cs typeface="Times New Roman"/>
              </a:rPr>
              <a:t>have</a:t>
            </a:r>
            <a:r>
              <a:rPr sz="1700" spc="-25" dirty="0">
                <a:solidFill>
                  <a:srgbClr val="404040"/>
                </a:solidFill>
                <a:latin typeface="Times New Roman"/>
                <a:cs typeface="Times New Roman"/>
              </a:rPr>
              <a:t> </a:t>
            </a:r>
            <a:r>
              <a:rPr sz="1700" dirty="0">
                <a:solidFill>
                  <a:srgbClr val="404040"/>
                </a:solidFill>
                <a:latin typeface="Times New Roman"/>
                <a:cs typeface="Times New Roman"/>
              </a:rPr>
              <a:t>a</a:t>
            </a:r>
            <a:r>
              <a:rPr sz="1700" spc="-15" dirty="0">
                <a:solidFill>
                  <a:srgbClr val="404040"/>
                </a:solidFill>
                <a:latin typeface="Times New Roman"/>
                <a:cs typeface="Times New Roman"/>
              </a:rPr>
              <a:t> </a:t>
            </a:r>
            <a:r>
              <a:rPr sz="1700" dirty="0">
                <a:solidFill>
                  <a:srgbClr val="404040"/>
                </a:solidFill>
                <a:latin typeface="Times New Roman"/>
                <a:cs typeface="Times New Roman"/>
              </a:rPr>
              <a:t>common</a:t>
            </a:r>
            <a:r>
              <a:rPr sz="1700" spc="-15" dirty="0">
                <a:solidFill>
                  <a:srgbClr val="404040"/>
                </a:solidFill>
                <a:latin typeface="Times New Roman"/>
                <a:cs typeface="Times New Roman"/>
              </a:rPr>
              <a:t> </a:t>
            </a:r>
            <a:r>
              <a:rPr sz="1700" spc="-10" dirty="0">
                <a:solidFill>
                  <a:srgbClr val="404040"/>
                </a:solidFill>
                <a:latin typeface="Times New Roman"/>
                <a:cs typeface="Times New Roman"/>
              </a:rPr>
              <a:t>grandparent.</a:t>
            </a:r>
            <a:endParaRPr sz="1700">
              <a:latin typeface="Times New Roman"/>
              <a:cs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6F9C408-E325-5629-7286-FF2E942986D7}"/>
              </a:ext>
            </a:extLst>
          </p:cNvPr>
          <p:cNvSpPr>
            <a:spLocks noGrp="1"/>
          </p:cNvSpPr>
          <p:nvPr>
            <p:ph type="title"/>
          </p:nvPr>
        </p:nvSpPr>
        <p:spPr>
          <a:xfrm>
            <a:off x="36871" y="121718"/>
            <a:ext cx="8229600" cy="311902"/>
          </a:xfrm>
        </p:spPr>
        <p:txBody>
          <a:bodyPr>
            <a:normAutofit fontScale="90000"/>
          </a:bodyPr>
          <a:lstStyle/>
          <a:p>
            <a:r>
              <a:rPr lang="en-US" dirty="0"/>
              <a:t>Combining Relations</a:t>
            </a:r>
          </a:p>
        </p:txBody>
      </p:sp>
      <p:sp>
        <p:nvSpPr>
          <p:cNvPr id="7" name="Content Placeholder 2">
            <a:extLst>
              <a:ext uri="{FF2B5EF4-FFF2-40B4-BE49-F238E27FC236}">
                <a16:creationId xmlns:a16="http://schemas.microsoft.com/office/drawing/2014/main" id="{25141405-24A9-0DCB-6F2A-8FE7B0E22734}"/>
              </a:ext>
            </a:extLst>
          </p:cNvPr>
          <p:cNvSpPr txBox="1">
            <a:spLocks/>
          </p:cNvSpPr>
          <p:nvPr/>
        </p:nvSpPr>
        <p:spPr>
          <a:xfrm>
            <a:off x="178210" y="903436"/>
            <a:ext cx="8383230" cy="2585323"/>
          </a:xfrm>
          <a:prstGeom prst="rect">
            <a:avLst/>
          </a:prstGeom>
          <a:solidFill>
            <a:schemeClr val="bg1"/>
          </a:solidFill>
        </p:spPr>
        <p:txBody>
          <a:bodyPr wrap="square" lIns="0" tIns="0" rIns="0" bIns="0">
            <a:spAutoFit/>
          </a:bodyPr>
          <a:lstStyle>
            <a:lvl1pPr marL="0">
              <a:defRPr sz="1800" b="0" i="0">
                <a:solidFill>
                  <a:srgbClr val="404040"/>
                </a:solidFill>
                <a:latin typeface="Trebuchet MS"/>
                <a:ea typeface="+mn-ea"/>
                <a:cs typeface="Trebuchet M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400" dirty="0"/>
              <a:t>Given two relations </a:t>
            </a:r>
            <a:r>
              <a:rPr lang="en-US" sz="2400" b="1" i="1" dirty="0"/>
              <a:t>R</a:t>
            </a:r>
            <a:r>
              <a:rPr lang="en-US" sz="2400" b="1" baseline="-25000" dirty="0">
                <a:latin typeface="Cambria Math" pitchFamily="18" charset="0"/>
                <a:ea typeface="Cambria Math" pitchFamily="18" charset="0"/>
              </a:rPr>
              <a:t>1</a:t>
            </a:r>
            <a:r>
              <a:rPr lang="en-US" sz="2400" b="1" dirty="0"/>
              <a:t> </a:t>
            </a:r>
            <a:r>
              <a:rPr lang="en-US" sz="2400" dirty="0"/>
              <a:t>and </a:t>
            </a:r>
            <a:r>
              <a:rPr lang="en-US" sz="2400" b="1" i="1" dirty="0"/>
              <a:t>R</a:t>
            </a:r>
            <a:r>
              <a:rPr lang="en-US" sz="2400" b="1" baseline="-25000" dirty="0">
                <a:latin typeface="Cambria Math" pitchFamily="18" charset="0"/>
                <a:ea typeface="Cambria Math" pitchFamily="18" charset="0"/>
              </a:rPr>
              <a:t>2</a:t>
            </a:r>
            <a:r>
              <a:rPr lang="en-US" sz="2400" dirty="0"/>
              <a:t>, we can combine them using basic set operations to form new relations such as </a:t>
            </a:r>
            <a:r>
              <a:rPr lang="en-US" sz="2400" b="1" i="1" dirty="0"/>
              <a:t>R</a:t>
            </a:r>
            <a:r>
              <a:rPr lang="en-US" sz="2400" b="1" baseline="-25000" dirty="0">
                <a:latin typeface="Cambria Math" pitchFamily="18" charset="0"/>
                <a:ea typeface="Cambria Math" pitchFamily="18" charset="0"/>
              </a:rPr>
              <a:t>1</a:t>
            </a:r>
            <a:r>
              <a:rPr lang="en-US" sz="2400" b="1" dirty="0"/>
              <a:t> </a:t>
            </a:r>
            <a:r>
              <a:rPr lang="en-US" sz="2400" b="1" dirty="0">
                <a:latin typeface="Cambria Math"/>
                <a:ea typeface="Cambria Math"/>
              </a:rPr>
              <a:t>∪</a:t>
            </a:r>
            <a:r>
              <a:rPr lang="en-US" sz="2400" b="1" dirty="0"/>
              <a:t> </a:t>
            </a:r>
            <a:r>
              <a:rPr lang="en-US" sz="2400" b="1" i="1" dirty="0"/>
              <a:t>R</a:t>
            </a:r>
            <a:r>
              <a:rPr lang="en-US" sz="2400" b="1" baseline="-25000" dirty="0">
                <a:latin typeface="Cambria Math" pitchFamily="18" charset="0"/>
                <a:ea typeface="Cambria Math" pitchFamily="18" charset="0"/>
              </a:rPr>
              <a:t>2</a:t>
            </a:r>
            <a:r>
              <a:rPr lang="en-US" sz="2400" dirty="0"/>
              <a:t>, </a:t>
            </a:r>
            <a:r>
              <a:rPr lang="en-US" sz="2400" b="1" i="1" dirty="0"/>
              <a:t>R</a:t>
            </a:r>
            <a:r>
              <a:rPr lang="en-US" sz="2400" b="1" baseline="-25000" dirty="0">
                <a:latin typeface="Cambria Math" pitchFamily="18" charset="0"/>
                <a:ea typeface="Cambria Math" pitchFamily="18" charset="0"/>
              </a:rPr>
              <a:t>1</a:t>
            </a:r>
            <a:r>
              <a:rPr lang="en-US" sz="2400" b="1" dirty="0"/>
              <a:t> </a:t>
            </a:r>
            <a:r>
              <a:rPr lang="en-US" sz="2400" b="1" dirty="0">
                <a:latin typeface="Cambria Math"/>
                <a:ea typeface="Cambria Math"/>
              </a:rPr>
              <a:t>∩</a:t>
            </a:r>
            <a:r>
              <a:rPr lang="en-US" sz="2400" b="1" dirty="0"/>
              <a:t> </a:t>
            </a:r>
            <a:r>
              <a:rPr lang="en-US" sz="2400" b="1" i="1" dirty="0"/>
              <a:t>R</a:t>
            </a:r>
            <a:r>
              <a:rPr lang="en-US" sz="2400" b="1" baseline="-25000" dirty="0">
                <a:latin typeface="Cambria Math" pitchFamily="18" charset="0"/>
                <a:ea typeface="Cambria Math" pitchFamily="18" charset="0"/>
              </a:rPr>
              <a:t>2</a:t>
            </a:r>
            <a:r>
              <a:rPr lang="en-US" sz="2400" dirty="0"/>
              <a:t>, </a:t>
            </a:r>
            <a:r>
              <a:rPr lang="en-US" sz="2400" b="1" i="1" dirty="0"/>
              <a:t>R</a:t>
            </a:r>
            <a:r>
              <a:rPr lang="en-US" sz="2400" b="1" baseline="-25000" dirty="0">
                <a:latin typeface="Cambria Math" pitchFamily="18" charset="0"/>
                <a:ea typeface="Cambria Math" pitchFamily="18" charset="0"/>
              </a:rPr>
              <a:t>1</a:t>
            </a:r>
            <a:r>
              <a:rPr lang="en-US" sz="2400" b="1" dirty="0"/>
              <a:t> </a:t>
            </a:r>
            <a:r>
              <a:rPr lang="en-US" sz="2400" b="1" dirty="0">
                <a:latin typeface="Cambria Math"/>
                <a:ea typeface="Cambria Math"/>
              </a:rPr>
              <a:t>− </a:t>
            </a:r>
            <a:r>
              <a:rPr lang="en-US" sz="2400" b="1" i="1" dirty="0"/>
              <a:t>R</a:t>
            </a:r>
            <a:r>
              <a:rPr lang="en-US" sz="2400" b="1" baseline="-25000" dirty="0">
                <a:latin typeface="Cambria Math" pitchFamily="18" charset="0"/>
                <a:ea typeface="Cambria Math" pitchFamily="18" charset="0"/>
              </a:rPr>
              <a:t>2</a:t>
            </a:r>
            <a:r>
              <a:rPr lang="en-US" sz="2400" dirty="0"/>
              <a:t>, and</a:t>
            </a:r>
            <a:r>
              <a:rPr lang="en-US" sz="2400" i="1" dirty="0"/>
              <a:t> </a:t>
            </a:r>
            <a:r>
              <a:rPr lang="en-US" sz="2400" b="1" i="1" dirty="0"/>
              <a:t>R</a:t>
            </a:r>
            <a:r>
              <a:rPr lang="en-US" sz="2400" b="1" baseline="-25000" dirty="0">
                <a:latin typeface="Cambria Math" pitchFamily="18" charset="0"/>
                <a:ea typeface="Cambria Math" pitchFamily="18" charset="0"/>
              </a:rPr>
              <a:t>2</a:t>
            </a:r>
            <a:r>
              <a:rPr lang="en-US" sz="2400" b="1" dirty="0"/>
              <a:t> </a:t>
            </a:r>
            <a:r>
              <a:rPr lang="en-US" sz="2400" b="1" dirty="0">
                <a:latin typeface="Cambria Math"/>
                <a:ea typeface="Cambria Math"/>
              </a:rPr>
              <a:t>−</a:t>
            </a:r>
            <a:r>
              <a:rPr lang="en-US" sz="2400" b="1" dirty="0"/>
              <a:t> </a:t>
            </a:r>
            <a:r>
              <a:rPr lang="en-US" sz="2400" b="1" i="1" dirty="0"/>
              <a:t>R</a:t>
            </a:r>
            <a:r>
              <a:rPr lang="en-US" sz="2400" b="1" baseline="-25000" dirty="0">
                <a:latin typeface="Cambria Math" pitchFamily="18" charset="0"/>
                <a:ea typeface="Cambria Math" pitchFamily="18" charset="0"/>
              </a:rPr>
              <a:t>1</a:t>
            </a:r>
            <a:r>
              <a:rPr lang="en-US" sz="2400" dirty="0"/>
              <a:t>.</a:t>
            </a:r>
          </a:p>
          <a:p>
            <a:r>
              <a:rPr lang="en-US" sz="2400" b="1" dirty="0"/>
              <a:t>Example</a:t>
            </a:r>
            <a:r>
              <a:rPr lang="en-US" sz="2400" dirty="0"/>
              <a:t>: </a:t>
            </a:r>
            <a:r>
              <a:rPr lang="en-US" sz="2400" dirty="0">
                <a:solidFill>
                  <a:srgbClr val="C00000"/>
                </a:solidFill>
              </a:rPr>
              <a:t>Let </a:t>
            </a:r>
            <a:r>
              <a:rPr lang="en-US" sz="2400" i="1" dirty="0">
                <a:solidFill>
                  <a:srgbClr val="C00000"/>
                </a:solidFill>
              </a:rPr>
              <a:t>A</a:t>
            </a:r>
            <a:r>
              <a:rPr lang="en-US" sz="2400" dirty="0">
                <a:solidFill>
                  <a:srgbClr val="C00000"/>
                </a:solidFill>
              </a:rPr>
              <a:t> = {</a:t>
            </a:r>
            <a:r>
              <a:rPr lang="en-US" sz="2400" dirty="0">
                <a:solidFill>
                  <a:srgbClr val="C00000"/>
                </a:solidFill>
                <a:latin typeface="Cambria Math" pitchFamily="18" charset="0"/>
                <a:ea typeface="Cambria Math" pitchFamily="18" charset="0"/>
              </a:rPr>
              <a:t>1,2,3</a:t>
            </a:r>
            <a:r>
              <a:rPr lang="en-US" sz="2400" dirty="0">
                <a:solidFill>
                  <a:srgbClr val="C00000"/>
                </a:solidFill>
              </a:rPr>
              <a:t>}</a:t>
            </a:r>
            <a:r>
              <a:rPr lang="en-US" sz="2400" i="1" dirty="0">
                <a:solidFill>
                  <a:srgbClr val="C00000"/>
                </a:solidFill>
              </a:rPr>
              <a:t> </a:t>
            </a:r>
            <a:r>
              <a:rPr lang="en-US" sz="2400" dirty="0">
                <a:solidFill>
                  <a:srgbClr val="C00000"/>
                </a:solidFill>
              </a:rPr>
              <a:t>and </a:t>
            </a:r>
            <a:r>
              <a:rPr lang="en-US" sz="2400" i="1" dirty="0">
                <a:solidFill>
                  <a:srgbClr val="C00000"/>
                </a:solidFill>
              </a:rPr>
              <a:t>B</a:t>
            </a:r>
            <a:r>
              <a:rPr lang="en-US" sz="2400" dirty="0">
                <a:solidFill>
                  <a:srgbClr val="C00000"/>
                </a:solidFill>
              </a:rPr>
              <a:t> </a:t>
            </a:r>
            <a:r>
              <a:rPr lang="en-US" sz="2400" i="1" dirty="0">
                <a:solidFill>
                  <a:srgbClr val="C00000"/>
                </a:solidFill>
              </a:rPr>
              <a:t>= </a:t>
            </a:r>
            <a:r>
              <a:rPr lang="en-US" sz="2400" dirty="0">
                <a:solidFill>
                  <a:srgbClr val="C00000"/>
                </a:solidFill>
              </a:rPr>
              <a:t>{</a:t>
            </a:r>
            <a:r>
              <a:rPr lang="en-US" sz="2400" dirty="0">
                <a:solidFill>
                  <a:srgbClr val="C00000"/>
                </a:solidFill>
                <a:latin typeface="Cambria Math" pitchFamily="18" charset="0"/>
                <a:ea typeface="Cambria Math" pitchFamily="18" charset="0"/>
              </a:rPr>
              <a:t>1,2,3,4</a:t>
            </a:r>
            <a:r>
              <a:rPr lang="en-US" sz="2400" dirty="0">
                <a:solidFill>
                  <a:srgbClr val="C00000"/>
                </a:solidFill>
              </a:rPr>
              <a:t>}.</a:t>
            </a:r>
            <a:r>
              <a:rPr lang="en-US" sz="2400" dirty="0"/>
              <a:t> The relations </a:t>
            </a:r>
            <a:r>
              <a:rPr lang="en-US" sz="2400" i="1" dirty="0">
                <a:solidFill>
                  <a:srgbClr val="C00000"/>
                </a:solidFill>
              </a:rPr>
              <a:t>R</a:t>
            </a:r>
            <a:r>
              <a:rPr lang="en-US" sz="2400" baseline="-25000" dirty="0">
                <a:solidFill>
                  <a:srgbClr val="C00000"/>
                </a:solidFill>
                <a:latin typeface="Cambria Math" pitchFamily="18" charset="0"/>
                <a:ea typeface="Cambria Math" pitchFamily="18" charset="0"/>
              </a:rPr>
              <a:t>1</a:t>
            </a:r>
            <a:r>
              <a:rPr lang="en-US" sz="2400" dirty="0">
                <a:solidFill>
                  <a:srgbClr val="C00000"/>
                </a:solidFill>
              </a:rPr>
              <a:t> = {(</a:t>
            </a:r>
            <a:r>
              <a:rPr lang="en-US" sz="2400" dirty="0">
                <a:solidFill>
                  <a:srgbClr val="C00000"/>
                </a:solidFill>
                <a:latin typeface="Cambria Math" pitchFamily="18" charset="0"/>
                <a:ea typeface="Cambria Math" pitchFamily="18" charset="0"/>
              </a:rPr>
              <a:t>1,1</a:t>
            </a:r>
            <a:r>
              <a:rPr lang="en-US" sz="2400" dirty="0">
                <a:solidFill>
                  <a:srgbClr val="C00000"/>
                </a:solidFill>
              </a:rPr>
              <a:t>),(</a:t>
            </a:r>
            <a:r>
              <a:rPr lang="en-US" sz="2400" dirty="0">
                <a:solidFill>
                  <a:srgbClr val="C00000"/>
                </a:solidFill>
                <a:latin typeface="Cambria Math" pitchFamily="18" charset="0"/>
                <a:ea typeface="Cambria Math" pitchFamily="18" charset="0"/>
              </a:rPr>
              <a:t>2,2</a:t>
            </a:r>
            <a:r>
              <a:rPr lang="en-US" sz="2400" dirty="0">
                <a:solidFill>
                  <a:srgbClr val="C00000"/>
                </a:solidFill>
              </a:rPr>
              <a:t>),(</a:t>
            </a:r>
            <a:r>
              <a:rPr lang="en-US" sz="2400" dirty="0">
                <a:solidFill>
                  <a:srgbClr val="C00000"/>
                </a:solidFill>
                <a:latin typeface="Cambria Math" pitchFamily="18" charset="0"/>
                <a:ea typeface="Cambria Math" pitchFamily="18" charset="0"/>
              </a:rPr>
              <a:t>3,3</a:t>
            </a:r>
            <a:r>
              <a:rPr lang="en-US" sz="2400" dirty="0">
                <a:solidFill>
                  <a:srgbClr val="C00000"/>
                </a:solidFill>
              </a:rPr>
              <a:t>)} </a:t>
            </a:r>
            <a:r>
              <a:rPr lang="en-US" sz="2400" dirty="0"/>
              <a:t>and </a:t>
            </a:r>
            <a:r>
              <a:rPr lang="en-US" sz="2400" i="1" dirty="0">
                <a:solidFill>
                  <a:srgbClr val="C00000"/>
                </a:solidFill>
              </a:rPr>
              <a:t>R</a:t>
            </a:r>
            <a:r>
              <a:rPr lang="en-US" sz="2400" baseline="-25000" dirty="0">
                <a:solidFill>
                  <a:srgbClr val="C00000"/>
                </a:solidFill>
                <a:latin typeface="Cambria Math" pitchFamily="18" charset="0"/>
                <a:ea typeface="Cambria Math" pitchFamily="18" charset="0"/>
              </a:rPr>
              <a:t>2</a:t>
            </a:r>
            <a:r>
              <a:rPr lang="en-US" sz="2400" dirty="0">
                <a:solidFill>
                  <a:srgbClr val="C00000"/>
                </a:solidFill>
              </a:rPr>
              <a:t> = {(</a:t>
            </a:r>
            <a:r>
              <a:rPr lang="en-US" sz="2400" dirty="0">
                <a:solidFill>
                  <a:srgbClr val="C00000"/>
                </a:solidFill>
                <a:latin typeface="Cambria Math" pitchFamily="18" charset="0"/>
                <a:ea typeface="Cambria Math" pitchFamily="18" charset="0"/>
              </a:rPr>
              <a:t>1,1</a:t>
            </a:r>
            <a:r>
              <a:rPr lang="en-US" sz="2400" dirty="0">
                <a:solidFill>
                  <a:srgbClr val="C00000"/>
                </a:solidFill>
              </a:rPr>
              <a:t>),(</a:t>
            </a:r>
            <a:r>
              <a:rPr lang="en-US" sz="2400" dirty="0">
                <a:solidFill>
                  <a:srgbClr val="C00000"/>
                </a:solidFill>
                <a:latin typeface="Cambria Math" pitchFamily="18" charset="0"/>
                <a:ea typeface="Cambria Math" pitchFamily="18" charset="0"/>
              </a:rPr>
              <a:t>1,2</a:t>
            </a:r>
            <a:r>
              <a:rPr lang="en-US" sz="2400" dirty="0">
                <a:solidFill>
                  <a:srgbClr val="C00000"/>
                </a:solidFill>
              </a:rPr>
              <a:t>),(</a:t>
            </a:r>
            <a:r>
              <a:rPr lang="en-US" sz="2400" dirty="0">
                <a:solidFill>
                  <a:srgbClr val="C00000"/>
                </a:solidFill>
                <a:latin typeface="Cambria Math" pitchFamily="18" charset="0"/>
                <a:ea typeface="Cambria Math" pitchFamily="18" charset="0"/>
              </a:rPr>
              <a:t>1,3</a:t>
            </a:r>
            <a:r>
              <a:rPr lang="en-US" sz="2400" dirty="0">
                <a:solidFill>
                  <a:srgbClr val="C00000"/>
                </a:solidFill>
              </a:rPr>
              <a:t>),(</a:t>
            </a:r>
            <a:r>
              <a:rPr lang="en-US" sz="2400" dirty="0">
                <a:solidFill>
                  <a:srgbClr val="C00000"/>
                </a:solidFill>
                <a:latin typeface="Cambria Math" pitchFamily="18" charset="0"/>
                <a:ea typeface="Cambria Math" pitchFamily="18" charset="0"/>
              </a:rPr>
              <a:t>1,4</a:t>
            </a:r>
            <a:r>
              <a:rPr lang="en-US" sz="2400" dirty="0">
                <a:solidFill>
                  <a:srgbClr val="C00000"/>
                </a:solidFill>
              </a:rPr>
              <a:t>)}</a:t>
            </a:r>
            <a:r>
              <a:rPr lang="en-US" sz="2400" dirty="0"/>
              <a:t> can be combined using basic set operations to form new relations:</a:t>
            </a:r>
          </a:p>
          <a:p>
            <a:r>
              <a:rPr lang="en-US" sz="2400" dirty="0"/>
              <a:t>   </a:t>
            </a:r>
            <a:r>
              <a:rPr lang="en-US" sz="2400" b="1" dirty="0">
                <a:solidFill>
                  <a:srgbClr val="0070C0"/>
                </a:solidFill>
              </a:rPr>
              <a:t>Take all pairs that are in R1 OR in R2</a:t>
            </a:r>
          </a:p>
        </p:txBody>
      </p:sp>
      <p:sp>
        <p:nvSpPr>
          <p:cNvPr id="8" name="TextBox 7">
            <a:extLst>
              <a:ext uri="{FF2B5EF4-FFF2-40B4-BE49-F238E27FC236}">
                <a16:creationId xmlns:a16="http://schemas.microsoft.com/office/drawing/2014/main" id="{1E8F8886-4D43-EBA9-569A-FF38E166820A}"/>
              </a:ext>
            </a:extLst>
          </p:cNvPr>
          <p:cNvSpPr txBox="1"/>
          <p:nvPr/>
        </p:nvSpPr>
        <p:spPr>
          <a:xfrm>
            <a:off x="385916" y="3488759"/>
            <a:ext cx="7086600" cy="461665"/>
          </a:xfrm>
          <a:prstGeom prst="rect">
            <a:avLst/>
          </a:prstGeom>
          <a:noFill/>
        </p:spPr>
        <p:txBody>
          <a:bodyPr wrap="square" rtlCol="0">
            <a:spAutoFit/>
          </a:bodyPr>
          <a:lstStyle/>
          <a:p>
            <a:r>
              <a:rPr lang="en-US" sz="2400" b="1" i="1" dirty="0"/>
              <a:t>R</a:t>
            </a:r>
            <a:r>
              <a:rPr lang="en-US" sz="2400" b="1" baseline="-25000" dirty="0">
                <a:latin typeface="Cambria Math" pitchFamily="18" charset="0"/>
                <a:ea typeface="Cambria Math" pitchFamily="18" charset="0"/>
              </a:rPr>
              <a:t>1</a:t>
            </a:r>
            <a:r>
              <a:rPr lang="en-US" sz="2400" b="1" dirty="0"/>
              <a:t> </a:t>
            </a:r>
            <a:r>
              <a:rPr lang="en-US" sz="2400" b="1" dirty="0">
                <a:latin typeface="Cambria Math"/>
                <a:ea typeface="Cambria Math"/>
              </a:rPr>
              <a:t>∪</a:t>
            </a:r>
            <a:r>
              <a:rPr lang="en-US" sz="2400" b="1" dirty="0"/>
              <a:t> </a:t>
            </a:r>
            <a:r>
              <a:rPr lang="en-US" sz="2400" b="1" i="1" dirty="0"/>
              <a:t>R</a:t>
            </a:r>
            <a:r>
              <a:rPr lang="en-US" sz="2400" b="1" baseline="-25000" dirty="0">
                <a:latin typeface="Cambria Math" pitchFamily="18" charset="0"/>
                <a:ea typeface="Cambria Math" pitchFamily="18" charset="0"/>
              </a:rPr>
              <a:t>2 </a:t>
            </a:r>
            <a:r>
              <a:rPr lang="en-US" sz="2400" b="1" dirty="0"/>
              <a:t>={(</a:t>
            </a:r>
            <a:r>
              <a:rPr lang="en-US" sz="2400" b="1" dirty="0">
                <a:latin typeface="Cambria Math" pitchFamily="18" charset="0"/>
                <a:ea typeface="Cambria Math" pitchFamily="18" charset="0"/>
              </a:rPr>
              <a:t>1,1</a:t>
            </a:r>
            <a:r>
              <a:rPr lang="en-US" sz="2400" b="1" dirty="0"/>
              <a:t>),(</a:t>
            </a:r>
            <a:r>
              <a:rPr lang="en-US" sz="2400" b="1" dirty="0">
                <a:latin typeface="Cambria Math" pitchFamily="18" charset="0"/>
                <a:ea typeface="Cambria Math" pitchFamily="18" charset="0"/>
              </a:rPr>
              <a:t>1,2</a:t>
            </a:r>
            <a:r>
              <a:rPr lang="en-US" sz="2400" b="1" dirty="0"/>
              <a:t>),(</a:t>
            </a:r>
            <a:r>
              <a:rPr lang="en-US" sz="2400" b="1" dirty="0">
                <a:latin typeface="Cambria Math" pitchFamily="18" charset="0"/>
                <a:ea typeface="Cambria Math" pitchFamily="18" charset="0"/>
              </a:rPr>
              <a:t>1,3</a:t>
            </a:r>
            <a:r>
              <a:rPr lang="en-US" sz="2400" b="1" dirty="0"/>
              <a:t>),(</a:t>
            </a:r>
            <a:r>
              <a:rPr lang="en-US" sz="2400" b="1" dirty="0">
                <a:latin typeface="Cambria Math" pitchFamily="18" charset="0"/>
                <a:ea typeface="Cambria Math" pitchFamily="18" charset="0"/>
              </a:rPr>
              <a:t>1,4</a:t>
            </a:r>
            <a:r>
              <a:rPr lang="en-US" sz="2400" b="1" dirty="0"/>
              <a:t>),(</a:t>
            </a:r>
            <a:r>
              <a:rPr lang="en-US" sz="2400" b="1" dirty="0">
                <a:latin typeface="Cambria Math" pitchFamily="18" charset="0"/>
                <a:ea typeface="Cambria Math" pitchFamily="18" charset="0"/>
              </a:rPr>
              <a:t>2,2</a:t>
            </a:r>
            <a:r>
              <a:rPr lang="en-US" sz="2400" b="1" dirty="0"/>
              <a:t>),(</a:t>
            </a:r>
            <a:r>
              <a:rPr lang="en-US" sz="2400" b="1" dirty="0">
                <a:latin typeface="Cambria Math" pitchFamily="18" charset="0"/>
                <a:ea typeface="Cambria Math" pitchFamily="18" charset="0"/>
              </a:rPr>
              <a:t>3,3</a:t>
            </a:r>
            <a:r>
              <a:rPr lang="en-US" sz="2400" b="1" dirty="0"/>
              <a:t>)} </a:t>
            </a:r>
          </a:p>
        </p:txBody>
      </p:sp>
      <p:sp>
        <p:nvSpPr>
          <p:cNvPr id="9" name="TextBox 8">
            <a:extLst>
              <a:ext uri="{FF2B5EF4-FFF2-40B4-BE49-F238E27FC236}">
                <a16:creationId xmlns:a16="http://schemas.microsoft.com/office/drawing/2014/main" id="{CD2CFF3C-3034-17F0-8E83-B9327E0E0579}"/>
              </a:ext>
            </a:extLst>
          </p:cNvPr>
          <p:cNvSpPr txBox="1"/>
          <p:nvPr/>
        </p:nvSpPr>
        <p:spPr>
          <a:xfrm>
            <a:off x="368710" y="3980723"/>
            <a:ext cx="7772400" cy="769441"/>
          </a:xfrm>
          <a:prstGeom prst="rect">
            <a:avLst/>
          </a:prstGeom>
          <a:noFill/>
        </p:spPr>
        <p:txBody>
          <a:bodyPr wrap="square" rtlCol="0">
            <a:spAutoFit/>
          </a:bodyPr>
          <a:lstStyle/>
          <a:p>
            <a:r>
              <a:rPr lang="en-US" sz="2000" b="1" dirty="0">
                <a:solidFill>
                  <a:srgbClr val="0070C0"/>
                </a:solidFill>
              </a:rPr>
              <a:t>Take only pairs that are in BOTH R1 AND R2</a:t>
            </a:r>
            <a:br>
              <a:rPr lang="en-US" sz="2800" i="1" dirty="0"/>
            </a:br>
            <a:r>
              <a:rPr lang="en-US" sz="2400" b="1" i="1" dirty="0"/>
              <a:t>R</a:t>
            </a:r>
            <a:r>
              <a:rPr lang="en-US" sz="2400" b="1" baseline="-25000" dirty="0">
                <a:latin typeface="Cambria Math" pitchFamily="18" charset="0"/>
                <a:ea typeface="Cambria Math" pitchFamily="18" charset="0"/>
              </a:rPr>
              <a:t>1</a:t>
            </a:r>
            <a:r>
              <a:rPr lang="en-US" sz="2400" b="1" dirty="0"/>
              <a:t> </a:t>
            </a:r>
            <a:r>
              <a:rPr lang="en-US" sz="2400" b="1" dirty="0">
                <a:latin typeface="Cambria Math"/>
                <a:ea typeface="Cambria Math"/>
              </a:rPr>
              <a:t>∩</a:t>
            </a:r>
            <a:r>
              <a:rPr lang="en-US" sz="2400" b="1" dirty="0"/>
              <a:t> </a:t>
            </a:r>
            <a:r>
              <a:rPr lang="en-US" sz="2400" b="1" i="1" dirty="0"/>
              <a:t>R</a:t>
            </a:r>
            <a:r>
              <a:rPr lang="en-US" sz="2400" b="1" baseline="-25000" dirty="0">
                <a:latin typeface="Cambria Math" pitchFamily="18" charset="0"/>
                <a:ea typeface="Cambria Math" pitchFamily="18" charset="0"/>
              </a:rPr>
              <a:t>2 </a:t>
            </a:r>
            <a:r>
              <a:rPr lang="en-US" sz="2400" b="1" dirty="0"/>
              <a:t>={(</a:t>
            </a:r>
            <a:r>
              <a:rPr lang="en-US" sz="2400" b="1" dirty="0">
                <a:latin typeface="Cambria Math" pitchFamily="18" charset="0"/>
                <a:ea typeface="Cambria Math" pitchFamily="18" charset="0"/>
              </a:rPr>
              <a:t>1,1</a:t>
            </a:r>
            <a:r>
              <a:rPr lang="en-US" sz="2400" b="1" dirty="0"/>
              <a:t>)} </a:t>
            </a:r>
          </a:p>
        </p:txBody>
      </p:sp>
      <p:sp>
        <p:nvSpPr>
          <p:cNvPr id="10" name="TextBox 9">
            <a:extLst>
              <a:ext uri="{FF2B5EF4-FFF2-40B4-BE49-F238E27FC236}">
                <a16:creationId xmlns:a16="http://schemas.microsoft.com/office/drawing/2014/main" id="{725ABFEE-CF46-51A2-ABC6-1DCE77218999}"/>
              </a:ext>
            </a:extLst>
          </p:cNvPr>
          <p:cNvSpPr txBox="1"/>
          <p:nvPr/>
        </p:nvSpPr>
        <p:spPr>
          <a:xfrm>
            <a:off x="356420" y="4849649"/>
            <a:ext cx="5638800" cy="1200329"/>
          </a:xfrm>
          <a:prstGeom prst="rect">
            <a:avLst/>
          </a:prstGeom>
          <a:noFill/>
        </p:spPr>
        <p:txBody>
          <a:bodyPr wrap="square" rtlCol="0">
            <a:spAutoFit/>
          </a:bodyPr>
          <a:lstStyle/>
          <a:p>
            <a:r>
              <a:rPr lang="en-US" sz="2000" b="1" dirty="0">
                <a:solidFill>
                  <a:srgbClr val="0070C0"/>
                </a:solidFill>
              </a:rPr>
              <a:t>Take pairs that are in R1 but NOT in R2</a:t>
            </a:r>
            <a:br>
              <a:rPr lang="en-US" sz="2800" b="1" i="1" dirty="0">
                <a:solidFill>
                  <a:srgbClr val="0070C0"/>
                </a:solidFill>
              </a:rPr>
            </a:br>
            <a:r>
              <a:rPr lang="en-US" sz="2400" b="1" i="1" dirty="0"/>
              <a:t>R</a:t>
            </a:r>
            <a:r>
              <a:rPr lang="en-US" sz="2400" b="1" baseline="-25000" dirty="0">
                <a:latin typeface="Cambria Math" pitchFamily="18" charset="0"/>
                <a:ea typeface="Cambria Math" pitchFamily="18" charset="0"/>
              </a:rPr>
              <a:t>1</a:t>
            </a:r>
            <a:r>
              <a:rPr lang="en-US" sz="2400" b="1" dirty="0"/>
              <a:t> </a:t>
            </a:r>
            <a:r>
              <a:rPr lang="en-US" sz="2400" b="1" dirty="0">
                <a:latin typeface="Cambria Math"/>
                <a:ea typeface="Cambria Math"/>
              </a:rPr>
              <a:t>− </a:t>
            </a:r>
            <a:r>
              <a:rPr lang="en-US" sz="2400" b="1" i="1" dirty="0"/>
              <a:t>R</a:t>
            </a:r>
            <a:r>
              <a:rPr lang="en-US" sz="2400" b="1" baseline="-25000" dirty="0">
                <a:latin typeface="Cambria Math" pitchFamily="18" charset="0"/>
                <a:ea typeface="Cambria Math" pitchFamily="18" charset="0"/>
              </a:rPr>
              <a:t>2 </a:t>
            </a:r>
            <a:r>
              <a:rPr lang="en-US" sz="2400" b="1" dirty="0"/>
              <a:t>={(</a:t>
            </a:r>
            <a:r>
              <a:rPr lang="en-US" sz="2400" b="1" dirty="0">
                <a:latin typeface="Cambria Math" pitchFamily="18" charset="0"/>
                <a:ea typeface="Cambria Math" pitchFamily="18" charset="0"/>
              </a:rPr>
              <a:t>2,2</a:t>
            </a:r>
            <a:r>
              <a:rPr lang="en-US" sz="2400" b="1" dirty="0"/>
              <a:t>),(</a:t>
            </a:r>
            <a:r>
              <a:rPr lang="en-US" sz="2400" b="1" dirty="0">
                <a:latin typeface="Cambria Math" pitchFamily="18" charset="0"/>
                <a:ea typeface="Cambria Math" pitchFamily="18" charset="0"/>
              </a:rPr>
              <a:t>3,3</a:t>
            </a:r>
            <a:r>
              <a:rPr lang="en-US" sz="2400" b="1" dirty="0"/>
              <a:t>)}</a:t>
            </a:r>
            <a:br>
              <a:rPr lang="en-US" sz="2400" b="1" dirty="0"/>
            </a:br>
            <a:r>
              <a:rPr lang="en-US" sz="2800" dirty="0"/>
              <a:t> </a:t>
            </a:r>
          </a:p>
        </p:txBody>
      </p:sp>
      <p:sp>
        <p:nvSpPr>
          <p:cNvPr id="11" name="TextBox 10">
            <a:extLst>
              <a:ext uri="{FF2B5EF4-FFF2-40B4-BE49-F238E27FC236}">
                <a16:creationId xmlns:a16="http://schemas.microsoft.com/office/drawing/2014/main" id="{7E945187-DB46-D416-25CF-29161580183C}"/>
              </a:ext>
            </a:extLst>
          </p:cNvPr>
          <p:cNvSpPr txBox="1"/>
          <p:nvPr/>
        </p:nvSpPr>
        <p:spPr>
          <a:xfrm>
            <a:off x="368710" y="5818060"/>
            <a:ext cx="7848600" cy="769441"/>
          </a:xfrm>
          <a:prstGeom prst="rect">
            <a:avLst/>
          </a:prstGeom>
          <a:noFill/>
        </p:spPr>
        <p:txBody>
          <a:bodyPr wrap="square" rtlCol="0">
            <a:spAutoFit/>
          </a:bodyPr>
          <a:lstStyle/>
          <a:p>
            <a:r>
              <a:rPr lang="en-US" sz="2000" b="1" dirty="0">
                <a:solidFill>
                  <a:srgbClr val="0070C0"/>
                </a:solidFill>
              </a:rPr>
              <a:t>Take pairs that are in R2 but NOT in R1</a:t>
            </a:r>
            <a:br>
              <a:rPr lang="en-US" sz="2000" b="1" i="1" dirty="0">
                <a:solidFill>
                  <a:srgbClr val="0070C0"/>
                </a:solidFill>
              </a:rPr>
            </a:br>
            <a:r>
              <a:rPr lang="en-US" sz="2400" b="1" i="1" dirty="0"/>
              <a:t>R</a:t>
            </a:r>
            <a:r>
              <a:rPr lang="en-US" sz="2400" b="1" baseline="-25000" dirty="0">
                <a:latin typeface="Cambria Math" pitchFamily="18" charset="0"/>
                <a:ea typeface="Cambria Math" pitchFamily="18" charset="0"/>
              </a:rPr>
              <a:t>2</a:t>
            </a:r>
            <a:r>
              <a:rPr lang="en-US" sz="2400" b="1" dirty="0"/>
              <a:t> </a:t>
            </a:r>
            <a:r>
              <a:rPr lang="en-US" sz="2400" b="1" dirty="0">
                <a:latin typeface="Cambria Math"/>
                <a:ea typeface="Cambria Math"/>
              </a:rPr>
              <a:t>−</a:t>
            </a:r>
            <a:r>
              <a:rPr lang="en-US" sz="2400" b="1" dirty="0"/>
              <a:t> </a:t>
            </a:r>
            <a:r>
              <a:rPr lang="en-US" sz="2400" b="1" i="1" dirty="0"/>
              <a:t>R</a:t>
            </a:r>
            <a:r>
              <a:rPr lang="en-US" sz="2400" b="1" baseline="-25000" dirty="0">
                <a:latin typeface="Cambria Math" pitchFamily="18" charset="0"/>
                <a:ea typeface="Cambria Math" pitchFamily="18" charset="0"/>
              </a:rPr>
              <a:t>1 </a:t>
            </a:r>
            <a:r>
              <a:rPr lang="en-US" sz="2400" b="1" dirty="0"/>
              <a:t>={(</a:t>
            </a:r>
            <a:r>
              <a:rPr lang="en-US" sz="2400" b="1" dirty="0">
                <a:latin typeface="Cambria Math" pitchFamily="18" charset="0"/>
                <a:ea typeface="Cambria Math" pitchFamily="18" charset="0"/>
              </a:rPr>
              <a:t>1,2</a:t>
            </a:r>
            <a:r>
              <a:rPr lang="en-US" sz="2400" b="1" dirty="0"/>
              <a:t>),(</a:t>
            </a:r>
            <a:r>
              <a:rPr lang="en-US" sz="2400" b="1" dirty="0">
                <a:latin typeface="Cambria Math" pitchFamily="18" charset="0"/>
                <a:ea typeface="Cambria Math" pitchFamily="18" charset="0"/>
              </a:rPr>
              <a:t>1,3</a:t>
            </a:r>
            <a:r>
              <a:rPr lang="en-US" sz="2400" b="1" dirty="0"/>
              <a:t>),(</a:t>
            </a:r>
            <a:r>
              <a:rPr lang="en-US" sz="2400" b="1" dirty="0">
                <a:latin typeface="Cambria Math" pitchFamily="18" charset="0"/>
                <a:ea typeface="Cambria Math" pitchFamily="18" charset="0"/>
              </a:rPr>
              <a:t>1,4</a:t>
            </a:r>
            <a:r>
              <a:rPr lang="en-US" sz="2400" b="1" dirty="0"/>
              <a:t>)} </a:t>
            </a:r>
          </a:p>
        </p:txBody>
      </p:sp>
    </p:spTree>
    <p:extLst>
      <p:ext uri="{BB962C8B-B14F-4D97-AF65-F5344CB8AC3E}">
        <p14:creationId xmlns:p14="http://schemas.microsoft.com/office/powerpoint/2010/main" val="2791755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9FDCC-7E4A-AD32-6D86-FF80155D2E6C}"/>
              </a:ext>
            </a:extLst>
          </p:cNvPr>
          <p:cNvSpPr txBox="1">
            <a:spLocks/>
          </p:cNvSpPr>
          <p:nvPr/>
        </p:nvSpPr>
        <p:spPr>
          <a:xfrm>
            <a:off x="425246" y="249248"/>
            <a:ext cx="8229600" cy="1143000"/>
          </a:xfrm>
          <a:prstGeom prst="rect">
            <a:avLst/>
          </a:prstGeom>
        </p:spPr>
        <p:txBody>
          <a:bodyPr/>
          <a:lstStyle>
            <a:lvl1pPr>
              <a:defRPr>
                <a:latin typeface="+mj-lt"/>
                <a:ea typeface="+mj-ea"/>
                <a:cs typeface="+mj-cs"/>
              </a:defRPr>
            </a:lvl1pPr>
          </a:lstStyle>
          <a:p>
            <a:r>
              <a:rPr lang="en-US" sz="4000" b="1" dirty="0">
                <a:solidFill>
                  <a:srgbClr val="00B050"/>
                </a:solidFill>
              </a:rPr>
              <a:t>Composition</a:t>
            </a:r>
          </a:p>
        </p:txBody>
      </p:sp>
      <p:sp>
        <p:nvSpPr>
          <p:cNvPr id="3" name="Content Placeholder 2">
            <a:extLst>
              <a:ext uri="{FF2B5EF4-FFF2-40B4-BE49-F238E27FC236}">
                <a16:creationId xmlns:a16="http://schemas.microsoft.com/office/drawing/2014/main" id="{FEC7F398-60E8-BB1E-68B7-6278D010EDF9}"/>
              </a:ext>
            </a:extLst>
          </p:cNvPr>
          <p:cNvSpPr txBox="1">
            <a:spLocks/>
          </p:cNvSpPr>
          <p:nvPr/>
        </p:nvSpPr>
        <p:spPr>
          <a:xfrm>
            <a:off x="457200" y="840413"/>
            <a:ext cx="8229600" cy="4389120"/>
          </a:xfrm>
          <a:prstGeom prst="rect">
            <a:avLst/>
          </a:prstGeom>
          <a:solidFill>
            <a:schemeClr val="bg1"/>
          </a:solidFill>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400" dirty="0"/>
              <a:t>Composition means </a:t>
            </a:r>
            <a:r>
              <a:rPr lang="en-US" sz="2400" b="1" dirty="0">
                <a:solidFill>
                  <a:srgbClr val="7030A0"/>
                </a:solidFill>
              </a:rPr>
              <a:t>linking two relations through a common middle element</a:t>
            </a:r>
            <a:r>
              <a:rPr lang="en-US" sz="2400" dirty="0">
                <a:solidFill>
                  <a:srgbClr val="7030A0"/>
                </a:solidFill>
              </a:rPr>
              <a:t>.</a:t>
            </a:r>
          </a:p>
          <a:p>
            <a:pPr lvl="1">
              <a:buFont typeface="Arial" panose="020B0604020202020204" pitchFamily="34" charset="0"/>
              <a:buChar char="•"/>
            </a:pPr>
            <a:r>
              <a:rPr lang="en-US" sz="2400" dirty="0"/>
              <a:t>Let </a:t>
            </a:r>
            <a:r>
              <a:rPr lang="en-US" sz="2400" b="1" dirty="0"/>
              <a:t>R₁</a:t>
            </a:r>
            <a:r>
              <a:rPr lang="en-US" sz="2400" dirty="0"/>
              <a:t> connect set </a:t>
            </a:r>
            <a:r>
              <a:rPr lang="en-US" sz="2400" b="1" dirty="0"/>
              <a:t>A</a:t>
            </a:r>
            <a:r>
              <a:rPr lang="en-US" sz="2400" dirty="0"/>
              <a:t> to set </a:t>
            </a:r>
            <a:r>
              <a:rPr lang="en-US" sz="2400" b="1" dirty="0"/>
              <a:t>B</a:t>
            </a:r>
            <a:r>
              <a:rPr lang="en-US" sz="2400" dirty="0"/>
              <a:t>.</a:t>
            </a:r>
          </a:p>
          <a:p>
            <a:pPr lvl="1">
              <a:buFont typeface="Arial" panose="020B0604020202020204" pitchFamily="34" charset="0"/>
              <a:buChar char="•"/>
            </a:pPr>
            <a:r>
              <a:rPr lang="en-US" sz="2400" dirty="0"/>
              <a:t>Let </a:t>
            </a:r>
            <a:r>
              <a:rPr lang="en-US" sz="2400" b="1" dirty="0"/>
              <a:t>R₂</a:t>
            </a:r>
            <a:r>
              <a:rPr lang="en-US" sz="2400" dirty="0"/>
              <a:t> connect set </a:t>
            </a:r>
            <a:r>
              <a:rPr lang="en-US" sz="2400" b="1" dirty="0"/>
              <a:t>B</a:t>
            </a:r>
            <a:r>
              <a:rPr lang="en-US" sz="2400" dirty="0"/>
              <a:t> to set </a:t>
            </a:r>
            <a:r>
              <a:rPr lang="en-US" sz="2400" b="1" dirty="0"/>
              <a:t>C</a:t>
            </a:r>
            <a:r>
              <a:rPr lang="en-US" sz="2400" dirty="0"/>
              <a:t>.</a:t>
            </a:r>
          </a:p>
          <a:p>
            <a:r>
              <a:rPr lang="en-US" sz="2400" dirty="0">
                <a:solidFill>
                  <a:srgbClr val="D60093"/>
                </a:solidFill>
              </a:rPr>
              <a:t>To form the composition </a:t>
            </a:r>
            <a:r>
              <a:rPr lang="en-US" sz="2400" b="1" dirty="0">
                <a:solidFill>
                  <a:srgbClr val="D60093"/>
                </a:solidFill>
              </a:rPr>
              <a:t>R₂ ∘ R₁</a:t>
            </a:r>
            <a:r>
              <a:rPr lang="en-US" sz="2400" dirty="0">
                <a:solidFill>
                  <a:srgbClr val="D60093"/>
                </a:solidFill>
              </a:rPr>
              <a:t> (read: “R₂ after R₁”):</a:t>
            </a:r>
          </a:p>
          <a:p>
            <a:pPr lvl="1">
              <a:buFont typeface="Arial" panose="020B0604020202020204" pitchFamily="34" charset="0"/>
              <a:buChar char="•"/>
            </a:pPr>
            <a:r>
              <a:rPr lang="en-US" sz="2400" dirty="0"/>
              <a:t>If </a:t>
            </a:r>
            <a:r>
              <a:rPr lang="en-US" sz="2400" b="1" dirty="0"/>
              <a:t>R₁</a:t>
            </a:r>
            <a:r>
              <a:rPr lang="en-US" sz="2400" dirty="0"/>
              <a:t> connects </a:t>
            </a:r>
            <a:r>
              <a:rPr lang="en-US" sz="2400" b="1" dirty="0"/>
              <a:t>x to y</a:t>
            </a:r>
            <a:r>
              <a:rPr lang="en-US" sz="2400" dirty="0"/>
              <a:t>,</a:t>
            </a:r>
          </a:p>
          <a:p>
            <a:pPr lvl="1">
              <a:buFont typeface="Arial" panose="020B0604020202020204" pitchFamily="34" charset="0"/>
              <a:buChar char="•"/>
            </a:pPr>
            <a:r>
              <a:rPr lang="en-US" sz="2400" dirty="0"/>
              <a:t>And </a:t>
            </a:r>
            <a:r>
              <a:rPr lang="en-US" sz="2400" b="1" dirty="0"/>
              <a:t>R₂</a:t>
            </a:r>
            <a:r>
              <a:rPr lang="en-US" sz="2400" dirty="0"/>
              <a:t> connects </a:t>
            </a:r>
            <a:r>
              <a:rPr lang="en-US" sz="2400" b="1" dirty="0"/>
              <a:t>y to z</a:t>
            </a:r>
            <a:r>
              <a:rPr lang="en-US" sz="2400" dirty="0"/>
              <a:t>,</a:t>
            </a:r>
          </a:p>
          <a:p>
            <a:pPr lvl="1">
              <a:buFont typeface="Arial" panose="020B0604020202020204" pitchFamily="34" charset="0"/>
              <a:buChar char="•"/>
            </a:pPr>
            <a:r>
              <a:rPr lang="en-US" sz="2400" dirty="0"/>
              <a:t>Then the composition connects </a:t>
            </a:r>
            <a:r>
              <a:rPr lang="en-US" sz="2400" b="1" dirty="0"/>
              <a:t>x to z</a:t>
            </a:r>
            <a:r>
              <a:rPr lang="en-US" sz="2400" dirty="0"/>
              <a:t>.</a:t>
            </a:r>
          </a:p>
          <a:p>
            <a:pPr algn="ctr">
              <a:buFont typeface="Arial" panose="020B0604020202020204" pitchFamily="34" charset="0"/>
              <a:buChar char="•"/>
            </a:pPr>
            <a:r>
              <a:rPr lang="en-US" sz="2400" b="1" dirty="0">
                <a:solidFill>
                  <a:srgbClr val="D60093"/>
                </a:solidFill>
              </a:rPr>
              <a:t>Match the middle element (y), &amp; connect the first to the last.</a:t>
            </a:r>
          </a:p>
          <a:p>
            <a:pPr algn="ctr">
              <a:buFont typeface="Arial" panose="020B0604020202020204" pitchFamily="34" charset="0"/>
              <a:buChar char="•"/>
            </a:pPr>
            <a:endParaRPr lang="en-US" sz="2400" b="1" dirty="0">
              <a:solidFill>
                <a:srgbClr val="D60093"/>
              </a:solidFill>
            </a:endParaRPr>
          </a:p>
          <a:p>
            <a:r>
              <a:rPr lang="en-US" sz="2400" dirty="0"/>
              <a:t>Let the sets be:</a:t>
            </a:r>
          </a:p>
          <a:p>
            <a:pPr>
              <a:buFont typeface="Arial" panose="020B0604020202020204" pitchFamily="34" charset="0"/>
              <a:buChar char="•"/>
            </a:pPr>
            <a:r>
              <a:rPr lang="en-US" sz="2400" b="1" dirty="0">
                <a:solidFill>
                  <a:srgbClr val="7030A0"/>
                </a:solidFill>
              </a:rPr>
              <a:t>A = {1, 2}</a:t>
            </a:r>
            <a:r>
              <a:rPr lang="en-US" sz="2400" dirty="0">
                <a:solidFill>
                  <a:srgbClr val="7030A0"/>
                </a:solidFill>
              </a:rPr>
              <a:t>, </a:t>
            </a:r>
            <a:r>
              <a:rPr lang="en-US" sz="2400" b="1" dirty="0">
                <a:solidFill>
                  <a:srgbClr val="7030A0"/>
                </a:solidFill>
              </a:rPr>
              <a:t>B = {a, b}</a:t>
            </a:r>
            <a:r>
              <a:rPr lang="en-US" sz="2400" dirty="0">
                <a:solidFill>
                  <a:srgbClr val="7030A0"/>
                </a:solidFill>
              </a:rPr>
              <a:t>, </a:t>
            </a:r>
            <a:r>
              <a:rPr lang="en-US" sz="2400" b="1" dirty="0">
                <a:solidFill>
                  <a:srgbClr val="7030A0"/>
                </a:solidFill>
              </a:rPr>
              <a:t>C = {X, Y}</a:t>
            </a:r>
            <a:endParaRPr lang="en-US" sz="2400" dirty="0">
              <a:solidFill>
                <a:srgbClr val="7030A0"/>
              </a:solidFill>
            </a:endParaRPr>
          </a:p>
          <a:p>
            <a:pPr algn="l">
              <a:buFont typeface="Arial" panose="020B0604020202020204" pitchFamily="34" charset="0"/>
              <a:buChar char="•"/>
            </a:pPr>
            <a:r>
              <a:rPr lang="pt-BR" sz="2400" dirty="0">
                <a:solidFill>
                  <a:srgbClr val="7030A0"/>
                </a:solidFill>
              </a:rPr>
              <a:t>R₁ = { (1, a), (2, b) }</a:t>
            </a:r>
            <a:endParaRPr lang="en-US" sz="2400" b="1" dirty="0">
              <a:solidFill>
                <a:srgbClr val="7030A0"/>
              </a:solidFill>
            </a:endParaRPr>
          </a:p>
          <a:p>
            <a:pPr algn="l">
              <a:buFont typeface="Arial" panose="020B0604020202020204" pitchFamily="34" charset="0"/>
              <a:buChar char="•"/>
            </a:pPr>
            <a:r>
              <a:rPr lang="es-ES" sz="2400" dirty="0">
                <a:solidFill>
                  <a:srgbClr val="7030A0"/>
                </a:solidFill>
              </a:rPr>
              <a:t>R₂ = { (a, X), (b, Y) }</a:t>
            </a:r>
            <a:endParaRPr lang="es-ES" sz="2400" b="1" dirty="0">
              <a:solidFill>
                <a:srgbClr val="D60093"/>
              </a:solidFill>
            </a:endParaRPr>
          </a:p>
          <a:p>
            <a:pPr algn="l">
              <a:buFont typeface="Arial" panose="020B0604020202020204" pitchFamily="34" charset="0"/>
              <a:buChar char="•"/>
            </a:pPr>
            <a:r>
              <a:rPr lang="en-US" sz="2400" b="1" dirty="0">
                <a:solidFill>
                  <a:srgbClr val="0070C0"/>
                </a:solidFill>
              </a:rPr>
              <a:t>(R₂ ∘ R₁)</a:t>
            </a:r>
            <a:r>
              <a:rPr lang="es-ES" sz="2400" b="1" dirty="0">
                <a:solidFill>
                  <a:srgbClr val="0070C0"/>
                </a:solidFill>
              </a:rPr>
              <a:t>= </a:t>
            </a:r>
            <a:r>
              <a:rPr lang="en-US" sz="2400" b="1" dirty="0">
                <a:solidFill>
                  <a:srgbClr val="0070C0"/>
                </a:solidFill>
              </a:rPr>
              <a:t>{ (1, X), (2, Y) }</a:t>
            </a:r>
          </a:p>
        </p:txBody>
      </p:sp>
    </p:spTree>
    <p:extLst>
      <p:ext uri="{BB962C8B-B14F-4D97-AF65-F5344CB8AC3E}">
        <p14:creationId xmlns:p14="http://schemas.microsoft.com/office/powerpoint/2010/main" val="39351117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8340" y="175260"/>
            <a:ext cx="5897245" cy="574675"/>
          </a:xfrm>
          <a:prstGeom prst="rect">
            <a:avLst/>
          </a:prstGeom>
        </p:spPr>
        <p:txBody>
          <a:bodyPr vert="horz" wrap="square" lIns="0" tIns="12700" rIns="0" bIns="0" rtlCol="0">
            <a:spAutoFit/>
          </a:bodyPr>
          <a:lstStyle/>
          <a:p>
            <a:pPr marL="12700">
              <a:lnSpc>
                <a:spcPct val="100000"/>
              </a:lnSpc>
              <a:spcBef>
                <a:spcPts val="100"/>
              </a:spcBef>
            </a:pPr>
            <a:r>
              <a:rPr spc="-45" dirty="0"/>
              <a:t>RELATIONS</a:t>
            </a:r>
            <a:r>
              <a:rPr spc="-204" dirty="0"/>
              <a:t> </a:t>
            </a:r>
            <a:r>
              <a:rPr dirty="0"/>
              <a:t>AND </a:t>
            </a:r>
            <a:r>
              <a:rPr spc="-10" dirty="0"/>
              <a:t>FUNCTIONS</a:t>
            </a:r>
          </a:p>
        </p:txBody>
      </p:sp>
      <p:sp>
        <p:nvSpPr>
          <p:cNvPr id="3" name="object 3"/>
          <p:cNvSpPr txBox="1"/>
          <p:nvPr/>
        </p:nvSpPr>
        <p:spPr>
          <a:xfrm>
            <a:off x="304800" y="924468"/>
            <a:ext cx="7769860" cy="4573047"/>
          </a:xfrm>
          <a:prstGeom prst="rect">
            <a:avLst/>
          </a:prstGeom>
          <a:solidFill>
            <a:schemeClr val="bg1"/>
          </a:solidFill>
        </p:spPr>
        <p:txBody>
          <a:bodyPr vert="horz" wrap="square" lIns="0" tIns="12700" rIns="0" bIns="0" rtlCol="0">
            <a:spAutoFit/>
          </a:bodyPr>
          <a:lstStyle/>
          <a:p>
            <a:pPr marL="355600" marR="130175" indent="-342900">
              <a:lnSpc>
                <a:spcPct val="100000"/>
              </a:lnSpc>
              <a:spcBef>
                <a:spcPts val="1000"/>
              </a:spcBef>
              <a:tabLst>
                <a:tab pos="354965" algn="l"/>
              </a:tabLst>
            </a:pPr>
            <a:r>
              <a:rPr lang="en-US" sz="2400" b="1" dirty="0">
                <a:solidFill>
                  <a:srgbClr val="C00000"/>
                </a:solidFill>
                <a:latin typeface="+mn-lt"/>
              </a:rPr>
              <a:t>A relation is just any set of ordered pairs like: (x, y)</a:t>
            </a:r>
          </a:p>
          <a:p>
            <a:endParaRPr lang="en-US" sz="2400" dirty="0">
              <a:latin typeface="+mn-lt"/>
            </a:endParaRPr>
          </a:p>
          <a:p>
            <a:r>
              <a:rPr lang="en-US" sz="2400" b="1" dirty="0">
                <a:solidFill>
                  <a:srgbClr val="0070C0"/>
                </a:solidFill>
                <a:latin typeface="+mn-lt"/>
              </a:rPr>
              <a:t>A function is a </a:t>
            </a:r>
            <a:r>
              <a:rPr lang="en-US" sz="2400" b="1" i="1" dirty="0">
                <a:solidFill>
                  <a:srgbClr val="0070C0"/>
                </a:solidFill>
                <a:latin typeface="+mn-lt"/>
              </a:rPr>
              <a:t>special kind</a:t>
            </a:r>
            <a:r>
              <a:rPr lang="en-US" sz="2400" b="1" dirty="0">
                <a:solidFill>
                  <a:srgbClr val="0070C0"/>
                </a:solidFill>
                <a:latin typeface="+mn-lt"/>
              </a:rPr>
              <a:t> of relation.</a:t>
            </a:r>
          </a:p>
          <a:p>
            <a:r>
              <a:rPr lang="en-US" sz="2400" dirty="0">
                <a:solidFill>
                  <a:srgbClr val="0070C0"/>
                </a:solidFill>
                <a:latin typeface="+mn-lt"/>
              </a:rPr>
              <a:t>Since a function is made of ordered pairs too, </a:t>
            </a:r>
            <a:r>
              <a:rPr lang="en-US" sz="2400" b="1" dirty="0">
                <a:solidFill>
                  <a:srgbClr val="0070C0"/>
                </a:solidFill>
                <a:latin typeface="+mn-lt"/>
              </a:rPr>
              <a:t>every function is automatically a relation.</a:t>
            </a:r>
          </a:p>
          <a:p>
            <a:endParaRPr lang="en-US" sz="2400" b="1" dirty="0">
              <a:solidFill>
                <a:srgbClr val="0070C0"/>
              </a:solidFill>
              <a:latin typeface="+mn-lt"/>
            </a:endParaRPr>
          </a:p>
          <a:p>
            <a:r>
              <a:rPr lang="en-US" sz="2400" b="1" dirty="0">
                <a:solidFill>
                  <a:srgbClr val="7030A0"/>
                </a:solidFill>
                <a:latin typeface="+mn-lt"/>
              </a:rPr>
              <a:t>But not every relation is a function</a:t>
            </a:r>
          </a:p>
          <a:p>
            <a:r>
              <a:rPr lang="en-US" sz="2400" dirty="0">
                <a:solidFill>
                  <a:srgbClr val="7030A0"/>
                </a:solidFill>
                <a:latin typeface="+mn-lt"/>
              </a:rPr>
              <a:t>A function must follow </a:t>
            </a:r>
            <a:r>
              <a:rPr lang="en-US" sz="2400" b="1" dirty="0">
                <a:solidFill>
                  <a:srgbClr val="7030A0"/>
                </a:solidFill>
                <a:latin typeface="+mn-lt"/>
              </a:rPr>
              <a:t>two strict rules</a:t>
            </a:r>
            <a:r>
              <a:rPr lang="en-US" sz="2400" dirty="0">
                <a:solidFill>
                  <a:srgbClr val="7030A0"/>
                </a:solidFill>
                <a:latin typeface="+mn-lt"/>
              </a:rPr>
              <a:t>:</a:t>
            </a:r>
          </a:p>
          <a:p>
            <a:pPr>
              <a:buFont typeface="+mj-lt"/>
              <a:buAutoNum type="arabicPeriod"/>
            </a:pPr>
            <a:r>
              <a:rPr lang="en-US" sz="2400" dirty="0">
                <a:solidFill>
                  <a:srgbClr val="7030A0"/>
                </a:solidFill>
                <a:latin typeface="+mn-lt"/>
              </a:rPr>
              <a:t>Every input must have an output.</a:t>
            </a:r>
          </a:p>
          <a:p>
            <a:pPr>
              <a:buFont typeface="+mj-lt"/>
              <a:buAutoNum type="arabicPeriod"/>
            </a:pPr>
            <a:r>
              <a:rPr lang="en-US" sz="2400" dirty="0">
                <a:solidFill>
                  <a:srgbClr val="7030A0"/>
                </a:solidFill>
                <a:latin typeface="+mn-lt"/>
              </a:rPr>
              <a:t>Each input can have only one output.</a:t>
            </a:r>
          </a:p>
          <a:p>
            <a:endParaRPr lang="en-US" sz="2400" dirty="0">
              <a:solidFill>
                <a:srgbClr val="0070C0"/>
              </a:solidFill>
              <a:latin typeface="+mn-lt"/>
            </a:endParaRPr>
          </a:p>
          <a:p>
            <a:pPr marL="355600" marR="130175" indent="-342900">
              <a:lnSpc>
                <a:spcPct val="100000"/>
              </a:lnSpc>
              <a:spcBef>
                <a:spcPts val="1000"/>
              </a:spcBef>
              <a:tabLst>
                <a:tab pos="354965" algn="l"/>
              </a:tabLst>
            </a:pPr>
            <a:endParaRPr lang="en-US" sz="2400" spc="65" dirty="0">
              <a:solidFill>
                <a:srgbClr val="C00000"/>
              </a:solidFill>
              <a:latin typeface="+mn-lt"/>
              <a:cs typeface="Lucida Sans Unicode"/>
            </a:endParaRPr>
          </a:p>
        </p:txBody>
      </p:sp>
      <p:pic>
        <p:nvPicPr>
          <p:cNvPr id="4" name="object 4"/>
          <p:cNvPicPr/>
          <p:nvPr/>
        </p:nvPicPr>
        <p:blipFill rotWithShape="1">
          <a:blip r:embed="rId2" cstate="print"/>
          <a:srcRect l="9453" r="9524" b="4533"/>
          <a:stretch/>
        </p:blipFill>
        <p:spPr>
          <a:xfrm>
            <a:off x="5791200" y="3733800"/>
            <a:ext cx="2895601" cy="272796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C831D4E-96CF-20B4-5D7E-C7DBCB19D249}"/>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20000" contrast="-40000"/>
                    </a14:imgEffect>
                  </a14:imgLayer>
                </a14:imgProps>
              </a:ext>
            </a:extLst>
          </a:blip>
          <a:srcRect l="2465" t="6317" r="3881" b="4497"/>
          <a:stretch/>
        </p:blipFill>
        <p:spPr>
          <a:xfrm>
            <a:off x="228599" y="1143000"/>
            <a:ext cx="8686801" cy="3733801"/>
          </a:xfrm>
          <a:prstGeom prst="rect">
            <a:avLst/>
          </a:prstGeom>
        </p:spPr>
      </p:pic>
    </p:spTree>
    <p:extLst>
      <p:ext uri="{BB962C8B-B14F-4D97-AF65-F5344CB8AC3E}">
        <p14:creationId xmlns:p14="http://schemas.microsoft.com/office/powerpoint/2010/main" val="8762289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 y="914400"/>
            <a:ext cx="7286625" cy="5944235"/>
            <a:chOff x="-1" y="914400"/>
            <a:chExt cx="7286625" cy="5944235"/>
          </a:xfrm>
        </p:grpSpPr>
        <p:sp>
          <p:nvSpPr>
            <p:cNvPr id="3" name="object 3"/>
            <p:cNvSpPr/>
            <p:nvPr/>
          </p:nvSpPr>
          <p:spPr>
            <a:xfrm>
              <a:off x="-1" y="4065757"/>
              <a:ext cx="447675" cy="2792730"/>
            </a:xfrm>
            <a:custGeom>
              <a:avLst/>
              <a:gdLst/>
              <a:ahLst/>
              <a:cxnLst/>
              <a:rect l="l" t="t" r="r" b="b"/>
              <a:pathLst>
                <a:path w="447675" h="2792729">
                  <a:moveTo>
                    <a:pt x="1" y="0"/>
                  </a:moveTo>
                  <a:lnTo>
                    <a:pt x="0" y="2792313"/>
                  </a:lnTo>
                  <a:lnTo>
                    <a:pt x="447487" y="2792313"/>
                  </a:lnTo>
                  <a:lnTo>
                    <a:pt x="1" y="0"/>
                  </a:lnTo>
                  <a:close/>
                </a:path>
              </a:pathLst>
            </a:custGeom>
            <a:solidFill>
              <a:srgbClr val="90C225">
                <a:alpha val="85096"/>
              </a:srgbClr>
            </a:solidFill>
          </p:spPr>
          <p:txBody>
            <a:bodyPr wrap="square" lIns="0" tIns="0" rIns="0" bIns="0" rtlCol="0"/>
            <a:lstStyle/>
            <a:p>
              <a:endParaRPr/>
            </a:p>
          </p:txBody>
        </p:sp>
        <p:pic>
          <p:nvPicPr>
            <p:cNvPr id="4" name="object 4"/>
            <p:cNvPicPr/>
            <p:nvPr/>
          </p:nvPicPr>
          <p:blipFill>
            <a:blip r:embed="rId2" cstate="print"/>
            <a:stretch>
              <a:fillRect/>
            </a:stretch>
          </p:blipFill>
          <p:spPr>
            <a:xfrm>
              <a:off x="199644" y="914400"/>
              <a:ext cx="7086600" cy="4203954"/>
            </a:xfrm>
            <a:prstGeom prst="rect">
              <a:avLst/>
            </a:prstGeom>
          </p:spPr>
        </p:pic>
      </p:grpSp>
      <p:grpSp>
        <p:nvGrpSpPr>
          <p:cNvPr id="5" name="object 5"/>
          <p:cNvGrpSpPr/>
          <p:nvPr/>
        </p:nvGrpSpPr>
        <p:grpSpPr>
          <a:xfrm>
            <a:off x="5126778" y="-4572"/>
            <a:ext cx="4022725" cy="6868159"/>
            <a:chOff x="5126778" y="-4572"/>
            <a:chExt cx="4022725" cy="6868159"/>
          </a:xfrm>
        </p:grpSpPr>
        <p:sp>
          <p:nvSpPr>
            <p:cNvPr id="6" name="object 6"/>
            <p:cNvSpPr/>
            <p:nvPr/>
          </p:nvSpPr>
          <p:spPr>
            <a:xfrm>
              <a:off x="5131731" y="4182408"/>
              <a:ext cx="4012565" cy="2675890"/>
            </a:xfrm>
            <a:custGeom>
              <a:avLst/>
              <a:gdLst/>
              <a:ahLst/>
              <a:cxnLst/>
              <a:rect l="l" t="t" r="r" b="b"/>
              <a:pathLst>
                <a:path w="4012565" h="2675890">
                  <a:moveTo>
                    <a:pt x="0" y="2675591"/>
                  </a:moveTo>
                  <a:lnTo>
                    <a:pt x="4012268" y="0"/>
                  </a:lnTo>
                </a:path>
              </a:pathLst>
            </a:custGeom>
            <a:ln w="9906">
              <a:solidFill>
                <a:srgbClr val="D9D9D9"/>
              </a:solidFill>
            </a:ln>
          </p:spPr>
          <p:txBody>
            <a:bodyPr wrap="square" lIns="0" tIns="0" rIns="0" bIns="0" rtlCol="0"/>
            <a:lstStyle/>
            <a:p>
              <a:endParaRPr/>
            </a:p>
          </p:txBody>
        </p:sp>
        <p:sp>
          <p:nvSpPr>
            <p:cNvPr id="7" name="object 7"/>
            <p:cNvSpPr/>
            <p:nvPr/>
          </p:nvSpPr>
          <p:spPr>
            <a:xfrm>
              <a:off x="7042785" y="380"/>
              <a:ext cx="1219200" cy="6858000"/>
            </a:xfrm>
            <a:custGeom>
              <a:avLst/>
              <a:gdLst/>
              <a:ahLst/>
              <a:cxnLst/>
              <a:rect l="l" t="t" r="r" b="b"/>
              <a:pathLst>
                <a:path w="1219200" h="6858000">
                  <a:moveTo>
                    <a:pt x="0" y="0"/>
                  </a:moveTo>
                  <a:lnTo>
                    <a:pt x="1219200" y="6857999"/>
                  </a:lnTo>
                </a:path>
              </a:pathLst>
            </a:custGeom>
            <a:ln w="9906">
              <a:solidFill>
                <a:srgbClr val="BEBEBE"/>
              </a:solidFill>
            </a:ln>
          </p:spPr>
          <p:txBody>
            <a:bodyPr wrap="square" lIns="0" tIns="0" rIns="0" bIns="0" rtlCol="0"/>
            <a:lstStyle/>
            <a:p>
              <a:endParaRPr/>
            </a:p>
          </p:txBody>
        </p:sp>
        <p:sp>
          <p:nvSpPr>
            <p:cNvPr id="8" name="object 8"/>
            <p:cNvSpPr/>
            <p:nvPr/>
          </p:nvSpPr>
          <p:spPr>
            <a:xfrm>
              <a:off x="6891528" y="0"/>
              <a:ext cx="2252980" cy="6858000"/>
            </a:xfrm>
            <a:custGeom>
              <a:avLst/>
              <a:gdLst/>
              <a:ahLst/>
              <a:cxnLst/>
              <a:rect l="l" t="t" r="r" b="b"/>
              <a:pathLst>
                <a:path w="2252979" h="6858000">
                  <a:moveTo>
                    <a:pt x="2023999" y="0"/>
                  </a:moveTo>
                  <a:lnTo>
                    <a:pt x="0" y="6858000"/>
                  </a:lnTo>
                  <a:lnTo>
                    <a:pt x="2252472" y="6858000"/>
                  </a:lnTo>
                  <a:lnTo>
                    <a:pt x="2252472" y="8199"/>
                  </a:lnTo>
                  <a:lnTo>
                    <a:pt x="2023999" y="0"/>
                  </a:lnTo>
                  <a:close/>
                </a:path>
              </a:pathLst>
            </a:custGeom>
            <a:solidFill>
              <a:srgbClr val="90C225">
                <a:alpha val="30195"/>
              </a:srgbClr>
            </a:solidFill>
          </p:spPr>
          <p:txBody>
            <a:bodyPr wrap="square" lIns="0" tIns="0" rIns="0" bIns="0" rtlCol="0"/>
            <a:lstStyle/>
            <a:p>
              <a:endParaRPr/>
            </a:p>
          </p:txBody>
        </p:sp>
        <p:sp>
          <p:nvSpPr>
            <p:cNvPr id="9" name="object 9"/>
            <p:cNvSpPr/>
            <p:nvPr/>
          </p:nvSpPr>
          <p:spPr>
            <a:xfrm>
              <a:off x="7206939" y="0"/>
              <a:ext cx="1937385" cy="6858000"/>
            </a:xfrm>
            <a:custGeom>
              <a:avLst/>
              <a:gdLst/>
              <a:ahLst/>
              <a:cxnLst/>
              <a:rect l="l" t="t" r="r" b="b"/>
              <a:pathLst>
                <a:path w="1937384" h="6858000">
                  <a:moveTo>
                    <a:pt x="1937060" y="0"/>
                  </a:moveTo>
                  <a:lnTo>
                    <a:pt x="0" y="0"/>
                  </a:lnTo>
                  <a:lnTo>
                    <a:pt x="1200460" y="6858000"/>
                  </a:lnTo>
                  <a:lnTo>
                    <a:pt x="1937060" y="6858000"/>
                  </a:lnTo>
                  <a:lnTo>
                    <a:pt x="1937060" y="0"/>
                  </a:lnTo>
                  <a:close/>
                </a:path>
              </a:pathLst>
            </a:custGeom>
            <a:solidFill>
              <a:srgbClr val="90C225">
                <a:alpha val="19999"/>
              </a:srgbClr>
            </a:solidFill>
          </p:spPr>
          <p:txBody>
            <a:bodyPr wrap="square" lIns="0" tIns="0" rIns="0" bIns="0" rtlCol="0"/>
            <a:lstStyle/>
            <a:p>
              <a:endParaRPr/>
            </a:p>
          </p:txBody>
        </p:sp>
        <p:sp>
          <p:nvSpPr>
            <p:cNvPr id="10" name="object 10"/>
            <p:cNvSpPr/>
            <p:nvPr/>
          </p:nvSpPr>
          <p:spPr>
            <a:xfrm>
              <a:off x="6637782" y="3921067"/>
              <a:ext cx="2506345" cy="2937510"/>
            </a:xfrm>
            <a:custGeom>
              <a:avLst/>
              <a:gdLst/>
              <a:ahLst/>
              <a:cxnLst/>
              <a:rect l="l" t="t" r="r" b="b"/>
              <a:pathLst>
                <a:path w="2506345" h="2937509">
                  <a:moveTo>
                    <a:pt x="2506218" y="0"/>
                  </a:moveTo>
                  <a:lnTo>
                    <a:pt x="0" y="2936932"/>
                  </a:lnTo>
                  <a:lnTo>
                    <a:pt x="2506218" y="2936932"/>
                  </a:lnTo>
                  <a:lnTo>
                    <a:pt x="2506218" y="0"/>
                  </a:lnTo>
                  <a:close/>
                </a:path>
              </a:pathLst>
            </a:custGeom>
            <a:solidFill>
              <a:srgbClr val="539F20">
                <a:alpha val="72155"/>
              </a:srgbClr>
            </a:solidFill>
          </p:spPr>
          <p:txBody>
            <a:bodyPr wrap="square" lIns="0" tIns="0" rIns="0" bIns="0" rtlCol="0"/>
            <a:lstStyle/>
            <a:p>
              <a:endParaRPr/>
            </a:p>
          </p:txBody>
        </p:sp>
        <p:sp>
          <p:nvSpPr>
            <p:cNvPr id="11" name="object 11"/>
            <p:cNvSpPr/>
            <p:nvPr/>
          </p:nvSpPr>
          <p:spPr>
            <a:xfrm>
              <a:off x="7012666" y="0"/>
              <a:ext cx="2131695" cy="6858000"/>
            </a:xfrm>
            <a:custGeom>
              <a:avLst/>
              <a:gdLst/>
              <a:ahLst/>
              <a:cxnLst/>
              <a:rect l="l" t="t" r="r" b="b"/>
              <a:pathLst>
                <a:path w="2131695" h="6858000">
                  <a:moveTo>
                    <a:pt x="2131333" y="0"/>
                  </a:moveTo>
                  <a:lnTo>
                    <a:pt x="0" y="0"/>
                  </a:lnTo>
                  <a:lnTo>
                    <a:pt x="1854346" y="6858000"/>
                  </a:lnTo>
                  <a:lnTo>
                    <a:pt x="2131333" y="6849803"/>
                  </a:lnTo>
                  <a:lnTo>
                    <a:pt x="2131333" y="0"/>
                  </a:lnTo>
                  <a:close/>
                </a:path>
              </a:pathLst>
            </a:custGeom>
            <a:solidFill>
              <a:srgbClr val="3E7818">
                <a:alpha val="70195"/>
              </a:srgbClr>
            </a:solidFill>
          </p:spPr>
          <p:txBody>
            <a:bodyPr wrap="square" lIns="0" tIns="0" rIns="0" bIns="0" rtlCol="0"/>
            <a:lstStyle/>
            <a:p>
              <a:endParaRPr/>
            </a:p>
          </p:txBody>
        </p:sp>
        <p:sp>
          <p:nvSpPr>
            <p:cNvPr id="12" name="object 12"/>
            <p:cNvSpPr/>
            <p:nvPr/>
          </p:nvSpPr>
          <p:spPr>
            <a:xfrm>
              <a:off x="8295894" y="0"/>
              <a:ext cx="848360" cy="6858000"/>
            </a:xfrm>
            <a:custGeom>
              <a:avLst/>
              <a:gdLst/>
              <a:ahLst/>
              <a:cxnLst/>
              <a:rect l="l" t="t" r="r" b="b"/>
              <a:pathLst>
                <a:path w="848359" h="6858000">
                  <a:moveTo>
                    <a:pt x="848105" y="0"/>
                  </a:moveTo>
                  <a:lnTo>
                    <a:pt x="675956" y="0"/>
                  </a:lnTo>
                  <a:lnTo>
                    <a:pt x="0" y="6858000"/>
                  </a:lnTo>
                  <a:lnTo>
                    <a:pt x="848105" y="6858000"/>
                  </a:lnTo>
                  <a:lnTo>
                    <a:pt x="848105" y="0"/>
                  </a:lnTo>
                  <a:close/>
                </a:path>
              </a:pathLst>
            </a:custGeom>
            <a:solidFill>
              <a:srgbClr val="C0E374">
                <a:alpha val="70195"/>
              </a:srgbClr>
            </a:solidFill>
          </p:spPr>
          <p:txBody>
            <a:bodyPr wrap="square" lIns="0" tIns="0" rIns="0" bIns="0" rtlCol="0"/>
            <a:lstStyle/>
            <a:p>
              <a:endParaRPr/>
            </a:p>
          </p:txBody>
        </p:sp>
        <p:sp>
          <p:nvSpPr>
            <p:cNvPr id="13" name="object 13"/>
            <p:cNvSpPr/>
            <p:nvPr/>
          </p:nvSpPr>
          <p:spPr>
            <a:xfrm>
              <a:off x="8078346" y="0"/>
              <a:ext cx="1066165" cy="6858000"/>
            </a:xfrm>
            <a:custGeom>
              <a:avLst/>
              <a:gdLst/>
              <a:ahLst/>
              <a:cxnLst/>
              <a:rect l="l" t="t" r="r" b="b"/>
              <a:pathLst>
                <a:path w="1066165" h="6858000">
                  <a:moveTo>
                    <a:pt x="1051168" y="0"/>
                  </a:moveTo>
                  <a:lnTo>
                    <a:pt x="0" y="0"/>
                  </a:lnTo>
                  <a:lnTo>
                    <a:pt x="937511" y="6858000"/>
                  </a:lnTo>
                  <a:lnTo>
                    <a:pt x="1065400" y="6858000"/>
                  </a:lnTo>
                  <a:lnTo>
                    <a:pt x="1065654" y="6196203"/>
                  </a:lnTo>
                  <a:lnTo>
                    <a:pt x="1050984" y="398926"/>
                  </a:lnTo>
                  <a:lnTo>
                    <a:pt x="1051168" y="0"/>
                  </a:lnTo>
                  <a:close/>
                </a:path>
              </a:pathLst>
            </a:custGeom>
            <a:solidFill>
              <a:srgbClr val="90C225">
                <a:alpha val="65097"/>
              </a:srgbClr>
            </a:solidFill>
          </p:spPr>
          <p:txBody>
            <a:bodyPr wrap="square" lIns="0" tIns="0" rIns="0" bIns="0" rtlCol="0"/>
            <a:lstStyle/>
            <a:p>
              <a:endParaRPr/>
            </a:p>
          </p:txBody>
        </p:sp>
        <p:sp>
          <p:nvSpPr>
            <p:cNvPr id="14" name="object 14"/>
            <p:cNvSpPr/>
            <p:nvPr/>
          </p:nvSpPr>
          <p:spPr>
            <a:xfrm>
              <a:off x="8060436" y="4903642"/>
              <a:ext cx="1083945" cy="1954530"/>
            </a:xfrm>
            <a:custGeom>
              <a:avLst/>
              <a:gdLst/>
              <a:ahLst/>
              <a:cxnLst/>
              <a:rect l="l" t="t" r="r" b="b"/>
              <a:pathLst>
                <a:path w="1083945" h="1954529">
                  <a:moveTo>
                    <a:pt x="1083564" y="0"/>
                  </a:moveTo>
                  <a:lnTo>
                    <a:pt x="0" y="1954357"/>
                  </a:lnTo>
                  <a:lnTo>
                    <a:pt x="1083564" y="1949317"/>
                  </a:lnTo>
                  <a:lnTo>
                    <a:pt x="1083564" y="0"/>
                  </a:lnTo>
                  <a:close/>
                </a:path>
              </a:pathLst>
            </a:custGeom>
            <a:solidFill>
              <a:srgbClr val="90C225">
                <a:alpha val="79998"/>
              </a:srgbClr>
            </a:solidFill>
          </p:spPr>
          <p:txBody>
            <a:bodyPr wrap="square" lIns="0" tIns="0" rIns="0" bIns="0" rtlCol="0"/>
            <a:lstStyle/>
            <a:p>
              <a:endParaRPr/>
            </a:p>
          </p:txBody>
        </p:sp>
      </p:grpSp>
      <p:sp>
        <p:nvSpPr>
          <p:cNvPr id="15" name="object 15"/>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FUNCTIONS</a:t>
            </a:r>
            <a:r>
              <a:rPr spc="-45" dirty="0"/>
              <a:t> </a:t>
            </a:r>
            <a:r>
              <a:rPr dirty="0"/>
              <a:t>&amp;</a:t>
            </a:r>
            <a:r>
              <a:rPr spc="-25" dirty="0"/>
              <a:t> </a:t>
            </a:r>
            <a:r>
              <a:rPr spc="-10" dirty="0"/>
              <a:t>NONFUNCTIONS</a:t>
            </a:r>
          </a:p>
        </p:txBody>
      </p:sp>
      <p:sp>
        <p:nvSpPr>
          <p:cNvPr id="16" name="object 16"/>
          <p:cNvSpPr txBox="1"/>
          <p:nvPr/>
        </p:nvSpPr>
        <p:spPr>
          <a:xfrm>
            <a:off x="183896" y="4938599"/>
            <a:ext cx="8760460" cy="1859483"/>
          </a:xfrm>
          <a:prstGeom prst="rect">
            <a:avLst/>
          </a:prstGeom>
          <a:solidFill>
            <a:schemeClr val="bg1"/>
          </a:solidFill>
        </p:spPr>
        <p:txBody>
          <a:bodyPr vert="horz" wrap="square" lIns="0" tIns="12700" rIns="0" bIns="0" rtlCol="0">
            <a:spAutoFit/>
          </a:bodyPr>
          <a:lstStyle/>
          <a:p>
            <a:pPr marL="12700" marR="5080">
              <a:lnSpc>
                <a:spcPct val="100000"/>
              </a:lnSpc>
              <a:spcBef>
                <a:spcPts val="100"/>
              </a:spcBef>
            </a:pPr>
            <a:r>
              <a:rPr sz="2400" dirty="0">
                <a:latin typeface="Times New Roman"/>
                <a:cs typeface="Times New Roman"/>
              </a:rPr>
              <a:t>The</a:t>
            </a:r>
            <a:r>
              <a:rPr sz="2400" spc="-25" dirty="0">
                <a:latin typeface="Times New Roman"/>
                <a:cs typeface="Times New Roman"/>
              </a:rPr>
              <a:t> </a:t>
            </a:r>
            <a:r>
              <a:rPr sz="2400" dirty="0">
                <a:latin typeface="Times New Roman"/>
                <a:cs typeface="Times New Roman"/>
              </a:rPr>
              <a:t>relation</a:t>
            </a:r>
            <a:r>
              <a:rPr sz="2400" spc="-25" dirty="0">
                <a:latin typeface="Times New Roman"/>
                <a:cs typeface="Times New Roman"/>
              </a:rPr>
              <a:t> </a:t>
            </a:r>
            <a:r>
              <a:rPr sz="2400" dirty="0">
                <a:latin typeface="Times New Roman"/>
                <a:cs typeface="Times New Roman"/>
              </a:rPr>
              <a:t>given</a:t>
            </a:r>
            <a:r>
              <a:rPr sz="2400" spc="-25" dirty="0">
                <a:latin typeface="Times New Roman"/>
                <a:cs typeface="Times New Roman"/>
              </a:rPr>
              <a:t> </a:t>
            </a:r>
            <a:r>
              <a:rPr sz="2400" dirty="0">
                <a:latin typeface="Times New Roman"/>
                <a:cs typeface="Times New Roman"/>
              </a:rPr>
              <a:t>in</a:t>
            </a:r>
            <a:r>
              <a:rPr sz="2400" spc="-25" dirty="0">
                <a:latin typeface="Times New Roman"/>
                <a:cs typeface="Times New Roman"/>
              </a:rPr>
              <a:t> </a:t>
            </a:r>
            <a:r>
              <a:rPr sz="2400" dirty="0">
                <a:latin typeface="Times New Roman"/>
                <a:cs typeface="Times New Roman"/>
              </a:rPr>
              <a:t>the</a:t>
            </a:r>
            <a:r>
              <a:rPr sz="2400" spc="-25" dirty="0">
                <a:latin typeface="Times New Roman"/>
                <a:cs typeface="Times New Roman"/>
              </a:rPr>
              <a:t> </a:t>
            </a:r>
            <a:r>
              <a:rPr sz="2400" dirty="0">
                <a:latin typeface="Times New Roman"/>
                <a:cs typeface="Times New Roman"/>
              </a:rPr>
              <a:t>diagram</a:t>
            </a:r>
            <a:r>
              <a:rPr sz="2400" spc="-20" dirty="0">
                <a:latin typeface="Times New Roman"/>
                <a:cs typeface="Times New Roman"/>
              </a:rPr>
              <a:t> </a:t>
            </a:r>
            <a:r>
              <a:rPr sz="2400" b="1" dirty="0">
                <a:solidFill>
                  <a:srgbClr val="D60093"/>
                </a:solidFill>
                <a:latin typeface="Times New Roman"/>
                <a:cs typeface="Times New Roman"/>
              </a:rPr>
              <a:t>(a)</a:t>
            </a:r>
            <a:r>
              <a:rPr sz="2400" spc="-20" dirty="0">
                <a:latin typeface="Times New Roman"/>
                <a:cs typeface="Times New Roman"/>
              </a:rPr>
              <a:t> </a:t>
            </a:r>
            <a:r>
              <a:rPr sz="2400" dirty="0">
                <a:latin typeface="Times New Roman"/>
                <a:cs typeface="Times New Roman"/>
              </a:rPr>
              <a:t>is</a:t>
            </a:r>
            <a:r>
              <a:rPr sz="2400" spc="-15" dirty="0">
                <a:latin typeface="Times New Roman"/>
                <a:cs typeface="Times New Roman"/>
              </a:rPr>
              <a:t> </a:t>
            </a:r>
            <a:r>
              <a:rPr sz="2400" b="1" dirty="0">
                <a:solidFill>
                  <a:srgbClr val="00AFEF"/>
                </a:solidFill>
                <a:latin typeface="Times New Roman"/>
                <a:cs typeface="Times New Roman"/>
              </a:rPr>
              <a:t>Not</a:t>
            </a:r>
            <a:r>
              <a:rPr sz="2400" b="1" spc="-25" dirty="0">
                <a:solidFill>
                  <a:srgbClr val="00AFEF"/>
                </a:solidFill>
                <a:latin typeface="Times New Roman"/>
                <a:cs typeface="Times New Roman"/>
              </a:rPr>
              <a:t> </a:t>
            </a:r>
            <a:r>
              <a:rPr sz="2400" b="1" dirty="0">
                <a:solidFill>
                  <a:srgbClr val="00AFEF"/>
                </a:solidFill>
                <a:latin typeface="Times New Roman"/>
                <a:cs typeface="Times New Roman"/>
              </a:rPr>
              <a:t>a</a:t>
            </a:r>
            <a:r>
              <a:rPr sz="2400" b="1" spc="-25" dirty="0">
                <a:solidFill>
                  <a:srgbClr val="00AFEF"/>
                </a:solidFill>
                <a:latin typeface="Times New Roman"/>
                <a:cs typeface="Times New Roman"/>
              </a:rPr>
              <a:t> </a:t>
            </a:r>
            <a:r>
              <a:rPr sz="2400" b="1" dirty="0">
                <a:solidFill>
                  <a:srgbClr val="00AFEF"/>
                </a:solidFill>
                <a:latin typeface="Times New Roman"/>
                <a:cs typeface="Times New Roman"/>
              </a:rPr>
              <a:t>function</a:t>
            </a:r>
            <a:r>
              <a:rPr sz="2400" b="1" spc="-25" dirty="0">
                <a:solidFill>
                  <a:srgbClr val="00AFEF"/>
                </a:solidFill>
                <a:latin typeface="Times New Roman"/>
                <a:cs typeface="Times New Roman"/>
              </a:rPr>
              <a:t> </a:t>
            </a:r>
            <a:r>
              <a:rPr sz="2400" dirty="0">
                <a:latin typeface="Times New Roman"/>
                <a:cs typeface="Times New Roman"/>
              </a:rPr>
              <a:t>because</a:t>
            </a:r>
            <a:r>
              <a:rPr sz="2400" spc="-25" dirty="0">
                <a:latin typeface="Times New Roman"/>
                <a:cs typeface="Times New Roman"/>
              </a:rPr>
              <a:t> </a:t>
            </a:r>
            <a:r>
              <a:rPr sz="2400" dirty="0">
                <a:latin typeface="Times New Roman"/>
                <a:cs typeface="Times New Roman"/>
              </a:rPr>
              <a:t>there</a:t>
            </a:r>
            <a:r>
              <a:rPr sz="2400" spc="-25" dirty="0">
                <a:latin typeface="Times New Roman"/>
                <a:cs typeface="Times New Roman"/>
              </a:rPr>
              <a:t> </a:t>
            </a:r>
            <a:r>
              <a:rPr sz="2400" dirty="0">
                <a:latin typeface="Times New Roman"/>
                <a:cs typeface="Times New Roman"/>
              </a:rPr>
              <a:t>is</a:t>
            </a:r>
            <a:r>
              <a:rPr sz="2400" spc="-25" dirty="0">
                <a:latin typeface="Times New Roman"/>
                <a:cs typeface="Times New Roman"/>
              </a:rPr>
              <a:t> no </a:t>
            </a:r>
            <a:r>
              <a:rPr sz="2400" dirty="0">
                <a:latin typeface="Times New Roman"/>
                <a:cs typeface="Times New Roman"/>
              </a:rPr>
              <a:t>arrow</a:t>
            </a:r>
            <a:r>
              <a:rPr sz="2400" spc="-30" dirty="0">
                <a:latin typeface="Times New Roman"/>
                <a:cs typeface="Times New Roman"/>
              </a:rPr>
              <a:t> </a:t>
            </a:r>
            <a:r>
              <a:rPr sz="2400" dirty="0">
                <a:latin typeface="Times New Roman"/>
                <a:cs typeface="Times New Roman"/>
              </a:rPr>
              <a:t>coming</a:t>
            </a:r>
            <a:r>
              <a:rPr sz="2400" spc="-30" dirty="0">
                <a:latin typeface="Times New Roman"/>
                <a:cs typeface="Times New Roman"/>
              </a:rPr>
              <a:t> </a:t>
            </a:r>
            <a:r>
              <a:rPr sz="2400" dirty="0">
                <a:latin typeface="Times New Roman"/>
                <a:cs typeface="Times New Roman"/>
              </a:rPr>
              <a:t>out</a:t>
            </a:r>
            <a:r>
              <a:rPr sz="2400" spc="-25" dirty="0">
                <a:latin typeface="Times New Roman"/>
                <a:cs typeface="Times New Roman"/>
              </a:rPr>
              <a:t> </a:t>
            </a:r>
            <a:r>
              <a:rPr sz="2400" dirty="0">
                <a:latin typeface="Times New Roman"/>
                <a:cs typeface="Times New Roman"/>
              </a:rPr>
              <a:t>of</a:t>
            </a:r>
            <a:r>
              <a:rPr sz="2400" spc="-30" dirty="0">
                <a:latin typeface="Times New Roman"/>
                <a:cs typeface="Times New Roman"/>
              </a:rPr>
              <a:t> </a:t>
            </a:r>
            <a:r>
              <a:rPr sz="2400" dirty="0">
                <a:latin typeface="Times New Roman"/>
                <a:cs typeface="Times New Roman"/>
              </a:rPr>
              <a:t>5</a:t>
            </a:r>
            <a:r>
              <a:rPr sz="2400" dirty="0">
                <a:latin typeface="Symbol"/>
                <a:cs typeface="Symbol"/>
              </a:rPr>
              <a:t></a:t>
            </a:r>
            <a:r>
              <a:rPr sz="2400" dirty="0">
                <a:latin typeface="Times New Roman"/>
                <a:cs typeface="Times New Roman"/>
              </a:rPr>
              <a:t>X</a:t>
            </a:r>
            <a:r>
              <a:rPr sz="2400" spc="-25" dirty="0">
                <a:latin typeface="Times New Roman"/>
                <a:cs typeface="Times New Roman"/>
              </a:rPr>
              <a:t> </a:t>
            </a:r>
            <a:r>
              <a:rPr sz="2400" dirty="0">
                <a:latin typeface="Times New Roman"/>
                <a:cs typeface="Times New Roman"/>
              </a:rPr>
              <a:t>to</a:t>
            </a:r>
            <a:r>
              <a:rPr sz="2400" spc="-30" dirty="0">
                <a:latin typeface="Times New Roman"/>
                <a:cs typeface="Times New Roman"/>
              </a:rPr>
              <a:t> </a:t>
            </a:r>
            <a:r>
              <a:rPr sz="2400" dirty="0">
                <a:latin typeface="Times New Roman"/>
                <a:cs typeface="Times New Roman"/>
              </a:rPr>
              <a:t>any</a:t>
            </a:r>
            <a:r>
              <a:rPr sz="2400" spc="-25" dirty="0">
                <a:latin typeface="Times New Roman"/>
                <a:cs typeface="Times New Roman"/>
              </a:rPr>
              <a:t> </a:t>
            </a:r>
            <a:r>
              <a:rPr sz="2400" dirty="0">
                <a:latin typeface="Times New Roman"/>
                <a:cs typeface="Times New Roman"/>
              </a:rPr>
              <a:t>element</a:t>
            </a:r>
            <a:r>
              <a:rPr sz="2400" spc="-30" dirty="0">
                <a:latin typeface="Times New Roman"/>
                <a:cs typeface="Times New Roman"/>
              </a:rPr>
              <a:t> </a:t>
            </a:r>
            <a:r>
              <a:rPr sz="2400" dirty="0">
                <a:latin typeface="Times New Roman"/>
                <a:cs typeface="Times New Roman"/>
              </a:rPr>
              <a:t>of</a:t>
            </a:r>
            <a:r>
              <a:rPr sz="2400" spc="-85" dirty="0">
                <a:latin typeface="Times New Roman"/>
                <a:cs typeface="Times New Roman"/>
              </a:rPr>
              <a:t> </a:t>
            </a:r>
            <a:r>
              <a:rPr sz="2400" spc="-25" dirty="0">
                <a:latin typeface="Times New Roman"/>
                <a:cs typeface="Times New Roman"/>
              </a:rPr>
              <a:t>Y.</a:t>
            </a:r>
            <a:endParaRPr sz="2400" dirty="0">
              <a:latin typeface="Times New Roman"/>
              <a:cs typeface="Times New Roman"/>
            </a:endParaRPr>
          </a:p>
          <a:p>
            <a:pPr marL="12700" marR="128905">
              <a:lnSpc>
                <a:spcPct val="100000"/>
              </a:lnSpc>
            </a:pPr>
            <a:r>
              <a:rPr sz="2400" dirty="0">
                <a:latin typeface="Times New Roman"/>
                <a:cs typeface="Times New Roman"/>
              </a:rPr>
              <a:t>The</a:t>
            </a:r>
            <a:r>
              <a:rPr sz="2400" spc="-35" dirty="0">
                <a:latin typeface="Times New Roman"/>
                <a:cs typeface="Times New Roman"/>
              </a:rPr>
              <a:t> </a:t>
            </a:r>
            <a:r>
              <a:rPr sz="2400" dirty="0">
                <a:latin typeface="Times New Roman"/>
                <a:cs typeface="Times New Roman"/>
              </a:rPr>
              <a:t>relation</a:t>
            </a:r>
            <a:r>
              <a:rPr sz="2400" spc="-25" dirty="0">
                <a:latin typeface="Times New Roman"/>
                <a:cs typeface="Times New Roman"/>
              </a:rPr>
              <a:t> </a:t>
            </a:r>
            <a:r>
              <a:rPr sz="2400" dirty="0">
                <a:latin typeface="Times New Roman"/>
                <a:cs typeface="Times New Roman"/>
              </a:rPr>
              <a:t>in</a:t>
            </a:r>
            <a:r>
              <a:rPr sz="2400" spc="-25" dirty="0">
                <a:latin typeface="Times New Roman"/>
                <a:cs typeface="Times New Roman"/>
              </a:rPr>
              <a:t> </a:t>
            </a:r>
            <a:r>
              <a:rPr sz="2400" dirty="0">
                <a:latin typeface="Times New Roman"/>
                <a:cs typeface="Times New Roman"/>
              </a:rPr>
              <a:t>the</a:t>
            </a:r>
            <a:r>
              <a:rPr sz="2400" spc="-25" dirty="0">
                <a:latin typeface="Times New Roman"/>
                <a:cs typeface="Times New Roman"/>
              </a:rPr>
              <a:t> </a:t>
            </a:r>
            <a:r>
              <a:rPr sz="2400" dirty="0">
                <a:latin typeface="Times New Roman"/>
                <a:cs typeface="Times New Roman"/>
              </a:rPr>
              <a:t>diagram</a:t>
            </a:r>
            <a:r>
              <a:rPr sz="2400" spc="-25" dirty="0">
                <a:latin typeface="Times New Roman"/>
                <a:cs typeface="Times New Roman"/>
              </a:rPr>
              <a:t> </a:t>
            </a:r>
            <a:r>
              <a:rPr sz="2400" b="1" dirty="0">
                <a:solidFill>
                  <a:srgbClr val="D60093"/>
                </a:solidFill>
                <a:latin typeface="Times New Roman"/>
                <a:cs typeface="Times New Roman"/>
              </a:rPr>
              <a:t>(b)</a:t>
            </a:r>
            <a:r>
              <a:rPr sz="2400" spc="-25" dirty="0">
                <a:latin typeface="Times New Roman"/>
                <a:cs typeface="Times New Roman"/>
              </a:rPr>
              <a:t> </a:t>
            </a:r>
            <a:r>
              <a:rPr sz="2400" dirty="0">
                <a:latin typeface="Times New Roman"/>
                <a:cs typeface="Times New Roman"/>
              </a:rPr>
              <a:t>is</a:t>
            </a:r>
            <a:r>
              <a:rPr sz="2400" spc="-20" dirty="0">
                <a:latin typeface="Times New Roman"/>
                <a:cs typeface="Times New Roman"/>
              </a:rPr>
              <a:t> </a:t>
            </a:r>
            <a:r>
              <a:rPr sz="2400" b="1" dirty="0">
                <a:solidFill>
                  <a:srgbClr val="00AFEF"/>
                </a:solidFill>
                <a:latin typeface="Times New Roman"/>
                <a:cs typeface="Times New Roman"/>
              </a:rPr>
              <a:t>Not</a:t>
            </a:r>
            <a:r>
              <a:rPr sz="2400" b="1" spc="-20" dirty="0">
                <a:solidFill>
                  <a:srgbClr val="00AFEF"/>
                </a:solidFill>
                <a:latin typeface="Times New Roman"/>
                <a:cs typeface="Times New Roman"/>
              </a:rPr>
              <a:t> </a:t>
            </a:r>
            <a:r>
              <a:rPr sz="2400" b="1" dirty="0">
                <a:solidFill>
                  <a:srgbClr val="00AFEF"/>
                </a:solidFill>
                <a:latin typeface="Times New Roman"/>
                <a:cs typeface="Times New Roman"/>
              </a:rPr>
              <a:t>a</a:t>
            </a:r>
            <a:r>
              <a:rPr sz="2400" b="1" spc="-25" dirty="0">
                <a:solidFill>
                  <a:srgbClr val="00AFEF"/>
                </a:solidFill>
                <a:latin typeface="Times New Roman"/>
                <a:cs typeface="Times New Roman"/>
              </a:rPr>
              <a:t> </a:t>
            </a:r>
            <a:r>
              <a:rPr sz="2400" b="1" dirty="0">
                <a:solidFill>
                  <a:srgbClr val="00AFEF"/>
                </a:solidFill>
                <a:latin typeface="Times New Roman"/>
                <a:cs typeface="Times New Roman"/>
              </a:rPr>
              <a:t>function</a:t>
            </a:r>
            <a:r>
              <a:rPr sz="2400" dirty="0">
                <a:latin typeface="Times New Roman"/>
                <a:cs typeface="Times New Roman"/>
              </a:rPr>
              <a:t>,</a:t>
            </a:r>
            <a:r>
              <a:rPr sz="2400" spc="-25" dirty="0">
                <a:latin typeface="Times New Roman"/>
                <a:cs typeface="Times New Roman"/>
              </a:rPr>
              <a:t> </a:t>
            </a:r>
            <a:r>
              <a:rPr sz="2400" dirty="0">
                <a:latin typeface="Times New Roman"/>
                <a:cs typeface="Times New Roman"/>
              </a:rPr>
              <a:t>because</a:t>
            </a:r>
            <a:r>
              <a:rPr sz="2400" spc="-25" dirty="0">
                <a:latin typeface="Times New Roman"/>
                <a:cs typeface="Times New Roman"/>
              </a:rPr>
              <a:t> </a:t>
            </a:r>
            <a:r>
              <a:rPr sz="2400" dirty="0">
                <a:latin typeface="Times New Roman"/>
                <a:cs typeface="Times New Roman"/>
              </a:rPr>
              <a:t>there</a:t>
            </a:r>
            <a:r>
              <a:rPr sz="2400" spc="-25" dirty="0">
                <a:latin typeface="Times New Roman"/>
                <a:cs typeface="Times New Roman"/>
              </a:rPr>
              <a:t> </a:t>
            </a:r>
            <a:r>
              <a:rPr sz="2400" dirty="0">
                <a:latin typeface="Times New Roman"/>
                <a:cs typeface="Times New Roman"/>
              </a:rPr>
              <a:t>are</a:t>
            </a:r>
            <a:r>
              <a:rPr sz="2400" spc="-20" dirty="0">
                <a:latin typeface="Times New Roman"/>
                <a:cs typeface="Times New Roman"/>
              </a:rPr>
              <a:t> </a:t>
            </a:r>
            <a:r>
              <a:rPr sz="2400" spc="-25" dirty="0">
                <a:latin typeface="Times New Roman"/>
                <a:cs typeface="Times New Roman"/>
              </a:rPr>
              <a:t>two </a:t>
            </a:r>
            <a:r>
              <a:rPr sz="2400" dirty="0">
                <a:latin typeface="Times New Roman"/>
                <a:cs typeface="Times New Roman"/>
              </a:rPr>
              <a:t>arrows</a:t>
            </a:r>
            <a:r>
              <a:rPr sz="2400" spc="-30" dirty="0">
                <a:latin typeface="Times New Roman"/>
                <a:cs typeface="Times New Roman"/>
              </a:rPr>
              <a:t> </a:t>
            </a:r>
            <a:r>
              <a:rPr sz="2400" dirty="0">
                <a:latin typeface="Times New Roman"/>
                <a:cs typeface="Times New Roman"/>
              </a:rPr>
              <a:t>coming</a:t>
            </a:r>
            <a:r>
              <a:rPr sz="2400" spc="-30" dirty="0">
                <a:latin typeface="Times New Roman"/>
                <a:cs typeface="Times New Roman"/>
              </a:rPr>
              <a:t> </a:t>
            </a:r>
            <a:r>
              <a:rPr sz="2400" dirty="0">
                <a:latin typeface="Times New Roman"/>
                <a:cs typeface="Times New Roman"/>
              </a:rPr>
              <a:t>out</a:t>
            </a:r>
            <a:r>
              <a:rPr sz="2400" spc="-30" dirty="0">
                <a:latin typeface="Times New Roman"/>
                <a:cs typeface="Times New Roman"/>
              </a:rPr>
              <a:t> </a:t>
            </a:r>
            <a:r>
              <a:rPr sz="2400" dirty="0">
                <a:latin typeface="Times New Roman"/>
                <a:cs typeface="Times New Roman"/>
              </a:rPr>
              <a:t>of</a:t>
            </a:r>
            <a:r>
              <a:rPr sz="2400" spc="-25" dirty="0">
                <a:latin typeface="Times New Roman"/>
                <a:cs typeface="Times New Roman"/>
              </a:rPr>
              <a:t> </a:t>
            </a:r>
            <a:r>
              <a:rPr sz="2400" dirty="0">
                <a:latin typeface="Times New Roman"/>
                <a:cs typeface="Times New Roman"/>
              </a:rPr>
              <a:t>4</a:t>
            </a:r>
            <a:r>
              <a:rPr sz="2400" dirty="0">
                <a:latin typeface="Symbol"/>
                <a:cs typeface="Symbol"/>
              </a:rPr>
              <a:t></a:t>
            </a:r>
            <a:r>
              <a:rPr sz="2400" dirty="0">
                <a:latin typeface="Times New Roman"/>
                <a:cs typeface="Times New Roman"/>
              </a:rPr>
              <a:t>X.</a:t>
            </a:r>
            <a:r>
              <a:rPr sz="2400" spc="-35" dirty="0">
                <a:latin typeface="Times New Roman"/>
                <a:cs typeface="Times New Roman"/>
              </a:rPr>
              <a:t> </a:t>
            </a:r>
            <a:r>
              <a:rPr sz="2400" dirty="0">
                <a:latin typeface="Times New Roman"/>
                <a:cs typeface="Times New Roman"/>
              </a:rPr>
              <a:t>i.e.,4</a:t>
            </a:r>
            <a:r>
              <a:rPr sz="2400" dirty="0">
                <a:latin typeface="Symbol"/>
                <a:cs typeface="Symbol"/>
              </a:rPr>
              <a:t></a:t>
            </a:r>
            <a:r>
              <a:rPr sz="2400" dirty="0">
                <a:latin typeface="Times New Roman"/>
                <a:cs typeface="Times New Roman"/>
              </a:rPr>
              <a:t>X</a:t>
            </a:r>
            <a:r>
              <a:rPr sz="2400" spc="-25" dirty="0">
                <a:latin typeface="Times New Roman"/>
                <a:cs typeface="Times New Roman"/>
              </a:rPr>
              <a:t> </a:t>
            </a:r>
            <a:r>
              <a:rPr sz="2400" dirty="0">
                <a:latin typeface="Times New Roman"/>
                <a:cs typeface="Times New Roman"/>
              </a:rPr>
              <a:t>is</a:t>
            </a:r>
            <a:r>
              <a:rPr sz="2400" spc="-30" dirty="0">
                <a:latin typeface="Times New Roman"/>
                <a:cs typeface="Times New Roman"/>
              </a:rPr>
              <a:t> </a:t>
            </a:r>
            <a:r>
              <a:rPr sz="2400" dirty="0">
                <a:latin typeface="Times New Roman"/>
                <a:cs typeface="Times New Roman"/>
              </a:rPr>
              <a:t>not</a:t>
            </a:r>
            <a:r>
              <a:rPr sz="2400" spc="-30" dirty="0">
                <a:latin typeface="Times New Roman"/>
                <a:cs typeface="Times New Roman"/>
              </a:rPr>
              <a:t> </a:t>
            </a:r>
            <a:r>
              <a:rPr sz="2400" dirty="0">
                <a:latin typeface="Times New Roman"/>
                <a:cs typeface="Times New Roman"/>
              </a:rPr>
              <a:t>related</a:t>
            </a:r>
            <a:r>
              <a:rPr sz="2400" spc="-30" dirty="0">
                <a:latin typeface="Times New Roman"/>
                <a:cs typeface="Times New Roman"/>
              </a:rPr>
              <a:t> </a:t>
            </a:r>
            <a:r>
              <a:rPr sz="2400" dirty="0">
                <a:latin typeface="Times New Roman"/>
                <a:cs typeface="Times New Roman"/>
              </a:rPr>
              <a:t>to</a:t>
            </a:r>
            <a:r>
              <a:rPr sz="2400" spc="-30" dirty="0">
                <a:latin typeface="Times New Roman"/>
                <a:cs typeface="Times New Roman"/>
              </a:rPr>
              <a:t> </a:t>
            </a:r>
            <a:r>
              <a:rPr sz="2400" dirty="0">
                <a:latin typeface="Times New Roman"/>
                <a:cs typeface="Times New Roman"/>
              </a:rPr>
              <a:t>a</a:t>
            </a:r>
            <a:r>
              <a:rPr sz="2400" spc="-25" dirty="0">
                <a:latin typeface="Times New Roman"/>
                <a:cs typeface="Times New Roman"/>
              </a:rPr>
              <a:t> </a:t>
            </a:r>
            <a:r>
              <a:rPr sz="2400" dirty="0">
                <a:latin typeface="Times New Roman"/>
                <a:cs typeface="Times New Roman"/>
              </a:rPr>
              <a:t>unique</a:t>
            </a:r>
            <a:r>
              <a:rPr sz="2400" spc="-30" dirty="0">
                <a:latin typeface="Times New Roman"/>
                <a:cs typeface="Times New Roman"/>
              </a:rPr>
              <a:t> </a:t>
            </a:r>
            <a:r>
              <a:rPr sz="2400" dirty="0">
                <a:latin typeface="Times New Roman"/>
                <a:cs typeface="Times New Roman"/>
              </a:rPr>
              <a:t>element</a:t>
            </a:r>
            <a:r>
              <a:rPr sz="2400" spc="-25" dirty="0">
                <a:latin typeface="Times New Roman"/>
                <a:cs typeface="Times New Roman"/>
              </a:rPr>
              <a:t> of Y.</a:t>
            </a:r>
            <a:endParaRPr sz="2400" dirty="0">
              <a:latin typeface="Times New Roman"/>
              <a:cs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8340" y="175260"/>
            <a:ext cx="5630545" cy="574675"/>
          </a:xfrm>
          <a:prstGeom prst="rect">
            <a:avLst/>
          </a:prstGeom>
        </p:spPr>
        <p:txBody>
          <a:bodyPr vert="horz" wrap="square" lIns="0" tIns="12700" rIns="0" bIns="0" rtlCol="0">
            <a:spAutoFit/>
          </a:bodyPr>
          <a:lstStyle/>
          <a:p>
            <a:pPr marL="12700">
              <a:lnSpc>
                <a:spcPct val="100000"/>
              </a:lnSpc>
              <a:spcBef>
                <a:spcPts val="100"/>
              </a:spcBef>
            </a:pPr>
            <a:r>
              <a:rPr dirty="0"/>
              <a:t>REPRESENTING</a:t>
            </a:r>
            <a:r>
              <a:rPr spc="-80" dirty="0"/>
              <a:t> </a:t>
            </a:r>
            <a:r>
              <a:rPr spc="-35" dirty="0"/>
              <a:t>RELATIONS</a:t>
            </a:r>
          </a:p>
        </p:txBody>
      </p:sp>
      <p:sp>
        <p:nvSpPr>
          <p:cNvPr id="3" name="object 3"/>
          <p:cNvSpPr txBox="1"/>
          <p:nvPr/>
        </p:nvSpPr>
        <p:spPr>
          <a:xfrm>
            <a:off x="381000" y="1143000"/>
            <a:ext cx="8150860" cy="4834016"/>
          </a:xfrm>
          <a:prstGeom prst="rect">
            <a:avLst/>
          </a:prstGeom>
          <a:solidFill>
            <a:schemeClr val="bg1"/>
          </a:solidFill>
        </p:spPr>
        <p:txBody>
          <a:bodyPr vert="horz" wrap="square" lIns="0" tIns="139065" rIns="0" bIns="0" rtlCol="0">
            <a:spAutoFit/>
          </a:bodyPr>
          <a:lstStyle/>
          <a:p>
            <a:pPr marL="12700">
              <a:lnSpc>
                <a:spcPct val="100000"/>
              </a:lnSpc>
              <a:spcBef>
                <a:spcPts val="1095"/>
              </a:spcBef>
              <a:tabLst>
                <a:tab pos="354965" algn="l"/>
              </a:tabLst>
            </a:pPr>
            <a:r>
              <a:rPr sz="2800" spc="65" dirty="0">
                <a:solidFill>
                  <a:srgbClr val="90C225"/>
                </a:solidFill>
                <a:latin typeface="Lucida Sans Unicode"/>
                <a:cs typeface="Lucida Sans Unicode"/>
              </a:rPr>
              <a:t>▶</a:t>
            </a:r>
            <a:r>
              <a:rPr sz="2800" dirty="0">
                <a:solidFill>
                  <a:srgbClr val="90C225"/>
                </a:solidFill>
                <a:latin typeface="Lucida Sans Unicode"/>
                <a:cs typeface="Lucida Sans Unicode"/>
              </a:rPr>
              <a:t>	</a:t>
            </a:r>
            <a:r>
              <a:rPr sz="2800" dirty="0">
                <a:solidFill>
                  <a:srgbClr val="404040"/>
                </a:solidFill>
                <a:latin typeface="Times New Roman"/>
                <a:cs typeface="Times New Roman"/>
              </a:rPr>
              <a:t>There</a:t>
            </a:r>
            <a:r>
              <a:rPr sz="2800" spc="-35" dirty="0">
                <a:solidFill>
                  <a:srgbClr val="404040"/>
                </a:solidFill>
                <a:latin typeface="Times New Roman"/>
                <a:cs typeface="Times New Roman"/>
              </a:rPr>
              <a:t> </a:t>
            </a:r>
            <a:r>
              <a:rPr sz="2800" dirty="0">
                <a:solidFill>
                  <a:srgbClr val="404040"/>
                </a:solidFill>
                <a:latin typeface="Times New Roman"/>
                <a:cs typeface="Times New Roman"/>
              </a:rPr>
              <a:t>are</a:t>
            </a:r>
            <a:r>
              <a:rPr sz="2800" spc="-30" dirty="0">
                <a:solidFill>
                  <a:srgbClr val="404040"/>
                </a:solidFill>
                <a:latin typeface="Times New Roman"/>
                <a:cs typeface="Times New Roman"/>
              </a:rPr>
              <a:t> </a:t>
            </a:r>
            <a:r>
              <a:rPr sz="2800" dirty="0">
                <a:solidFill>
                  <a:srgbClr val="404040"/>
                </a:solidFill>
                <a:latin typeface="Times New Roman"/>
                <a:cs typeface="Times New Roman"/>
              </a:rPr>
              <a:t>many</a:t>
            </a:r>
            <a:r>
              <a:rPr sz="2800" spc="-35" dirty="0">
                <a:solidFill>
                  <a:srgbClr val="404040"/>
                </a:solidFill>
                <a:latin typeface="Times New Roman"/>
                <a:cs typeface="Times New Roman"/>
              </a:rPr>
              <a:t> </a:t>
            </a:r>
            <a:r>
              <a:rPr sz="2800" dirty="0">
                <a:solidFill>
                  <a:srgbClr val="404040"/>
                </a:solidFill>
                <a:latin typeface="Times New Roman"/>
                <a:cs typeface="Times New Roman"/>
              </a:rPr>
              <a:t>ways</a:t>
            </a:r>
            <a:r>
              <a:rPr sz="2800" spc="-30" dirty="0">
                <a:solidFill>
                  <a:srgbClr val="404040"/>
                </a:solidFill>
                <a:latin typeface="Times New Roman"/>
                <a:cs typeface="Times New Roman"/>
              </a:rPr>
              <a:t> </a:t>
            </a:r>
            <a:r>
              <a:rPr sz="2800" dirty="0">
                <a:solidFill>
                  <a:srgbClr val="404040"/>
                </a:solidFill>
                <a:latin typeface="Times New Roman"/>
                <a:cs typeface="Times New Roman"/>
              </a:rPr>
              <a:t>to</a:t>
            </a:r>
            <a:r>
              <a:rPr sz="2800" spc="-35" dirty="0">
                <a:solidFill>
                  <a:srgbClr val="404040"/>
                </a:solidFill>
                <a:latin typeface="Times New Roman"/>
                <a:cs typeface="Times New Roman"/>
              </a:rPr>
              <a:t> </a:t>
            </a:r>
            <a:r>
              <a:rPr sz="2800" dirty="0">
                <a:solidFill>
                  <a:srgbClr val="404040"/>
                </a:solidFill>
                <a:latin typeface="Times New Roman"/>
                <a:cs typeface="Times New Roman"/>
              </a:rPr>
              <a:t>represent</a:t>
            </a:r>
            <a:r>
              <a:rPr sz="2800" spc="-40" dirty="0">
                <a:solidFill>
                  <a:srgbClr val="404040"/>
                </a:solidFill>
                <a:latin typeface="Times New Roman"/>
                <a:cs typeface="Times New Roman"/>
              </a:rPr>
              <a:t> </a:t>
            </a:r>
            <a:r>
              <a:rPr sz="2800" dirty="0">
                <a:solidFill>
                  <a:srgbClr val="404040"/>
                </a:solidFill>
                <a:latin typeface="Times New Roman"/>
                <a:cs typeface="Times New Roman"/>
              </a:rPr>
              <a:t>a</a:t>
            </a:r>
            <a:r>
              <a:rPr sz="2800" spc="-30" dirty="0">
                <a:solidFill>
                  <a:srgbClr val="404040"/>
                </a:solidFill>
                <a:latin typeface="Times New Roman"/>
                <a:cs typeface="Times New Roman"/>
              </a:rPr>
              <a:t> </a:t>
            </a:r>
            <a:r>
              <a:rPr sz="2800" dirty="0">
                <a:solidFill>
                  <a:srgbClr val="404040"/>
                </a:solidFill>
                <a:latin typeface="Times New Roman"/>
                <a:cs typeface="Times New Roman"/>
              </a:rPr>
              <a:t>relation</a:t>
            </a:r>
            <a:r>
              <a:rPr sz="2800" spc="-35" dirty="0">
                <a:solidFill>
                  <a:srgbClr val="404040"/>
                </a:solidFill>
                <a:latin typeface="Times New Roman"/>
                <a:cs typeface="Times New Roman"/>
              </a:rPr>
              <a:t> </a:t>
            </a:r>
            <a:r>
              <a:rPr sz="2800" dirty="0">
                <a:solidFill>
                  <a:srgbClr val="404040"/>
                </a:solidFill>
                <a:latin typeface="Times New Roman"/>
                <a:cs typeface="Times New Roman"/>
              </a:rPr>
              <a:t>between</a:t>
            </a:r>
            <a:r>
              <a:rPr sz="2800" spc="-35" dirty="0">
                <a:solidFill>
                  <a:srgbClr val="404040"/>
                </a:solidFill>
                <a:latin typeface="Times New Roman"/>
                <a:cs typeface="Times New Roman"/>
              </a:rPr>
              <a:t> </a:t>
            </a:r>
            <a:r>
              <a:rPr sz="2800" dirty="0">
                <a:solidFill>
                  <a:srgbClr val="404040"/>
                </a:solidFill>
                <a:latin typeface="Times New Roman"/>
                <a:cs typeface="Times New Roman"/>
              </a:rPr>
              <a:t>finite</a:t>
            </a:r>
            <a:r>
              <a:rPr sz="2800" spc="-25" dirty="0">
                <a:solidFill>
                  <a:srgbClr val="404040"/>
                </a:solidFill>
                <a:latin typeface="Times New Roman"/>
                <a:cs typeface="Times New Roman"/>
              </a:rPr>
              <a:t> </a:t>
            </a:r>
            <a:r>
              <a:rPr sz="2800" spc="-10" dirty="0">
                <a:solidFill>
                  <a:srgbClr val="404040"/>
                </a:solidFill>
                <a:latin typeface="Times New Roman"/>
                <a:cs typeface="Times New Roman"/>
              </a:rPr>
              <a:t>sets.</a:t>
            </a:r>
            <a:endParaRPr sz="2800" dirty="0">
              <a:latin typeface="Times New Roman"/>
              <a:cs typeface="Times New Roman"/>
            </a:endParaRPr>
          </a:p>
          <a:p>
            <a:pPr marL="12700">
              <a:lnSpc>
                <a:spcPct val="100000"/>
              </a:lnSpc>
              <a:spcBef>
                <a:spcPts val="994"/>
              </a:spcBef>
              <a:tabLst>
                <a:tab pos="354965" algn="l"/>
              </a:tabLst>
            </a:pPr>
            <a:r>
              <a:rPr sz="2800" spc="65" dirty="0">
                <a:solidFill>
                  <a:srgbClr val="90C225"/>
                </a:solidFill>
                <a:latin typeface="Lucida Sans Unicode"/>
                <a:cs typeface="Lucida Sans Unicode"/>
              </a:rPr>
              <a:t>▶</a:t>
            </a:r>
            <a:r>
              <a:rPr sz="2800" dirty="0">
                <a:solidFill>
                  <a:srgbClr val="90C225"/>
                </a:solidFill>
                <a:latin typeface="Lucida Sans Unicode"/>
                <a:cs typeface="Lucida Sans Unicode"/>
              </a:rPr>
              <a:t>	</a:t>
            </a:r>
            <a:r>
              <a:rPr sz="2800" dirty="0">
                <a:solidFill>
                  <a:srgbClr val="404040"/>
                </a:solidFill>
                <a:latin typeface="Times New Roman"/>
                <a:cs typeface="Times New Roman"/>
              </a:rPr>
              <a:t>As</a:t>
            </a:r>
            <a:r>
              <a:rPr sz="2800" spc="-35" dirty="0">
                <a:solidFill>
                  <a:srgbClr val="404040"/>
                </a:solidFill>
                <a:latin typeface="Times New Roman"/>
                <a:cs typeface="Times New Roman"/>
              </a:rPr>
              <a:t> </a:t>
            </a:r>
            <a:r>
              <a:rPr sz="2800" dirty="0">
                <a:solidFill>
                  <a:srgbClr val="404040"/>
                </a:solidFill>
                <a:latin typeface="Times New Roman"/>
                <a:cs typeface="Times New Roman"/>
              </a:rPr>
              <a:t>we</a:t>
            </a:r>
            <a:r>
              <a:rPr sz="2800" spc="-25" dirty="0">
                <a:solidFill>
                  <a:srgbClr val="404040"/>
                </a:solidFill>
                <a:latin typeface="Times New Roman"/>
                <a:cs typeface="Times New Roman"/>
              </a:rPr>
              <a:t> </a:t>
            </a:r>
            <a:r>
              <a:rPr sz="2800" dirty="0">
                <a:solidFill>
                  <a:srgbClr val="404040"/>
                </a:solidFill>
                <a:latin typeface="Times New Roman"/>
                <a:cs typeface="Times New Roman"/>
              </a:rPr>
              <a:t>have</a:t>
            </a:r>
            <a:r>
              <a:rPr sz="2800" spc="-25" dirty="0">
                <a:solidFill>
                  <a:srgbClr val="404040"/>
                </a:solidFill>
                <a:latin typeface="Times New Roman"/>
                <a:cs typeface="Times New Roman"/>
              </a:rPr>
              <a:t> </a:t>
            </a:r>
            <a:r>
              <a:rPr sz="2800" dirty="0">
                <a:solidFill>
                  <a:srgbClr val="404040"/>
                </a:solidFill>
                <a:latin typeface="Times New Roman"/>
                <a:cs typeface="Times New Roman"/>
              </a:rPr>
              <a:t>seen</a:t>
            </a:r>
            <a:r>
              <a:rPr sz="2800" spc="-25" dirty="0">
                <a:solidFill>
                  <a:srgbClr val="404040"/>
                </a:solidFill>
                <a:latin typeface="Times New Roman"/>
                <a:cs typeface="Times New Roman"/>
              </a:rPr>
              <a:t> </a:t>
            </a:r>
            <a:r>
              <a:rPr sz="2800" spc="-10" dirty="0">
                <a:solidFill>
                  <a:srgbClr val="404040"/>
                </a:solidFill>
                <a:latin typeface="Times New Roman"/>
                <a:cs typeface="Times New Roman"/>
              </a:rPr>
              <a:t>previously,</a:t>
            </a:r>
            <a:r>
              <a:rPr sz="2800" spc="-15" dirty="0">
                <a:solidFill>
                  <a:srgbClr val="404040"/>
                </a:solidFill>
                <a:latin typeface="Times New Roman"/>
                <a:cs typeface="Times New Roman"/>
              </a:rPr>
              <a:t> </a:t>
            </a:r>
            <a:r>
              <a:rPr sz="2800" dirty="0">
                <a:solidFill>
                  <a:srgbClr val="404040"/>
                </a:solidFill>
                <a:latin typeface="Times New Roman"/>
                <a:cs typeface="Times New Roman"/>
              </a:rPr>
              <a:t>one</a:t>
            </a:r>
            <a:r>
              <a:rPr sz="2800" spc="-25" dirty="0">
                <a:solidFill>
                  <a:srgbClr val="404040"/>
                </a:solidFill>
                <a:latin typeface="Times New Roman"/>
                <a:cs typeface="Times New Roman"/>
              </a:rPr>
              <a:t> </a:t>
            </a:r>
            <a:r>
              <a:rPr sz="2800" dirty="0">
                <a:solidFill>
                  <a:srgbClr val="404040"/>
                </a:solidFill>
                <a:latin typeface="Times New Roman"/>
                <a:cs typeface="Times New Roman"/>
              </a:rPr>
              <a:t>way</a:t>
            </a:r>
            <a:r>
              <a:rPr sz="2800" spc="-20" dirty="0">
                <a:solidFill>
                  <a:srgbClr val="404040"/>
                </a:solidFill>
                <a:latin typeface="Times New Roman"/>
                <a:cs typeface="Times New Roman"/>
              </a:rPr>
              <a:t> </a:t>
            </a:r>
            <a:r>
              <a:rPr sz="2800" dirty="0">
                <a:solidFill>
                  <a:srgbClr val="404040"/>
                </a:solidFill>
                <a:latin typeface="Times New Roman"/>
                <a:cs typeface="Times New Roman"/>
              </a:rPr>
              <a:t>is</a:t>
            </a:r>
            <a:r>
              <a:rPr sz="2800" spc="-25" dirty="0">
                <a:solidFill>
                  <a:srgbClr val="404040"/>
                </a:solidFill>
                <a:latin typeface="Times New Roman"/>
                <a:cs typeface="Times New Roman"/>
              </a:rPr>
              <a:t> </a:t>
            </a:r>
            <a:r>
              <a:rPr sz="2800" dirty="0">
                <a:solidFill>
                  <a:srgbClr val="404040"/>
                </a:solidFill>
                <a:latin typeface="Times New Roman"/>
                <a:cs typeface="Times New Roman"/>
              </a:rPr>
              <a:t>to</a:t>
            </a:r>
            <a:r>
              <a:rPr sz="2800" spc="-25" dirty="0">
                <a:solidFill>
                  <a:srgbClr val="404040"/>
                </a:solidFill>
                <a:latin typeface="Times New Roman"/>
                <a:cs typeface="Times New Roman"/>
              </a:rPr>
              <a:t> </a:t>
            </a:r>
            <a:r>
              <a:rPr sz="2800" dirty="0">
                <a:solidFill>
                  <a:srgbClr val="404040"/>
                </a:solidFill>
                <a:latin typeface="Times New Roman"/>
                <a:cs typeface="Times New Roman"/>
              </a:rPr>
              <a:t>list</a:t>
            </a:r>
            <a:r>
              <a:rPr sz="2800" spc="-25" dirty="0">
                <a:solidFill>
                  <a:srgbClr val="404040"/>
                </a:solidFill>
                <a:latin typeface="Times New Roman"/>
                <a:cs typeface="Times New Roman"/>
              </a:rPr>
              <a:t> </a:t>
            </a:r>
            <a:r>
              <a:rPr sz="2800" dirty="0">
                <a:solidFill>
                  <a:srgbClr val="404040"/>
                </a:solidFill>
                <a:latin typeface="Times New Roman"/>
                <a:cs typeface="Times New Roman"/>
              </a:rPr>
              <a:t>its</a:t>
            </a:r>
            <a:r>
              <a:rPr sz="2800" spc="-25" dirty="0">
                <a:solidFill>
                  <a:srgbClr val="404040"/>
                </a:solidFill>
                <a:latin typeface="Times New Roman"/>
                <a:cs typeface="Times New Roman"/>
              </a:rPr>
              <a:t> </a:t>
            </a:r>
            <a:r>
              <a:rPr sz="2800" dirty="0">
                <a:solidFill>
                  <a:srgbClr val="404040"/>
                </a:solidFill>
                <a:latin typeface="Times New Roman"/>
                <a:cs typeface="Times New Roman"/>
              </a:rPr>
              <a:t>ordered</a:t>
            </a:r>
            <a:r>
              <a:rPr sz="2800" spc="-15" dirty="0">
                <a:solidFill>
                  <a:srgbClr val="404040"/>
                </a:solidFill>
                <a:latin typeface="Times New Roman"/>
                <a:cs typeface="Times New Roman"/>
              </a:rPr>
              <a:t> </a:t>
            </a:r>
            <a:r>
              <a:rPr sz="2800" spc="-10" dirty="0">
                <a:solidFill>
                  <a:srgbClr val="404040"/>
                </a:solidFill>
                <a:latin typeface="Times New Roman"/>
                <a:cs typeface="Times New Roman"/>
              </a:rPr>
              <a:t>pairs.</a:t>
            </a:r>
            <a:endParaRPr sz="2800" dirty="0">
              <a:latin typeface="Times New Roman"/>
              <a:cs typeface="Times New Roman"/>
            </a:endParaRPr>
          </a:p>
          <a:p>
            <a:pPr marL="355600">
              <a:lnSpc>
                <a:spcPct val="100000"/>
              </a:lnSpc>
            </a:pPr>
            <a:r>
              <a:rPr sz="2800" dirty="0">
                <a:solidFill>
                  <a:srgbClr val="404040"/>
                </a:solidFill>
                <a:latin typeface="Times New Roman"/>
                <a:cs typeface="Times New Roman"/>
              </a:rPr>
              <a:t>Another</a:t>
            </a:r>
            <a:r>
              <a:rPr sz="2800" spc="-25" dirty="0">
                <a:solidFill>
                  <a:srgbClr val="404040"/>
                </a:solidFill>
                <a:latin typeface="Times New Roman"/>
                <a:cs typeface="Times New Roman"/>
              </a:rPr>
              <a:t> </a:t>
            </a:r>
            <a:r>
              <a:rPr sz="2800" dirty="0">
                <a:solidFill>
                  <a:srgbClr val="404040"/>
                </a:solidFill>
                <a:latin typeface="Times New Roman"/>
                <a:cs typeface="Times New Roman"/>
              </a:rPr>
              <a:t>way</a:t>
            </a:r>
            <a:r>
              <a:rPr sz="2800" spc="-25" dirty="0">
                <a:solidFill>
                  <a:srgbClr val="404040"/>
                </a:solidFill>
                <a:latin typeface="Times New Roman"/>
                <a:cs typeface="Times New Roman"/>
              </a:rPr>
              <a:t> </a:t>
            </a:r>
            <a:r>
              <a:rPr sz="2800" dirty="0">
                <a:solidFill>
                  <a:srgbClr val="404040"/>
                </a:solidFill>
                <a:latin typeface="Times New Roman"/>
                <a:cs typeface="Times New Roman"/>
              </a:rPr>
              <a:t>to</a:t>
            </a:r>
            <a:r>
              <a:rPr sz="2800" spc="-25" dirty="0">
                <a:solidFill>
                  <a:srgbClr val="404040"/>
                </a:solidFill>
                <a:latin typeface="Times New Roman"/>
                <a:cs typeface="Times New Roman"/>
              </a:rPr>
              <a:t> </a:t>
            </a:r>
            <a:r>
              <a:rPr sz="2800" dirty="0">
                <a:solidFill>
                  <a:srgbClr val="404040"/>
                </a:solidFill>
                <a:latin typeface="Times New Roman"/>
                <a:cs typeface="Times New Roman"/>
              </a:rPr>
              <a:t>represent</a:t>
            </a:r>
            <a:r>
              <a:rPr sz="2800" spc="-15" dirty="0">
                <a:solidFill>
                  <a:srgbClr val="404040"/>
                </a:solidFill>
                <a:latin typeface="Times New Roman"/>
                <a:cs typeface="Times New Roman"/>
              </a:rPr>
              <a:t> </a:t>
            </a:r>
            <a:r>
              <a:rPr sz="2800" dirty="0">
                <a:solidFill>
                  <a:srgbClr val="404040"/>
                </a:solidFill>
                <a:latin typeface="Times New Roman"/>
                <a:cs typeface="Times New Roman"/>
              </a:rPr>
              <a:t>a</a:t>
            </a:r>
            <a:r>
              <a:rPr sz="2800" spc="-25" dirty="0">
                <a:solidFill>
                  <a:srgbClr val="404040"/>
                </a:solidFill>
                <a:latin typeface="Times New Roman"/>
                <a:cs typeface="Times New Roman"/>
              </a:rPr>
              <a:t> </a:t>
            </a:r>
            <a:r>
              <a:rPr sz="2800" dirty="0">
                <a:solidFill>
                  <a:srgbClr val="404040"/>
                </a:solidFill>
                <a:latin typeface="Times New Roman"/>
                <a:cs typeface="Times New Roman"/>
              </a:rPr>
              <a:t>relation</a:t>
            </a:r>
            <a:r>
              <a:rPr sz="2800" spc="-20" dirty="0">
                <a:solidFill>
                  <a:srgbClr val="404040"/>
                </a:solidFill>
                <a:latin typeface="Times New Roman"/>
                <a:cs typeface="Times New Roman"/>
              </a:rPr>
              <a:t> </a:t>
            </a:r>
            <a:r>
              <a:rPr sz="2800" dirty="0">
                <a:solidFill>
                  <a:srgbClr val="404040"/>
                </a:solidFill>
                <a:latin typeface="Times New Roman"/>
                <a:cs typeface="Times New Roman"/>
              </a:rPr>
              <a:t>is</a:t>
            </a:r>
            <a:r>
              <a:rPr sz="2800" spc="-25" dirty="0">
                <a:solidFill>
                  <a:srgbClr val="404040"/>
                </a:solidFill>
                <a:latin typeface="Times New Roman"/>
                <a:cs typeface="Times New Roman"/>
              </a:rPr>
              <a:t> </a:t>
            </a:r>
            <a:r>
              <a:rPr sz="2800" dirty="0">
                <a:solidFill>
                  <a:srgbClr val="404040"/>
                </a:solidFill>
                <a:latin typeface="Times New Roman"/>
                <a:cs typeface="Times New Roman"/>
              </a:rPr>
              <a:t>to</a:t>
            </a:r>
            <a:r>
              <a:rPr sz="2800" spc="-20" dirty="0">
                <a:solidFill>
                  <a:srgbClr val="404040"/>
                </a:solidFill>
                <a:latin typeface="Times New Roman"/>
                <a:cs typeface="Times New Roman"/>
              </a:rPr>
              <a:t> </a:t>
            </a:r>
            <a:r>
              <a:rPr sz="2800" dirty="0">
                <a:solidFill>
                  <a:srgbClr val="404040"/>
                </a:solidFill>
                <a:latin typeface="Times New Roman"/>
                <a:cs typeface="Times New Roman"/>
              </a:rPr>
              <a:t>use</a:t>
            </a:r>
            <a:r>
              <a:rPr sz="2800" spc="-25" dirty="0">
                <a:solidFill>
                  <a:srgbClr val="404040"/>
                </a:solidFill>
                <a:latin typeface="Times New Roman"/>
                <a:cs typeface="Times New Roman"/>
              </a:rPr>
              <a:t> </a:t>
            </a:r>
            <a:r>
              <a:rPr sz="2800" dirty="0">
                <a:solidFill>
                  <a:srgbClr val="404040"/>
                </a:solidFill>
                <a:latin typeface="Times New Roman"/>
                <a:cs typeface="Times New Roman"/>
              </a:rPr>
              <a:t>a</a:t>
            </a:r>
            <a:r>
              <a:rPr sz="2800" spc="-25" dirty="0">
                <a:solidFill>
                  <a:srgbClr val="404040"/>
                </a:solidFill>
                <a:latin typeface="Times New Roman"/>
                <a:cs typeface="Times New Roman"/>
              </a:rPr>
              <a:t> </a:t>
            </a:r>
            <a:r>
              <a:rPr sz="2800" spc="-10" dirty="0">
                <a:solidFill>
                  <a:srgbClr val="404040"/>
                </a:solidFill>
                <a:latin typeface="Times New Roman"/>
                <a:cs typeface="Times New Roman"/>
              </a:rPr>
              <a:t>table.</a:t>
            </a:r>
            <a:endParaRPr sz="2800" dirty="0">
              <a:latin typeface="Times New Roman"/>
              <a:cs typeface="Times New Roman"/>
            </a:endParaRPr>
          </a:p>
          <a:p>
            <a:pPr marL="355600" marR="396240" indent="-342900">
              <a:lnSpc>
                <a:spcPct val="100000"/>
              </a:lnSpc>
              <a:spcBef>
                <a:spcPts val="1000"/>
              </a:spcBef>
              <a:tabLst>
                <a:tab pos="354965" algn="l"/>
              </a:tabLst>
            </a:pPr>
            <a:r>
              <a:rPr sz="2800" spc="65" dirty="0">
                <a:solidFill>
                  <a:srgbClr val="90C225"/>
                </a:solidFill>
                <a:latin typeface="Lucida Sans Unicode"/>
                <a:cs typeface="Lucida Sans Unicode"/>
              </a:rPr>
              <a:t>▶</a:t>
            </a:r>
            <a:r>
              <a:rPr sz="2800" dirty="0">
                <a:solidFill>
                  <a:srgbClr val="90C225"/>
                </a:solidFill>
                <a:latin typeface="Lucida Sans Unicode"/>
                <a:cs typeface="Lucida Sans Unicode"/>
              </a:rPr>
              <a:t>	</a:t>
            </a:r>
            <a:r>
              <a:rPr sz="2800" dirty="0">
                <a:solidFill>
                  <a:srgbClr val="C00000"/>
                </a:solidFill>
                <a:latin typeface="Times New Roman"/>
                <a:cs typeface="Times New Roman"/>
              </a:rPr>
              <a:t>Now</a:t>
            </a:r>
            <a:r>
              <a:rPr sz="2800" spc="-25" dirty="0">
                <a:solidFill>
                  <a:srgbClr val="C00000"/>
                </a:solidFill>
                <a:latin typeface="Times New Roman"/>
                <a:cs typeface="Times New Roman"/>
              </a:rPr>
              <a:t> </a:t>
            </a:r>
            <a:r>
              <a:rPr sz="2800" dirty="0">
                <a:solidFill>
                  <a:srgbClr val="C00000"/>
                </a:solidFill>
                <a:latin typeface="Times New Roman"/>
                <a:cs typeface="Times New Roman"/>
              </a:rPr>
              <a:t>we</a:t>
            </a:r>
            <a:r>
              <a:rPr sz="2800" spc="-20" dirty="0">
                <a:solidFill>
                  <a:srgbClr val="C00000"/>
                </a:solidFill>
                <a:latin typeface="Times New Roman"/>
                <a:cs typeface="Times New Roman"/>
              </a:rPr>
              <a:t> </a:t>
            </a:r>
            <a:r>
              <a:rPr sz="2800" dirty="0">
                <a:solidFill>
                  <a:srgbClr val="C00000"/>
                </a:solidFill>
                <a:latin typeface="Times New Roman"/>
                <a:cs typeface="Times New Roman"/>
              </a:rPr>
              <a:t>will</a:t>
            </a:r>
            <a:r>
              <a:rPr sz="2800" spc="-20" dirty="0">
                <a:solidFill>
                  <a:srgbClr val="C00000"/>
                </a:solidFill>
                <a:latin typeface="Times New Roman"/>
                <a:cs typeface="Times New Roman"/>
              </a:rPr>
              <a:t> </a:t>
            </a:r>
            <a:r>
              <a:rPr sz="2800" dirty="0">
                <a:solidFill>
                  <a:srgbClr val="C00000"/>
                </a:solidFill>
                <a:latin typeface="Times New Roman"/>
                <a:cs typeface="Times New Roman"/>
              </a:rPr>
              <a:t>discuss</a:t>
            </a:r>
            <a:r>
              <a:rPr sz="2800" spc="-20" dirty="0">
                <a:solidFill>
                  <a:srgbClr val="C00000"/>
                </a:solidFill>
                <a:latin typeface="Times New Roman"/>
                <a:cs typeface="Times New Roman"/>
              </a:rPr>
              <a:t> </a:t>
            </a:r>
            <a:r>
              <a:rPr sz="2800" dirty="0">
                <a:solidFill>
                  <a:srgbClr val="C00000"/>
                </a:solidFill>
                <a:latin typeface="Times New Roman"/>
                <a:cs typeface="Times New Roman"/>
              </a:rPr>
              <a:t>two</a:t>
            </a:r>
            <a:r>
              <a:rPr sz="2800" spc="-20" dirty="0">
                <a:solidFill>
                  <a:srgbClr val="C00000"/>
                </a:solidFill>
                <a:latin typeface="Times New Roman"/>
                <a:cs typeface="Times New Roman"/>
              </a:rPr>
              <a:t> </a:t>
            </a:r>
            <a:r>
              <a:rPr sz="2800" dirty="0">
                <a:solidFill>
                  <a:srgbClr val="C00000"/>
                </a:solidFill>
                <a:latin typeface="Times New Roman"/>
                <a:cs typeface="Times New Roman"/>
              </a:rPr>
              <a:t>alternative</a:t>
            </a:r>
            <a:r>
              <a:rPr sz="2800" spc="-15" dirty="0">
                <a:solidFill>
                  <a:srgbClr val="C00000"/>
                </a:solidFill>
                <a:latin typeface="Times New Roman"/>
                <a:cs typeface="Times New Roman"/>
              </a:rPr>
              <a:t> </a:t>
            </a:r>
            <a:r>
              <a:rPr sz="2800" dirty="0">
                <a:solidFill>
                  <a:srgbClr val="C00000"/>
                </a:solidFill>
                <a:latin typeface="Times New Roman"/>
                <a:cs typeface="Times New Roman"/>
              </a:rPr>
              <a:t>methods</a:t>
            </a:r>
            <a:r>
              <a:rPr sz="2800" spc="-15" dirty="0">
                <a:solidFill>
                  <a:srgbClr val="C00000"/>
                </a:solidFill>
                <a:latin typeface="Times New Roman"/>
                <a:cs typeface="Times New Roman"/>
              </a:rPr>
              <a:t> </a:t>
            </a:r>
            <a:r>
              <a:rPr sz="2800" dirty="0">
                <a:solidFill>
                  <a:srgbClr val="C00000"/>
                </a:solidFill>
                <a:latin typeface="Times New Roman"/>
                <a:cs typeface="Times New Roman"/>
              </a:rPr>
              <a:t>for</a:t>
            </a:r>
            <a:r>
              <a:rPr sz="2800" spc="-20" dirty="0">
                <a:solidFill>
                  <a:srgbClr val="C00000"/>
                </a:solidFill>
                <a:latin typeface="Times New Roman"/>
                <a:cs typeface="Times New Roman"/>
              </a:rPr>
              <a:t> </a:t>
            </a:r>
            <a:r>
              <a:rPr sz="2800" spc="-10" dirty="0">
                <a:solidFill>
                  <a:srgbClr val="C00000"/>
                </a:solidFill>
                <a:latin typeface="Times New Roman"/>
                <a:cs typeface="Times New Roman"/>
              </a:rPr>
              <a:t>representing </a:t>
            </a:r>
            <a:r>
              <a:rPr sz="2800" dirty="0">
                <a:solidFill>
                  <a:srgbClr val="C00000"/>
                </a:solidFill>
                <a:latin typeface="Times New Roman"/>
                <a:cs typeface="Times New Roman"/>
              </a:rPr>
              <a:t>relations.</a:t>
            </a:r>
            <a:r>
              <a:rPr sz="2800" spc="-40" dirty="0">
                <a:solidFill>
                  <a:srgbClr val="404040"/>
                </a:solidFill>
                <a:latin typeface="Times New Roman"/>
                <a:cs typeface="Times New Roman"/>
              </a:rPr>
              <a:t> </a:t>
            </a:r>
            <a:r>
              <a:rPr sz="2800" dirty="0">
                <a:solidFill>
                  <a:srgbClr val="404040"/>
                </a:solidFill>
                <a:latin typeface="Times New Roman"/>
                <a:cs typeface="Times New Roman"/>
              </a:rPr>
              <a:t>One</a:t>
            </a:r>
            <a:r>
              <a:rPr sz="2800" spc="-40" dirty="0">
                <a:solidFill>
                  <a:srgbClr val="404040"/>
                </a:solidFill>
                <a:latin typeface="Times New Roman"/>
                <a:cs typeface="Times New Roman"/>
              </a:rPr>
              <a:t> </a:t>
            </a:r>
            <a:r>
              <a:rPr sz="2800" dirty="0">
                <a:solidFill>
                  <a:srgbClr val="404040"/>
                </a:solidFill>
                <a:latin typeface="Times New Roman"/>
                <a:cs typeface="Times New Roman"/>
              </a:rPr>
              <a:t>method</a:t>
            </a:r>
            <a:r>
              <a:rPr sz="2800" spc="-40" dirty="0">
                <a:solidFill>
                  <a:srgbClr val="404040"/>
                </a:solidFill>
                <a:latin typeface="Times New Roman"/>
                <a:cs typeface="Times New Roman"/>
              </a:rPr>
              <a:t> </a:t>
            </a:r>
            <a:r>
              <a:rPr sz="2800" dirty="0">
                <a:solidFill>
                  <a:srgbClr val="404040"/>
                </a:solidFill>
                <a:latin typeface="Times New Roman"/>
                <a:cs typeface="Times New Roman"/>
              </a:rPr>
              <a:t>uses</a:t>
            </a:r>
            <a:r>
              <a:rPr sz="2800" spc="-35" dirty="0">
                <a:solidFill>
                  <a:srgbClr val="404040"/>
                </a:solidFill>
                <a:latin typeface="Times New Roman"/>
                <a:cs typeface="Times New Roman"/>
              </a:rPr>
              <a:t> </a:t>
            </a:r>
            <a:r>
              <a:rPr sz="2800" dirty="0">
                <a:solidFill>
                  <a:srgbClr val="7030A0"/>
                </a:solidFill>
                <a:latin typeface="Times New Roman"/>
                <a:cs typeface="Times New Roman"/>
              </a:rPr>
              <a:t>zero–one</a:t>
            </a:r>
            <a:r>
              <a:rPr sz="2800" spc="-40" dirty="0">
                <a:solidFill>
                  <a:srgbClr val="7030A0"/>
                </a:solidFill>
                <a:latin typeface="Times New Roman"/>
                <a:cs typeface="Times New Roman"/>
              </a:rPr>
              <a:t> </a:t>
            </a:r>
            <a:r>
              <a:rPr sz="2800" dirty="0">
                <a:solidFill>
                  <a:srgbClr val="7030A0"/>
                </a:solidFill>
                <a:latin typeface="Times New Roman"/>
                <a:cs typeface="Times New Roman"/>
              </a:rPr>
              <a:t>matrices</a:t>
            </a:r>
            <a:r>
              <a:rPr sz="2800" dirty="0">
                <a:solidFill>
                  <a:srgbClr val="404040"/>
                </a:solidFill>
                <a:latin typeface="Times New Roman"/>
                <a:cs typeface="Times New Roman"/>
              </a:rPr>
              <a:t>.</a:t>
            </a:r>
            <a:r>
              <a:rPr sz="2800" spc="-60" dirty="0">
                <a:solidFill>
                  <a:srgbClr val="404040"/>
                </a:solidFill>
                <a:latin typeface="Times New Roman"/>
                <a:cs typeface="Times New Roman"/>
              </a:rPr>
              <a:t> </a:t>
            </a:r>
            <a:r>
              <a:rPr sz="2800" dirty="0">
                <a:solidFill>
                  <a:srgbClr val="404040"/>
                </a:solidFill>
                <a:latin typeface="Times New Roman"/>
                <a:cs typeface="Times New Roman"/>
              </a:rPr>
              <a:t>The</a:t>
            </a:r>
            <a:r>
              <a:rPr sz="2800" spc="-40" dirty="0">
                <a:solidFill>
                  <a:srgbClr val="404040"/>
                </a:solidFill>
                <a:latin typeface="Times New Roman"/>
                <a:cs typeface="Times New Roman"/>
              </a:rPr>
              <a:t> </a:t>
            </a:r>
            <a:r>
              <a:rPr sz="2800" dirty="0">
                <a:solidFill>
                  <a:srgbClr val="404040"/>
                </a:solidFill>
                <a:latin typeface="Times New Roman"/>
                <a:cs typeface="Times New Roman"/>
              </a:rPr>
              <a:t>other</a:t>
            </a:r>
            <a:r>
              <a:rPr sz="2800" spc="-40" dirty="0">
                <a:solidFill>
                  <a:srgbClr val="404040"/>
                </a:solidFill>
                <a:latin typeface="Times New Roman"/>
                <a:cs typeface="Times New Roman"/>
              </a:rPr>
              <a:t> </a:t>
            </a:r>
            <a:r>
              <a:rPr sz="2800" spc="-10" dirty="0">
                <a:solidFill>
                  <a:srgbClr val="404040"/>
                </a:solidFill>
                <a:latin typeface="Times New Roman"/>
                <a:cs typeface="Times New Roman"/>
              </a:rPr>
              <a:t>method </a:t>
            </a:r>
            <a:r>
              <a:rPr sz="2800" dirty="0">
                <a:solidFill>
                  <a:srgbClr val="404040"/>
                </a:solidFill>
                <a:latin typeface="Times New Roman"/>
                <a:cs typeface="Times New Roman"/>
              </a:rPr>
              <a:t>uses</a:t>
            </a:r>
            <a:r>
              <a:rPr sz="2800" spc="-55" dirty="0">
                <a:solidFill>
                  <a:srgbClr val="404040"/>
                </a:solidFill>
                <a:latin typeface="Times New Roman"/>
                <a:cs typeface="Times New Roman"/>
              </a:rPr>
              <a:t> </a:t>
            </a:r>
            <a:r>
              <a:rPr sz="2800" dirty="0">
                <a:solidFill>
                  <a:srgbClr val="404040"/>
                </a:solidFill>
                <a:latin typeface="Times New Roman"/>
                <a:cs typeface="Times New Roman"/>
              </a:rPr>
              <a:t>pictorial</a:t>
            </a:r>
            <a:r>
              <a:rPr sz="2800" spc="-50" dirty="0">
                <a:solidFill>
                  <a:srgbClr val="404040"/>
                </a:solidFill>
                <a:latin typeface="Times New Roman"/>
                <a:cs typeface="Times New Roman"/>
              </a:rPr>
              <a:t> </a:t>
            </a:r>
            <a:r>
              <a:rPr sz="2800" dirty="0">
                <a:solidFill>
                  <a:srgbClr val="404040"/>
                </a:solidFill>
                <a:latin typeface="Times New Roman"/>
                <a:cs typeface="Times New Roman"/>
              </a:rPr>
              <a:t>representations</a:t>
            </a:r>
            <a:r>
              <a:rPr sz="2800" spc="-55" dirty="0">
                <a:solidFill>
                  <a:srgbClr val="404040"/>
                </a:solidFill>
                <a:latin typeface="Times New Roman"/>
                <a:cs typeface="Times New Roman"/>
              </a:rPr>
              <a:t> </a:t>
            </a:r>
            <a:r>
              <a:rPr sz="2800" dirty="0">
                <a:solidFill>
                  <a:srgbClr val="404040"/>
                </a:solidFill>
                <a:latin typeface="Times New Roman"/>
                <a:cs typeface="Times New Roman"/>
              </a:rPr>
              <a:t>called</a:t>
            </a:r>
            <a:r>
              <a:rPr sz="2800" spc="-50" dirty="0">
                <a:solidFill>
                  <a:srgbClr val="404040"/>
                </a:solidFill>
                <a:latin typeface="Times New Roman"/>
                <a:cs typeface="Times New Roman"/>
              </a:rPr>
              <a:t> </a:t>
            </a:r>
            <a:r>
              <a:rPr sz="2800" b="1" dirty="0">
                <a:solidFill>
                  <a:srgbClr val="7030A0"/>
                </a:solidFill>
                <a:latin typeface="Times New Roman"/>
                <a:cs typeface="Times New Roman"/>
              </a:rPr>
              <a:t>directed</a:t>
            </a:r>
            <a:r>
              <a:rPr sz="2800" b="1" spc="-45" dirty="0">
                <a:solidFill>
                  <a:srgbClr val="7030A0"/>
                </a:solidFill>
                <a:latin typeface="Times New Roman"/>
                <a:cs typeface="Times New Roman"/>
              </a:rPr>
              <a:t> </a:t>
            </a:r>
            <a:r>
              <a:rPr sz="2800" b="1" spc="-10" dirty="0">
                <a:solidFill>
                  <a:srgbClr val="7030A0"/>
                </a:solidFill>
                <a:latin typeface="Times New Roman"/>
                <a:cs typeface="Times New Roman"/>
              </a:rPr>
              <a:t>graphs.</a:t>
            </a:r>
            <a:endParaRPr sz="2800" b="1" dirty="0">
              <a:solidFill>
                <a:srgbClr val="7030A0"/>
              </a:solidFill>
              <a:latin typeface="Times New Roman"/>
              <a:cs typeface="Times New Roman"/>
            </a:endParaRPr>
          </a:p>
          <a:p>
            <a:pPr marL="355600" marR="20955" indent="-342900">
              <a:lnSpc>
                <a:spcPct val="100000"/>
              </a:lnSpc>
              <a:spcBef>
                <a:spcPts val="1005"/>
              </a:spcBef>
              <a:tabLst>
                <a:tab pos="354965" algn="l"/>
              </a:tabLst>
            </a:pPr>
            <a:endParaRPr sz="2800" dirty="0">
              <a:latin typeface="Times New Roman"/>
              <a:cs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49452" y="19303"/>
            <a:ext cx="6456680" cy="1123315"/>
          </a:xfrm>
          <a:prstGeom prst="rect">
            <a:avLst/>
          </a:prstGeom>
        </p:spPr>
        <p:txBody>
          <a:bodyPr vert="horz" wrap="square" lIns="0" tIns="12700" rIns="0" bIns="0" rtlCol="0">
            <a:spAutoFit/>
          </a:bodyPr>
          <a:lstStyle/>
          <a:p>
            <a:pPr marL="1083310" marR="5080" indent="-1070610">
              <a:lnSpc>
                <a:spcPct val="100000"/>
              </a:lnSpc>
              <a:spcBef>
                <a:spcPts val="100"/>
              </a:spcBef>
            </a:pPr>
            <a:r>
              <a:rPr dirty="0"/>
              <a:t>REPRESENTING</a:t>
            </a:r>
            <a:r>
              <a:rPr spc="-60" dirty="0"/>
              <a:t> </a:t>
            </a:r>
            <a:r>
              <a:rPr spc="-45" dirty="0"/>
              <a:t>RELATIONS </a:t>
            </a:r>
            <a:r>
              <a:rPr dirty="0"/>
              <a:t>USING</a:t>
            </a:r>
            <a:r>
              <a:rPr spc="-25" dirty="0"/>
              <a:t> </a:t>
            </a:r>
            <a:r>
              <a:rPr spc="-10" dirty="0"/>
              <a:t>MATRICES</a:t>
            </a:r>
          </a:p>
        </p:txBody>
      </p:sp>
      <p:sp>
        <p:nvSpPr>
          <p:cNvPr id="3" name="object 3"/>
          <p:cNvSpPr txBox="1"/>
          <p:nvPr/>
        </p:nvSpPr>
        <p:spPr>
          <a:xfrm>
            <a:off x="340787" y="1226061"/>
            <a:ext cx="7888813" cy="4309513"/>
          </a:xfrm>
          <a:prstGeom prst="rect">
            <a:avLst/>
          </a:prstGeom>
          <a:solidFill>
            <a:schemeClr val="bg1"/>
          </a:solidFill>
        </p:spPr>
        <p:txBody>
          <a:bodyPr vert="horz" wrap="square" lIns="0" tIns="41275" rIns="0" bIns="0" rtlCol="0">
            <a:spAutoFit/>
          </a:bodyPr>
          <a:lstStyle/>
          <a:p>
            <a:r>
              <a:rPr lang="en-US" sz="2400" dirty="0">
                <a:solidFill>
                  <a:srgbClr val="002060"/>
                </a:solidFill>
                <a:latin typeface="+mn-lt"/>
              </a:rPr>
              <a:t>A relation between finite sets can be shown using a </a:t>
            </a:r>
            <a:r>
              <a:rPr lang="en-US" sz="2400" b="1" dirty="0">
                <a:solidFill>
                  <a:srgbClr val="002060"/>
                </a:solidFill>
                <a:latin typeface="+mn-lt"/>
              </a:rPr>
              <a:t>matrix of 0s and 1s</a:t>
            </a:r>
            <a:r>
              <a:rPr lang="en-US" sz="2400" dirty="0">
                <a:solidFill>
                  <a:srgbClr val="002060"/>
                </a:solidFill>
                <a:latin typeface="+mn-lt"/>
              </a:rPr>
              <a:t>.</a:t>
            </a:r>
          </a:p>
          <a:p>
            <a:r>
              <a:rPr lang="en-US" sz="2400" dirty="0">
                <a:latin typeface="+mn-lt"/>
              </a:rPr>
              <a:t>Suppose: </a:t>
            </a:r>
            <a:r>
              <a:rPr lang="en-US" sz="2400" b="1" dirty="0">
                <a:solidFill>
                  <a:srgbClr val="C00000"/>
                </a:solidFill>
                <a:latin typeface="+mn-lt"/>
              </a:rPr>
              <a:t>A = {a₁, a₂, …, aₘ}</a:t>
            </a:r>
            <a:r>
              <a:rPr lang="en-US" sz="2400" dirty="0">
                <a:solidFill>
                  <a:srgbClr val="C00000"/>
                </a:solidFill>
                <a:latin typeface="+mn-lt"/>
              </a:rPr>
              <a:t> &amp; </a:t>
            </a:r>
            <a:r>
              <a:rPr lang="en-US" sz="2400" b="1" dirty="0">
                <a:solidFill>
                  <a:srgbClr val="C00000"/>
                </a:solidFill>
                <a:latin typeface="+mn-lt"/>
              </a:rPr>
              <a:t>B = {b₁, b₂, …, bₙ}</a:t>
            </a:r>
            <a:endParaRPr lang="en-US" sz="2400" dirty="0">
              <a:solidFill>
                <a:srgbClr val="C00000"/>
              </a:solidFill>
              <a:latin typeface="+mn-lt"/>
            </a:endParaRPr>
          </a:p>
          <a:p>
            <a:pPr marL="25400">
              <a:lnSpc>
                <a:spcPct val="100000"/>
              </a:lnSpc>
              <a:spcBef>
                <a:spcPts val="755"/>
              </a:spcBef>
              <a:tabLst>
                <a:tab pos="367665" algn="l"/>
              </a:tabLst>
            </a:pPr>
            <a:r>
              <a:rPr sz="2400" spc="65" dirty="0">
                <a:solidFill>
                  <a:srgbClr val="90C225"/>
                </a:solidFill>
                <a:latin typeface="+mn-lt"/>
                <a:cs typeface="Lucida Sans Unicode"/>
              </a:rPr>
              <a:t>▶</a:t>
            </a:r>
            <a:r>
              <a:rPr sz="2400" dirty="0">
                <a:solidFill>
                  <a:srgbClr val="90C225"/>
                </a:solidFill>
                <a:latin typeface="+mn-lt"/>
                <a:cs typeface="Lucida Sans Unicode"/>
              </a:rPr>
              <a:t>	</a:t>
            </a:r>
            <a:r>
              <a:rPr sz="2400" dirty="0">
                <a:solidFill>
                  <a:srgbClr val="404040"/>
                </a:solidFill>
                <a:latin typeface="+mn-lt"/>
                <a:cs typeface="Times New Roman"/>
              </a:rPr>
              <a:t>The</a:t>
            </a:r>
            <a:r>
              <a:rPr sz="2400" spc="-20" dirty="0">
                <a:solidFill>
                  <a:srgbClr val="404040"/>
                </a:solidFill>
                <a:latin typeface="+mn-lt"/>
                <a:cs typeface="Times New Roman"/>
              </a:rPr>
              <a:t> </a:t>
            </a:r>
            <a:r>
              <a:rPr sz="2400" dirty="0">
                <a:solidFill>
                  <a:srgbClr val="404040"/>
                </a:solidFill>
                <a:latin typeface="+mn-lt"/>
                <a:cs typeface="Times New Roman"/>
              </a:rPr>
              <a:t>relation</a:t>
            </a:r>
            <a:r>
              <a:rPr sz="2400" spc="-5" dirty="0">
                <a:solidFill>
                  <a:srgbClr val="404040"/>
                </a:solidFill>
                <a:latin typeface="+mn-lt"/>
                <a:cs typeface="Times New Roman"/>
              </a:rPr>
              <a:t> </a:t>
            </a:r>
            <a:r>
              <a:rPr sz="2400" i="1" dirty="0">
                <a:solidFill>
                  <a:srgbClr val="404040"/>
                </a:solidFill>
                <a:latin typeface="+mn-lt"/>
                <a:cs typeface="Times New Roman"/>
              </a:rPr>
              <a:t>R</a:t>
            </a:r>
            <a:r>
              <a:rPr sz="2400" i="1" spc="-10" dirty="0">
                <a:solidFill>
                  <a:srgbClr val="404040"/>
                </a:solidFill>
                <a:latin typeface="+mn-lt"/>
                <a:cs typeface="Times New Roman"/>
              </a:rPr>
              <a:t> </a:t>
            </a:r>
            <a:r>
              <a:rPr sz="2400" dirty="0">
                <a:solidFill>
                  <a:srgbClr val="404040"/>
                </a:solidFill>
                <a:latin typeface="+mn-lt"/>
                <a:cs typeface="Times New Roman"/>
              </a:rPr>
              <a:t>can</a:t>
            </a:r>
            <a:r>
              <a:rPr sz="2400" spc="-20" dirty="0">
                <a:solidFill>
                  <a:srgbClr val="404040"/>
                </a:solidFill>
                <a:latin typeface="+mn-lt"/>
                <a:cs typeface="Times New Roman"/>
              </a:rPr>
              <a:t> </a:t>
            </a:r>
            <a:r>
              <a:rPr sz="2400" dirty="0">
                <a:solidFill>
                  <a:srgbClr val="404040"/>
                </a:solidFill>
                <a:latin typeface="+mn-lt"/>
                <a:cs typeface="Times New Roman"/>
              </a:rPr>
              <a:t>be</a:t>
            </a:r>
            <a:r>
              <a:rPr sz="2400" spc="-15" dirty="0">
                <a:solidFill>
                  <a:srgbClr val="404040"/>
                </a:solidFill>
                <a:latin typeface="+mn-lt"/>
                <a:cs typeface="Times New Roman"/>
              </a:rPr>
              <a:t> </a:t>
            </a:r>
            <a:r>
              <a:rPr sz="2400" dirty="0">
                <a:solidFill>
                  <a:srgbClr val="404040"/>
                </a:solidFill>
                <a:latin typeface="+mn-lt"/>
                <a:cs typeface="Times New Roman"/>
              </a:rPr>
              <a:t>represented</a:t>
            </a:r>
            <a:r>
              <a:rPr sz="2400" spc="-25" dirty="0">
                <a:solidFill>
                  <a:srgbClr val="404040"/>
                </a:solidFill>
                <a:latin typeface="+mn-lt"/>
                <a:cs typeface="Times New Roman"/>
              </a:rPr>
              <a:t> </a:t>
            </a:r>
            <a:r>
              <a:rPr sz="2400" dirty="0">
                <a:solidFill>
                  <a:srgbClr val="404040"/>
                </a:solidFill>
                <a:latin typeface="+mn-lt"/>
                <a:cs typeface="Times New Roman"/>
              </a:rPr>
              <a:t>by</a:t>
            </a:r>
            <a:r>
              <a:rPr sz="2400" spc="-10" dirty="0">
                <a:solidFill>
                  <a:srgbClr val="404040"/>
                </a:solidFill>
                <a:latin typeface="+mn-lt"/>
                <a:cs typeface="Times New Roman"/>
              </a:rPr>
              <a:t> </a:t>
            </a:r>
            <a:r>
              <a:rPr sz="2400" dirty="0">
                <a:solidFill>
                  <a:srgbClr val="404040"/>
                </a:solidFill>
                <a:latin typeface="+mn-lt"/>
                <a:cs typeface="Times New Roman"/>
              </a:rPr>
              <a:t>the</a:t>
            </a:r>
            <a:r>
              <a:rPr sz="2400" spc="-15" dirty="0">
                <a:solidFill>
                  <a:srgbClr val="404040"/>
                </a:solidFill>
                <a:latin typeface="+mn-lt"/>
                <a:cs typeface="Times New Roman"/>
              </a:rPr>
              <a:t> </a:t>
            </a:r>
            <a:r>
              <a:rPr sz="2400" dirty="0">
                <a:solidFill>
                  <a:srgbClr val="404040"/>
                </a:solidFill>
                <a:latin typeface="+mn-lt"/>
                <a:cs typeface="Times New Roman"/>
              </a:rPr>
              <a:t>matrix</a:t>
            </a:r>
            <a:r>
              <a:rPr sz="2400" spc="5" dirty="0">
                <a:solidFill>
                  <a:srgbClr val="404040"/>
                </a:solidFill>
                <a:latin typeface="+mn-lt"/>
                <a:cs typeface="Times New Roman"/>
              </a:rPr>
              <a:t> </a:t>
            </a:r>
            <a:r>
              <a:rPr sz="2400" b="1" dirty="0">
                <a:solidFill>
                  <a:srgbClr val="404040"/>
                </a:solidFill>
                <a:latin typeface="+mn-lt"/>
                <a:cs typeface="Times New Roman"/>
              </a:rPr>
              <a:t>M</a:t>
            </a:r>
            <a:r>
              <a:rPr sz="2400" i="1" baseline="-20202" dirty="0">
                <a:solidFill>
                  <a:srgbClr val="404040"/>
                </a:solidFill>
                <a:latin typeface="+mn-lt"/>
                <a:cs typeface="Times New Roman"/>
              </a:rPr>
              <a:t>R</a:t>
            </a:r>
            <a:r>
              <a:rPr sz="2400" i="1" spc="-7" baseline="-20202" dirty="0">
                <a:solidFill>
                  <a:srgbClr val="404040"/>
                </a:solidFill>
                <a:latin typeface="+mn-lt"/>
                <a:cs typeface="Times New Roman"/>
              </a:rPr>
              <a:t> </a:t>
            </a:r>
            <a:r>
              <a:rPr sz="2400" dirty="0">
                <a:solidFill>
                  <a:srgbClr val="404040"/>
                </a:solidFill>
                <a:latin typeface="+mn-lt"/>
                <a:cs typeface="Times New Roman"/>
              </a:rPr>
              <a:t>=</a:t>
            </a:r>
            <a:r>
              <a:rPr sz="2400" spc="-5" dirty="0">
                <a:solidFill>
                  <a:srgbClr val="404040"/>
                </a:solidFill>
                <a:latin typeface="+mn-lt"/>
                <a:cs typeface="Times New Roman"/>
              </a:rPr>
              <a:t> </a:t>
            </a:r>
            <a:r>
              <a:rPr sz="2400" dirty="0">
                <a:solidFill>
                  <a:srgbClr val="404040"/>
                </a:solidFill>
                <a:latin typeface="+mn-lt"/>
                <a:cs typeface="Times New Roman"/>
              </a:rPr>
              <a:t>[</a:t>
            </a:r>
            <a:r>
              <a:rPr sz="2400" i="1" dirty="0">
                <a:solidFill>
                  <a:srgbClr val="404040"/>
                </a:solidFill>
                <a:latin typeface="+mn-lt"/>
                <a:cs typeface="Times New Roman"/>
              </a:rPr>
              <a:t>m</a:t>
            </a:r>
            <a:r>
              <a:rPr sz="2400" i="1" baseline="-20202" dirty="0">
                <a:solidFill>
                  <a:srgbClr val="404040"/>
                </a:solidFill>
                <a:latin typeface="+mn-lt"/>
                <a:cs typeface="Times New Roman"/>
              </a:rPr>
              <a:t>ij</a:t>
            </a:r>
            <a:r>
              <a:rPr sz="2400" dirty="0">
                <a:solidFill>
                  <a:srgbClr val="404040"/>
                </a:solidFill>
                <a:latin typeface="+mn-lt"/>
                <a:cs typeface="Times New Roman"/>
              </a:rPr>
              <a:t>],</a:t>
            </a:r>
            <a:r>
              <a:rPr sz="2400" spc="-25" dirty="0">
                <a:solidFill>
                  <a:srgbClr val="404040"/>
                </a:solidFill>
                <a:latin typeface="+mn-lt"/>
                <a:cs typeface="Times New Roman"/>
              </a:rPr>
              <a:t> </a:t>
            </a:r>
            <a:r>
              <a:rPr sz="2400" spc="-10" dirty="0">
                <a:solidFill>
                  <a:srgbClr val="404040"/>
                </a:solidFill>
                <a:latin typeface="+mn-lt"/>
                <a:cs typeface="Times New Roman"/>
              </a:rPr>
              <a:t>where</a:t>
            </a:r>
            <a:endParaRPr lang="en-US" sz="2400" spc="-10" dirty="0">
              <a:solidFill>
                <a:srgbClr val="404040"/>
              </a:solidFill>
              <a:latin typeface="+mn-lt"/>
              <a:cs typeface="Times New Roman"/>
            </a:endParaRPr>
          </a:p>
          <a:p>
            <a:pPr lvl="3">
              <a:buFont typeface="Arial" panose="020B0604020202020204" pitchFamily="34" charset="0"/>
              <a:buChar char="•"/>
            </a:pPr>
            <a:r>
              <a:rPr lang="en-US" sz="2400" b="1" dirty="0">
                <a:solidFill>
                  <a:srgbClr val="7030A0"/>
                </a:solidFill>
                <a:latin typeface="+mn-lt"/>
              </a:rPr>
              <a:t>Rows</a:t>
            </a:r>
            <a:r>
              <a:rPr lang="en-US" sz="2400" dirty="0">
                <a:solidFill>
                  <a:srgbClr val="7030A0"/>
                </a:solidFill>
                <a:latin typeface="+mn-lt"/>
              </a:rPr>
              <a:t> → elements of A</a:t>
            </a:r>
          </a:p>
          <a:p>
            <a:pPr lvl="3">
              <a:buFont typeface="Arial" panose="020B0604020202020204" pitchFamily="34" charset="0"/>
              <a:buChar char="•"/>
            </a:pPr>
            <a:r>
              <a:rPr lang="en-US" sz="2400" b="1" dirty="0">
                <a:solidFill>
                  <a:srgbClr val="7030A0"/>
                </a:solidFill>
                <a:latin typeface="+mn-lt"/>
              </a:rPr>
              <a:t>Columns</a:t>
            </a:r>
            <a:r>
              <a:rPr lang="en-US" sz="2400" dirty="0">
                <a:solidFill>
                  <a:srgbClr val="7030A0"/>
                </a:solidFill>
                <a:latin typeface="+mn-lt"/>
              </a:rPr>
              <a:t> → elements of B</a:t>
            </a:r>
          </a:p>
          <a:p>
            <a:r>
              <a:rPr lang="en-US" sz="2400" dirty="0">
                <a:solidFill>
                  <a:srgbClr val="0070C0"/>
                </a:solidFill>
                <a:latin typeface="+mn-lt"/>
              </a:rPr>
              <a:t>For each position (</a:t>
            </a:r>
            <a:r>
              <a:rPr lang="en-US" sz="2400" dirty="0" err="1">
                <a:solidFill>
                  <a:srgbClr val="0070C0"/>
                </a:solidFill>
                <a:latin typeface="+mn-lt"/>
              </a:rPr>
              <a:t>i</a:t>
            </a:r>
            <a:r>
              <a:rPr lang="en-US" sz="2400" dirty="0">
                <a:solidFill>
                  <a:srgbClr val="0070C0"/>
                </a:solidFill>
                <a:latin typeface="+mn-lt"/>
              </a:rPr>
              <a:t>, j):</a:t>
            </a:r>
          </a:p>
          <a:p>
            <a:pPr>
              <a:buFont typeface="Arial" panose="020B0604020202020204" pitchFamily="34" charset="0"/>
              <a:buChar char="•"/>
            </a:pPr>
            <a:r>
              <a:rPr lang="en-US" sz="2400" b="1" dirty="0">
                <a:solidFill>
                  <a:srgbClr val="0070C0"/>
                </a:solidFill>
                <a:latin typeface="+mn-lt"/>
              </a:rPr>
              <a:t>Put 1 if aᵢ is related to bⱼ</a:t>
            </a:r>
          </a:p>
          <a:p>
            <a:pPr>
              <a:buFont typeface="Arial" panose="020B0604020202020204" pitchFamily="34" charset="0"/>
              <a:buChar char="•"/>
            </a:pPr>
            <a:r>
              <a:rPr lang="en-US" sz="2400" b="1" dirty="0">
                <a:solidFill>
                  <a:srgbClr val="0070C0"/>
                </a:solidFill>
                <a:latin typeface="+mn-lt"/>
              </a:rPr>
              <a:t>Put 0 if aᵢ is not related to bⱼ</a:t>
            </a:r>
          </a:p>
          <a:p>
            <a:pPr marL="25400">
              <a:lnSpc>
                <a:spcPct val="100000"/>
              </a:lnSpc>
              <a:spcBef>
                <a:spcPts val="755"/>
              </a:spcBef>
              <a:tabLst>
                <a:tab pos="367665" algn="l"/>
              </a:tabLst>
            </a:pPr>
            <a:endParaRPr sz="2400" dirty="0">
              <a:latin typeface="+mn-lt"/>
              <a:cs typeface="Times New Roman"/>
            </a:endParaRPr>
          </a:p>
        </p:txBody>
      </p:sp>
      <p:sp>
        <p:nvSpPr>
          <p:cNvPr id="4" name="object 4"/>
          <p:cNvSpPr txBox="1"/>
          <p:nvPr/>
        </p:nvSpPr>
        <p:spPr>
          <a:xfrm>
            <a:off x="1674670" y="5515282"/>
            <a:ext cx="1674669" cy="689291"/>
          </a:xfrm>
          <a:prstGeom prst="rect">
            <a:avLst/>
          </a:prstGeom>
        </p:spPr>
        <p:txBody>
          <a:bodyPr vert="horz" wrap="square" lIns="0" tIns="12065" rIns="0" bIns="0" rtlCol="0">
            <a:spAutoFit/>
          </a:bodyPr>
          <a:lstStyle/>
          <a:p>
            <a:pPr marL="38100">
              <a:lnSpc>
                <a:spcPct val="100000"/>
              </a:lnSpc>
              <a:spcBef>
                <a:spcPts val="95"/>
              </a:spcBef>
            </a:pPr>
            <a:r>
              <a:rPr sz="4400" i="1" dirty="0">
                <a:solidFill>
                  <a:srgbClr val="404040"/>
                </a:solidFill>
                <a:latin typeface="Times New Roman"/>
                <a:cs typeface="Times New Roman"/>
              </a:rPr>
              <a:t>m</a:t>
            </a:r>
            <a:r>
              <a:rPr sz="4400" i="1" baseline="-20202" dirty="0">
                <a:solidFill>
                  <a:srgbClr val="404040"/>
                </a:solidFill>
                <a:latin typeface="Times New Roman"/>
                <a:cs typeface="Times New Roman"/>
              </a:rPr>
              <a:t>ij</a:t>
            </a:r>
            <a:r>
              <a:rPr sz="4400" i="1" spc="247" baseline="-20202" dirty="0">
                <a:solidFill>
                  <a:srgbClr val="404040"/>
                </a:solidFill>
                <a:latin typeface="Times New Roman"/>
                <a:cs typeface="Times New Roman"/>
              </a:rPr>
              <a:t> </a:t>
            </a:r>
            <a:r>
              <a:rPr sz="4400" spc="-60" dirty="0">
                <a:solidFill>
                  <a:srgbClr val="404040"/>
                </a:solidFill>
                <a:latin typeface="Times New Roman"/>
                <a:cs typeface="Times New Roman"/>
              </a:rPr>
              <a:t>=</a:t>
            </a:r>
            <a:endParaRPr sz="4400" dirty="0">
              <a:latin typeface="Times New Roman"/>
              <a:cs typeface="Times New Roman"/>
            </a:endParaRPr>
          </a:p>
        </p:txBody>
      </p:sp>
      <p:sp>
        <p:nvSpPr>
          <p:cNvPr id="5" name="object 5"/>
          <p:cNvSpPr txBox="1"/>
          <p:nvPr/>
        </p:nvSpPr>
        <p:spPr>
          <a:xfrm>
            <a:off x="3886200" y="5163784"/>
            <a:ext cx="3810000" cy="1202252"/>
          </a:xfrm>
          <a:prstGeom prst="rect">
            <a:avLst/>
          </a:prstGeom>
        </p:spPr>
        <p:txBody>
          <a:bodyPr vert="horz" wrap="square" lIns="0" tIns="113665" rIns="0" bIns="0" rtlCol="0">
            <a:spAutoFit/>
          </a:bodyPr>
          <a:lstStyle/>
          <a:p>
            <a:pPr marL="38100">
              <a:lnSpc>
                <a:spcPct val="100000"/>
              </a:lnSpc>
              <a:spcBef>
                <a:spcPts val="895"/>
              </a:spcBef>
            </a:pPr>
            <a:r>
              <a:rPr sz="3200" dirty="0">
                <a:solidFill>
                  <a:srgbClr val="404040"/>
                </a:solidFill>
                <a:latin typeface="Times New Roman"/>
                <a:cs typeface="Times New Roman"/>
              </a:rPr>
              <a:t>1</a:t>
            </a:r>
            <a:r>
              <a:rPr sz="3200" spc="-10" dirty="0">
                <a:solidFill>
                  <a:srgbClr val="404040"/>
                </a:solidFill>
                <a:latin typeface="Times New Roman"/>
                <a:cs typeface="Times New Roman"/>
              </a:rPr>
              <a:t> </a:t>
            </a:r>
            <a:r>
              <a:rPr sz="3200" dirty="0">
                <a:solidFill>
                  <a:srgbClr val="404040"/>
                </a:solidFill>
                <a:latin typeface="Times New Roman"/>
                <a:cs typeface="Times New Roman"/>
              </a:rPr>
              <a:t>if</a:t>
            </a:r>
            <a:r>
              <a:rPr sz="3200" spc="-15" dirty="0">
                <a:solidFill>
                  <a:srgbClr val="404040"/>
                </a:solidFill>
                <a:latin typeface="Times New Roman"/>
                <a:cs typeface="Times New Roman"/>
              </a:rPr>
              <a:t> </a:t>
            </a:r>
            <a:r>
              <a:rPr sz="3200" dirty="0">
                <a:solidFill>
                  <a:srgbClr val="404040"/>
                </a:solidFill>
                <a:latin typeface="Times New Roman"/>
                <a:cs typeface="Times New Roman"/>
              </a:rPr>
              <a:t>(</a:t>
            </a:r>
            <a:r>
              <a:rPr sz="3200" i="1" dirty="0">
                <a:solidFill>
                  <a:srgbClr val="404040"/>
                </a:solidFill>
                <a:latin typeface="Times New Roman"/>
                <a:cs typeface="Times New Roman"/>
              </a:rPr>
              <a:t>a</a:t>
            </a:r>
            <a:r>
              <a:rPr sz="3200" i="1" baseline="-20202" dirty="0">
                <a:solidFill>
                  <a:srgbClr val="404040"/>
                </a:solidFill>
                <a:latin typeface="Times New Roman"/>
                <a:cs typeface="Times New Roman"/>
              </a:rPr>
              <a:t>i</a:t>
            </a:r>
            <a:r>
              <a:rPr sz="3200" i="1" dirty="0">
                <a:solidFill>
                  <a:srgbClr val="404040"/>
                </a:solidFill>
                <a:latin typeface="Times New Roman"/>
                <a:cs typeface="Times New Roman"/>
              </a:rPr>
              <a:t>,</a:t>
            </a:r>
            <a:r>
              <a:rPr sz="3200" i="1" spc="-10" dirty="0">
                <a:solidFill>
                  <a:srgbClr val="404040"/>
                </a:solidFill>
                <a:latin typeface="Times New Roman"/>
                <a:cs typeface="Times New Roman"/>
              </a:rPr>
              <a:t> </a:t>
            </a:r>
            <a:r>
              <a:rPr sz="3200" i="1" dirty="0">
                <a:solidFill>
                  <a:srgbClr val="404040"/>
                </a:solidFill>
                <a:latin typeface="Times New Roman"/>
                <a:cs typeface="Times New Roman"/>
              </a:rPr>
              <a:t>b</a:t>
            </a:r>
            <a:r>
              <a:rPr sz="3200" i="1" baseline="-20202" dirty="0">
                <a:solidFill>
                  <a:srgbClr val="404040"/>
                </a:solidFill>
                <a:latin typeface="Times New Roman"/>
                <a:cs typeface="Times New Roman"/>
              </a:rPr>
              <a:t>j</a:t>
            </a:r>
            <a:r>
              <a:rPr sz="3200" dirty="0">
                <a:solidFill>
                  <a:srgbClr val="404040"/>
                </a:solidFill>
                <a:latin typeface="Times New Roman"/>
                <a:cs typeface="Times New Roman"/>
              </a:rPr>
              <a:t>)</a:t>
            </a:r>
            <a:r>
              <a:rPr sz="3200" spc="-15" dirty="0">
                <a:solidFill>
                  <a:srgbClr val="404040"/>
                </a:solidFill>
                <a:latin typeface="Times New Roman"/>
                <a:cs typeface="Times New Roman"/>
              </a:rPr>
              <a:t> </a:t>
            </a:r>
            <a:r>
              <a:rPr sz="3200" dirty="0">
                <a:solidFill>
                  <a:srgbClr val="404040"/>
                </a:solidFill>
                <a:latin typeface="Cambria Math"/>
                <a:cs typeface="Cambria Math"/>
              </a:rPr>
              <a:t>∈</a:t>
            </a:r>
            <a:r>
              <a:rPr sz="3200" spc="50" dirty="0">
                <a:solidFill>
                  <a:srgbClr val="404040"/>
                </a:solidFill>
                <a:latin typeface="Cambria Math"/>
                <a:cs typeface="Cambria Math"/>
              </a:rPr>
              <a:t> </a:t>
            </a:r>
            <a:r>
              <a:rPr sz="3200" i="1" spc="-25" dirty="0">
                <a:solidFill>
                  <a:srgbClr val="404040"/>
                </a:solidFill>
                <a:latin typeface="Times New Roman"/>
                <a:cs typeface="Times New Roman"/>
              </a:rPr>
              <a:t>R,</a:t>
            </a:r>
            <a:endParaRPr sz="3200" dirty="0">
              <a:latin typeface="Times New Roman"/>
              <a:cs typeface="Times New Roman"/>
            </a:endParaRPr>
          </a:p>
          <a:p>
            <a:pPr marL="38100">
              <a:lnSpc>
                <a:spcPct val="100000"/>
              </a:lnSpc>
              <a:spcBef>
                <a:spcPts val="790"/>
              </a:spcBef>
            </a:pPr>
            <a:r>
              <a:rPr sz="3200" dirty="0">
                <a:solidFill>
                  <a:srgbClr val="404040"/>
                </a:solidFill>
                <a:latin typeface="Times New Roman"/>
                <a:cs typeface="Times New Roman"/>
              </a:rPr>
              <a:t>0</a:t>
            </a:r>
            <a:r>
              <a:rPr sz="3200" spc="-10" dirty="0">
                <a:solidFill>
                  <a:srgbClr val="404040"/>
                </a:solidFill>
                <a:latin typeface="Times New Roman"/>
                <a:cs typeface="Times New Roman"/>
              </a:rPr>
              <a:t> </a:t>
            </a:r>
            <a:r>
              <a:rPr sz="3200" dirty="0">
                <a:solidFill>
                  <a:srgbClr val="404040"/>
                </a:solidFill>
                <a:latin typeface="Times New Roman"/>
                <a:cs typeface="Times New Roman"/>
              </a:rPr>
              <a:t>if</a:t>
            </a:r>
            <a:r>
              <a:rPr sz="3200" spc="-15" dirty="0">
                <a:solidFill>
                  <a:srgbClr val="404040"/>
                </a:solidFill>
                <a:latin typeface="Times New Roman"/>
                <a:cs typeface="Times New Roman"/>
              </a:rPr>
              <a:t> </a:t>
            </a:r>
            <a:r>
              <a:rPr sz="3200" dirty="0">
                <a:solidFill>
                  <a:srgbClr val="404040"/>
                </a:solidFill>
                <a:latin typeface="Times New Roman"/>
                <a:cs typeface="Times New Roman"/>
              </a:rPr>
              <a:t>(</a:t>
            </a:r>
            <a:r>
              <a:rPr sz="3200" i="1" dirty="0">
                <a:solidFill>
                  <a:srgbClr val="404040"/>
                </a:solidFill>
                <a:latin typeface="Times New Roman"/>
                <a:cs typeface="Times New Roman"/>
              </a:rPr>
              <a:t>a</a:t>
            </a:r>
            <a:r>
              <a:rPr sz="3200" i="1" baseline="-20202" dirty="0">
                <a:solidFill>
                  <a:srgbClr val="404040"/>
                </a:solidFill>
                <a:latin typeface="Times New Roman"/>
                <a:cs typeface="Times New Roman"/>
              </a:rPr>
              <a:t>i</a:t>
            </a:r>
            <a:r>
              <a:rPr sz="3200" i="1" dirty="0">
                <a:solidFill>
                  <a:srgbClr val="404040"/>
                </a:solidFill>
                <a:latin typeface="Times New Roman"/>
                <a:cs typeface="Times New Roman"/>
              </a:rPr>
              <a:t>,</a:t>
            </a:r>
            <a:r>
              <a:rPr sz="3200" i="1" spc="-10" dirty="0">
                <a:solidFill>
                  <a:srgbClr val="404040"/>
                </a:solidFill>
                <a:latin typeface="Times New Roman"/>
                <a:cs typeface="Times New Roman"/>
              </a:rPr>
              <a:t> </a:t>
            </a:r>
            <a:r>
              <a:rPr sz="3200" i="1" dirty="0">
                <a:solidFill>
                  <a:srgbClr val="404040"/>
                </a:solidFill>
                <a:latin typeface="Times New Roman"/>
                <a:cs typeface="Times New Roman"/>
              </a:rPr>
              <a:t>b</a:t>
            </a:r>
            <a:r>
              <a:rPr sz="3200" i="1" baseline="-20202" dirty="0">
                <a:solidFill>
                  <a:srgbClr val="404040"/>
                </a:solidFill>
                <a:latin typeface="Times New Roman"/>
                <a:cs typeface="Times New Roman"/>
              </a:rPr>
              <a:t>j</a:t>
            </a:r>
            <a:r>
              <a:rPr sz="3200" dirty="0">
                <a:solidFill>
                  <a:srgbClr val="404040"/>
                </a:solidFill>
                <a:latin typeface="Times New Roman"/>
                <a:cs typeface="Times New Roman"/>
              </a:rPr>
              <a:t>)</a:t>
            </a:r>
            <a:r>
              <a:rPr sz="3200" spc="-15" dirty="0">
                <a:solidFill>
                  <a:srgbClr val="404040"/>
                </a:solidFill>
                <a:latin typeface="Times New Roman"/>
                <a:cs typeface="Times New Roman"/>
              </a:rPr>
              <a:t> </a:t>
            </a:r>
            <a:r>
              <a:rPr sz="3200" dirty="0">
                <a:solidFill>
                  <a:srgbClr val="404040"/>
                </a:solidFill>
                <a:latin typeface="Cambria Math"/>
                <a:cs typeface="Cambria Math"/>
              </a:rPr>
              <a:t>∉</a:t>
            </a:r>
            <a:r>
              <a:rPr sz="3200" spc="45" dirty="0">
                <a:solidFill>
                  <a:srgbClr val="404040"/>
                </a:solidFill>
                <a:latin typeface="Cambria Math"/>
                <a:cs typeface="Cambria Math"/>
              </a:rPr>
              <a:t> </a:t>
            </a:r>
            <a:r>
              <a:rPr sz="3200" i="1" spc="-25" dirty="0">
                <a:solidFill>
                  <a:srgbClr val="404040"/>
                </a:solidFill>
                <a:latin typeface="Times New Roman"/>
                <a:cs typeface="Times New Roman"/>
              </a:rPr>
              <a:t>R.</a:t>
            </a:r>
            <a:endParaRPr sz="3200" dirty="0">
              <a:latin typeface="Times New Roman"/>
              <a:cs typeface="Times New Roman"/>
            </a:endParaRPr>
          </a:p>
        </p:txBody>
      </p:sp>
      <p:grpSp>
        <p:nvGrpSpPr>
          <p:cNvPr id="7" name="object 7"/>
          <p:cNvGrpSpPr/>
          <p:nvPr/>
        </p:nvGrpSpPr>
        <p:grpSpPr>
          <a:xfrm>
            <a:off x="3122470" y="5174110"/>
            <a:ext cx="528146" cy="1455289"/>
            <a:chOff x="1257869" y="3668980"/>
            <a:chExt cx="297815" cy="996950"/>
          </a:xfrm>
        </p:grpSpPr>
        <p:pic>
          <p:nvPicPr>
            <p:cNvPr id="8" name="object 8"/>
            <p:cNvPicPr/>
            <p:nvPr/>
          </p:nvPicPr>
          <p:blipFill>
            <a:blip r:embed="rId2" cstate="print"/>
            <a:stretch>
              <a:fillRect/>
            </a:stretch>
          </p:blipFill>
          <p:spPr>
            <a:xfrm>
              <a:off x="1257869" y="3668980"/>
              <a:ext cx="297514" cy="996745"/>
            </a:xfrm>
            <a:prstGeom prst="rect">
              <a:avLst/>
            </a:prstGeom>
          </p:spPr>
        </p:pic>
        <p:sp>
          <p:nvSpPr>
            <p:cNvPr id="9" name="object 9"/>
            <p:cNvSpPr/>
            <p:nvPr/>
          </p:nvSpPr>
          <p:spPr>
            <a:xfrm>
              <a:off x="1295780" y="3681602"/>
              <a:ext cx="228600" cy="914400"/>
            </a:xfrm>
            <a:custGeom>
              <a:avLst/>
              <a:gdLst/>
              <a:ahLst/>
              <a:cxnLst/>
              <a:rect l="l" t="t" r="r" b="b"/>
              <a:pathLst>
                <a:path w="228600" h="914400">
                  <a:moveTo>
                    <a:pt x="228600" y="914400"/>
                  </a:moveTo>
                  <a:lnTo>
                    <a:pt x="184112" y="912905"/>
                  </a:lnTo>
                  <a:lnTo>
                    <a:pt x="147780" y="908827"/>
                  </a:lnTo>
                  <a:lnTo>
                    <a:pt x="123283" y="902773"/>
                  </a:lnTo>
                  <a:lnTo>
                    <a:pt x="114300" y="895350"/>
                  </a:lnTo>
                  <a:lnTo>
                    <a:pt x="114300" y="476250"/>
                  </a:lnTo>
                  <a:lnTo>
                    <a:pt x="105316" y="468826"/>
                  </a:lnTo>
                  <a:lnTo>
                    <a:pt x="80819" y="462772"/>
                  </a:lnTo>
                  <a:lnTo>
                    <a:pt x="44487" y="458694"/>
                  </a:lnTo>
                  <a:lnTo>
                    <a:pt x="0" y="457200"/>
                  </a:lnTo>
                  <a:lnTo>
                    <a:pt x="44487" y="455705"/>
                  </a:lnTo>
                  <a:lnTo>
                    <a:pt x="80819" y="451627"/>
                  </a:lnTo>
                  <a:lnTo>
                    <a:pt x="105316" y="445573"/>
                  </a:lnTo>
                  <a:lnTo>
                    <a:pt x="114300" y="438150"/>
                  </a:lnTo>
                  <a:lnTo>
                    <a:pt x="114300" y="19050"/>
                  </a:lnTo>
                  <a:lnTo>
                    <a:pt x="123283" y="11626"/>
                  </a:lnTo>
                  <a:lnTo>
                    <a:pt x="147780" y="5572"/>
                  </a:lnTo>
                  <a:lnTo>
                    <a:pt x="184112" y="1494"/>
                  </a:lnTo>
                  <a:lnTo>
                    <a:pt x="228600" y="0"/>
                  </a:lnTo>
                </a:path>
              </a:pathLst>
            </a:custGeom>
            <a:ln w="25146">
              <a:solidFill>
                <a:srgbClr val="90C225"/>
              </a:solidFill>
            </a:ln>
          </p:spPr>
          <p:txBody>
            <a:bodyPr wrap="square" lIns="0" tIns="0" rIns="0" bIns="0" rtlCol="0"/>
            <a:lstStyle/>
            <a:p>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A462878-632F-1310-0569-F394A0057257}"/>
              </a:ext>
            </a:extLst>
          </p:cNvPr>
          <p:cNvPicPr>
            <a:picLocks noChangeAspect="1"/>
          </p:cNvPicPr>
          <p:nvPr/>
        </p:nvPicPr>
        <p:blipFill>
          <a:blip r:embed="rId2"/>
          <a:stretch>
            <a:fillRect/>
          </a:stretch>
        </p:blipFill>
        <p:spPr>
          <a:xfrm>
            <a:off x="0" y="884171"/>
            <a:ext cx="8910310" cy="5089657"/>
          </a:xfrm>
          <a:prstGeom prst="rect">
            <a:avLst/>
          </a:prstGeom>
        </p:spPr>
      </p:pic>
    </p:spTree>
    <p:extLst>
      <p:ext uri="{BB962C8B-B14F-4D97-AF65-F5344CB8AC3E}">
        <p14:creationId xmlns:p14="http://schemas.microsoft.com/office/powerpoint/2010/main" val="9046835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76322" y="15494"/>
            <a:ext cx="2414905" cy="574040"/>
          </a:xfrm>
          <a:prstGeom prst="rect">
            <a:avLst/>
          </a:prstGeom>
        </p:spPr>
        <p:txBody>
          <a:bodyPr vert="horz" wrap="square" lIns="0" tIns="12700" rIns="0" bIns="0" rtlCol="0">
            <a:spAutoFit/>
          </a:bodyPr>
          <a:lstStyle/>
          <a:p>
            <a:pPr marL="12700">
              <a:lnSpc>
                <a:spcPct val="100000"/>
              </a:lnSpc>
              <a:spcBef>
                <a:spcPts val="100"/>
              </a:spcBef>
            </a:pPr>
            <a:r>
              <a:rPr dirty="0"/>
              <a:t>EXAMPLE</a:t>
            </a:r>
            <a:r>
              <a:rPr spc="-160" dirty="0"/>
              <a:t> </a:t>
            </a:r>
            <a:r>
              <a:rPr spc="-50" dirty="0"/>
              <a:t>N</a:t>
            </a:r>
          </a:p>
        </p:txBody>
      </p:sp>
      <p:sp>
        <p:nvSpPr>
          <p:cNvPr id="3" name="object 3"/>
          <p:cNvSpPr txBox="1"/>
          <p:nvPr/>
        </p:nvSpPr>
        <p:spPr>
          <a:xfrm>
            <a:off x="307340" y="852932"/>
            <a:ext cx="6082030" cy="574040"/>
          </a:xfrm>
          <a:prstGeom prst="rect">
            <a:avLst/>
          </a:prstGeom>
        </p:spPr>
        <p:txBody>
          <a:bodyPr vert="horz" wrap="square" lIns="0" tIns="12700" rIns="0" bIns="0" rtlCol="0">
            <a:spAutoFit/>
          </a:bodyPr>
          <a:lstStyle/>
          <a:p>
            <a:pPr marL="12700" marR="5080">
              <a:lnSpc>
                <a:spcPct val="100000"/>
              </a:lnSpc>
              <a:spcBef>
                <a:spcPts val="100"/>
              </a:spcBef>
            </a:pPr>
            <a:r>
              <a:rPr sz="1800" b="1" spc="-10" dirty="0">
                <a:solidFill>
                  <a:srgbClr val="404040"/>
                </a:solidFill>
                <a:latin typeface="Times New Roman"/>
                <a:cs typeface="Times New Roman"/>
              </a:rPr>
              <a:t>Let</a:t>
            </a:r>
            <a:r>
              <a:rPr sz="1800" b="1" spc="-105" dirty="0">
                <a:solidFill>
                  <a:srgbClr val="404040"/>
                </a:solidFill>
                <a:latin typeface="Times New Roman"/>
                <a:cs typeface="Times New Roman"/>
              </a:rPr>
              <a:t> </a:t>
            </a:r>
            <a:r>
              <a:rPr sz="1800" b="1" dirty="0">
                <a:solidFill>
                  <a:srgbClr val="404040"/>
                </a:solidFill>
                <a:latin typeface="Times New Roman"/>
                <a:cs typeface="Times New Roman"/>
              </a:rPr>
              <a:t>A</a:t>
            </a:r>
            <a:r>
              <a:rPr sz="1800" b="1" spc="-110" dirty="0">
                <a:solidFill>
                  <a:srgbClr val="404040"/>
                </a:solidFill>
                <a:latin typeface="Times New Roman"/>
                <a:cs typeface="Times New Roman"/>
              </a:rPr>
              <a:t> </a:t>
            </a:r>
            <a:r>
              <a:rPr sz="1800" b="1" dirty="0">
                <a:solidFill>
                  <a:srgbClr val="404040"/>
                </a:solidFill>
                <a:latin typeface="Times New Roman"/>
                <a:cs typeface="Times New Roman"/>
              </a:rPr>
              <a:t>=</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3}</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and</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B</a:t>
            </a:r>
            <a:r>
              <a:rPr sz="1800" b="1" spc="-5" dirty="0">
                <a:solidFill>
                  <a:srgbClr val="404040"/>
                </a:solidFill>
                <a:latin typeface="Times New Roman"/>
                <a:cs typeface="Times New Roman"/>
              </a:rPr>
              <a:t> </a:t>
            </a:r>
            <a:r>
              <a:rPr sz="1800" b="1" dirty="0">
                <a:solidFill>
                  <a:srgbClr val="404040"/>
                </a:solidFill>
                <a:latin typeface="Times New Roman"/>
                <a:cs typeface="Times New Roman"/>
              </a:rPr>
              <a:t>=</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{x,</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y},</a:t>
            </a:r>
            <a:r>
              <a:rPr sz="1800" b="1" spc="-5" dirty="0">
                <a:solidFill>
                  <a:srgbClr val="404040"/>
                </a:solidFill>
                <a:latin typeface="Times New Roman"/>
                <a:cs typeface="Times New Roman"/>
              </a:rPr>
              <a:t> </a:t>
            </a:r>
            <a:r>
              <a:rPr sz="1800" b="1" dirty="0">
                <a:solidFill>
                  <a:srgbClr val="404040"/>
                </a:solidFill>
                <a:latin typeface="Times New Roman"/>
                <a:cs typeface="Times New Roman"/>
              </a:rPr>
              <a:t>Let</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R</a:t>
            </a:r>
            <a:r>
              <a:rPr sz="1800" b="1" spc="-5" dirty="0">
                <a:solidFill>
                  <a:srgbClr val="404040"/>
                </a:solidFill>
                <a:latin typeface="Times New Roman"/>
                <a:cs typeface="Times New Roman"/>
              </a:rPr>
              <a:t> </a:t>
            </a:r>
            <a:r>
              <a:rPr sz="1800" b="1" dirty="0">
                <a:solidFill>
                  <a:srgbClr val="404040"/>
                </a:solidFill>
                <a:latin typeface="Times New Roman"/>
                <a:cs typeface="Times New Roman"/>
              </a:rPr>
              <a:t>be</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a</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relation</a:t>
            </a:r>
            <a:r>
              <a:rPr sz="1800" b="1" spc="-10" dirty="0">
                <a:solidFill>
                  <a:srgbClr val="404040"/>
                </a:solidFill>
                <a:latin typeface="Times New Roman"/>
                <a:cs typeface="Times New Roman"/>
              </a:rPr>
              <a:t> </a:t>
            </a:r>
            <a:r>
              <a:rPr sz="1800" b="1" spc="-20" dirty="0">
                <a:solidFill>
                  <a:srgbClr val="404040"/>
                </a:solidFill>
                <a:latin typeface="Times New Roman"/>
                <a:cs typeface="Times New Roman"/>
              </a:rPr>
              <a:t>from</a:t>
            </a:r>
            <a:r>
              <a:rPr sz="1800" b="1" spc="-100" dirty="0">
                <a:solidFill>
                  <a:srgbClr val="404040"/>
                </a:solidFill>
                <a:latin typeface="Times New Roman"/>
                <a:cs typeface="Times New Roman"/>
              </a:rPr>
              <a:t> </a:t>
            </a:r>
            <a:r>
              <a:rPr sz="1800" b="1" dirty="0">
                <a:solidFill>
                  <a:srgbClr val="404040"/>
                </a:solidFill>
                <a:latin typeface="Times New Roman"/>
                <a:cs typeface="Times New Roman"/>
              </a:rPr>
              <a:t>A</a:t>
            </a:r>
            <a:r>
              <a:rPr sz="1800" b="1" spc="-105" dirty="0">
                <a:solidFill>
                  <a:srgbClr val="404040"/>
                </a:solidFill>
                <a:latin typeface="Times New Roman"/>
                <a:cs typeface="Times New Roman"/>
              </a:rPr>
              <a:t> </a:t>
            </a:r>
            <a:r>
              <a:rPr sz="1800" b="1" dirty="0">
                <a:solidFill>
                  <a:srgbClr val="404040"/>
                </a:solidFill>
                <a:latin typeface="Times New Roman"/>
                <a:cs typeface="Times New Roman"/>
              </a:rPr>
              <a:t>to</a:t>
            </a:r>
            <a:r>
              <a:rPr sz="1800" b="1" spc="-10" dirty="0">
                <a:solidFill>
                  <a:srgbClr val="404040"/>
                </a:solidFill>
                <a:latin typeface="Times New Roman"/>
                <a:cs typeface="Times New Roman"/>
              </a:rPr>
              <a:t> </a:t>
            </a:r>
            <a:r>
              <a:rPr sz="1800" b="1" spc="-50" dirty="0">
                <a:solidFill>
                  <a:srgbClr val="404040"/>
                </a:solidFill>
                <a:latin typeface="Times New Roman"/>
                <a:cs typeface="Times New Roman"/>
              </a:rPr>
              <a:t>B </a:t>
            </a:r>
            <a:r>
              <a:rPr sz="1800" b="1" dirty="0">
                <a:solidFill>
                  <a:srgbClr val="404040"/>
                </a:solidFill>
                <a:latin typeface="Times New Roman"/>
                <a:cs typeface="Times New Roman"/>
              </a:rPr>
              <a:t>defined</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as</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R</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={(1,y),</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(2,x),</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(2,y),</a:t>
            </a:r>
            <a:r>
              <a:rPr sz="1800" b="1" spc="-20" dirty="0">
                <a:solidFill>
                  <a:srgbClr val="404040"/>
                </a:solidFill>
                <a:latin typeface="Times New Roman"/>
                <a:cs typeface="Times New Roman"/>
              </a:rPr>
              <a:t> </a:t>
            </a:r>
            <a:r>
              <a:rPr sz="1800" b="1" spc="-10" dirty="0">
                <a:solidFill>
                  <a:srgbClr val="404040"/>
                </a:solidFill>
                <a:latin typeface="Times New Roman"/>
                <a:cs typeface="Times New Roman"/>
              </a:rPr>
              <a:t>(3,x)}</a:t>
            </a:r>
            <a:endParaRPr sz="1800">
              <a:latin typeface="Times New Roman"/>
              <a:cs typeface="Times New Roman"/>
            </a:endParaRPr>
          </a:p>
        </p:txBody>
      </p:sp>
      <p:sp>
        <p:nvSpPr>
          <p:cNvPr id="4" name="object 4"/>
          <p:cNvSpPr txBox="1"/>
          <p:nvPr/>
        </p:nvSpPr>
        <p:spPr>
          <a:xfrm>
            <a:off x="2223030" y="3475260"/>
            <a:ext cx="756920" cy="1012825"/>
          </a:xfrm>
          <a:prstGeom prst="rect">
            <a:avLst/>
          </a:prstGeom>
        </p:spPr>
        <p:txBody>
          <a:bodyPr vert="horz" wrap="square" lIns="0" tIns="14604" rIns="0" bIns="0" rtlCol="0">
            <a:spAutoFit/>
          </a:bodyPr>
          <a:lstStyle/>
          <a:p>
            <a:pPr marL="62230" algn="ctr">
              <a:lnSpc>
                <a:spcPts val="3875"/>
              </a:lnSpc>
              <a:spcBef>
                <a:spcPts val="114"/>
              </a:spcBef>
            </a:pPr>
            <a:r>
              <a:rPr sz="3500" spc="-50" dirty="0">
                <a:latin typeface="Symbol"/>
                <a:cs typeface="Symbol"/>
              </a:rPr>
              <a:t></a:t>
            </a:r>
            <a:endParaRPr sz="3500" dirty="0">
              <a:latin typeface="Symbol"/>
              <a:cs typeface="Symbol"/>
            </a:endParaRPr>
          </a:p>
          <a:p>
            <a:pPr algn="ctr">
              <a:lnSpc>
                <a:spcPts val="3875"/>
              </a:lnSpc>
            </a:pPr>
            <a:r>
              <a:rPr sz="3500" dirty="0">
                <a:latin typeface="Times New Roman"/>
                <a:cs typeface="Times New Roman"/>
              </a:rPr>
              <a:t>3</a:t>
            </a:r>
            <a:r>
              <a:rPr sz="3500" spc="-395" dirty="0">
                <a:latin typeface="Times New Roman"/>
                <a:cs typeface="Times New Roman"/>
              </a:rPr>
              <a:t> </a:t>
            </a:r>
            <a:r>
              <a:rPr sz="5250" spc="-705" baseline="3174" dirty="0">
                <a:latin typeface="Symbol"/>
                <a:cs typeface="Symbol"/>
              </a:rPr>
              <a:t></a:t>
            </a:r>
            <a:r>
              <a:rPr sz="5250" spc="-705" baseline="-15079" dirty="0">
                <a:latin typeface="Symbol"/>
                <a:cs typeface="Symbol"/>
              </a:rPr>
              <a:t></a:t>
            </a:r>
            <a:r>
              <a:rPr sz="3500" spc="-470" dirty="0">
                <a:latin typeface="Times New Roman"/>
                <a:cs typeface="Times New Roman"/>
              </a:rPr>
              <a:t>1</a:t>
            </a:r>
            <a:endParaRPr sz="3500" dirty="0">
              <a:latin typeface="Times New Roman"/>
              <a:cs typeface="Times New Roman"/>
            </a:endParaRPr>
          </a:p>
        </p:txBody>
      </p:sp>
      <p:sp>
        <p:nvSpPr>
          <p:cNvPr id="5" name="object 5"/>
          <p:cNvSpPr txBox="1"/>
          <p:nvPr/>
        </p:nvSpPr>
        <p:spPr>
          <a:xfrm>
            <a:off x="3928903" y="3047749"/>
            <a:ext cx="481965" cy="561975"/>
          </a:xfrm>
          <a:prstGeom prst="rect">
            <a:avLst/>
          </a:prstGeom>
        </p:spPr>
        <p:txBody>
          <a:bodyPr vert="horz" wrap="square" lIns="0" tIns="14604" rIns="0" bIns="0" rtlCol="0">
            <a:spAutoFit/>
          </a:bodyPr>
          <a:lstStyle/>
          <a:p>
            <a:pPr marL="38100">
              <a:lnSpc>
                <a:spcPct val="100000"/>
              </a:lnSpc>
              <a:spcBef>
                <a:spcPts val="114"/>
              </a:spcBef>
            </a:pPr>
            <a:r>
              <a:rPr sz="5250" spc="-37" baseline="-26190" dirty="0">
                <a:latin typeface="Times New Roman"/>
                <a:cs typeface="Times New Roman"/>
              </a:rPr>
              <a:t>1</a:t>
            </a:r>
            <a:r>
              <a:rPr sz="3500" spc="-25" dirty="0">
                <a:latin typeface="Symbol"/>
                <a:cs typeface="Symbol"/>
              </a:rPr>
              <a:t></a:t>
            </a:r>
            <a:endParaRPr sz="3500">
              <a:latin typeface="Symbol"/>
              <a:cs typeface="Symbol"/>
            </a:endParaRPr>
          </a:p>
        </p:txBody>
      </p:sp>
      <p:sp>
        <p:nvSpPr>
          <p:cNvPr id="6" name="object 6"/>
          <p:cNvSpPr txBox="1"/>
          <p:nvPr/>
        </p:nvSpPr>
        <p:spPr>
          <a:xfrm>
            <a:off x="3932504" y="3383577"/>
            <a:ext cx="901700" cy="1281430"/>
          </a:xfrm>
          <a:prstGeom prst="rect">
            <a:avLst/>
          </a:prstGeom>
        </p:spPr>
        <p:txBody>
          <a:bodyPr vert="horz" wrap="square" lIns="0" tIns="106680" rIns="0" bIns="0" rtlCol="0">
            <a:spAutoFit/>
          </a:bodyPr>
          <a:lstStyle/>
          <a:p>
            <a:pPr marL="267970">
              <a:lnSpc>
                <a:spcPct val="100000"/>
              </a:lnSpc>
              <a:spcBef>
                <a:spcPts val="840"/>
              </a:spcBef>
            </a:pPr>
            <a:r>
              <a:rPr sz="3500" spc="-50" dirty="0">
                <a:latin typeface="Symbol"/>
                <a:cs typeface="Symbol"/>
              </a:rPr>
              <a:t></a:t>
            </a:r>
            <a:endParaRPr sz="3500" dirty="0">
              <a:latin typeface="Symbol"/>
              <a:cs typeface="Symbol"/>
            </a:endParaRPr>
          </a:p>
          <a:p>
            <a:pPr marL="38100">
              <a:lnSpc>
                <a:spcPct val="100000"/>
              </a:lnSpc>
              <a:spcBef>
                <a:spcPts val="745"/>
              </a:spcBef>
            </a:pPr>
            <a:r>
              <a:rPr sz="5250" spc="-225" baseline="22222" dirty="0">
                <a:latin typeface="Times New Roman"/>
                <a:cs typeface="Times New Roman"/>
              </a:rPr>
              <a:t>0</a:t>
            </a:r>
            <a:r>
              <a:rPr sz="5250" spc="-225" baseline="25396" dirty="0">
                <a:latin typeface="Symbol"/>
                <a:cs typeface="Symbol"/>
              </a:rPr>
              <a:t></a:t>
            </a:r>
            <a:r>
              <a:rPr sz="5250" spc="-225" baseline="7142" dirty="0">
                <a:latin typeface="Symbol"/>
                <a:cs typeface="Symbol"/>
              </a:rPr>
              <a:t></a:t>
            </a:r>
            <a:r>
              <a:rPr sz="2050" spc="-150" dirty="0">
                <a:latin typeface="Times New Roman"/>
                <a:cs typeface="Times New Roman"/>
              </a:rPr>
              <a:t>3</a:t>
            </a:r>
            <a:r>
              <a:rPr sz="2050" spc="-150" dirty="0">
                <a:latin typeface="Symbol"/>
                <a:cs typeface="Symbol"/>
              </a:rPr>
              <a:t></a:t>
            </a:r>
            <a:r>
              <a:rPr sz="2050" spc="-150" dirty="0">
                <a:latin typeface="Times New Roman"/>
                <a:cs typeface="Times New Roman"/>
              </a:rPr>
              <a:t>2</a:t>
            </a:r>
            <a:endParaRPr sz="2050" dirty="0">
              <a:latin typeface="Times New Roman"/>
              <a:cs typeface="Times New Roman"/>
            </a:endParaRPr>
          </a:p>
        </p:txBody>
      </p:sp>
      <p:sp>
        <p:nvSpPr>
          <p:cNvPr id="7" name="object 7"/>
          <p:cNvSpPr txBox="1"/>
          <p:nvPr/>
        </p:nvSpPr>
        <p:spPr>
          <a:xfrm>
            <a:off x="1331586" y="3256159"/>
            <a:ext cx="1648460" cy="561975"/>
          </a:xfrm>
          <a:prstGeom prst="rect">
            <a:avLst/>
          </a:prstGeom>
        </p:spPr>
        <p:txBody>
          <a:bodyPr vert="horz" wrap="square" lIns="0" tIns="14604" rIns="0" bIns="0" rtlCol="0">
            <a:spAutoFit/>
          </a:bodyPr>
          <a:lstStyle/>
          <a:p>
            <a:pPr marL="38100">
              <a:lnSpc>
                <a:spcPct val="100000"/>
              </a:lnSpc>
              <a:spcBef>
                <a:spcPts val="114"/>
              </a:spcBef>
              <a:tabLst>
                <a:tab pos="581025" algn="l"/>
              </a:tabLst>
            </a:pPr>
            <a:r>
              <a:rPr sz="3500" i="1" spc="-50" dirty="0">
                <a:latin typeface="Times New Roman"/>
                <a:cs typeface="Times New Roman"/>
              </a:rPr>
              <a:t>M</a:t>
            </a:r>
            <a:r>
              <a:rPr sz="3500" i="1" dirty="0">
                <a:latin typeface="Times New Roman"/>
                <a:cs typeface="Times New Roman"/>
              </a:rPr>
              <a:t>	</a:t>
            </a:r>
            <a:r>
              <a:rPr sz="3500" dirty="0">
                <a:latin typeface="Symbol"/>
                <a:cs typeface="Symbol"/>
              </a:rPr>
              <a:t></a:t>
            </a:r>
            <a:r>
              <a:rPr sz="3500" spc="-75" dirty="0">
                <a:latin typeface="Times New Roman"/>
                <a:cs typeface="Times New Roman"/>
              </a:rPr>
              <a:t> </a:t>
            </a:r>
            <a:r>
              <a:rPr sz="3500" dirty="0">
                <a:latin typeface="Times New Roman"/>
                <a:cs typeface="Times New Roman"/>
              </a:rPr>
              <a:t>2</a:t>
            </a:r>
            <a:r>
              <a:rPr sz="3500" spc="-395" dirty="0">
                <a:latin typeface="Times New Roman"/>
                <a:cs typeface="Times New Roman"/>
              </a:rPr>
              <a:t> </a:t>
            </a:r>
            <a:r>
              <a:rPr sz="5250" spc="-37" baseline="26190" dirty="0">
                <a:latin typeface="Symbol"/>
                <a:cs typeface="Symbol"/>
              </a:rPr>
              <a:t></a:t>
            </a:r>
            <a:r>
              <a:rPr sz="3500" spc="-25" dirty="0">
                <a:latin typeface="Times New Roman"/>
                <a:cs typeface="Times New Roman"/>
              </a:rPr>
              <a:t>1</a:t>
            </a:r>
            <a:endParaRPr sz="3500" dirty="0">
              <a:latin typeface="Times New Roman"/>
              <a:cs typeface="Times New Roman"/>
            </a:endParaRPr>
          </a:p>
        </p:txBody>
      </p:sp>
      <p:sp>
        <p:nvSpPr>
          <p:cNvPr id="8" name="object 8"/>
          <p:cNvSpPr txBox="1"/>
          <p:nvPr/>
        </p:nvSpPr>
        <p:spPr>
          <a:xfrm>
            <a:off x="3954303" y="1709116"/>
            <a:ext cx="431165" cy="1440180"/>
          </a:xfrm>
          <a:prstGeom prst="rect">
            <a:avLst/>
          </a:prstGeom>
        </p:spPr>
        <p:txBody>
          <a:bodyPr vert="horz" wrap="square" lIns="0" tIns="186055" rIns="0" bIns="0" rtlCol="0">
            <a:spAutoFit/>
          </a:bodyPr>
          <a:lstStyle/>
          <a:p>
            <a:pPr marL="162560">
              <a:lnSpc>
                <a:spcPct val="100000"/>
              </a:lnSpc>
              <a:spcBef>
                <a:spcPts val="1465"/>
              </a:spcBef>
            </a:pPr>
            <a:r>
              <a:rPr sz="3500" i="1" spc="-50" dirty="0">
                <a:latin typeface="Times New Roman"/>
                <a:cs typeface="Times New Roman"/>
              </a:rPr>
              <a:t>y</a:t>
            </a:r>
            <a:endParaRPr sz="3500">
              <a:latin typeface="Times New Roman"/>
              <a:cs typeface="Times New Roman"/>
            </a:endParaRPr>
          </a:p>
          <a:p>
            <a:pPr marL="12700">
              <a:lnSpc>
                <a:spcPct val="100000"/>
              </a:lnSpc>
              <a:spcBef>
                <a:spcPts val="1365"/>
              </a:spcBef>
            </a:pPr>
            <a:r>
              <a:rPr sz="3500" spc="-25" dirty="0">
                <a:latin typeface="Times New Roman"/>
                <a:cs typeface="Times New Roman"/>
              </a:rPr>
              <a:t>1</a:t>
            </a:r>
            <a:r>
              <a:rPr sz="5250" spc="-37" baseline="-3968" dirty="0">
                <a:latin typeface="Symbol"/>
                <a:cs typeface="Symbol"/>
              </a:rPr>
              <a:t></a:t>
            </a:r>
            <a:endParaRPr sz="5250" baseline="-3968">
              <a:latin typeface="Symbol"/>
              <a:cs typeface="Symbol"/>
            </a:endParaRPr>
          </a:p>
        </p:txBody>
      </p:sp>
      <p:sp>
        <p:nvSpPr>
          <p:cNvPr id="9" name="object 9"/>
          <p:cNvSpPr txBox="1"/>
          <p:nvPr/>
        </p:nvSpPr>
        <p:spPr>
          <a:xfrm>
            <a:off x="2241266" y="1709116"/>
            <a:ext cx="802640" cy="1440180"/>
          </a:xfrm>
          <a:prstGeom prst="rect">
            <a:avLst/>
          </a:prstGeom>
        </p:spPr>
        <p:txBody>
          <a:bodyPr vert="horz" wrap="square" lIns="0" tIns="186055" rIns="0" bIns="0" rtlCol="0">
            <a:spAutoFit/>
          </a:bodyPr>
          <a:lstStyle/>
          <a:p>
            <a:pPr marR="5080" algn="r">
              <a:lnSpc>
                <a:spcPct val="100000"/>
              </a:lnSpc>
              <a:spcBef>
                <a:spcPts val="1465"/>
              </a:spcBef>
            </a:pPr>
            <a:r>
              <a:rPr sz="3500" i="1" spc="-50" dirty="0">
                <a:latin typeface="Times New Roman"/>
                <a:cs typeface="Times New Roman"/>
              </a:rPr>
              <a:t>x</a:t>
            </a:r>
            <a:endParaRPr sz="3500" dirty="0">
              <a:latin typeface="Times New Roman"/>
              <a:cs typeface="Times New Roman"/>
            </a:endParaRPr>
          </a:p>
          <a:p>
            <a:pPr marR="90805" algn="r">
              <a:lnSpc>
                <a:spcPct val="100000"/>
              </a:lnSpc>
              <a:spcBef>
                <a:spcPts val="1365"/>
              </a:spcBef>
            </a:pPr>
            <a:r>
              <a:rPr sz="3500" dirty="0">
                <a:latin typeface="Times New Roman"/>
                <a:cs typeface="Times New Roman"/>
              </a:rPr>
              <a:t>1</a:t>
            </a:r>
            <a:r>
              <a:rPr sz="3500" spc="-340" dirty="0">
                <a:latin typeface="Times New Roman"/>
                <a:cs typeface="Times New Roman"/>
              </a:rPr>
              <a:t> </a:t>
            </a:r>
            <a:r>
              <a:rPr sz="5250" spc="-37" baseline="-3968" dirty="0">
                <a:latin typeface="Symbol"/>
                <a:cs typeface="Symbol"/>
              </a:rPr>
              <a:t></a:t>
            </a:r>
            <a:r>
              <a:rPr sz="3500" spc="-25" dirty="0">
                <a:latin typeface="Times New Roman"/>
                <a:cs typeface="Times New Roman"/>
              </a:rPr>
              <a:t>0</a:t>
            </a:r>
            <a:endParaRPr sz="3500" dirty="0">
              <a:latin typeface="Times New Roman"/>
              <a:cs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AE9E46DC-D41D-4CC6-9685-8C0D0B08365B}"/>
              </a:ext>
            </a:extLst>
          </p:cNvPr>
          <p:cNvSpPr>
            <a:spLocks noGrp="1"/>
          </p:cNvSpPr>
          <p:nvPr>
            <p:ph type="title"/>
          </p:nvPr>
        </p:nvSpPr>
        <p:spPr>
          <a:xfrm>
            <a:off x="457200" y="381000"/>
            <a:ext cx="8229600" cy="1143000"/>
          </a:xfrm>
        </p:spPr>
        <p:txBody>
          <a:bodyPr>
            <a:normAutofit/>
          </a:bodyPr>
          <a:lstStyle/>
          <a:p>
            <a:r>
              <a:rPr lang="en-US" dirty="0"/>
              <a:t>Examples of Representing Relations Using Matrices (</a:t>
            </a:r>
            <a:r>
              <a:rPr lang="en-US" i="1" dirty="0"/>
              <a:t>cont.</a:t>
            </a:r>
            <a:r>
              <a:rPr lang="en-US" dirty="0"/>
              <a:t>)</a:t>
            </a:r>
          </a:p>
        </p:txBody>
      </p:sp>
      <p:sp>
        <p:nvSpPr>
          <p:cNvPr id="13" name="Content Placeholder 2">
            <a:extLst>
              <a:ext uri="{FF2B5EF4-FFF2-40B4-BE49-F238E27FC236}">
                <a16:creationId xmlns:a16="http://schemas.microsoft.com/office/drawing/2014/main" id="{0C1784D8-AE3F-AF59-8478-4427C07985B9}"/>
              </a:ext>
            </a:extLst>
          </p:cNvPr>
          <p:cNvSpPr txBox="1">
            <a:spLocks/>
          </p:cNvSpPr>
          <p:nvPr/>
        </p:nvSpPr>
        <p:spPr>
          <a:xfrm>
            <a:off x="457200" y="1612392"/>
            <a:ext cx="8229600" cy="4389120"/>
          </a:xfrm>
          <a:prstGeom prst="rect">
            <a:avLst/>
          </a:prstGeom>
          <a:solidFill>
            <a:schemeClr val="bg1"/>
          </a:solidFill>
        </p:spPr>
        <p:txBody>
          <a:bodyPr wrap="square" lIns="0" tIns="0" rIns="0" bIns="0">
            <a:normAutofit/>
          </a:bodyPr>
          <a:lstStyle>
            <a:lvl1pPr marL="0">
              <a:defRPr sz="1800" b="0" i="0">
                <a:solidFill>
                  <a:srgbClr val="404040"/>
                </a:solidFill>
                <a:latin typeface="Trebuchet MS"/>
                <a:ea typeface="+mn-ea"/>
                <a:cs typeface="Trebuchet M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000" b="1" dirty="0"/>
              <a:t>   Example </a:t>
            </a:r>
            <a:r>
              <a:rPr lang="en-US" sz="2000" b="1" dirty="0">
                <a:latin typeface="Cambria Math" pitchFamily="18" charset="0"/>
                <a:ea typeface="Cambria Math" pitchFamily="18" charset="0"/>
              </a:rPr>
              <a:t>3</a:t>
            </a:r>
            <a:r>
              <a:rPr lang="en-US" sz="2000" dirty="0"/>
              <a:t>: </a:t>
            </a:r>
            <a:r>
              <a:rPr lang="en-US" sz="2000" b="1" dirty="0"/>
              <a:t>Let </a:t>
            </a:r>
            <a:r>
              <a:rPr lang="en-US" sz="2000" b="1" i="1" dirty="0"/>
              <a:t>A</a:t>
            </a:r>
            <a:r>
              <a:rPr lang="en-US" sz="2000" b="1" dirty="0"/>
              <a:t> = {</a:t>
            </a:r>
            <a:r>
              <a:rPr lang="en-US" sz="2000" b="1" i="1" dirty="0"/>
              <a:t>a</a:t>
            </a:r>
            <a:r>
              <a:rPr lang="en-US" sz="2000" b="1" baseline="-25000" dirty="0">
                <a:latin typeface="Cambria Math" pitchFamily="18" charset="0"/>
                <a:ea typeface="Cambria Math" pitchFamily="18" charset="0"/>
              </a:rPr>
              <a:t>1</a:t>
            </a:r>
            <a:r>
              <a:rPr lang="en-US" sz="2000" b="1" dirty="0">
                <a:latin typeface="Cambria Math" pitchFamily="18" charset="0"/>
                <a:ea typeface="Cambria Math" pitchFamily="18" charset="0"/>
              </a:rPr>
              <a:t>,</a:t>
            </a:r>
            <a:r>
              <a:rPr lang="en-US" sz="2000" b="1" i="1" dirty="0">
                <a:ea typeface="Cambria Math" pitchFamily="18" charset="0"/>
              </a:rPr>
              <a:t>a</a:t>
            </a:r>
            <a:r>
              <a:rPr lang="en-US" sz="2000" b="1" baseline="-25000" dirty="0">
                <a:latin typeface="Cambria Math" pitchFamily="18" charset="0"/>
                <a:ea typeface="Cambria Math" pitchFamily="18" charset="0"/>
              </a:rPr>
              <a:t>2</a:t>
            </a:r>
            <a:r>
              <a:rPr lang="en-US" sz="2000" b="1" dirty="0">
                <a:latin typeface="Cambria Math" pitchFamily="18" charset="0"/>
                <a:ea typeface="Cambria Math" pitchFamily="18" charset="0"/>
              </a:rPr>
              <a:t>, </a:t>
            </a:r>
            <a:r>
              <a:rPr lang="en-US" sz="2000" b="1" i="1" dirty="0">
                <a:ea typeface="Cambria Math" pitchFamily="18" charset="0"/>
              </a:rPr>
              <a:t>a</a:t>
            </a:r>
            <a:r>
              <a:rPr lang="en-US" sz="2000" b="1" baseline="-25000" dirty="0">
                <a:latin typeface="Cambria Math" pitchFamily="18" charset="0"/>
                <a:ea typeface="Cambria Math" pitchFamily="18" charset="0"/>
              </a:rPr>
              <a:t>3</a:t>
            </a:r>
            <a:r>
              <a:rPr lang="en-US" sz="2000" b="1" dirty="0"/>
              <a:t>} and </a:t>
            </a:r>
            <a:r>
              <a:rPr lang="en-US" sz="2000" b="1" i="1" dirty="0"/>
              <a:t>B</a:t>
            </a:r>
            <a:r>
              <a:rPr lang="en-US" sz="2000" b="1" dirty="0"/>
              <a:t> = {</a:t>
            </a:r>
            <a:r>
              <a:rPr lang="en-US" sz="2000" b="1" i="1" dirty="0"/>
              <a:t>b</a:t>
            </a:r>
            <a:r>
              <a:rPr lang="en-US" sz="2000" b="1" baseline="-25000" dirty="0">
                <a:latin typeface="Cambria Math" pitchFamily="18" charset="0"/>
                <a:ea typeface="Cambria Math" pitchFamily="18" charset="0"/>
              </a:rPr>
              <a:t>1</a:t>
            </a:r>
            <a:r>
              <a:rPr lang="en-US" sz="2000" b="1" dirty="0">
                <a:latin typeface="Cambria Math" pitchFamily="18" charset="0"/>
                <a:ea typeface="Cambria Math" pitchFamily="18" charset="0"/>
              </a:rPr>
              <a:t>,</a:t>
            </a:r>
            <a:r>
              <a:rPr lang="en-US" sz="2000" b="1" i="1" dirty="0">
                <a:ea typeface="Cambria Math" pitchFamily="18" charset="0"/>
              </a:rPr>
              <a:t>b</a:t>
            </a:r>
            <a:r>
              <a:rPr lang="en-US" sz="2000" b="1" baseline="-25000" dirty="0">
                <a:latin typeface="Cambria Math" pitchFamily="18" charset="0"/>
                <a:ea typeface="Cambria Math" pitchFamily="18" charset="0"/>
              </a:rPr>
              <a:t>2</a:t>
            </a:r>
            <a:r>
              <a:rPr lang="en-US" sz="2000" b="1" dirty="0">
                <a:latin typeface="Cambria Math" pitchFamily="18" charset="0"/>
                <a:ea typeface="Cambria Math" pitchFamily="18" charset="0"/>
              </a:rPr>
              <a:t>, </a:t>
            </a:r>
            <a:r>
              <a:rPr lang="en-US" sz="2000" b="1" i="1" dirty="0">
                <a:ea typeface="Cambria Math" pitchFamily="18" charset="0"/>
              </a:rPr>
              <a:t>b</a:t>
            </a:r>
            <a:r>
              <a:rPr lang="en-US" sz="2000" b="1" baseline="-25000" dirty="0">
                <a:latin typeface="Cambria Math" pitchFamily="18" charset="0"/>
                <a:ea typeface="Cambria Math" pitchFamily="18" charset="0"/>
              </a:rPr>
              <a:t>3</a:t>
            </a:r>
            <a:r>
              <a:rPr lang="en-US" sz="2000" b="1" dirty="0">
                <a:latin typeface="Cambria Math" pitchFamily="18" charset="0"/>
                <a:ea typeface="Cambria Math" pitchFamily="18" charset="0"/>
              </a:rPr>
              <a:t>,</a:t>
            </a:r>
            <a:r>
              <a:rPr lang="en-US" sz="2000" b="1" i="1" dirty="0">
                <a:ea typeface="Cambria Math" pitchFamily="18" charset="0"/>
              </a:rPr>
              <a:t>b</a:t>
            </a:r>
            <a:r>
              <a:rPr lang="en-US" sz="2000" b="1" baseline="-25000" dirty="0">
                <a:latin typeface="Cambria Math" pitchFamily="18" charset="0"/>
                <a:ea typeface="Cambria Math" pitchFamily="18" charset="0"/>
              </a:rPr>
              <a:t>4</a:t>
            </a:r>
            <a:r>
              <a:rPr lang="en-US" sz="2000" b="1" dirty="0">
                <a:latin typeface="Cambria Math" pitchFamily="18" charset="0"/>
                <a:ea typeface="Cambria Math" pitchFamily="18" charset="0"/>
              </a:rPr>
              <a:t>, </a:t>
            </a:r>
            <a:r>
              <a:rPr lang="en-US" sz="2000" b="1" i="1" dirty="0">
                <a:ea typeface="Cambria Math" pitchFamily="18" charset="0"/>
              </a:rPr>
              <a:t>b</a:t>
            </a:r>
            <a:r>
              <a:rPr lang="en-US" sz="2000" b="1" baseline="-25000" dirty="0">
                <a:latin typeface="Cambria Math" pitchFamily="18" charset="0"/>
                <a:ea typeface="Cambria Math" pitchFamily="18" charset="0"/>
              </a:rPr>
              <a:t>5</a:t>
            </a:r>
            <a:r>
              <a:rPr lang="en-US" sz="2000" b="1" dirty="0"/>
              <a:t>}. Which ordered pairs are in the relation </a:t>
            </a:r>
            <a:r>
              <a:rPr lang="en-US" sz="2000" b="1" i="1" dirty="0"/>
              <a:t>R</a:t>
            </a:r>
            <a:r>
              <a:rPr lang="en-US" sz="2000" b="1" dirty="0"/>
              <a:t> represented by the matrix</a:t>
            </a:r>
          </a:p>
          <a:p>
            <a:endParaRPr lang="en-US" sz="2000" dirty="0"/>
          </a:p>
          <a:p>
            <a:endParaRPr lang="en-US" sz="2000" dirty="0"/>
          </a:p>
          <a:p>
            <a:endParaRPr lang="en-US" sz="2000" dirty="0"/>
          </a:p>
          <a:p>
            <a:r>
              <a:rPr lang="en-US" sz="2000" b="1" dirty="0"/>
              <a:t>    </a:t>
            </a:r>
          </a:p>
          <a:p>
            <a:endParaRPr lang="en-US" sz="2000" b="1" dirty="0"/>
          </a:p>
          <a:p>
            <a:endParaRPr lang="en-US" sz="2000" b="1" dirty="0"/>
          </a:p>
          <a:p>
            <a:endParaRPr lang="en-US" sz="2000" b="1" dirty="0"/>
          </a:p>
          <a:p>
            <a:endParaRPr lang="en-US" sz="2000" b="1" dirty="0"/>
          </a:p>
        </p:txBody>
      </p:sp>
      <p:pic>
        <p:nvPicPr>
          <p:cNvPr id="14" name="Picture 13" descr="addin_tmp.png">
            <a:extLst>
              <a:ext uri="{FF2B5EF4-FFF2-40B4-BE49-F238E27FC236}">
                <a16:creationId xmlns:a16="http://schemas.microsoft.com/office/drawing/2014/main" id="{06026F39-7ADA-D2D9-5B2D-A6A2A740AAA1}"/>
              </a:ext>
            </a:extLst>
          </p:cNvPr>
          <p:cNvPicPr>
            <a:picLocks noChangeAspect="1"/>
          </p:cNvPicPr>
          <p:nvPr>
            <p:custDataLst>
              <p:tags r:id="rId1"/>
            </p:custDataLst>
          </p:nvPr>
        </p:nvPicPr>
        <p:blipFill>
          <a:blip r:embed="rId3" cstate="print"/>
          <a:stretch>
            <a:fillRect/>
          </a:stretch>
        </p:blipFill>
        <p:spPr>
          <a:xfrm>
            <a:off x="2150022" y="2801112"/>
            <a:ext cx="4437468" cy="1313688"/>
          </a:xfrm>
          <a:prstGeom prst="rect">
            <a:avLst/>
          </a:prstGeom>
        </p:spPr>
      </p:pic>
      <p:sp>
        <p:nvSpPr>
          <p:cNvPr id="16" name="TextBox 15">
            <a:extLst>
              <a:ext uri="{FF2B5EF4-FFF2-40B4-BE49-F238E27FC236}">
                <a16:creationId xmlns:a16="http://schemas.microsoft.com/office/drawing/2014/main" id="{7D062DC4-9F97-C8D8-802D-E602F325608F}"/>
              </a:ext>
            </a:extLst>
          </p:cNvPr>
          <p:cNvSpPr txBox="1"/>
          <p:nvPr/>
        </p:nvSpPr>
        <p:spPr>
          <a:xfrm>
            <a:off x="228600" y="4680809"/>
            <a:ext cx="8686800" cy="769441"/>
          </a:xfrm>
          <a:prstGeom prst="rect">
            <a:avLst/>
          </a:prstGeom>
          <a:noFill/>
        </p:spPr>
        <p:txBody>
          <a:bodyPr wrap="square">
            <a:spAutoFit/>
          </a:bodyPr>
          <a:lstStyle/>
          <a:p>
            <a:r>
              <a:rPr lang="en-US" sz="2200" b="1" dirty="0">
                <a:solidFill>
                  <a:srgbClr val="0070C0"/>
                </a:solidFill>
              </a:rPr>
              <a:t>Solution:</a:t>
            </a:r>
            <a:endParaRPr lang="en-US" sz="2200" dirty="0">
              <a:solidFill>
                <a:srgbClr val="0070C0"/>
              </a:solidFill>
            </a:endParaRPr>
          </a:p>
          <a:p>
            <a:r>
              <a:rPr lang="en-US" sz="2200" i="1" dirty="0">
                <a:solidFill>
                  <a:srgbClr val="0070C0"/>
                </a:solidFill>
              </a:rPr>
              <a:t>          R </a:t>
            </a:r>
            <a:r>
              <a:rPr lang="en-US" sz="2200" dirty="0">
                <a:solidFill>
                  <a:srgbClr val="0070C0"/>
                </a:solidFill>
              </a:rPr>
              <a:t>= {(</a:t>
            </a:r>
            <a:r>
              <a:rPr lang="en-US" sz="2200" i="1" dirty="0">
                <a:solidFill>
                  <a:srgbClr val="0070C0"/>
                </a:solidFill>
              </a:rPr>
              <a:t>a</a:t>
            </a:r>
            <a:r>
              <a:rPr lang="en-US" sz="2200" baseline="-25000" dirty="0">
                <a:solidFill>
                  <a:srgbClr val="0070C0"/>
                </a:solidFill>
                <a:latin typeface="Cambria Math" pitchFamily="18" charset="0"/>
                <a:ea typeface="Cambria Math" pitchFamily="18" charset="0"/>
              </a:rPr>
              <a:t>1</a:t>
            </a:r>
            <a:r>
              <a:rPr lang="en-US" sz="2200" dirty="0">
                <a:solidFill>
                  <a:srgbClr val="0070C0"/>
                </a:solidFill>
                <a:latin typeface="Cambria Math" pitchFamily="18" charset="0"/>
                <a:ea typeface="Cambria Math" pitchFamily="18" charset="0"/>
              </a:rPr>
              <a:t>,</a:t>
            </a:r>
            <a:r>
              <a:rPr lang="en-US" sz="2200" i="1" dirty="0">
                <a:solidFill>
                  <a:srgbClr val="0070C0"/>
                </a:solidFill>
                <a:ea typeface="Cambria Math" pitchFamily="18" charset="0"/>
              </a:rPr>
              <a:t> b</a:t>
            </a:r>
            <a:r>
              <a:rPr lang="en-US" sz="2200" baseline="-25000" dirty="0">
                <a:solidFill>
                  <a:srgbClr val="0070C0"/>
                </a:solidFill>
                <a:latin typeface="Cambria Math" pitchFamily="18" charset="0"/>
                <a:ea typeface="Cambria Math" pitchFamily="18" charset="0"/>
              </a:rPr>
              <a:t>2</a:t>
            </a:r>
            <a:r>
              <a:rPr lang="en-US" sz="2200" dirty="0">
                <a:solidFill>
                  <a:srgbClr val="0070C0"/>
                </a:solidFill>
              </a:rPr>
              <a:t>), (</a:t>
            </a:r>
            <a:r>
              <a:rPr lang="en-US" sz="2200" i="1" dirty="0">
                <a:solidFill>
                  <a:srgbClr val="0070C0"/>
                </a:solidFill>
                <a:ea typeface="Cambria Math" pitchFamily="18" charset="0"/>
              </a:rPr>
              <a:t>a</a:t>
            </a:r>
            <a:r>
              <a:rPr lang="en-US" sz="2200" baseline="-25000" dirty="0">
                <a:solidFill>
                  <a:srgbClr val="0070C0"/>
                </a:solidFill>
                <a:latin typeface="Cambria Math" pitchFamily="18" charset="0"/>
                <a:ea typeface="Cambria Math" pitchFamily="18" charset="0"/>
              </a:rPr>
              <a:t>2</a:t>
            </a:r>
            <a:r>
              <a:rPr lang="en-US" sz="2200" dirty="0">
                <a:solidFill>
                  <a:srgbClr val="0070C0"/>
                </a:solidFill>
                <a:latin typeface="Cambria Math" pitchFamily="18" charset="0"/>
                <a:ea typeface="Cambria Math" pitchFamily="18" charset="0"/>
              </a:rPr>
              <a:t>,</a:t>
            </a:r>
            <a:r>
              <a:rPr lang="en-US" sz="2200" i="1" dirty="0">
                <a:solidFill>
                  <a:srgbClr val="0070C0"/>
                </a:solidFill>
              </a:rPr>
              <a:t> b</a:t>
            </a:r>
            <a:r>
              <a:rPr lang="en-US" sz="2200" baseline="-25000" dirty="0">
                <a:solidFill>
                  <a:srgbClr val="0070C0"/>
                </a:solidFill>
                <a:latin typeface="Cambria Math" pitchFamily="18" charset="0"/>
                <a:ea typeface="Cambria Math" pitchFamily="18" charset="0"/>
              </a:rPr>
              <a:t>1</a:t>
            </a:r>
            <a:r>
              <a:rPr lang="en-US" sz="2200" dirty="0">
                <a:solidFill>
                  <a:srgbClr val="0070C0"/>
                </a:solidFill>
              </a:rPr>
              <a:t>),(</a:t>
            </a:r>
            <a:r>
              <a:rPr lang="en-US" sz="2200" i="1" dirty="0">
                <a:solidFill>
                  <a:srgbClr val="0070C0"/>
                </a:solidFill>
                <a:ea typeface="Cambria Math" pitchFamily="18" charset="0"/>
              </a:rPr>
              <a:t>a</a:t>
            </a:r>
            <a:r>
              <a:rPr lang="en-US" sz="2200" baseline="-25000" dirty="0">
                <a:solidFill>
                  <a:srgbClr val="0070C0"/>
                </a:solidFill>
                <a:latin typeface="Cambria Math" pitchFamily="18" charset="0"/>
                <a:ea typeface="Cambria Math" pitchFamily="18" charset="0"/>
              </a:rPr>
              <a:t>2</a:t>
            </a:r>
            <a:r>
              <a:rPr lang="en-US" sz="2200" dirty="0">
                <a:solidFill>
                  <a:srgbClr val="0070C0"/>
                </a:solidFill>
                <a:latin typeface="Cambria Math" pitchFamily="18" charset="0"/>
                <a:ea typeface="Cambria Math" pitchFamily="18" charset="0"/>
              </a:rPr>
              <a:t>,</a:t>
            </a:r>
            <a:r>
              <a:rPr lang="en-US" sz="2200" i="1" dirty="0">
                <a:solidFill>
                  <a:srgbClr val="0070C0"/>
                </a:solidFill>
                <a:ea typeface="Cambria Math" pitchFamily="18" charset="0"/>
              </a:rPr>
              <a:t> b</a:t>
            </a:r>
            <a:r>
              <a:rPr lang="en-US" sz="2200" baseline="-25000" dirty="0">
                <a:solidFill>
                  <a:srgbClr val="0070C0"/>
                </a:solidFill>
                <a:latin typeface="Cambria Math" pitchFamily="18" charset="0"/>
                <a:ea typeface="Cambria Math" pitchFamily="18" charset="0"/>
              </a:rPr>
              <a:t>3</a:t>
            </a:r>
            <a:r>
              <a:rPr lang="en-US" sz="2200" dirty="0">
                <a:solidFill>
                  <a:srgbClr val="0070C0"/>
                </a:solidFill>
              </a:rPr>
              <a:t>), (</a:t>
            </a:r>
            <a:r>
              <a:rPr lang="en-US" sz="2200" i="1" dirty="0">
                <a:solidFill>
                  <a:srgbClr val="0070C0"/>
                </a:solidFill>
                <a:ea typeface="Cambria Math" pitchFamily="18" charset="0"/>
              </a:rPr>
              <a:t>a</a:t>
            </a:r>
            <a:r>
              <a:rPr lang="en-US" sz="2200" baseline="-25000" dirty="0">
                <a:solidFill>
                  <a:srgbClr val="0070C0"/>
                </a:solidFill>
                <a:latin typeface="Cambria Math" pitchFamily="18" charset="0"/>
                <a:ea typeface="Cambria Math" pitchFamily="18" charset="0"/>
              </a:rPr>
              <a:t>2</a:t>
            </a:r>
            <a:r>
              <a:rPr lang="en-US" sz="2200" dirty="0">
                <a:solidFill>
                  <a:srgbClr val="0070C0"/>
                </a:solidFill>
                <a:latin typeface="Cambria Math" pitchFamily="18" charset="0"/>
                <a:ea typeface="Cambria Math" pitchFamily="18" charset="0"/>
              </a:rPr>
              <a:t>,</a:t>
            </a:r>
            <a:r>
              <a:rPr lang="en-US" sz="2200" i="1" dirty="0">
                <a:solidFill>
                  <a:srgbClr val="0070C0"/>
                </a:solidFill>
              </a:rPr>
              <a:t> b</a:t>
            </a:r>
            <a:r>
              <a:rPr lang="en-US" sz="2200" baseline="-25000" dirty="0">
                <a:solidFill>
                  <a:srgbClr val="0070C0"/>
                </a:solidFill>
                <a:latin typeface="Cambria Math" pitchFamily="18" charset="0"/>
                <a:ea typeface="Cambria Math" pitchFamily="18" charset="0"/>
              </a:rPr>
              <a:t>4</a:t>
            </a:r>
            <a:r>
              <a:rPr lang="en-US" sz="2200" dirty="0">
                <a:solidFill>
                  <a:srgbClr val="0070C0"/>
                </a:solidFill>
              </a:rPr>
              <a:t>),(</a:t>
            </a:r>
            <a:r>
              <a:rPr lang="en-US" sz="2200" i="1" dirty="0">
                <a:solidFill>
                  <a:srgbClr val="0070C0"/>
                </a:solidFill>
                <a:ea typeface="Cambria Math" pitchFamily="18" charset="0"/>
              </a:rPr>
              <a:t>a</a:t>
            </a:r>
            <a:r>
              <a:rPr lang="en-US" sz="2200" baseline="-25000" dirty="0">
                <a:solidFill>
                  <a:srgbClr val="0070C0"/>
                </a:solidFill>
                <a:latin typeface="Cambria Math" pitchFamily="18" charset="0"/>
                <a:ea typeface="Cambria Math" pitchFamily="18" charset="0"/>
              </a:rPr>
              <a:t>3</a:t>
            </a:r>
            <a:r>
              <a:rPr lang="en-US" sz="2200" dirty="0">
                <a:solidFill>
                  <a:srgbClr val="0070C0"/>
                </a:solidFill>
                <a:latin typeface="Cambria Math" pitchFamily="18" charset="0"/>
                <a:ea typeface="Cambria Math" pitchFamily="18" charset="0"/>
              </a:rPr>
              <a:t>,</a:t>
            </a:r>
            <a:r>
              <a:rPr lang="en-US" sz="2200" i="1" dirty="0">
                <a:solidFill>
                  <a:srgbClr val="0070C0"/>
                </a:solidFill>
                <a:ea typeface="Cambria Math" pitchFamily="18" charset="0"/>
              </a:rPr>
              <a:t> b</a:t>
            </a:r>
            <a:r>
              <a:rPr lang="en-US" sz="2200" baseline="-25000" dirty="0">
                <a:solidFill>
                  <a:srgbClr val="0070C0"/>
                </a:solidFill>
                <a:latin typeface="Cambria Math" pitchFamily="18" charset="0"/>
                <a:ea typeface="Cambria Math" pitchFamily="18" charset="0"/>
              </a:rPr>
              <a:t>1</a:t>
            </a:r>
            <a:r>
              <a:rPr lang="en-US" sz="2200" dirty="0">
                <a:solidFill>
                  <a:srgbClr val="0070C0"/>
                </a:solidFill>
              </a:rPr>
              <a:t>), {(</a:t>
            </a:r>
            <a:r>
              <a:rPr lang="en-US" sz="2200" i="1" dirty="0">
                <a:solidFill>
                  <a:srgbClr val="0070C0"/>
                </a:solidFill>
              </a:rPr>
              <a:t>a</a:t>
            </a:r>
            <a:r>
              <a:rPr lang="en-US" sz="2200" baseline="-25000" dirty="0">
                <a:solidFill>
                  <a:srgbClr val="0070C0"/>
                </a:solidFill>
                <a:latin typeface="Cambria Math" pitchFamily="18" charset="0"/>
                <a:ea typeface="Cambria Math" pitchFamily="18" charset="0"/>
              </a:rPr>
              <a:t>3</a:t>
            </a:r>
            <a:r>
              <a:rPr lang="en-US" sz="2200" dirty="0">
                <a:solidFill>
                  <a:srgbClr val="0070C0"/>
                </a:solidFill>
                <a:latin typeface="Cambria Math" pitchFamily="18" charset="0"/>
                <a:ea typeface="Cambria Math" pitchFamily="18" charset="0"/>
              </a:rPr>
              <a:t>,</a:t>
            </a:r>
            <a:r>
              <a:rPr lang="en-US" sz="2200" i="1" dirty="0">
                <a:solidFill>
                  <a:srgbClr val="0070C0"/>
                </a:solidFill>
                <a:ea typeface="Cambria Math" pitchFamily="18" charset="0"/>
              </a:rPr>
              <a:t> b</a:t>
            </a:r>
            <a:r>
              <a:rPr lang="en-US" sz="2200" baseline="-25000" dirty="0">
                <a:solidFill>
                  <a:srgbClr val="0070C0"/>
                </a:solidFill>
                <a:latin typeface="Cambria Math" pitchFamily="18" charset="0"/>
                <a:ea typeface="Cambria Math" pitchFamily="18" charset="0"/>
              </a:rPr>
              <a:t>3</a:t>
            </a:r>
            <a:r>
              <a:rPr lang="en-US" sz="2200" dirty="0">
                <a:solidFill>
                  <a:srgbClr val="0070C0"/>
                </a:solidFill>
              </a:rPr>
              <a:t>), (</a:t>
            </a:r>
            <a:r>
              <a:rPr lang="en-US" sz="2200" i="1" dirty="0">
                <a:solidFill>
                  <a:srgbClr val="0070C0"/>
                </a:solidFill>
                <a:ea typeface="Cambria Math" pitchFamily="18" charset="0"/>
              </a:rPr>
              <a:t>a</a:t>
            </a:r>
            <a:r>
              <a:rPr lang="en-US" sz="2200" baseline="-25000" dirty="0">
                <a:solidFill>
                  <a:srgbClr val="0070C0"/>
                </a:solidFill>
                <a:latin typeface="Cambria Math" pitchFamily="18" charset="0"/>
                <a:ea typeface="Cambria Math" pitchFamily="18" charset="0"/>
              </a:rPr>
              <a:t>3</a:t>
            </a:r>
            <a:r>
              <a:rPr lang="en-US" sz="2200" dirty="0">
                <a:solidFill>
                  <a:srgbClr val="0070C0"/>
                </a:solidFill>
                <a:latin typeface="Cambria Math" pitchFamily="18" charset="0"/>
                <a:ea typeface="Cambria Math" pitchFamily="18" charset="0"/>
              </a:rPr>
              <a:t>,</a:t>
            </a:r>
            <a:r>
              <a:rPr lang="en-US" sz="2200" i="1" dirty="0">
                <a:solidFill>
                  <a:srgbClr val="0070C0"/>
                </a:solidFill>
              </a:rPr>
              <a:t> b</a:t>
            </a:r>
            <a:r>
              <a:rPr lang="en-US" sz="2200" baseline="-25000" dirty="0">
                <a:solidFill>
                  <a:srgbClr val="0070C0"/>
                </a:solidFill>
                <a:latin typeface="Cambria Math" pitchFamily="18" charset="0"/>
                <a:ea typeface="Cambria Math" pitchFamily="18" charset="0"/>
              </a:rPr>
              <a:t>5</a:t>
            </a:r>
            <a:r>
              <a:rPr lang="en-US" sz="2200" dirty="0">
                <a:solidFill>
                  <a:srgbClr val="0070C0"/>
                </a:solidFill>
              </a:rPr>
              <a:t>)}. </a:t>
            </a:r>
          </a:p>
        </p:txBody>
      </p:sp>
    </p:spTree>
    <p:extLst>
      <p:ext uri="{BB962C8B-B14F-4D97-AF65-F5344CB8AC3E}">
        <p14:creationId xmlns:p14="http://schemas.microsoft.com/office/powerpoint/2010/main" val="2131951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D79C458-1D52-AFDF-E6AC-9BB82B8B83FF}"/>
              </a:ext>
            </a:extLst>
          </p:cNvPr>
          <p:cNvSpPr txBox="1">
            <a:spLocks/>
          </p:cNvSpPr>
          <p:nvPr/>
        </p:nvSpPr>
        <p:spPr>
          <a:xfrm>
            <a:off x="457200" y="704088"/>
            <a:ext cx="8229600" cy="1143000"/>
          </a:xfrm>
          <a:prstGeom prst="rect">
            <a:avLst/>
          </a:prstGeom>
        </p:spPr>
        <p:txBody>
          <a:bodyPr/>
          <a:lstStyle>
            <a:lvl1pPr>
              <a:defRPr>
                <a:latin typeface="+mj-lt"/>
                <a:ea typeface="+mj-ea"/>
                <a:cs typeface="+mj-cs"/>
              </a:defRPr>
            </a:lvl1pPr>
          </a:lstStyle>
          <a:p>
            <a:r>
              <a:rPr lang="en-US" sz="3200" b="1" dirty="0">
                <a:solidFill>
                  <a:srgbClr val="00B050"/>
                </a:solidFill>
              </a:rPr>
              <a:t>Matrices of Relations on Sets</a:t>
            </a:r>
          </a:p>
        </p:txBody>
      </p:sp>
      <p:sp>
        <p:nvSpPr>
          <p:cNvPr id="7" name="Content Placeholder 2">
            <a:extLst>
              <a:ext uri="{FF2B5EF4-FFF2-40B4-BE49-F238E27FC236}">
                <a16:creationId xmlns:a16="http://schemas.microsoft.com/office/drawing/2014/main" id="{86453701-8A9E-9368-9B52-608E537DEEE5}"/>
              </a:ext>
            </a:extLst>
          </p:cNvPr>
          <p:cNvSpPr txBox="1">
            <a:spLocks/>
          </p:cNvSpPr>
          <p:nvPr/>
        </p:nvSpPr>
        <p:spPr>
          <a:xfrm>
            <a:off x="434472" y="1471041"/>
            <a:ext cx="7337928" cy="4389120"/>
          </a:xfrm>
          <a:prstGeom prst="rect">
            <a:avLst/>
          </a:prstGeom>
          <a:solidFill>
            <a:schemeClr val="bg1"/>
          </a:solidFill>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3200" dirty="0">
                <a:solidFill>
                  <a:srgbClr val="CC0066"/>
                </a:solidFill>
              </a:rPr>
              <a:t>If </a:t>
            </a:r>
            <a:r>
              <a:rPr lang="en-US" sz="3200" b="1" i="1" dirty="0">
                <a:solidFill>
                  <a:srgbClr val="CC0066"/>
                </a:solidFill>
              </a:rPr>
              <a:t>R</a:t>
            </a:r>
            <a:r>
              <a:rPr lang="en-US" sz="3200" dirty="0">
                <a:solidFill>
                  <a:srgbClr val="CC0066"/>
                </a:solidFill>
              </a:rPr>
              <a:t> is a </a:t>
            </a:r>
            <a:r>
              <a:rPr lang="en-US" sz="3200" b="1" dirty="0">
                <a:solidFill>
                  <a:srgbClr val="CC0066"/>
                </a:solidFill>
              </a:rPr>
              <a:t>reflexive relation</a:t>
            </a:r>
            <a:r>
              <a:rPr lang="en-US" sz="3200" dirty="0">
                <a:solidFill>
                  <a:srgbClr val="CC0066"/>
                </a:solidFill>
              </a:rPr>
              <a:t>, all the elements on the main diagonal of </a:t>
            </a:r>
            <a:r>
              <a:rPr lang="en-US" sz="3200" b="1" i="1" dirty="0">
                <a:solidFill>
                  <a:srgbClr val="CC0066"/>
                </a:solidFill>
              </a:rPr>
              <a:t>M</a:t>
            </a:r>
            <a:r>
              <a:rPr lang="en-US" sz="3200" b="1" i="1" baseline="-25000" dirty="0">
                <a:solidFill>
                  <a:srgbClr val="CC0066"/>
                </a:solidFill>
              </a:rPr>
              <a:t>R</a:t>
            </a:r>
            <a:r>
              <a:rPr lang="en-US" sz="3200" dirty="0">
                <a:solidFill>
                  <a:srgbClr val="CC0066"/>
                </a:solidFill>
              </a:rPr>
              <a:t> are equal to </a:t>
            </a:r>
            <a:r>
              <a:rPr lang="en-US" sz="3200" b="1" dirty="0">
                <a:solidFill>
                  <a:srgbClr val="CC0066"/>
                </a:solidFill>
                <a:latin typeface="Cambria Math" pitchFamily="18" charset="0"/>
                <a:ea typeface="Cambria Math" pitchFamily="18" charset="0"/>
              </a:rPr>
              <a:t>1</a:t>
            </a:r>
            <a:r>
              <a:rPr lang="en-US" sz="3200" dirty="0">
                <a:solidFill>
                  <a:srgbClr val="CC0066"/>
                </a:solidFill>
              </a:rPr>
              <a:t>.</a:t>
            </a:r>
          </a:p>
          <a:p>
            <a:endParaRPr lang="en-US" sz="3200" dirty="0"/>
          </a:p>
          <a:p>
            <a:endParaRPr lang="en-US" sz="3200" dirty="0"/>
          </a:p>
        </p:txBody>
      </p:sp>
      <p:pic>
        <p:nvPicPr>
          <p:cNvPr id="11" name="Picture 10">
            <a:extLst>
              <a:ext uri="{FF2B5EF4-FFF2-40B4-BE49-F238E27FC236}">
                <a16:creationId xmlns:a16="http://schemas.microsoft.com/office/drawing/2014/main" id="{FEEF7ED4-91B3-1D96-BA94-62F59827DA4C}"/>
              </a:ext>
            </a:extLst>
          </p:cNvPr>
          <p:cNvPicPr>
            <a:picLocks noChangeAspect="1"/>
          </p:cNvPicPr>
          <p:nvPr/>
        </p:nvPicPr>
        <p:blipFill>
          <a:blip r:embed="rId2"/>
          <a:stretch>
            <a:fillRect/>
          </a:stretch>
        </p:blipFill>
        <p:spPr>
          <a:xfrm>
            <a:off x="3556699" y="2895600"/>
            <a:ext cx="4215701" cy="3559277"/>
          </a:xfrm>
          <a:prstGeom prst="rect">
            <a:avLst/>
          </a:prstGeom>
        </p:spPr>
      </p:pic>
    </p:spTree>
    <p:extLst>
      <p:ext uri="{BB962C8B-B14F-4D97-AF65-F5344CB8AC3E}">
        <p14:creationId xmlns:p14="http://schemas.microsoft.com/office/powerpoint/2010/main" val="26980784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D79C458-1D52-AFDF-E6AC-9BB82B8B83FF}"/>
              </a:ext>
            </a:extLst>
          </p:cNvPr>
          <p:cNvSpPr txBox="1">
            <a:spLocks/>
          </p:cNvSpPr>
          <p:nvPr/>
        </p:nvSpPr>
        <p:spPr>
          <a:xfrm>
            <a:off x="457200" y="704088"/>
            <a:ext cx="8229600" cy="1143000"/>
          </a:xfrm>
          <a:prstGeom prst="rect">
            <a:avLst/>
          </a:prstGeom>
        </p:spPr>
        <p:txBody>
          <a:bodyPr/>
          <a:lstStyle>
            <a:lvl1pPr>
              <a:defRPr>
                <a:latin typeface="+mj-lt"/>
                <a:ea typeface="+mj-ea"/>
                <a:cs typeface="+mj-cs"/>
              </a:defRPr>
            </a:lvl1pPr>
          </a:lstStyle>
          <a:p>
            <a:r>
              <a:rPr lang="en-US" sz="3200" b="1" dirty="0">
                <a:solidFill>
                  <a:srgbClr val="00B050"/>
                </a:solidFill>
              </a:rPr>
              <a:t>Matrices of Relations on Sets</a:t>
            </a:r>
          </a:p>
        </p:txBody>
      </p:sp>
      <p:sp>
        <p:nvSpPr>
          <p:cNvPr id="7" name="Content Placeholder 2">
            <a:extLst>
              <a:ext uri="{FF2B5EF4-FFF2-40B4-BE49-F238E27FC236}">
                <a16:creationId xmlns:a16="http://schemas.microsoft.com/office/drawing/2014/main" id="{86453701-8A9E-9368-9B52-608E537DEEE5}"/>
              </a:ext>
            </a:extLst>
          </p:cNvPr>
          <p:cNvSpPr txBox="1">
            <a:spLocks/>
          </p:cNvSpPr>
          <p:nvPr/>
        </p:nvSpPr>
        <p:spPr>
          <a:xfrm>
            <a:off x="434472" y="1471041"/>
            <a:ext cx="8252328" cy="4389120"/>
          </a:xfrm>
          <a:prstGeom prst="rect">
            <a:avLst/>
          </a:prstGeom>
          <a:solidFill>
            <a:schemeClr val="bg1"/>
          </a:solidFill>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800" b="1" i="1" dirty="0">
                <a:solidFill>
                  <a:srgbClr val="0070C0"/>
                </a:solidFill>
              </a:rPr>
              <a:t>R</a:t>
            </a:r>
            <a:r>
              <a:rPr lang="en-US" sz="2800" dirty="0">
                <a:solidFill>
                  <a:srgbClr val="0070C0"/>
                </a:solidFill>
              </a:rPr>
              <a:t> is a </a:t>
            </a:r>
            <a:r>
              <a:rPr lang="en-US" sz="2800" b="1" dirty="0">
                <a:solidFill>
                  <a:srgbClr val="0070C0"/>
                </a:solidFill>
              </a:rPr>
              <a:t>symmetric relation </a:t>
            </a:r>
            <a:br>
              <a:rPr lang="en-US" sz="2800" b="1" dirty="0">
                <a:solidFill>
                  <a:srgbClr val="0070C0"/>
                </a:solidFill>
              </a:rPr>
            </a:br>
            <a:r>
              <a:rPr lang="en-US" sz="2800" b="1" dirty="0">
                <a:solidFill>
                  <a:srgbClr val="0070C0"/>
                </a:solidFill>
              </a:rPr>
              <a:t>If aᵢ is related to aⱼ, then aⱼ is related to aᵢ.</a:t>
            </a:r>
          </a:p>
          <a:p>
            <a:endParaRPr lang="en-US" sz="2800" b="1" dirty="0">
              <a:solidFill>
                <a:srgbClr val="7030A0"/>
              </a:solidFill>
            </a:endParaRPr>
          </a:p>
          <a:p>
            <a:r>
              <a:rPr lang="en-US" sz="2800" b="1" dirty="0">
                <a:solidFill>
                  <a:srgbClr val="7030A0"/>
                </a:solidFill>
              </a:rPr>
              <a:t>In the matrix:</a:t>
            </a:r>
            <a:br>
              <a:rPr lang="en-US" sz="2800" dirty="0">
                <a:solidFill>
                  <a:srgbClr val="7030A0"/>
                </a:solidFill>
              </a:rPr>
            </a:br>
            <a:r>
              <a:rPr lang="en-US" sz="2800" dirty="0">
                <a:solidFill>
                  <a:srgbClr val="7030A0"/>
                </a:solidFill>
              </a:rPr>
              <a:t>If position (</a:t>
            </a:r>
            <a:r>
              <a:rPr lang="en-US" sz="2800" dirty="0" err="1">
                <a:solidFill>
                  <a:srgbClr val="7030A0"/>
                </a:solidFill>
              </a:rPr>
              <a:t>i</a:t>
            </a:r>
            <a:r>
              <a:rPr lang="en-US" sz="2800" dirty="0">
                <a:solidFill>
                  <a:srgbClr val="7030A0"/>
                </a:solidFill>
              </a:rPr>
              <a:t>, j) is 1, then position (j, </a:t>
            </a:r>
            <a:r>
              <a:rPr lang="en-US" sz="2800" dirty="0" err="1">
                <a:solidFill>
                  <a:srgbClr val="7030A0"/>
                </a:solidFill>
              </a:rPr>
              <a:t>i</a:t>
            </a:r>
            <a:r>
              <a:rPr lang="en-US" sz="2800" dirty="0">
                <a:solidFill>
                  <a:srgbClr val="7030A0"/>
                </a:solidFill>
              </a:rPr>
              <a:t>) must also be 1.</a:t>
            </a:r>
          </a:p>
          <a:p>
            <a:r>
              <a:rPr lang="en-US" sz="2800" dirty="0">
                <a:solidFill>
                  <a:srgbClr val="7030A0"/>
                </a:solidFill>
              </a:rPr>
              <a:t>So the matrix looks mirrored across the diagonal.</a:t>
            </a:r>
          </a:p>
          <a:p>
            <a:endParaRPr lang="en-US" sz="2800" dirty="0"/>
          </a:p>
          <a:p>
            <a:r>
              <a:rPr lang="en-US" sz="2800" dirty="0">
                <a:solidFill>
                  <a:srgbClr val="CC0066"/>
                </a:solidFill>
              </a:rPr>
              <a:t> </a:t>
            </a:r>
            <a:r>
              <a:rPr lang="en-US" sz="2800" b="1" i="1" dirty="0">
                <a:solidFill>
                  <a:srgbClr val="CC0066"/>
                </a:solidFill>
              </a:rPr>
              <a:t>R</a:t>
            </a:r>
            <a:r>
              <a:rPr lang="en-US" sz="2800" dirty="0">
                <a:solidFill>
                  <a:srgbClr val="CC0066"/>
                </a:solidFill>
              </a:rPr>
              <a:t> is a </a:t>
            </a:r>
            <a:r>
              <a:rPr lang="en-US" sz="2800" b="1" dirty="0">
                <a:solidFill>
                  <a:srgbClr val="CC0066"/>
                </a:solidFill>
              </a:rPr>
              <a:t>symmetric relation</a:t>
            </a:r>
            <a:r>
              <a:rPr lang="en-US" sz="2800" dirty="0">
                <a:solidFill>
                  <a:srgbClr val="CC0066"/>
                </a:solidFill>
              </a:rPr>
              <a:t>, </a:t>
            </a:r>
          </a:p>
          <a:p>
            <a:r>
              <a:rPr lang="en-US" sz="2800" dirty="0">
                <a:solidFill>
                  <a:srgbClr val="CC0066"/>
                </a:solidFill>
              </a:rPr>
              <a:t>if and only if </a:t>
            </a:r>
            <a:r>
              <a:rPr lang="en-US" sz="2800" i="1" dirty="0" err="1">
                <a:solidFill>
                  <a:srgbClr val="CC0066"/>
                </a:solidFill>
              </a:rPr>
              <a:t>m</a:t>
            </a:r>
            <a:r>
              <a:rPr lang="en-US" sz="2800" i="1" baseline="-25000" dirty="0" err="1">
                <a:solidFill>
                  <a:srgbClr val="CC0066"/>
                </a:solidFill>
              </a:rPr>
              <a:t>ij</a:t>
            </a:r>
            <a:r>
              <a:rPr lang="en-US" sz="2800" dirty="0">
                <a:solidFill>
                  <a:srgbClr val="CC0066"/>
                </a:solidFill>
              </a:rPr>
              <a:t> = </a:t>
            </a:r>
            <a:r>
              <a:rPr lang="en-US" sz="2800" b="1" dirty="0">
                <a:solidFill>
                  <a:srgbClr val="CC0066"/>
                </a:solidFill>
                <a:latin typeface="Cambria Math" pitchFamily="18" charset="0"/>
                <a:ea typeface="Cambria Math" pitchFamily="18" charset="0"/>
              </a:rPr>
              <a:t>1</a:t>
            </a:r>
            <a:r>
              <a:rPr lang="en-US" sz="2800" dirty="0">
                <a:solidFill>
                  <a:srgbClr val="CC0066"/>
                </a:solidFill>
                <a:latin typeface="Cambria Math" pitchFamily="18" charset="0"/>
                <a:ea typeface="Cambria Math" pitchFamily="18" charset="0"/>
              </a:rPr>
              <a:t> </a:t>
            </a:r>
            <a:r>
              <a:rPr lang="en-US" sz="2800" dirty="0">
                <a:solidFill>
                  <a:srgbClr val="CC0066"/>
                </a:solidFill>
              </a:rPr>
              <a:t>whenever </a:t>
            </a:r>
            <a:r>
              <a:rPr lang="en-US" sz="2800" i="1" dirty="0" err="1">
                <a:solidFill>
                  <a:srgbClr val="CC0066"/>
                </a:solidFill>
              </a:rPr>
              <a:t>m</a:t>
            </a:r>
            <a:r>
              <a:rPr lang="en-US" sz="2800" i="1" baseline="-25000" dirty="0" err="1">
                <a:solidFill>
                  <a:srgbClr val="CC0066"/>
                </a:solidFill>
              </a:rPr>
              <a:t>ji</a:t>
            </a:r>
            <a:r>
              <a:rPr lang="en-US" sz="2800" dirty="0">
                <a:solidFill>
                  <a:srgbClr val="CC0066"/>
                </a:solidFill>
              </a:rPr>
              <a:t> = </a:t>
            </a:r>
            <a:r>
              <a:rPr lang="en-US" sz="2800" b="1" dirty="0">
                <a:solidFill>
                  <a:srgbClr val="CC0066"/>
                </a:solidFill>
                <a:latin typeface="Cambria Math" pitchFamily="18" charset="0"/>
                <a:ea typeface="Cambria Math" pitchFamily="18" charset="0"/>
              </a:rPr>
              <a:t>1</a:t>
            </a:r>
            <a:r>
              <a:rPr lang="en-US" sz="2800" dirty="0">
                <a:solidFill>
                  <a:srgbClr val="CC0066"/>
                </a:solidFill>
              </a:rPr>
              <a:t>. </a:t>
            </a:r>
          </a:p>
          <a:p>
            <a:endParaRPr lang="en-US" sz="2800" i="1" dirty="0"/>
          </a:p>
          <a:p>
            <a:endParaRPr lang="en-US" sz="2800" dirty="0"/>
          </a:p>
        </p:txBody>
      </p:sp>
      <p:pic>
        <p:nvPicPr>
          <p:cNvPr id="9" name="Content Placeholder 5" descr="0804.jpg">
            <a:extLst>
              <a:ext uri="{FF2B5EF4-FFF2-40B4-BE49-F238E27FC236}">
                <a16:creationId xmlns:a16="http://schemas.microsoft.com/office/drawing/2014/main" id="{0DD54CA0-F888-926E-2EC2-26675FF89835}"/>
              </a:ext>
            </a:extLst>
          </p:cNvPr>
          <p:cNvPicPr>
            <a:picLocks noChangeAspect="1"/>
          </p:cNvPicPr>
          <p:nvPr/>
        </p:nvPicPr>
        <p:blipFill rotWithShape="1">
          <a:blip r:embed="rId2" cstate="print"/>
          <a:srcRect r="49081"/>
          <a:stretch/>
        </p:blipFill>
        <p:spPr>
          <a:xfrm>
            <a:off x="6597807" y="4114800"/>
            <a:ext cx="2341280" cy="2317127"/>
          </a:xfrm>
          <a:prstGeom prst="rect">
            <a:avLst/>
          </a:prstGeom>
        </p:spPr>
      </p:pic>
    </p:spTree>
    <p:extLst>
      <p:ext uri="{BB962C8B-B14F-4D97-AF65-F5344CB8AC3E}">
        <p14:creationId xmlns:p14="http://schemas.microsoft.com/office/powerpoint/2010/main" val="26394229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D79C458-1D52-AFDF-E6AC-9BB82B8B83FF}"/>
              </a:ext>
            </a:extLst>
          </p:cNvPr>
          <p:cNvSpPr txBox="1">
            <a:spLocks/>
          </p:cNvSpPr>
          <p:nvPr/>
        </p:nvSpPr>
        <p:spPr>
          <a:xfrm>
            <a:off x="457200" y="704088"/>
            <a:ext cx="8229600" cy="1143000"/>
          </a:xfrm>
          <a:prstGeom prst="rect">
            <a:avLst/>
          </a:prstGeom>
        </p:spPr>
        <p:txBody>
          <a:bodyPr/>
          <a:lstStyle>
            <a:lvl1pPr>
              <a:defRPr>
                <a:latin typeface="+mj-lt"/>
                <a:ea typeface="+mj-ea"/>
                <a:cs typeface="+mj-cs"/>
              </a:defRPr>
            </a:lvl1pPr>
          </a:lstStyle>
          <a:p>
            <a:r>
              <a:rPr lang="en-US" sz="3200" b="1" dirty="0">
                <a:solidFill>
                  <a:srgbClr val="00B050"/>
                </a:solidFill>
              </a:rPr>
              <a:t>Matrices of Relations on Sets</a:t>
            </a:r>
          </a:p>
        </p:txBody>
      </p:sp>
      <p:pic>
        <p:nvPicPr>
          <p:cNvPr id="9" name="Content Placeholder 5" descr="0804.jpg">
            <a:extLst>
              <a:ext uri="{FF2B5EF4-FFF2-40B4-BE49-F238E27FC236}">
                <a16:creationId xmlns:a16="http://schemas.microsoft.com/office/drawing/2014/main" id="{0DD54CA0-F888-926E-2EC2-26675FF89835}"/>
              </a:ext>
            </a:extLst>
          </p:cNvPr>
          <p:cNvPicPr>
            <a:picLocks noChangeAspect="1"/>
          </p:cNvPicPr>
          <p:nvPr/>
        </p:nvPicPr>
        <p:blipFill rotWithShape="1">
          <a:blip r:embed="rId2" cstate="print"/>
          <a:srcRect l="52756"/>
          <a:stretch/>
        </p:blipFill>
        <p:spPr>
          <a:xfrm>
            <a:off x="3200400" y="4114800"/>
            <a:ext cx="2428883" cy="2590800"/>
          </a:xfrm>
          <a:prstGeom prst="rect">
            <a:avLst/>
          </a:prstGeom>
        </p:spPr>
      </p:pic>
      <p:sp>
        <p:nvSpPr>
          <p:cNvPr id="3" name="Rectangle 2">
            <a:extLst>
              <a:ext uri="{FF2B5EF4-FFF2-40B4-BE49-F238E27FC236}">
                <a16:creationId xmlns:a16="http://schemas.microsoft.com/office/drawing/2014/main" id="{512EBCBA-3916-2D9A-7974-A1FE59F0056A}"/>
              </a:ext>
            </a:extLst>
          </p:cNvPr>
          <p:cNvSpPr>
            <a:spLocks noChangeArrowheads="1"/>
          </p:cNvSpPr>
          <p:nvPr/>
        </p:nvSpPr>
        <p:spPr bwMode="auto">
          <a:xfrm>
            <a:off x="414807" y="1275588"/>
            <a:ext cx="7543800"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2" algn="l" rtl="0" eaLnBrk="0" fontAlgn="base" hangingPunct="0">
              <a:spcBef>
                <a:spcPct val="0"/>
              </a:spcBef>
              <a:spcAft>
                <a:spcPct val="0"/>
              </a:spcAft>
            </a:pPr>
            <a:r>
              <a:rPr kumimoji="0" lang="en-US" altLang="en-US" sz="2800" b="0" i="0" u="none" strike="noStrike" cap="none" normalizeH="0" baseline="0" dirty="0">
                <a:ln>
                  <a:noFill/>
                </a:ln>
                <a:solidFill>
                  <a:srgbClr val="002060"/>
                </a:solidFill>
                <a:effectLst/>
                <a:latin typeface="+mn-lt"/>
              </a:rPr>
              <a:t>The </a:t>
            </a:r>
            <a:r>
              <a:rPr kumimoji="0" lang="en-US" altLang="en-US" sz="2800" b="1" i="0" u="none" strike="noStrike" cap="none" normalizeH="0" baseline="0" dirty="0">
                <a:ln>
                  <a:noFill/>
                </a:ln>
                <a:solidFill>
                  <a:srgbClr val="002060"/>
                </a:solidFill>
                <a:effectLst/>
                <a:latin typeface="+mn-lt"/>
              </a:rPr>
              <a:t>matrix of an antisymmetric relation</a:t>
            </a:r>
            <a:r>
              <a:rPr kumimoji="0" lang="en-US" altLang="en-US" sz="2800" b="0" i="0" u="none" strike="noStrike" cap="none" normalizeH="0" baseline="0" dirty="0">
                <a:ln>
                  <a:noFill/>
                </a:ln>
                <a:solidFill>
                  <a:srgbClr val="002060"/>
                </a:solidFill>
                <a:effectLst/>
                <a:latin typeface="+mn-lt"/>
              </a:rPr>
              <a:t> has the property that if 𝑚</a:t>
            </a:r>
            <a:r>
              <a:rPr kumimoji="0" lang="en-US" altLang="en-US" sz="2000" b="0" i="0" u="none" strike="noStrike" cap="none" normalizeH="0" baseline="0" dirty="0">
                <a:ln>
                  <a:noFill/>
                </a:ln>
                <a:solidFill>
                  <a:srgbClr val="002060"/>
                </a:solidFill>
                <a:effectLst/>
                <a:latin typeface="+mn-lt"/>
              </a:rPr>
              <a:t>𝑖𝑗</a:t>
            </a:r>
            <a:r>
              <a:rPr kumimoji="0" lang="en-US" altLang="en-US" sz="2800" b="0" i="0" u="none" strike="noStrike" cap="none" normalizeH="0" baseline="0" dirty="0">
                <a:ln>
                  <a:noFill/>
                </a:ln>
                <a:solidFill>
                  <a:srgbClr val="002060"/>
                </a:solidFill>
                <a:effectLst/>
                <a:latin typeface="+mn-lt"/>
              </a:rPr>
              <a:t>=1 with 𝑖≠𝑗, then 𝑚</a:t>
            </a:r>
            <a:r>
              <a:rPr kumimoji="0" lang="en-US" altLang="en-US" sz="2000" b="0" i="0" u="none" strike="noStrike" cap="none" normalizeH="0" baseline="0" dirty="0">
                <a:ln>
                  <a:noFill/>
                </a:ln>
                <a:solidFill>
                  <a:srgbClr val="002060"/>
                </a:solidFill>
                <a:effectLst/>
                <a:latin typeface="+mn-lt"/>
              </a:rPr>
              <a:t>𝑗𝑖</a:t>
            </a:r>
            <a:r>
              <a:rPr kumimoji="0" lang="en-US" altLang="en-US" sz="2800" b="0" i="0" u="none" strike="noStrike" cap="none" normalizeH="0" baseline="0" dirty="0">
                <a:ln>
                  <a:noFill/>
                </a:ln>
                <a:solidFill>
                  <a:srgbClr val="002060"/>
                </a:solidFill>
                <a:effectLst/>
                <a:latin typeface="+mn-lt"/>
              </a:rPr>
              <a:t>=0	​</a:t>
            </a:r>
            <a:endParaRPr lang="en-US" altLang="en-US" sz="2800" dirty="0">
              <a:solidFill>
                <a:srgbClr val="0070C0"/>
              </a:solidFill>
              <a:latin typeface="+mn-lt"/>
            </a:endParaRPr>
          </a:p>
          <a:p>
            <a:pPr lvl="2" algn="l" rtl="0" eaLnBrk="0" fontAlgn="base" hangingPunct="0">
              <a:spcBef>
                <a:spcPct val="0"/>
              </a:spcBef>
              <a:spcAft>
                <a:spcPct val="0"/>
              </a:spcAft>
            </a:pPr>
            <a:r>
              <a:rPr kumimoji="0" lang="en-US" altLang="en-US" sz="2800" b="0" i="0" u="none" strike="noStrike" cap="none" normalizeH="0" baseline="0" dirty="0">
                <a:ln>
                  <a:noFill/>
                </a:ln>
                <a:solidFill>
                  <a:srgbClr val="7030A0"/>
                </a:solidFill>
                <a:effectLst/>
                <a:latin typeface="+mn-lt"/>
              </a:rPr>
              <a:t>OR Either 𝑚</a:t>
            </a:r>
            <a:r>
              <a:rPr kumimoji="0" lang="en-US" altLang="en-US" sz="2000" b="0" i="0" u="none" strike="noStrike" cap="none" normalizeH="0" baseline="0" dirty="0">
                <a:ln>
                  <a:noFill/>
                </a:ln>
                <a:solidFill>
                  <a:srgbClr val="7030A0"/>
                </a:solidFill>
                <a:effectLst/>
                <a:latin typeface="+mn-lt"/>
              </a:rPr>
              <a:t>𝑖𝑗</a:t>
            </a:r>
            <a:r>
              <a:rPr kumimoji="0" lang="en-US" altLang="en-US" sz="2800" b="0" i="0" u="none" strike="noStrike" cap="none" normalizeH="0" baseline="0" dirty="0">
                <a:ln>
                  <a:noFill/>
                </a:ln>
                <a:solidFill>
                  <a:srgbClr val="7030A0"/>
                </a:solidFill>
                <a:effectLst/>
                <a:latin typeface="+mn-lt"/>
              </a:rPr>
              <a:t>=0 or 𝑚</a:t>
            </a:r>
            <a:r>
              <a:rPr kumimoji="0" lang="en-US" altLang="en-US" sz="2000" b="0" i="0" u="none" strike="noStrike" cap="none" normalizeH="0" baseline="0" dirty="0">
                <a:ln>
                  <a:noFill/>
                </a:ln>
                <a:solidFill>
                  <a:srgbClr val="7030A0"/>
                </a:solidFill>
                <a:effectLst/>
                <a:latin typeface="+mn-lt"/>
              </a:rPr>
              <a:t>𝑗𝑖</a:t>
            </a:r>
            <a:r>
              <a:rPr kumimoji="0" lang="en-US" altLang="en-US" sz="2800" b="0" i="0" u="none" strike="noStrike" cap="none" normalizeH="0" baseline="0" dirty="0">
                <a:ln>
                  <a:noFill/>
                </a:ln>
                <a:solidFill>
                  <a:srgbClr val="7030A0"/>
                </a:solidFill>
                <a:effectLst/>
                <a:latin typeface="+mn-lt"/>
              </a:rPr>
              <a:t>=0 when 𝑖≠𝑗</a:t>
            </a:r>
          </a:p>
          <a:p>
            <a:pPr lvl="2" algn="l" rtl="0" eaLnBrk="0" fontAlgn="base" hangingPunct="0">
              <a:spcBef>
                <a:spcPct val="0"/>
              </a:spcBef>
              <a:spcAft>
                <a:spcPct val="0"/>
              </a:spcAft>
            </a:pPr>
            <a:endParaRPr lang="en-US" altLang="en-US" sz="2800" dirty="0">
              <a:solidFill>
                <a:srgbClr val="7030A0"/>
              </a:solidFill>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CC0066"/>
                </a:solidFill>
                <a:effectLst/>
                <a:latin typeface="+mn-lt"/>
              </a:rPr>
              <a:t>In other words: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rgbClr val="CC0066"/>
                </a:solidFill>
                <a:effectLst/>
                <a:latin typeface="+mn-lt"/>
              </a:rPr>
              <a:t>If </a:t>
            </a:r>
            <a:r>
              <a:rPr kumimoji="0" lang="en-US" altLang="en-US" sz="2800" b="0" i="0" u="none" strike="noStrike" cap="none" normalizeH="0" baseline="0" dirty="0" err="1">
                <a:ln>
                  <a:noFill/>
                </a:ln>
                <a:solidFill>
                  <a:srgbClr val="CC0066"/>
                </a:solidFill>
                <a:effectLst/>
                <a:latin typeface="+mn-lt"/>
              </a:rPr>
              <a:t>i</a:t>
            </a:r>
            <a:r>
              <a:rPr kumimoji="0" lang="en-US" altLang="en-US" sz="2800" b="0" i="0" u="none" strike="noStrike" cap="none" normalizeH="0" baseline="0" dirty="0">
                <a:ln>
                  <a:noFill/>
                </a:ln>
                <a:solidFill>
                  <a:srgbClr val="CC0066"/>
                </a:solidFill>
                <a:effectLst/>
                <a:latin typeface="+mn-lt"/>
              </a:rPr>
              <a:t> ≠ j, at least </a:t>
            </a:r>
            <a:r>
              <a:rPr kumimoji="0" lang="en-US" altLang="en-US" sz="2800" b="1" i="0" u="none" strike="noStrike" cap="none" normalizeH="0" baseline="0" dirty="0">
                <a:ln>
                  <a:noFill/>
                </a:ln>
                <a:solidFill>
                  <a:srgbClr val="CC0066"/>
                </a:solidFill>
                <a:effectLst/>
                <a:latin typeface="+mn-lt"/>
              </a:rPr>
              <a:t>one of the two entries must be 0</a:t>
            </a:r>
            <a:r>
              <a:rPr kumimoji="0" lang="en-US" altLang="en-US" sz="2800" b="0" i="0" u="none" strike="noStrike" cap="none" normalizeH="0" baseline="0" dirty="0">
                <a:ln>
                  <a:noFill/>
                </a:ln>
                <a:solidFill>
                  <a:srgbClr val="CC0066"/>
                </a:solidFill>
                <a:effectLst/>
                <a:latin typeface="+mn-lt"/>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mn-lt"/>
            </a:endParaRPr>
          </a:p>
        </p:txBody>
      </p:sp>
    </p:spTree>
    <p:extLst>
      <p:ext uri="{BB962C8B-B14F-4D97-AF65-F5344CB8AC3E}">
        <p14:creationId xmlns:p14="http://schemas.microsoft.com/office/powerpoint/2010/main" val="14086248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D79C458-1D52-AFDF-E6AC-9BB82B8B83FF}"/>
              </a:ext>
            </a:extLst>
          </p:cNvPr>
          <p:cNvSpPr txBox="1">
            <a:spLocks/>
          </p:cNvSpPr>
          <p:nvPr/>
        </p:nvSpPr>
        <p:spPr>
          <a:xfrm>
            <a:off x="457200" y="704088"/>
            <a:ext cx="8229600" cy="1143000"/>
          </a:xfrm>
          <a:prstGeom prst="rect">
            <a:avLst/>
          </a:prstGeom>
        </p:spPr>
        <p:txBody>
          <a:bodyPr/>
          <a:lstStyle>
            <a:lvl1pPr>
              <a:defRPr>
                <a:latin typeface="+mj-lt"/>
                <a:ea typeface="+mj-ea"/>
                <a:cs typeface="+mj-cs"/>
              </a:defRPr>
            </a:lvl1pPr>
          </a:lstStyle>
          <a:p>
            <a:r>
              <a:rPr lang="en-US" sz="3200" b="1" dirty="0">
                <a:solidFill>
                  <a:srgbClr val="00B050"/>
                </a:solidFill>
              </a:rPr>
              <a:t>Matrices of Relations on Sets</a:t>
            </a:r>
          </a:p>
        </p:txBody>
      </p:sp>
      <p:sp>
        <p:nvSpPr>
          <p:cNvPr id="3" name="Rectangle 2">
            <a:extLst>
              <a:ext uri="{FF2B5EF4-FFF2-40B4-BE49-F238E27FC236}">
                <a16:creationId xmlns:a16="http://schemas.microsoft.com/office/drawing/2014/main" id="{512EBCBA-3916-2D9A-7974-A1FE59F0056A}"/>
              </a:ext>
            </a:extLst>
          </p:cNvPr>
          <p:cNvSpPr>
            <a:spLocks noChangeArrowheads="1"/>
          </p:cNvSpPr>
          <p:nvPr/>
        </p:nvSpPr>
        <p:spPr bwMode="auto">
          <a:xfrm>
            <a:off x="467032" y="1504501"/>
            <a:ext cx="7543800"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2" algn="l" rtl="0" eaLnBrk="0" fontAlgn="base" hangingPunct="0">
              <a:spcBef>
                <a:spcPct val="0"/>
              </a:spcBef>
              <a:spcAft>
                <a:spcPct val="0"/>
              </a:spcAft>
            </a:pPr>
            <a:r>
              <a:rPr lang="en-US" sz="2800" dirty="0">
                <a:solidFill>
                  <a:srgbClr val="002060"/>
                </a:solidFill>
              </a:rPr>
              <a:t>Suppose that the relation R on a set is represented by the matrix </a:t>
            </a:r>
          </a:p>
          <a:p>
            <a:pPr lvl="2" algn="l" rtl="0" eaLnBrk="0" fontAlgn="base" hangingPunct="0">
              <a:spcBef>
                <a:spcPct val="0"/>
              </a:spcBef>
              <a:spcAft>
                <a:spcPct val="0"/>
              </a:spcAft>
            </a:pPr>
            <a:endParaRPr lang="en-US" sz="2800" dirty="0">
              <a:solidFill>
                <a:srgbClr val="002060"/>
              </a:solidFill>
            </a:endParaRPr>
          </a:p>
          <a:p>
            <a:pPr lvl="2" algn="l" rtl="0" eaLnBrk="0" fontAlgn="base" hangingPunct="0">
              <a:spcBef>
                <a:spcPct val="0"/>
              </a:spcBef>
              <a:spcAft>
                <a:spcPct val="0"/>
              </a:spcAft>
            </a:pPr>
            <a:endParaRPr lang="en-US" sz="2800" dirty="0">
              <a:solidFill>
                <a:srgbClr val="002060"/>
              </a:solidFill>
            </a:endParaRPr>
          </a:p>
          <a:p>
            <a:pPr lvl="2" algn="l" rtl="0" eaLnBrk="0" fontAlgn="base" hangingPunct="0">
              <a:spcBef>
                <a:spcPct val="0"/>
              </a:spcBef>
              <a:spcAft>
                <a:spcPct val="0"/>
              </a:spcAft>
            </a:pPr>
            <a:endParaRPr lang="en-US" sz="2800" dirty="0">
              <a:solidFill>
                <a:srgbClr val="002060"/>
              </a:solidFill>
            </a:endParaRPr>
          </a:p>
          <a:p>
            <a:pPr lvl="2" algn="l" rtl="0" eaLnBrk="0" fontAlgn="base" hangingPunct="0">
              <a:spcBef>
                <a:spcPct val="0"/>
              </a:spcBef>
              <a:spcAft>
                <a:spcPct val="0"/>
              </a:spcAft>
            </a:pPr>
            <a:endParaRPr lang="en-US" sz="2800" dirty="0">
              <a:solidFill>
                <a:srgbClr val="002060"/>
              </a:solidFill>
            </a:endParaRPr>
          </a:p>
          <a:p>
            <a:pPr lvl="2" algn="l" rtl="0" eaLnBrk="0" fontAlgn="base" hangingPunct="0">
              <a:spcBef>
                <a:spcPct val="0"/>
              </a:spcBef>
              <a:spcAft>
                <a:spcPct val="0"/>
              </a:spcAft>
            </a:pPr>
            <a:r>
              <a:rPr lang="en-US" sz="2800" dirty="0">
                <a:solidFill>
                  <a:srgbClr val="002060"/>
                </a:solidFill>
              </a:rPr>
              <a:t>Is R reflexive, symmetric, and/or antisymmetric?</a:t>
            </a:r>
            <a:endParaRPr kumimoji="0" lang="en-US" altLang="en-US" sz="2800" b="0" i="0" u="none" strike="noStrike" cap="none" normalizeH="0" baseline="0" dirty="0">
              <a:ln>
                <a:noFill/>
              </a:ln>
              <a:solidFill>
                <a:srgbClr val="002060"/>
              </a:solidFill>
              <a:effectLst/>
              <a:latin typeface="+mn-lt"/>
            </a:endParaRPr>
          </a:p>
        </p:txBody>
      </p:sp>
      <p:pic>
        <p:nvPicPr>
          <p:cNvPr id="4" name="Picture 3">
            <a:extLst>
              <a:ext uri="{FF2B5EF4-FFF2-40B4-BE49-F238E27FC236}">
                <a16:creationId xmlns:a16="http://schemas.microsoft.com/office/drawing/2014/main" id="{0BAF920D-57B1-DE8E-371C-099D99893775}"/>
              </a:ext>
            </a:extLst>
          </p:cNvPr>
          <p:cNvPicPr>
            <a:picLocks noChangeAspect="1"/>
          </p:cNvPicPr>
          <p:nvPr/>
        </p:nvPicPr>
        <p:blipFill>
          <a:blip r:embed="rId2"/>
          <a:stretch>
            <a:fillRect/>
          </a:stretch>
        </p:blipFill>
        <p:spPr>
          <a:xfrm>
            <a:off x="2438400" y="2418588"/>
            <a:ext cx="3576807" cy="1711256"/>
          </a:xfrm>
          <a:prstGeom prst="rect">
            <a:avLst/>
          </a:prstGeom>
        </p:spPr>
      </p:pic>
      <p:sp>
        <p:nvSpPr>
          <p:cNvPr id="5" name="TextBox 4">
            <a:extLst>
              <a:ext uri="{FF2B5EF4-FFF2-40B4-BE49-F238E27FC236}">
                <a16:creationId xmlns:a16="http://schemas.microsoft.com/office/drawing/2014/main" id="{C8B0D75C-2980-49F2-8EEE-EB4A6415B075}"/>
              </a:ext>
            </a:extLst>
          </p:cNvPr>
          <p:cNvSpPr txBox="1"/>
          <p:nvPr/>
        </p:nvSpPr>
        <p:spPr>
          <a:xfrm>
            <a:off x="439994" y="5043931"/>
            <a:ext cx="8001000" cy="1200329"/>
          </a:xfrm>
          <a:prstGeom prst="rect">
            <a:avLst/>
          </a:prstGeom>
          <a:noFill/>
        </p:spPr>
        <p:txBody>
          <a:bodyPr wrap="square">
            <a:spAutoFit/>
          </a:bodyPr>
          <a:lstStyle/>
          <a:p>
            <a:r>
              <a:rPr lang="en-US" b="1" dirty="0"/>
              <a:t>Solution: </a:t>
            </a:r>
          </a:p>
          <a:p>
            <a:r>
              <a:rPr lang="en-US" b="1" dirty="0">
                <a:solidFill>
                  <a:srgbClr val="7030A0"/>
                </a:solidFill>
              </a:rPr>
              <a:t>Because all the diagonal elements are equal to 1, R is reflexive. </a:t>
            </a:r>
          </a:p>
          <a:p>
            <a:r>
              <a:rPr lang="en-US" b="1" dirty="0">
                <a:solidFill>
                  <a:srgbClr val="0070C0"/>
                </a:solidFill>
              </a:rPr>
              <a:t>Because M</a:t>
            </a:r>
            <a:r>
              <a:rPr lang="en-US" sz="1400" b="1" dirty="0">
                <a:solidFill>
                  <a:srgbClr val="0070C0"/>
                </a:solidFill>
              </a:rPr>
              <a:t>R</a:t>
            </a:r>
            <a:r>
              <a:rPr lang="en-US" b="1" dirty="0">
                <a:solidFill>
                  <a:srgbClr val="0070C0"/>
                </a:solidFill>
              </a:rPr>
              <a:t> is symmetric, R is symmetric </a:t>
            </a:r>
            <a:r>
              <a:rPr lang="en-US" dirty="0"/>
              <a:t>and </a:t>
            </a:r>
            <a:r>
              <a:rPr lang="en-US" b="1" dirty="0">
                <a:solidFill>
                  <a:srgbClr val="00B050"/>
                </a:solidFill>
              </a:rPr>
              <a:t>not antisymmetric because both m</a:t>
            </a:r>
            <a:r>
              <a:rPr lang="en-US" sz="1400" b="1" dirty="0">
                <a:solidFill>
                  <a:srgbClr val="00B050"/>
                </a:solidFill>
              </a:rPr>
              <a:t>1,2</a:t>
            </a:r>
            <a:r>
              <a:rPr lang="en-US" b="1" dirty="0">
                <a:solidFill>
                  <a:srgbClr val="00B050"/>
                </a:solidFill>
              </a:rPr>
              <a:t> and m</a:t>
            </a:r>
            <a:r>
              <a:rPr lang="en-US" sz="1400" b="1" dirty="0">
                <a:solidFill>
                  <a:srgbClr val="00B050"/>
                </a:solidFill>
              </a:rPr>
              <a:t>2,1 </a:t>
            </a:r>
            <a:r>
              <a:rPr lang="en-US" b="1" dirty="0">
                <a:solidFill>
                  <a:srgbClr val="00B050"/>
                </a:solidFill>
              </a:rPr>
              <a:t>are 1. </a:t>
            </a:r>
          </a:p>
        </p:txBody>
      </p:sp>
    </p:spTree>
    <p:extLst>
      <p:ext uri="{BB962C8B-B14F-4D97-AF65-F5344CB8AC3E}">
        <p14:creationId xmlns:p14="http://schemas.microsoft.com/office/powerpoint/2010/main" val="2442736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D1E2820B-BB96-57FE-F702-4449B0F1276A}"/>
              </a:ext>
            </a:extLst>
          </p:cNvPr>
          <p:cNvSpPr txBox="1">
            <a:spLocks/>
          </p:cNvSpPr>
          <p:nvPr/>
        </p:nvSpPr>
        <p:spPr>
          <a:xfrm>
            <a:off x="304800" y="152400"/>
            <a:ext cx="6456680" cy="997709"/>
          </a:xfrm>
          <a:prstGeom prst="rect">
            <a:avLst/>
          </a:prstGeom>
        </p:spPr>
        <p:txBody>
          <a:bodyPr vert="horz" wrap="square" lIns="0" tIns="12700" rIns="0" bIns="0" rtlCol="0">
            <a:spAutoFit/>
          </a:bodyPr>
          <a:lstStyle>
            <a:lvl1pPr>
              <a:defRPr>
                <a:latin typeface="+mj-lt"/>
                <a:ea typeface="+mj-ea"/>
                <a:cs typeface="+mj-cs"/>
              </a:defRPr>
            </a:lvl1pPr>
          </a:lstStyle>
          <a:p>
            <a:pPr marL="1083310" marR="5080" indent="-1070610">
              <a:spcBef>
                <a:spcPts val="100"/>
              </a:spcBef>
            </a:pPr>
            <a:r>
              <a:rPr lang="en-US" sz="3200" b="1" dirty="0">
                <a:solidFill>
                  <a:srgbClr val="00B050"/>
                </a:solidFill>
              </a:rPr>
              <a:t>REPRESENTING</a:t>
            </a:r>
            <a:r>
              <a:rPr lang="en-US" sz="3200" b="1" spc="-60" dirty="0">
                <a:solidFill>
                  <a:srgbClr val="00B050"/>
                </a:solidFill>
              </a:rPr>
              <a:t> </a:t>
            </a:r>
            <a:r>
              <a:rPr lang="en-US" sz="3200" b="1" spc="-45" dirty="0">
                <a:solidFill>
                  <a:srgbClr val="00B050"/>
                </a:solidFill>
              </a:rPr>
              <a:t>RELATIONS </a:t>
            </a:r>
            <a:r>
              <a:rPr lang="en-US" sz="3200" b="1" dirty="0">
                <a:solidFill>
                  <a:srgbClr val="00B050"/>
                </a:solidFill>
              </a:rPr>
              <a:t>USING</a:t>
            </a:r>
            <a:r>
              <a:rPr lang="en-US" sz="3200" b="1" spc="-25" dirty="0">
                <a:solidFill>
                  <a:srgbClr val="00B050"/>
                </a:solidFill>
              </a:rPr>
              <a:t> </a:t>
            </a:r>
            <a:r>
              <a:rPr lang="en-US" sz="3200" b="1" spc="-10" dirty="0">
                <a:solidFill>
                  <a:srgbClr val="00B050"/>
                </a:solidFill>
              </a:rPr>
              <a:t>Directed Graph (Digraph)</a:t>
            </a:r>
          </a:p>
        </p:txBody>
      </p:sp>
      <p:sp>
        <p:nvSpPr>
          <p:cNvPr id="3" name="Rectangle 1">
            <a:extLst>
              <a:ext uri="{FF2B5EF4-FFF2-40B4-BE49-F238E27FC236}">
                <a16:creationId xmlns:a16="http://schemas.microsoft.com/office/drawing/2014/main" id="{0193C32C-AF3D-18D8-2F3C-3D1D4961E874}"/>
              </a:ext>
            </a:extLst>
          </p:cNvPr>
          <p:cNvSpPr>
            <a:spLocks noChangeArrowheads="1"/>
          </p:cNvSpPr>
          <p:nvPr/>
        </p:nvSpPr>
        <p:spPr bwMode="auto">
          <a:xfrm>
            <a:off x="304800" y="1443841"/>
            <a:ext cx="8382000" cy="3970318"/>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rgbClr val="CC0066"/>
                </a:solidFill>
                <a:effectLst/>
                <a:latin typeface="+mn-lt"/>
              </a:rPr>
              <a:t>A </a:t>
            </a:r>
            <a:r>
              <a:rPr kumimoji="0" lang="en-US" altLang="en-US" sz="2800" b="1" i="0" u="none" strike="noStrike" cap="none" normalizeH="0" baseline="0" dirty="0">
                <a:ln>
                  <a:noFill/>
                </a:ln>
                <a:solidFill>
                  <a:srgbClr val="CC0066"/>
                </a:solidFill>
                <a:effectLst/>
                <a:latin typeface="+mn-lt"/>
              </a:rPr>
              <a:t>directed graph</a:t>
            </a:r>
            <a:r>
              <a:rPr kumimoji="0" lang="en-US" altLang="en-US" sz="2800" b="0" i="0" u="none" strike="noStrike" cap="none" normalizeH="0" baseline="0" dirty="0">
                <a:ln>
                  <a:noFill/>
                </a:ln>
                <a:solidFill>
                  <a:srgbClr val="CC0066"/>
                </a:solidFill>
                <a:effectLst/>
                <a:latin typeface="+mn-lt"/>
              </a:rPr>
              <a:t> (or </a:t>
            </a:r>
            <a:r>
              <a:rPr kumimoji="0" lang="en-US" altLang="en-US" sz="2800" b="1" i="0" u="none" strike="noStrike" cap="none" normalizeH="0" baseline="0" dirty="0">
                <a:ln>
                  <a:noFill/>
                </a:ln>
                <a:solidFill>
                  <a:srgbClr val="CC0066"/>
                </a:solidFill>
                <a:effectLst/>
                <a:latin typeface="+mn-lt"/>
              </a:rPr>
              <a:t>digraph</a:t>
            </a:r>
            <a:r>
              <a:rPr kumimoji="0" lang="en-US" altLang="en-US" sz="2800" b="0" i="0" u="none" strike="noStrike" cap="none" normalizeH="0" baseline="0" dirty="0">
                <a:ln>
                  <a:noFill/>
                </a:ln>
                <a:solidFill>
                  <a:srgbClr val="CC0066"/>
                </a:solidFill>
                <a:effectLst/>
                <a:latin typeface="+mn-lt"/>
              </a:rPr>
              <a:t>) has:</a:t>
            </a:r>
          </a:p>
          <a:p>
            <a:pPr marL="457200" lvl="8" indent="-457200" algn="l" rtl="0" eaLnBrk="0" fontAlgn="base" hangingPunct="0">
              <a:spcBef>
                <a:spcPct val="0"/>
              </a:spcBef>
              <a:spcAft>
                <a:spcPct val="0"/>
              </a:spcAft>
              <a:buFont typeface="Courier New" panose="02070309020205020404" pitchFamily="49" charset="0"/>
              <a:buChar char="o"/>
            </a:pPr>
            <a:r>
              <a:rPr kumimoji="0" lang="en-US" altLang="en-US" sz="2800" b="0" i="0" u="none" strike="noStrike" cap="none" normalizeH="0" baseline="0" dirty="0">
                <a:ln>
                  <a:noFill/>
                </a:ln>
                <a:solidFill>
                  <a:srgbClr val="CC0066"/>
                </a:solidFill>
                <a:effectLst/>
                <a:latin typeface="+mn-lt"/>
              </a:rPr>
              <a:t>A set of </a:t>
            </a:r>
            <a:r>
              <a:rPr kumimoji="0" lang="en-US" altLang="en-US" sz="2800" b="1" i="0" u="none" strike="noStrike" cap="none" normalizeH="0" baseline="0" dirty="0">
                <a:ln>
                  <a:noFill/>
                </a:ln>
                <a:solidFill>
                  <a:srgbClr val="CC0066"/>
                </a:solidFill>
                <a:effectLst/>
                <a:latin typeface="+mn-lt"/>
              </a:rPr>
              <a:t>vertices</a:t>
            </a:r>
            <a:r>
              <a:rPr kumimoji="0" lang="en-US" altLang="en-US" sz="2800" b="0" i="0" u="none" strike="noStrike" cap="none" normalizeH="0" baseline="0" dirty="0">
                <a:ln>
                  <a:noFill/>
                </a:ln>
                <a:solidFill>
                  <a:srgbClr val="CC0066"/>
                </a:solidFill>
                <a:effectLst/>
                <a:latin typeface="+mn-lt"/>
              </a:rPr>
              <a:t> (points or nodes) called </a:t>
            </a:r>
            <a:r>
              <a:rPr kumimoji="0" lang="en-US" altLang="en-US" sz="2800" b="1" i="0" u="none" strike="noStrike" cap="none" normalizeH="0" baseline="0" dirty="0">
                <a:ln>
                  <a:noFill/>
                </a:ln>
                <a:solidFill>
                  <a:srgbClr val="CC0066"/>
                </a:solidFill>
                <a:effectLst/>
                <a:latin typeface="+mn-lt"/>
              </a:rPr>
              <a:t>V</a:t>
            </a:r>
            <a:r>
              <a:rPr kumimoji="0" lang="en-US" altLang="en-US" sz="2800" b="0" i="0" u="none" strike="noStrike" cap="none" normalizeH="0" baseline="0" dirty="0">
                <a:ln>
                  <a:noFill/>
                </a:ln>
                <a:solidFill>
                  <a:srgbClr val="CC0066"/>
                </a:solidFill>
                <a:effectLst/>
                <a:latin typeface="+mn-lt"/>
              </a:rPr>
              <a:t>.</a:t>
            </a:r>
          </a:p>
          <a:p>
            <a:pPr marL="457200" lvl="8" indent="-457200" algn="l" rtl="0" eaLnBrk="0" fontAlgn="base" hangingPunct="0">
              <a:spcBef>
                <a:spcPct val="0"/>
              </a:spcBef>
              <a:spcAft>
                <a:spcPct val="0"/>
              </a:spcAft>
              <a:buFont typeface="Courier New" panose="02070309020205020404" pitchFamily="49" charset="0"/>
              <a:buChar char="o"/>
            </a:pPr>
            <a:r>
              <a:rPr kumimoji="0" lang="en-US" altLang="en-US" sz="2800" b="0" i="0" u="none" strike="noStrike" cap="none" normalizeH="0" baseline="0" dirty="0">
                <a:ln>
                  <a:noFill/>
                </a:ln>
                <a:solidFill>
                  <a:srgbClr val="CC0066"/>
                </a:solidFill>
                <a:effectLst/>
                <a:latin typeface="+mn-lt"/>
              </a:rPr>
              <a:t>A set of </a:t>
            </a:r>
            <a:r>
              <a:rPr kumimoji="0" lang="en-US" altLang="en-US" sz="2800" b="1" i="0" u="none" strike="noStrike" cap="none" normalizeH="0" baseline="0" dirty="0">
                <a:ln>
                  <a:noFill/>
                </a:ln>
                <a:solidFill>
                  <a:srgbClr val="CC0066"/>
                </a:solidFill>
                <a:effectLst/>
                <a:latin typeface="+mn-lt"/>
              </a:rPr>
              <a:t>edges</a:t>
            </a:r>
            <a:r>
              <a:rPr kumimoji="0" lang="en-US" altLang="en-US" sz="2800" b="0" i="0" u="none" strike="noStrike" cap="none" normalizeH="0" baseline="0" dirty="0">
                <a:ln>
                  <a:noFill/>
                </a:ln>
                <a:solidFill>
                  <a:srgbClr val="CC0066"/>
                </a:solidFill>
                <a:effectLst/>
                <a:latin typeface="+mn-lt"/>
              </a:rPr>
              <a:t> (arrows) called </a:t>
            </a:r>
            <a:r>
              <a:rPr kumimoji="0" lang="en-US" altLang="en-US" sz="2800" b="1" i="0" u="none" strike="noStrike" cap="none" normalizeH="0" baseline="0" dirty="0">
                <a:ln>
                  <a:noFill/>
                </a:ln>
                <a:solidFill>
                  <a:srgbClr val="CC0066"/>
                </a:solidFill>
                <a:effectLst/>
                <a:latin typeface="+mn-lt"/>
              </a:rPr>
              <a:t>E</a:t>
            </a:r>
            <a:r>
              <a:rPr kumimoji="0" lang="en-US" altLang="en-US" sz="2800" b="0" i="0" u="none" strike="noStrike" cap="none" normalizeH="0" baseline="0" dirty="0">
                <a:ln>
                  <a:noFill/>
                </a:ln>
                <a:solidFill>
                  <a:srgbClr val="CC0066"/>
                </a:solidFill>
                <a:effectLst/>
                <a:latin typeface="+mn-l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rgbClr val="002060"/>
                </a:solidFill>
                <a:effectLst/>
                <a:latin typeface="+mn-lt"/>
              </a:rPr>
              <a:t>Each edge is an </a:t>
            </a:r>
            <a:r>
              <a:rPr kumimoji="0" lang="en-US" altLang="en-US" sz="2800" b="1" i="0" u="none" strike="noStrike" cap="none" normalizeH="0" baseline="0" dirty="0">
                <a:ln>
                  <a:noFill/>
                </a:ln>
                <a:solidFill>
                  <a:srgbClr val="002060"/>
                </a:solidFill>
                <a:effectLst/>
                <a:latin typeface="+mn-lt"/>
              </a:rPr>
              <a:t>ordered pair</a:t>
            </a:r>
            <a:r>
              <a:rPr kumimoji="0" lang="en-US" altLang="en-US" sz="2800" b="0" i="0" u="none" strike="noStrike" cap="none" normalizeH="0" baseline="0" dirty="0">
                <a:ln>
                  <a:noFill/>
                </a:ln>
                <a:solidFill>
                  <a:srgbClr val="002060"/>
                </a:solidFill>
                <a:effectLst/>
                <a:latin typeface="+mn-lt"/>
              </a:rPr>
              <a:t> like (a, b), meaning an arrow from </a:t>
            </a:r>
            <a:r>
              <a:rPr kumimoji="0" lang="en-US" altLang="en-US" sz="2800" b="1" i="0" u="none" strike="noStrike" cap="none" normalizeH="0" baseline="0" dirty="0">
                <a:ln>
                  <a:noFill/>
                </a:ln>
                <a:solidFill>
                  <a:srgbClr val="002060"/>
                </a:solidFill>
                <a:effectLst/>
                <a:latin typeface="+mn-lt"/>
              </a:rPr>
              <a:t>a</a:t>
            </a:r>
            <a:r>
              <a:rPr kumimoji="0" lang="en-US" altLang="en-US" sz="2800" b="0" i="0" u="none" strike="noStrike" cap="none" normalizeH="0" baseline="0" dirty="0">
                <a:ln>
                  <a:noFill/>
                </a:ln>
                <a:solidFill>
                  <a:srgbClr val="002060"/>
                </a:solidFill>
                <a:effectLst/>
                <a:latin typeface="+mn-lt"/>
              </a:rPr>
              <a:t> to </a:t>
            </a:r>
            <a:r>
              <a:rPr kumimoji="0" lang="en-US" altLang="en-US" sz="2800" b="1" i="0" u="none" strike="noStrike" cap="none" normalizeH="0" baseline="0" dirty="0">
                <a:ln>
                  <a:noFill/>
                </a:ln>
                <a:solidFill>
                  <a:srgbClr val="002060"/>
                </a:solidFill>
                <a:effectLst/>
                <a:latin typeface="+mn-lt"/>
              </a:rPr>
              <a:t>b</a:t>
            </a:r>
            <a:r>
              <a:rPr kumimoji="0" lang="en-US" altLang="en-US" sz="2800" b="0" i="0" u="none" strike="noStrike" cap="none" normalizeH="0" baseline="0" dirty="0">
                <a:ln>
                  <a:noFill/>
                </a:ln>
                <a:solidFill>
                  <a:srgbClr val="002060"/>
                </a:solidFill>
                <a:effectLst/>
                <a:latin typeface="+mn-l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rgbClr val="002060"/>
                </a:solidFill>
                <a:effectLst/>
                <a:latin typeface="+mn-lt"/>
              </a:rPr>
              <a:t>The vertex </a:t>
            </a:r>
            <a:r>
              <a:rPr kumimoji="0" lang="en-US" altLang="en-US" sz="2800" b="1" i="0" u="none" strike="noStrike" cap="none" normalizeH="0" baseline="0" dirty="0">
                <a:ln>
                  <a:noFill/>
                </a:ln>
                <a:solidFill>
                  <a:srgbClr val="002060"/>
                </a:solidFill>
                <a:effectLst/>
                <a:latin typeface="+mn-lt"/>
              </a:rPr>
              <a:t>a</a:t>
            </a:r>
            <a:r>
              <a:rPr kumimoji="0" lang="en-US" altLang="en-US" sz="2800" b="0" i="0" u="none" strike="noStrike" cap="none" normalizeH="0" baseline="0" dirty="0">
                <a:ln>
                  <a:noFill/>
                </a:ln>
                <a:solidFill>
                  <a:srgbClr val="002060"/>
                </a:solidFill>
                <a:effectLst/>
                <a:latin typeface="+mn-lt"/>
              </a:rPr>
              <a:t> is the </a:t>
            </a:r>
            <a:r>
              <a:rPr kumimoji="0" lang="en-US" altLang="en-US" sz="2800" b="1" i="0" u="none" strike="noStrike" cap="none" normalizeH="0" baseline="0" dirty="0">
                <a:ln>
                  <a:noFill/>
                </a:ln>
                <a:solidFill>
                  <a:srgbClr val="002060"/>
                </a:solidFill>
                <a:effectLst/>
                <a:latin typeface="+mn-lt"/>
              </a:rPr>
              <a:t>start</a:t>
            </a:r>
            <a:r>
              <a:rPr kumimoji="0" lang="en-US" altLang="en-US" sz="2800" b="0" i="0" u="none" strike="noStrike" cap="none" normalizeH="0" baseline="0" dirty="0">
                <a:ln>
                  <a:noFill/>
                </a:ln>
                <a:solidFill>
                  <a:srgbClr val="002060"/>
                </a:solidFill>
                <a:effectLst/>
                <a:latin typeface="+mn-lt"/>
              </a:rPr>
              <a:t> (initial vertex) of the arrow.</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rgbClr val="002060"/>
                </a:solidFill>
                <a:effectLst/>
                <a:latin typeface="+mn-lt"/>
              </a:rPr>
              <a:t>The vertex </a:t>
            </a:r>
            <a:r>
              <a:rPr kumimoji="0" lang="en-US" altLang="en-US" sz="2800" b="1" i="0" u="none" strike="noStrike" cap="none" normalizeH="0" baseline="0" dirty="0">
                <a:ln>
                  <a:noFill/>
                </a:ln>
                <a:solidFill>
                  <a:srgbClr val="002060"/>
                </a:solidFill>
                <a:effectLst/>
                <a:latin typeface="+mn-lt"/>
              </a:rPr>
              <a:t>b</a:t>
            </a:r>
            <a:r>
              <a:rPr kumimoji="0" lang="en-US" altLang="en-US" sz="2800" b="0" i="0" u="none" strike="noStrike" cap="none" normalizeH="0" baseline="0" dirty="0">
                <a:ln>
                  <a:noFill/>
                </a:ln>
                <a:solidFill>
                  <a:srgbClr val="002060"/>
                </a:solidFill>
                <a:effectLst/>
                <a:latin typeface="+mn-lt"/>
              </a:rPr>
              <a:t> is the </a:t>
            </a:r>
            <a:r>
              <a:rPr kumimoji="0" lang="en-US" altLang="en-US" sz="2800" b="1" i="0" u="none" strike="noStrike" cap="none" normalizeH="0" baseline="0" dirty="0">
                <a:ln>
                  <a:noFill/>
                </a:ln>
                <a:solidFill>
                  <a:srgbClr val="002060"/>
                </a:solidFill>
                <a:effectLst/>
                <a:latin typeface="+mn-lt"/>
              </a:rPr>
              <a:t>end</a:t>
            </a:r>
            <a:r>
              <a:rPr kumimoji="0" lang="en-US" altLang="en-US" sz="2800" b="0" i="0" u="none" strike="noStrike" cap="none" normalizeH="0" baseline="0" dirty="0">
                <a:ln>
                  <a:noFill/>
                </a:ln>
                <a:solidFill>
                  <a:srgbClr val="002060"/>
                </a:solidFill>
                <a:effectLst/>
                <a:latin typeface="+mn-lt"/>
              </a:rPr>
              <a:t> (terminal vertex) of the arrow.</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rgbClr val="002060"/>
                </a:solidFill>
                <a:effectLst/>
                <a:latin typeface="+mn-lt"/>
              </a:rPr>
              <a:t>If an edge goes from a vertex back to itself, like (a, a), it’s called a </a:t>
            </a:r>
            <a:r>
              <a:rPr kumimoji="0" lang="en-US" altLang="en-US" sz="2800" b="1" i="0" u="none" strike="noStrike" cap="none" normalizeH="0" baseline="0" dirty="0">
                <a:ln>
                  <a:noFill/>
                </a:ln>
                <a:solidFill>
                  <a:srgbClr val="002060"/>
                </a:solidFill>
                <a:effectLst/>
                <a:latin typeface="+mn-lt"/>
              </a:rPr>
              <a:t>loop</a:t>
            </a:r>
            <a:r>
              <a:rPr kumimoji="0" lang="en-US" altLang="en-US" sz="2800" b="0" i="0" u="none" strike="noStrike" cap="none" normalizeH="0" baseline="0" dirty="0">
                <a:ln>
                  <a:noFill/>
                </a:ln>
                <a:solidFill>
                  <a:srgbClr val="002060"/>
                </a:solidFill>
                <a:effectLst/>
                <a:latin typeface="+mn-lt"/>
              </a:rPr>
              <a:t>.</a:t>
            </a:r>
          </a:p>
        </p:txBody>
      </p:sp>
      <p:sp>
        <p:nvSpPr>
          <p:cNvPr id="5" name="TextBox 4">
            <a:extLst>
              <a:ext uri="{FF2B5EF4-FFF2-40B4-BE49-F238E27FC236}">
                <a16:creationId xmlns:a16="http://schemas.microsoft.com/office/drawing/2014/main" id="{6977E898-1AFE-FB17-EDD1-44401A26D15B}"/>
              </a:ext>
            </a:extLst>
          </p:cNvPr>
          <p:cNvSpPr txBox="1"/>
          <p:nvPr/>
        </p:nvSpPr>
        <p:spPr>
          <a:xfrm>
            <a:off x="366825" y="5421533"/>
            <a:ext cx="6411861" cy="1200329"/>
          </a:xfrm>
          <a:prstGeom prst="rect">
            <a:avLst/>
          </a:prstGeom>
          <a:noFill/>
        </p:spPr>
        <p:txBody>
          <a:bodyPr wrap="square">
            <a:spAutoFit/>
          </a:bodyPr>
          <a:lstStyle/>
          <a:p>
            <a:r>
              <a:rPr lang="en-US" b="1" dirty="0">
                <a:solidFill>
                  <a:srgbClr val="7030A0"/>
                </a:solidFill>
              </a:rPr>
              <a:t>In short:</a:t>
            </a:r>
          </a:p>
          <a:p>
            <a:pPr>
              <a:buFont typeface="Arial" panose="020B0604020202020204" pitchFamily="34" charset="0"/>
              <a:buChar char="•"/>
            </a:pPr>
            <a:r>
              <a:rPr lang="en-US" dirty="0">
                <a:solidFill>
                  <a:srgbClr val="7030A0"/>
                </a:solidFill>
              </a:rPr>
              <a:t>Vertices = points</a:t>
            </a:r>
          </a:p>
          <a:p>
            <a:pPr>
              <a:buFont typeface="Arial" panose="020B0604020202020204" pitchFamily="34" charset="0"/>
              <a:buChar char="•"/>
            </a:pPr>
            <a:r>
              <a:rPr lang="en-US" dirty="0">
                <a:solidFill>
                  <a:srgbClr val="7030A0"/>
                </a:solidFill>
              </a:rPr>
              <a:t>Edges = arrows between points</a:t>
            </a:r>
          </a:p>
          <a:p>
            <a:pPr>
              <a:buFont typeface="Arial" panose="020B0604020202020204" pitchFamily="34" charset="0"/>
              <a:buChar char="•"/>
            </a:pPr>
            <a:r>
              <a:rPr lang="en-US" dirty="0">
                <a:solidFill>
                  <a:srgbClr val="7030A0"/>
                </a:solidFill>
              </a:rPr>
              <a:t>Loop = arrow that starts and ends at the same point</a:t>
            </a:r>
          </a:p>
        </p:txBody>
      </p:sp>
    </p:spTree>
    <p:extLst>
      <p:ext uri="{BB962C8B-B14F-4D97-AF65-F5344CB8AC3E}">
        <p14:creationId xmlns:p14="http://schemas.microsoft.com/office/powerpoint/2010/main" val="37162477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D1E2820B-BB96-57FE-F702-4449B0F1276A}"/>
              </a:ext>
            </a:extLst>
          </p:cNvPr>
          <p:cNvSpPr txBox="1">
            <a:spLocks/>
          </p:cNvSpPr>
          <p:nvPr/>
        </p:nvSpPr>
        <p:spPr>
          <a:xfrm>
            <a:off x="304800" y="152400"/>
            <a:ext cx="6456680" cy="997709"/>
          </a:xfrm>
          <a:prstGeom prst="rect">
            <a:avLst/>
          </a:prstGeom>
        </p:spPr>
        <p:txBody>
          <a:bodyPr vert="horz" wrap="square" lIns="0" tIns="12700" rIns="0" bIns="0" rtlCol="0">
            <a:spAutoFit/>
          </a:bodyPr>
          <a:lstStyle>
            <a:lvl1pPr>
              <a:defRPr>
                <a:latin typeface="+mj-lt"/>
                <a:ea typeface="+mj-ea"/>
                <a:cs typeface="+mj-cs"/>
              </a:defRPr>
            </a:lvl1pPr>
          </a:lstStyle>
          <a:p>
            <a:pPr marL="1083310" marR="5080" indent="-1070610">
              <a:spcBef>
                <a:spcPts val="100"/>
              </a:spcBef>
            </a:pPr>
            <a:r>
              <a:rPr lang="en-US" sz="3200" b="1" dirty="0">
                <a:solidFill>
                  <a:srgbClr val="00B050"/>
                </a:solidFill>
              </a:rPr>
              <a:t>REPRESENTING</a:t>
            </a:r>
            <a:r>
              <a:rPr lang="en-US" sz="3200" b="1" spc="-60" dirty="0">
                <a:solidFill>
                  <a:srgbClr val="00B050"/>
                </a:solidFill>
              </a:rPr>
              <a:t> </a:t>
            </a:r>
            <a:r>
              <a:rPr lang="en-US" sz="3200" b="1" spc="-45" dirty="0">
                <a:solidFill>
                  <a:srgbClr val="00B050"/>
                </a:solidFill>
              </a:rPr>
              <a:t>RELATIONS </a:t>
            </a:r>
            <a:r>
              <a:rPr lang="en-US" sz="3200" b="1" dirty="0">
                <a:solidFill>
                  <a:srgbClr val="00B050"/>
                </a:solidFill>
              </a:rPr>
              <a:t>USING</a:t>
            </a:r>
            <a:r>
              <a:rPr lang="en-US" sz="3200" b="1" spc="-25" dirty="0">
                <a:solidFill>
                  <a:srgbClr val="00B050"/>
                </a:solidFill>
              </a:rPr>
              <a:t> </a:t>
            </a:r>
            <a:r>
              <a:rPr lang="en-US" sz="3200" b="1" spc="-10" dirty="0">
                <a:solidFill>
                  <a:srgbClr val="00B050"/>
                </a:solidFill>
              </a:rPr>
              <a:t>Directed Graph (Digraph)</a:t>
            </a:r>
          </a:p>
        </p:txBody>
      </p:sp>
      <p:sp>
        <p:nvSpPr>
          <p:cNvPr id="3" name="Rectangle 1">
            <a:extLst>
              <a:ext uri="{FF2B5EF4-FFF2-40B4-BE49-F238E27FC236}">
                <a16:creationId xmlns:a16="http://schemas.microsoft.com/office/drawing/2014/main" id="{0193C32C-AF3D-18D8-2F3C-3D1D4961E874}"/>
              </a:ext>
            </a:extLst>
          </p:cNvPr>
          <p:cNvSpPr>
            <a:spLocks noChangeArrowheads="1"/>
          </p:cNvSpPr>
          <p:nvPr/>
        </p:nvSpPr>
        <p:spPr bwMode="auto">
          <a:xfrm>
            <a:off x="304800" y="1578705"/>
            <a:ext cx="8458200" cy="1815882"/>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n-US" sz="2800" dirty="0"/>
              <a:t>A drawing of the directed graph with </a:t>
            </a:r>
          </a:p>
          <a:p>
            <a:pPr marL="0" marR="0" lvl="0" indent="0" algn="l" defTabSz="914400" rtl="0" eaLnBrk="0" fontAlgn="base" latinLnBrk="0" hangingPunct="0">
              <a:lnSpc>
                <a:spcPct val="100000"/>
              </a:lnSpc>
              <a:spcBef>
                <a:spcPct val="0"/>
              </a:spcBef>
              <a:spcAft>
                <a:spcPct val="0"/>
              </a:spcAft>
              <a:buClrTx/>
              <a:buSzTx/>
              <a:buFontTx/>
              <a:buChar char="•"/>
              <a:tabLst/>
            </a:pPr>
            <a:r>
              <a:rPr lang="en-US" sz="2800" dirty="0">
                <a:solidFill>
                  <a:srgbClr val="7030A0"/>
                </a:solidFill>
              </a:rPr>
              <a:t>vertices a, b, c, and d, and </a:t>
            </a:r>
          </a:p>
          <a:p>
            <a:pPr marL="0" marR="0" lvl="0" indent="0" algn="l" defTabSz="914400" rtl="0" eaLnBrk="0" fontAlgn="base" latinLnBrk="0" hangingPunct="0">
              <a:lnSpc>
                <a:spcPct val="100000"/>
              </a:lnSpc>
              <a:spcBef>
                <a:spcPct val="0"/>
              </a:spcBef>
              <a:spcAft>
                <a:spcPct val="0"/>
              </a:spcAft>
              <a:buClrTx/>
              <a:buSzTx/>
              <a:buFontTx/>
              <a:buChar char="•"/>
              <a:tabLst/>
            </a:pPr>
            <a:r>
              <a:rPr lang="en-US" sz="2800" dirty="0">
                <a:solidFill>
                  <a:srgbClr val="7030A0"/>
                </a:solidFill>
              </a:rPr>
              <a:t>edges (a, b), (a, d), (b, b), (b, d), (c, a), (c, b), (d, b) is shown here.</a:t>
            </a:r>
            <a:endParaRPr kumimoji="0" lang="en-US" altLang="en-US" sz="2800" b="0" i="0" u="none" strike="noStrike" cap="none" normalizeH="0" baseline="0" dirty="0">
              <a:ln>
                <a:noFill/>
              </a:ln>
              <a:solidFill>
                <a:srgbClr val="7030A0"/>
              </a:solidFill>
              <a:effectLst/>
              <a:latin typeface="+mn-lt"/>
            </a:endParaRPr>
          </a:p>
        </p:txBody>
      </p:sp>
      <p:pic>
        <p:nvPicPr>
          <p:cNvPr id="6" name="Picture 5">
            <a:extLst>
              <a:ext uri="{FF2B5EF4-FFF2-40B4-BE49-F238E27FC236}">
                <a16:creationId xmlns:a16="http://schemas.microsoft.com/office/drawing/2014/main" id="{73015E67-7F41-768F-04D8-4B1D359BDA07}"/>
              </a:ext>
            </a:extLst>
          </p:cNvPr>
          <p:cNvPicPr>
            <a:picLocks noChangeAspect="1"/>
          </p:cNvPicPr>
          <p:nvPr/>
        </p:nvPicPr>
        <p:blipFill>
          <a:blip r:embed="rId2"/>
          <a:stretch>
            <a:fillRect/>
          </a:stretch>
        </p:blipFill>
        <p:spPr>
          <a:xfrm>
            <a:off x="2971800" y="3124200"/>
            <a:ext cx="3924454" cy="3298571"/>
          </a:xfrm>
          <a:prstGeom prst="rect">
            <a:avLst/>
          </a:prstGeom>
        </p:spPr>
      </p:pic>
    </p:spTree>
    <p:extLst>
      <p:ext uri="{BB962C8B-B14F-4D97-AF65-F5344CB8AC3E}">
        <p14:creationId xmlns:p14="http://schemas.microsoft.com/office/powerpoint/2010/main" val="39378906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D1E2820B-BB96-57FE-F702-4449B0F1276A}"/>
              </a:ext>
            </a:extLst>
          </p:cNvPr>
          <p:cNvSpPr txBox="1">
            <a:spLocks/>
          </p:cNvSpPr>
          <p:nvPr/>
        </p:nvSpPr>
        <p:spPr>
          <a:xfrm>
            <a:off x="304800" y="152400"/>
            <a:ext cx="6456680" cy="997709"/>
          </a:xfrm>
          <a:prstGeom prst="rect">
            <a:avLst/>
          </a:prstGeom>
        </p:spPr>
        <p:txBody>
          <a:bodyPr vert="horz" wrap="square" lIns="0" tIns="12700" rIns="0" bIns="0" rtlCol="0">
            <a:spAutoFit/>
          </a:bodyPr>
          <a:lstStyle>
            <a:lvl1pPr>
              <a:defRPr>
                <a:latin typeface="+mj-lt"/>
                <a:ea typeface="+mj-ea"/>
                <a:cs typeface="+mj-cs"/>
              </a:defRPr>
            </a:lvl1pPr>
          </a:lstStyle>
          <a:p>
            <a:pPr marL="1083310" marR="5080" indent="-1070610">
              <a:spcBef>
                <a:spcPts val="100"/>
              </a:spcBef>
            </a:pPr>
            <a:r>
              <a:rPr lang="en-US" sz="3200" b="1" dirty="0">
                <a:solidFill>
                  <a:srgbClr val="00B050"/>
                </a:solidFill>
              </a:rPr>
              <a:t>REPRESENTING</a:t>
            </a:r>
            <a:r>
              <a:rPr lang="en-US" sz="3200" b="1" spc="-60" dirty="0">
                <a:solidFill>
                  <a:srgbClr val="00B050"/>
                </a:solidFill>
              </a:rPr>
              <a:t> </a:t>
            </a:r>
            <a:r>
              <a:rPr lang="en-US" sz="3200" b="1" spc="-45" dirty="0">
                <a:solidFill>
                  <a:srgbClr val="00B050"/>
                </a:solidFill>
              </a:rPr>
              <a:t>RELATIONS </a:t>
            </a:r>
            <a:r>
              <a:rPr lang="en-US" sz="3200" b="1" dirty="0">
                <a:solidFill>
                  <a:srgbClr val="00B050"/>
                </a:solidFill>
              </a:rPr>
              <a:t>USING</a:t>
            </a:r>
            <a:r>
              <a:rPr lang="en-US" sz="3200" b="1" spc="-25" dirty="0">
                <a:solidFill>
                  <a:srgbClr val="00B050"/>
                </a:solidFill>
              </a:rPr>
              <a:t> </a:t>
            </a:r>
            <a:r>
              <a:rPr lang="en-US" sz="3200" b="1" spc="-10" dirty="0">
                <a:solidFill>
                  <a:srgbClr val="00B050"/>
                </a:solidFill>
              </a:rPr>
              <a:t>Directed Graph (Digraph)</a:t>
            </a:r>
          </a:p>
        </p:txBody>
      </p:sp>
      <p:sp>
        <p:nvSpPr>
          <p:cNvPr id="4" name="Content Placeholder 2">
            <a:extLst>
              <a:ext uri="{FF2B5EF4-FFF2-40B4-BE49-F238E27FC236}">
                <a16:creationId xmlns:a16="http://schemas.microsoft.com/office/drawing/2014/main" id="{0DF467B6-E800-B135-C6DD-F9C319238C9A}"/>
              </a:ext>
            </a:extLst>
          </p:cNvPr>
          <p:cNvSpPr txBox="1">
            <a:spLocks/>
          </p:cNvSpPr>
          <p:nvPr/>
        </p:nvSpPr>
        <p:spPr>
          <a:xfrm>
            <a:off x="292510" y="1275526"/>
            <a:ext cx="5193890" cy="4389120"/>
          </a:xfrm>
          <a:prstGeom prst="rect">
            <a:avLst/>
          </a:prstGeom>
          <a:solidFill>
            <a:schemeClr val="bg1"/>
          </a:solidFill>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800" b="1" dirty="0">
                <a:solidFill>
                  <a:srgbClr val="C00000"/>
                </a:solidFill>
              </a:rPr>
              <a:t>  Example </a:t>
            </a:r>
            <a:r>
              <a:rPr lang="en-US" sz="2800" dirty="0">
                <a:solidFill>
                  <a:srgbClr val="C00000"/>
                </a:solidFill>
              </a:rPr>
              <a:t>: What are the ordered pairs in the relation represented by this directed graph?</a:t>
            </a:r>
          </a:p>
          <a:p>
            <a:endParaRPr lang="en-US" sz="2800" dirty="0"/>
          </a:p>
          <a:p>
            <a:endParaRPr lang="en-US" sz="2800" dirty="0"/>
          </a:p>
          <a:p>
            <a:endParaRPr lang="en-US" sz="2800" dirty="0"/>
          </a:p>
          <a:p>
            <a:endParaRPr lang="en-US" sz="2800" dirty="0"/>
          </a:p>
        </p:txBody>
      </p:sp>
      <p:sp>
        <p:nvSpPr>
          <p:cNvPr id="7" name="TextBox 6">
            <a:extLst>
              <a:ext uri="{FF2B5EF4-FFF2-40B4-BE49-F238E27FC236}">
                <a16:creationId xmlns:a16="http://schemas.microsoft.com/office/drawing/2014/main" id="{92150B3C-7834-CAC8-B193-8EF52054CB5B}"/>
              </a:ext>
            </a:extLst>
          </p:cNvPr>
          <p:cNvSpPr txBox="1"/>
          <p:nvPr/>
        </p:nvSpPr>
        <p:spPr>
          <a:xfrm>
            <a:off x="412955" y="5005233"/>
            <a:ext cx="8546690" cy="1569660"/>
          </a:xfrm>
          <a:prstGeom prst="rect">
            <a:avLst/>
          </a:prstGeom>
          <a:solidFill>
            <a:schemeClr val="bg1"/>
          </a:solidFill>
        </p:spPr>
        <p:txBody>
          <a:bodyPr wrap="square">
            <a:spAutoFit/>
          </a:bodyPr>
          <a:lstStyle/>
          <a:p>
            <a:r>
              <a:rPr lang="en-US" sz="3200" b="1" dirty="0"/>
              <a:t>Solution</a:t>
            </a:r>
            <a:r>
              <a:rPr lang="en-US" sz="3200" dirty="0"/>
              <a:t>: The ordered pairs in the relation are</a:t>
            </a:r>
          </a:p>
          <a:p>
            <a:r>
              <a:rPr lang="en-US" sz="3200" b="1" dirty="0">
                <a:solidFill>
                  <a:srgbClr val="0070C0"/>
                </a:solidFill>
              </a:rPr>
              <a:t>(</a:t>
            </a:r>
            <a:r>
              <a:rPr lang="en-US" sz="3200" b="1" dirty="0">
                <a:solidFill>
                  <a:srgbClr val="0070C0"/>
                </a:solidFill>
                <a:ea typeface="Cambria Math" pitchFamily="18" charset="0"/>
              </a:rPr>
              <a:t>1, 3</a:t>
            </a:r>
            <a:r>
              <a:rPr lang="en-US" sz="3200" b="1" dirty="0">
                <a:solidFill>
                  <a:srgbClr val="0070C0"/>
                </a:solidFill>
              </a:rPr>
              <a:t>), (</a:t>
            </a:r>
            <a:r>
              <a:rPr lang="en-US" sz="3200" b="1" dirty="0">
                <a:solidFill>
                  <a:srgbClr val="0070C0"/>
                </a:solidFill>
                <a:ea typeface="Cambria Math" pitchFamily="18" charset="0"/>
              </a:rPr>
              <a:t>1, 4</a:t>
            </a:r>
            <a:r>
              <a:rPr lang="en-US" sz="3200" b="1" dirty="0">
                <a:solidFill>
                  <a:srgbClr val="0070C0"/>
                </a:solidFill>
              </a:rPr>
              <a:t>), (</a:t>
            </a:r>
            <a:r>
              <a:rPr lang="en-US" sz="3200" b="1" dirty="0">
                <a:solidFill>
                  <a:srgbClr val="0070C0"/>
                </a:solidFill>
                <a:ea typeface="Cambria Math" pitchFamily="18" charset="0"/>
              </a:rPr>
              <a:t>2, 1</a:t>
            </a:r>
            <a:r>
              <a:rPr lang="en-US" sz="3200" b="1" dirty="0">
                <a:solidFill>
                  <a:srgbClr val="0070C0"/>
                </a:solidFill>
              </a:rPr>
              <a:t>), (</a:t>
            </a:r>
            <a:r>
              <a:rPr lang="en-US" sz="3200" b="1" dirty="0">
                <a:solidFill>
                  <a:srgbClr val="0070C0"/>
                </a:solidFill>
                <a:ea typeface="Cambria Math" pitchFamily="18" charset="0"/>
              </a:rPr>
              <a:t>2, 2</a:t>
            </a:r>
            <a:r>
              <a:rPr lang="en-US" sz="3200" b="1" dirty="0">
                <a:solidFill>
                  <a:srgbClr val="0070C0"/>
                </a:solidFill>
              </a:rPr>
              <a:t>), (</a:t>
            </a:r>
            <a:r>
              <a:rPr lang="en-US" sz="3200" b="1" dirty="0">
                <a:solidFill>
                  <a:srgbClr val="0070C0"/>
                </a:solidFill>
                <a:ea typeface="Cambria Math" pitchFamily="18" charset="0"/>
              </a:rPr>
              <a:t>2, 3</a:t>
            </a:r>
            <a:r>
              <a:rPr lang="en-US" sz="3200" b="1" dirty="0">
                <a:solidFill>
                  <a:srgbClr val="0070C0"/>
                </a:solidFill>
              </a:rPr>
              <a:t>), (</a:t>
            </a:r>
            <a:r>
              <a:rPr lang="en-US" sz="3200" b="1" dirty="0">
                <a:solidFill>
                  <a:srgbClr val="0070C0"/>
                </a:solidFill>
                <a:ea typeface="Cambria Math" pitchFamily="18" charset="0"/>
              </a:rPr>
              <a:t>3, 1</a:t>
            </a:r>
            <a:r>
              <a:rPr lang="en-US" sz="3200" b="1" dirty="0">
                <a:solidFill>
                  <a:srgbClr val="0070C0"/>
                </a:solidFill>
              </a:rPr>
              <a:t>), (</a:t>
            </a:r>
            <a:r>
              <a:rPr lang="en-US" sz="3200" b="1" dirty="0">
                <a:solidFill>
                  <a:srgbClr val="0070C0"/>
                </a:solidFill>
                <a:ea typeface="Cambria Math" pitchFamily="18" charset="0"/>
              </a:rPr>
              <a:t>3, 3</a:t>
            </a:r>
            <a:r>
              <a:rPr lang="en-US" sz="3200" b="1" dirty="0">
                <a:solidFill>
                  <a:srgbClr val="0070C0"/>
                </a:solidFill>
              </a:rPr>
              <a:t>), (</a:t>
            </a:r>
            <a:r>
              <a:rPr lang="en-US" sz="3200" b="1" dirty="0">
                <a:solidFill>
                  <a:srgbClr val="0070C0"/>
                </a:solidFill>
                <a:ea typeface="Cambria Math" pitchFamily="18" charset="0"/>
              </a:rPr>
              <a:t>4, 1</a:t>
            </a:r>
            <a:r>
              <a:rPr lang="en-US" sz="3200" b="1" dirty="0">
                <a:solidFill>
                  <a:srgbClr val="0070C0"/>
                </a:solidFill>
              </a:rPr>
              <a:t>),  </a:t>
            </a:r>
            <a:r>
              <a:rPr lang="en-US" sz="3200" b="1" dirty="0"/>
              <a:t>and</a:t>
            </a:r>
            <a:r>
              <a:rPr lang="en-US" sz="3200" b="1" dirty="0">
                <a:solidFill>
                  <a:srgbClr val="0070C0"/>
                </a:solidFill>
              </a:rPr>
              <a:t> (</a:t>
            </a:r>
            <a:r>
              <a:rPr lang="en-US" sz="3200" b="1" dirty="0">
                <a:solidFill>
                  <a:srgbClr val="0070C0"/>
                </a:solidFill>
                <a:ea typeface="Cambria Math" pitchFamily="18" charset="0"/>
              </a:rPr>
              <a:t>4, 3</a:t>
            </a:r>
            <a:r>
              <a:rPr lang="en-US" sz="3200" b="1" dirty="0">
                <a:solidFill>
                  <a:srgbClr val="0070C0"/>
                </a:solidFill>
              </a:rPr>
              <a:t>)</a:t>
            </a:r>
          </a:p>
        </p:txBody>
      </p:sp>
      <p:pic>
        <p:nvPicPr>
          <p:cNvPr id="8" name="Content Placeholder 5" descr="0807.jpg">
            <a:extLst>
              <a:ext uri="{FF2B5EF4-FFF2-40B4-BE49-F238E27FC236}">
                <a16:creationId xmlns:a16="http://schemas.microsoft.com/office/drawing/2014/main" id="{CBFF22A0-D17F-6F07-6DAF-68F4D2A3F73F}"/>
              </a:ext>
            </a:extLst>
          </p:cNvPr>
          <p:cNvPicPr>
            <a:picLocks noChangeAspect="1"/>
          </p:cNvPicPr>
          <p:nvPr/>
        </p:nvPicPr>
        <p:blipFill>
          <a:blip r:embed="rId2" cstate="print"/>
          <a:stretch>
            <a:fillRect/>
          </a:stretch>
        </p:blipFill>
        <p:spPr>
          <a:xfrm>
            <a:off x="5737122" y="1290274"/>
            <a:ext cx="2971800" cy="3185861"/>
          </a:xfrm>
          <a:prstGeom prst="rect">
            <a:avLst/>
          </a:prstGeom>
        </p:spPr>
      </p:pic>
    </p:spTree>
    <p:extLst>
      <p:ext uri="{BB962C8B-B14F-4D97-AF65-F5344CB8AC3E}">
        <p14:creationId xmlns:p14="http://schemas.microsoft.com/office/powerpoint/2010/main" val="462840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67939" y="19303"/>
            <a:ext cx="2431415" cy="574040"/>
          </a:xfrm>
          <a:prstGeom prst="rect">
            <a:avLst/>
          </a:prstGeom>
        </p:spPr>
        <p:txBody>
          <a:bodyPr vert="horz" wrap="square" lIns="0" tIns="12700" rIns="0" bIns="0" rtlCol="0">
            <a:spAutoFit/>
          </a:bodyPr>
          <a:lstStyle/>
          <a:p>
            <a:pPr marL="12700">
              <a:lnSpc>
                <a:spcPct val="100000"/>
              </a:lnSpc>
              <a:spcBef>
                <a:spcPts val="100"/>
              </a:spcBef>
            </a:pPr>
            <a:r>
              <a:rPr dirty="0"/>
              <a:t>EXAMPLE</a:t>
            </a:r>
            <a:r>
              <a:rPr spc="-160" dirty="0"/>
              <a:t> </a:t>
            </a:r>
            <a:r>
              <a:rPr spc="-50" dirty="0"/>
              <a:t>O</a:t>
            </a:r>
          </a:p>
        </p:txBody>
      </p:sp>
      <p:sp>
        <p:nvSpPr>
          <p:cNvPr id="3" name="object 3"/>
          <p:cNvSpPr txBox="1"/>
          <p:nvPr/>
        </p:nvSpPr>
        <p:spPr>
          <a:xfrm>
            <a:off x="383540" y="558800"/>
            <a:ext cx="232854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404040"/>
                </a:solidFill>
                <a:latin typeface="Times New Roman"/>
                <a:cs typeface="Times New Roman"/>
              </a:rPr>
              <a:t>For</a:t>
            </a:r>
            <a:r>
              <a:rPr sz="1800" b="1" spc="-80" dirty="0">
                <a:solidFill>
                  <a:srgbClr val="404040"/>
                </a:solidFill>
                <a:latin typeface="Times New Roman"/>
                <a:cs typeface="Times New Roman"/>
              </a:rPr>
              <a:t> </a:t>
            </a:r>
            <a:r>
              <a:rPr sz="1800" b="1" dirty="0">
                <a:solidFill>
                  <a:srgbClr val="404040"/>
                </a:solidFill>
                <a:latin typeface="Times New Roman"/>
                <a:cs typeface="Times New Roman"/>
              </a:rPr>
              <a:t>the</a:t>
            </a:r>
            <a:r>
              <a:rPr sz="1800" b="1" spc="-50" dirty="0">
                <a:solidFill>
                  <a:srgbClr val="404040"/>
                </a:solidFill>
                <a:latin typeface="Times New Roman"/>
                <a:cs typeface="Times New Roman"/>
              </a:rPr>
              <a:t> </a:t>
            </a:r>
            <a:r>
              <a:rPr sz="1800" b="1" dirty="0">
                <a:solidFill>
                  <a:srgbClr val="404040"/>
                </a:solidFill>
                <a:latin typeface="Times New Roman"/>
                <a:cs typeface="Times New Roman"/>
              </a:rPr>
              <a:t>relation</a:t>
            </a:r>
            <a:r>
              <a:rPr sz="1800" b="1" spc="-40" dirty="0">
                <a:solidFill>
                  <a:srgbClr val="404040"/>
                </a:solidFill>
                <a:latin typeface="Times New Roman"/>
                <a:cs typeface="Times New Roman"/>
              </a:rPr>
              <a:t> </a:t>
            </a:r>
            <a:r>
              <a:rPr sz="1800" b="1" spc="-10" dirty="0">
                <a:solidFill>
                  <a:srgbClr val="404040"/>
                </a:solidFill>
                <a:latin typeface="Times New Roman"/>
                <a:cs typeface="Times New Roman"/>
              </a:rPr>
              <a:t>matrix.</a:t>
            </a:r>
            <a:endParaRPr sz="1800">
              <a:latin typeface="Times New Roman"/>
              <a:cs typeface="Times New Roman"/>
            </a:endParaRPr>
          </a:p>
        </p:txBody>
      </p:sp>
      <p:sp>
        <p:nvSpPr>
          <p:cNvPr id="4" name="object 4"/>
          <p:cNvSpPr txBox="1"/>
          <p:nvPr/>
        </p:nvSpPr>
        <p:spPr>
          <a:xfrm>
            <a:off x="383540" y="2037638"/>
            <a:ext cx="4799330" cy="2341880"/>
          </a:xfrm>
          <a:prstGeom prst="rect">
            <a:avLst/>
          </a:prstGeom>
        </p:spPr>
        <p:txBody>
          <a:bodyPr vert="horz" wrap="square" lIns="0" tIns="139700" rIns="0" bIns="0" rtlCol="0">
            <a:spAutoFit/>
          </a:bodyPr>
          <a:lstStyle/>
          <a:p>
            <a:pPr marL="469900">
              <a:lnSpc>
                <a:spcPct val="100000"/>
              </a:lnSpc>
              <a:spcBef>
                <a:spcPts val="1100"/>
              </a:spcBef>
              <a:tabLst>
                <a:tab pos="755015" algn="l"/>
              </a:tabLst>
            </a:pPr>
            <a:r>
              <a:rPr sz="1250" spc="75" dirty="0">
                <a:solidFill>
                  <a:srgbClr val="90C225"/>
                </a:solidFill>
                <a:latin typeface="Lucida Sans Unicode"/>
                <a:cs typeface="Lucida Sans Unicode"/>
              </a:rPr>
              <a:t>▶</a:t>
            </a:r>
            <a:r>
              <a:rPr sz="1250" dirty="0">
                <a:solidFill>
                  <a:srgbClr val="90C225"/>
                </a:solidFill>
                <a:latin typeface="Lucida Sans Unicode"/>
                <a:cs typeface="Lucida Sans Unicode"/>
              </a:rPr>
              <a:t>	</a:t>
            </a:r>
            <a:r>
              <a:rPr sz="1600" b="1" dirty="0">
                <a:solidFill>
                  <a:srgbClr val="404040"/>
                </a:solidFill>
                <a:latin typeface="Times New Roman"/>
                <a:cs typeface="Times New Roman"/>
              </a:rPr>
              <a:t>List</a:t>
            </a:r>
            <a:r>
              <a:rPr sz="1600" b="1" spc="-25" dirty="0">
                <a:solidFill>
                  <a:srgbClr val="404040"/>
                </a:solidFill>
                <a:latin typeface="Times New Roman"/>
                <a:cs typeface="Times New Roman"/>
              </a:rPr>
              <a:t> </a:t>
            </a:r>
            <a:r>
              <a:rPr sz="1600" b="1" dirty="0">
                <a:solidFill>
                  <a:srgbClr val="404040"/>
                </a:solidFill>
                <a:latin typeface="Times New Roman"/>
                <a:cs typeface="Times New Roman"/>
              </a:rPr>
              <a:t>the</a:t>
            </a:r>
            <a:r>
              <a:rPr sz="1600" b="1" spc="-30" dirty="0">
                <a:solidFill>
                  <a:srgbClr val="404040"/>
                </a:solidFill>
                <a:latin typeface="Times New Roman"/>
                <a:cs typeface="Times New Roman"/>
              </a:rPr>
              <a:t> </a:t>
            </a:r>
            <a:r>
              <a:rPr sz="1600" b="1" dirty="0">
                <a:solidFill>
                  <a:srgbClr val="404040"/>
                </a:solidFill>
                <a:latin typeface="Times New Roman"/>
                <a:cs typeface="Times New Roman"/>
              </a:rPr>
              <a:t>set</a:t>
            </a:r>
            <a:r>
              <a:rPr sz="1600" b="1" spc="-20" dirty="0">
                <a:solidFill>
                  <a:srgbClr val="404040"/>
                </a:solidFill>
                <a:latin typeface="Times New Roman"/>
                <a:cs typeface="Times New Roman"/>
              </a:rPr>
              <a:t> </a:t>
            </a:r>
            <a:r>
              <a:rPr sz="1600" b="1" dirty="0">
                <a:solidFill>
                  <a:srgbClr val="404040"/>
                </a:solidFill>
                <a:latin typeface="Times New Roman"/>
                <a:cs typeface="Times New Roman"/>
              </a:rPr>
              <a:t>of</a:t>
            </a:r>
            <a:r>
              <a:rPr sz="1600" b="1" spc="-30" dirty="0">
                <a:solidFill>
                  <a:srgbClr val="404040"/>
                </a:solidFill>
                <a:latin typeface="Times New Roman"/>
                <a:cs typeface="Times New Roman"/>
              </a:rPr>
              <a:t> </a:t>
            </a:r>
            <a:r>
              <a:rPr sz="1600" b="1" dirty="0">
                <a:solidFill>
                  <a:srgbClr val="404040"/>
                </a:solidFill>
                <a:latin typeface="Times New Roman"/>
                <a:cs typeface="Times New Roman"/>
              </a:rPr>
              <a:t>ordered</a:t>
            </a:r>
            <a:r>
              <a:rPr sz="1600" b="1" spc="-40" dirty="0">
                <a:solidFill>
                  <a:srgbClr val="404040"/>
                </a:solidFill>
                <a:latin typeface="Times New Roman"/>
                <a:cs typeface="Times New Roman"/>
              </a:rPr>
              <a:t> </a:t>
            </a:r>
            <a:r>
              <a:rPr sz="1600" b="1" dirty="0">
                <a:solidFill>
                  <a:srgbClr val="404040"/>
                </a:solidFill>
                <a:latin typeface="Times New Roman"/>
                <a:cs typeface="Times New Roman"/>
              </a:rPr>
              <a:t>pairs</a:t>
            </a:r>
            <a:r>
              <a:rPr sz="1600" b="1" spc="-30" dirty="0">
                <a:solidFill>
                  <a:srgbClr val="404040"/>
                </a:solidFill>
                <a:latin typeface="Times New Roman"/>
                <a:cs typeface="Times New Roman"/>
              </a:rPr>
              <a:t> </a:t>
            </a:r>
            <a:r>
              <a:rPr sz="1600" b="1" dirty="0">
                <a:solidFill>
                  <a:srgbClr val="404040"/>
                </a:solidFill>
                <a:latin typeface="Times New Roman"/>
                <a:cs typeface="Times New Roman"/>
              </a:rPr>
              <a:t>represented</a:t>
            </a:r>
            <a:r>
              <a:rPr sz="1600" b="1" spc="-35" dirty="0">
                <a:solidFill>
                  <a:srgbClr val="404040"/>
                </a:solidFill>
                <a:latin typeface="Times New Roman"/>
                <a:cs typeface="Times New Roman"/>
              </a:rPr>
              <a:t> </a:t>
            </a:r>
            <a:r>
              <a:rPr sz="1600" b="1" dirty="0">
                <a:solidFill>
                  <a:srgbClr val="404040"/>
                </a:solidFill>
                <a:latin typeface="Times New Roman"/>
                <a:cs typeface="Times New Roman"/>
              </a:rPr>
              <a:t>by</a:t>
            </a:r>
            <a:r>
              <a:rPr sz="1600" b="1" spc="-30" dirty="0">
                <a:solidFill>
                  <a:srgbClr val="404040"/>
                </a:solidFill>
                <a:latin typeface="Times New Roman"/>
                <a:cs typeface="Times New Roman"/>
              </a:rPr>
              <a:t> </a:t>
            </a:r>
            <a:r>
              <a:rPr sz="1600" b="1" spc="-25" dirty="0">
                <a:solidFill>
                  <a:srgbClr val="404040"/>
                </a:solidFill>
                <a:latin typeface="Times New Roman"/>
                <a:cs typeface="Times New Roman"/>
              </a:rPr>
              <a:t>M.</a:t>
            </a:r>
            <a:endParaRPr sz="1600">
              <a:latin typeface="Times New Roman"/>
              <a:cs typeface="Times New Roman"/>
            </a:endParaRPr>
          </a:p>
          <a:p>
            <a:pPr marL="469900">
              <a:lnSpc>
                <a:spcPct val="100000"/>
              </a:lnSpc>
              <a:spcBef>
                <a:spcPts val="1000"/>
              </a:spcBef>
              <a:tabLst>
                <a:tab pos="755015" algn="l"/>
              </a:tabLst>
            </a:pPr>
            <a:r>
              <a:rPr sz="1250" spc="75" dirty="0">
                <a:solidFill>
                  <a:srgbClr val="90C225"/>
                </a:solidFill>
                <a:latin typeface="Lucida Sans Unicode"/>
                <a:cs typeface="Lucida Sans Unicode"/>
              </a:rPr>
              <a:t>▶</a:t>
            </a:r>
            <a:r>
              <a:rPr sz="1250" dirty="0">
                <a:solidFill>
                  <a:srgbClr val="90C225"/>
                </a:solidFill>
                <a:latin typeface="Lucida Sans Unicode"/>
                <a:cs typeface="Lucida Sans Unicode"/>
              </a:rPr>
              <a:t>	</a:t>
            </a:r>
            <a:r>
              <a:rPr sz="1600" b="1" dirty="0">
                <a:solidFill>
                  <a:srgbClr val="404040"/>
                </a:solidFill>
                <a:latin typeface="Times New Roman"/>
                <a:cs typeface="Times New Roman"/>
              </a:rPr>
              <a:t>Draw</a:t>
            </a:r>
            <a:r>
              <a:rPr sz="1600" b="1" spc="-55" dirty="0">
                <a:solidFill>
                  <a:srgbClr val="404040"/>
                </a:solidFill>
                <a:latin typeface="Times New Roman"/>
                <a:cs typeface="Times New Roman"/>
              </a:rPr>
              <a:t> </a:t>
            </a:r>
            <a:r>
              <a:rPr sz="1600" b="1" dirty="0">
                <a:solidFill>
                  <a:srgbClr val="404040"/>
                </a:solidFill>
                <a:latin typeface="Times New Roman"/>
                <a:cs typeface="Times New Roman"/>
              </a:rPr>
              <a:t>the</a:t>
            </a:r>
            <a:r>
              <a:rPr sz="1600" b="1" spc="-25" dirty="0">
                <a:solidFill>
                  <a:srgbClr val="404040"/>
                </a:solidFill>
                <a:latin typeface="Times New Roman"/>
                <a:cs typeface="Times New Roman"/>
              </a:rPr>
              <a:t> </a:t>
            </a:r>
            <a:r>
              <a:rPr sz="1600" b="1" dirty="0">
                <a:solidFill>
                  <a:srgbClr val="404040"/>
                </a:solidFill>
                <a:latin typeface="Times New Roman"/>
                <a:cs typeface="Times New Roman"/>
              </a:rPr>
              <a:t>directed</a:t>
            </a:r>
            <a:r>
              <a:rPr sz="1600" b="1" spc="-25" dirty="0">
                <a:solidFill>
                  <a:srgbClr val="404040"/>
                </a:solidFill>
                <a:latin typeface="Times New Roman"/>
                <a:cs typeface="Times New Roman"/>
              </a:rPr>
              <a:t> </a:t>
            </a:r>
            <a:r>
              <a:rPr sz="1600" b="1" dirty="0">
                <a:solidFill>
                  <a:srgbClr val="404040"/>
                </a:solidFill>
                <a:latin typeface="Times New Roman"/>
                <a:cs typeface="Times New Roman"/>
              </a:rPr>
              <a:t>graph</a:t>
            </a:r>
            <a:r>
              <a:rPr sz="1600" b="1" spc="-45" dirty="0">
                <a:solidFill>
                  <a:srgbClr val="404040"/>
                </a:solidFill>
                <a:latin typeface="Times New Roman"/>
                <a:cs typeface="Times New Roman"/>
              </a:rPr>
              <a:t> </a:t>
            </a:r>
            <a:r>
              <a:rPr sz="1600" b="1" dirty="0">
                <a:solidFill>
                  <a:srgbClr val="404040"/>
                </a:solidFill>
                <a:latin typeface="Times New Roman"/>
                <a:cs typeface="Times New Roman"/>
              </a:rPr>
              <a:t>of</a:t>
            </a:r>
            <a:r>
              <a:rPr sz="1600" b="1" spc="-30" dirty="0">
                <a:solidFill>
                  <a:srgbClr val="404040"/>
                </a:solidFill>
                <a:latin typeface="Times New Roman"/>
                <a:cs typeface="Times New Roman"/>
              </a:rPr>
              <a:t> </a:t>
            </a:r>
            <a:r>
              <a:rPr sz="1600" b="1" dirty="0">
                <a:solidFill>
                  <a:srgbClr val="404040"/>
                </a:solidFill>
                <a:latin typeface="Times New Roman"/>
                <a:cs typeface="Times New Roman"/>
              </a:rPr>
              <a:t>the</a:t>
            </a:r>
            <a:r>
              <a:rPr sz="1600" b="1" spc="-25" dirty="0">
                <a:solidFill>
                  <a:srgbClr val="404040"/>
                </a:solidFill>
                <a:latin typeface="Times New Roman"/>
                <a:cs typeface="Times New Roman"/>
              </a:rPr>
              <a:t> </a:t>
            </a:r>
            <a:r>
              <a:rPr sz="1600" b="1" spc="-10" dirty="0">
                <a:solidFill>
                  <a:srgbClr val="404040"/>
                </a:solidFill>
                <a:latin typeface="Times New Roman"/>
                <a:cs typeface="Times New Roman"/>
              </a:rPr>
              <a:t>relation.</a:t>
            </a:r>
            <a:endParaRPr sz="1600">
              <a:latin typeface="Times New Roman"/>
              <a:cs typeface="Times New Roman"/>
            </a:endParaRPr>
          </a:p>
          <a:p>
            <a:pPr marL="12700">
              <a:lnSpc>
                <a:spcPct val="100000"/>
              </a:lnSpc>
              <a:spcBef>
                <a:spcPts val="994"/>
              </a:spcBef>
            </a:pPr>
            <a:r>
              <a:rPr sz="1800" b="1" u="sng" spc="-10" dirty="0">
                <a:solidFill>
                  <a:srgbClr val="6F2F9F"/>
                </a:solidFill>
                <a:uFill>
                  <a:solidFill>
                    <a:srgbClr val="6F2F9F"/>
                  </a:solidFill>
                </a:uFill>
                <a:latin typeface="Times New Roman"/>
                <a:cs typeface="Times New Roman"/>
              </a:rPr>
              <a:t>SOLUTION:</a:t>
            </a:r>
            <a:endParaRPr sz="1800">
              <a:latin typeface="Times New Roman"/>
              <a:cs typeface="Times New Roman"/>
            </a:endParaRPr>
          </a:p>
          <a:p>
            <a:pPr marL="12700">
              <a:lnSpc>
                <a:spcPct val="100000"/>
              </a:lnSpc>
              <a:spcBef>
                <a:spcPts val="994"/>
              </a:spcBef>
            </a:pPr>
            <a:r>
              <a:rPr sz="1800" dirty="0">
                <a:solidFill>
                  <a:srgbClr val="404040"/>
                </a:solidFill>
                <a:latin typeface="Times New Roman"/>
                <a:cs typeface="Times New Roman"/>
              </a:rPr>
              <a:t>The</a:t>
            </a:r>
            <a:r>
              <a:rPr sz="1800" spc="-45" dirty="0">
                <a:solidFill>
                  <a:srgbClr val="404040"/>
                </a:solidFill>
                <a:latin typeface="Times New Roman"/>
                <a:cs typeface="Times New Roman"/>
              </a:rPr>
              <a:t> </a:t>
            </a:r>
            <a:r>
              <a:rPr sz="1800" dirty="0">
                <a:solidFill>
                  <a:srgbClr val="404040"/>
                </a:solidFill>
                <a:latin typeface="Times New Roman"/>
                <a:cs typeface="Times New Roman"/>
              </a:rPr>
              <a:t>relation</a:t>
            </a:r>
            <a:r>
              <a:rPr sz="1800" spc="-40" dirty="0">
                <a:solidFill>
                  <a:srgbClr val="404040"/>
                </a:solidFill>
                <a:latin typeface="Times New Roman"/>
                <a:cs typeface="Times New Roman"/>
              </a:rPr>
              <a:t> </a:t>
            </a:r>
            <a:r>
              <a:rPr sz="1800" dirty="0">
                <a:solidFill>
                  <a:srgbClr val="404040"/>
                </a:solidFill>
                <a:latin typeface="Times New Roman"/>
                <a:cs typeface="Times New Roman"/>
              </a:rPr>
              <a:t>corresponding</a:t>
            </a:r>
            <a:r>
              <a:rPr sz="1800" spc="-40" dirty="0">
                <a:solidFill>
                  <a:srgbClr val="404040"/>
                </a:solidFill>
                <a:latin typeface="Times New Roman"/>
                <a:cs typeface="Times New Roman"/>
              </a:rPr>
              <a:t> </a:t>
            </a:r>
            <a:r>
              <a:rPr sz="1800" dirty="0">
                <a:solidFill>
                  <a:srgbClr val="404040"/>
                </a:solidFill>
                <a:latin typeface="Times New Roman"/>
                <a:cs typeface="Times New Roman"/>
              </a:rPr>
              <a:t>to</a:t>
            </a:r>
            <a:r>
              <a:rPr sz="1800" spc="-40" dirty="0">
                <a:solidFill>
                  <a:srgbClr val="404040"/>
                </a:solidFill>
                <a:latin typeface="Times New Roman"/>
                <a:cs typeface="Times New Roman"/>
              </a:rPr>
              <a:t> </a:t>
            </a:r>
            <a:r>
              <a:rPr sz="1800" dirty="0">
                <a:solidFill>
                  <a:srgbClr val="404040"/>
                </a:solidFill>
                <a:latin typeface="Times New Roman"/>
                <a:cs typeface="Times New Roman"/>
              </a:rPr>
              <a:t>the</a:t>
            </a:r>
            <a:r>
              <a:rPr sz="1800" spc="-45" dirty="0">
                <a:solidFill>
                  <a:srgbClr val="404040"/>
                </a:solidFill>
                <a:latin typeface="Times New Roman"/>
                <a:cs typeface="Times New Roman"/>
              </a:rPr>
              <a:t> </a:t>
            </a:r>
            <a:r>
              <a:rPr sz="1800" dirty="0">
                <a:solidFill>
                  <a:srgbClr val="404040"/>
                </a:solidFill>
                <a:latin typeface="Times New Roman"/>
                <a:cs typeface="Times New Roman"/>
              </a:rPr>
              <a:t>given</a:t>
            </a:r>
            <a:r>
              <a:rPr sz="1800" spc="-35" dirty="0">
                <a:solidFill>
                  <a:srgbClr val="404040"/>
                </a:solidFill>
                <a:latin typeface="Times New Roman"/>
                <a:cs typeface="Times New Roman"/>
              </a:rPr>
              <a:t> </a:t>
            </a:r>
            <a:r>
              <a:rPr sz="1800" dirty="0">
                <a:solidFill>
                  <a:srgbClr val="404040"/>
                </a:solidFill>
                <a:latin typeface="Times New Roman"/>
                <a:cs typeface="Times New Roman"/>
              </a:rPr>
              <a:t>Matrix</a:t>
            </a:r>
            <a:r>
              <a:rPr sz="1800" spc="-40" dirty="0">
                <a:solidFill>
                  <a:srgbClr val="404040"/>
                </a:solidFill>
                <a:latin typeface="Times New Roman"/>
                <a:cs typeface="Times New Roman"/>
              </a:rPr>
              <a:t> </a:t>
            </a:r>
            <a:r>
              <a:rPr sz="1800" spc="-25" dirty="0">
                <a:solidFill>
                  <a:srgbClr val="404040"/>
                </a:solidFill>
                <a:latin typeface="Times New Roman"/>
                <a:cs typeface="Times New Roman"/>
              </a:rPr>
              <a:t>is</a:t>
            </a:r>
            <a:endParaRPr sz="1800">
              <a:latin typeface="Times New Roman"/>
              <a:cs typeface="Times New Roman"/>
            </a:endParaRPr>
          </a:p>
          <a:p>
            <a:pPr marL="469900">
              <a:lnSpc>
                <a:spcPct val="100000"/>
              </a:lnSpc>
              <a:spcBef>
                <a:spcPts val="1010"/>
              </a:spcBef>
              <a:tabLst>
                <a:tab pos="755015" algn="l"/>
              </a:tabLst>
            </a:pPr>
            <a:r>
              <a:rPr sz="1250" spc="75" dirty="0">
                <a:solidFill>
                  <a:srgbClr val="90C225"/>
                </a:solidFill>
                <a:latin typeface="Lucida Sans Unicode"/>
                <a:cs typeface="Lucida Sans Unicode"/>
              </a:rPr>
              <a:t>▶</a:t>
            </a:r>
            <a:r>
              <a:rPr sz="1250" dirty="0">
                <a:solidFill>
                  <a:srgbClr val="90C225"/>
                </a:solidFill>
                <a:latin typeface="Lucida Sans Unicode"/>
                <a:cs typeface="Lucida Sans Unicode"/>
              </a:rPr>
              <a:t>	</a:t>
            </a:r>
            <a:r>
              <a:rPr sz="1600" dirty="0">
                <a:solidFill>
                  <a:srgbClr val="404040"/>
                </a:solidFill>
                <a:latin typeface="Times New Roman"/>
                <a:cs typeface="Times New Roman"/>
              </a:rPr>
              <a:t>R</a:t>
            </a:r>
            <a:r>
              <a:rPr sz="1600" spc="-15" dirty="0">
                <a:solidFill>
                  <a:srgbClr val="404040"/>
                </a:solidFill>
                <a:latin typeface="Times New Roman"/>
                <a:cs typeface="Times New Roman"/>
              </a:rPr>
              <a:t> </a:t>
            </a:r>
            <a:r>
              <a:rPr sz="1600" dirty="0">
                <a:solidFill>
                  <a:srgbClr val="404040"/>
                </a:solidFill>
                <a:latin typeface="Times New Roman"/>
                <a:cs typeface="Times New Roman"/>
              </a:rPr>
              <a:t>=</a:t>
            </a:r>
            <a:r>
              <a:rPr sz="1600" spc="-20" dirty="0">
                <a:solidFill>
                  <a:srgbClr val="404040"/>
                </a:solidFill>
                <a:latin typeface="Times New Roman"/>
                <a:cs typeface="Times New Roman"/>
              </a:rPr>
              <a:t> </a:t>
            </a:r>
            <a:r>
              <a:rPr sz="1600" dirty="0">
                <a:solidFill>
                  <a:srgbClr val="404040"/>
                </a:solidFill>
                <a:latin typeface="Times New Roman"/>
                <a:cs typeface="Times New Roman"/>
              </a:rPr>
              <a:t>{(1,1),</a:t>
            </a:r>
            <a:r>
              <a:rPr sz="1600" spc="-15" dirty="0">
                <a:solidFill>
                  <a:srgbClr val="404040"/>
                </a:solidFill>
                <a:latin typeface="Times New Roman"/>
                <a:cs typeface="Times New Roman"/>
              </a:rPr>
              <a:t> </a:t>
            </a:r>
            <a:r>
              <a:rPr sz="1600" dirty="0">
                <a:solidFill>
                  <a:srgbClr val="404040"/>
                </a:solidFill>
                <a:latin typeface="Times New Roman"/>
                <a:cs typeface="Times New Roman"/>
              </a:rPr>
              <a:t>(1,3),</a:t>
            </a:r>
            <a:r>
              <a:rPr sz="1600" spc="-10" dirty="0">
                <a:solidFill>
                  <a:srgbClr val="404040"/>
                </a:solidFill>
                <a:latin typeface="Times New Roman"/>
                <a:cs typeface="Times New Roman"/>
              </a:rPr>
              <a:t> </a:t>
            </a:r>
            <a:r>
              <a:rPr sz="1600" dirty="0">
                <a:solidFill>
                  <a:srgbClr val="404040"/>
                </a:solidFill>
                <a:latin typeface="Times New Roman"/>
                <a:cs typeface="Times New Roman"/>
              </a:rPr>
              <a:t>(2,1)</a:t>
            </a:r>
            <a:r>
              <a:rPr sz="1600" spc="-10" dirty="0">
                <a:solidFill>
                  <a:srgbClr val="404040"/>
                </a:solidFill>
                <a:latin typeface="Times New Roman"/>
                <a:cs typeface="Times New Roman"/>
              </a:rPr>
              <a:t> </a:t>
            </a:r>
            <a:r>
              <a:rPr sz="1600" dirty="0">
                <a:solidFill>
                  <a:srgbClr val="404040"/>
                </a:solidFill>
                <a:latin typeface="Times New Roman"/>
                <a:cs typeface="Times New Roman"/>
              </a:rPr>
              <a:t>,(3,2),</a:t>
            </a:r>
            <a:r>
              <a:rPr sz="1600" spc="-5" dirty="0">
                <a:solidFill>
                  <a:srgbClr val="404040"/>
                </a:solidFill>
                <a:latin typeface="Times New Roman"/>
                <a:cs typeface="Times New Roman"/>
              </a:rPr>
              <a:t> </a:t>
            </a:r>
            <a:r>
              <a:rPr sz="1600" spc="-10" dirty="0">
                <a:solidFill>
                  <a:srgbClr val="404040"/>
                </a:solidFill>
                <a:latin typeface="Times New Roman"/>
                <a:cs typeface="Times New Roman"/>
              </a:rPr>
              <a:t>(3,3)}</a:t>
            </a:r>
            <a:endParaRPr sz="1600">
              <a:latin typeface="Times New Roman"/>
              <a:cs typeface="Times New Roman"/>
            </a:endParaRPr>
          </a:p>
          <a:p>
            <a:pPr marL="12700">
              <a:lnSpc>
                <a:spcPct val="100000"/>
              </a:lnSpc>
              <a:spcBef>
                <a:spcPts val="1000"/>
              </a:spcBef>
            </a:pPr>
            <a:r>
              <a:rPr sz="1800" dirty="0">
                <a:solidFill>
                  <a:srgbClr val="404040"/>
                </a:solidFill>
                <a:latin typeface="Times New Roman"/>
                <a:cs typeface="Times New Roman"/>
              </a:rPr>
              <a:t>and</a:t>
            </a:r>
            <a:r>
              <a:rPr sz="1800" spc="-30" dirty="0">
                <a:solidFill>
                  <a:srgbClr val="404040"/>
                </a:solidFill>
                <a:latin typeface="Times New Roman"/>
                <a:cs typeface="Times New Roman"/>
              </a:rPr>
              <a:t> </a:t>
            </a:r>
            <a:r>
              <a:rPr sz="1800" dirty="0">
                <a:solidFill>
                  <a:srgbClr val="404040"/>
                </a:solidFill>
                <a:latin typeface="Times New Roman"/>
                <a:cs typeface="Times New Roman"/>
              </a:rPr>
              <a:t>its</a:t>
            </a:r>
            <a:r>
              <a:rPr sz="1800" spc="-30" dirty="0">
                <a:solidFill>
                  <a:srgbClr val="404040"/>
                </a:solidFill>
                <a:latin typeface="Times New Roman"/>
                <a:cs typeface="Times New Roman"/>
              </a:rPr>
              <a:t> </a:t>
            </a:r>
            <a:r>
              <a:rPr sz="1800" dirty="0">
                <a:solidFill>
                  <a:srgbClr val="404040"/>
                </a:solidFill>
                <a:latin typeface="Times New Roman"/>
                <a:cs typeface="Times New Roman"/>
              </a:rPr>
              <a:t>Directed</a:t>
            </a:r>
            <a:r>
              <a:rPr sz="1800" spc="-30" dirty="0">
                <a:solidFill>
                  <a:srgbClr val="404040"/>
                </a:solidFill>
                <a:latin typeface="Times New Roman"/>
                <a:cs typeface="Times New Roman"/>
              </a:rPr>
              <a:t> </a:t>
            </a:r>
            <a:r>
              <a:rPr sz="1800" dirty="0">
                <a:solidFill>
                  <a:srgbClr val="404040"/>
                </a:solidFill>
                <a:latin typeface="Times New Roman"/>
                <a:cs typeface="Times New Roman"/>
              </a:rPr>
              <a:t>graph</a:t>
            </a:r>
            <a:r>
              <a:rPr sz="1800" spc="-30" dirty="0">
                <a:solidFill>
                  <a:srgbClr val="404040"/>
                </a:solidFill>
                <a:latin typeface="Times New Roman"/>
                <a:cs typeface="Times New Roman"/>
              </a:rPr>
              <a:t> </a:t>
            </a:r>
            <a:r>
              <a:rPr sz="1800" dirty="0">
                <a:solidFill>
                  <a:srgbClr val="404040"/>
                </a:solidFill>
                <a:latin typeface="Times New Roman"/>
                <a:cs typeface="Times New Roman"/>
              </a:rPr>
              <a:t>is</a:t>
            </a:r>
            <a:r>
              <a:rPr sz="1800" spc="-30" dirty="0">
                <a:solidFill>
                  <a:srgbClr val="404040"/>
                </a:solidFill>
                <a:latin typeface="Times New Roman"/>
                <a:cs typeface="Times New Roman"/>
              </a:rPr>
              <a:t> </a:t>
            </a:r>
            <a:r>
              <a:rPr sz="1800" dirty="0">
                <a:solidFill>
                  <a:srgbClr val="404040"/>
                </a:solidFill>
                <a:latin typeface="Times New Roman"/>
                <a:cs typeface="Times New Roman"/>
              </a:rPr>
              <a:t>given</a:t>
            </a:r>
            <a:r>
              <a:rPr sz="1800" spc="-25" dirty="0">
                <a:solidFill>
                  <a:srgbClr val="404040"/>
                </a:solidFill>
                <a:latin typeface="Times New Roman"/>
                <a:cs typeface="Times New Roman"/>
              </a:rPr>
              <a:t> </a:t>
            </a:r>
            <a:r>
              <a:rPr sz="1800" spc="-10" dirty="0">
                <a:solidFill>
                  <a:srgbClr val="404040"/>
                </a:solidFill>
                <a:latin typeface="Times New Roman"/>
                <a:cs typeface="Times New Roman"/>
              </a:rPr>
              <a:t>below</a:t>
            </a:r>
            <a:endParaRPr sz="1800">
              <a:latin typeface="Times New Roman"/>
              <a:cs typeface="Times New Roman"/>
            </a:endParaRPr>
          </a:p>
        </p:txBody>
      </p:sp>
      <p:sp>
        <p:nvSpPr>
          <p:cNvPr id="5" name="object 5"/>
          <p:cNvSpPr txBox="1"/>
          <p:nvPr/>
        </p:nvSpPr>
        <p:spPr>
          <a:xfrm>
            <a:off x="2741103" y="4897105"/>
            <a:ext cx="147320" cy="315595"/>
          </a:xfrm>
          <a:prstGeom prst="rect">
            <a:avLst/>
          </a:prstGeom>
        </p:spPr>
        <p:txBody>
          <a:bodyPr vert="horz" wrap="square" lIns="0" tIns="12700" rIns="0" bIns="0" rtlCol="0">
            <a:spAutoFit/>
          </a:bodyPr>
          <a:lstStyle/>
          <a:p>
            <a:pPr marL="12700">
              <a:lnSpc>
                <a:spcPct val="100000"/>
              </a:lnSpc>
              <a:spcBef>
                <a:spcPts val="100"/>
              </a:spcBef>
            </a:pPr>
            <a:r>
              <a:rPr sz="1900" spc="-50" dirty="0">
                <a:latin typeface="Times New Roman"/>
                <a:cs typeface="Times New Roman"/>
              </a:rPr>
              <a:t>1</a:t>
            </a:r>
            <a:endParaRPr sz="1900">
              <a:latin typeface="Times New Roman"/>
              <a:cs typeface="Times New Roman"/>
            </a:endParaRPr>
          </a:p>
        </p:txBody>
      </p:sp>
      <p:sp>
        <p:nvSpPr>
          <p:cNvPr id="6" name="object 6"/>
          <p:cNvSpPr txBox="1"/>
          <p:nvPr/>
        </p:nvSpPr>
        <p:spPr>
          <a:xfrm>
            <a:off x="4844090" y="4859003"/>
            <a:ext cx="147320" cy="315595"/>
          </a:xfrm>
          <a:prstGeom prst="rect">
            <a:avLst/>
          </a:prstGeom>
        </p:spPr>
        <p:txBody>
          <a:bodyPr vert="horz" wrap="square" lIns="0" tIns="12700" rIns="0" bIns="0" rtlCol="0">
            <a:spAutoFit/>
          </a:bodyPr>
          <a:lstStyle/>
          <a:p>
            <a:pPr marL="12700">
              <a:lnSpc>
                <a:spcPct val="100000"/>
              </a:lnSpc>
              <a:spcBef>
                <a:spcPts val="100"/>
              </a:spcBef>
            </a:pPr>
            <a:r>
              <a:rPr sz="1900" spc="-50" dirty="0">
                <a:latin typeface="Times New Roman"/>
                <a:cs typeface="Times New Roman"/>
              </a:rPr>
              <a:t>2</a:t>
            </a:r>
            <a:endParaRPr sz="1900">
              <a:latin typeface="Times New Roman"/>
              <a:cs typeface="Times New Roman"/>
            </a:endParaRPr>
          </a:p>
        </p:txBody>
      </p:sp>
      <p:sp>
        <p:nvSpPr>
          <p:cNvPr id="7" name="object 7"/>
          <p:cNvSpPr txBox="1"/>
          <p:nvPr/>
        </p:nvSpPr>
        <p:spPr>
          <a:xfrm>
            <a:off x="3404819" y="6039501"/>
            <a:ext cx="147320" cy="315595"/>
          </a:xfrm>
          <a:prstGeom prst="rect">
            <a:avLst/>
          </a:prstGeom>
        </p:spPr>
        <p:txBody>
          <a:bodyPr vert="horz" wrap="square" lIns="0" tIns="12700" rIns="0" bIns="0" rtlCol="0">
            <a:spAutoFit/>
          </a:bodyPr>
          <a:lstStyle/>
          <a:p>
            <a:pPr marL="12700">
              <a:lnSpc>
                <a:spcPct val="100000"/>
              </a:lnSpc>
              <a:spcBef>
                <a:spcPts val="100"/>
              </a:spcBef>
            </a:pPr>
            <a:r>
              <a:rPr sz="1900" spc="-50" dirty="0">
                <a:latin typeface="Times New Roman"/>
                <a:cs typeface="Times New Roman"/>
              </a:rPr>
              <a:t>3</a:t>
            </a:r>
            <a:endParaRPr sz="1900">
              <a:latin typeface="Times New Roman"/>
              <a:cs typeface="Times New Roman"/>
            </a:endParaRPr>
          </a:p>
        </p:txBody>
      </p:sp>
      <p:grpSp>
        <p:nvGrpSpPr>
          <p:cNvPr id="8" name="object 8"/>
          <p:cNvGrpSpPr/>
          <p:nvPr/>
        </p:nvGrpSpPr>
        <p:grpSpPr>
          <a:xfrm>
            <a:off x="2212606" y="4520836"/>
            <a:ext cx="2798445" cy="2316480"/>
            <a:chOff x="2212606" y="4520836"/>
            <a:chExt cx="2798445" cy="2316480"/>
          </a:xfrm>
        </p:grpSpPr>
        <p:sp>
          <p:nvSpPr>
            <p:cNvPr id="9" name="object 9"/>
            <p:cNvSpPr/>
            <p:nvPr/>
          </p:nvSpPr>
          <p:spPr>
            <a:xfrm>
              <a:off x="2743922" y="4796611"/>
              <a:ext cx="26034" cy="31115"/>
            </a:xfrm>
            <a:custGeom>
              <a:avLst/>
              <a:gdLst/>
              <a:ahLst/>
              <a:cxnLst/>
              <a:rect l="l" t="t" r="r" b="b"/>
              <a:pathLst>
                <a:path w="26035" h="31114">
                  <a:moveTo>
                    <a:pt x="10401" y="0"/>
                  </a:moveTo>
                  <a:lnTo>
                    <a:pt x="0" y="5506"/>
                  </a:lnTo>
                  <a:lnTo>
                    <a:pt x="0" y="25232"/>
                  </a:lnTo>
                  <a:lnTo>
                    <a:pt x="10401" y="30738"/>
                  </a:lnTo>
                  <a:lnTo>
                    <a:pt x="19870" y="25232"/>
                  </a:lnTo>
                  <a:lnTo>
                    <a:pt x="25536" y="14964"/>
                  </a:lnTo>
                  <a:lnTo>
                    <a:pt x="19870" y="5506"/>
                  </a:lnTo>
                  <a:lnTo>
                    <a:pt x="10401" y="0"/>
                  </a:lnTo>
                  <a:close/>
                </a:path>
              </a:pathLst>
            </a:custGeom>
            <a:solidFill>
              <a:srgbClr val="1F1A17"/>
            </a:solidFill>
          </p:spPr>
          <p:txBody>
            <a:bodyPr wrap="square" lIns="0" tIns="0" rIns="0" bIns="0" rtlCol="0"/>
            <a:lstStyle/>
            <a:p>
              <a:endParaRPr/>
            </a:p>
          </p:txBody>
        </p:sp>
        <p:sp>
          <p:nvSpPr>
            <p:cNvPr id="10" name="object 10"/>
            <p:cNvSpPr/>
            <p:nvPr/>
          </p:nvSpPr>
          <p:spPr>
            <a:xfrm>
              <a:off x="2757156" y="4807656"/>
              <a:ext cx="26034" cy="31115"/>
            </a:xfrm>
            <a:custGeom>
              <a:avLst/>
              <a:gdLst/>
              <a:ahLst/>
              <a:cxnLst/>
              <a:rect l="l" t="t" r="r" b="b"/>
              <a:pathLst>
                <a:path w="26035" h="31114">
                  <a:moveTo>
                    <a:pt x="10401" y="0"/>
                  </a:moveTo>
                  <a:lnTo>
                    <a:pt x="19870" y="5506"/>
                  </a:lnTo>
                  <a:lnTo>
                    <a:pt x="25536" y="14964"/>
                  </a:lnTo>
                  <a:lnTo>
                    <a:pt x="19870" y="25200"/>
                  </a:lnTo>
                  <a:lnTo>
                    <a:pt x="10401" y="30706"/>
                  </a:lnTo>
                  <a:lnTo>
                    <a:pt x="0" y="25200"/>
                  </a:lnTo>
                  <a:lnTo>
                    <a:pt x="0" y="14964"/>
                  </a:lnTo>
                  <a:lnTo>
                    <a:pt x="0" y="5506"/>
                  </a:lnTo>
                  <a:lnTo>
                    <a:pt x="10401" y="0"/>
                  </a:lnTo>
                </a:path>
              </a:pathLst>
            </a:custGeom>
            <a:ln w="5065">
              <a:solidFill>
                <a:srgbClr val="1F1A17"/>
              </a:solidFill>
            </a:ln>
          </p:spPr>
          <p:txBody>
            <a:bodyPr wrap="square" lIns="0" tIns="0" rIns="0" bIns="0" rtlCol="0"/>
            <a:lstStyle/>
            <a:p>
              <a:endParaRPr/>
            </a:p>
          </p:txBody>
        </p:sp>
        <p:sp>
          <p:nvSpPr>
            <p:cNvPr id="11" name="object 11"/>
            <p:cNvSpPr/>
            <p:nvPr/>
          </p:nvSpPr>
          <p:spPr>
            <a:xfrm>
              <a:off x="2212594" y="4638255"/>
              <a:ext cx="551815" cy="485140"/>
            </a:xfrm>
            <a:custGeom>
              <a:avLst/>
              <a:gdLst/>
              <a:ahLst/>
              <a:cxnLst/>
              <a:rect l="l" t="t" r="r" b="b"/>
              <a:pathLst>
                <a:path w="551814" h="485139">
                  <a:moveTo>
                    <a:pt x="551192" y="178866"/>
                  </a:moveTo>
                  <a:lnTo>
                    <a:pt x="515251" y="137896"/>
                  </a:lnTo>
                  <a:lnTo>
                    <a:pt x="485025" y="107149"/>
                  </a:lnTo>
                  <a:lnTo>
                    <a:pt x="417880" y="51219"/>
                  </a:lnTo>
                  <a:lnTo>
                    <a:pt x="381939" y="36245"/>
                  </a:lnTo>
                  <a:lnTo>
                    <a:pt x="350761" y="20472"/>
                  </a:lnTo>
                  <a:lnTo>
                    <a:pt x="288353" y="0"/>
                  </a:lnTo>
                  <a:lnTo>
                    <a:pt x="201383" y="0"/>
                  </a:lnTo>
                  <a:lnTo>
                    <a:pt x="149377" y="20472"/>
                  </a:lnTo>
                  <a:lnTo>
                    <a:pt x="103060" y="46482"/>
                  </a:lnTo>
                  <a:lnTo>
                    <a:pt x="52006" y="102425"/>
                  </a:lnTo>
                  <a:lnTo>
                    <a:pt x="20802" y="148120"/>
                  </a:lnTo>
                  <a:lnTo>
                    <a:pt x="5676" y="193827"/>
                  </a:lnTo>
                  <a:lnTo>
                    <a:pt x="0" y="245033"/>
                  </a:lnTo>
                  <a:lnTo>
                    <a:pt x="0" y="300977"/>
                  </a:lnTo>
                  <a:lnTo>
                    <a:pt x="26479" y="377418"/>
                  </a:lnTo>
                  <a:lnTo>
                    <a:pt x="62407" y="423900"/>
                  </a:lnTo>
                  <a:lnTo>
                    <a:pt x="103060" y="459333"/>
                  </a:lnTo>
                  <a:lnTo>
                    <a:pt x="159778" y="479844"/>
                  </a:lnTo>
                  <a:lnTo>
                    <a:pt x="190982" y="484568"/>
                  </a:lnTo>
                  <a:lnTo>
                    <a:pt x="258102" y="484568"/>
                  </a:lnTo>
                  <a:lnTo>
                    <a:pt x="329958" y="469607"/>
                  </a:lnTo>
                  <a:lnTo>
                    <a:pt x="392341" y="449097"/>
                  </a:lnTo>
                  <a:lnTo>
                    <a:pt x="453821" y="418401"/>
                  </a:lnTo>
                  <a:lnTo>
                    <a:pt x="500113" y="377418"/>
                  </a:lnTo>
                  <a:lnTo>
                    <a:pt x="531317" y="337223"/>
                  </a:lnTo>
                  <a:lnTo>
                    <a:pt x="510514" y="326986"/>
                  </a:lnTo>
                  <a:lnTo>
                    <a:pt x="500113" y="347459"/>
                  </a:lnTo>
                  <a:lnTo>
                    <a:pt x="464223" y="382930"/>
                  </a:lnTo>
                  <a:lnTo>
                    <a:pt x="443420" y="397891"/>
                  </a:lnTo>
                  <a:lnTo>
                    <a:pt x="386676" y="428625"/>
                  </a:lnTo>
                  <a:lnTo>
                    <a:pt x="319557" y="449097"/>
                  </a:lnTo>
                  <a:lnTo>
                    <a:pt x="288353" y="459333"/>
                  </a:lnTo>
                  <a:lnTo>
                    <a:pt x="258102" y="464870"/>
                  </a:lnTo>
                  <a:lnTo>
                    <a:pt x="195707" y="464870"/>
                  </a:lnTo>
                  <a:lnTo>
                    <a:pt x="138988" y="454609"/>
                  </a:lnTo>
                  <a:lnTo>
                    <a:pt x="113461" y="444373"/>
                  </a:lnTo>
                  <a:lnTo>
                    <a:pt x="98323" y="428625"/>
                  </a:lnTo>
                  <a:lnTo>
                    <a:pt x="56730" y="387654"/>
                  </a:lnTo>
                  <a:lnTo>
                    <a:pt x="46329" y="367157"/>
                  </a:lnTo>
                  <a:lnTo>
                    <a:pt x="35928" y="341947"/>
                  </a:lnTo>
                  <a:lnTo>
                    <a:pt x="26479" y="321487"/>
                  </a:lnTo>
                  <a:lnTo>
                    <a:pt x="20802" y="296252"/>
                  </a:lnTo>
                  <a:lnTo>
                    <a:pt x="20802" y="250545"/>
                  </a:lnTo>
                  <a:lnTo>
                    <a:pt x="26479" y="199339"/>
                  </a:lnTo>
                  <a:lnTo>
                    <a:pt x="41605" y="153631"/>
                  </a:lnTo>
                  <a:lnTo>
                    <a:pt x="67132" y="112661"/>
                  </a:lnTo>
                  <a:lnTo>
                    <a:pt x="98323" y="76415"/>
                  </a:lnTo>
                  <a:lnTo>
                    <a:pt x="138988" y="51219"/>
                  </a:lnTo>
                  <a:lnTo>
                    <a:pt x="159778" y="36245"/>
                  </a:lnTo>
                  <a:lnTo>
                    <a:pt x="180581" y="30746"/>
                  </a:lnTo>
                  <a:lnTo>
                    <a:pt x="232575" y="20472"/>
                  </a:lnTo>
                  <a:lnTo>
                    <a:pt x="283629" y="20472"/>
                  </a:lnTo>
                  <a:lnTo>
                    <a:pt x="345084" y="40982"/>
                  </a:lnTo>
                  <a:lnTo>
                    <a:pt x="371538" y="51219"/>
                  </a:lnTo>
                  <a:lnTo>
                    <a:pt x="401815" y="71678"/>
                  </a:lnTo>
                  <a:lnTo>
                    <a:pt x="438683" y="92189"/>
                  </a:lnTo>
                  <a:lnTo>
                    <a:pt x="500113" y="153631"/>
                  </a:lnTo>
                  <a:lnTo>
                    <a:pt x="531317" y="189103"/>
                  </a:lnTo>
                  <a:lnTo>
                    <a:pt x="551192" y="178866"/>
                  </a:lnTo>
                  <a:close/>
                </a:path>
              </a:pathLst>
            </a:custGeom>
            <a:solidFill>
              <a:srgbClr val="1F1A17"/>
            </a:solidFill>
          </p:spPr>
          <p:txBody>
            <a:bodyPr wrap="square" lIns="0" tIns="0" rIns="0" bIns="0" rtlCol="0"/>
            <a:lstStyle/>
            <a:p>
              <a:endParaRPr/>
            </a:p>
          </p:txBody>
        </p:sp>
        <p:pic>
          <p:nvPicPr>
            <p:cNvPr id="12" name="object 12"/>
            <p:cNvPicPr/>
            <p:nvPr/>
          </p:nvPicPr>
          <p:blipFill>
            <a:blip r:embed="rId2" cstate="print"/>
            <a:stretch>
              <a:fillRect/>
            </a:stretch>
          </p:blipFill>
          <p:spPr>
            <a:xfrm>
              <a:off x="2651283" y="4934499"/>
              <a:ext cx="112509" cy="122145"/>
            </a:xfrm>
            <a:prstGeom prst="rect">
              <a:avLst/>
            </a:prstGeom>
          </p:spPr>
        </p:pic>
        <p:sp>
          <p:nvSpPr>
            <p:cNvPr id="13" name="object 13"/>
            <p:cNvSpPr/>
            <p:nvPr/>
          </p:nvSpPr>
          <p:spPr>
            <a:xfrm>
              <a:off x="3382070" y="6342495"/>
              <a:ext cx="31750" cy="25400"/>
            </a:xfrm>
            <a:custGeom>
              <a:avLst/>
              <a:gdLst/>
              <a:ahLst/>
              <a:cxnLst/>
              <a:rect l="l" t="t" r="r" b="b"/>
              <a:pathLst>
                <a:path w="31750" h="25400">
                  <a:moveTo>
                    <a:pt x="26468" y="0"/>
                  </a:moveTo>
                  <a:lnTo>
                    <a:pt x="10401" y="0"/>
                  </a:lnTo>
                  <a:lnTo>
                    <a:pt x="5705" y="10235"/>
                  </a:lnTo>
                  <a:lnTo>
                    <a:pt x="0" y="20470"/>
                  </a:lnTo>
                  <a:lnTo>
                    <a:pt x="10401" y="25200"/>
                  </a:lnTo>
                  <a:lnTo>
                    <a:pt x="20802" y="25200"/>
                  </a:lnTo>
                  <a:lnTo>
                    <a:pt x="31203" y="20470"/>
                  </a:lnTo>
                  <a:lnTo>
                    <a:pt x="31203" y="10235"/>
                  </a:lnTo>
                  <a:lnTo>
                    <a:pt x="26468" y="0"/>
                  </a:lnTo>
                  <a:close/>
                </a:path>
              </a:pathLst>
            </a:custGeom>
            <a:solidFill>
              <a:srgbClr val="1F1A17"/>
            </a:solidFill>
          </p:spPr>
          <p:txBody>
            <a:bodyPr wrap="square" lIns="0" tIns="0" rIns="0" bIns="0" rtlCol="0"/>
            <a:lstStyle/>
            <a:p>
              <a:endParaRPr/>
            </a:p>
          </p:txBody>
        </p:sp>
        <p:sp>
          <p:nvSpPr>
            <p:cNvPr id="14" name="object 14"/>
            <p:cNvSpPr/>
            <p:nvPr/>
          </p:nvSpPr>
          <p:spPr>
            <a:xfrm>
              <a:off x="3395304" y="6353541"/>
              <a:ext cx="31750" cy="25400"/>
            </a:xfrm>
            <a:custGeom>
              <a:avLst/>
              <a:gdLst/>
              <a:ahLst/>
              <a:cxnLst/>
              <a:rect l="l" t="t" r="r" b="b"/>
              <a:pathLst>
                <a:path w="31750" h="25400">
                  <a:moveTo>
                    <a:pt x="0" y="20470"/>
                  </a:moveTo>
                  <a:lnTo>
                    <a:pt x="5705" y="10235"/>
                  </a:lnTo>
                  <a:lnTo>
                    <a:pt x="10401" y="0"/>
                  </a:lnTo>
                  <a:lnTo>
                    <a:pt x="26468" y="0"/>
                  </a:lnTo>
                  <a:lnTo>
                    <a:pt x="31203" y="10235"/>
                  </a:lnTo>
                  <a:lnTo>
                    <a:pt x="31203" y="20470"/>
                  </a:lnTo>
                  <a:lnTo>
                    <a:pt x="20802" y="25200"/>
                  </a:lnTo>
                  <a:lnTo>
                    <a:pt x="10401" y="25200"/>
                  </a:lnTo>
                  <a:lnTo>
                    <a:pt x="0" y="20470"/>
                  </a:lnTo>
                </a:path>
              </a:pathLst>
            </a:custGeom>
            <a:ln w="4889">
              <a:solidFill>
                <a:srgbClr val="1F1A17"/>
              </a:solidFill>
            </a:ln>
          </p:spPr>
          <p:txBody>
            <a:bodyPr wrap="square" lIns="0" tIns="0" rIns="0" bIns="0" rtlCol="0"/>
            <a:lstStyle/>
            <a:p>
              <a:endParaRPr/>
            </a:p>
          </p:txBody>
        </p:sp>
        <p:sp>
          <p:nvSpPr>
            <p:cNvPr id="15" name="object 15"/>
            <p:cNvSpPr/>
            <p:nvPr/>
          </p:nvSpPr>
          <p:spPr>
            <a:xfrm>
              <a:off x="3331032" y="6301524"/>
              <a:ext cx="510540" cy="535940"/>
            </a:xfrm>
            <a:custGeom>
              <a:avLst/>
              <a:gdLst/>
              <a:ahLst/>
              <a:cxnLst/>
              <a:rect l="l" t="t" r="r" b="b"/>
              <a:pathLst>
                <a:path w="510539" h="535940">
                  <a:moveTo>
                    <a:pt x="510501" y="311238"/>
                  </a:moveTo>
                  <a:lnTo>
                    <a:pt x="484035" y="219062"/>
                  </a:lnTo>
                  <a:lnTo>
                    <a:pt x="448132" y="158356"/>
                  </a:lnTo>
                  <a:lnTo>
                    <a:pt x="380987" y="81953"/>
                  </a:lnTo>
                  <a:lnTo>
                    <a:pt x="329958" y="40982"/>
                  </a:lnTo>
                  <a:lnTo>
                    <a:pt x="273215" y="10236"/>
                  </a:lnTo>
                  <a:lnTo>
                    <a:pt x="221208" y="0"/>
                  </a:lnTo>
                  <a:lnTo>
                    <a:pt x="221208" y="20510"/>
                  </a:lnTo>
                  <a:lnTo>
                    <a:pt x="267550" y="30746"/>
                  </a:lnTo>
                  <a:lnTo>
                    <a:pt x="294017" y="45707"/>
                  </a:lnTo>
                  <a:lnTo>
                    <a:pt x="365861" y="96913"/>
                  </a:lnTo>
                  <a:lnTo>
                    <a:pt x="412191" y="148132"/>
                  </a:lnTo>
                  <a:lnTo>
                    <a:pt x="448132" y="199339"/>
                  </a:lnTo>
                  <a:lnTo>
                    <a:pt x="484035" y="286016"/>
                  </a:lnTo>
                  <a:lnTo>
                    <a:pt x="489699" y="311238"/>
                  </a:lnTo>
                  <a:lnTo>
                    <a:pt x="489699" y="336448"/>
                  </a:lnTo>
                  <a:lnTo>
                    <a:pt x="473633" y="387654"/>
                  </a:lnTo>
                  <a:lnTo>
                    <a:pt x="443395" y="428637"/>
                  </a:lnTo>
                  <a:lnTo>
                    <a:pt x="407454" y="464083"/>
                  </a:lnTo>
                  <a:lnTo>
                    <a:pt x="391388" y="479844"/>
                  </a:lnTo>
                  <a:lnTo>
                    <a:pt x="365861" y="490080"/>
                  </a:lnTo>
                  <a:lnTo>
                    <a:pt x="345059" y="500329"/>
                  </a:lnTo>
                  <a:lnTo>
                    <a:pt x="298754" y="515302"/>
                  </a:lnTo>
                  <a:lnTo>
                    <a:pt x="252412" y="515302"/>
                  </a:lnTo>
                  <a:lnTo>
                    <a:pt x="201383" y="509790"/>
                  </a:lnTo>
                  <a:lnTo>
                    <a:pt x="154114" y="494817"/>
                  </a:lnTo>
                  <a:lnTo>
                    <a:pt x="113436" y="474332"/>
                  </a:lnTo>
                  <a:lnTo>
                    <a:pt x="92633" y="459359"/>
                  </a:lnTo>
                  <a:lnTo>
                    <a:pt x="77495" y="438873"/>
                  </a:lnTo>
                  <a:lnTo>
                    <a:pt x="61429" y="418388"/>
                  </a:lnTo>
                  <a:lnTo>
                    <a:pt x="41605" y="377418"/>
                  </a:lnTo>
                  <a:lnTo>
                    <a:pt x="25539" y="321475"/>
                  </a:lnTo>
                  <a:lnTo>
                    <a:pt x="20802" y="290741"/>
                  </a:lnTo>
                  <a:lnTo>
                    <a:pt x="25539" y="255295"/>
                  </a:lnTo>
                  <a:lnTo>
                    <a:pt x="31203" y="219062"/>
                  </a:lnTo>
                  <a:lnTo>
                    <a:pt x="35941" y="183591"/>
                  </a:lnTo>
                  <a:lnTo>
                    <a:pt x="51028" y="142621"/>
                  </a:lnTo>
                  <a:lnTo>
                    <a:pt x="67094" y="102425"/>
                  </a:lnTo>
                  <a:lnTo>
                    <a:pt x="87896" y="55943"/>
                  </a:lnTo>
                  <a:lnTo>
                    <a:pt x="67094" y="45707"/>
                  </a:lnTo>
                  <a:lnTo>
                    <a:pt x="46329" y="92189"/>
                  </a:lnTo>
                  <a:lnTo>
                    <a:pt x="31203" y="137896"/>
                  </a:lnTo>
                  <a:lnTo>
                    <a:pt x="15138" y="178866"/>
                  </a:lnTo>
                  <a:lnTo>
                    <a:pt x="4737" y="219062"/>
                  </a:lnTo>
                  <a:lnTo>
                    <a:pt x="4737" y="255295"/>
                  </a:lnTo>
                  <a:lnTo>
                    <a:pt x="0" y="290741"/>
                  </a:lnTo>
                  <a:lnTo>
                    <a:pt x="10401" y="352209"/>
                  </a:lnTo>
                  <a:lnTo>
                    <a:pt x="31203" y="408139"/>
                  </a:lnTo>
                  <a:lnTo>
                    <a:pt x="61429" y="453847"/>
                  </a:lnTo>
                  <a:lnTo>
                    <a:pt x="123837" y="505053"/>
                  </a:lnTo>
                  <a:lnTo>
                    <a:pt x="195681" y="530275"/>
                  </a:lnTo>
                  <a:lnTo>
                    <a:pt x="247675" y="535787"/>
                  </a:lnTo>
                  <a:lnTo>
                    <a:pt x="304419" y="535787"/>
                  </a:lnTo>
                  <a:lnTo>
                    <a:pt x="350761" y="520026"/>
                  </a:lnTo>
                  <a:lnTo>
                    <a:pt x="376262" y="509790"/>
                  </a:lnTo>
                  <a:lnTo>
                    <a:pt x="401789" y="500329"/>
                  </a:lnTo>
                  <a:lnTo>
                    <a:pt x="422592" y="484568"/>
                  </a:lnTo>
                  <a:lnTo>
                    <a:pt x="464197" y="443598"/>
                  </a:lnTo>
                  <a:lnTo>
                    <a:pt x="479336" y="418388"/>
                  </a:lnTo>
                  <a:lnTo>
                    <a:pt x="489699" y="393179"/>
                  </a:lnTo>
                  <a:lnTo>
                    <a:pt x="504837" y="367169"/>
                  </a:lnTo>
                  <a:lnTo>
                    <a:pt x="510501" y="336448"/>
                  </a:lnTo>
                  <a:lnTo>
                    <a:pt x="510501" y="311238"/>
                  </a:lnTo>
                  <a:close/>
                </a:path>
              </a:pathLst>
            </a:custGeom>
            <a:solidFill>
              <a:srgbClr val="1F1A17"/>
            </a:solidFill>
          </p:spPr>
          <p:txBody>
            <a:bodyPr wrap="square" lIns="0" tIns="0" rIns="0" bIns="0" rtlCol="0"/>
            <a:lstStyle/>
            <a:p>
              <a:endParaRPr/>
            </a:p>
          </p:txBody>
        </p:sp>
        <p:pic>
          <p:nvPicPr>
            <p:cNvPr id="16" name="object 16"/>
            <p:cNvPicPr/>
            <p:nvPr/>
          </p:nvPicPr>
          <p:blipFill>
            <a:blip r:embed="rId3" cstate="print"/>
            <a:stretch>
              <a:fillRect/>
            </a:stretch>
          </p:blipFill>
          <p:spPr>
            <a:xfrm>
              <a:off x="3516313" y="6250311"/>
              <a:ext cx="113479" cy="127652"/>
            </a:xfrm>
            <a:prstGeom prst="rect">
              <a:avLst/>
            </a:prstGeom>
          </p:spPr>
        </p:pic>
        <p:sp>
          <p:nvSpPr>
            <p:cNvPr id="17" name="object 17"/>
            <p:cNvSpPr/>
            <p:nvPr/>
          </p:nvSpPr>
          <p:spPr>
            <a:xfrm>
              <a:off x="4809647" y="4949463"/>
              <a:ext cx="41910" cy="41275"/>
            </a:xfrm>
            <a:custGeom>
              <a:avLst/>
              <a:gdLst/>
              <a:ahLst/>
              <a:cxnLst/>
              <a:rect l="l" t="t" r="r" b="b"/>
              <a:pathLst>
                <a:path w="41910" h="41275">
                  <a:moveTo>
                    <a:pt x="25536" y="0"/>
                  </a:moveTo>
                  <a:lnTo>
                    <a:pt x="20802" y="0"/>
                  </a:lnTo>
                  <a:lnTo>
                    <a:pt x="16067" y="0"/>
                  </a:lnTo>
                  <a:lnTo>
                    <a:pt x="5666" y="5538"/>
                  </a:lnTo>
                  <a:lnTo>
                    <a:pt x="5666" y="10267"/>
                  </a:lnTo>
                  <a:lnTo>
                    <a:pt x="0" y="20503"/>
                  </a:lnTo>
                  <a:lnTo>
                    <a:pt x="5666" y="30738"/>
                  </a:lnTo>
                  <a:lnTo>
                    <a:pt x="5666" y="36245"/>
                  </a:lnTo>
                  <a:lnTo>
                    <a:pt x="16067" y="40974"/>
                  </a:lnTo>
                  <a:lnTo>
                    <a:pt x="25536" y="40974"/>
                  </a:lnTo>
                  <a:lnTo>
                    <a:pt x="35937" y="36245"/>
                  </a:lnTo>
                  <a:lnTo>
                    <a:pt x="35937" y="30738"/>
                  </a:lnTo>
                  <a:lnTo>
                    <a:pt x="41604" y="20503"/>
                  </a:lnTo>
                  <a:lnTo>
                    <a:pt x="35937" y="10267"/>
                  </a:lnTo>
                  <a:lnTo>
                    <a:pt x="35937" y="5538"/>
                  </a:lnTo>
                  <a:lnTo>
                    <a:pt x="25536" y="0"/>
                  </a:lnTo>
                  <a:close/>
                </a:path>
              </a:pathLst>
            </a:custGeom>
            <a:solidFill>
              <a:srgbClr val="1F1A17"/>
            </a:solidFill>
          </p:spPr>
          <p:txBody>
            <a:bodyPr wrap="square" lIns="0" tIns="0" rIns="0" bIns="0" rtlCol="0"/>
            <a:lstStyle/>
            <a:p>
              <a:endParaRPr/>
            </a:p>
          </p:txBody>
        </p:sp>
        <p:sp>
          <p:nvSpPr>
            <p:cNvPr id="18" name="object 18"/>
            <p:cNvSpPr/>
            <p:nvPr/>
          </p:nvSpPr>
          <p:spPr>
            <a:xfrm>
              <a:off x="4822881" y="4960509"/>
              <a:ext cx="41910" cy="41275"/>
            </a:xfrm>
            <a:custGeom>
              <a:avLst/>
              <a:gdLst/>
              <a:ahLst/>
              <a:cxnLst/>
              <a:rect l="l" t="t" r="r" b="b"/>
              <a:pathLst>
                <a:path w="41910" h="41275">
                  <a:moveTo>
                    <a:pt x="20802" y="0"/>
                  </a:moveTo>
                  <a:lnTo>
                    <a:pt x="25536" y="0"/>
                  </a:lnTo>
                  <a:lnTo>
                    <a:pt x="35937" y="5506"/>
                  </a:lnTo>
                  <a:lnTo>
                    <a:pt x="35937" y="10235"/>
                  </a:lnTo>
                  <a:lnTo>
                    <a:pt x="41604" y="20470"/>
                  </a:lnTo>
                  <a:lnTo>
                    <a:pt x="35937" y="30738"/>
                  </a:lnTo>
                  <a:lnTo>
                    <a:pt x="35937" y="36245"/>
                  </a:lnTo>
                  <a:lnTo>
                    <a:pt x="25536" y="40974"/>
                  </a:lnTo>
                  <a:lnTo>
                    <a:pt x="20802" y="40974"/>
                  </a:lnTo>
                  <a:lnTo>
                    <a:pt x="16067" y="40974"/>
                  </a:lnTo>
                  <a:lnTo>
                    <a:pt x="5705" y="36245"/>
                  </a:lnTo>
                  <a:lnTo>
                    <a:pt x="5705" y="30738"/>
                  </a:lnTo>
                  <a:lnTo>
                    <a:pt x="0" y="20470"/>
                  </a:lnTo>
                  <a:lnTo>
                    <a:pt x="5705" y="10235"/>
                  </a:lnTo>
                  <a:lnTo>
                    <a:pt x="5705" y="5506"/>
                  </a:lnTo>
                  <a:lnTo>
                    <a:pt x="16067" y="0"/>
                  </a:lnTo>
                  <a:lnTo>
                    <a:pt x="20802" y="0"/>
                  </a:lnTo>
                </a:path>
              </a:pathLst>
            </a:custGeom>
            <a:ln w="4977">
              <a:solidFill>
                <a:srgbClr val="1F1A17"/>
              </a:solidFill>
            </a:ln>
          </p:spPr>
          <p:txBody>
            <a:bodyPr wrap="square" lIns="0" tIns="0" rIns="0" bIns="0" rtlCol="0"/>
            <a:lstStyle/>
            <a:p>
              <a:endParaRPr/>
            </a:p>
          </p:txBody>
        </p:sp>
        <p:sp>
          <p:nvSpPr>
            <p:cNvPr id="19" name="object 19"/>
            <p:cNvSpPr/>
            <p:nvPr/>
          </p:nvSpPr>
          <p:spPr>
            <a:xfrm>
              <a:off x="3717696" y="6322024"/>
              <a:ext cx="30480" cy="31115"/>
            </a:xfrm>
            <a:custGeom>
              <a:avLst/>
              <a:gdLst/>
              <a:ahLst/>
              <a:cxnLst/>
              <a:rect l="l" t="t" r="r" b="b"/>
              <a:pathLst>
                <a:path w="30479" h="31114">
                  <a:moveTo>
                    <a:pt x="20802" y="0"/>
                  </a:moveTo>
                  <a:lnTo>
                    <a:pt x="10401" y="0"/>
                  </a:lnTo>
                  <a:lnTo>
                    <a:pt x="0" y="10235"/>
                  </a:lnTo>
                  <a:lnTo>
                    <a:pt x="4734" y="20470"/>
                  </a:lnTo>
                  <a:lnTo>
                    <a:pt x="10401" y="30706"/>
                  </a:lnTo>
                  <a:lnTo>
                    <a:pt x="25536" y="30706"/>
                  </a:lnTo>
                  <a:lnTo>
                    <a:pt x="30271" y="20470"/>
                  </a:lnTo>
                  <a:lnTo>
                    <a:pt x="30271" y="10235"/>
                  </a:lnTo>
                  <a:lnTo>
                    <a:pt x="20802" y="0"/>
                  </a:lnTo>
                  <a:close/>
                </a:path>
              </a:pathLst>
            </a:custGeom>
            <a:solidFill>
              <a:srgbClr val="1F1A17"/>
            </a:solidFill>
          </p:spPr>
          <p:txBody>
            <a:bodyPr wrap="square" lIns="0" tIns="0" rIns="0" bIns="0" rtlCol="0"/>
            <a:lstStyle/>
            <a:p>
              <a:endParaRPr/>
            </a:p>
          </p:txBody>
        </p:sp>
        <p:sp>
          <p:nvSpPr>
            <p:cNvPr id="20" name="object 20"/>
            <p:cNvSpPr/>
            <p:nvPr/>
          </p:nvSpPr>
          <p:spPr>
            <a:xfrm>
              <a:off x="3730930" y="6333037"/>
              <a:ext cx="30480" cy="31115"/>
            </a:xfrm>
            <a:custGeom>
              <a:avLst/>
              <a:gdLst/>
              <a:ahLst/>
              <a:cxnLst/>
              <a:rect l="l" t="t" r="r" b="b"/>
              <a:pathLst>
                <a:path w="30479" h="31114">
                  <a:moveTo>
                    <a:pt x="10401" y="0"/>
                  </a:moveTo>
                  <a:lnTo>
                    <a:pt x="20802" y="0"/>
                  </a:lnTo>
                  <a:lnTo>
                    <a:pt x="30271" y="10235"/>
                  </a:lnTo>
                  <a:lnTo>
                    <a:pt x="30271" y="20503"/>
                  </a:lnTo>
                  <a:lnTo>
                    <a:pt x="25536" y="30738"/>
                  </a:lnTo>
                  <a:lnTo>
                    <a:pt x="10401" y="30738"/>
                  </a:lnTo>
                  <a:lnTo>
                    <a:pt x="4734" y="20503"/>
                  </a:lnTo>
                  <a:lnTo>
                    <a:pt x="0" y="10235"/>
                  </a:lnTo>
                  <a:lnTo>
                    <a:pt x="10401" y="0"/>
                  </a:lnTo>
                </a:path>
              </a:pathLst>
            </a:custGeom>
            <a:ln w="4990">
              <a:solidFill>
                <a:srgbClr val="1F1A17"/>
              </a:solidFill>
            </a:ln>
          </p:spPr>
          <p:txBody>
            <a:bodyPr wrap="square" lIns="0" tIns="0" rIns="0" bIns="0" rtlCol="0"/>
            <a:lstStyle/>
            <a:p>
              <a:endParaRPr/>
            </a:p>
          </p:txBody>
        </p:sp>
        <p:sp>
          <p:nvSpPr>
            <p:cNvPr id="21" name="object 21"/>
            <p:cNvSpPr/>
            <p:nvPr/>
          </p:nvSpPr>
          <p:spPr>
            <a:xfrm>
              <a:off x="3712030" y="5184264"/>
              <a:ext cx="1252855" cy="1173480"/>
            </a:xfrm>
            <a:custGeom>
              <a:avLst/>
              <a:gdLst/>
              <a:ahLst/>
              <a:cxnLst/>
              <a:rect l="l" t="t" r="r" b="b"/>
              <a:pathLst>
                <a:path w="1252854" h="1173479">
                  <a:moveTo>
                    <a:pt x="1231859" y="0"/>
                  </a:moveTo>
                  <a:lnTo>
                    <a:pt x="1216762" y="92184"/>
                  </a:lnTo>
                  <a:lnTo>
                    <a:pt x="1190294" y="219836"/>
                  </a:lnTo>
                  <a:lnTo>
                    <a:pt x="1170423" y="290740"/>
                  </a:lnTo>
                  <a:lnTo>
                    <a:pt x="1139220" y="372688"/>
                  </a:lnTo>
                  <a:lnTo>
                    <a:pt x="1097616" y="453827"/>
                  </a:lnTo>
                  <a:lnTo>
                    <a:pt x="1046581" y="535776"/>
                  </a:lnTo>
                  <a:lnTo>
                    <a:pt x="1015378" y="581480"/>
                  </a:lnTo>
                  <a:lnTo>
                    <a:pt x="979441" y="622454"/>
                  </a:lnTo>
                  <a:lnTo>
                    <a:pt x="943542" y="668157"/>
                  </a:lnTo>
                  <a:lnTo>
                    <a:pt x="897203" y="709132"/>
                  </a:lnTo>
                  <a:lnTo>
                    <a:pt x="850864" y="754835"/>
                  </a:lnTo>
                  <a:lnTo>
                    <a:pt x="747824" y="836752"/>
                  </a:lnTo>
                  <a:lnTo>
                    <a:pt x="685418" y="877726"/>
                  </a:lnTo>
                  <a:lnTo>
                    <a:pt x="618316" y="918700"/>
                  </a:lnTo>
                  <a:lnTo>
                    <a:pt x="546440" y="954168"/>
                  </a:lnTo>
                  <a:lnTo>
                    <a:pt x="468937" y="995143"/>
                  </a:lnTo>
                  <a:lnTo>
                    <a:pt x="386661" y="1030578"/>
                  </a:lnTo>
                  <a:lnTo>
                    <a:pt x="298757" y="1061317"/>
                  </a:lnTo>
                  <a:lnTo>
                    <a:pt x="206118" y="1096785"/>
                  </a:lnTo>
                  <a:lnTo>
                    <a:pt x="103039" y="1127492"/>
                  </a:lnTo>
                  <a:lnTo>
                    <a:pt x="0" y="1152724"/>
                  </a:lnTo>
                  <a:lnTo>
                    <a:pt x="5666" y="1173195"/>
                  </a:lnTo>
                  <a:lnTo>
                    <a:pt x="113440" y="1147995"/>
                  </a:lnTo>
                  <a:lnTo>
                    <a:pt x="211784" y="1117256"/>
                  </a:lnTo>
                  <a:lnTo>
                    <a:pt x="309158" y="1081821"/>
                  </a:lnTo>
                  <a:lnTo>
                    <a:pt x="397062" y="1045575"/>
                  </a:lnTo>
                  <a:lnTo>
                    <a:pt x="479338" y="1010107"/>
                  </a:lnTo>
                  <a:lnTo>
                    <a:pt x="556841" y="974639"/>
                  </a:lnTo>
                  <a:lnTo>
                    <a:pt x="628717" y="933665"/>
                  </a:lnTo>
                  <a:lnTo>
                    <a:pt x="695819" y="892691"/>
                  </a:lnTo>
                  <a:lnTo>
                    <a:pt x="757294" y="851749"/>
                  </a:lnTo>
                  <a:lnTo>
                    <a:pt x="813995" y="811552"/>
                  </a:lnTo>
                  <a:lnTo>
                    <a:pt x="866000" y="770577"/>
                  </a:lnTo>
                  <a:lnTo>
                    <a:pt x="912339" y="724096"/>
                  </a:lnTo>
                  <a:lnTo>
                    <a:pt x="958639" y="683899"/>
                  </a:lnTo>
                  <a:lnTo>
                    <a:pt x="1030514" y="591715"/>
                  </a:lnTo>
                  <a:lnTo>
                    <a:pt x="1061717" y="550741"/>
                  </a:lnTo>
                  <a:lnTo>
                    <a:pt x="1118418" y="464095"/>
                  </a:lnTo>
                  <a:lnTo>
                    <a:pt x="1160022" y="377417"/>
                  </a:lnTo>
                  <a:lnTo>
                    <a:pt x="1190294" y="296246"/>
                  </a:lnTo>
                  <a:lnTo>
                    <a:pt x="1211096" y="224565"/>
                  </a:lnTo>
                  <a:lnTo>
                    <a:pt x="1236594" y="96913"/>
                  </a:lnTo>
                  <a:lnTo>
                    <a:pt x="1252661" y="5506"/>
                  </a:lnTo>
                  <a:lnTo>
                    <a:pt x="1231859" y="0"/>
                  </a:lnTo>
                  <a:close/>
                </a:path>
              </a:pathLst>
            </a:custGeom>
            <a:solidFill>
              <a:srgbClr val="1F1A17"/>
            </a:solidFill>
          </p:spPr>
          <p:txBody>
            <a:bodyPr wrap="square" lIns="0" tIns="0" rIns="0" bIns="0" rtlCol="0"/>
            <a:lstStyle/>
            <a:p>
              <a:endParaRPr/>
            </a:p>
          </p:txBody>
        </p:sp>
        <p:pic>
          <p:nvPicPr>
            <p:cNvPr id="22" name="object 22"/>
            <p:cNvPicPr/>
            <p:nvPr/>
          </p:nvPicPr>
          <p:blipFill>
            <a:blip r:embed="rId4" cstate="print"/>
            <a:stretch>
              <a:fillRect/>
            </a:stretch>
          </p:blipFill>
          <p:spPr>
            <a:xfrm>
              <a:off x="4882454" y="5148829"/>
              <a:ext cx="128576" cy="117384"/>
            </a:xfrm>
            <a:prstGeom prst="rect">
              <a:avLst/>
            </a:prstGeom>
          </p:spPr>
        </p:pic>
        <p:sp>
          <p:nvSpPr>
            <p:cNvPr id="23" name="object 23"/>
            <p:cNvSpPr/>
            <p:nvPr/>
          </p:nvSpPr>
          <p:spPr>
            <a:xfrm>
              <a:off x="2800661" y="4520836"/>
              <a:ext cx="2045335" cy="449580"/>
            </a:xfrm>
            <a:custGeom>
              <a:avLst/>
              <a:gdLst/>
              <a:ahLst/>
              <a:cxnLst/>
              <a:rect l="l" t="t" r="r" b="b"/>
              <a:pathLst>
                <a:path w="2045335" h="449579">
                  <a:moveTo>
                    <a:pt x="1200656" y="0"/>
                  </a:moveTo>
                  <a:lnTo>
                    <a:pt x="973774" y="0"/>
                  </a:lnTo>
                  <a:lnTo>
                    <a:pt x="829130" y="20503"/>
                  </a:lnTo>
                  <a:lnTo>
                    <a:pt x="690153" y="46513"/>
                  </a:lnTo>
                  <a:lnTo>
                    <a:pt x="561576" y="86677"/>
                  </a:lnTo>
                  <a:lnTo>
                    <a:pt x="437734" y="127652"/>
                  </a:lnTo>
                  <a:lnTo>
                    <a:pt x="328990" y="174133"/>
                  </a:lnTo>
                  <a:lnTo>
                    <a:pt x="138977" y="265539"/>
                  </a:lnTo>
                  <a:lnTo>
                    <a:pt x="0" y="337253"/>
                  </a:lnTo>
                  <a:lnTo>
                    <a:pt x="10401" y="357724"/>
                  </a:lnTo>
                  <a:lnTo>
                    <a:pt x="149378" y="286010"/>
                  </a:lnTo>
                  <a:lnTo>
                    <a:pt x="334656" y="193826"/>
                  </a:lnTo>
                  <a:lnTo>
                    <a:pt x="448135" y="148155"/>
                  </a:lnTo>
                  <a:lnTo>
                    <a:pt x="566311" y="107181"/>
                  </a:lnTo>
                  <a:lnTo>
                    <a:pt x="694888" y="66984"/>
                  </a:lnTo>
                  <a:lnTo>
                    <a:pt x="834797" y="40974"/>
                  </a:lnTo>
                  <a:lnTo>
                    <a:pt x="900967" y="30738"/>
                  </a:lnTo>
                  <a:lnTo>
                    <a:pt x="973774" y="20503"/>
                  </a:lnTo>
                  <a:lnTo>
                    <a:pt x="1123153" y="20503"/>
                  </a:lnTo>
                  <a:lnTo>
                    <a:pt x="1194990" y="26009"/>
                  </a:lnTo>
                  <a:lnTo>
                    <a:pt x="1272532" y="30738"/>
                  </a:lnTo>
                  <a:lnTo>
                    <a:pt x="1344368" y="46513"/>
                  </a:lnTo>
                  <a:lnTo>
                    <a:pt x="1421910" y="66984"/>
                  </a:lnTo>
                  <a:lnTo>
                    <a:pt x="1499413" y="92184"/>
                  </a:lnTo>
                  <a:lnTo>
                    <a:pt x="1575985" y="122923"/>
                  </a:lnTo>
                  <a:lnTo>
                    <a:pt x="1653527" y="158391"/>
                  </a:lnTo>
                  <a:lnTo>
                    <a:pt x="1725363" y="204094"/>
                  </a:lnTo>
                  <a:lnTo>
                    <a:pt x="1802905" y="250575"/>
                  </a:lnTo>
                  <a:lnTo>
                    <a:pt x="1880408" y="311243"/>
                  </a:lnTo>
                  <a:lnTo>
                    <a:pt x="1952284" y="378195"/>
                  </a:lnTo>
                  <a:lnTo>
                    <a:pt x="2029787" y="449131"/>
                  </a:lnTo>
                  <a:lnTo>
                    <a:pt x="1968351" y="362453"/>
                  </a:lnTo>
                  <a:lnTo>
                    <a:pt x="1818973" y="234801"/>
                  </a:lnTo>
                  <a:lnTo>
                    <a:pt x="1741431" y="183591"/>
                  </a:lnTo>
                  <a:lnTo>
                    <a:pt x="1663928" y="137887"/>
                  </a:lnTo>
                  <a:lnTo>
                    <a:pt x="1586386" y="102452"/>
                  </a:lnTo>
                  <a:lnTo>
                    <a:pt x="1504148" y="71713"/>
                  </a:lnTo>
                  <a:lnTo>
                    <a:pt x="1426606" y="46513"/>
                  </a:lnTo>
                  <a:lnTo>
                    <a:pt x="1350035" y="26009"/>
                  </a:lnTo>
                  <a:lnTo>
                    <a:pt x="1272532" y="10267"/>
                  </a:lnTo>
                  <a:lnTo>
                    <a:pt x="1200656" y="0"/>
                  </a:lnTo>
                  <a:close/>
                </a:path>
              </a:pathLst>
            </a:custGeom>
            <a:solidFill>
              <a:srgbClr val="1F1A17"/>
            </a:solidFill>
          </p:spPr>
          <p:txBody>
            <a:bodyPr wrap="square" lIns="0" tIns="0" rIns="0" bIns="0" rtlCol="0"/>
            <a:lstStyle/>
            <a:p>
              <a:endParaRPr/>
            </a:p>
          </p:txBody>
        </p:sp>
        <p:pic>
          <p:nvPicPr>
            <p:cNvPr id="24" name="object 24"/>
            <p:cNvPicPr/>
            <p:nvPr/>
          </p:nvPicPr>
          <p:blipFill>
            <a:blip r:embed="rId5" cstate="print"/>
            <a:stretch>
              <a:fillRect/>
            </a:stretch>
          </p:blipFill>
          <p:spPr>
            <a:xfrm>
              <a:off x="2774193" y="4781646"/>
              <a:ext cx="119107" cy="111877"/>
            </a:xfrm>
            <a:prstGeom prst="rect">
              <a:avLst/>
            </a:prstGeom>
          </p:spPr>
        </p:pic>
        <p:sp>
          <p:nvSpPr>
            <p:cNvPr id="25" name="object 25"/>
            <p:cNvSpPr/>
            <p:nvPr/>
          </p:nvSpPr>
          <p:spPr>
            <a:xfrm>
              <a:off x="2588877" y="5112584"/>
              <a:ext cx="855980" cy="1203960"/>
            </a:xfrm>
            <a:custGeom>
              <a:avLst/>
              <a:gdLst/>
              <a:ahLst/>
              <a:cxnLst/>
              <a:rect l="l" t="t" r="r" b="b"/>
              <a:pathLst>
                <a:path w="855979" h="1203960">
                  <a:moveTo>
                    <a:pt x="62406" y="0"/>
                  </a:moveTo>
                  <a:lnTo>
                    <a:pt x="35937" y="112655"/>
                  </a:lnTo>
                  <a:lnTo>
                    <a:pt x="5666" y="311211"/>
                  </a:lnTo>
                  <a:lnTo>
                    <a:pt x="0" y="397888"/>
                  </a:lnTo>
                  <a:lnTo>
                    <a:pt x="0" y="485344"/>
                  </a:lnTo>
                  <a:lnTo>
                    <a:pt x="5666" y="561754"/>
                  </a:lnTo>
                  <a:lnTo>
                    <a:pt x="16067" y="632689"/>
                  </a:lnTo>
                  <a:lnTo>
                    <a:pt x="31203" y="698864"/>
                  </a:lnTo>
                  <a:lnTo>
                    <a:pt x="71836" y="811519"/>
                  </a:lnTo>
                  <a:lnTo>
                    <a:pt x="98343" y="862761"/>
                  </a:lnTo>
                  <a:lnTo>
                    <a:pt x="128576" y="908432"/>
                  </a:lnTo>
                  <a:lnTo>
                    <a:pt x="159779" y="949407"/>
                  </a:lnTo>
                  <a:lnTo>
                    <a:pt x="231616" y="1020343"/>
                  </a:lnTo>
                  <a:lnTo>
                    <a:pt x="273220" y="1051049"/>
                  </a:lnTo>
                  <a:lnTo>
                    <a:pt x="314824" y="1077059"/>
                  </a:lnTo>
                  <a:lnTo>
                    <a:pt x="397062" y="1117256"/>
                  </a:lnTo>
                  <a:lnTo>
                    <a:pt x="437734" y="1132998"/>
                  </a:lnTo>
                  <a:lnTo>
                    <a:pt x="525638" y="1158198"/>
                  </a:lnTo>
                  <a:lnTo>
                    <a:pt x="607915" y="1173972"/>
                  </a:lnTo>
                  <a:lnTo>
                    <a:pt x="752559" y="1193666"/>
                  </a:lnTo>
                  <a:lnTo>
                    <a:pt x="849932" y="1203902"/>
                  </a:lnTo>
                  <a:lnTo>
                    <a:pt x="855599" y="1178702"/>
                  </a:lnTo>
                  <a:lnTo>
                    <a:pt x="752559" y="1173972"/>
                  </a:lnTo>
                  <a:lnTo>
                    <a:pt x="607915" y="1153501"/>
                  </a:lnTo>
                  <a:lnTo>
                    <a:pt x="531343" y="1137727"/>
                  </a:lnTo>
                  <a:lnTo>
                    <a:pt x="448135" y="1112527"/>
                  </a:lnTo>
                  <a:lnTo>
                    <a:pt x="407463" y="1096753"/>
                  </a:lnTo>
                  <a:lnTo>
                    <a:pt x="365898" y="1077059"/>
                  </a:lnTo>
                  <a:lnTo>
                    <a:pt x="325225" y="1056588"/>
                  </a:lnTo>
                  <a:lnTo>
                    <a:pt x="283621" y="1030578"/>
                  </a:lnTo>
                  <a:lnTo>
                    <a:pt x="247683" y="1005346"/>
                  </a:lnTo>
                  <a:lnTo>
                    <a:pt x="174915" y="933665"/>
                  </a:lnTo>
                  <a:lnTo>
                    <a:pt x="144643" y="898197"/>
                  </a:lnTo>
                  <a:lnTo>
                    <a:pt x="119107" y="852494"/>
                  </a:lnTo>
                  <a:lnTo>
                    <a:pt x="92638" y="801284"/>
                  </a:lnTo>
                  <a:lnTo>
                    <a:pt x="71836" y="750074"/>
                  </a:lnTo>
                  <a:lnTo>
                    <a:pt x="52005" y="689406"/>
                  </a:lnTo>
                  <a:lnTo>
                    <a:pt x="35937" y="627960"/>
                  </a:lnTo>
                  <a:lnTo>
                    <a:pt x="25536" y="556247"/>
                  </a:lnTo>
                  <a:lnTo>
                    <a:pt x="20802" y="479837"/>
                  </a:lnTo>
                  <a:lnTo>
                    <a:pt x="20802" y="397888"/>
                  </a:lnTo>
                  <a:lnTo>
                    <a:pt x="25536" y="311211"/>
                  </a:lnTo>
                  <a:lnTo>
                    <a:pt x="41604" y="219804"/>
                  </a:lnTo>
                  <a:lnTo>
                    <a:pt x="56739" y="117384"/>
                  </a:lnTo>
                  <a:lnTo>
                    <a:pt x="82237" y="5506"/>
                  </a:lnTo>
                  <a:lnTo>
                    <a:pt x="62406" y="0"/>
                  </a:lnTo>
                  <a:close/>
                </a:path>
              </a:pathLst>
            </a:custGeom>
            <a:solidFill>
              <a:srgbClr val="1F1A17"/>
            </a:solidFill>
          </p:spPr>
          <p:txBody>
            <a:bodyPr wrap="square" lIns="0" tIns="0" rIns="0" bIns="0" rtlCol="0"/>
            <a:lstStyle/>
            <a:p>
              <a:endParaRPr/>
            </a:p>
          </p:txBody>
        </p:sp>
        <p:pic>
          <p:nvPicPr>
            <p:cNvPr id="26" name="object 26"/>
            <p:cNvPicPr/>
            <p:nvPr/>
          </p:nvPicPr>
          <p:blipFill>
            <a:blip r:embed="rId6" cstate="print"/>
            <a:stretch>
              <a:fillRect/>
            </a:stretch>
          </p:blipFill>
          <p:spPr>
            <a:xfrm>
              <a:off x="3362238" y="6235347"/>
              <a:ext cx="113440" cy="122113"/>
            </a:xfrm>
            <a:prstGeom prst="rect">
              <a:avLst/>
            </a:prstGeom>
          </p:spPr>
        </p:pic>
      </p:grpSp>
      <p:sp>
        <p:nvSpPr>
          <p:cNvPr id="27" name="object 27"/>
          <p:cNvSpPr txBox="1"/>
          <p:nvPr/>
        </p:nvSpPr>
        <p:spPr>
          <a:xfrm>
            <a:off x="3877913" y="1150353"/>
            <a:ext cx="297180" cy="260985"/>
          </a:xfrm>
          <a:prstGeom prst="rect">
            <a:avLst/>
          </a:prstGeom>
        </p:spPr>
        <p:txBody>
          <a:bodyPr vert="horz" wrap="square" lIns="0" tIns="11430" rIns="0" bIns="0" rtlCol="0">
            <a:spAutoFit/>
          </a:bodyPr>
          <a:lstStyle/>
          <a:p>
            <a:pPr marL="38100">
              <a:lnSpc>
                <a:spcPct val="100000"/>
              </a:lnSpc>
              <a:spcBef>
                <a:spcPts val="90"/>
              </a:spcBef>
            </a:pPr>
            <a:r>
              <a:rPr sz="2325" spc="225" baseline="-25089" dirty="0">
                <a:latin typeface="Times New Roman"/>
                <a:cs typeface="Times New Roman"/>
              </a:rPr>
              <a:t>0</a:t>
            </a:r>
            <a:r>
              <a:rPr sz="1550" spc="150" dirty="0">
                <a:latin typeface="Symbol"/>
                <a:cs typeface="Symbol"/>
              </a:rPr>
              <a:t></a:t>
            </a:r>
            <a:endParaRPr sz="1550">
              <a:latin typeface="Symbol"/>
              <a:cs typeface="Symbol"/>
            </a:endParaRPr>
          </a:p>
        </p:txBody>
      </p:sp>
      <p:sp>
        <p:nvSpPr>
          <p:cNvPr id="28" name="object 28"/>
          <p:cNvSpPr txBox="1"/>
          <p:nvPr/>
        </p:nvSpPr>
        <p:spPr>
          <a:xfrm>
            <a:off x="2403107" y="563602"/>
            <a:ext cx="2607923" cy="1243930"/>
          </a:xfrm>
          <a:prstGeom prst="rect">
            <a:avLst/>
          </a:prstGeom>
        </p:spPr>
        <p:txBody>
          <a:bodyPr vert="horz" wrap="square" lIns="0" tIns="86360" rIns="0" bIns="0" rtlCol="0">
            <a:spAutoFit/>
          </a:bodyPr>
          <a:lstStyle/>
          <a:p>
            <a:pPr marL="840105">
              <a:lnSpc>
                <a:spcPct val="100000"/>
              </a:lnSpc>
              <a:spcBef>
                <a:spcPts val="680"/>
              </a:spcBef>
              <a:tabLst>
                <a:tab pos="1172210" algn="l"/>
                <a:tab pos="1515745" algn="l"/>
              </a:tabLst>
            </a:pPr>
            <a:r>
              <a:rPr sz="1550" spc="140" dirty="0">
                <a:latin typeface="Times New Roman"/>
                <a:cs typeface="Times New Roman"/>
              </a:rPr>
              <a:t>1</a:t>
            </a:r>
            <a:r>
              <a:rPr sz="1550" dirty="0">
                <a:latin typeface="Times New Roman"/>
                <a:cs typeface="Times New Roman"/>
              </a:rPr>
              <a:t>	</a:t>
            </a:r>
            <a:r>
              <a:rPr sz="1550" spc="140" dirty="0">
                <a:latin typeface="Times New Roman"/>
                <a:cs typeface="Times New Roman"/>
              </a:rPr>
              <a:t>2</a:t>
            </a:r>
            <a:r>
              <a:rPr sz="1550" dirty="0">
                <a:latin typeface="Times New Roman"/>
                <a:cs typeface="Times New Roman"/>
              </a:rPr>
              <a:t>	</a:t>
            </a:r>
            <a:r>
              <a:rPr sz="1550" spc="140" dirty="0">
                <a:latin typeface="Times New Roman"/>
                <a:cs typeface="Times New Roman"/>
              </a:rPr>
              <a:t>3</a:t>
            </a:r>
            <a:endParaRPr sz="1550" dirty="0">
              <a:latin typeface="Times New Roman"/>
              <a:cs typeface="Times New Roman"/>
            </a:endParaRPr>
          </a:p>
          <a:p>
            <a:pPr marL="560705">
              <a:lnSpc>
                <a:spcPct val="100000"/>
              </a:lnSpc>
              <a:spcBef>
                <a:spcPts val="580"/>
              </a:spcBef>
              <a:tabLst>
                <a:tab pos="1164590" algn="l"/>
                <a:tab pos="1510665" algn="l"/>
              </a:tabLst>
            </a:pPr>
            <a:r>
              <a:rPr sz="1550" spc="190" dirty="0">
                <a:latin typeface="Times New Roman"/>
                <a:cs typeface="Times New Roman"/>
              </a:rPr>
              <a:t>1</a:t>
            </a:r>
            <a:r>
              <a:rPr lang="en-US" sz="1550" spc="-95" dirty="0">
                <a:latin typeface="Times New Roman"/>
                <a:cs typeface="Times New Roman"/>
              </a:rPr>
              <a:t> </a:t>
            </a:r>
            <a:r>
              <a:rPr sz="2325" spc="202" baseline="-3584" dirty="0">
                <a:latin typeface="Symbol"/>
                <a:cs typeface="Symbol"/>
              </a:rPr>
              <a:t></a:t>
            </a:r>
            <a:r>
              <a:rPr sz="1550" spc="135" dirty="0">
                <a:latin typeface="Times New Roman"/>
                <a:cs typeface="Times New Roman"/>
              </a:rPr>
              <a:t>1</a:t>
            </a:r>
            <a:r>
              <a:rPr sz="1550" dirty="0">
                <a:latin typeface="Times New Roman"/>
                <a:cs typeface="Times New Roman"/>
              </a:rPr>
              <a:t>	</a:t>
            </a:r>
            <a:r>
              <a:rPr sz="1550" spc="140" dirty="0">
                <a:latin typeface="Times New Roman"/>
                <a:cs typeface="Times New Roman"/>
              </a:rPr>
              <a:t>0</a:t>
            </a:r>
            <a:r>
              <a:rPr sz="1550" dirty="0">
                <a:latin typeface="Times New Roman"/>
                <a:cs typeface="Times New Roman"/>
              </a:rPr>
              <a:t>	</a:t>
            </a:r>
            <a:r>
              <a:rPr sz="1550" spc="160" dirty="0">
                <a:latin typeface="Times New Roman"/>
                <a:cs typeface="Times New Roman"/>
              </a:rPr>
              <a:t>1</a:t>
            </a:r>
            <a:r>
              <a:rPr sz="2325" spc="240" baseline="-3584" dirty="0">
                <a:latin typeface="Symbol"/>
                <a:cs typeface="Symbol"/>
              </a:rPr>
              <a:t></a:t>
            </a:r>
            <a:endParaRPr sz="2325" baseline="-3584" dirty="0">
              <a:latin typeface="Symbol"/>
              <a:cs typeface="Symbol"/>
            </a:endParaRPr>
          </a:p>
          <a:p>
            <a:pPr marL="76200">
              <a:lnSpc>
                <a:spcPts val="1310"/>
              </a:lnSpc>
              <a:spcBef>
                <a:spcPts val="455"/>
              </a:spcBef>
              <a:tabLst>
                <a:tab pos="1164590" algn="l"/>
              </a:tabLst>
            </a:pPr>
            <a:r>
              <a:rPr sz="1550" i="1" spc="320" dirty="0">
                <a:latin typeface="Times New Roman"/>
                <a:cs typeface="Times New Roman"/>
              </a:rPr>
              <a:t>M</a:t>
            </a:r>
            <a:r>
              <a:rPr sz="1550" i="1" spc="330" dirty="0">
                <a:latin typeface="Times New Roman"/>
                <a:cs typeface="Times New Roman"/>
              </a:rPr>
              <a:t> </a:t>
            </a:r>
            <a:r>
              <a:rPr sz="1550" spc="210" dirty="0">
                <a:latin typeface="Symbol"/>
                <a:cs typeface="Symbol"/>
              </a:rPr>
              <a:t></a:t>
            </a:r>
            <a:r>
              <a:rPr sz="1550" spc="55" dirty="0">
                <a:latin typeface="Times New Roman"/>
                <a:cs typeface="Times New Roman"/>
              </a:rPr>
              <a:t> </a:t>
            </a:r>
            <a:r>
              <a:rPr sz="1550" spc="190" dirty="0">
                <a:latin typeface="Times New Roman"/>
                <a:cs typeface="Times New Roman"/>
              </a:rPr>
              <a:t>2</a:t>
            </a:r>
            <a:r>
              <a:rPr sz="1550" spc="-130" dirty="0">
                <a:latin typeface="Times New Roman"/>
                <a:cs typeface="Times New Roman"/>
              </a:rPr>
              <a:t> </a:t>
            </a:r>
            <a:r>
              <a:rPr sz="2325" spc="202" baseline="25089" dirty="0">
                <a:latin typeface="Symbol"/>
                <a:cs typeface="Symbol"/>
              </a:rPr>
              <a:t></a:t>
            </a:r>
            <a:r>
              <a:rPr sz="1550" spc="135" dirty="0">
                <a:latin typeface="Times New Roman"/>
                <a:cs typeface="Times New Roman"/>
              </a:rPr>
              <a:t>1</a:t>
            </a:r>
            <a:r>
              <a:rPr sz="1550" dirty="0">
                <a:latin typeface="Times New Roman"/>
                <a:cs typeface="Times New Roman"/>
              </a:rPr>
              <a:t>	</a:t>
            </a:r>
            <a:r>
              <a:rPr sz="1550" spc="140" dirty="0">
                <a:latin typeface="Times New Roman"/>
                <a:cs typeface="Times New Roman"/>
              </a:rPr>
              <a:t>0</a:t>
            </a:r>
            <a:endParaRPr sz="1550" dirty="0">
              <a:latin typeface="Times New Roman"/>
              <a:cs typeface="Times New Roman"/>
            </a:endParaRPr>
          </a:p>
          <a:p>
            <a:pPr marL="721360">
              <a:lnSpc>
                <a:spcPts val="1155"/>
              </a:lnSpc>
              <a:tabLst>
                <a:tab pos="1638935" algn="l"/>
              </a:tabLst>
            </a:pPr>
            <a:r>
              <a:rPr sz="1550" spc="90" dirty="0">
                <a:latin typeface="Symbol"/>
                <a:cs typeface="Symbol"/>
              </a:rPr>
              <a:t></a:t>
            </a:r>
            <a:r>
              <a:rPr sz="1550" dirty="0">
                <a:latin typeface="Times New Roman"/>
                <a:cs typeface="Times New Roman"/>
              </a:rPr>
              <a:t>	</a:t>
            </a:r>
            <a:r>
              <a:rPr sz="1550" spc="80" dirty="0">
                <a:latin typeface="Symbol"/>
                <a:cs typeface="Symbol"/>
              </a:rPr>
              <a:t></a:t>
            </a:r>
            <a:endParaRPr sz="1550" dirty="0">
              <a:latin typeface="Symbol"/>
              <a:cs typeface="Symbol"/>
            </a:endParaRPr>
          </a:p>
          <a:p>
            <a:pPr marL="564515">
              <a:lnSpc>
                <a:spcPts val="1710"/>
              </a:lnSpc>
              <a:tabLst>
                <a:tab pos="1162685" algn="l"/>
                <a:tab pos="1510665" algn="l"/>
              </a:tabLst>
            </a:pPr>
            <a:r>
              <a:rPr sz="1550" spc="190" dirty="0">
                <a:latin typeface="Times New Roman"/>
                <a:cs typeface="Times New Roman"/>
              </a:rPr>
              <a:t>3</a:t>
            </a:r>
            <a:r>
              <a:rPr sz="1550" spc="-130" dirty="0">
                <a:latin typeface="Times New Roman"/>
                <a:cs typeface="Times New Roman"/>
              </a:rPr>
              <a:t> </a:t>
            </a:r>
            <a:r>
              <a:rPr sz="2325" spc="-37" baseline="-14336" dirty="0">
                <a:latin typeface="Symbol"/>
                <a:cs typeface="Symbol"/>
              </a:rPr>
              <a:t></a:t>
            </a:r>
            <a:r>
              <a:rPr sz="1550" spc="-25" dirty="0">
                <a:latin typeface="Times New Roman"/>
                <a:cs typeface="Times New Roman"/>
              </a:rPr>
              <a:t>0</a:t>
            </a:r>
            <a:r>
              <a:rPr sz="1550" dirty="0">
                <a:latin typeface="Times New Roman"/>
                <a:cs typeface="Times New Roman"/>
              </a:rPr>
              <a:t>	</a:t>
            </a:r>
            <a:r>
              <a:rPr sz="1550" spc="140" dirty="0">
                <a:latin typeface="Times New Roman"/>
                <a:cs typeface="Times New Roman"/>
              </a:rPr>
              <a:t>1</a:t>
            </a:r>
            <a:r>
              <a:rPr sz="1550" dirty="0">
                <a:latin typeface="Times New Roman"/>
                <a:cs typeface="Times New Roman"/>
              </a:rPr>
              <a:t>	</a:t>
            </a:r>
            <a:r>
              <a:rPr sz="1550" spc="-25" dirty="0">
                <a:latin typeface="Times New Roman"/>
                <a:cs typeface="Times New Roman"/>
              </a:rPr>
              <a:t>1</a:t>
            </a:r>
            <a:r>
              <a:rPr lang="en-US" sz="1550" spc="-25" dirty="0">
                <a:latin typeface="Times New Roman"/>
                <a:cs typeface="Times New Roman"/>
              </a:rPr>
              <a:t> </a:t>
            </a:r>
            <a:r>
              <a:rPr sz="2325" spc="-37" baseline="-14336" dirty="0">
                <a:latin typeface="Symbol"/>
                <a:cs typeface="Symbol"/>
              </a:rPr>
              <a:t></a:t>
            </a:r>
            <a:endParaRPr sz="2325" baseline="-14336" dirty="0">
              <a:latin typeface="Symbol"/>
              <a:cs typeface="Symbo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329" y="1109003"/>
            <a:ext cx="4572000" cy="5444197"/>
          </a:xfrm>
          <a:solidFill>
            <a:schemeClr val="bg1"/>
          </a:solidFill>
        </p:spPr>
        <p:txBody>
          <a:bodyPr>
            <a:noAutofit/>
          </a:bodyPr>
          <a:lstStyle/>
          <a:p>
            <a:r>
              <a:rPr lang="en-US" b="1" dirty="0">
                <a:solidFill>
                  <a:srgbClr val="C00000"/>
                </a:solidFill>
              </a:rPr>
              <a:t>1. Reflexive: </a:t>
            </a:r>
            <a:r>
              <a:rPr lang="en-US" sz="1700" dirty="0"/>
              <a:t>Every vertex must have a </a:t>
            </a:r>
            <a:r>
              <a:rPr lang="en-US" sz="1700" b="1" dirty="0"/>
              <a:t>loop</a:t>
            </a:r>
            <a:r>
              <a:rPr lang="en-US" sz="1700" dirty="0"/>
              <a:t>.</a:t>
            </a:r>
          </a:p>
          <a:p>
            <a:r>
              <a:rPr lang="en-US" sz="1700" dirty="0"/>
              <a:t>That means:</a:t>
            </a:r>
          </a:p>
          <a:p>
            <a:r>
              <a:rPr lang="en-US" sz="1700" dirty="0"/>
              <a:t>For every element </a:t>
            </a:r>
            <a:r>
              <a:rPr lang="en-US" sz="1700" b="1" dirty="0"/>
              <a:t>x</a:t>
            </a:r>
          </a:p>
          <a:p>
            <a:r>
              <a:rPr lang="en-US" sz="1700" dirty="0"/>
              <a:t>The pair </a:t>
            </a:r>
            <a:r>
              <a:rPr lang="en-US" sz="1700" b="1" dirty="0">
                <a:solidFill>
                  <a:srgbClr val="0070C0"/>
                </a:solidFill>
              </a:rPr>
              <a:t>(x, x) </a:t>
            </a:r>
            <a:r>
              <a:rPr lang="en-US" sz="1700" dirty="0"/>
              <a:t>must exist</a:t>
            </a:r>
          </a:p>
          <a:p>
            <a:r>
              <a:rPr lang="en-US" sz="1700" dirty="0"/>
              <a:t>In the graph: Every vertex must have a </a:t>
            </a:r>
            <a:r>
              <a:rPr lang="en-US" sz="1700" b="1" dirty="0"/>
              <a:t>small circle (loop) </a:t>
            </a:r>
            <a:r>
              <a:rPr lang="en-US" sz="1700" dirty="0"/>
              <a:t>on itself.</a:t>
            </a:r>
          </a:p>
          <a:p>
            <a:r>
              <a:rPr lang="en-US" sz="1700" dirty="0"/>
              <a:t>If even </a:t>
            </a:r>
            <a:r>
              <a:rPr lang="en-US" sz="1700" b="1" dirty="0"/>
              <a:t>one vertex</a:t>
            </a:r>
            <a:r>
              <a:rPr lang="en-US" sz="1700" dirty="0"/>
              <a:t> does not have a loop, Then it is </a:t>
            </a:r>
            <a:r>
              <a:rPr lang="en-US" sz="1700" b="1" dirty="0"/>
              <a:t>NOT reflexive</a:t>
            </a:r>
            <a:r>
              <a:rPr lang="en-US" sz="1700" dirty="0"/>
              <a:t>.</a:t>
            </a:r>
          </a:p>
          <a:p>
            <a:endParaRPr lang="en-US" sz="1700" dirty="0"/>
          </a:p>
          <a:p>
            <a:r>
              <a:rPr lang="en-US" b="1" dirty="0">
                <a:solidFill>
                  <a:srgbClr val="C00000"/>
                </a:solidFill>
              </a:rPr>
              <a:t>2. Symmetric</a:t>
            </a:r>
          </a:p>
          <a:p>
            <a:r>
              <a:rPr lang="en-US" sz="1700" dirty="0"/>
              <a:t>If there is an arrow from </a:t>
            </a:r>
            <a:r>
              <a:rPr lang="en-US" sz="1700" b="1" dirty="0">
                <a:solidFill>
                  <a:srgbClr val="0070C0"/>
                </a:solidFill>
              </a:rPr>
              <a:t>x to y</a:t>
            </a:r>
            <a:r>
              <a:rPr lang="en-US" sz="1700" dirty="0"/>
              <a:t>,</a:t>
            </a:r>
            <a:br>
              <a:rPr lang="en-US" sz="1700" dirty="0"/>
            </a:br>
            <a:r>
              <a:rPr lang="en-US" sz="1700" dirty="0"/>
              <a:t>there must also be an arrow from </a:t>
            </a:r>
            <a:r>
              <a:rPr lang="en-US" sz="1700" b="1" dirty="0">
                <a:solidFill>
                  <a:srgbClr val="0070C0"/>
                </a:solidFill>
              </a:rPr>
              <a:t>y to x</a:t>
            </a:r>
            <a:r>
              <a:rPr lang="en-US" sz="1700" dirty="0"/>
              <a:t>.</a:t>
            </a:r>
          </a:p>
          <a:p>
            <a:r>
              <a:rPr lang="en-US" sz="1700" dirty="0"/>
              <a:t>So If </a:t>
            </a:r>
            <a:r>
              <a:rPr lang="en-US" sz="1700" b="1" dirty="0">
                <a:solidFill>
                  <a:srgbClr val="0070C0"/>
                </a:solidFill>
              </a:rPr>
              <a:t>(x, y) </a:t>
            </a:r>
            <a:r>
              <a:rPr lang="en-US" sz="1700" dirty="0"/>
              <a:t>exists, then </a:t>
            </a:r>
            <a:r>
              <a:rPr lang="en-US" sz="1700" b="1" dirty="0">
                <a:solidFill>
                  <a:srgbClr val="0070C0"/>
                </a:solidFill>
              </a:rPr>
              <a:t>(y, x) </a:t>
            </a:r>
            <a:r>
              <a:rPr lang="en-US" sz="1700" dirty="0"/>
              <a:t>must also exist.</a:t>
            </a:r>
          </a:p>
          <a:p>
            <a:r>
              <a:rPr lang="en-US" sz="1700" dirty="0"/>
              <a:t>In the graph: Every arrow must have a matching arrow going back.</a:t>
            </a:r>
          </a:p>
          <a:p>
            <a:r>
              <a:rPr lang="en-US" sz="1700" dirty="0"/>
              <a:t>Example:</a:t>
            </a:r>
            <a:br>
              <a:rPr lang="en-US" sz="1700" dirty="0"/>
            </a:br>
            <a:r>
              <a:rPr lang="en-US" sz="1700" b="1" dirty="0">
                <a:solidFill>
                  <a:srgbClr val="0070C0"/>
                </a:solidFill>
              </a:rPr>
              <a:t>x → y</a:t>
            </a:r>
            <a:br>
              <a:rPr lang="en-US" sz="1700" b="1" dirty="0">
                <a:solidFill>
                  <a:srgbClr val="0070C0"/>
                </a:solidFill>
              </a:rPr>
            </a:br>
            <a:r>
              <a:rPr lang="en-US" sz="1700" b="1" dirty="0" err="1">
                <a:solidFill>
                  <a:srgbClr val="0070C0"/>
                </a:solidFill>
              </a:rPr>
              <a:t>y</a:t>
            </a:r>
            <a:r>
              <a:rPr lang="en-US" sz="1700" b="1" dirty="0">
                <a:solidFill>
                  <a:srgbClr val="0070C0"/>
                </a:solidFill>
              </a:rPr>
              <a:t> → x</a:t>
            </a:r>
          </a:p>
          <a:p>
            <a:r>
              <a:rPr lang="en-US" sz="1700" dirty="0"/>
              <a:t>If one direction is missing, Then it is </a:t>
            </a:r>
            <a:r>
              <a:rPr lang="en-US" sz="1700" b="1" dirty="0"/>
              <a:t>NOT symmetric</a:t>
            </a:r>
            <a:r>
              <a:rPr lang="en-US" sz="1700" dirty="0"/>
              <a:t>.</a:t>
            </a:r>
          </a:p>
        </p:txBody>
      </p:sp>
      <p:sp>
        <p:nvSpPr>
          <p:cNvPr id="4" name="TextBox 3"/>
          <p:cNvSpPr txBox="1"/>
          <p:nvPr/>
        </p:nvSpPr>
        <p:spPr>
          <a:xfrm>
            <a:off x="4611329" y="1332046"/>
            <a:ext cx="4532671" cy="2185214"/>
          </a:xfrm>
          <a:prstGeom prst="rect">
            <a:avLst/>
          </a:prstGeom>
          <a:solidFill>
            <a:schemeClr val="bg1"/>
          </a:solidFill>
        </p:spPr>
        <p:txBody>
          <a:bodyPr wrap="square" rtlCol="0">
            <a:spAutoFit/>
          </a:bodyPr>
          <a:lstStyle/>
          <a:p>
            <a:r>
              <a:rPr lang="en-US" b="1" dirty="0">
                <a:solidFill>
                  <a:srgbClr val="C00000"/>
                </a:solidFill>
              </a:rPr>
              <a:t>3. Antisymmetric</a:t>
            </a:r>
            <a:endParaRPr lang="en-US" dirty="0">
              <a:solidFill>
                <a:srgbClr val="C00000"/>
              </a:solidFill>
            </a:endParaRPr>
          </a:p>
          <a:p>
            <a:pPr marL="285750" indent="-285750">
              <a:buClr>
                <a:schemeClr val="accent1"/>
              </a:buClr>
              <a:buFont typeface="Arial" panose="020B0604020202020204" pitchFamily="34" charset="0"/>
              <a:buChar char="•"/>
            </a:pPr>
            <a:r>
              <a:rPr lang="en-US" sz="1700" dirty="0"/>
              <a:t>If </a:t>
            </a:r>
            <a:r>
              <a:rPr lang="en-US" sz="1700" b="1" dirty="0">
                <a:solidFill>
                  <a:srgbClr val="0070C0"/>
                </a:solidFill>
              </a:rPr>
              <a:t>x → y</a:t>
            </a:r>
            <a:r>
              <a:rPr lang="en-US" sz="1700" dirty="0"/>
              <a:t> exists (and x ≠ y),</a:t>
            </a:r>
            <a:br>
              <a:rPr lang="en-US" sz="1700" dirty="0"/>
            </a:br>
            <a:r>
              <a:rPr lang="en-US" sz="1700" dirty="0"/>
              <a:t>then </a:t>
            </a:r>
            <a:r>
              <a:rPr lang="en-US" sz="1700" b="1" dirty="0">
                <a:solidFill>
                  <a:srgbClr val="0070C0"/>
                </a:solidFill>
              </a:rPr>
              <a:t>y → x </a:t>
            </a:r>
            <a:r>
              <a:rPr lang="en-US" sz="1700" dirty="0"/>
              <a:t>must NOT exist.</a:t>
            </a:r>
          </a:p>
          <a:p>
            <a:r>
              <a:rPr lang="en-US" sz="1700" dirty="0"/>
              <a:t>So you cannot have arrows both ways </a:t>
            </a:r>
          </a:p>
          <a:p>
            <a:r>
              <a:rPr lang="en-US" sz="1700" dirty="0"/>
              <a:t>between two different vertices.</a:t>
            </a:r>
          </a:p>
          <a:p>
            <a:r>
              <a:rPr lang="en-US" sz="1700" dirty="0"/>
              <a:t>If you see: </a:t>
            </a:r>
            <a:r>
              <a:rPr lang="en-US" sz="1700" b="1" dirty="0">
                <a:solidFill>
                  <a:srgbClr val="0070C0"/>
                </a:solidFill>
              </a:rPr>
              <a:t>x → y</a:t>
            </a:r>
            <a:br>
              <a:rPr lang="en-US" sz="1700" b="1" dirty="0">
                <a:solidFill>
                  <a:srgbClr val="0070C0"/>
                </a:solidFill>
              </a:rPr>
            </a:br>
            <a:r>
              <a:rPr lang="en-US" sz="1700" dirty="0"/>
              <a:t>and </a:t>
            </a:r>
            <a:r>
              <a:rPr lang="en-US" sz="1700" b="1" dirty="0">
                <a:solidFill>
                  <a:srgbClr val="0070C0"/>
                </a:solidFill>
              </a:rPr>
              <a:t>y → x</a:t>
            </a:r>
          </a:p>
          <a:p>
            <a:r>
              <a:rPr lang="en-US" sz="1700" dirty="0"/>
              <a:t>and </a:t>
            </a:r>
            <a:r>
              <a:rPr lang="en-US" sz="1700" b="1" dirty="0">
                <a:solidFill>
                  <a:srgbClr val="0070C0"/>
                </a:solidFill>
              </a:rPr>
              <a:t>x ≠ y, </a:t>
            </a:r>
            <a:r>
              <a:rPr lang="en-US" sz="1700" dirty="0"/>
              <a:t>then it is NOT antisymmetric.</a:t>
            </a:r>
          </a:p>
        </p:txBody>
      </p:sp>
      <p:sp>
        <p:nvSpPr>
          <p:cNvPr id="5" name="TextBox 4"/>
          <p:cNvSpPr txBox="1"/>
          <p:nvPr/>
        </p:nvSpPr>
        <p:spPr>
          <a:xfrm>
            <a:off x="4495801" y="3879415"/>
            <a:ext cx="4572000" cy="2446824"/>
          </a:xfrm>
          <a:prstGeom prst="rect">
            <a:avLst/>
          </a:prstGeom>
          <a:solidFill>
            <a:schemeClr val="bg1"/>
          </a:solidFill>
        </p:spPr>
        <p:txBody>
          <a:bodyPr wrap="square" rtlCol="0">
            <a:spAutoFit/>
          </a:bodyPr>
          <a:lstStyle/>
          <a:p>
            <a:r>
              <a:rPr lang="en-US" b="1" dirty="0">
                <a:solidFill>
                  <a:srgbClr val="C00000"/>
                </a:solidFill>
              </a:rPr>
              <a:t>4. Transitive: </a:t>
            </a:r>
            <a:r>
              <a:rPr lang="en-US" sz="1700" dirty="0"/>
              <a:t>This means:</a:t>
            </a:r>
          </a:p>
          <a:p>
            <a:r>
              <a:rPr lang="en-US" sz="1700" dirty="0"/>
              <a:t>If you can go from </a:t>
            </a:r>
            <a:r>
              <a:rPr lang="en-US" sz="1700" b="1" dirty="0">
                <a:solidFill>
                  <a:srgbClr val="0070C0"/>
                </a:solidFill>
              </a:rPr>
              <a:t>x → y</a:t>
            </a:r>
            <a:br>
              <a:rPr lang="en-US" sz="1700" b="1" dirty="0">
                <a:solidFill>
                  <a:srgbClr val="0070C0"/>
                </a:solidFill>
              </a:rPr>
            </a:br>
            <a:r>
              <a:rPr lang="en-US" sz="1700" dirty="0"/>
              <a:t>and from </a:t>
            </a:r>
            <a:r>
              <a:rPr lang="en-US" sz="1700" b="1" dirty="0">
                <a:solidFill>
                  <a:srgbClr val="0070C0"/>
                </a:solidFill>
              </a:rPr>
              <a:t>y → z</a:t>
            </a:r>
            <a:br>
              <a:rPr lang="en-US" sz="1700" b="1" dirty="0">
                <a:solidFill>
                  <a:srgbClr val="0070C0"/>
                </a:solidFill>
              </a:rPr>
            </a:br>
            <a:r>
              <a:rPr lang="en-US" sz="1700" dirty="0"/>
              <a:t>then you must also be able to go from </a:t>
            </a:r>
            <a:r>
              <a:rPr lang="en-US" sz="1700" b="1" dirty="0">
                <a:solidFill>
                  <a:srgbClr val="0070C0"/>
                </a:solidFill>
              </a:rPr>
              <a:t>x → z</a:t>
            </a:r>
            <a:r>
              <a:rPr lang="en-US" sz="1700" dirty="0"/>
              <a:t>.</a:t>
            </a:r>
          </a:p>
          <a:p>
            <a:r>
              <a:rPr lang="en-US" sz="1700" dirty="0"/>
              <a:t>So if: </a:t>
            </a:r>
            <a:r>
              <a:rPr lang="en-US" sz="1700" b="1" dirty="0">
                <a:solidFill>
                  <a:srgbClr val="0070C0"/>
                </a:solidFill>
              </a:rPr>
              <a:t>x → y</a:t>
            </a:r>
            <a:br>
              <a:rPr lang="en-US" sz="1700" b="1" dirty="0">
                <a:solidFill>
                  <a:srgbClr val="0070C0"/>
                </a:solidFill>
              </a:rPr>
            </a:br>
            <a:r>
              <a:rPr lang="en-US" sz="1700" b="1" dirty="0">
                <a:solidFill>
                  <a:srgbClr val="0070C0"/>
                </a:solidFill>
              </a:rPr>
              <a:t>          </a:t>
            </a:r>
            <a:r>
              <a:rPr lang="en-US" sz="1700" b="1" dirty="0" err="1">
                <a:solidFill>
                  <a:srgbClr val="0070C0"/>
                </a:solidFill>
              </a:rPr>
              <a:t>y</a:t>
            </a:r>
            <a:r>
              <a:rPr lang="en-US" sz="1700" b="1" dirty="0">
                <a:solidFill>
                  <a:srgbClr val="0070C0"/>
                </a:solidFill>
              </a:rPr>
              <a:t> → z</a:t>
            </a:r>
          </a:p>
          <a:p>
            <a:r>
              <a:rPr lang="en-US" sz="1700" dirty="0"/>
              <a:t>Then </a:t>
            </a:r>
            <a:r>
              <a:rPr lang="en-US" sz="1700" b="1" dirty="0">
                <a:solidFill>
                  <a:srgbClr val="0070C0"/>
                </a:solidFill>
              </a:rPr>
              <a:t>(x → z</a:t>
            </a:r>
            <a:r>
              <a:rPr lang="en-US" sz="1700" dirty="0"/>
              <a:t>) must also be present.</a:t>
            </a:r>
          </a:p>
          <a:p>
            <a:r>
              <a:rPr lang="en-US" sz="1700" dirty="0"/>
              <a:t>If that direct arrow is missing </a:t>
            </a:r>
            <a:br>
              <a:rPr lang="en-US" sz="1700" dirty="0"/>
            </a:br>
            <a:r>
              <a:rPr lang="en-US" sz="1700" dirty="0"/>
              <a:t>Then it is NOT transitive.</a:t>
            </a:r>
          </a:p>
        </p:txBody>
      </p:sp>
      <p:sp>
        <p:nvSpPr>
          <p:cNvPr id="6" name="Title 1"/>
          <p:cNvSpPr>
            <a:spLocks noGrp="1"/>
          </p:cNvSpPr>
          <p:nvPr>
            <p:ph type="title"/>
          </p:nvPr>
        </p:nvSpPr>
        <p:spPr>
          <a:xfrm>
            <a:off x="39329" y="0"/>
            <a:ext cx="9104671" cy="942082"/>
          </a:xfrm>
          <a:solidFill>
            <a:schemeClr val="bg1"/>
          </a:solidFill>
        </p:spPr>
        <p:txBody>
          <a:bodyPr>
            <a:noAutofit/>
          </a:bodyPr>
          <a:lstStyle/>
          <a:p>
            <a:pPr algn="ctr"/>
            <a:r>
              <a:rPr lang="en-US" sz="3600" b="1" dirty="0"/>
              <a:t>Determining which Properties a Relation has from its Digraph</a:t>
            </a:r>
          </a:p>
        </p:txBody>
      </p:sp>
    </p:spTree>
    <p:extLst>
      <p:ext uri="{BB962C8B-B14F-4D97-AF65-F5344CB8AC3E}">
        <p14:creationId xmlns:p14="http://schemas.microsoft.com/office/powerpoint/2010/main" val="7137072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368300">
              <a:lnSpc>
                <a:spcPct val="100000"/>
              </a:lnSpc>
              <a:spcBef>
                <a:spcPts val="100"/>
              </a:spcBef>
            </a:pPr>
            <a:r>
              <a:rPr sz="2400" dirty="0"/>
              <a:t>DIRECTED</a:t>
            </a:r>
            <a:r>
              <a:rPr sz="2400" spc="-55" dirty="0"/>
              <a:t> </a:t>
            </a:r>
            <a:r>
              <a:rPr sz="2400" dirty="0"/>
              <a:t>GRAPH</a:t>
            </a:r>
            <a:r>
              <a:rPr sz="2400" spc="-20" dirty="0"/>
              <a:t> </a:t>
            </a:r>
            <a:r>
              <a:rPr sz="2400" dirty="0"/>
              <a:t>OF</a:t>
            </a:r>
            <a:r>
              <a:rPr sz="2400" spc="-160" dirty="0"/>
              <a:t> </a:t>
            </a:r>
            <a:r>
              <a:rPr sz="2400" dirty="0"/>
              <a:t>A</a:t>
            </a:r>
            <a:r>
              <a:rPr sz="2400" spc="-150" dirty="0"/>
              <a:t> </a:t>
            </a:r>
            <a:r>
              <a:rPr sz="2400" dirty="0"/>
              <a:t>REFLEXIVE</a:t>
            </a:r>
            <a:r>
              <a:rPr sz="2400" spc="-50" dirty="0"/>
              <a:t> </a:t>
            </a:r>
            <a:r>
              <a:rPr sz="2400" spc="-10" dirty="0"/>
              <a:t>RELATION</a:t>
            </a:r>
            <a:endParaRPr sz="2400"/>
          </a:p>
        </p:txBody>
      </p:sp>
      <p:sp>
        <p:nvSpPr>
          <p:cNvPr id="3" name="object 3"/>
          <p:cNvSpPr txBox="1"/>
          <p:nvPr/>
        </p:nvSpPr>
        <p:spPr>
          <a:xfrm>
            <a:off x="231140" y="1113535"/>
            <a:ext cx="6250305" cy="1064394"/>
          </a:xfrm>
          <a:prstGeom prst="rect">
            <a:avLst/>
          </a:prstGeom>
        </p:spPr>
        <p:txBody>
          <a:bodyPr vert="horz" wrap="square" lIns="0" tIns="12700" rIns="0" bIns="0" rtlCol="0">
            <a:spAutoFit/>
          </a:bodyPr>
          <a:lstStyle/>
          <a:p>
            <a:pPr marL="12700" marR="5080">
              <a:lnSpc>
                <a:spcPct val="100000"/>
              </a:lnSpc>
              <a:spcBef>
                <a:spcPts val="100"/>
              </a:spcBef>
              <a:tabLst>
                <a:tab pos="1841500" algn="l"/>
              </a:tabLst>
            </a:pPr>
            <a:r>
              <a:rPr sz="2000" b="1" dirty="0">
                <a:solidFill>
                  <a:srgbClr val="00AFEF"/>
                </a:solidFill>
                <a:latin typeface="Times New Roman"/>
                <a:cs typeface="Times New Roman"/>
              </a:rPr>
              <a:t>The</a:t>
            </a:r>
            <a:r>
              <a:rPr sz="2000" b="1" spc="-40" dirty="0">
                <a:solidFill>
                  <a:srgbClr val="00AFEF"/>
                </a:solidFill>
                <a:latin typeface="Times New Roman"/>
                <a:cs typeface="Times New Roman"/>
              </a:rPr>
              <a:t> </a:t>
            </a:r>
            <a:r>
              <a:rPr sz="2000" b="1" dirty="0">
                <a:solidFill>
                  <a:srgbClr val="00AFEF"/>
                </a:solidFill>
                <a:latin typeface="Times New Roman"/>
                <a:cs typeface="Times New Roman"/>
              </a:rPr>
              <a:t>directed</a:t>
            </a:r>
            <a:r>
              <a:rPr sz="2000" b="1" spc="-35" dirty="0">
                <a:solidFill>
                  <a:srgbClr val="00AFEF"/>
                </a:solidFill>
                <a:latin typeface="Times New Roman"/>
                <a:cs typeface="Times New Roman"/>
              </a:rPr>
              <a:t> </a:t>
            </a:r>
            <a:r>
              <a:rPr sz="2000" b="1" dirty="0">
                <a:solidFill>
                  <a:srgbClr val="00AFEF"/>
                </a:solidFill>
                <a:latin typeface="Times New Roman"/>
                <a:cs typeface="Times New Roman"/>
              </a:rPr>
              <a:t>graph</a:t>
            </a:r>
            <a:r>
              <a:rPr sz="2000" b="1" spc="-40" dirty="0">
                <a:solidFill>
                  <a:srgbClr val="00AFEF"/>
                </a:solidFill>
                <a:latin typeface="Times New Roman"/>
                <a:cs typeface="Times New Roman"/>
              </a:rPr>
              <a:t> </a:t>
            </a:r>
            <a:r>
              <a:rPr sz="2000" b="1" dirty="0">
                <a:solidFill>
                  <a:srgbClr val="00AFEF"/>
                </a:solidFill>
                <a:latin typeface="Times New Roman"/>
                <a:cs typeface="Times New Roman"/>
              </a:rPr>
              <a:t>of</a:t>
            </a:r>
            <a:r>
              <a:rPr sz="2000" b="1" spc="-35" dirty="0">
                <a:solidFill>
                  <a:srgbClr val="00AFEF"/>
                </a:solidFill>
                <a:latin typeface="Times New Roman"/>
                <a:cs typeface="Times New Roman"/>
              </a:rPr>
              <a:t> </a:t>
            </a:r>
            <a:r>
              <a:rPr sz="2000" b="1" dirty="0">
                <a:solidFill>
                  <a:srgbClr val="00AFEF"/>
                </a:solidFill>
                <a:latin typeface="Times New Roman"/>
                <a:cs typeface="Times New Roman"/>
              </a:rPr>
              <a:t>every</a:t>
            </a:r>
            <a:r>
              <a:rPr sz="2000" b="1" spc="-35" dirty="0">
                <a:solidFill>
                  <a:srgbClr val="00AFEF"/>
                </a:solidFill>
                <a:latin typeface="Times New Roman"/>
                <a:cs typeface="Times New Roman"/>
              </a:rPr>
              <a:t> </a:t>
            </a:r>
            <a:r>
              <a:rPr sz="2000" b="1" dirty="0">
                <a:solidFill>
                  <a:srgbClr val="00AFEF"/>
                </a:solidFill>
                <a:latin typeface="Times New Roman"/>
                <a:cs typeface="Times New Roman"/>
              </a:rPr>
              <a:t>reflexive</a:t>
            </a:r>
            <a:r>
              <a:rPr sz="2000" b="1" spc="-35" dirty="0">
                <a:solidFill>
                  <a:srgbClr val="00AFEF"/>
                </a:solidFill>
                <a:latin typeface="Times New Roman"/>
                <a:cs typeface="Times New Roman"/>
              </a:rPr>
              <a:t> </a:t>
            </a:r>
            <a:r>
              <a:rPr sz="2000" b="1" dirty="0">
                <a:solidFill>
                  <a:srgbClr val="00AFEF"/>
                </a:solidFill>
                <a:latin typeface="Times New Roman"/>
                <a:cs typeface="Times New Roman"/>
              </a:rPr>
              <a:t>relation</a:t>
            </a:r>
            <a:r>
              <a:rPr sz="2000" b="1" spc="-35" dirty="0">
                <a:solidFill>
                  <a:srgbClr val="00AFEF"/>
                </a:solidFill>
                <a:latin typeface="Times New Roman"/>
                <a:cs typeface="Times New Roman"/>
              </a:rPr>
              <a:t> </a:t>
            </a:r>
            <a:r>
              <a:rPr sz="2000" b="1" dirty="0">
                <a:solidFill>
                  <a:srgbClr val="00AFEF"/>
                </a:solidFill>
                <a:latin typeface="Times New Roman"/>
                <a:cs typeface="Times New Roman"/>
              </a:rPr>
              <a:t>includes</a:t>
            </a:r>
            <a:r>
              <a:rPr sz="2000" b="1" spc="-35" dirty="0">
                <a:solidFill>
                  <a:srgbClr val="00AFEF"/>
                </a:solidFill>
                <a:latin typeface="Times New Roman"/>
                <a:cs typeface="Times New Roman"/>
              </a:rPr>
              <a:t> </a:t>
            </a:r>
            <a:r>
              <a:rPr sz="2000" b="1" dirty="0">
                <a:solidFill>
                  <a:srgbClr val="00AFEF"/>
                </a:solidFill>
                <a:latin typeface="Times New Roman"/>
                <a:cs typeface="Times New Roman"/>
              </a:rPr>
              <a:t>an</a:t>
            </a:r>
            <a:r>
              <a:rPr sz="2000" b="1" spc="-35" dirty="0">
                <a:solidFill>
                  <a:srgbClr val="00AFEF"/>
                </a:solidFill>
                <a:latin typeface="Times New Roman"/>
                <a:cs typeface="Times New Roman"/>
              </a:rPr>
              <a:t> </a:t>
            </a:r>
            <a:r>
              <a:rPr sz="2000" b="1" spc="-10" dirty="0">
                <a:solidFill>
                  <a:srgbClr val="00AFEF"/>
                </a:solidFill>
                <a:latin typeface="Times New Roman"/>
                <a:cs typeface="Times New Roman"/>
              </a:rPr>
              <a:t>arrow </a:t>
            </a:r>
            <a:r>
              <a:rPr sz="2000" b="1" dirty="0">
                <a:solidFill>
                  <a:srgbClr val="00AFEF"/>
                </a:solidFill>
                <a:latin typeface="Times New Roman"/>
                <a:cs typeface="Times New Roman"/>
              </a:rPr>
              <a:t>from</a:t>
            </a:r>
            <a:r>
              <a:rPr sz="2000" b="1" spc="-70" dirty="0">
                <a:solidFill>
                  <a:srgbClr val="00AFEF"/>
                </a:solidFill>
                <a:latin typeface="Times New Roman"/>
                <a:cs typeface="Times New Roman"/>
              </a:rPr>
              <a:t> </a:t>
            </a:r>
            <a:r>
              <a:rPr sz="2000" b="1" dirty="0">
                <a:solidFill>
                  <a:srgbClr val="00AFEF"/>
                </a:solidFill>
                <a:latin typeface="Times New Roman"/>
                <a:cs typeface="Times New Roman"/>
              </a:rPr>
              <a:t>every</a:t>
            </a:r>
            <a:r>
              <a:rPr sz="2000" b="1" spc="-55" dirty="0">
                <a:solidFill>
                  <a:srgbClr val="00AFEF"/>
                </a:solidFill>
                <a:latin typeface="Times New Roman"/>
                <a:cs typeface="Times New Roman"/>
              </a:rPr>
              <a:t> </a:t>
            </a:r>
            <a:r>
              <a:rPr sz="2000" b="1" spc="-20" dirty="0">
                <a:solidFill>
                  <a:srgbClr val="00AFEF"/>
                </a:solidFill>
                <a:latin typeface="Times New Roman"/>
                <a:cs typeface="Times New Roman"/>
              </a:rPr>
              <a:t>point</a:t>
            </a:r>
            <a:r>
              <a:rPr lang="en-US" sz="2000" b="1" spc="-20" dirty="0">
                <a:solidFill>
                  <a:srgbClr val="00AFEF"/>
                </a:solidFill>
                <a:latin typeface="Times New Roman"/>
                <a:cs typeface="Times New Roman"/>
              </a:rPr>
              <a:t> </a:t>
            </a:r>
            <a:r>
              <a:rPr sz="2000" b="1" dirty="0">
                <a:solidFill>
                  <a:srgbClr val="00AFEF"/>
                </a:solidFill>
                <a:latin typeface="Times New Roman"/>
                <a:cs typeface="Times New Roman"/>
              </a:rPr>
              <a:t>to</a:t>
            </a:r>
            <a:r>
              <a:rPr sz="2000" b="1" spc="-20" dirty="0">
                <a:solidFill>
                  <a:srgbClr val="00AFEF"/>
                </a:solidFill>
                <a:latin typeface="Times New Roman"/>
                <a:cs typeface="Times New Roman"/>
              </a:rPr>
              <a:t> </a:t>
            </a:r>
            <a:r>
              <a:rPr sz="2000" b="1" dirty="0">
                <a:solidFill>
                  <a:srgbClr val="00AFEF"/>
                </a:solidFill>
                <a:latin typeface="Times New Roman"/>
                <a:cs typeface="Times New Roman"/>
              </a:rPr>
              <a:t>the</a:t>
            </a:r>
            <a:r>
              <a:rPr sz="2000" b="1" spc="-20" dirty="0">
                <a:solidFill>
                  <a:srgbClr val="00AFEF"/>
                </a:solidFill>
                <a:latin typeface="Times New Roman"/>
                <a:cs typeface="Times New Roman"/>
              </a:rPr>
              <a:t> </a:t>
            </a:r>
            <a:r>
              <a:rPr sz="2000" b="1" dirty="0">
                <a:solidFill>
                  <a:srgbClr val="00AFEF"/>
                </a:solidFill>
                <a:latin typeface="Times New Roman"/>
                <a:cs typeface="Times New Roman"/>
              </a:rPr>
              <a:t>point</a:t>
            </a:r>
            <a:r>
              <a:rPr sz="2000" b="1" spc="-15" dirty="0">
                <a:solidFill>
                  <a:srgbClr val="00AFEF"/>
                </a:solidFill>
                <a:latin typeface="Times New Roman"/>
                <a:cs typeface="Times New Roman"/>
              </a:rPr>
              <a:t> </a:t>
            </a:r>
            <a:r>
              <a:rPr sz="2000" b="1" dirty="0">
                <a:solidFill>
                  <a:srgbClr val="00AFEF"/>
                </a:solidFill>
                <a:latin typeface="Times New Roman"/>
                <a:cs typeface="Times New Roman"/>
              </a:rPr>
              <a:t>itself</a:t>
            </a:r>
            <a:r>
              <a:rPr sz="2000" b="1" spc="-20" dirty="0">
                <a:solidFill>
                  <a:srgbClr val="00AFEF"/>
                </a:solidFill>
                <a:latin typeface="Times New Roman"/>
                <a:cs typeface="Times New Roman"/>
              </a:rPr>
              <a:t> </a:t>
            </a:r>
            <a:r>
              <a:rPr sz="2000" b="1" dirty="0">
                <a:solidFill>
                  <a:srgbClr val="00AFEF"/>
                </a:solidFill>
                <a:latin typeface="Times New Roman"/>
                <a:cs typeface="Times New Roman"/>
              </a:rPr>
              <a:t>(i.e.,</a:t>
            </a:r>
            <a:r>
              <a:rPr sz="2000" b="1" spc="-20" dirty="0">
                <a:solidFill>
                  <a:srgbClr val="00AFEF"/>
                </a:solidFill>
                <a:latin typeface="Times New Roman"/>
                <a:cs typeface="Times New Roman"/>
              </a:rPr>
              <a:t> </a:t>
            </a:r>
            <a:r>
              <a:rPr sz="2000" b="1" dirty="0">
                <a:solidFill>
                  <a:srgbClr val="00AFEF"/>
                </a:solidFill>
                <a:latin typeface="Times New Roman"/>
                <a:cs typeface="Times New Roman"/>
              </a:rPr>
              <a:t>a</a:t>
            </a:r>
            <a:r>
              <a:rPr sz="2000" b="1" spc="-15" dirty="0">
                <a:solidFill>
                  <a:srgbClr val="00AFEF"/>
                </a:solidFill>
                <a:latin typeface="Times New Roman"/>
                <a:cs typeface="Times New Roman"/>
              </a:rPr>
              <a:t> </a:t>
            </a:r>
            <a:r>
              <a:rPr sz="2000" b="1" spc="-10" dirty="0">
                <a:solidFill>
                  <a:srgbClr val="00AFEF"/>
                </a:solidFill>
                <a:latin typeface="Times New Roman"/>
                <a:cs typeface="Times New Roman"/>
              </a:rPr>
              <a:t>loop).</a:t>
            </a:r>
            <a:endParaRPr sz="2000" dirty="0">
              <a:latin typeface="Times New Roman"/>
              <a:cs typeface="Times New Roman"/>
            </a:endParaRPr>
          </a:p>
          <a:p>
            <a:pPr marL="12700">
              <a:lnSpc>
                <a:spcPct val="100000"/>
              </a:lnSpc>
              <a:spcBef>
                <a:spcPts val="994"/>
              </a:spcBef>
            </a:pPr>
            <a:r>
              <a:rPr sz="2000" b="1" dirty="0">
                <a:solidFill>
                  <a:srgbClr val="90C225"/>
                </a:solidFill>
                <a:latin typeface="Times New Roman"/>
                <a:cs typeface="Times New Roman"/>
              </a:rPr>
              <a:t>EXAMPLE </a:t>
            </a:r>
            <a:r>
              <a:rPr sz="2000" b="1" spc="-50" dirty="0">
                <a:solidFill>
                  <a:srgbClr val="90C225"/>
                </a:solidFill>
                <a:latin typeface="Times New Roman"/>
                <a:cs typeface="Times New Roman"/>
              </a:rPr>
              <a:t>Q</a:t>
            </a:r>
            <a:endParaRPr sz="2000" dirty="0">
              <a:latin typeface="Times New Roman"/>
              <a:cs typeface="Times New Roman"/>
            </a:endParaRPr>
          </a:p>
        </p:txBody>
      </p:sp>
      <p:sp>
        <p:nvSpPr>
          <p:cNvPr id="4" name="object 4"/>
          <p:cNvSpPr txBox="1"/>
          <p:nvPr/>
        </p:nvSpPr>
        <p:spPr>
          <a:xfrm>
            <a:off x="205740" y="2190241"/>
            <a:ext cx="4285615" cy="2580640"/>
          </a:xfrm>
          <a:prstGeom prst="rect">
            <a:avLst/>
          </a:prstGeom>
        </p:spPr>
        <p:txBody>
          <a:bodyPr vert="horz" wrap="square" lIns="0" tIns="12700" rIns="0" bIns="0" rtlCol="0">
            <a:spAutoFit/>
          </a:bodyPr>
          <a:lstStyle/>
          <a:p>
            <a:pPr marL="38100" marR="147320">
              <a:lnSpc>
                <a:spcPct val="100000"/>
              </a:lnSpc>
              <a:spcBef>
                <a:spcPts val="100"/>
              </a:spcBef>
            </a:pPr>
            <a:r>
              <a:rPr sz="1800" b="1" spc="-10" dirty="0">
                <a:solidFill>
                  <a:srgbClr val="404040"/>
                </a:solidFill>
                <a:latin typeface="Times New Roman"/>
                <a:cs typeface="Times New Roman"/>
              </a:rPr>
              <a:t>Let</a:t>
            </a:r>
            <a:r>
              <a:rPr sz="1800" b="1" spc="-105" dirty="0">
                <a:solidFill>
                  <a:srgbClr val="404040"/>
                </a:solidFill>
                <a:latin typeface="Times New Roman"/>
                <a:cs typeface="Times New Roman"/>
              </a:rPr>
              <a:t> </a:t>
            </a:r>
            <a:r>
              <a:rPr sz="1800" b="1" dirty="0">
                <a:solidFill>
                  <a:srgbClr val="404040"/>
                </a:solidFill>
                <a:latin typeface="Times New Roman"/>
                <a:cs typeface="Times New Roman"/>
              </a:rPr>
              <a:t>A</a:t>
            </a:r>
            <a:r>
              <a:rPr sz="1800" b="1" spc="-110" dirty="0">
                <a:solidFill>
                  <a:srgbClr val="404040"/>
                </a:solidFill>
                <a:latin typeface="Times New Roman"/>
                <a:cs typeface="Times New Roman"/>
              </a:rPr>
              <a:t> </a:t>
            </a:r>
            <a:r>
              <a:rPr sz="1800" b="1" dirty="0">
                <a:solidFill>
                  <a:srgbClr val="404040"/>
                </a:solidFill>
                <a:latin typeface="Times New Roman"/>
                <a:cs typeface="Times New Roman"/>
              </a:rPr>
              <a:t>=</a:t>
            </a:r>
            <a:r>
              <a:rPr sz="1800" b="1" spc="-30"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3,</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4}</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and</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define</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relations</a:t>
            </a:r>
            <a:r>
              <a:rPr sz="1800" b="1" spc="-20" dirty="0">
                <a:solidFill>
                  <a:srgbClr val="404040"/>
                </a:solidFill>
                <a:latin typeface="Times New Roman"/>
                <a:cs typeface="Times New Roman"/>
              </a:rPr>
              <a:t> </a:t>
            </a:r>
            <a:r>
              <a:rPr sz="1800" b="1" spc="-25" dirty="0">
                <a:solidFill>
                  <a:srgbClr val="404040"/>
                </a:solidFill>
                <a:latin typeface="Times New Roman"/>
                <a:cs typeface="Times New Roman"/>
              </a:rPr>
              <a:t>R</a:t>
            </a:r>
            <a:r>
              <a:rPr sz="1800" b="1" spc="-37" baseline="-20833" dirty="0">
                <a:solidFill>
                  <a:srgbClr val="404040"/>
                </a:solidFill>
                <a:latin typeface="Times New Roman"/>
                <a:cs typeface="Times New Roman"/>
              </a:rPr>
              <a:t>1</a:t>
            </a:r>
            <a:r>
              <a:rPr sz="1800" b="1" spc="-25" dirty="0">
                <a:solidFill>
                  <a:srgbClr val="404040"/>
                </a:solidFill>
                <a:latin typeface="Times New Roman"/>
                <a:cs typeface="Times New Roman"/>
              </a:rPr>
              <a:t>, </a:t>
            </a:r>
            <a:r>
              <a:rPr sz="1800" b="1" dirty="0">
                <a:solidFill>
                  <a:srgbClr val="404040"/>
                </a:solidFill>
                <a:latin typeface="Times New Roman"/>
                <a:cs typeface="Times New Roman"/>
              </a:rPr>
              <a:t>A</a:t>
            </a:r>
            <a:r>
              <a:rPr sz="1800" b="1" spc="-100" dirty="0">
                <a:solidFill>
                  <a:srgbClr val="404040"/>
                </a:solidFill>
                <a:latin typeface="Times New Roman"/>
                <a:cs typeface="Times New Roman"/>
              </a:rPr>
              <a:t> </a:t>
            </a:r>
            <a:r>
              <a:rPr sz="1800" b="1" spc="-25" dirty="0">
                <a:solidFill>
                  <a:srgbClr val="404040"/>
                </a:solidFill>
                <a:latin typeface="Times New Roman"/>
                <a:cs typeface="Times New Roman"/>
              </a:rPr>
              <a:t>by</a:t>
            </a:r>
            <a:endParaRPr sz="1800">
              <a:latin typeface="Times New Roman"/>
              <a:cs typeface="Times New Roman"/>
            </a:endParaRPr>
          </a:p>
          <a:p>
            <a:pPr marL="38100">
              <a:lnSpc>
                <a:spcPct val="100000"/>
              </a:lnSpc>
              <a:spcBef>
                <a:spcPts val="1005"/>
              </a:spcBef>
            </a:pPr>
            <a:r>
              <a:rPr sz="1800" b="1" dirty="0">
                <a:solidFill>
                  <a:srgbClr val="404040"/>
                </a:solidFill>
                <a:latin typeface="Times New Roman"/>
                <a:cs typeface="Times New Roman"/>
              </a:rPr>
              <a:t>R</a:t>
            </a:r>
            <a:r>
              <a:rPr sz="1800" b="1" baseline="-20833" dirty="0">
                <a:solidFill>
                  <a:srgbClr val="404040"/>
                </a:solidFill>
                <a:latin typeface="Times New Roman"/>
                <a:cs typeface="Times New Roman"/>
              </a:rPr>
              <a:t>1</a:t>
            </a:r>
            <a:r>
              <a:rPr sz="1800" b="1" spc="187" baseline="-20833" dirty="0">
                <a:solidFill>
                  <a:srgbClr val="404040"/>
                </a:solidFill>
                <a:latin typeface="Times New Roman"/>
                <a:cs typeface="Times New Roman"/>
              </a:rPr>
              <a:t> </a:t>
            </a:r>
            <a:r>
              <a:rPr sz="1800" b="1" dirty="0">
                <a:solidFill>
                  <a:srgbClr val="404040"/>
                </a:solidFill>
                <a:latin typeface="Times New Roman"/>
                <a:cs typeface="Times New Roman"/>
              </a:rPr>
              <a:t>=</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(3,</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3),</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(4,</a:t>
            </a:r>
            <a:r>
              <a:rPr sz="1800" b="1" spc="-20" dirty="0">
                <a:solidFill>
                  <a:srgbClr val="404040"/>
                </a:solidFill>
                <a:latin typeface="Times New Roman"/>
                <a:cs typeface="Times New Roman"/>
              </a:rPr>
              <a:t> </a:t>
            </a:r>
            <a:r>
              <a:rPr sz="1800" b="1" spc="-25" dirty="0">
                <a:solidFill>
                  <a:srgbClr val="404040"/>
                </a:solidFill>
                <a:latin typeface="Times New Roman"/>
                <a:cs typeface="Times New Roman"/>
              </a:rPr>
              <a:t>4)}</a:t>
            </a:r>
            <a:endParaRPr sz="1800">
              <a:latin typeface="Times New Roman"/>
              <a:cs typeface="Times New Roman"/>
            </a:endParaRPr>
          </a:p>
          <a:p>
            <a:pPr marL="38100">
              <a:lnSpc>
                <a:spcPct val="100000"/>
              </a:lnSpc>
              <a:spcBef>
                <a:spcPts val="994"/>
              </a:spcBef>
            </a:pPr>
            <a:r>
              <a:rPr sz="1800" b="1" dirty="0">
                <a:solidFill>
                  <a:srgbClr val="404040"/>
                </a:solidFill>
                <a:latin typeface="Times New Roman"/>
                <a:cs typeface="Times New Roman"/>
              </a:rPr>
              <a:t>R</a:t>
            </a:r>
            <a:r>
              <a:rPr sz="1800" b="1" baseline="-20833" dirty="0">
                <a:solidFill>
                  <a:srgbClr val="404040"/>
                </a:solidFill>
                <a:latin typeface="Times New Roman"/>
                <a:cs typeface="Times New Roman"/>
              </a:rPr>
              <a:t>2</a:t>
            </a:r>
            <a:r>
              <a:rPr sz="1800" b="1" spc="187" baseline="-20833" dirty="0">
                <a:solidFill>
                  <a:srgbClr val="404040"/>
                </a:solidFill>
                <a:latin typeface="Times New Roman"/>
                <a:cs typeface="Times New Roman"/>
              </a:rPr>
              <a:t> </a:t>
            </a:r>
            <a:r>
              <a:rPr sz="1800" b="1" dirty="0">
                <a:solidFill>
                  <a:srgbClr val="404040"/>
                </a:solidFill>
                <a:latin typeface="Times New Roman"/>
                <a:cs typeface="Times New Roman"/>
              </a:rPr>
              <a:t>=</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4),</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(3,</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3),</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(4,</a:t>
            </a:r>
            <a:r>
              <a:rPr sz="1800" b="1" spc="-15" dirty="0">
                <a:solidFill>
                  <a:srgbClr val="404040"/>
                </a:solidFill>
                <a:latin typeface="Times New Roman"/>
                <a:cs typeface="Times New Roman"/>
              </a:rPr>
              <a:t> </a:t>
            </a:r>
            <a:r>
              <a:rPr sz="1800" b="1" spc="-25" dirty="0">
                <a:solidFill>
                  <a:srgbClr val="404040"/>
                </a:solidFill>
                <a:latin typeface="Times New Roman"/>
                <a:cs typeface="Times New Roman"/>
              </a:rPr>
              <a:t>3)}</a:t>
            </a:r>
            <a:endParaRPr sz="1800">
              <a:latin typeface="Times New Roman"/>
              <a:cs typeface="Times New Roman"/>
            </a:endParaRPr>
          </a:p>
          <a:p>
            <a:pPr marL="38100">
              <a:lnSpc>
                <a:spcPct val="100000"/>
              </a:lnSpc>
              <a:spcBef>
                <a:spcPts val="1000"/>
              </a:spcBef>
            </a:pPr>
            <a:r>
              <a:rPr sz="1800" b="1" dirty="0">
                <a:solidFill>
                  <a:srgbClr val="404040"/>
                </a:solidFill>
                <a:latin typeface="Times New Roman"/>
                <a:cs typeface="Times New Roman"/>
              </a:rPr>
              <a:t>R</a:t>
            </a:r>
            <a:r>
              <a:rPr sz="1800" b="1" baseline="-20833" dirty="0">
                <a:solidFill>
                  <a:srgbClr val="404040"/>
                </a:solidFill>
                <a:latin typeface="Times New Roman"/>
                <a:cs typeface="Times New Roman"/>
              </a:rPr>
              <a:t>3</a:t>
            </a:r>
            <a:r>
              <a:rPr sz="1800" b="1" spc="187" baseline="-20833" dirty="0">
                <a:solidFill>
                  <a:srgbClr val="404040"/>
                </a:solidFill>
                <a:latin typeface="Times New Roman"/>
                <a:cs typeface="Times New Roman"/>
              </a:rPr>
              <a:t> </a:t>
            </a:r>
            <a:r>
              <a:rPr sz="1800" b="1" dirty="0">
                <a:solidFill>
                  <a:srgbClr val="404040"/>
                </a:solidFill>
                <a:latin typeface="Times New Roman"/>
                <a:cs typeface="Times New Roman"/>
              </a:rPr>
              <a:t>=</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(3,</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3),</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(4,</a:t>
            </a:r>
            <a:r>
              <a:rPr sz="1800" b="1" spc="-15" dirty="0">
                <a:solidFill>
                  <a:srgbClr val="404040"/>
                </a:solidFill>
                <a:latin typeface="Times New Roman"/>
                <a:cs typeface="Times New Roman"/>
              </a:rPr>
              <a:t> </a:t>
            </a:r>
            <a:r>
              <a:rPr sz="1800" b="1" spc="-25" dirty="0">
                <a:solidFill>
                  <a:srgbClr val="404040"/>
                </a:solidFill>
                <a:latin typeface="Times New Roman"/>
                <a:cs typeface="Times New Roman"/>
              </a:rPr>
              <a:t>4)}</a:t>
            </a:r>
            <a:endParaRPr sz="1800">
              <a:latin typeface="Times New Roman"/>
              <a:cs typeface="Times New Roman"/>
            </a:endParaRPr>
          </a:p>
          <a:p>
            <a:pPr marL="38100">
              <a:lnSpc>
                <a:spcPct val="100000"/>
              </a:lnSpc>
              <a:spcBef>
                <a:spcPts val="1005"/>
              </a:spcBef>
            </a:pPr>
            <a:r>
              <a:rPr sz="1800" b="1" dirty="0">
                <a:solidFill>
                  <a:srgbClr val="404040"/>
                </a:solidFill>
                <a:latin typeface="Times New Roman"/>
                <a:cs typeface="Times New Roman"/>
              </a:rPr>
              <a:t>R</a:t>
            </a:r>
            <a:r>
              <a:rPr sz="1800" b="1" baseline="-20833" dirty="0">
                <a:solidFill>
                  <a:srgbClr val="404040"/>
                </a:solidFill>
                <a:latin typeface="Times New Roman"/>
                <a:cs typeface="Times New Roman"/>
              </a:rPr>
              <a:t>4</a:t>
            </a:r>
            <a:r>
              <a:rPr sz="1800" b="1" spc="187" baseline="-20833" dirty="0">
                <a:solidFill>
                  <a:srgbClr val="404040"/>
                </a:solidFill>
                <a:latin typeface="Times New Roman"/>
                <a:cs typeface="Times New Roman"/>
              </a:rPr>
              <a:t> </a:t>
            </a:r>
            <a:r>
              <a:rPr sz="1800" b="1" dirty="0">
                <a:solidFill>
                  <a:srgbClr val="404040"/>
                </a:solidFill>
                <a:latin typeface="Times New Roman"/>
                <a:cs typeface="Times New Roman"/>
              </a:rPr>
              <a:t>=</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4),</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3),</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(4,</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(3,</a:t>
            </a:r>
            <a:r>
              <a:rPr sz="1800" b="1" spc="-15" dirty="0">
                <a:solidFill>
                  <a:srgbClr val="404040"/>
                </a:solidFill>
                <a:latin typeface="Times New Roman"/>
                <a:cs typeface="Times New Roman"/>
              </a:rPr>
              <a:t> </a:t>
            </a:r>
            <a:r>
              <a:rPr sz="1800" b="1" spc="-25" dirty="0">
                <a:solidFill>
                  <a:srgbClr val="404040"/>
                </a:solidFill>
                <a:latin typeface="Times New Roman"/>
                <a:cs typeface="Times New Roman"/>
              </a:rPr>
              <a:t>3)}</a:t>
            </a:r>
            <a:endParaRPr sz="1800">
              <a:latin typeface="Times New Roman"/>
              <a:cs typeface="Times New Roman"/>
            </a:endParaRPr>
          </a:p>
          <a:p>
            <a:pPr marL="38100">
              <a:lnSpc>
                <a:spcPct val="100000"/>
              </a:lnSpc>
              <a:spcBef>
                <a:spcPts val="994"/>
              </a:spcBef>
            </a:pPr>
            <a:r>
              <a:rPr sz="1800" b="1" dirty="0">
                <a:solidFill>
                  <a:srgbClr val="404040"/>
                </a:solidFill>
                <a:latin typeface="Times New Roman"/>
                <a:cs typeface="Times New Roman"/>
              </a:rPr>
              <a:t>Then</a:t>
            </a:r>
            <a:r>
              <a:rPr sz="1800" b="1" spc="-30" dirty="0">
                <a:solidFill>
                  <a:srgbClr val="404040"/>
                </a:solidFill>
                <a:latin typeface="Times New Roman"/>
                <a:cs typeface="Times New Roman"/>
              </a:rPr>
              <a:t> </a:t>
            </a:r>
            <a:r>
              <a:rPr sz="1800" b="1" dirty="0">
                <a:solidFill>
                  <a:srgbClr val="404040"/>
                </a:solidFill>
                <a:latin typeface="Times New Roman"/>
                <a:cs typeface="Times New Roman"/>
              </a:rPr>
              <a:t>their</a:t>
            </a:r>
            <a:r>
              <a:rPr sz="1800" b="1" spc="-60" dirty="0">
                <a:solidFill>
                  <a:srgbClr val="404040"/>
                </a:solidFill>
                <a:latin typeface="Times New Roman"/>
                <a:cs typeface="Times New Roman"/>
              </a:rPr>
              <a:t> </a:t>
            </a:r>
            <a:r>
              <a:rPr sz="1800" b="1" dirty="0">
                <a:solidFill>
                  <a:srgbClr val="404040"/>
                </a:solidFill>
                <a:latin typeface="Times New Roman"/>
                <a:cs typeface="Times New Roman"/>
              </a:rPr>
              <a:t>directed</a:t>
            </a:r>
            <a:r>
              <a:rPr sz="1800" b="1" spc="-30" dirty="0">
                <a:solidFill>
                  <a:srgbClr val="404040"/>
                </a:solidFill>
                <a:latin typeface="Times New Roman"/>
                <a:cs typeface="Times New Roman"/>
              </a:rPr>
              <a:t> </a:t>
            </a:r>
            <a:r>
              <a:rPr sz="1800" b="1" dirty="0">
                <a:solidFill>
                  <a:srgbClr val="404040"/>
                </a:solidFill>
                <a:latin typeface="Times New Roman"/>
                <a:cs typeface="Times New Roman"/>
              </a:rPr>
              <a:t>graphs</a:t>
            </a:r>
            <a:r>
              <a:rPr sz="1800" b="1" spc="-30" dirty="0">
                <a:solidFill>
                  <a:srgbClr val="404040"/>
                </a:solidFill>
                <a:latin typeface="Times New Roman"/>
                <a:cs typeface="Times New Roman"/>
              </a:rPr>
              <a:t> </a:t>
            </a:r>
            <a:r>
              <a:rPr sz="1800" b="1" spc="-20" dirty="0">
                <a:solidFill>
                  <a:srgbClr val="404040"/>
                </a:solidFill>
                <a:latin typeface="Times New Roman"/>
                <a:cs typeface="Times New Roman"/>
              </a:rPr>
              <a:t>are:</a:t>
            </a:r>
            <a:endParaRPr sz="1800">
              <a:latin typeface="Times New Roman"/>
              <a:cs typeface="Times New Roman"/>
            </a:endParaRPr>
          </a:p>
        </p:txBody>
      </p:sp>
      <p:sp>
        <p:nvSpPr>
          <p:cNvPr id="5" name="object 5"/>
          <p:cNvSpPr txBox="1"/>
          <p:nvPr/>
        </p:nvSpPr>
        <p:spPr>
          <a:xfrm>
            <a:off x="4467225" y="2190241"/>
            <a:ext cx="2014220" cy="299720"/>
          </a:xfrm>
          <a:prstGeom prst="rect">
            <a:avLst/>
          </a:prstGeom>
        </p:spPr>
        <p:txBody>
          <a:bodyPr vert="horz" wrap="square" lIns="0" tIns="12700" rIns="0" bIns="0" rtlCol="0">
            <a:spAutoFit/>
          </a:bodyPr>
          <a:lstStyle/>
          <a:p>
            <a:pPr marL="50800">
              <a:lnSpc>
                <a:spcPct val="100000"/>
              </a:lnSpc>
              <a:spcBef>
                <a:spcPts val="100"/>
              </a:spcBef>
              <a:tabLst>
                <a:tab pos="1422400" algn="l"/>
              </a:tabLst>
            </a:pPr>
            <a:r>
              <a:rPr sz="1800" b="1" dirty="0">
                <a:solidFill>
                  <a:srgbClr val="404040"/>
                </a:solidFill>
                <a:latin typeface="Times New Roman"/>
                <a:cs typeface="Times New Roman"/>
              </a:rPr>
              <a:t>R</a:t>
            </a:r>
            <a:r>
              <a:rPr sz="1800" b="1" baseline="-20833" dirty="0">
                <a:solidFill>
                  <a:srgbClr val="404040"/>
                </a:solidFill>
                <a:latin typeface="Times New Roman"/>
                <a:cs typeface="Times New Roman"/>
              </a:rPr>
              <a:t>2</a:t>
            </a:r>
            <a:r>
              <a:rPr sz="1800" b="1" dirty="0">
                <a:solidFill>
                  <a:srgbClr val="404040"/>
                </a:solidFill>
                <a:latin typeface="Times New Roman"/>
                <a:cs typeface="Times New Roman"/>
              </a:rPr>
              <a:t>,</a:t>
            </a:r>
            <a:r>
              <a:rPr sz="1800" b="1" spc="-30" dirty="0">
                <a:solidFill>
                  <a:srgbClr val="404040"/>
                </a:solidFill>
                <a:latin typeface="Times New Roman"/>
                <a:cs typeface="Times New Roman"/>
              </a:rPr>
              <a:t> </a:t>
            </a:r>
            <a:r>
              <a:rPr sz="1800" b="1" dirty="0">
                <a:solidFill>
                  <a:srgbClr val="404040"/>
                </a:solidFill>
                <a:latin typeface="Times New Roman"/>
                <a:cs typeface="Times New Roman"/>
              </a:rPr>
              <a:t>R</a:t>
            </a:r>
            <a:r>
              <a:rPr sz="1800" b="1" baseline="-20833" dirty="0">
                <a:solidFill>
                  <a:srgbClr val="404040"/>
                </a:solidFill>
                <a:latin typeface="Times New Roman"/>
                <a:cs typeface="Times New Roman"/>
              </a:rPr>
              <a:t>3</a:t>
            </a:r>
            <a:r>
              <a:rPr sz="1800" b="1" dirty="0">
                <a:solidFill>
                  <a:srgbClr val="404040"/>
                </a:solidFill>
                <a:latin typeface="Times New Roman"/>
                <a:cs typeface="Times New Roman"/>
              </a:rPr>
              <a:t>,</a:t>
            </a:r>
            <a:r>
              <a:rPr sz="1800" b="1" spc="-40" dirty="0">
                <a:solidFill>
                  <a:srgbClr val="404040"/>
                </a:solidFill>
                <a:latin typeface="Times New Roman"/>
                <a:cs typeface="Times New Roman"/>
              </a:rPr>
              <a:t> </a:t>
            </a:r>
            <a:r>
              <a:rPr sz="1800" b="1" spc="-25" dirty="0">
                <a:solidFill>
                  <a:srgbClr val="404040"/>
                </a:solidFill>
                <a:latin typeface="Times New Roman"/>
                <a:cs typeface="Times New Roman"/>
              </a:rPr>
              <a:t>and</a:t>
            </a:r>
            <a:r>
              <a:rPr lang="en-US" b="1" spc="-25" dirty="0">
                <a:solidFill>
                  <a:srgbClr val="404040"/>
                </a:solidFill>
                <a:latin typeface="Times New Roman"/>
                <a:cs typeface="Times New Roman"/>
              </a:rPr>
              <a:t> </a:t>
            </a:r>
            <a:r>
              <a:rPr sz="1800" b="1" dirty="0">
                <a:solidFill>
                  <a:srgbClr val="404040"/>
                </a:solidFill>
                <a:latin typeface="Times New Roman"/>
                <a:cs typeface="Times New Roman"/>
              </a:rPr>
              <a:t>R</a:t>
            </a:r>
            <a:r>
              <a:rPr sz="1800" b="1" baseline="-20833" dirty="0">
                <a:solidFill>
                  <a:srgbClr val="404040"/>
                </a:solidFill>
                <a:latin typeface="Times New Roman"/>
                <a:cs typeface="Times New Roman"/>
              </a:rPr>
              <a:t>4</a:t>
            </a:r>
            <a:r>
              <a:rPr sz="1800" b="1" spc="225" baseline="-20833" dirty="0">
                <a:solidFill>
                  <a:srgbClr val="404040"/>
                </a:solidFill>
                <a:latin typeface="Times New Roman"/>
                <a:cs typeface="Times New Roman"/>
              </a:rPr>
              <a:t> </a:t>
            </a:r>
            <a:r>
              <a:rPr sz="1800" b="1" spc="-25" dirty="0">
                <a:solidFill>
                  <a:srgbClr val="404040"/>
                </a:solidFill>
                <a:latin typeface="Times New Roman"/>
                <a:cs typeface="Times New Roman"/>
              </a:rPr>
              <a:t>on</a:t>
            </a:r>
            <a:endParaRPr sz="1800" dirty="0">
              <a:latin typeface="Times New Roman"/>
              <a:cs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619760" y="78509"/>
            <a:ext cx="217170" cy="265430"/>
            <a:chOff x="619760" y="78509"/>
            <a:chExt cx="217170" cy="265430"/>
          </a:xfrm>
        </p:grpSpPr>
        <p:sp>
          <p:nvSpPr>
            <p:cNvPr id="3" name="object 3"/>
            <p:cNvSpPr/>
            <p:nvPr/>
          </p:nvSpPr>
          <p:spPr>
            <a:xfrm>
              <a:off x="619760" y="78511"/>
              <a:ext cx="217170" cy="265430"/>
            </a:xfrm>
            <a:custGeom>
              <a:avLst/>
              <a:gdLst/>
              <a:ahLst/>
              <a:cxnLst/>
              <a:rect l="l" t="t" r="r" b="b"/>
              <a:pathLst>
                <a:path w="217169" h="265430">
                  <a:moveTo>
                    <a:pt x="217131" y="89712"/>
                  </a:moveTo>
                  <a:lnTo>
                    <a:pt x="204927" y="40640"/>
                  </a:lnTo>
                  <a:lnTo>
                    <a:pt x="175374" y="12128"/>
                  </a:lnTo>
                  <a:lnTo>
                    <a:pt x="129755" y="0"/>
                  </a:lnTo>
                  <a:lnTo>
                    <a:pt x="108559" y="0"/>
                  </a:lnTo>
                  <a:lnTo>
                    <a:pt x="62306" y="12128"/>
                  </a:lnTo>
                  <a:lnTo>
                    <a:pt x="20548" y="44843"/>
                  </a:lnTo>
                  <a:lnTo>
                    <a:pt x="0" y="93408"/>
                  </a:lnTo>
                  <a:lnTo>
                    <a:pt x="0" y="121907"/>
                  </a:lnTo>
                  <a:lnTo>
                    <a:pt x="41744" y="195262"/>
                  </a:lnTo>
                  <a:lnTo>
                    <a:pt x="83502" y="223774"/>
                  </a:lnTo>
                  <a:lnTo>
                    <a:pt x="94843" y="228447"/>
                  </a:lnTo>
                  <a:lnTo>
                    <a:pt x="41744" y="248577"/>
                  </a:lnTo>
                  <a:lnTo>
                    <a:pt x="41744" y="256489"/>
                  </a:lnTo>
                  <a:lnTo>
                    <a:pt x="45605" y="264934"/>
                  </a:lnTo>
                  <a:lnTo>
                    <a:pt x="125260" y="232219"/>
                  </a:lnTo>
                  <a:lnTo>
                    <a:pt x="138112" y="227977"/>
                  </a:lnTo>
                  <a:lnTo>
                    <a:pt x="125260" y="220065"/>
                  </a:lnTo>
                  <a:lnTo>
                    <a:pt x="66802" y="163068"/>
                  </a:lnTo>
                  <a:lnTo>
                    <a:pt x="53949" y="175221"/>
                  </a:lnTo>
                  <a:lnTo>
                    <a:pt x="84493" y="205016"/>
                  </a:lnTo>
                  <a:lnTo>
                    <a:pt x="37249" y="163068"/>
                  </a:lnTo>
                  <a:lnTo>
                    <a:pt x="16700" y="118224"/>
                  </a:lnTo>
                  <a:lnTo>
                    <a:pt x="16700" y="97637"/>
                  </a:lnTo>
                  <a:lnTo>
                    <a:pt x="37249" y="56997"/>
                  </a:lnTo>
                  <a:lnTo>
                    <a:pt x="70662" y="28486"/>
                  </a:lnTo>
                  <a:lnTo>
                    <a:pt x="108559" y="16357"/>
                  </a:lnTo>
                  <a:lnTo>
                    <a:pt x="129755" y="16357"/>
                  </a:lnTo>
                  <a:lnTo>
                    <a:pt x="167017" y="24282"/>
                  </a:lnTo>
                  <a:lnTo>
                    <a:pt x="192074" y="48564"/>
                  </a:lnTo>
                  <a:lnTo>
                    <a:pt x="196570" y="69126"/>
                  </a:lnTo>
                  <a:lnTo>
                    <a:pt x="200418" y="89712"/>
                  </a:lnTo>
                  <a:lnTo>
                    <a:pt x="196570" y="113995"/>
                  </a:lnTo>
                  <a:lnTo>
                    <a:pt x="183718" y="146710"/>
                  </a:lnTo>
                  <a:lnTo>
                    <a:pt x="167017" y="178904"/>
                  </a:lnTo>
                  <a:lnTo>
                    <a:pt x="150126" y="203809"/>
                  </a:lnTo>
                  <a:lnTo>
                    <a:pt x="141960" y="207937"/>
                  </a:lnTo>
                  <a:lnTo>
                    <a:pt x="138112" y="220065"/>
                  </a:lnTo>
                  <a:lnTo>
                    <a:pt x="141960" y="227977"/>
                  </a:lnTo>
                  <a:lnTo>
                    <a:pt x="150317" y="232219"/>
                  </a:lnTo>
                  <a:lnTo>
                    <a:pt x="158661" y="227977"/>
                  </a:lnTo>
                  <a:lnTo>
                    <a:pt x="163169" y="220065"/>
                  </a:lnTo>
                  <a:lnTo>
                    <a:pt x="162229" y="217551"/>
                  </a:lnTo>
                  <a:lnTo>
                    <a:pt x="183718" y="187350"/>
                  </a:lnTo>
                  <a:lnTo>
                    <a:pt x="200418" y="150393"/>
                  </a:lnTo>
                  <a:lnTo>
                    <a:pt x="213271" y="118224"/>
                  </a:lnTo>
                  <a:lnTo>
                    <a:pt x="217131" y="89712"/>
                  </a:lnTo>
                  <a:close/>
                </a:path>
              </a:pathLst>
            </a:custGeom>
            <a:solidFill>
              <a:srgbClr val="1F1A17"/>
            </a:solidFill>
          </p:spPr>
          <p:txBody>
            <a:bodyPr wrap="square" lIns="0" tIns="0" rIns="0" bIns="0" rtlCol="0"/>
            <a:lstStyle/>
            <a:p>
              <a:endParaRPr/>
            </a:p>
          </p:txBody>
        </p:sp>
        <p:sp>
          <p:nvSpPr>
            <p:cNvPr id="4" name="object 4"/>
            <p:cNvSpPr/>
            <p:nvPr/>
          </p:nvSpPr>
          <p:spPr>
            <a:xfrm>
              <a:off x="766869" y="289608"/>
              <a:ext cx="25400" cy="28575"/>
            </a:xfrm>
            <a:custGeom>
              <a:avLst/>
              <a:gdLst/>
              <a:ahLst/>
              <a:cxnLst/>
              <a:rect l="l" t="t" r="r" b="b"/>
              <a:pathLst>
                <a:path w="25400" h="28575">
                  <a:moveTo>
                    <a:pt x="12207" y="0"/>
                  </a:moveTo>
                  <a:lnTo>
                    <a:pt x="20558" y="4208"/>
                  </a:lnTo>
                  <a:lnTo>
                    <a:pt x="25055" y="16358"/>
                  </a:lnTo>
                  <a:lnTo>
                    <a:pt x="20558" y="24277"/>
                  </a:lnTo>
                  <a:lnTo>
                    <a:pt x="12207" y="28486"/>
                  </a:lnTo>
                  <a:lnTo>
                    <a:pt x="3855" y="24277"/>
                  </a:lnTo>
                  <a:lnTo>
                    <a:pt x="0" y="16358"/>
                  </a:lnTo>
                  <a:lnTo>
                    <a:pt x="3855" y="4208"/>
                  </a:lnTo>
                  <a:lnTo>
                    <a:pt x="12207" y="0"/>
                  </a:lnTo>
                </a:path>
              </a:pathLst>
            </a:custGeom>
            <a:ln w="4149">
              <a:solidFill>
                <a:srgbClr val="1F1A17"/>
              </a:solidFill>
            </a:ln>
          </p:spPr>
          <p:txBody>
            <a:bodyPr wrap="square" lIns="0" tIns="0" rIns="0" bIns="0" rtlCol="0"/>
            <a:lstStyle/>
            <a:p>
              <a:endParaRPr/>
            </a:p>
          </p:txBody>
        </p:sp>
      </p:grpSp>
      <p:grpSp>
        <p:nvGrpSpPr>
          <p:cNvPr id="5" name="object 5"/>
          <p:cNvGrpSpPr/>
          <p:nvPr/>
        </p:nvGrpSpPr>
        <p:grpSpPr>
          <a:xfrm>
            <a:off x="603057" y="1349856"/>
            <a:ext cx="217170" cy="265430"/>
            <a:chOff x="603057" y="1349856"/>
            <a:chExt cx="217170" cy="265430"/>
          </a:xfrm>
        </p:grpSpPr>
        <p:sp>
          <p:nvSpPr>
            <p:cNvPr id="6" name="object 6"/>
            <p:cNvSpPr/>
            <p:nvPr/>
          </p:nvSpPr>
          <p:spPr>
            <a:xfrm>
              <a:off x="603046" y="1349857"/>
              <a:ext cx="217170" cy="265430"/>
            </a:xfrm>
            <a:custGeom>
              <a:avLst/>
              <a:gdLst/>
              <a:ahLst/>
              <a:cxnLst/>
              <a:rect l="l" t="t" r="r" b="b"/>
              <a:pathLst>
                <a:path w="217169" h="265430">
                  <a:moveTo>
                    <a:pt x="217131" y="93941"/>
                  </a:moveTo>
                  <a:lnTo>
                    <a:pt x="204927" y="44856"/>
                  </a:lnTo>
                  <a:lnTo>
                    <a:pt x="150329" y="4216"/>
                  </a:lnTo>
                  <a:lnTo>
                    <a:pt x="129133" y="0"/>
                  </a:lnTo>
                  <a:lnTo>
                    <a:pt x="104076" y="0"/>
                  </a:lnTo>
                  <a:lnTo>
                    <a:pt x="83515" y="8445"/>
                  </a:lnTo>
                  <a:lnTo>
                    <a:pt x="58458" y="16370"/>
                  </a:lnTo>
                  <a:lnTo>
                    <a:pt x="37261" y="28486"/>
                  </a:lnTo>
                  <a:lnTo>
                    <a:pt x="20561" y="49085"/>
                  </a:lnTo>
                  <a:lnTo>
                    <a:pt x="3860" y="73355"/>
                  </a:lnTo>
                  <a:lnTo>
                    <a:pt x="0" y="98158"/>
                  </a:lnTo>
                  <a:lnTo>
                    <a:pt x="0" y="126657"/>
                  </a:lnTo>
                  <a:lnTo>
                    <a:pt x="8356" y="150939"/>
                  </a:lnTo>
                  <a:lnTo>
                    <a:pt x="20561" y="175221"/>
                  </a:lnTo>
                  <a:lnTo>
                    <a:pt x="41757" y="195795"/>
                  </a:lnTo>
                  <a:lnTo>
                    <a:pt x="58458" y="215849"/>
                  </a:lnTo>
                  <a:lnTo>
                    <a:pt x="83515" y="228523"/>
                  </a:lnTo>
                  <a:lnTo>
                    <a:pt x="88226" y="230352"/>
                  </a:lnTo>
                  <a:lnTo>
                    <a:pt x="37261" y="248577"/>
                  </a:lnTo>
                  <a:lnTo>
                    <a:pt x="41757" y="257022"/>
                  </a:lnTo>
                  <a:lnTo>
                    <a:pt x="45618" y="264934"/>
                  </a:lnTo>
                  <a:lnTo>
                    <a:pt x="120777" y="236435"/>
                  </a:lnTo>
                  <a:lnTo>
                    <a:pt x="133629" y="232206"/>
                  </a:lnTo>
                  <a:lnTo>
                    <a:pt x="125272" y="224294"/>
                  </a:lnTo>
                  <a:lnTo>
                    <a:pt x="66814" y="167297"/>
                  </a:lnTo>
                  <a:lnTo>
                    <a:pt x="53962" y="179438"/>
                  </a:lnTo>
                  <a:lnTo>
                    <a:pt x="87591" y="212242"/>
                  </a:lnTo>
                  <a:lnTo>
                    <a:pt x="87376" y="212153"/>
                  </a:lnTo>
                  <a:lnTo>
                    <a:pt x="70662" y="200025"/>
                  </a:lnTo>
                  <a:lnTo>
                    <a:pt x="37261" y="167297"/>
                  </a:lnTo>
                  <a:lnTo>
                    <a:pt x="25057" y="142494"/>
                  </a:lnTo>
                  <a:lnTo>
                    <a:pt x="16713" y="122440"/>
                  </a:lnTo>
                  <a:lnTo>
                    <a:pt x="16713" y="101854"/>
                  </a:lnTo>
                  <a:lnTo>
                    <a:pt x="33413" y="56997"/>
                  </a:lnTo>
                  <a:lnTo>
                    <a:pt x="66814" y="32727"/>
                  </a:lnTo>
                  <a:lnTo>
                    <a:pt x="129133" y="16370"/>
                  </a:lnTo>
                  <a:lnTo>
                    <a:pt x="146469" y="20599"/>
                  </a:lnTo>
                  <a:lnTo>
                    <a:pt x="163169" y="28486"/>
                  </a:lnTo>
                  <a:lnTo>
                    <a:pt x="179882" y="40640"/>
                  </a:lnTo>
                  <a:lnTo>
                    <a:pt x="188226" y="53314"/>
                  </a:lnTo>
                  <a:lnTo>
                    <a:pt x="196583" y="73355"/>
                  </a:lnTo>
                  <a:lnTo>
                    <a:pt x="196583" y="118224"/>
                  </a:lnTo>
                  <a:lnTo>
                    <a:pt x="167030" y="183654"/>
                  </a:lnTo>
                  <a:lnTo>
                    <a:pt x="137477" y="220078"/>
                  </a:lnTo>
                  <a:lnTo>
                    <a:pt x="150329" y="228523"/>
                  </a:lnTo>
                  <a:lnTo>
                    <a:pt x="179882" y="191579"/>
                  </a:lnTo>
                  <a:lnTo>
                    <a:pt x="200431" y="155155"/>
                  </a:lnTo>
                  <a:lnTo>
                    <a:pt x="213283" y="122440"/>
                  </a:lnTo>
                  <a:lnTo>
                    <a:pt x="217131" y="93941"/>
                  </a:lnTo>
                  <a:close/>
                </a:path>
              </a:pathLst>
            </a:custGeom>
            <a:solidFill>
              <a:srgbClr val="1F1A17"/>
            </a:solidFill>
          </p:spPr>
          <p:txBody>
            <a:bodyPr wrap="square" lIns="0" tIns="0" rIns="0" bIns="0" rtlCol="0"/>
            <a:lstStyle/>
            <a:p>
              <a:endParaRPr/>
            </a:p>
          </p:txBody>
        </p:sp>
        <p:sp>
          <p:nvSpPr>
            <p:cNvPr id="7" name="object 7"/>
            <p:cNvSpPr/>
            <p:nvPr/>
          </p:nvSpPr>
          <p:spPr>
            <a:xfrm>
              <a:off x="740532" y="1557786"/>
              <a:ext cx="26034" cy="28575"/>
            </a:xfrm>
            <a:custGeom>
              <a:avLst/>
              <a:gdLst/>
              <a:ahLst/>
              <a:cxnLst/>
              <a:rect l="l" t="t" r="r" b="b"/>
              <a:pathLst>
                <a:path w="26034" h="28575">
                  <a:moveTo>
                    <a:pt x="12848" y="0"/>
                  </a:moveTo>
                  <a:lnTo>
                    <a:pt x="4496" y="4221"/>
                  </a:lnTo>
                  <a:lnTo>
                    <a:pt x="0" y="16360"/>
                  </a:lnTo>
                  <a:lnTo>
                    <a:pt x="4496" y="24277"/>
                  </a:lnTo>
                  <a:lnTo>
                    <a:pt x="12848" y="28499"/>
                  </a:lnTo>
                  <a:lnTo>
                    <a:pt x="21199" y="24277"/>
                  </a:lnTo>
                  <a:lnTo>
                    <a:pt x="25696" y="16360"/>
                  </a:lnTo>
                  <a:lnTo>
                    <a:pt x="21199" y="4221"/>
                  </a:lnTo>
                  <a:lnTo>
                    <a:pt x="12848" y="0"/>
                  </a:lnTo>
                  <a:close/>
                </a:path>
              </a:pathLst>
            </a:custGeom>
            <a:solidFill>
              <a:srgbClr val="1F1A17"/>
            </a:solidFill>
          </p:spPr>
          <p:txBody>
            <a:bodyPr wrap="square" lIns="0" tIns="0" rIns="0" bIns="0" rtlCol="0"/>
            <a:lstStyle/>
            <a:p>
              <a:endParaRPr/>
            </a:p>
          </p:txBody>
        </p:sp>
        <p:sp>
          <p:nvSpPr>
            <p:cNvPr id="8" name="object 8"/>
            <p:cNvSpPr/>
            <p:nvPr/>
          </p:nvSpPr>
          <p:spPr>
            <a:xfrm>
              <a:off x="749525" y="1565176"/>
              <a:ext cx="26034" cy="28575"/>
            </a:xfrm>
            <a:custGeom>
              <a:avLst/>
              <a:gdLst/>
              <a:ahLst/>
              <a:cxnLst/>
              <a:rect l="l" t="t" r="r" b="b"/>
              <a:pathLst>
                <a:path w="26034" h="28575">
                  <a:moveTo>
                    <a:pt x="12848" y="0"/>
                  </a:moveTo>
                  <a:lnTo>
                    <a:pt x="21199" y="4221"/>
                  </a:lnTo>
                  <a:lnTo>
                    <a:pt x="25696" y="16360"/>
                  </a:lnTo>
                  <a:lnTo>
                    <a:pt x="21199" y="24275"/>
                  </a:lnTo>
                  <a:lnTo>
                    <a:pt x="12848" y="28499"/>
                  </a:lnTo>
                  <a:lnTo>
                    <a:pt x="4496" y="24275"/>
                  </a:lnTo>
                  <a:lnTo>
                    <a:pt x="0" y="16360"/>
                  </a:lnTo>
                  <a:lnTo>
                    <a:pt x="4496" y="4221"/>
                  </a:lnTo>
                  <a:lnTo>
                    <a:pt x="12848" y="0"/>
                  </a:lnTo>
                </a:path>
              </a:pathLst>
            </a:custGeom>
            <a:ln w="4139">
              <a:solidFill>
                <a:srgbClr val="1F1A17"/>
              </a:solidFill>
            </a:ln>
          </p:spPr>
          <p:txBody>
            <a:bodyPr wrap="square" lIns="0" tIns="0" rIns="0" bIns="0" rtlCol="0"/>
            <a:lstStyle/>
            <a:p>
              <a:endParaRPr/>
            </a:p>
          </p:txBody>
        </p:sp>
      </p:grpSp>
      <p:grpSp>
        <p:nvGrpSpPr>
          <p:cNvPr id="9" name="object 9"/>
          <p:cNvGrpSpPr/>
          <p:nvPr/>
        </p:nvGrpSpPr>
        <p:grpSpPr>
          <a:xfrm>
            <a:off x="2275885" y="86428"/>
            <a:ext cx="217804" cy="265430"/>
            <a:chOff x="2275885" y="86428"/>
            <a:chExt cx="217804" cy="265430"/>
          </a:xfrm>
        </p:grpSpPr>
        <p:sp>
          <p:nvSpPr>
            <p:cNvPr id="10" name="object 10"/>
            <p:cNvSpPr/>
            <p:nvPr/>
          </p:nvSpPr>
          <p:spPr>
            <a:xfrm>
              <a:off x="2275878" y="86435"/>
              <a:ext cx="217804" cy="265430"/>
            </a:xfrm>
            <a:custGeom>
              <a:avLst/>
              <a:gdLst/>
              <a:ahLst/>
              <a:cxnLst/>
              <a:rect l="l" t="t" r="r" b="b"/>
              <a:pathLst>
                <a:path w="217805" h="265430">
                  <a:moveTo>
                    <a:pt x="217779" y="65430"/>
                  </a:moveTo>
                  <a:lnTo>
                    <a:pt x="192722" y="24282"/>
                  </a:lnTo>
                  <a:lnTo>
                    <a:pt x="154825" y="4203"/>
                  </a:lnTo>
                  <a:lnTo>
                    <a:pt x="134251" y="0"/>
                  </a:lnTo>
                  <a:lnTo>
                    <a:pt x="109207" y="0"/>
                  </a:lnTo>
                  <a:lnTo>
                    <a:pt x="62953" y="12128"/>
                  </a:lnTo>
                  <a:lnTo>
                    <a:pt x="25057" y="44843"/>
                  </a:lnTo>
                  <a:lnTo>
                    <a:pt x="0" y="93916"/>
                  </a:lnTo>
                  <a:lnTo>
                    <a:pt x="4483" y="122428"/>
                  </a:lnTo>
                  <a:lnTo>
                    <a:pt x="25057" y="170980"/>
                  </a:lnTo>
                  <a:lnTo>
                    <a:pt x="62953" y="212140"/>
                  </a:lnTo>
                  <a:lnTo>
                    <a:pt x="98640" y="228269"/>
                  </a:lnTo>
                  <a:lnTo>
                    <a:pt x="42405" y="248564"/>
                  </a:lnTo>
                  <a:lnTo>
                    <a:pt x="46253" y="257009"/>
                  </a:lnTo>
                  <a:lnTo>
                    <a:pt x="50736" y="264922"/>
                  </a:lnTo>
                  <a:lnTo>
                    <a:pt x="125920" y="236423"/>
                  </a:lnTo>
                  <a:lnTo>
                    <a:pt x="138112" y="228498"/>
                  </a:lnTo>
                  <a:lnTo>
                    <a:pt x="129768" y="220052"/>
                  </a:lnTo>
                  <a:lnTo>
                    <a:pt x="71310" y="163068"/>
                  </a:lnTo>
                  <a:lnTo>
                    <a:pt x="59093" y="175209"/>
                  </a:lnTo>
                  <a:lnTo>
                    <a:pt x="92748" y="208026"/>
                  </a:lnTo>
                  <a:lnTo>
                    <a:pt x="92506" y="207924"/>
                  </a:lnTo>
                  <a:lnTo>
                    <a:pt x="75793" y="200012"/>
                  </a:lnTo>
                  <a:lnTo>
                    <a:pt x="54610" y="183654"/>
                  </a:lnTo>
                  <a:lnTo>
                    <a:pt x="42405" y="163068"/>
                  </a:lnTo>
                  <a:lnTo>
                    <a:pt x="29565" y="142468"/>
                  </a:lnTo>
                  <a:lnTo>
                    <a:pt x="21209" y="118198"/>
                  </a:lnTo>
                  <a:lnTo>
                    <a:pt x="21209" y="97624"/>
                  </a:lnTo>
                  <a:lnTo>
                    <a:pt x="37896" y="56997"/>
                  </a:lnTo>
                  <a:lnTo>
                    <a:pt x="71310" y="28486"/>
                  </a:lnTo>
                  <a:lnTo>
                    <a:pt x="113055" y="16357"/>
                  </a:lnTo>
                  <a:lnTo>
                    <a:pt x="134251" y="16357"/>
                  </a:lnTo>
                  <a:lnTo>
                    <a:pt x="150977" y="20561"/>
                  </a:lnTo>
                  <a:lnTo>
                    <a:pt x="167665" y="24282"/>
                  </a:lnTo>
                  <a:lnTo>
                    <a:pt x="184365" y="36918"/>
                  </a:lnTo>
                  <a:lnTo>
                    <a:pt x="201079" y="69126"/>
                  </a:lnTo>
                  <a:lnTo>
                    <a:pt x="201079" y="113982"/>
                  </a:lnTo>
                  <a:lnTo>
                    <a:pt x="188239" y="146710"/>
                  </a:lnTo>
                  <a:lnTo>
                    <a:pt x="171513" y="179425"/>
                  </a:lnTo>
                  <a:lnTo>
                    <a:pt x="142621" y="215849"/>
                  </a:lnTo>
                  <a:lnTo>
                    <a:pt x="154825" y="228498"/>
                  </a:lnTo>
                  <a:lnTo>
                    <a:pt x="184365" y="187337"/>
                  </a:lnTo>
                  <a:lnTo>
                    <a:pt x="204927" y="150939"/>
                  </a:lnTo>
                  <a:lnTo>
                    <a:pt x="217779" y="118198"/>
                  </a:lnTo>
                  <a:lnTo>
                    <a:pt x="217779" y="65430"/>
                  </a:lnTo>
                  <a:close/>
                </a:path>
              </a:pathLst>
            </a:custGeom>
            <a:solidFill>
              <a:srgbClr val="1F1A17"/>
            </a:solidFill>
          </p:spPr>
          <p:txBody>
            <a:bodyPr wrap="square" lIns="0" tIns="0" rIns="0" bIns="0" rtlCol="0"/>
            <a:lstStyle/>
            <a:p>
              <a:endParaRPr/>
            </a:p>
          </p:txBody>
        </p:sp>
        <p:sp>
          <p:nvSpPr>
            <p:cNvPr id="11" name="object 11"/>
            <p:cNvSpPr/>
            <p:nvPr/>
          </p:nvSpPr>
          <p:spPr>
            <a:xfrm>
              <a:off x="2418500" y="294360"/>
              <a:ext cx="25400" cy="24765"/>
            </a:xfrm>
            <a:custGeom>
              <a:avLst/>
              <a:gdLst/>
              <a:ahLst/>
              <a:cxnLst/>
              <a:rect l="l" t="t" r="r" b="b"/>
              <a:pathLst>
                <a:path w="25400" h="24764">
                  <a:moveTo>
                    <a:pt x="12209" y="0"/>
                  </a:moveTo>
                  <a:lnTo>
                    <a:pt x="0" y="4208"/>
                  </a:lnTo>
                  <a:lnTo>
                    <a:pt x="0" y="20567"/>
                  </a:lnTo>
                  <a:lnTo>
                    <a:pt x="12209" y="24277"/>
                  </a:lnTo>
                  <a:lnTo>
                    <a:pt x="20543" y="20567"/>
                  </a:lnTo>
                  <a:lnTo>
                    <a:pt x="25052" y="12127"/>
                  </a:lnTo>
                  <a:lnTo>
                    <a:pt x="20543" y="4208"/>
                  </a:lnTo>
                  <a:lnTo>
                    <a:pt x="12209" y="0"/>
                  </a:lnTo>
                  <a:close/>
                </a:path>
              </a:pathLst>
            </a:custGeom>
            <a:solidFill>
              <a:srgbClr val="1F1A17"/>
            </a:solidFill>
          </p:spPr>
          <p:txBody>
            <a:bodyPr wrap="square" lIns="0" tIns="0" rIns="0" bIns="0" rtlCol="0"/>
            <a:lstStyle/>
            <a:p>
              <a:endParaRPr/>
            </a:p>
          </p:txBody>
        </p:sp>
        <p:sp>
          <p:nvSpPr>
            <p:cNvPr id="12" name="object 12"/>
            <p:cNvSpPr/>
            <p:nvPr/>
          </p:nvSpPr>
          <p:spPr>
            <a:xfrm>
              <a:off x="2427493" y="301737"/>
              <a:ext cx="25400" cy="24765"/>
            </a:xfrm>
            <a:custGeom>
              <a:avLst/>
              <a:gdLst/>
              <a:ahLst/>
              <a:cxnLst/>
              <a:rect l="l" t="t" r="r" b="b"/>
              <a:pathLst>
                <a:path w="25400" h="24764">
                  <a:moveTo>
                    <a:pt x="12209" y="0"/>
                  </a:moveTo>
                  <a:lnTo>
                    <a:pt x="20543" y="4230"/>
                  </a:lnTo>
                  <a:lnTo>
                    <a:pt x="25052" y="12149"/>
                  </a:lnTo>
                  <a:lnTo>
                    <a:pt x="20543" y="20589"/>
                  </a:lnTo>
                  <a:lnTo>
                    <a:pt x="12209" y="24277"/>
                  </a:lnTo>
                  <a:lnTo>
                    <a:pt x="0" y="20589"/>
                  </a:lnTo>
                  <a:lnTo>
                    <a:pt x="0" y="12149"/>
                  </a:lnTo>
                  <a:lnTo>
                    <a:pt x="0" y="4230"/>
                  </a:lnTo>
                  <a:lnTo>
                    <a:pt x="12209" y="0"/>
                  </a:lnTo>
                </a:path>
              </a:pathLst>
            </a:custGeom>
            <a:ln w="4085">
              <a:solidFill>
                <a:srgbClr val="1F1A17"/>
              </a:solidFill>
            </a:ln>
          </p:spPr>
          <p:txBody>
            <a:bodyPr wrap="square" lIns="0" tIns="0" rIns="0" bIns="0" rtlCol="0"/>
            <a:lstStyle/>
            <a:p>
              <a:endParaRPr/>
            </a:p>
          </p:txBody>
        </p:sp>
      </p:grpSp>
      <p:grpSp>
        <p:nvGrpSpPr>
          <p:cNvPr id="13" name="object 13"/>
          <p:cNvGrpSpPr/>
          <p:nvPr/>
        </p:nvGrpSpPr>
        <p:grpSpPr>
          <a:xfrm>
            <a:off x="2259192" y="1358296"/>
            <a:ext cx="217804" cy="265430"/>
            <a:chOff x="2259192" y="1358296"/>
            <a:chExt cx="217804" cy="265430"/>
          </a:xfrm>
        </p:grpSpPr>
        <p:sp>
          <p:nvSpPr>
            <p:cNvPr id="14" name="object 14"/>
            <p:cNvSpPr/>
            <p:nvPr/>
          </p:nvSpPr>
          <p:spPr>
            <a:xfrm>
              <a:off x="2259190" y="1358302"/>
              <a:ext cx="217804" cy="265430"/>
            </a:xfrm>
            <a:custGeom>
              <a:avLst/>
              <a:gdLst/>
              <a:ahLst/>
              <a:cxnLst/>
              <a:rect l="l" t="t" r="r" b="b"/>
              <a:pathLst>
                <a:path w="217805" h="265430">
                  <a:moveTo>
                    <a:pt x="217766" y="69138"/>
                  </a:moveTo>
                  <a:lnTo>
                    <a:pt x="192722" y="28511"/>
                  </a:lnTo>
                  <a:lnTo>
                    <a:pt x="154800" y="3683"/>
                  </a:lnTo>
                  <a:lnTo>
                    <a:pt x="134251" y="0"/>
                  </a:lnTo>
                  <a:lnTo>
                    <a:pt x="109194" y="3683"/>
                  </a:lnTo>
                  <a:lnTo>
                    <a:pt x="62941" y="16357"/>
                  </a:lnTo>
                  <a:lnTo>
                    <a:pt x="25044" y="48552"/>
                  </a:lnTo>
                  <a:lnTo>
                    <a:pt x="0" y="97637"/>
                  </a:lnTo>
                  <a:lnTo>
                    <a:pt x="0" y="126136"/>
                  </a:lnTo>
                  <a:lnTo>
                    <a:pt x="12839" y="150406"/>
                  </a:lnTo>
                  <a:lnTo>
                    <a:pt x="25044" y="175209"/>
                  </a:lnTo>
                  <a:lnTo>
                    <a:pt x="41744" y="195262"/>
                  </a:lnTo>
                  <a:lnTo>
                    <a:pt x="62941" y="215849"/>
                  </a:lnTo>
                  <a:lnTo>
                    <a:pt x="84150" y="227990"/>
                  </a:lnTo>
                  <a:lnTo>
                    <a:pt x="91643" y="231076"/>
                  </a:lnTo>
                  <a:lnTo>
                    <a:pt x="41744" y="252260"/>
                  </a:lnTo>
                  <a:lnTo>
                    <a:pt x="46253" y="260705"/>
                  </a:lnTo>
                  <a:lnTo>
                    <a:pt x="46253" y="264934"/>
                  </a:lnTo>
                  <a:lnTo>
                    <a:pt x="125895" y="236435"/>
                  </a:lnTo>
                  <a:lnTo>
                    <a:pt x="138099" y="232206"/>
                  </a:lnTo>
                  <a:lnTo>
                    <a:pt x="129743" y="223761"/>
                  </a:lnTo>
                  <a:lnTo>
                    <a:pt x="71297" y="166776"/>
                  </a:lnTo>
                  <a:lnTo>
                    <a:pt x="59093" y="178904"/>
                  </a:lnTo>
                  <a:lnTo>
                    <a:pt x="91998" y="211289"/>
                  </a:lnTo>
                  <a:lnTo>
                    <a:pt x="75780" y="199491"/>
                  </a:lnTo>
                  <a:lnTo>
                    <a:pt x="54584" y="183134"/>
                  </a:lnTo>
                  <a:lnTo>
                    <a:pt x="37896" y="166776"/>
                  </a:lnTo>
                  <a:lnTo>
                    <a:pt x="25044" y="146710"/>
                  </a:lnTo>
                  <a:lnTo>
                    <a:pt x="21170" y="121907"/>
                  </a:lnTo>
                  <a:lnTo>
                    <a:pt x="16687" y="101854"/>
                  </a:lnTo>
                  <a:lnTo>
                    <a:pt x="37896" y="56997"/>
                  </a:lnTo>
                  <a:lnTo>
                    <a:pt x="71297" y="32194"/>
                  </a:lnTo>
                  <a:lnTo>
                    <a:pt x="109194" y="20053"/>
                  </a:lnTo>
                  <a:lnTo>
                    <a:pt x="150939" y="20053"/>
                  </a:lnTo>
                  <a:lnTo>
                    <a:pt x="167665" y="28511"/>
                  </a:lnTo>
                  <a:lnTo>
                    <a:pt x="192722" y="52781"/>
                  </a:lnTo>
                  <a:lnTo>
                    <a:pt x="201053" y="73355"/>
                  </a:lnTo>
                  <a:lnTo>
                    <a:pt x="201053" y="93408"/>
                  </a:lnTo>
                  <a:lnTo>
                    <a:pt x="196570" y="118224"/>
                  </a:lnTo>
                  <a:lnTo>
                    <a:pt x="188201" y="146710"/>
                  </a:lnTo>
                  <a:lnTo>
                    <a:pt x="167665" y="183134"/>
                  </a:lnTo>
                  <a:lnTo>
                    <a:pt x="142608" y="220078"/>
                  </a:lnTo>
                  <a:lnTo>
                    <a:pt x="154800" y="232206"/>
                  </a:lnTo>
                  <a:lnTo>
                    <a:pt x="184353" y="191579"/>
                  </a:lnTo>
                  <a:lnTo>
                    <a:pt x="204927" y="154635"/>
                  </a:lnTo>
                  <a:lnTo>
                    <a:pt x="213258" y="121907"/>
                  </a:lnTo>
                  <a:lnTo>
                    <a:pt x="217766" y="93408"/>
                  </a:lnTo>
                  <a:lnTo>
                    <a:pt x="217766" y="69138"/>
                  </a:lnTo>
                  <a:close/>
                </a:path>
              </a:pathLst>
            </a:custGeom>
            <a:solidFill>
              <a:srgbClr val="1F1A17"/>
            </a:solidFill>
          </p:spPr>
          <p:txBody>
            <a:bodyPr wrap="square" lIns="0" tIns="0" rIns="0" bIns="0" rtlCol="0"/>
            <a:lstStyle/>
            <a:p>
              <a:endParaRPr/>
            </a:p>
          </p:txBody>
        </p:sp>
        <p:sp>
          <p:nvSpPr>
            <p:cNvPr id="15" name="object 15"/>
            <p:cNvSpPr/>
            <p:nvPr/>
          </p:nvSpPr>
          <p:spPr>
            <a:xfrm>
              <a:off x="2397298" y="1565703"/>
              <a:ext cx="25400" cy="29209"/>
            </a:xfrm>
            <a:custGeom>
              <a:avLst/>
              <a:gdLst/>
              <a:ahLst/>
              <a:cxnLst/>
              <a:rect l="l" t="t" r="r" b="b"/>
              <a:pathLst>
                <a:path w="25400" h="29209">
                  <a:moveTo>
                    <a:pt x="12842" y="0"/>
                  </a:moveTo>
                  <a:lnTo>
                    <a:pt x="4509" y="4221"/>
                  </a:lnTo>
                  <a:lnTo>
                    <a:pt x="0" y="16360"/>
                  </a:lnTo>
                  <a:lnTo>
                    <a:pt x="4509" y="24804"/>
                  </a:lnTo>
                  <a:lnTo>
                    <a:pt x="12842" y="29026"/>
                  </a:lnTo>
                  <a:lnTo>
                    <a:pt x="21202" y="24804"/>
                  </a:lnTo>
                  <a:lnTo>
                    <a:pt x="25052" y="16360"/>
                  </a:lnTo>
                  <a:lnTo>
                    <a:pt x="21202" y="4221"/>
                  </a:lnTo>
                  <a:lnTo>
                    <a:pt x="12842" y="0"/>
                  </a:lnTo>
                  <a:close/>
                </a:path>
              </a:pathLst>
            </a:custGeom>
            <a:solidFill>
              <a:srgbClr val="1F1A17"/>
            </a:solidFill>
          </p:spPr>
          <p:txBody>
            <a:bodyPr wrap="square" lIns="0" tIns="0" rIns="0" bIns="0" rtlCol="0"/>
            <a:lstStyle/>
            <a:p>
              <a:endParaRPr/>
            </a:p>
          </p:txBody>
        </p:sp>
        <p:sp>
          <p:nvSpPr>
            <p:cNvPr id="16" name="object 16"/>
            <p:cNvSpPr/>
            <p:nvPr/>
          </p:nvSpPr>
          <p:spPr>
            <a:xfrm>
              <a:off x="2406290" y="1573093"/>
              <a:ext cx="25400" cy="29209"/>
            </a:xfrm>
            <a:custGeom>
              <a:avLst/>
              <a:gdLst/>
              <a:ahLst/>
              <a:cxnLst/>
              <a:rect l="l" t="t" r="r" b="b"/>
              <a:pathLst>
                <a:path w="25400" h="29209">
                  <a:moveTo>
                    <a:pt x="12842" y="0"/>
                  </a:moveTo>
                  <a:lnTo>
                    <a:pt x="21202" y="4221"/>
                  </a:lnTo>
                  <a:lnTo>
                    <a:pt x="25052" y="16358"/>
                  </a:lnTo>
                  <a:lnTo>
                    <a:pt x="21202" y="24802"/>
                  </a:lnTo>
                  <a:lnTo>
                    <a:pt x="12842" y="29024"/>
                  </a:lnTo>
                  <a:lnTo>
                    <a:pt x="4509" y="24802"/>
                  </a:lnTo>
                  <a:lnTo>
                    <a:pt x="0" y="16358"/>
                  </a:lnTo>
                  <a:lnTo>
                    <a:pt x="4509" y="4221"/>
                  </a:lnTo>
                  <a:lnTo>
                    <a:pt x="12842" y="0"/>
                  </a:lnTo>
                </a:path>
              </a:pathLst>
            </a:custGeom>
            <a:ln w="4156">
              <a:solidFill>
                <a:srgbClr val="1F1A17"/>
              </a:solidFill>
            </a:ln>
          </p:spPr>
          <p:txBody>
            <a:bodyPr wrap="square" lIns="0" tIns="0" rIns="0" bIns="0" rtlCol="0"/>
            <a:lstStyle/>
            <a:p>
              <a:endParaRPr/>
            </a:p>
          </p:txBody>
        </p:sp>
      </p:grpSp>
      <p:sp>
        <p:nvSpPr>
          <p:cNvPr id="17" name="object 17"/>
          <p:cNvSpPr txBox="1"/>
          <p:nvPr/>
        </p:nvSpPr>
        <p:spPr>
          <a:xfrm>
            <a:off x="190498" y="1461198"/>
            <a:ext cx="2883535" cy="1470660"/>
          </a:xfrm>
          <a:prstGeom prst="rect">
            <a:avLst/>
          </a:prstGeom>
        </p:spPr>
        <p:txBody>
          <a:bodyPr vert="horz" wrap="square" lIns="0" tIns="137160" rIns="0" bIns="0" rtlCol="0">
            <a:spAutoFit/>
          </a:bodyPr>
          <a:lstStyle/>
          <a:p>
            <a:pPr marL="435609">
              <a:lnSpc>
                <a:spcPct val="100000"/>
              </a:lnSpc>
              <a:spcBef>
                <a:spcPts val="1080"/>
              </a:spcBef>
              <a:tabLst>
                <a:tab pos="2168525" algn="l"/>
              </a:tabLst>
            </a:pPr>
            <a:r>
              <a:rPr sz="1950" spc="-50" dirty="0">
                <a:latin typeface="Times New Roman"/>
                <a:cs typeface="Times New Roman"/>
              </a:rPr>
              <a:t>4</a:t>
            </a:r>
            <a:r>
              <a:rPr sz="1950" dirty="0">
                <a:latin typeface="Times New Roman"/>
                <a:cs typeface="Times New Roman"/>
              </a:rPr>
              <a:t>	</a:t>
            </a:r>
            <a:r>
              <a:rPr sz="1950" spc="-50" dirty="0">
                <a:latin typeface="Times New Roman"/>
                <a:cs typeface="Times New Roman"/>
              </a:rPr>
              <a:t>3</a:t>
            </a:r>
            <a:endParaRPr sz="1950">
              <a:latin typeface="Times New Roman"/>
              <a:cs typeface="Times New Roman"/>
            </a:endParaRPr>
          </a:p>
          <a:p>
            <a:pPr marL="50800" marR="43180">
              <a:lnSpc>
                <a:spcPct val="101000"/>
              </a:lnSpc>
              <a:spcBef>
                <a:spcPts val="960"/>
              </a:spcBef>
            </a:pPr>
            <a:r>
              <a:rPr sz="1950" dirty="0">
                <a:latin typeface="Times New Roman"/>
                <a:cs typeface="Times New Roman"/>
              </a:rPr>
              <a:t>R</a:t>
            </a:r>
            <a:r>
              <a:rPr sz="2025" baseline="-20576" dirty="0">
                <a:latin typeface="Times New Roman"/>
                <a:cs typeface="Times New Roman"/>
              </a:rPr>
              <a:t>1</a:t>
            </a:r>
            <a:r>
              <a:rPr sz="2025" spc="434" baseline="-20576" dirty="0">
                <a:latin typeface="Times New Roman"/>
                <a:cs typeface="Times New Roman"/>
              </a:rPr>
              <a:t> </a:t>
            </a:r>
            <a:r>
              <a:rPr sz="1950" dirty="0">
                <a:latin typeface="Times New Roman"/>
                <a:cs typeface="Times New Roman"/>
              </a:rPr>
              <a:t>is</a:t>
            </a:r>
            <a:r>
              <a:rPr sz="1950" spc="145" dirty="0">
                <a:latin typeface="Times New Roman"/>
                <a:cs typeface="Times New Roman"/>
              </a:rPr>
              <a:t> </a:t>
            </a:r>
            <a:r>
              <a:rPr sz="1950" dirty="0">
                <a:latin typeface="Times New Roman"/>
                <a:cs typeface="Times New Roman"/>
              </a:rPr>
              <a:t>reflexive</a:t>
            </a:r>
            <a:r>
              <a:rPr sz="1950" spc="145" dirty="0">
                <a:latin typeface="Times New Roman"/>
                <a:cs typeface="Times New Roman"/>
              </a:rPr>
              <a:t> </a:t>
            </a:r>
            <a:r>
              <a:rPr sz="1950" dirty="0">
                <a:latin typeface="Times New Roman"/>
                <a:cs typeface="Times New Roman"/>
              </a:rPr>
              <a:t>because</a:t>
            </a:r>
            <a:r>
              <a:rPr sz="1950" spc="145" dirty="0">
                <a:latin typeface="Times New Roman"/>
                <a:cs typeface="Times New Roman"/>
              </a:rPr>
              <a:t> </a:t>
            </a:r>
            <a:r>
              <a:rPr sz="1950" spc="-25" dirty="0">
                <a:latin typeface="Times New Roman"/>
                <a:cs typeface="Times New Roman"/>
              </a:rPr>
              <a:t>at </a:t>
            </a:r>
            <a:r>
              <a:rPr sz="1950" dirty="0">
                <a:latin typeface="Times New Roman"/>
                <a:cs typeface="Times New Roman"/>
              </a:rPr>
              <a:t>every</a:t>
            </a:r>
            <a:r>
              <a:rPr sz="1950" spc="80" dirty="0">
                <a:latin typeface="Times New Roman"/>
                <a:cs typeface="Times New Roman"/>
              </a:rPr>
              <a:t> </a:t>
            </a:r>
            <a:r>
              <a:rPr sz="1950" dirty="0">
                <a:latin typeface="Times New Roman"/>
                <a:cs typeface="Times New Roman"/>
              </a:rPr>
              <a:t>point</a:t>
            </a:r>
            <a:r>
              <a:rPr sz="1950" spc="120" dirty="0">
                <a:latin typeface="Times New Roman"/>
                <a:cs typeface="Times New Roman"/>
              </a:rPr>
              <a:t> </a:t>
            </a:r>
            <a:r>
              <a:rPr sz="1950" dirty="0">
                <a:latin typeface="Times New Roman"/>
                <a:cs typeface="Times New Roman"/>
              </a:rPr>
              <a:t>of</a:t>
            </a:r>
            <a:r>
              <a:rPr sz="1950" spc="110" dirty="0">
                <a:latin typeface="Times New Roman"/>
                <a:cs typeface="Times New Roman"/>
              </a:rPr>
              <a:t> </a:t>
            </a:r>
            <a:r>
              <a:rPr sz="1950" dirty="0">
                <a:latin typeface="Times New Roman"/>
                <a:cs typeface="Times New Roman"/>
              </a:rPr>
              <a:t>the</a:t>
            </a:r>
            <a:r>
              <a:rPr sz="1950" spc="110" dirty="0">
                <a:latin typeface="Times New Roman"/>
                <a:cs typeface="Times New Roman"/>
              </a:rPr>
              <a:t> </a:t>
            </a:r>
            <a:r>
              <a:rPr sz="1950" dirty="0">
                <a:latin typeface="Times New Roman"/>
                <a:cs typeface="Times New Roman"/>
              </a:rPr>
              <a:t>set</a:t>
            </a:r>
            <a:r>
              <a:rPr sz="1950" spc="95" dirty="0">
                <a:latin typeface="Times New Roman"/>
                <a:cs typeface="Times New Roman"/>
              </a:rPr>
              <a:t> </a:t>
            </a:r>
            <a:r>
              <a:rPr sz="1950" dirty="0">
                <a:latin typeface="Times New Roman"/>
                <a:cs typeface="Times New Roman"/>
              </a:rPr>
              <a:t>A</a:t>
            </a:r>
            <a:r>
              <a:rPr sz="1950" spc="90" dirty="0">
                <a:latin typeface="Times New Roman"/>
                <a:cs typeface="Times New Roman"/>
              </a:rPr>
              <a:t> </a:t>
            </a:r>
            <a:r>
              <a:rPr sz="1950" spc="-25" dirty="0">
                <a:latin typeface="Times New Roman"/>
                <a:cs typeface="Times New Roman"/>
              </a:rPr>
              <a:t>we </a:t>
            </a:r>
            <a:r>
              <a:rPr sz="1950" dirty="0">
                <a:latin typeface="Times New Roman"/>
                <a:cs typeface="Times New Roman"/>
              </a:rPr>
              <a:t>have</a:t>
            </a:r>
            <a:r>
              <a:rPr sz="1950" spc="85" dirty="0">
                <a:latin typeface="Times New Roman"/>
                <a:cs typeface="Times New Roman"/>
              </a:rPr>
              <a:t> </a:t>
            </a:r>
            <a:r>
              <a:rPr sz="1950" dirty="0">
                <a:latin typeface="Times New Roman"/>
                <a:cs typeface="Times New Roman"/>
              </a:rPr>
              <a:t>a</a:t>
            </a:r>
            <a:r>
              <a:rPr sz="1950" spc="90" dirty="0">
                <a:latin typeface="Times New Roman"/>
                <a:cs typeface="Times New Roman"/>
              </a:rPr>
              <a:t> </a:t>
            </a:r>
            <a:r>
              <a:rPr sz="1950" dirty="0">
                <a:latin typeface="Times New Roman"/>
                <a:cs typeface="Times New Roman"/>
              </a:rPr>
              <a:t>loop</a:t>
            </a:r>
            <a:r>
              <a:rPr sz="1950" spc="90" dirty="0">
                <a:latin typeface="Times New Roman"/>
                <a:cs typeface="Times New Roman"/>
              </a:rPr>
              <a:t> </a:t>
            </a:r>
            <a:r>
              <a:rPr sz="1950" dirty="0">
                <a:latin typeface="Times New Roman"/>
                <a:cs typeface="Times New Roman"/>
              </a:rPr>
              <a:t>in</a:t>
            </a:r>
            <a:r>
              <a:rPr sz="1950" spc="90" dirty="0">
                <a:latin typeface="Times New Roman"/>
                <a:cs typeface="Times New Roman"/>
              </a:rPr>
              <a:t> </a:t>
            </a:r>
            <a:r>
              <a:rPr sz="1950" dirty="0">
                <a:latin typeface="Times New Roman"/>
                <a:cs typeface="Times New Roman"/>
              </a:rPr>
              <a:t>the</a:t>
            </a:r>
            <a:r>
              <a:rPr sz="1950" spc="100" dirty="0">
                <a:latin typeface="Times New Roman"/>
                <a:cs typeface="Times New Roman"/>
              </a:rPr>
              <a:t> </a:t>
            </a:r>
            <a:r>
              <a:rPr sz="1950" spc="-10" dirty="0">
                <a:latin typeface="Times New Roman"/>
                <a:cs typeface="Times New Roman"/>
              </a:rPr>
              <a:t>graph.</a:t>
            </a:r>
            <a:endParaRPr sz="1950">
              <a:latin typeface="Times New Roman"/>
              <a:cs typeface="Times New Roman"/>
            </a:endParaRPr>
          </a:p>
        </p:txBody>
      </p:sp>
      <p:sp>
        <p:nvSpPr>
          <p:cNvPr id="18" name="object 18"/>
          <p:cNvSpPr txBox="1"/>
          <p:nvPr/>
        </p:nvSpPr>
        <p:spPr>
          <a:xfrm>
            <a:off x="684730" y="269588"/>
            <a:ext cx="153670" cy="325755"/>
          </a:xfrm>
          <a:prstGeom prst="rect">
            <a:avLst/>
          </a:prstGeom>
        </p:spPr>
        <p:txBody>
          <a:bodyPr vert="horz" wrap="square" lIns="0" tIns="14604" rIns="0" bIns="0" rtlCol="0">
            <a:spAutoFit/>
          </a:bodyPr>
          <a:lstStyle/>
          <a:p>
            <a:pPr marL="12700">
              <a:lnSpc>
                <a:spcPct val="100000"/>
              </a:lnSpc>
              <a:spcBef>
                <a:spcPts val="114"/>
              </a:spcBef>
            </a:pPr>
            <a:r>
              <a:rPr sz="1950" spc="-50" dirty="0">
                <a:latin typeface="Times New Roman"/>
                <a:cs typeface="Times New Roman"/>
              </a:rPr>
              <a:t>1</a:t>
            </a:r>
            <a:endParaRPr sz="1950">
              <a:latin typeface="Times New Roman"/>
              <a:cs typeface="Times New Roman"/>
            </a:endParaRPr>
          </a:p>
        </p:txBody>
      </p:sp>
      <p:sp>
        <p:nvSpPr>
          <p:cNvPr id="19" name="object 19"/>
          <p:cNvSpPr txBox="1"/>
          <p:nvPr/>
        </p:nvSpPr>
        <p:spPr>
          <a:xfrm>
            <a:off x="2346468" y="269588"/>
            <a:ext cx="153670" cy="325755"/>
          </a:xfrm>
          <a:prstGeom prst="rect">
            <a:avLst/>
          </a:prstGeom>
        </p:spPr>
        <p:txBody>
          <a:bodyPr vert="horz" wrap="square" lIns="0" tIns="14604" rIns="0" bIns="0" rtlCol="0">
            <a:spAutoFit/>
          </a:bodyPr>
          <a:lstStyle/>
          <a:p>
            <a:pPr marL="12700">
              <a:lnSpc>
                <a:spcPct val="100000"/>
              </a:lnSpc>
              <a:spcBef>
                <a:spcPts val="114"/>
              </a:spcBef>
            </a:pPr>
            <a:r>
              <a:rPr sz="1950" spc="-50" dirty="0">
                <a:latin typeface="Times New Roman"/>
                <a:cs typeface="Times New Roman"/>
              </a:rPr>
              <a:t>2</a:t>
            </a:r>
            <a:endParaRPr sz="1950">
              <a:latin typeface="Times New Roman"/>
              <a:cs typeface="Times New Roman"/>
            </a:endParaRPr>
          </a:p>
        </p:txBody>
      </p:sp>
      <p:sp>
        <p:nvSpPr>
          <p:cNvPr id="20" name="object 20"/>
          <p:cNvSpPr txBox="1"/>
          <p:nvPr/>
        </p:nvSpPr>
        <p:spPr>
          <a:xfrm>
            <a:off x="4294491" y="42558"/>
            <a:ext cx="153670" cy="325755"/>
          </a:xfrm>
          <a:prstGeom prst="rect">
            <a:avLst/>
          </a:prstGeom>
        </p:spPr>
        <p:txBody>
          <a:bodyPr vert="horz" wrap="square" lIns="0" tIns="14604" rIns="0" bIns="0" rtlCol="0">
            <a:spAutoFit/>
          </a:bodyPr>
          <a:lstStyle/>
          <a:p>
            <a:pPr marL="12700">
              <a:lnSpc>
                <a:spcPct val="100000"/>
              </a:lnSpc>
              <a:spcBef>
                <a:spcPts val="114"/>
              </a:spcBef>
            </a:pPr>
            <a:r>
              <a:rPr sz="1950" spc="-50" dirty="0">
                <a:latin typeface="Times New Roman"/>
                <a:cs typeface="Times New Roman"/>
              </a:rPr>
              <a:t>1</a:t>
            </a:r>
            <a:endParaRPr sz="1950">
              <a:latin typeface="Times New Roman"/>
              <a:cs typeface="Times New Roman"/>
            </a:endParaRPr>
          </a:p>
        </p:txBody>
      </p:sp>
      <p:sp>
        <p:nvSpPr>
          <p:cNvPr id="21" name="object 21"/>
          <p:cNvSpPr txBox="1"/>
          <p:nvPr/>
        </p:nvSpPr>
        <p:spPr>
          <a:xfrm>
            <a:off x="6389265" y="42558"/>
            <a:ext cx="153670" cy="325755"/>
          </a:xfrm>
          <a:prstGeom prst="rect">
            <a:avLst/>
          </a:prstGeom>
        </p:spPr>
        <p:txBody>
          <a:bodyPr vert="horz" wrap="square" lIns="0" tIns="14604" rIns="0" bIns="0" rtlCol="0">
            <a:spAutoFit/>
          </a:bodyPr>
          <a:lstStyle/>
          <a:p>
            <a:pPr marL="12700">
              <a:lnSpc>
                <a:spcPct val="100000"/>
              </a:lnSpc>
              <a:spcBef>
                <a:spcPts val="114"/>
              </a:spcBef>
            </a:pPr>
            <a:r>
              <a:rPr sz="1950" spc="-50" dirty="0">
                <a:latin typeface="Times New Roman"/>
                <a:cs typeface="Times New Roman"/>
              </a:rPr>
              <a:t>2</a:t>
            </a:r>
            <a:endParaRPr sz="1950">
              <a:latin typeface="Times New Roman"/>
              <a:cs typeface="Times New Roman"/>
            </a:endParaRPr>
          </a:p>
        </p:txBody>
      </p:sp>
      <p:sp>
        <p:nvSpPr>
          <p:cNvPr id="22" name="object 22"/>
          <p:cNvSpPr txBox="1"/>
          <p:nvPr/>
        </p:nvSpPr>
        <p:spPr>
          <a:xfrm>
            <a:off x="4040835" y="2294411"/>
            <a:ext cx="2888615" cy="1170305"/>
          </a:xfrm>
          <a:prstGeom prst="rect">
            <a:avLst/>
          </a:prstGeom>
        </p:spPr>
        <p:txBody>
          <a:bodyPr vert="horz" wrap="square" lIns="0" tIns="14604" rIns="0" bIns="0" rtlCol="0">
            <a:spAutoFit/>
          </a:bodyPr>
          <a:lstStyle/>
          <a:p>
            <a:pPr marL="410209">
              <a:lnSpc>
                <a:spcPct val="100000"/>
              </a:lnSpc>
              <a:spcBef>
                <a:spcPts val="114"/>
              </a:spcBef>
              <a:tabLst>
                <a:tab pos="2287905" algn="l"/>
              </a:tabLst>
            </a:pPr>
            <a:r>
              <a:rPr sz="1950" spc="-50" dirty="0">
                <a:latin typeface="Times New Roman"/>
                <a:cs typeface="Times New Roman"/>
              </a:rPr>
              <a:t>4</a:t>
            </a:r>
            <a:r>
              <a:rPr sz="1950" dirty="0">
                <a:latin typeface="Times New Roman"/>
                <a:cs typeface="Times New Roman"/>
              </a:rPr>
              <a:t>	</a:t>
            </a:r>
            <a:r>
              <a:rPr sz="1950" spc="-50" dirty="0">
                <a:latin typeface="Times New Roman"/>
                <a:cs typeface="Times New Roman"/>
              </a:rPr>
              <a:t>3</a:t>
            </a:r>
            <a:endParaRPr sz="1950">
              <a:latin typeface="Times New Roman"/>
              <a:cs typeface="Times New Roman"/>
            </a:endParaRPr>
          </a:p>
          <a:p>
            <a:pPr marL="50800" marR="43180">
              <a:lnSpc>
                <a:spcPct val="101600"/>
              </a:lnSpc>
              <a:spcBef>
                <a:spcPts val="1895"/>
              </a:spcBef>
            </a:pPr>
            <a:r>
              <a:rPr sz="1950" dirty="0">
                <a:latin typeface="Times New Roman"/>
                <a:cs typeface="Times New Roman"/>
              </a:rPr>
              <a:t>R</a:t>
            </a:r>
            <a:r>
              <a:rPr sz="2025" baseline="-20576" dirty="0">
                <a:latin typeface="Times New Roman"/>
                <a:cs typeface="Times New Roman"/>
              </a:rPr>
              <a:t>2</a:t>
            </a:r>
            <a:r>
              <a:rPr sz="2025" spc="375" baseline="-20576" dirty="0">
                <a:latin typeface="Times New Roman"/>
                <a:cs typeface="Times New Roman"/>
              </a:rPr>
              <a:t> </a:t>
            </a:r>
            <a:r>
              <a:rPr sz="1950" dirty="0">
                <a:latin typeface="Times New Roman"/>
                <a:cs typeface="Times New Roman"/>
              </a:rPr>
              <a:t>is</a:t>
            </a:r>
            <a:r>
              <a:rPr sz="1950" spc="105" dirty="0">
                <a:latin typeface="Times New Roman"/>
                <a:cs typeface="Times New Roman"/>
              </a:rPr>
              <a:t> </a:t>
            </a:r>
            <a:r>
              <a:rPr sz="1950" dirty="0">
                <a:latin typeface="Times New Roman"/>
                <a:cs typeface="Times New Roman"/>
              </a:rPr>
              <a:t>not</a:t>
            </a:r>
            <a:r>
              <a:rPr sz="1950" spc="114" dirty="0">
                <a:latin typeface="Times New Roman"/>
                <a:cs typeface="Times New Roman"/>
              </a:rPr>
              <a:t> </a:t>
            </a:r>
            <a:r>
              <a:rPr sz="1950" dirty="0">
                <a:latin typeface="Times New Roman"/>
                <a:cs typeface="Times New Roman"/>
              </a:rPr>
              <a:t>reflexive,</a:t>
            </a:r>
            <a:r>
              <a:rPr sz="1950" spc="114" dirty="0">
                <a:latin typeface="Times New Roman"/>
                <a:cs typeface="Times New Roman"/>
              </a:rPr>
              <a:t> </a:t>
            </a:r>
            <a:r>
              <a:rPr sz="1950" dirty="0">
                <a:latin typeface="Times New Roman"/>
                <a:cs typeface="Times New Roman"/>
              </a:rPr>
              <a:t>as</a:t>
            </a:r>
            <a:r>
              <a:rPr sz="1950" spc="114" dirty="0">
                <a:latin typeface="Times New Roman"/>
                <a:cs typeface="Times New Roman"/>
              </a:rPr>
              <a:t> </a:t>
            </a:r>
            <a:r>
              <a:rPr sz="1950" spc="-10" dirty="0">
                <a:latin typeface="Times New Roman"/>
                <a:cs typeface="Times New Roman"/>
              </a:rPr>
              <a:t>there </a:t>
            </a:r>
            <a:r>
              <a:rPr sz="1950" dirty="0">
                <a:latin typeface="Times New Roman"/>
                <a:cs typeface="Times New Roman"/>
              </a:rPr>
              <a:t>is</a:t>
            </a:r>
            <a:r>
              <a:rPr sz="1950" spc="75" dirty="0">
                <a:latin typeface="Times New Roman"/>
                <a:cs typeface="Times New Roman"/>
              </a:rPr>
              <a:t> </a:t>
            </a:r>
            <a:r>
              <a:rPr sz="1950" dirty="0">
                <a:latin typeface="Times New Roman"/>
                <a:cs typeface="Times New Roman"/>
              </a:rPr>
              <a:t>no</a:t>
            </a:r>
            <a:r>
              <a:rPr sz="1950" spc="85" dirty="0">
                <a:latin typeface="Times New Roman"/>
                <a:cs typeface="Times New Roman"/>
              </a:rPr>
              <a:t> </a:t>
            </a:r>
            <a:r>
              <a:rPr sz="1950" dirty="0">
                <a:latin typeface="Times New Roman"/>
                <a:cs typeface="Times New Roman"/>
              </a:rPr>
              <a:t>loop</a:t>
            </a:r>
            <a:r>
              <a:rPr sz="1950" spc="80" dirty="0">
                <a:latin typeface="Times New Roman"/>
                <a:cs typeface="Times New Roman"/>
              </a:rPr>
              <a:t> </a:t>
            </a:r>
            <a:r>
              <a:rPr sz="1950" dirty="0">
                <a:latin typeface="Times New Roman"/>
                <a:cs typeface="Times New Roman"/>
              </a:rPr>
              <a:t>at</a:t>
            </a:r>
            <a:r>
              <a:rPr sz="1950" spc="85" dirty="0">
                <a:latin typeface="Times New Roman"/>
                <a:cs typeface="Times New Roman"/>
              </a:rPr>
              <a:t> </a:t>
            </a:r>
            <a:r>
              <a:rPr sz="1950" spc="-25" dirty="0">
                <a:latin typeface="Times New Roman"/>
                <a:cs typeface="Times New Roman"/>
              </a:rPr>
              <a:t>4.</a:t>
            </a:r>
            <a:endParaRPr sz="1950">
              <a:latin typeface="Times New Roman"/>
              <a:cs typeface="Times New Roman"/>
            </a:endParaRPr>
          </a:p>
        </p:txBody>
      </p:sp>
      <p:grpSp>
        <p:nvGrpSpPr>
          <p:cNvPr id="23" name="object 23"/>
          <p:cNvGrpSpPr/>
          <p:nvPr/>
        </p:nvGrpSpPr>
        <p:grpSpPr>
          <a:xfrm>
            <a:off x="6128889" y="178449"/>
            <a:ext cx="214629" cy="391795"/>
            <a:chOff x="6128889" y="178449"/>
            <a:chExt cx="214629" cy="391795"/>
          </a:xfrm>
        </p:grpSpPr>
        <p:sp>
          <p:nvSpPr>
            <p:cNvPr id="24" name="object 24"/>
            <p:cNvSpPr/>
            <p:nvPr/>
          </p:nvSpPr>
          <p:spPr>
            <a:xfrm>
              <a:off x="6137040" y="178449"/>
              <a:ext cx="206375" cy="337185"/>
            </a:xfrm>
            <a:custGeom>
              <a:avLst/>
              <a:gdLst/>
              <a:ahLst/>
              <a:cxnLst/>
              <a:rect l="l" t="t" r="r" b="b"/>
              <a:pathLst>
                <a:path w="206375" h="337184">
                  <a:moveTo>
                    <a:pt x="123388" y="0"/>
                  </a:moveTo>
                  <a:lnTo>
                    <a:pt x="98937" y="0"/>
                  </a:lnTo>
                  <a:lnTo>
                    <a:pt x="78290" y="5817"/>
                  </a:lnTo>
                  <a:lnTo>
                    <a:pt x="53865" y="17452"/>
                  </a:lnTo>
                  <a:lnTo>
                    <a:pt x="33193" y="41611"/>
                  </a:lnTo>
                  <a:lnTo>
                    <a:pt x="16892" y="65737"/>
                  </a:lnTo>
                  <a:lnTo>
                    <a:pt x="0" y="102387"/>
                  </a:lnTo>
                  <a:lnTo>
                    <a:pt x="16892" y="114022"/>
                  </a:lnTo>
                  <a:lnTo>
                    <a:pt x="28796" y="84045"/>
                  </a:lnTo>
                  <a:lnTo>
                    <a:pt x="45714" y="59919"/>
                  </a:lnTo>
                  <a:lnTo>
                    <a:pt x="61989" y="41611"/>
                  </a:lnTo>
                  <a:lnTo>
                    <a:pt x="82661" y="29942"/>
                  </a:lnTo>
                  <a:lnTo>
                    <a:pt x="102716" y="24125"/>
                  </a:lnTo>
                  <a:lnTo>
                    <a:pt x="123388" y="24125"/>
                  </a:lnTo>
                  <a:lnTo>
                    <a:pt x="156581" y="35794"/>
                  </a:lnTo>
                  <a:lnTo>
                    <a:pt x="172857" y="54102"/>
                  </a:lnTo>
                  <a:lnTo>
                    <a:pt x="189132" y="102387"/>
                  </a:lnTo>
                  <a:lnTo>
                    <a:pt x="189132" y="132330"/>
                  </a:lnTo>
                  <a:lnTo>
                    <a:pt x="185378" y="168124"/>
                  </a:lnTo>
                  <a:lnTo>
                    <a:pt x="177253" y="216409"/>
                  </a:lnTo>
                  <a:lnTo>
                    <a:pt x="160335" y="264694"/>
                  </a:lnTo>
                  <a:lnTo>
                    <a:pt x="131513" y="318797"/>
                  </a:lnTo>
                  <a:lnTo>
                    <a:pt x="144034" y="337104"/>
                  </a:lnTo>
                  <a:lnTo>
                    <a:pt x="172857" y="277185"/>
                  </a:lnTo>
                  <a:lnTo>
                    <a:pt x="193529" y="223082"/>
                  </a:lnTo>
                  <a:lnTo>
                    <a:pt x="206050" y="174797"/>
                  </a:lnTo>
                  <a:lnTo>
                    <a:pt x="206050" y="96535"/>
                  </a:lnTo>
                  <a:lnTo>
                    <a:pt x="197900" y="65737"/>
                  </a:lnTo>
                  <a:lnTo>
                    <a:pt x="181007" y="35794"/>
                  </a:lnTo>
                  <a:lnTo>
                    <a:pt x="164706" y="17452"/>
                  </a:lnTo>
                  <a:lnTo>
                    <a:pt x="144034" y="5817"/>
                  </a:lnTo>
                  <a:lnTo>
                    <a:pt x="123388" y="0"/>
                  </a:lnTo>
                  <a:close/>
                </a:path>
              </a:pathLst>
            </a:custGeom>
            <a:solidFill>
              <a:srgbClr val="1F1A17"/>
            </a:solidFill>
          </p:spPr>
          <p:txBody>
            <a:bodyPr wrap="square" lIns="0" tIns="0" rIns="0" bIns="0" rtlCol="0"/>
            <a:lstStyle/>
            <a:p>
              <a:endParaRPr/>
            </a:p>
          </p:txBody>
        </p:sp>
        <p:pic>
          <p:nvPicPr>
            <p:cNvPr id="25" name="object 25"/>
            <p:cNvPicPr/>
            <p:nvPr/>
          </p:nvPicPr>
          <p:blipFill>
            <a:blip r:embed="rId2" cstate="print"/>
            <a:stretch>
              <a:fillRect/>
            </a:stretch>
          </p:blipFill>
          <p:spPr>
            <a:xfrm>
              <a:off x="6128889" y="280837"/>
              <a:ext cx="135910" cy="288820"/>
            </a:xfrm>
            <a:prstGeom prst="rect">
              <a:avLst/>
            </a:prstGeom>
          </p:spPr>
        </p:pic>
        <p:sp>
          <p:nvSpPr>
            <p:cNvPr id="26" name="object 26"/>
            <p:cNvSpPr/>
            <p:nvPr/>
          </p:nvSpPr>
          <p:spPr>
            <a:xfrm>
              <a:off x="6268553" y="479760"/>
              <a:ext cx="25400" cy="41910"/>
            </a:xfrm>
            <a:custGeom>
              <a:avLst/>
              <a:gdLst/>
              <a:ahLst/>
              <a:cxnLst/>
              <a:rect l="l" t="t" r="r" b="b"/>
              <a:pathLst>
                <a:path w="25400" h="41909">
                  <a:moveTo>
                    <a:pt x="12521" y="0"/>
                  </a:moveTo>
                  <a:lnTo>
                    <a:pt x="0" y="11669"/>
                  </a:lnTo>
                  <a:lnTo>
                    <a:pt x="0" y="35794"/>
                  </a:lnTo>
                  <a:lnTo>
                    <a:pt x="12521" y="41646"/>
                  </a:lnTo>
                  <a:lnTo>
                    <a:pt x="20671" y="35794"/>
                  </a:lnTo>
                  <a:lnTo>
                    <a:pt x="25068" y="24159"/>
                  </a:lnTo>
                  <a:lnTo>
                    <a:pt x="20671" y="11669"/>
                  </a:lnTo>
                  <a:lnTo>
                    <a:pt x="12521" y="0"/>
                  </a:lnTo>
                  <a:close/>
                </a:path>
              </a:pathLst>
            </a:custGeom>
            <a:solidFill>
              <a:srgbClr val="1F1A17"/>
            </a:solidFill>
          </p:spPr>
          <p:txBody>
            <a:bodyPr wrap="square" lIns="0" tIns="0" rIns="0" bIns="0" rtlCol="0"/>
            <a:lstStyle/>
            <a:p>
              <a:endParaRPr/>
            </a:p>
          </p:txBody>
        </p:sp>
        <p:sp>
          <p:nvSpPr>
            <p:cNvPr id="27" name="object 27"/>
            <p:cNvSpPr/>
            <p:nvPr/>
          </p:nvSpPr>
          <p:spPr>
            <a:xfrm>
              <a:off x="6277321" y="491429"/>
              <a:ext cx="25400" cy="41910"/>
            </a:xfrm>
            <a:custGeom>
              <a:avLst/>
              <a:gdLst/>
              <a:ahLst/>
              <a:cxnLst/>
              <a:rect l="l" t="t" r="r" b="b"/>
              <a:pathLst>
                <a:path w="25400" h="41909">
                  <a:moveTo>
                    <a:pt x="12521" y="0"/>
                  </a:moveTo>
                  <a:lnTo>
                    <a:pt x="20671" y="11634"/>
                  </a:lnTo>
                  <a:lnTo>
                    <a:pt x="25068" y="24125"/>
                  </a:lnTo>
                  <a:lnTo>
                    <a:pt x="20671" y="35794"/>
                  </a:lnTo>
                  <a:lnTo>
                    <a:pt x="12521" y="41611"/>
                  </a:lnTo>
                  <a:lnTo>
                    <a:pt x="0" y="35794"/>
                  </a:lnTo>
                  <a:lnTo>
                    <a:pt x="0" y="24125"/>
                  </a:lnTo>
                  <a:lnTo>
                    <a:pt x="0" y="11634"/>
                  </a:lnTo>
                  <a:lnTo>
                    <a:pt x="12521" y="0"/>
                  </a:lnTo>
                </a:path>
              </a:pathLst>
            </a:custGeom>
            <a:ln w="4770">
              <a:solidFill>
                <a:srgbClr val="1F1A17"/>
              </a:solidFill>
            </a:ln>
          </p:spPr>
          <p:txBody>
            <a:bodyPr wrap="square" lIns="0" tIns="0" rIns="0" bIns="0" rtlCol="0"/>
            <a:lstStyle/>
            <a:p>
              <a:endParaRPr/>
            </a:p>
          </p:txBody>
        </p:sp>
      </p:grpSp>
      <p:grpSp>
        <p:nvGrpSpPr>
          <p:cNvPr id="28" name="object 28"/>
          <p:cNvGrpSpPr/>
          <p:nvPr/>
        </p:nvGrpSpPr>
        <p:grpSpPr>
          <a:xfrm>
            <a:off x="4499791" y="165959"/>
            <a:ext cx="1826895" cy="2446655"/>
            <a:chOff x="4499791" y="165959"/>
            <a:chExt cx="1826895" cy="2446655"/>
          </a:xfrm>
        </p:grpSpPr>
        <p:sp>
          <p:nvSpPr>
            <p:cNvPr id="29" name="object 29"/>
            <p:cNvSpPr/>
            <p:nvPr/>
          </p:nvSpPr>
          <p:spPr>
            <a:xfrm>
              <a:off x="4503549" y="165959"/>
              <a:ext cx="210185" cy="338455"/>
            </a:xfrm>
            <a:custGeom>
              <a:avLst/>
              <a:gdLst/>
              <a:ahLst/>
              <a:cxnLst/>
              <a:rect l="l" t="t" r="r" b="b"/>
              <a:pathLst>
                <a:path w="210185" h="338455">
                  <a:moveTo>
                    <a:pt x="124014" y="0"/>
                  </a:moveTo>
                  <a:lnTo>
                    <a:pt x="98961" y="0"/>
                  </a:lnTo>
                  <a:lnTo>
                    <a:pt x="78292" y="5817"/>
                  </a:lnTo>
                  <a:lnTo>
                    <a:pt x="53863" y="18307"/>
                  </a:lnTo>
                  <a:lnTo>
                    <a:pt x="33194" y="42433"/>
                  </a:lnTo>
                  <a:lnTo>
                    <a:pt x="16911" y="66592"/>
                  </a:lnTo>
                  <a:lnTo>
                    <a:pt x="0" y="102387"/>
                  </a:lnTo>
                  <a:lnTo>
                    <a:pt x="16911" y="114877"/>
                  </a:lnTo>
                  <a:lnTo>
                    <a:pt x="28810" y="84900"/>
                  </a:lnTo>
                  <a:lnTo>
                    <a:pt x="45721" y="60741"/>
                  </a:lnTo>
                  <a:lnTo>
                    <a:pt x="62006" y="42433"/>
                  </a:lnTo>
                  <a:lnTo>
                    <a:pt x="82676" y="29942"/>
                  </a:lnTo>
                  <a:lnTo>
                    <a:pt x="103345" y="24125"/>
                  </a:lnTo>
                  <a:lnTo>
                    <a:pt x="124014" y="24125"/>
                  </a:lnTo>
                  <a:lnTo>
                    <a:pt x="172868" y="54102"/>
                  </a:lnTo>
                  <a:lnTo>
                    <a:pt x="189779" y="102387"/>
                  </a:lnTo>
                  <a:lnTo>
                    <a:pt x="189779" y="168980"/>
                  </a:lnTo>
                  <a:lnTo>
                    <a:pt x="177252" y="217265"/>
                  </a:lnTo>
                  <a:lnTo>
                    <a:pt x="160967" y="265515"/>
                  </a:lnTo>
                  <a:lnTo>
                    <a:pt x="132157" y="319652"/>
                  </a:lnTo>
                  <a:lnTo>
                    <a:pt x="148440" y="337960"/>
                  </a:lnTo>
                  <a:lnTo>
                    <a:pt x="172868" y="277185"/>
                  </a:lnTo>
                  <a:lnTo>
                    <a:pt x="193538" y="223082"/>
                  </a:lnTo>
                  <a:lnTo>
                    <a:pt x="206064" y="174797"/>
                  </a:lnTo>
                  <a:lnTo>
                    <a:pt x="209821" y="132330"/>
                  </a:lnTo>
                  <a:lnTo>
                    <a:pt x="206064" y="96535"/>
                  </a:lnTo>
                  <a:lnTo>
                    <a:pt x="197921" y="60741"/>
                  </a:lnTo>
                  <a:lnTo>
                    <a:pt x="185395" y="36615"/>
                  </a:lnTo>
                  <a:lnTo>
                    <a:pt x="164726" y="18307"/>
                  </a:lnTo>
                  <a:lnTo>
                    <a:pt x="144056" y="5817"/>
                  </a:lnTo>
                  <a:lnTo>
                    <a:pt x="124014" y="0"/>
                  </a:lnTo>
                  <a:close/>
                </a:path>
              </a:pathLst>
            </a:custGeom>
            <a:solidFill>
              <a:srgbClr val="1F1A17"/>
            </a:solidFill>
          </p:spPr>
          <p:txBody>
            <a:bodyPr wrap="square" lIns="0" tIns="0" rIns="0" bIns="0" rtlCol="0"/>
            <a:lstStyle/>
            <a:p>
              <a:endParaRPr/>
            </a:p>
          </p:txBody>
        </p:sp>
        <p:pic>
          <p:nvPicPr>
            <p:cNvPr id="30" name="object 30"/>
            <p:cNvPicPr/>
            <p:nvPr/>
          </p:nvPicPr>
          <p:blipFill>
            <a:blip r:embed="rId3" cstate="print"/>
            <a:stretch>
              <a:fillRect/>
            </a:stretch>
          </p:blipFill>
          <p:spPr>
            <a:xfrm>
              <a:off x="4499791" y="268346"/>
              <a:ext cx="131529" cy="289675"/>
            </a:xfrm>
            <a:prstGeom prst="rect">
              <a:avLst/>
            </a:prstGeom>
          </p:spPr>
        </p:pic>
        <p:sp>
          <p:nvSpPr>
            <p:cNvPr id="31" name="object 31"/>
            <p:cNvSpPr/>
            <p:nvPr/>
          </p:nvSpPr>
          <p:spPr>
            <a:xfrm>
              <a:off x="4635703" y="467270"/>
              <a:ext cx="1691005" cy="1983105"/>
            </a:xfrm>
            <a:custGeom>
              <a:avLst/>
              <a:gdLst/>
              <a:ahLst/>
              <a:cxnLst/>
              <a:rect l="l" t="t" r="r" b="b"/>
              <a:pathLst>
                <a:path w="1691004" h="1983105">
                  <a:moveTo>
                    <a:pt x="24422" y="24168"/>
                  </a:moveTo>
                  <a:lnTo>
                    <a:pt x="20040" y="5854"/>
                  </a:lnTo>
                  <a:lnTo>
                    <a:pt x="11899" y="0"/>
                  </a:lnTo>
                  <a:lnTo>
                    <a:pt x="3759" y="5854"/>
                  </a:lnTo>
                  <a:lnTo>
                    <a:pt x="0" y="24168"/>
                  </a:lnTo>
                  <a:lnTo>
                    <a:pt x="3759" y="36652"/>
                  </a:lnTo>
                  <a:lnTo>
                    <a:pt x="11899" y="42468"/>
                  </a:lnTo>
                  <a:lnTo>
                    <a:pt x="20040" y="36652"/>
                  </a:lnTo>
                  <a:lnTo>
                    <a:pt x="24422" y="24168"/>
                  </a:lnTo>
                  <a:close/>
                </a:path>
                <a:path w="1691004" h="1983105">
                  <a:moveTo>
                    <a:pt x="1690458" y="1693164"/>
                  </a:moveTo>
                  <a:lnTo>
                    <a:pt x="1666036" y="1633207"/>
                  </a:lnTo>
                  <a:lnTo>
                    <a:pt x="1629092" y="1597406"/>
                  </a:lnTo>
                  <a:lnTo>
                    <a:pt x="1608416" y="1590776"/>
                  </a:lnTo>
                  <a:lnTo>
                    <a:pt x="1583994" y="1590776"/>
                  </a:lnTo>
                  <a:lnTo>
                    <a:pt x="1538274" y="1614893"/>
                  </a:lnTo>
                  <a:lnTo>
                    <a:pt x="1501330" y="1663179"/>
                  </a:lnTo>
                  <a:lnTo>
                    <a:pt x="1485036" y="1699793"/>
                  </a:lnTo>
                  <a:lnTo>
                    <a:pt x="1476908" y="1735594"/>
                  </a:lnTo>
                  <a:lnTo>
                    <a:pt x="1476908" y="1778063"/>
                  </a:lnTo>
                  <a:lnTo>
                    <a:pt x="1501330" y="1850478"/>
                  </a:lnTo>
                  <a:lnTo>
                    <a:pt x="1538274" y="1910410"/>
                  </a:lnTo>
                  <a:lnTo>
                    <a:pt x="1566506" y="1932990"/>
                  </a:lnTo>
                  <a:lnTo>
                    <a:pt x="1518221" y="1964512"/>
                  </a:lnTo>
                  <a:lnTo>
                    <a:pt x="1521980" y="1976996"/>
                  </a:lnTo>
                  <a:lnTo>
                    <a:pt x="1521980" y="1982825"/>
                  </a:lnTo>
                  <a:lnTo>
                    <a:pt x="1600263" y="1940369"/>
                  </a:lnTo>
                  <a:lnTo>
                    <a:pt x="1612811" y="1934552"/>
                  </a:lnTo>
                  <a:lnTo>
                    <a:pt x="1604048" y="1922068"/>
                  </a:lnTo>
                  <a:lnTo>
                    <a:pt x="1542643" y="1837982"/>
                  </a:lnTo>
                  <a:lnTo>
                    <a:pt x="1534528" y="1856308"/>
                  </a:lnTo>
                  <a:lnTo>
                    <a:pt x="1568094" y="1905292"/>
                  </a:lnTo>
                  <a:lnTo>
                    <a:pt x="1567078" y="1904580"/>
                  </a:lnTo>
                  <a:lnTo>
                    <a:pt x="1530134" y="1862124"/>
                  </a:lnTo>
                  <a:lnTo>
                    <a:pt x="1501330" y="1808035"/>
                  </a:lnTo>
                  <a:lnTo>
                    <a:pt x="1497545" y="1771383"/>
                  </a:lnTo>
                  <a:lnTo>
                    <a:pt x="1493177" y="1741449"/>
                  </a:lnTo>
                  <a:lnTo>
                    <a:pt x="1513852" y="1675676"/>
                  </a:lnTo>
                  <a:lnTo>
                    <a:pt x="1547050" y="1639062"/>
                  </a:lnTo>
                  <a:lnTo>
                    <a:pt x="1583994" y="1620710"/>
                  </a:lnTo>
                  <a:lnTo>
                    <a:pt x="1624723" y="1620710"/>
                  </a:lnTo>
                  <a:lnTo>
                    <a:pt x="1641614" y="1633207"/>
                  </a:lnTo>
                  <a:lnTo>
                    <a:pt x="1653514" y="1651520"/>
                  </a:lnTo>
                  <a:lnTo>
                    <a:pt x="1666036" y="1668995"/>
                  </a:lnTo>
                  <a:lnTo>
                    <a:pt x="1670431" y="1699793"/>
                  </a:lnTo>
                  <a:lnTo>
                    <a:pt x="1674190" y="1729778"/>
                  </a:lnTo>
                  <a:lnTo>
                    <a:pt x="1670431" y="1765566"/>
                  </a:lnTo>
                  <a:lnTo>
                    <a:pt x="1661668" y="1808035"/>
                  </a:lnTo>
                  <a:lnTo>
                    <a:pt x="1641614" y="1862124"/>
                  </a:lnTo>
                  <a:lnTo>
                    <a:pt x="1616570" y="1916239"/>
                  </a:lnTo>
                  <a:lnTo>
                    <a:pt x="1629092" y="1928723"/>
                  </a:lnTo>
                  <a:lnTo>
                    <a:pt x="1657908" y="1874608"/>
                  </a:lnTo>
                  <a:lnTo>
                    <a:pt x="1678584" y="1819668"/>
                  </a:lnTo>
                  <a:lnTo>
                    <a:pt x="1686712" y="1771383"/>
                  </a:lnTo>
                  <a:lnTo>
                    <a:pt x="1690458" y="1729778"/>
                  </a:lnTo>
                  <a:lnTo>
                    <a:pt x="1690458" y="1693164"/>
                  </a:lnTo>
                  <a:close/>
                </a:path>
              </a:pathLst>
            </a:custGeom>
            <a:solidFill>
              <a:srgbClr val="1F1A17"/>
            </a:solidFill>
          </p:spPr>
          <p:txBody>
            <a:bodyPr wrap="square" lIns="0" tIns="0" rIns="0" bIns="0" rtlCol="0"/>
            <a:lstStyle/>
            <a:p>
              <a:endParaRPr/>
            </a:p>
          </p:txBody>
        </p:sp>
        <p:sp>
          <p:nvSpPr>
            <p:cNvPr id="32" name="object 32"/>
            <p:cNvSpPr/>
            <p:nvPr/>
          </p:nvSpPr>
          <p:spPr>
            <a:xfrm>
              <a:off x="4644474" y="478938"/>
              <a:ext cx="24765" cy="42545"/>
            </a:xfrm>
            <a:custGeom>
              <a:avLst/>
              <a:gdLst/>
              <a:ahLst/>
              <a:cxnLst/>
              <a:rect l="l" t="t" r="r" b="b"/>
              <a:pathLst>
                <a:path w="24764" h="42545">
                  <a:moveTo>
                    <a:pt x="11899" y="0"/>
                  </a:moveTo>
                  <a:lnTo>
                    <a:pt x="20041" y="5817"/>
                  </a:lnTo>
                  <a:lnTo>
                    <a:pt x="24428" y="24125"/>
                  </a:lnTo>
                  <a:lnTo>
                    <a:pt x="20041" y="36615"/>
                  </a:lnTo>
                  <a:lnTo>
                    <a:pt x="11899" y="42467"/>
                  </a:lnTo>
                  <a:lnTo>
                    <a:pt x="3758" y="36615"/>
                  </a:lnTo>
                  <a:lnTo>
                    <a:pt x="0" y="24125"/>
                  </a:lnTo>
                  <a:lnTo>
                    <a:pt x="3758" y="5817"/>
                  </a:lnTo>
                  <a:lnTo>
                    <a:pt x="11899" y="0"/>
                  </a:lnTo>
                </a:path>
              </a:pathLst>
            </a:custGeom>
            <a:ln w="4745">
              <a:solidFill>
                <a:srgbClr val="1F1A17"/>
              </a:solidFill>
            </a:ln>
          </p:spPr>
          <p:txBody>
            <a:bodyPr wrap="square" lIns="0" tIns="0" rIns="0" bIns="0" rtlCol="0"/>
            <a:lstStyle/>
            <a:p>
              <a:endParaRPr/>
            </a:p>
          </p:txBody>
        </p:sp>
        <p:sp>
          <p:nvSpPr>
            <p:cNvPr id="33" name="object 33"/>
            <p:cNvSpPr/>
            <p:nvPr/>
          </p:nvSpPr>
          <p:spPr>
            <a:xfrm>
              <a:off x="6248524" y="2365186"/>
              <a:ext cx="24765" cy="42545"/>
            </a:xfrm>
            <a:custGeom>
              <a:avLst/>
              <a:gdLst/>
              <a:ahLst/>
              <a:cxnLst/>
              <a:rect l="l" t="t" r="r" b="b"/>
              <a:pathLst>
                <a:path w="24764" h="42544">
                  <a:moveTo>
                    <a:pt x="11904" y="0"/>
                  </a:moveTo>
                  <a:lnTo>
                    <a:pt x="3753" y="6659"/>
                  </a:lnTo>
                  <a:lnTo>
                    <a:pt x="0" y="24142"/>
                  </a:lnTo>
                  <a:lnTo>
                    <a:pt x="3753" y="36626"/>
                  </a:lnTo>
                  <a:lnTo>
                    <a:pt x="11904" y="42453"/>
                  </a:lnTo>
                  <a:lnTo>
                    <a:pt x="20029" y="36626"/>
                  </a:lnTo>
                  <a:lnTo>
                    <a:pt x="24425" y="24142"/>
                  </a:lnTo>
                  <a:lnTo>
                    <a:pt x="20029" y="6659"/>
                  </a:lnTo>
                  <a:lnTo>
                    <a:pt x="11904" y="0"/>
                  </a:lnTo>
                  <a:close/>
                </a:path>
              </a:pathLst>
            </a:custGeom>
            <a:solidFill>
              <a:srgbClr val="1F1A17"/>
            </a:solidFill>
          </p:spPr>
          <p:txBody>
            <a:bodyPr wrap="square" lIns="0" tIns="0" rIns="0" bIns="0" rtlCol="0"/>
            <a:lstStyle/>
            <a:p>
              <a:endParaRPr/>
            </a:p>
          </p:txBody>
        </p:sp>
        <p:sp>
          <p:nvSpPr>
            <p:cNvPr id="34" name="object 34"/>
            <p:cNvSpPr/>
            <p:nvPr/>
          </p:nvSpPr>
          <p:spPr>
            <a:xfrm>
              <a:off x="6257292" y="2376842"/>
              <a:ext cx="24765" cy="42545"/>
            </a:xfrm>
            <a:custGeom>
              <a:avLst/>
              <a:gdLst/>
              <a:ahLst/>
              <a:cxnLst/>
              <a:rect l="l" t="t" r="r" b="b"/>
              <a:pathLst>
                <a:path w="24764" h="42544">
                  <a:moveTo>
                    <a:pt x="11904" y="0"/>
                  </a:moveTo>
                  <a:lnTo>
                    <a:pt x="20029" y="6659"/>
                  </a:lnTo>
                  <a:lnTo>
                    <a:pt x="24425" y="24139"/>
                  </a:lnTo>
                  <a:lnTo>
                    <a:pt x="20029" y="36626"/>
                  </a:lnTo>
                  <a:lnTo>
                    <a:pt x="11904" y="42453"/>
                  </a:lnTo>
                  <a:lnTo>
                    <a:pt x="3753" y="36626"/>
                  </a:lnTo>
                  <a:lnTo>
                    <a:pt x="0" y="24139"/>
                  </a:lnTo>
                  <a:lnTo>
                    <a:pt x="3753" y="6659"/>
                  </a:lnTo>
                  <a:lnTo>
                    <a:pt x="11904" y="0"/>
                  </a:lnTo>
                </a:path>
              </a:pathLst>
            </a:custGeom>
            <a:ln w="4745">
              <a:solidFill>
                <a:srgbClr val="1F1A17"/>
              </a:solidFill>
            </a:ln>
          </p:spPr>
          <p:txBody>
            <a:bodyPr wrap="square" lIns="0" tIns="0" rIns="0" bIns="0" rtlCol="0"/>
            <a:lstStyle/>
            <a:p>
              <a:endParaRPr/>
            </a:p>
          </p:txBody>
        </p:sp>
        <p:sp>
          <p:nvSpPr>
            <p:cNvPr id="35" name="object 35"/>
            <p:cNvSpPr/>
            <p:nvPr/>
          </p:nvSpPr>
          <p:spPr>
            <a:xfrm>
              <a:off x="4713370" y="407349"/>
              <a:ext cx="206375" cy="1873885"/>
            </a:xfrm>
            <a:custGeom>
              <a:avLst/>
              <a:gdLst/>
              <a:ahLst/>
              <a:cxnLst/>
              <a:rect l="l" t="t" r="r" b="b"/>
              <a:pathLst>
                <a:path w="206375" h="1873885">
                  <a:moveTo>
                    <a:pt x="12526" y="0"/>
                  </a:moveTo>
                  <a:lnTo>
                    <a:pt x="0" y="18307"/>
                  </a:lnTo>
                  <a:lnTo>
                    <a:pt x="37571" y="89896"/>
                  </a:lnTo>
                  <a:lnTo>
                    <a:pt x="95191" y="247242"/>
                  </a:lnTo>
                  <a:lnTo>
                    <a:pt x="115245" y="318831"/>
                  </a:lnTo>
                  <a:lnTo>
                    <a:pt x="135917" y="397880"/>
                  </a:lnTo>
                  <a:lnTo>
                    <a:pt x="152835" y="476142"/>
                  </a:lnTo>
                  <a:lnTo>
                    <a:pt x="177261" y="626814"/>
                  </a:lnTo>
                  <a:lnTo>
                    <a:pt x="181015" y="699225"/>
                  </a:lnTo>
                  <a:lnTo>
                    <a:pt x="189783" y="843224"/>
                  </a:lnTo>
                  <a:lnTo>
                    <a:pt x="189783" y="915668"/>
                  </a:lnTo>
                  <a:lnTo>
                    <a:pt x="181015" y="1054672"/>
                  </a:lnTo>
                  <a:lnTo>
                    <a:pt x="169111" y="1187036"/>
                  </a:lnTo>
                  <a:lnTo>
                    <a:pt x="152836" y="1313549"/>
                  </a:lnTo>
                  <a:lnTo>
                    <a:pt x="127767" y="1427605"/>
                  </a:lnTo>
                  <a:lnTo>
                    <a:pt x="103341" y="1529993"/>
                  </a:lnTo>
                  <a:lnTo>
                    <a:pt x="78298" y="1626528"/>
                  </a:lnTo>
                  <a:lnTo>
                    <a:pt x="33201" y="1777201"/>
                  </a:lnTo>
                  <a:lnTo>
                    <a:pt x="0" y="1862101"/>
                  </a:lnTo>
                  <a:lnTo>
                    <a:pt x="12526" y="1873771"/>
                  </a:lnTo>
                  <a:lnTo>
                    <a:pt x="45722" y="1783874"/>
                  </a:lnTo>
                  <a:lnTo>
                    <a:pt x="95191" y="1639019"/>
                  </a:lnTo>
                  <a:lnTo>
                    <a:pt x="119642" y="1542449"/>
                  </a:lnTo>
                  <a:lnTo>
                    <a:pt x="144068" y="1434244"/>
                  </a:lnTo>
                  <a:lnTo>
                    <a:pt x="169111" y="1319366"/>
                  </a:lnTo>
                  <a:lnTo>
                    <a:pt x="185386" y="1192853"/>
                  </a:lnTo>
                  <a:lnTo>
                    <a:pt x="197933" y="1060489"/>
                  </a:lnTo>
                  <a:lnTo>
                    <a:pt x="206058" y="915668"/>
                  </a:lnTo>
                  <a:lnTo>
                    <a:pt x="206058" y="770814"/>
                  </a:lnTo>
                  <a:lnTo>
                    <a:pt x="197933" y="692552"/>
                  </a:lnTo>
                  <a:lnTo>
                    <a:pt x="193536" y="620141"/>
                  </a:lnTo>
                  <a:lnTo>
                    <a:pt x="181015" y="541913"/>
                  </a:lnTo>
                  <a:lnTo>
                    <a:pt x="169111" y="463651"/>
                  </a:lnTo>
                  <a:lnTo>
                    <a:pt x="152835" y="391241"/>
                  </a:lnTo>
                  <a:lnTo>
                    <a:pt x="132163" y="312979"/>
                  </a:lnTo>
                  <a:lnTo>
                    <a:pt x="107095" y="234751"/>
                  </a:lnTo>
                  <a:lnTo>
                    <a:pt x="82669" y="156489"/>
                  </a:lnTo>
                  <a:lnTo>
                    <a:pt x="49476" y="78262"/>
                  </a:lnTo>
                  <a:lnTo>
                    <a:pt x="12526" y="0"/>
                  </a:lnTo>
                  <a:close/>
                </a:path>
              </a:pathLst>
            </a:custGeom>
            <a:solidFill>
              <a:srgbClr val="1F1A17"/>
            </a:solidFill>
          </p:spPr>
          <p:txBody>
            <a:bodyPr wrap="square" lIns="0" tIns="0" rIns="0" bIns="0" rtlCol="0"/>
            <a:lstStyle/>
            <a:p>
              <a:endParaRPr/>
            </a:p>
          </p:txBody>
        </p:sp>
        <p:pic>
          <p:nvPicPr>
            <p:cNvPr id="36" name="object 36"/>
            <p:cNvPicPr/>
            <p:nvPr/>
          </p:nvPicPr>
          <p:blipFill>
            <a:blip r:embed="rId4" cstate="print"/>
            <a:stretch>
              <a:fillRect/>
            </a:stretch>
          </p:blipFill>
          <p:spPr>
            <a:xfrm>
              <a:off x="4701471" y="2172916"/>
              <a:ext cx="90197" cy="138164"/>
            </a:xfrm>
            <a:prstGeom prst="rect">
              <a:avLst/>
            </a:prstGeom>
          </p:spPr>
        </p:pic>
        <p:sp>
          <p:nvSpPr>
            <p:cNvPr id="37" name="object 37"/>
            <p:cNvSpPr/>
            <p:nvPr/>
          </p:nvSpPr>
          <p:spPr>
            <a:xfrm>
              <a:off x="4725897" y="2305253"/>
              <a:ext cx="1366520" cy="307340"/>
            </a:xfrm>
            <a:custGeom>
              <a:avLst/>
              <a:gdLst/>
              <a:ahLst/>
              <a:cxnLst/>
              <a:rect l="l" t="t" r="r" b="b"/>
              <a:pathLst>
                <a:path w="1366520" h="307339">
                  <a:moveTo>
                    <a:pt x="1361648" y="0"/>
                  </a:moveTo>
                  <a:lnTo>
                    <a:pt x="1295879" y="48281"/>
                  </a:lnTo>
                  <a:lnTo>
                    <a:pt x="1201312" y="120702"/>
                  </a:lnTo>
                  <a:lnTo>
                    <a:pt x="1143693" y="156493"/>
                  </a:lnTo>
                  <a:lnTo>
                    <a:pt x="1074170" y="193119"/>
                  </a:lnTo>
                  <a:lnTo>
                    <a:pt x="999633" y="228913"/>
                  </a:lnTo>
                  <a:lnTo>
                    <a:pt x="917588" y="253052"/>
                  </a:lnTo>
                  <a:lnTo>
                    <a:pt x="831146" y="271367"/>
                  </a:lnTo>
                  <a:lnTo>
                    <a:pt x="732184" y="277195"/>
                  </a:lnTo>
                  <a:lnTo>
                    <a:pt x="629467" y="277195"/>
                  </a:lnTo>
                  <a:lnTo>
                    <a:pt x="576219" y="271367"/>
                  </a:lnTo>
                  <a:lnTo>
                    <a:pt x="518600" y="258880"/>
                  </a:lnTo>
                  <a:lnTo>
                    <a:pt x="460980" y="241400"/>
                  </a:lnTo>
                  <a:lnTo>
                    <a:pt x="403361" y="223086"/>
                  </a:lnTo>
                  <a:lnTo>
                    <a:pt x="341346" y="198947"/>
                  </a:lnTo>
                  <a:lnTo>
                    <a:pt x="275576" y="168980"/>
                  </a:lnTo>
                  <a:lnTo>
                    <a:pt x="214203" y="132354"/>
                  </a:lnTo>
                  <a:lnTo>
                    <a:pt x="144063" y="96559"/>
                  </a:lnTo>
                  <a:lnTo>
                    <a:pt x="78293" y="48281"/>
                  </a:lnTo>
                  <a:lnTo>
                    <a:pt x="8142" y="0"/>
                  </a:lnTo>
                  <a:lnTo>
                    <a:pt x="0" y="18314"/>
                  </a:lnTo>
                  <a:lnTo>
                    <a:pt x="70143" y="72420"/>
                  </a:lnTo>
                  <a:lnTo>
                    <a:pt x="140309" y="120702"/>
                  </a:lnTo>
                  <a:lnTo>
                    <a:pt x="206053" y="156493"/>
                  </a:lnTo>
                  <a:lnTo>
                    <a:pt x="271822" y="193119"/>
                  </a:lnTo>
                  <a:lnTo>
                    <a:pt x="333221" y="223086"/>
                  </a:lnTo>
                  <a:lnTo>
                    <a:pt x="398965" y="247228"/>
                  </a:lnTo>
                  <a:lnTo>
                    <a:pt x="456610" y="265539"/>
                  </a:lnTo>
                  <a:lnTo>
                    <a:pt x="518600" y="283019"/>
                  </a:lnTo>
                  <a:lnTo>
                    <a:pt x="571848" y="295507"/>
                  </a:lnTo>
                  <a:lnTo>
                    <a:pt x="629467" y="301334"/>
                  </a:lnTo>
                  <a:lnTo>
                    <a:pt x="683332" y="301334"/>
                  </a:lnTo>
                  <a:lnTo>
                    <a:pt x="732184" y="307161"/>
                  </a:lnTo>
                  <a:lnTo>
                    <a:pt x="831146" y="295507"/>
                  </a:lnTo>
                  <a:lnTo>
                    <a:pt x="921959" y="277195"/>
                  </a:lnTo>
                  <a:lnTo>
                    <a:pt x="1004004" y="253052"/>
                  </a:lnTo>
                  <a:lnTo>
                    <a:pt x="1082295" y="217261"/>
                  </a:lnTo>
                  <a:lnTo>
                    <a:pt x="1148064" y="180635"/>
                  </a:lnTo>
                  <a:lnTo>
                    <a:pt x="1209463" y="144841"/>
                  </a:lnTo>
                  <a:lnTo>
                    <a:pt x="1304029" y="72420"/>
                  </a:lnTo>
                  <a:lnTo>
                    <a:pt x="1366045" y="18314"/>
                  </a:lnTo>
                  <a:lnTo>
                    <a:pt x="1361648" y="0"/>
                  </a:lnTo>
                  <a:close/>
                </a:path>
              </a:pathLst>
            </a:custGeom>
            <a:solidFill>
              <a:srgbClr val="1F1A17"/>
            </a:solidFill>
          </p:spPr>
          <p:txBody>
            <a:bodyPr wrap="square" lIns="0" tIns="0" rIns="0" bIns="0" rtlCol="0"/>
            <a:lstStyle/>
            <a:p>
              <a:endParaRPr/>
            </a:p>
          </p:txBody>
        </p:sp>
        <p:pic>
          <p:nvPicPr>
            <p:cNvPr id="38" name="object 38"/>
            <p:cNvPicPr/>
            <p:nvPr/>
          </p:nvPicPr>
          <p:blipFill>
            <a:blip r:embed="rId5" cstate="print"/>
            <a:stretch>
              <a:fillRect/>
            </a:stretch>
          </p:blipFill>
          <p:spPr>
            <a:xfrm>
              <a:off x="6021776" y="2281120"/>
              <a:ext cx="94591" cy="132347"/>
            </a:xfrm>
            <a:prstGeom prst="rect">
              <a:avLst/>
            </a:prstGeom>
          </p:spPr>
        </p:pic>
        <p:sp>
          <p:nvSpPr>
            <p:cNvPr id="39" name="object 39"/>
            <p:cNvSpPr/>
            <p:nvPr/>
          </p:nvSpPr>
          <p:spPr>
            <a:xfrm>
              <a:off x="4709614" y="2286938"/>
              <a:ext cx="29209" cy="55244"/>
            </a:xfrm>
            <a:custGeom>
              <a:avLst/>
              <a:gdLst/>
              <a:ahLst/>
              <a:cxnLst/>
              <a:rect l="l" t="t" r="r" b="b"/>
              <a:pathLst>
                <a:path w="29210" h="55244">
                  <a:moveTo>
                    <a:pt x="20669" y="0"/>
                  </a:moveTo>
                  <a:lnTo>
                    <a:pt x="16282" y="0"/>
                  </a:lnTo>
                  <a:lnTo>
                    <a:pt x="8142" y="0"/>
                  </a:lnTo>
                  <a:lnTo>
                    <a:pt x="3756" y="6662"/>
                  </a:lnTo>
                  <a:lnTo>
                    <a:pt x="3756" y="18314"/>
                  </a:lnTo>
                  <a:lnTo>
                    <a:pt x="0" y="24142"/>
                  </a:lnTo>
                  <a:lnTo>
                    <a:pt x="3756" y="36629"/>
                  </a:lnTo>
                  <a:lnTo>
                    <a:pt x="3756" y="48281"/>
                  </a:lnTo>
                  <a:lnTo>
                    <a:pt x="8142" y="48281"/>
                  </a:lnTo>
                  <a:lnTo>
                    <a:pt x="16282" y="54940"/>
                  </a:lnTo>
                  <a:lnTo>
                    <a:pt x="20669" y="48281"/>
                  </a:lnTo>
                  <a:lnTo>
                    <a:pt x="24425" y="48281"/>
                  </a:lnTo>
                  <a:lnTo>
                    <a:pt x="28806" y="36629"/>
                  </a:lnTo>
                  <a:lnTo>
                    <a:pt x="28806" y="18314"/>
                  </a:lnTo>
                  <a:lnTo>
                    <a:pt x="24425" y="6662"/>
                  </a:lnTo>
                  <a:lnTo>
                    <a:pt x="20669" y="0"/>
                  </a:lnTo>
                  <a:close/>
                </a:path>
              </a:pathLst>
            </a:custGeom>
            <a:solidFill>
              <a:srgbClr val="1F1A17"/>
            </a:solidFill>
          </p:spPr>
          <p:txBody>
            <a:bodyPr wrap="square" lIns="0" tIns="0" rIns="0" bIns="0" rtlCol="0"/>
            <a:lstStyle/>
            <a:p>
              <a:endParaRPr/>
            </a:p>
          </p:txBody>
        </p:sp>
        <p:sp>
          <p:nvSpPr>
            <p:cNvPr id="40" name="object 40"/>
            <p:cNvSpPr/>
            <p:nvPr/>
          </p:nvSpPr>
          <p:spPr>
            <a:xfrm>
              <a:off x="4718382" y="2298593"/>
              <a:ext cx="29209" cy="55244"/>
            </a:xfrm>
            <a:custGeom>
              <a:avLst/>
              <a:gdLst/>
              <a:ahLst/>
              <a:cxnLst/>
              <a:rect l="l" t="t" r="r" b="b"/>
              <a:pathLst>
                <a:path w="29210" h="55244">
                  <a:moveTo>
                    <a:pt x="16285" y="0"/>
                  </a:moveTo>
                  <a:lnTo>
                    <a:pt x="20656" y="0"/>
                  </a:lnTo>
                  <a:lnTo>
                    <a:pt x="24436" y="6659"/>
                  </a:lnTo>
                  <a:lnTo>
                    <a:pt x="28806" y="18314"/>
                  </a:lnTo>
                  <a:lnTo>
                    <a:pt x="28806" y="24139"/>
                  </a:lnTo>
                  <a:lnTo>
                    <a:pt x="28806" y="36626"/>
                  </a:lnTo>
                  <a:lnTo>
                    <a:pt x="24436" y="48281"/>
                  </a:lnTo>
                  <a:lnTo>
                    <a:pt x="20656" y="48281"/>
                  </a:lnTo>
                  <a:lnTo>
                    <a:pt x="16285" y="54940"/>
                  </a:lnTo>
                  <a:lnTo>
                    <a:pt x="8142" y="48281"/>
                  </a:lnTo>
                  <a:lnTo>
                    <a:pt x="3759" y="48281"/>
                  </a:lnTo>
                  <a:lnTo>
                    <a:pt x="3758" y="36626"/>
                  </a:lnTo>
                  <a:lnTo>
                    <a:pt x="0" y="24139"/>
                  </a:lnTo>
                  <a:lnTo>
                    <a:pt x="3758" y="18314"/>
                  </a:lnTo>
                  <a:lnTo>
                    <a:pt x="3758" y="6659"/>
                  </a:lnTo>
                  <a:lnTo>
                    <a:pt x="8142" y="0"/>
                  </a:lnTo>
                  <a:lnTo>
                    <a:pt x="16285" y="0"/>
                  </a:lnTo>
                </a:path>
              </a:pathLst>
            </a:custGeom>
            <a:ln w="4697">
              <a:solidFill>
                <a:srgbClr val="1F1A17"/>
              </a:solidFill>
            </a:ln>
          </p:spPr>
          <p:txBody>
            <a:bodyPr wrap="square" lIns="0" tIns="0" rIns="0" bIns="0" rtlCol="0"/>
            <a:lstStyle/>
            <a:p>
              <a:endParaRPr/>
            </a:p>
          </p:txBody>
        </p:sp>
        <p:sp>
          <p:nvSpPr>
            <p:cNvPr id="41" name="object 41"/>
            <p:cNvSpPr/>
            <p:nvPr/>
          </p:nvSpPr>
          <p:spPr>
            <a:xfrm>
              <a:off x="4705227" y="383224"/>
              <a:ext cx="29209" cy="54610"/>
            </a:xfrm>
            <a:custGeom>
              <a:avLst/>
              <a:gdLst/>
              <a:ahLst/>
              <a:cxnLst/>
              <a:rect l="l" t="t" r="r" b="b"/>
              <a:pathLst>
                <a:path w="29210" h="54609">
                  <a:moveTo>
                    <a:pt x="20669" y="0"/>
                  </a:moveTo>
                  <a:lnTo>
                    <a:pt x="12529" y="0"/>
                  </a:lnTo>
                  <a:lnTo>
                    <a:pt x="8142" y="0"/>
                  </a:lnTo>
                  <a:lnTo>
                    <a:pt x="4386" y="5817"/>
                  </a:lnTo>
                  <a:lnTo>
                    <a:pt x="0" y="18307"/>
                  </a:lnTo>
                  <a:lnTo>
                    <a:pt x="0" y="35794"/>
                  </a:lnTo>
                  <a:lnTo>
                    <a:pt x="8142" y="48250"/>
                  </a:lnTo>
                  <a:lnTo>
                    <a:pt x="12529" y="54102"/>
                  </a:lnTo>
                  <a:lnTo>
                    <a:pt x="20669" y="48250"/>
                  </a:lnTo>
                  <a:lnTo>
                    <a:pt x="25055" y="42433"/>
                  </a:lnTo>
                  <a:lnTo>
                    <a:pt x="25055" y="35794"/>
                  </a:lnTo>
                  <a:lnTo>
                    <a:pt x="28812" y="24125"/>
                  </a:lnTo>
                  <a:lnTo>
                    <a:pt x="25055" y="18307"/>
                  </a:lnTo>
                  <a:lnTo>
                    <a:pt x="25055" y="5817"/>
                  </a:lnTo>
                  <a:lnTo>
                    <a:pt x="20669" y="0"/>
                  </a:lnTo>
                  <a:close/>
                </a:path>
              </a:pathLst>
            </a:custGeom>
            <a:solidFill>
              <a:srgbClr val="1F1A17"/>
            </a:solidFill>
          </p:spPr>
          <p:txBody>
            <a:bodyPr wrap="square" lIns="0" tIns="0" rIns="0" bIns="0" rtlCol="0"/>
            <a:lstStyle/>
            <a:p>
              <a:endParaRPr/>
            </a:p>
          </p:txBody>
        </p:sp>
        <p:sp>
          <p:nvSpPr>
            <p:cNvPr id="42" name="object 42"/>
            <p:cNvSpPr/>
            <p:nvPr/>
          </p:nvSpPr>
          <p:spPr>
            <a:xfrm>
              <a:off x="4713998" y="394859"/>
              <a:ext cx="29209" cy="54610"/>
            </a:xfrm>
            <a:custGeom>
              <a:avLst/>
              <a:gdLst/>
              <a:ahLst/>
              <a:cxnLst/>
              <a:rect l="l" t="t" r="r" b="b"/>
              <a:pathLst>
                <a:path w="29210" h="54609">
                  <a:moveTo>
                    <a:pt x="12526" y="0"/>
                  </a:moveTo>
                  <a:lnTo>
                    <a:pt x="20669" y="0"/>
                  </a:lnTo>
                  <a:lnTo>
                    <a:pt x="25040" y="5817"/>
                  </a:lnTo>
                  <a:lnTo>
                    <a:pt x="25040" y="18307"/>
                  </a:lnTo>
                  <a:lnTo>
                    <a:pt x="28819" y="24159"/>
                  </a:lnTo>
                  <a:lnTo>
                    <a:pt x="25040" y="35794"/>
                  </a:lnTo>
                  <a:lnTo>
                    <a:pt x="25040" y="42467"/>
                  </a:lnTo>
                  <a:lnTo>
                    <a:pt x="20669" y="48284"/>
                  </a:lnTo>
                  <a:lnTo>
                    <a:pt x="12526" y="54102"/>
                  </a:lnTo>
                  <a:lnTo>
                    <a:pt x="8142" y="48284"/>
                  </a:lnTo>
                  <a:lnTo>
                    <a:pt x="4383" y="42467"/>
                  </a:lnTo>
                  <a:lnTo>
                    <a:pt x="0" y="35794"/>
                  </a:lnTo>
                  <a:lnTo>
                    <a:pt x="0" y="24159"/>
                  </a:lnTo>
                  <a:lnTo>
                    <a:pt x="0" y="18307"/>
                  </a:lnTo>
                  <a:lnTo>
                    <a:pt x="4383" y="5817"/>
                  </a:lnTo>
                  <a:lnTo>
                    <a:pt x="8142" y="0"/>
                  </a:lnTo>
                  <a:lnTo>
                    <a:pt x="12526" y="0"/>
                  </a:lnTo>
                </a:path>
              </a:pathLst>
            </a:custGeom>
            <a:ln w="4705">
              <a:solidFill>
                <a:srgbClr val="1F1A17"/>
              </a:solidFill>
            </a:ln>
          </p:spPr>
          <p:txBody>
            <a:bodyPr wrap="square" lIns="0" tIns="0" rIns="0" bIns="0" rtlCol="0"/>
            <a:lstStyle/>
            <a:p>
              <a:endParaRPr/>
            </a:p>
          </p:txBody>
        </p:sp>
      </p:grpSp>
      <p:sp>
        <p:nvSpPr>
          <p:cNvPr id="43" name="object 43"/>
          <p:cNvSpPr txBox="1"/>
          <p:nvPr/>
        </p:nvSpPr>
        <p:spPr>
          <a:xfrm>
            <a:off x="925311" y="6369027"/>
            <a:ext cx="1549400" cy="325755"/>
          </a:xfrm>
          <a:prstGeom prst="rect">
            <a:avLst/>
          </a:prstGeom>
        </p:spPr>
        <p:txBody>
          <a:bodyPr vert="horz" wrap="square" lIns="0" tIns="14604" rIns="0" bIns="0" rtlCol="0">
            <a:spAutoFit/>
          </a:bodyPr>
          <a:lstStyle/>
          <a:p>
            <a:pPr marL="38100">
              <a:lnSpc>
                <a:spcPct val="100000"/>
              </a:lnSpc>
              <a:spcBef>
                <a:spcPts val="114"/>
              </a:spcBef>
            </a:pPr>
            <a:r>
              <a:rPr sz="1950" dirty="0">
                <a:latin typeface="Times New Roman"/>
                <a:cs typeface="Times New Roman"/>
              </a:rPr>
              <a:t>R</a:t>
            </a:r>
            <a:r>
              <a:rPr sz="2025" baseline="-20576" dirty="0">
                <a:latin typeface="Times New Roman"/>
                <a:cs typeface="Times New Roman"/>
              </a:rPr>
              <a:t>3</a:t>
            </a:r>
            <a:r>
              <a:rPr sz="2025" spc="307" baseline="-20576" dirty="0">
                <a:latin typeface="Times New Roman"/>
                <a:cs typeface="Times New Roman"/>
              </a:rPr>
              <a:t> </a:t>
            </a:r>
            <a:r>
              <a:rPr sz="1950" dirty="0">
                <a:latin typeface="Times New Roman"/>
                <a:cs typeface="Times New Roman"/>
              </a:rPr>
              <a:t>is</a:t>
            </a:r>
            <a:r>
              <a:rPr sz="1950" spc="65" dirty="0">
                <a:latin typeface="Times New Roman"/>
                <a:cs typeface="Times New Roman"/>
              </a:rPr>
              <a:t> </a:t>
            </a:r>
            <a:r>
              <a:rPr sz="1950" spc="-10" dirty="0">
                <a:latin typeface="Times New Roman"/>
                <a:cs typeface="Times New Roman"/>
              </a:rPr>
              <a:t>reflexive</a:t>
            </a:r>
            <a:endParaRPr sz="1950">
              <a:latin typeface="Times New Roman"/>
              <a:cs typeface="Times New Roman"/>
            </a:endParaRPr>
          </a:p>
        </p:txBody>
      </p:sp>
      <p:sp>
        <p:nvSpPr>
          <p:cNvPr id="44" name="object 44"/>
          <p:cNvSpPr txBox="1"/>
          <p:nvPr/>
        </p:nvSpPr>
        <p:spPr>
          <a:xfrm>
            <a:off x="3739824" y="6087585"/>
            <a:ext cx="3241675" cy="325755"/>
          </a:xfrm>
          <a:prstGeom prst="rect">
            <a:avLst/>
          </a:prstGeom>
        </p:spPr>
        <p:txBody>
          <a:bodyPr vert="horz" wrap="square" lIns="0" tIns="14604" rIns="0" bIns="0" rtlCol="0">
            <a:spAutoFit/>
          </a:bodyPr>
          <a:lstStyle/>
          <a:p>
            <a:pPr marL="38100">
              <a:lnSpc>
                <a:spcPct val="100000"/>
              </a:lnSpc>
              <a:spcBef>
                <a:spcPts val="114"/>
              </a:spcBef>
            </a:pPr>
            <a:r>
              <a:rPr sz="1950" dirty="0">
                <a:latin typeface="Times New Roman"/>
                <a:cs typeface="Times New Roman"/>
              </a:rPr>
              <a:t>R</a:t>
            </a:r>
            <a:r>
              <a:rPr sz="2025" baseline="-20576" dirty="0">
                <a:latin typeface="Times New Roman"/>
                <a:cs typeface="Times New Roman"/>
              </a:rPr>
              <a:t>4</a:t>
            </a:r>
            <a:r>
              <a:rPr sz="2025" spc="382" baseline="-20576" dirty="0">
                <a:latin typeface="Times New Roman"/>
                <a:cs typeface="Times New Roman"/>
              </a:rPr>
              <a:t> </a:t>
            </a:r>
            <a:r>
              <a:rPr sz="1950" dirty="0">
                <a:latin typeface="Times New Roman"/>
                <a:cs typeface="Times New Roman"/>
              </a:rPr>
              <a:t>is</a:t>
            </a:r>
            <a:r>
              <a:rPr sz="1950" spc="110" dirty="0">
                <a:latin typeface="Times New Roman"/>
                <a:cs typeface="Times New Roman"/>
              </a:rPr>
              <a:t> </a:t>
            </a:r>
            <a:r>
              <a:rPr sz="1950" dirty="0">
                <a:latin typeface="Times New Roman"/>
                <a:cs typeface="Times New Roman"/>
              </a:rPr>
              <a:t>not</a:t>
            </a:r>
            <a:r>
              <a:rPr sz="1950" spc="125" dirty="0">
                <a:latin typeface="Times New Roman"/>
                <a:cs typeface="Times New Roman"/>
              </a:rPr>
              <a:t> </a:t>
            </a:r>
            <a:r>
              <a:rPr sz="1950" dirty="0">
                <a:latin typeface="Times New Roman"/>
                <a:cs typeface="Times New Roman"/>
              </a:rPr>
              <a:t>reflexive,</a:t>
            </a:r>
            <a:r>
              <a:rPr sz="1950" spc="114" dirty="0">
                <a:latin typeface="Times New Roman"/>
                <a:cs typeface="Times New Roman"/>
              </a:rPr>
              <a:t> </a:t>
            </a:r>
            <a:r>
              <a:rPr sz="1950" dirty="0">
                <a:latin typeface="Times New Roman"/>
                <a:cs typeface="Times New Roman"/>
              </a:rPr>
              <a:t>as</a:t>
            </a:r>
            <a:r>
              <a:rPr sz="1950" spc="125" dirty="0">
                <a:latin typeface="Times New Roman"/>
                <a:cs typeface="Times New Roman"/>
              </a:rPr>
              <a:t> </a:t>
            </a:r>
            <a:r>
              <a:rPr sz="1950" dirty="0">
                <a:latin typeface="Times New Roman"/>
                <a:cs typeface="Times New Roman"/>
              </a:rPr>
              <a:t>there</a:t>
            </a:r>
            <a:r>
              <a:rPr sz="1950" spc="120" dirty="0">
                <a:latin typeface="Times New Roman"/>
                <a:cs typeface="Times New Roman"/>
              </a:rPr>
              <a:t> </a:t>
            </a:r>
            <a:r>
              <a:rPr sz="1950" spc="-25" dirty="0">
                <a:latin typeface="Times New Roman"/>
                <a:cs typeface="Times New Roman"/>
              </a:rPr>
              <a:t>are</a:t>
            </a:r>
            <a:endParaRPr sz="1950">
              <a:latin typeface="Times New Roman"/>
              <a:cs typeface="Times New Roman"/>
            </a:endParaRPr>
          </a:p>
        </p:txBody>
      </p:sp>
      <p:sp>
        <p:nvSpPr>
          <p:cNvPr id="45" name="object 45"/>
          <p:cNvSpPr txBox="1"/>
          <p:nvPr/>
        </p:nvSpPr>
        <p:spPr>
          <a:xfrm>
            <a:off x="3765224" y="6387791"/>
            <a:ext cx="1972310" cy="325755"/>
          </a:xfrm>
          <a:prstGeom prst="rect">
            <a:avLst/>
          </a:prstGeom>
        </p:spPr>
        <p:txBody>
          <a:bodyPr vert="horz" wrap="square" lIns="0" tIns="14604" rIns="0" bIns="0" rtlCol="0">
            <a:spAutoFit/>
          </a:bodyPr>
          <a:lstStyle/>
          <a:p>
            <a:pPr marL="12700">
              <a:lnSpc>
                <a:spcPct val="100000"/>
              </a:lnSpc>
              <a:spcBef>
                <a:spcPts val="114"/>
              </a:spcBef>
            </a:pPr>
            <a:r>
              <a:rPr sz="1950" dirty="0">
                <a:latin typeface="Times New Roman"/>
                <a:cs typeface="Times New Roman"/>
              </a:rPr>
              <a:t>no</a:t>
            </a:r>
            <a:r>
              <a:rPr sz="1950" spc="110" dirty="0">
                <a:latin typeface="Times New Roman"/>
                <a:cs typeface="Times New Roman"/>
              </a:rPr>
              <a:t> </a:t>
            </a:r>
            <a:r>
              <a:rPr sz="1950" dirty="0">
                <a:latin typeface="Times New Roman"/>
                <a:cs typeface="Times New Roman"/>
              </a:rPr>
              <a:t>loops</a:t>
            </a:r>
            <a:r>
              <a:rPr sz="1950" spc="105" dirty="0">
                <a:latin typeface="Times New Roman"/>
                <a:cs typeface="Times New Roman"/>
              </a:rPr>
              <a:t> </a:t>
            </a:r>
            <a:r>
              <a:rPr sz="1950" dirty="0">
                <a:latin typeface="Times New Roman"/>
                <a:cs typeface="Times New Roman"/>
              </a:rPr>
              <a:t>at</a:t>
            </a:r>
            <a:r>
              <a:rPr sz="1950" spc="90" dirty="0">
                <a:latin typeface="Times New Roman"/>
                <a:cs typeface="Times New Roman"/>
              </a:rPr>
              <a:t> </a:t>
            </a:r>
            <a:r>
              <a:rPr sz="1950" dirty="0">
                <a:latin typeface="Times New Roman"/>
                <a:cs typeface="Times New Roman"/>
              </a:rPr>
              <a:t>1and</a:t>
            </a:r>
            <a:r>
              <a:rPr sz="1950" spc="114" dirty="0">
                <a:latin typeface="Times New Roman"/>
                <a:cs typeface="Times New Roman"/>
              </a:rPr>
              <a:t> </a:t>
            </a:r>
            <a:r>
              <a:rPr sz="1950" spc="-25" dirty="0">
                <a:latin typeface="Times New Roman"/>
                <a:cs typeface="Times New Roman"/>
              </a:rPr>
              <a:t>3.</a:t>
            </a:r>
            <a:endParaRPr sz="1950">
              <a:latin typeface="Times New Roman"/>
              <a:cs typeface="Times New Roman"/>
            </a:endParaRPr>
          </a:p>
        </p:txBody>
      </p:sp>
      <p:sp>
        <p:nvSpPr>
          <p:cNvPr id="46" name="object 46"/>
          <p:cNvSpPr txBox="1"/>
          <p:nvPr/>
        </p:nvSpPr>
        <p:spPr>
          <a:xfrm>
            <a:off x="684730" y="3983536"/>
            <a:ext cx="153670" cy="325755"/>
          </a:xfrm>
          <a:prstGeom prst="rect">
            <a:avLst/>
          </a:prstGeom>
        </p:spPr>
        <p:txBody>
          <a:bodyPr vert="horz" wrap="square" lIns="0" tIns="14604" rIns="0" bIns="0" rtlCol="0">
            <a:spAutoFit/>
          </a:bodyPr>
          <a:lstStyle/>
          <a:p>
            <a:pPr marL="12700">
              <a:lnSpc>
                <a:spcPct val="100000"/>
              </a:lnSpc>
              <a:spcBef>
                <a:spcPts val="114"/>
              </a:spcBef>
            </a:pPr>
            <a:r>
              <a:rPr sz="1950" spc="-50" dirty="0">
                <a:latin typeface="Times New Roman"/>
                <a:cs typeface="Times New Roman"/>
              </a:rPr>
              <a:t>1</a:t>
            </a:r>
            <a:endParaRPr sz="1950">
              <a:latin typeface="Times New Roman"/>
              <a:cs typeface="Times New Roman"/>
            </a:endParaRPr>
          </a:p>
        </p:txBody>
      </p:sp>
      <p:sp>
        <p:nvSpPr>
          <p:cNvPr id="47" name="object 47"/>
          <p:cNvSpPr txBox="1"/>
          <p:nvPr/>
        </p:nvSpPr>
        <p:spPr>
          <a:xfrm>
            <a:off x="2635159" y="3983536"/>
            <a:ext cx="153670" cy="325755"/>
          </a:xfrm>
          <a:prstGeom prst="rect">
            <a:avLst/>
          </a:prstGeom>
        </p:spPr>
        <p:txBody>
          <a:bodyPr vert="horz" wrap="square" lIns="0" tIns="14604" rIns="0" bIns="0" rtlCol="0">
            <a:spAutoFit/>
          </a:bodyPr>
          <a:lstStyle/>
          <a:p>
            <a:pPr marL="12700">
              <a:lnSpc>
                <a:spcPct val="100000"/>
              </a:lnSpc>
              <a:spcBef>
                <a:spcPts val="114"/>
              </a:spcBef>
            </a:pPr>
            <a:r>
              <a:rPr sz="1950" spc="-50" dirty="0">
                <a:latin typeface="Times New Roman"/>
                <a:cs typeface="Times New Roman"/>
              </a:rPr>
              <a:t>2</a:t>
            </a:r>
            <a:endParaRPr sz="1950">
              <a:latin typeface="Times New Roman"/>
              <a:cs typeface="Times New Roman"/>
            </a:endParaRPr>
          </a:p>
        </p:txBody>
      </p:sp>
      <p:sp>
        <p:nvSpPr>
          <p:cNvPr id="48" name="object 48"/>
          <p:cNvSpPr txBox="1"/>
          <p:nvPr/>
        </p:nvSpPr>
        <p:spPr>
          <a:xfrm>
            <a:off x="2754484" y="5734844"/>
            <a:ext cx="153670" cy="325755"/>
          </a:xfrm>
          <a:prstGeom prst="rect">
            <a:avLst/>
          </a:prstGeom>
        </p:spPr>
        <p:txBody>
          <a:bodyPr vert="horz" wrap="square" lIns="0" tIns="14604" rIns="0" bIns="0" rtlCol="0">
            <a:spAutoFit/>
          </a:bodyPr>
          <a:lstStyle/>
          <a:p>
            <a:pPr marL="12700">
              <a:lnSpc>
                <a:spcPct val="100000"/>
              </a:lnSpc>
              <a:spcBef>
                <a:spcPts val="114"/>
              </a:spcBef>
            </a:pPr>
            <a:r>
              <a:rPr sz="1950" spc="-50" dirty="0">
                <a:latin typeface="Times New Roman"/>
                <a:cs typeface="Times New Roman"/>
              </a:rPr>
              <a:t>3</a:t>
            </a:r>
            <a:endParaRPr sz="1950">
              <a:latin typeface="Times New Roman"/>
              <a:cs typeface="Times New Roman"/>
            </a:endParaRPr>
          </a:p>
        </p:txBody>
      </p:sp>
      <p:sp>
        <p:nvSpPr>
          <p:cNvPr id="49" name="object 49"/>
          <p:cNvSpPr txBox="1"/>
          <p:nvPr/>
        </p:nvSpPr>
        <p:spPr>
          <a:xfrm>
            <a:off x="709750" y="5766741"/>
            <a:ext cx="153670" cy="325755"/>
          </a:xfrm>
          <a:prstGeom prst="rect">
            <a:avLst/>
          </a:prstGeom>
        </p:spPr>
        <p:txBody>
          <a:bodyPr vert="horz" wrap="square" lIns="0" tIns="14604" rIns="0" bIns="0" rtlCol="0">
            <a:spAutoFit/>
          </a:bodyPr>
          <a:lstStyle/>
          <a:p>
            <a:pPr marL="12700">
              <a:lnSpc>
                <a:spcPct val="100000"/>
              </a:lnSpc>
              <a:spcBef>
                <a:spcPts val="114"/>
              </a:spcBef>
            </a:pPr>
            <a:r>
              <a:rPr sz="1950" spc="-50" dirty="0">
                <a:latin typeface="Times New Roman"/>
                <a:cs typeface="Times New Roman"/>
              </a:rPr>
              <a:t>4</a:t>
            </a:r>
            <a:endParaRPr sz="1950">
              <a:latin typeface="Times New Roman"/>
              <a:cs typeface="Times New Roman"/>
            </a:endParaRPr>
          </a:p>
        </p:txBody>
      </p:sp>
      <p:sp>
        <p:nvSpPr>
          <p:cNvPr id="50" name="object 50"/>
          <p:cNvSpPr txBox="1"/>
          <p:nvPr/>
        </p:nvSpPr>
        <p:spPr>
          <a:xfrm>
            <a:off x="4824239" y="3608279"/>
            <a:ext cx="153670" cy="325755"/>
          </a:xfrm>
          <a:prstGeom prst="rect">
            <a:avLst/>
          </a:prstGeom>
        </p:spPr>
        <p:txBody>
          <a:bodyPr vert="horz" wrap="square" lIns="0" tIns="14604" rIns="0" bIns="0" rtlCol="0">
            <a:spAutoFit/>
          </a:bodyPr>
          <a:lstStyle/>
          <a:p>
            <a:pPr marL="12700">
              <a:lnSpc>
                <a:spcPct val="100000"/>
              </a:lnSpc>
              <a:spcBef>
                <a:spcPts val="114"/>
              </a:spcBef>
            </a:pPr>
            <a:r>
              <a:rPr sz="1950" spc="-50" dirty="0">
                <a:latin typeface="Times New Roman"/>
                <a:cs typeface="Times New Roman"/>
              </a:rPr>
              <a:t>1</a:t>
            </a:r>
            <a:endParaRPr sz="1950">
              <a:latin typeface="Times New Roman"/>
              <a:cs typeface="Times New Roman"/>
            </a:endParaRPr>
          </a:p>
        </p:txBody>
      </p:sp>
      <p:sp>
        <p:nvSpPr>
          <p:cNvPr id="51" name="object 51"/>
          <p:cNvSpPr txBox="1"/>
          <p:nvPr/>
        </p:nvSpPr>
        <p:spPr>
          <a:xfrm>
            <a:off x="5907793" y="3702093"/>
            <a:ext cx="153670" cy="325755"/>
          </a:xfrm>
          <a:prstGeom prst="rect">
            <a:avLst/>
          </a:prstGeom>
        </p:spPr>
        <p:txBody>
          <a:bodyPr vert="horz" wrap="square" lIns="0" tIns="14604" rIns="0" bIns="0" rtlCol="0">
            <a:spAutoFit/>
          </a:bodyPr>
          <a:lstStyle/>
          <a:p>
            <a:pPr marL="12700">
              <a:lnSpc>
                <a:spcPct val="100000"/>
              </a:lnSpc>
              <a:spcBef>
                <a:spcPts val="114"/>
              </a:spcBef>
            </a:pPr>
            <a:r>
              <a:rPr sz="1950" spc="-50" dirty="0">
                <a:latin typeface="Times New Roman"/>
                <a:cs typeface="Times New Roman"/>
              </a:rPr>
              <a:t>2</a:t>
            </a:r>
            <a:endParaRPr sz="1950">
              <a:latin typeface="Times New Roman"/>
              <a:cs typeface="Times New Roman"/>
            </a:endParaRPr>
          </a:p>
        </p:txBody>
      </p:sp>
      <p:sp>
        <p:nvSpPr>
          <p:cNvPr id="52" name="object 52"/>
          <p:cNvSpPr txBox="1"/>
          <p:nvPr/>
        </p:nvSpPr>
        <p:spPr>
          <a:xfrm>
            <a:off x="4438837" y="5526576"/>
            <a:ext cx="153670" cy="325755"/>
          </a:xfrm>
          <a:prstGeom prst="rect">
            <a:avLst/>
          </a:prstGeom>
        </p:spPr>
        <p:txBody>
          <a:bodyPr vert="horz" wrap="square" lIns="0" tIns="14604" rIns="0" bIns="0" rtlCol="0">
            <a:spAutoFit/>
          </a:bodyPr>
          <a:lstStyle/>
          <a:p>
            <a:pPr marL="12700">
              <a:lnSpc>
                <a:spcPct val="100000"/>
              </a:lnSpc>
              <a:spcBef>
                <a:spcPts val="114"/>
              </a:spcBef>
            </a:pPr>
            <a:r>
              <a:rPr sz="1950" spc="-50" dirty="0">
                <a:latin typeface="Times New Roman"/>
                <a:cs typeface="Times New Roman"/>
              </a:rPr>
              <a:t>3</a:t>
            </a:r>
            <a:endParaRPr sz="1950">
              <a:latin typeface="Times New Roman"/>
              <a:cs typeface="Times New Roman"/>
            </a:endParaRPr>
          </a:p>
        </p:txBody>
      </p:sp>
      <p:sp>
        <p:nvSpPr>
          <p:cNvPr id="53" name="object 53"/>
          <p:cNvSpPr txBox="1"/>
          <p:nvPr/>
        </p:nvSpPr>
        <p:spPr>
          <a:xfrm>
            <a:off x="6268015" y="5336696"/>
            <a:ext cx="153670" cy="325755"/>
          </a:xfrm>
          <a:prstGeom prst="rect">
            <a:avLst/>
          </a:prstGeom>
        </p:spPr>
        <p:txBody>
          <a:bodyPr vert="horz" wrap="square" lIns="0" tIns="14604" rIns="0" bIns="0" rtlCol="0">
            <a:spAutoFit/>
          </a:bodyPr>
          <a:lstStyle/>
          <a:p>
            <a:pPr marL="12700">
              <a:lnSpc>
                <a:spcPct val="100000"/>
              </a:lnSpc>
              <a:spcBef>
                <a:spcPts val="114"/>
              </a:spcBef>
            </a:pPr>
            <a:r>
              <a:rPr sz="1950" spc="-50" dirty="0">
                <a:latin typeface="Times New Roman"/>
                <a:cs typeface="Times New Roman"/>
              </a:rPr>
              <a:t>4</a:t>
            </a:r>
            <a:endParaRPr sz="1950">
              <a:latin typeface="Times New Roman"/>
              <a:cs typeface="Times New Roman"/>
            </a:endParaRPr>
          </a:p>
        </p:txBody>
      </p:sp>
      <p:pic>
        <p:nvPicPr>
          <p:cNvPr id="54" name="object 54"/>
          <p:cNvPicPr/>
          <p:nvPr/>
        </p:nvPicPr>
        <p:blipFill>
          <a:blip r:embed="rId6" cstate="print"/>
          <a:stretch>
            <a:fillRect/>
          </a:stretch>
        </p:blipFill>
        <p:spPr>
          <a:xfrm>
            <a:off x="6178147" y="5381296"/>
            <a:ext cx="81544" cy="132748"/>
          </a:xfrm>
          <a:prstGeom prst="rect">
            <a:avLst/>
          </a:prstGeom>
        </p:spPr>
      </p:pic>
      <p:pic>
        <p:nvPicPr>
          <p:cNvPr id="55" name="object 55"/>
          <p:cNvPicPr/>
          <p:nvPr/>
        </p:nvPicPr>
        <p:blipFill>
          <a:blip r:embed="rId7" cstate="print"/>
          <a:stretch>
            <a:fillRect/>
          </a:stretch>
        </p:blipFill>
        <p:spPr>
          <a:xfrm>
            <a:off x="4910613" y="3907374"/>
            <a:ext cx="81547" cy="132748"/>
          </a:xfrm>
          <a:prstGeom prst="rect">
            <a:avLst/>
          </a:prstGeom>
        </p:spPr>
      </p:pic>
      <p:grpSp>
        <p:nvGrpSpPr>
          <p:cNvPr id="56" name="object 56"/>
          <p:cNvGrpSpPr/>
          <p:nvPr/>
        </p:nvGrpSpPr>
        <p:grpSpPr>
          <a:xfrm>
            <a:off x="4807433" y="5479589"/>
            <a:ext cx="170815" cy="358140"/>
            <a:chOff x="4807433" y="5479589"/>
            <a:chExt cx="170815" cy="358140"/>
          </a:xfrm>
        </p:grpSpPr>
        <p:pic>
          <p:nvPicPr>
            <p:cNvPr id="57" name="object 57"/>
            <p:cNvPicPr/>
            <p:nvPr/>
          </p:nvPicPr>
          <p:blipFill>
            <a:blip r:embed="rId8" cstate="print"/>
            <a:stretch>
              <a:fillRect/>
            </a:stretch>
          </p:blipFill>
          <p:spPr>
            <a:xfrm>
              <a:off x="4807433" y="5595130"/>
              <a:ext cx="145332" cy="242543"/>
            </a:xfrm>
            <a:prstGeom prst="rect">
              <a:avLst/>
            </a:prstGeom>
          </p:spPr>
        </p:pic>
        <p:pic>
          <p:nvPicPr>
            <p:cNvPr id="58" name="object 58"/>
            <p:cNvPicPr/>
            <p:nvPr/>
          </p:nvPicPr>
          <p:blipFill>
            <a:blip r:embed="rId9" cstate="print"/>
            <a:stretch>
              <a:fillRect/>
            </a:stretch>
          </p:blipFill>
          <p:spPr>
            <a:xfrm>
              <a:off x="4896189" y="5479589"/>
              <a:ext cx="81533" cy="127022"/>
            </a:xfrm>
            <a:prstGeom prst="rect">
              <a:avLst/>
            </a:prstGeom>
          </p:spPr>
        </p:pic>
      </p:grpSp>
      <p:grpSp>
        <p:nvGrpSpPr>
          <p:cNvPr id="59" name="object 59"/>
          <p:cNvGrpSpPr/>
          <p:nvPr/>
        </p:nvGrpSpPr>
        <p:grpSpPr>
          <a:xfrm>
            <a:off x="3621785" y="3657600"/>
            <a:ext cx="3312795" cy="2985135"/>
            <a:chOff x="3621785" y="3657600"/>
            <a:chExt cx="3312795" cy="2985135"/>
          </a:xfrm>
        </p:grpSpPr>
        <p:sp>
          <p:nvSpPr>
            <p:cNvPr id="60" name="object 60"/>
            <p:cNvSpPr/>
            <p:nvPr/>
          </p:nvSpPr>
          <p:spPr>
            <a:xfrm>
              <a:off x="4708131" y="3739464"/>
              <a:ext cx="1640839" cy="2098675"/>
            </a:xfrm>
            <a:custGeom>
              <a:avLst/>
              <a:gdLst/>
              <a:ahLst/>
              <a:cxnLst/>
              <a:rect l="l" t="t" r="r" b="b"/>
              <a:pathLst>
                <a:path w="1640839" h="2098675">
                  <a:moveTo>
                    <a:pt x="184175" y="1831987"/>
                  </a:moveTo>
                  <a:lnTo>
                    <a:pt x="145338" y="1814766"/>
                  </a:lnTo>
                  <a:lnTo>
                    <a:pt x="109842" y="1809038"/>
                  </a:lnTo>
                  <a:lnTo>
                    <a:pt x="81546" y="1809038"/>
                  </a:lnTo>
                  <a:lnTo>
                    <a:pt x="35509" y="1831987"/>
                  </a:lnTo>
                  <a:lnTo>
                    <a:pt x="6654" y="1884375"/>
                  </a:lnTo>
                  <a:lnTo>
                    <a:pt x="0" y="1941779"/>
                  </a:lnTo>
                  <a:lnTo>
                    <a:pt x="3327" y="1971205"/>
                  </a:lnTo>
                  <a:lnTo>
                    <a:pt x="21082" y="2034349"/>
                  </a:lnTo>
                  <a:lnTo>
                    <a:pt x="53251" y="2075256"/>
                  </a:lnTo>
                  <a:lnTo>
                    <a:pt x="99301" y="2098217"/>
                  </a:lnTo>
                  <a:lnTo>
                    <a:pt x="99301" y="2075256"/>
                  </a:lnTo>
                  <a:lnTo>
                    <a:pt x="77660" y="2069515"/>
                  </a:lnTo>
                  <a:lnTo>
                    <a:pt x="59905" y="2058035"/>
                  </a:lnTo>
                  <a:lnTo>
                    <a:pt x="46050" y="2040089"/>
                  </a:lnTo>
                  <a:lnTo>
                    <a:pt x="35509" y="2017128"/>
                  </a:lnTo>
                  <a:lnTo>
                    <a:pt x="24409" y="1994166"/>
                  </a:lnTo>
                  <a:lnTo>
                    <a:pt x="17754" y="1965464"/>
                  </a:lnTo>
                  <a:lnTo>
                    <a:pt x="17754" y="1913077"/>
                  </a:lnTo>
                  <a:lnTo>
                    <a:pt x="21082" y="1890115"/>
                  </a:lnTo>
                  <a:lnTo>
                    <a:pt x="42164" y="1855673"/>
                  </a:lnTo>
                  <a:lnTo>
                    <a:pt x="59905" y="1838452"/>
                  </a:lnTo>
                  <a:lnTo>
                    <a:pt x="81546" y="1831987"/>
                  </a:lnTo>
                  <a:lnTo>
                    <a:pt x="109842" y="1831987"/>
                  </a:lnTo>
                  <a:lnTo>
                    <a:pt x="142011" y="1838452"/>
                  </a:lnTo>
                  <a:lnTo>
                    <a:pt x="180835" y="1855673"/>
                  </a:lnTo>
                  <a:lnTo>
                    <a:pt x="184175" y="1831987"/>
                  </a:lnTo>
                  <a:close/>
                </a:path>
                <a:path w="1640839" h="2098675">
                  <a:moveTo>
                    <a:pt x="297891" y="213842"/>
                  </a:moveTo>
                  <a:lnTo>
                    <a:pt x="294563" y="202374"/>
                  </a:lnTo>
                  <a:lnTo>
                    <a:pt x="287350" y="196621"/>
                  </a:lnTo>
                  <a:lnTo>
                    <a:pt x="280123" y="202374"/>
                  </a:lnTo>
                  <a:lnTo>
                    <a:pt x="276809" y="213842"/>
                  </a:lnTo>
                  <a:lnTo>
                    <a:pt x="280123" y="231076"/>
                  </a:lnTo>
                  <a:lnTo>
                    <a:pt x="287350" y="237540"/>
                  </a:lnTo>
                  <a:lnTo>
                    <a:pt x="294563" y="231076"/>
                  </a:lnTo>
                  <a:lnTo>
                    <a:pt x="297891" y="213842"/>
                  </a:lnTo>
                  <a:close/>
                </a:path>
                <a:path w="1640839" h="2098675">
                  <a:moveTo>
                    <a:pt x="1640319" y="173672"/>
                  </a:moveTo>
                  <a:lnTo>
                    <a:pt x="1633093" y="104051"/>
                  </a:lnTo>
                  <a:lnTo>
                    <a:pt x="1608137" y="46647"/>
                  </a:lnTo>
                  <a:lnTo>
                    <a:pt x="1572641" y="5753"/>
                  </a:lnTo>
                  <a:lnTo>
                    <a:pt x="1548231" y="0"/>
                  </a:lnTo>
                  <a:lnTo>
                    <a:pt x="1523276" y="0"/>
                  </a:lnTo>
                  <a:lnTo>
                    <a:pt x="1483880" y="35166"/>
                  </a:lnTo>
                  <a:lnTo>
                    <a:pt x="1452245" y="92570"/>
                  </a:lnTo>
                  <a:lnTo>
                    <a:pt x="1438478" y="135394"/>
                  </a:lnTo>
                  <a:lnTo>
                    <a:pt x="1416748" y="63868"/>
                  </a:lnTo>
                  <a:lnTo>
                    <a:pt x="1409547" y="69621"/>
                  </a:lnTo>
                  <a:lnTo>
                    <a:pt x="1405661" y="75349"/>
                  </a:lnTo>
                  <a:lnTo>
                    <a:pt x="1434503" y="179387"/>
                  </a:lnTo>
                  <a:lnTo>
                    <a:pt x="1437830" y="196621"/>
                  </a:lnTo>
                  <a:lnTo>
                    <a:pt x="1445056" y="185140"/>
                  </a:lnTo>
                  <a:lnTo>
                    <a:pt x="1491094" y="98323"/>
                  </a:lnTo>
                  <a:lnTo>
                    <a:pt x="1480553" y="81102"/>
                  </a:lnTo>
                  <a:lnTo>
                    <a:pt x="1451991" y="134937"/>
                  </a:lnTo>
                  <a:lnTo>
                    <a:pt x="1452245" y="133489"/>
                  </a:lnTo>
                  <a:lnTo>
                    <a:pt x="1462786" y="104051"/>
                  </a:lnTo>
                  <a:lnTo>
                    <a:pt x="1477225" y="81102"/>
                  </a:lnTo>
                  <a:lnTo>
                    <a:pt x="1491094" y="52400"/>
                  </a:lnTo>
                  <a:lnTo>
                    <a:pt x="1508836" y="35166"/>
                  </a:lnTo>
                  <a:lnTo>
                    <a:pt x="1526590" y="23698"/>
                  </a:lnTo>
                  <a:lnTo>
                    <a:pt x="1548231" y="23698"/>
                  </a:lnTo>
                  <a:lnTo>
                    <a:pt x="1583728" y="46647"/>
                  </a:lnTo>
                  <a:lnTo>
                    <a:pt x="1612011" y="86817"/>
                  </a:lnTo>
                  <a:lnTo>
                    <a:pt x="1622552" y="144970"/>
                  </a:lnTo>
                  <a:lnTo>
                    <a:pt x="1622552" y="196621"/>
                  </a:lnTo>
                  <a:lnTo>
                    <a:pt x="1608137" y="243255"/>
                  </a:lnTo>
                  <a:lnTo>
                    <a:pt x="1594269" y="260489"/>
                  </a:lnTo>
                  <a:lnTo>
                    <a:pt x="1579841" y="266242"/>
                  </a:lnTo>
                  <a:lnTo>
                    <a:pt x="1562100" y="271957"/>
                  </a:lnTo>
                  <a:lnTo>
                    <a:pt x="1541005" y="271957"/>
                  </a:lnTo>
                  <a:lnTo>
                    <a:pt x="1512735" y="260489"/>
                  </a:lnTo>
                  <a:lnTo>
                    <a:pt x="1483880" y="237540"/>
                  </a:lnTo>
                  <a:lnTo>
                    <a:pt x="1448371" y="202374"/>
                  </a:lnTo>
                  <a:lnTo>
                    <a:pt x="1441157" y="219595"/>
                  </a:lnTo>
                  <a:lnTo>
                    <a:pt x="1477225" y="254736"/>
                  </a:lnTo>
                  <a:lnTo>
                    <a:pt x="1508836" y="283438"/>
                  </a:lnTo>
                  <a:lnTo>
                    <a:pt x="1537144" y="294944"/>
                  </a:lnTo>
                  <a:lnTo>
                    <a:pt x="1562100" y="294944"/>
                  </a:lnTo>
                  <a:lnTo>
                    <a:pt x="1604822" y="277710"/>
                  </a:lnTo>
                  <a:lnTo>
                    <a:pt x="1629778" y="231076"/>
                  </a:lnTo>
                  <a:lnTo>
                    <a:pt x="1636966" y="202374"/>
                  </a:lnTo>
                  <a:lnTo>
                    <a:pt x="1640319" y="173672"/>
                  </a:lnTo>
                  <a:close/>
                </a:path>
              </a:pathLst>
            </a:custGeom>
            <a:solidFill>
              <a:srgbClr val="1F1A17"/>
            </a:solidFill>
          </p:spPr>
          <p:txBody>
            <a:bodyPr wrap="square" lIns="0" tIns="0" rIns="0" bIns="0" rtlCol="0"/>
            <a:lstStyle/>
            <a:p>
              <a:endParaRPr/>
            </a:p>
          </p:txBody>
        </p:sp>
        <p:sp>
          <p:nvSpPr>
            <p:cNvPr id="61" name="object 61"/>
            <p:cNvSpPr/>
            <p:nvPr/>
          </p:nvSpPr>
          <p:spPr>
            <a:xfrm>
              <a:off x="4992706" y="3946136"/>
              <a:ext cx="21590" cy="41275"/>
            </a:xfrm>
            <a:custGeom>
              <a:avLst/>
              <a:gdLst/>
              <a:ahLst/>
              <a:cxnLst/>
              <a:rect l="l" t="t" r="r" b="b"/>
              <a:pathLst>
                <a:path w="21589" h="41275">
                  <a:moveTo>
                    <a:pt x="10543" y="0"/>
                  </a:moveTo>
                  <a:lnTo>
                    <a:pt x="17761" y="5722"/>
                  </a:lnTo>
                  <a:lnTo>
                    <a:pt x="21086" y="17198"/>
                  </a:lnTo>
                  <a:lnTo>
                    <a:pt x="17761" y="34426"/>
                  </a:lnTo>
                  <a:lnTo>
                    <a:pt x="10543" y="40886"/>
                  </a:lnTo>
                  <a:lnTo>
                    <a:pt x="3324" y="34426"/>
                  </a:lnTo>
                  <a:lnTo>
                    <a:pt x="0" y="17198"/>
                  </a:lnTo>
                  <a:lnTo>
                    <a:pt x="3324" y="5722"/>
                  </a:lnTo>
                  <a:lnTo>
                    <a:pt x="10543" y="0"/>
                  </a:lnTo>
                </a:path>
              </a:pathLst>
            </a:custGeom>
            <a:ln w="3534">
              <a:solidFill>
                <a:srgbClr val="1F1A17"/>
              </a:solidFill>
            </a:ln>
          </p:spPr>
          <p:txBody>
            <a:bodyPr wrap="square" lIns="0" tIns="0" rIns="0" bIns="0" rtlCol="0"/>
            <a:lstStyle/>
            <a:p>
              <a:endParaRPr/>
            </a:p>
          </p:txBody>
        </p:sp>
        <p:sp>
          <p:nvSpPr>
            <p:cNvPr id="62" name="object 62"/>
            <p:cNvSpPr/>
            <p:nvPr/>
          </p:nvSpPr>
          <p:spPr>
            <a:xfrm>
              <a:off x="4874554" y="5565711"/>
              <a:ext cx="25400" cy="29845"/>
            </a:xfrm>
            <a:custGeom>
              <a:avLst/>
              <a:gdLst/>
              <a:ahLst/>
              <a:cxnLst/>
              <a:rect l="l" t="t" r="r" b="b"/>
              <a:pathLst>
                <a:path w="25400" h="29845">
                  <a:moveTo>
                    <a:pt x="17752" y="0"/>
                  </a:moveTo>
                  <a:lnTo>
                    <a:pt x="11094" y="0"/>
                  </a:lnTo>
                  <a:lnTo>
                    <a:pt x="3884" y="12198"/>
                  </a:lnTo>
                  <a:lnTo>
                    <a:pt x="0" y="23679"/>
                  </a:lnTo>
                  <a:lnTo>
                    <a:pt x="7211" y="29420"/>
                  </a:lnTo>
                  <a:lnTo>
                    <a:pt x="17752" y="29420"/>
                  </a:lnTo>
                  <a:lnTo>
                    <a:pt x="24962" y="23679"/>
                  </a:lnTo>
                  <a:lnTo>
                    <a:pt x="24962" y="12198"/>
                  </a:lnTo>
                  <a:lnTo>
                    <a:pt x="17752" y="0"/>
                  </a:lnTo>
                  <a:close/>
                </a:path>
              </a:pathLst>
            </a:custGeom>
            <a:solidFill>
              <a:srgbClr val="1F1A17"/>
            </a:solidFill>
          </p:spPr>
          <p:txBody>
            <a:bodyPr wrap="square" lIns="0" tIns="0" rIns="0" bIns="0" rtlCol="0"/>
            <a:lstStyle/>
            <a:p>
              <a:endParaRPr/>
            </a:p>
          </p:txBody>
        </p:sp>
        <p:sp>
          <p:nvSpPr>
            <p:cNvPr id="63" name="object 63"/>
            <p:cNvSpPr/>
            <p:nvPr/>
          </p:nvSpPr>
          <p:spPr>
            <a:xfrm>
              <a:off x="4882321" y="5575755"/>
              <a:ext cx="25400" cy="29845"/>
            </a:xfrm>
            <a:custGeom>
              <a:avLst/>
              <a:gdLst/>
              <a:ahLst/>
              <a:cxnLst/>
              <a:rect l="l" t="t" r="r" b="b"/>
              <a:pathLst>
                <a:path w="25400" h="29845">
                  <a:moveTo>
                    <a:pt x="0" y="23682"/>
                  </a:moveTo>
                  <a:lnTo>
                    <a:pt x="3882" y="12201"/>
                  </a:lnTo>
                  <a:lnTo>
                    <a:pt x="11094" y="0"/>
                  </a:lnTo>
                  <a:lnTo>
                    <a:pt x="17750" y="0"/>
                  </a:lnTo>
                  <a:lnTo>
                    <a:pt x="24962" y="12201"/>
                  </a:lnTo>
                  <a:lnTo>
                    <a:pt x="24962" y="23682"/>
                  </a:lnTo>
                  <a:lnTo>
                    <a:pt x="17750" y="29422"/>
                  </a:lnTo>
                  <a:lnTo>
                    <a:pt x="7211" y="29422"/>
                  </a:lnTo>
                  <a:lnTo>
                    <a:pt x="0" y="23682"/>
                  </a:lnTo>
                </a:path>
              </a:pathLst>
            </a:custGeom>
            <a:ln w="3739">
              <a:solidFill>
                <a:srgbClr val="1F1A17"/>
              </a:solidFill>
            </a:ln>
          </p:spPr>
          <p:txBody>
            <a:bodyPr wrap="square" lIns="0" tIns="0" rIns="0" bIns="0" rtlCol="0"/>
            <a:lstStyle/>
            <a:p>
              <a:endParaRPr/>
            </a:p>
          </p:txBody>
        </p:sp>
        <p:sp>
          <p:nvSpPr>
            <p:cNvPr id="64" name="object 64"/>
            <p:cNvSpPr/>
            <p:nvPr/>
          </p:nvSpPr>
          <p:spPr>
            <a:xfrm>
              <a:off x="6142646" y="3936077"/>
              <a:ext cx="25400" cy="34925"/>
            </a:xfrm>
            <a:custGeom>
              <a:avLst/>
              <a:gdLst/>
              <a:ahLst/>
              <a:cxnLst/>
              <a:rect l="l" t="t" r="r" b="b"/>
              <a:pathLst>
                <a:path w="25400" h="34925">
                  <a:moveTo>
                    <a:pt x="13867" y="0"/>
                  </a:moveTo>
                  <a:lnTo>
                    <a:pt x="3324" y="5752"/>
                  </a:lnTo>
                  <a:lnTo>
                    <a:pt x="0" y="17227"/>
                  </a:lnTo>
                  <a:lnTo>
                    <a:pt x="3324" y="28703"/>
                  </a:lnTo>
                  <a:lnTo>
                    <a:pt x="13867" y="34455"/>
                  </a:lnTo>
                  <a:lnTo>
                    <a:pt x="21086" y="28703"/>
                  </a:lnTo>
                  <a:lnTo>
                    <a:pt x="24957" y="17227"/>
                  </a:lnTo>
                  <a:lnTo>
                    <a:pt x="21086" y="5752"/>
                  </a:lnTo>
                  <a:lnTo>
                    <a:pt x="13867" y="0"/>
                  </a:lnTo>
                  <a:close/>
                </a:path>
              </a:pathLst>
            </a:custGeom>
            <a:solidFill>
              <a:srgbClr val="1F1A17"/>
            </a:solidFill>
          </p:spPr>
          <p:txBody>
            <a:bodyPr wrap="square" lIns="0" tIns="0" rIns="0" bIns="0" rtlCol="0"/>
            <a:lstStyle/>
            <a:p>
              <a:endParaRPr/>
            </a:p>
          </p:txBody>
        </p:sp>
        <p:sp>
          <p:nvSpPr>
            <p:cNvPr id="65" name="object 65"/>
            <p:cNvSpPr/>
            <p:nvPr/>
          </p:nvSpPr>
          <p:spPr>
            <a:xfrm>
              <a:off x="6150411" y="3946136"/>
              <a:ext cx="25400" cy="34925"/>
            </a:xfrm>
            <a:custGeom>
              <a:avLst/>
              <a:gdLst/>
              <a:ahLst/>
              <a:cxnLst/>
              <a:rect l="l" t="t" r="r" b="b"/>
              <a:pathLst>
                <a:path w="25400" h="34925">
                  <a:moveTo>
                    <a:pt x="24957" y="17198"/>
                  </a:moveTo>
                  <a:lnTo>
                    <a:pt x="21086" y="28703"/>
                  </a:lnTo>
                  <a:lnTo>
                    <a:pt x="13867" y="34426"/>
                  </a:lnTo>
                  <a:lnTo>
                    <a:pt x="3324" y="28703"/>
                  </a:lnTo>
                  <a:lnTo>
                    <a:pt x="0" y="17198"/>
                  </a:lnTo>
                  <a:lnTo>
                    <a:pt x="3324" y="5722"/>
                  </a:lnTo>
                  <a:lnTo>
                    <a:pt x="13867" y="0"/>
                  </a:lnTo>
                  <a:lnTo>
                    <a:pt x="21086" y="5722"/>
                  </a:lnTo>
                  <a:lnTo>
                    <a:pt x="24957" y="17198"/>
                  </a:lnTo>
                </a:path>
              </a:pathLst>
            </a:custGeom>
            <a:ln w="3667">
              <a:solidFill>
                <a:srgbClr val="1F1A17"/>
              </a:solidFill>
            </a:ln>
          </p:spPr>
          <p:txBody>
            <a:bodyPr wrap="square" lIns="0" tIns="0" rIns="0" bIns="0" rtlCol="0"/>
            <a:lstStyle/>
            <a:p>
              <a:endParaRPr/>
            </a:p>
          </p:txBody>
        </p:sp>
        <p:sp>
          <p:nvSpPr>
            <p:cNvPr id="66" name="object 66"/>
            <p:cNvSpPr/>
            <p:nvPr/>
          </p:nvSpPr>
          <p:spPr>
            <a:xfrm>
              <a:off x="4913934" y="3941838"/>
              <a:ext cx="1328420" cy="1647825"/>
            </a:xfrm>
            <a:custGeom>
              <a:avLst/>
              <a:gdLst/>
              <a:ahLst/>
              <a:cxnLst/>
              <a:rect l="l" t="t" r="r" b="b"/>
              <a:pathLst>
                <a:path w="1328420" h="1647825">
                  <a:moveTo>
                    <a:pt x="1327988" y="1532039"/>
                  </a:moveTo>
                  <a:lnTo>
                    <a:pt x="1292491" y="1410055"/>
                  </a:lnTo>
                  <a:lnTo>
                    <a:pt x="1228699" y="1219873"/>
                  </a:lnTo>
                  <a:lnTo>
                    <a:pt x="1182116" y="1097889"/>
                  </a:lnTo>
                  <a:lnTo>
                    <a:pt x="1128852" y="976617"/>
                  </a:lnTo>
                  <a:lnTo>
                    <a:pt x="1065072" y="843864"/>
                  </a:lnTo>
                  <a:lnTo>
                    <a:pt x="955217" y="647255"/>
                  </a:lnTo>
                  <a:lnTo>
                    <a:pt x="915847" y="584085"/>
                  </a:lnTo>
                  <a:lnTo>
                    <a:pt x="875665" y="528370"/>
                  </a:lnTo>
                  <a:lnTo>
                    <a:pt x="1253667" y="40881"/>
                  </a:lnTo>
                  <a:lnTo>
                    <a:pt x="1242568" y="22948"/>
                  </a:lnTo>
                  <a:lnTo>
                    <a:pt x="863904" y="512051"/>
                  </a:lnTo>
                  <a:lnTo>
                    <a:pt x="823760" y="456361"/>
                  </a:lnTo>
                  <a:lnTo>
                    <a:pt x="777709" y="398945"/>
                  </a:lnTo>
                  <a:lnTo>
                    <a:pt x="727798" y="340842"/>
                  </a:lnTo>
                  <a:lnTo>
                    <a:pt x="674535" y="289179"/>
                  </a:lnTo>
                  <a:lnTo>
                    <a:pt x="617943" y="236791"/>
                  </a:lnTo>
                  <a:lnTo>
                    <a:pt x="560819" y="190855"/>
                  </a:lnTo>
                  <a:lnTo>
                    <a:pt x="497027" y="144932"/>
                  </a:lnTo>
                  <a:lnTo>
                    <a:pt x="436575" y="109766"/>
                  </a:lnTo>
                  <a:lnTo>
                    <a:pt x="369443" y="75336"/>
                  </a:lnTo>
                  <a:lnTo>
                    <a:pt x="301764" y="46634"/>
                  </a:lnTo>
                  <a:lnTo>
                    <a:pt x="230771" y="28702"/>
                  </a:lnTo>
                  <a:lnTo>
                    <a:pt x="156438" y="11468"/>
                  </a:lnTo>
                  <a:lnTo>
                    <a:pt x="78219" y="0"/>
                  </a:lnTo>
                  <a:lnTo>
                    <a:pt x="78219" y="28702"/>
                  </a:lnTo>
                  <a:lnTo>
                    <a:pt x="156438" y="35166"/>
                  </a:lnTo>
                  <a:lnTo>
                    <a:pt x="298437" y="69583"/>
                  </a:lnTo>
                  <a:lnTo>
                    <a:pt x="365544" y="98285"/>
                  </a:lnTo>
                  <a:lnTo>
                    <a:pt x="493712" y="167906"/>
                  </a:lnTo>
                  <a:lnTo>
                    <a:pt x="553618" y="213842"/>
                  </a:lnTo>
                  <a:lnTo>
                    <a:pt x="610755" y="260477"/>
                  </a:lnTo>
                  <a:lnTo>
                    <a:pt x="663994" y="306412"/>
                  </a:lnTo>
                  <a:lnTo>
                    <a:pt x="717257" y="364528"/>
                  </a:lnTo>
                  <a:lnTo>
                    <a:pt x="767168" y="416179"/>
                  </a:lnTo>
                  <a:lnTo>
                    <a:pt x="816546" y="480047"/>
                  </a:lnTo>
                  <a:lnTo>
                    <a:pt x="853236" y="525818"/>
                  </a:lnTo>
                  <a:lnTo>
                    <a:pt x="521995" y="953668"/>
                  </a:lnTo>
                  <a:lnTo>
                    <a:pt x="478167" y="1010069"/>
                  </a:lnTo>
                  <a:lnTo>
                    <a:pt x="433222" y="953668"/>
                  </a:lnTo>
                  <a:lnTo>
                    <a:pt x="393852" y="896251"/>
                  </a:lnTo>
                  <a:lnTo>
                    <a:pt x="355028" y="832396"/>
                  </a:lnTo>
                  <a:lnTo>
                    <a:pt x="316179" y="774242"/>
                  </a:lnTo>
                  <a:lnTo>
                    <a:pt x="251853" y="647255"/>
                  </a:lnTo>
                  <a:lnTo>
                    <a:pt x="198589" y="531723"/>
                  </a:lnTo>
                  <a:lnTo>
                    <a:pt x="152539" y="416179"/>
                  </a:lnTo>
                  <a:lnTo>
                    <a:pt x="117043" y="306412"/>
                  </a:lnTo>
                  <a:lnTo>
                    <a:pt x="60452" y="127000"/>
                  </a:lnTo>
                  <a:lnTo>
                    <a:pt x="28282" y="0"/>
                  </a:lnTo>
                  <a:lnTo>
                    <a:pt x="14414" y="5715"/>
                  </a:lnTo>
                  <a:lnTo>
                    <a:pt x="46037" y="132740"/>
                  </a:lnTo>
                  <a:lnTo>
                    <a:pt x="103174" y="317881"/>
                  </a:lnTo>
                  <a:lnTo>
                    <a:pt x="141998" y="427659"/>
                  </a:lnTo>
                  <a:lnTo>
                    <a:pt x="188048" y="543204"/>
                  </a:lnTo>
                  <a:lnTo>
                    <a:pt x="241312" y="664476"/>
                  </a:lnTo>
                  <a:lnTo>
                    <a:pt x="305092" y="786460"/>
                  </a:lnTo>
                  <a:lnTo>
                    <a:pt x="344487" y="849617"/>
                  </a:lnTo>
                  <a:lnTo>
                    <a:pt x="383311" y="913485"/>
                  </a:lnTo>
                  <a:lnTo>
                    <a:pt x="426034" y="970889"/>
                  </a:lnTo>
                  <a:lnTo>
                    <a:pt x="464223" y="1028014"/>
                  </a:lnTo>
                  <a:lnTo>
                    <a:pt x="301764" y="1237094"/>
                  </a:lnTo>
                  <a:lnTo>
                    <a:pt x="152539" y="1427988"/>
                  </a:lnTo>
                  <a:lnTo>
                    <a:pt x="63779" y="1543507"/>
                  </a:lnTo>
                  <a:lnTo>
                    <a:pt x="17754" y="1606664"/>
                  </a:lnTo>
                  <a:lnTo>
                    <a:pt x="0" y="1629613"/>
                  </a:lnTo>
                  <a:lnTo>
                    <a:pt x="0" y="1641817"/>
                  </a:lnTo>
                  <a:lnTo>
                    <a:pt x="7213" y="1647558"/>
                  </a:lnTo>
                  <a:lnTo>
                    <a:pt x="24955" y="1623872"/>
                  </a:lnTo>
                  <a:lnTo>
                    <a:pt x="71005" y="1566456"/>
                  </a:lnTo>
                  <a:lnTo>
                    <a:pt x="159766" y="1450936"/>
                  </a:lnTo>
                  <a:lnTo>
                    <a:pt x="308991" y="1260081"/>
                  </a:lnTo>
                  <a:lnTo>
                    <a:pt x="476338" y="1043597"/>
                  </a:lnTo>
                  <a:lnTo>
                    <a:pt x="518096" y="1092161"/>
                  </a:lnTo>
                  <a:lnTo>
                    <a:pt x="571360" y="1150277"/>
                  </a:lnTo>
                  <a:lnTo>
                    <a:pt x="685076" y="1260081"/>
                  </a:lnTo>
                  <a:lnTo>
                    <a:pt x="745540" y="1311732"/>
                  </a:lnTo>
                  <a:lnTo>
                    <a:pt x="813219" y="1358366"/>
                  </a:lnTo>
                  <a:lnTo>
                    <a:pt x="884212" y="1404302"/>
                  </a:lnTo>
                  <a:lnTo>
                    <a:pt x="955217" y="1445183"/>
                  </a:lnTo>
                  <a:lnTo>
                    <a:pt x="1033437" y="1485392"/>
                  </a:lnTo>
                  <a:lnTo>
                    <a:pt x="1203744" y="1554988"/>
                  </a:lnTo>
                  <a:lnTo>
                    <a:pt x="1295831" y="1577962"/>
                  </a:lnTo>
                  <a:lnTo>
                    <a:pt x="1295831" y="1554988"/>
                  </a:lnTo>
                  <a:lnTo>
                    <a:pt x="1122197" y="1496872"/>
                  </a:lnTo>
                  <a:lnTo>
                    <a:pt x="1040091" y="1462417"/>
                  </a:lnTo>
                  <a:lnTo>
                    <a:pt x="962444" y="1422234"/>
                  </a:lnTo>
                  <a:lnTo>
                    <a:pt x="887539" y="1381353"/>
                  </a:lnTo>
                  <a:lnTo>
                    <a:pt x="752754" y="1288783"/>
                  </a:lnTo>
                  <a:lnTo>
                    <a:pt x="631812" y="1184706"/>
                  </a:lnTo>
                  <a:lnTo>
                    <a:pt x="525310" y="1069187"/>
                  </a:lnTo>
                  <a:lnTo>
                    <a:pt x="490397" y="1025398"/>
                  </a:lnTo>
                  <a:lnTo>
                    <a:pt x="532536" y="970889"/>
                  </a:lnTo>
                  <a:lnTo>
                    <a:pt x="865378" y="541642"/>
                  </a:lnTo>
                  <a:lnTo>
                    <a:pt x="905306" y="601319"/>
                  </a:lnTo>
                  <a:lnTo>
                    <a:pt x="944702" y="664476"/>
                  </a:lnTo>
                  <a:lnTo>
                    <a:pt x="983526" y="728345"/>
                  </a:lnTo>
                  <a:lnTo>
                    <a:pt x="1054531" y="861098"/>
                  </a:lnTo>
                  <a:lnTo>
                    <a:pt x="1114983" y="988085"/>
                  </a:lnTo>
                  <a:lnTo>
                    <a:pt x="1168247" y="1115822"/>
                  </a:lnTo>
                  <a:lnTo>
                    <a:pt x="1214285" y="1231379"/>
                  </a:lnTo>
                  <a:lnTo>
                    <a:pt x="1278077" y="1422234"/>
                  </a:lnTo>
                  <a:lnTo>
                    <a:pt x="1313573" y="1543507"/>
                  </a:lnTo>
                  <a:lnTo>
                    <a:pt x="1327988" y="1532039"/>
                  </a:lnTo>
                  <a:close/>
                </a:path>
              </a:pathLst>
            </a:custGeom>
            <a:solidFill>
              <a:srgbClr val="1F1A17"/>
            </a:solidFill>
          </p:spPr>
          <p:txBody>
            <a:bodyPr wrap="square" lIns="0" tIns="0" rIns="0" bIns="0" rtlCol="0"/>
            <a:lstStyle/>
            <a:p>
              <a:endParaRPr/>
            </a:p>
          </p:txBody>
        </p:sp>
        <p:pic>
          <p:nvPicPr>
            <p:cNvPr id="67" name="object 67"/>
            <p:cNvPicPr/>
            <p:nvPr/>
          </p:nvPicPr>
          <p:blipFill>
            <a:blip r:embed="rId10" cstate="print"/>
            <a:stretch>
              <a:fillRect/>
            </a:stretch>
          </p:blipFill>
          <p:spPr>
            <a:xfrm>
              <a:off x="3621785" y="3657600"/>
              <a:ext cx="3160014" cy="2984754"/>
            </a:xfrm>
            <a:prstGeom prst="rect">
              <a:avLst/>
            </a:prstGeom>
          </p:spPr>
        </p:pic>
        <p:sp>
          <p:nvSpPr>
            <p:cNvPr id="68" name="object 68"/>
            <p:cNvSpPr/>
            <p:nvPr/>
          </p:nvSpPr>
          <p:spPr>
            <a:xfrm>
              <a:off x="6762750" y="5715000"/>
              <a:ext cx="171450" cy="762000"/>
            </a:xfrm>
            <a:custGeom>
              <a:avLst/>
              <a:gdLst/>
              <a:ahLst/>
              <a:cxnLst/>
              <a:rect l="l" t="t" r="r" b="b"/>
              <a:pathLst>
                <a:path w="171450" h="762000">
                  <a:moveTo>
                    <a:pt x="171450" y="0"/>
                  </a:moveTo>
                  <a:lnTo>
                    <a:pt x="0" y="0"/>
                  </a:lnTo>
                  <a:lnTo>
                    <a:pt x="0" y="762000"/>
                  </a:lnTo>
                  <a:lnTo>
                    <a:pt x="171450" y="762000"/>
                  </a:lnTo>
                  <a:lnTo>
                    <a:pt x="171450" y="0"/>
                  </a:lnTo>
                  <a:close/>
                </a:path>
              </a:pathLst>
            </a:custGeom>
            <a:solidFill>
              <a:srgbClr val="FFFFFF"/>
            </a:solidFill>
          </p:spPr>
          <p:txBody>
            <a:bodyPr wrap="square" lIns="0" tIns="0" rIns="0" bIns="0" rtlCol="0"/>
            <a:lstStyle/>
            <a:p>
              <a:endParaRPr/>
            </a:p>
          </p:txBody>
        </p:sp>
      </p:grpSp>
      <p:grpSp>
        <p:nvGrpSpPr>
          <p:cNvPr id="69" name="object 69"/>
          <p:cNvGrpSpPr/>
          <p:nvPr/>
        </p:nvGrpSpPr>
        <p:grpSpPr>
          <a:xfrm>
            <a:off x="418175" y="4383795"/>
            <a:ext cx="465455" cy="1962150"/>
            <a:chOff x="418175" y="4383795"/>
            <a:chExt cx="465455" cy="1962150"/>
          </a:xfrm>
        </p:grpSpPr>
        <p:pic>
          <p:nvPicPr>
            <p:cNvPr id="70" name="object 70"/>
            <p:cNvPicPr/>
            <p:nvPr/>
          </p:nvPicPr>
          <p:blipFill>
            <a:blip r:embed="rId11" cstate="print"/>
            <a:stretch>
              <a:fillRect/>
            </a:stretch>
          </p:blipFill>
          <p:spPr>
            <a:xfrm>
              <a:off x="511707" y="4411658"/>
              <a:ext cx="284197" cy="158616"/>
            </a:xfrm>
            <a:prstGeom prst="rect">
              <a:avLst/>
            </a:prstGeom>
          </p:spPr>
        </p:pic>
        <p:sp>
          <p:nvSpPr>
            <p:cNvPr id="71" name="object 71"/>
            <p:cNvSpPr/>
            <p:nvPr/>
          </p:nvSpPr>
          <p:spPr>
            <a:xfrm>
              <a:off x="418172" y="6057302"/>
              <a:ext cx="394970" cy="288925"/>
            </a:xfrm>
            <a:custGeom>
              <a:avLst/>
              <a:gdLst/>
              <a:ahLst/>
              <a:cxnLst/>
              <a:rect l="l" t="t" r="r" b="b"/>
              <a:pathLst>
                <a:path w="394969" h="288925">
                  <a:moveTo>
                    <a:pt x="394817" y="164007"/>
                  </a:moveTo>
                  <a:lnTo>
                    <a:pt x="325551" y="73494"/>
                  </a:lnTo>
                  <a:lnTo>
                    <a:pt x="318757" y="63601"/>
                  </a:lnTo>
                  <a:lnTo>
                    <a:pt x="318757" y="99529"/>
                  </a:lnTo>
                  <a:lnTo>
                    <a:pt x="317550" y="99809"/>
                  </a:lnTo>
                  <a:lnTo>
                    <a:pt x="318135" y="98729"/>
                  </a:lnTo>
                  <a:lnTo>
                    <a:pt x="318757" y="99529"/>
                  </a:lnTo>
                  <a:lnTo>
                    <a:pt x="318757" y="63601"/>
                  </a:lnTo>
                  <a:lnTo>
                    <a:pt x="313867" y="56464"/>
                  </a:lnTo>
                  <a:lnTo>
                    <a:pt x="307568" y="73494"/>
                  </a:lnTo>
                  <a:lnTo>
                    <a:pt x="250012" y="170205"/>
                  </a:lnTo>
                  <a:lnTo>
                    <a:pt x="273392" y="181038"/>
                  </a:lnTo>
                  <a:lnTo>
                    <a:pt x="301142" y="129997"/>
                  </a:lnTo>
                  <a:lnTo>
                    <a:pt x="296773" y="153174"/>
                  </a:lnTo>
                  <a:lnTo>
                    <a:pt x="278790" y="181038"/>
                  </a:lnTo>
                  <a:lnTo>
                    <a:pt x="261708" y="209651"/>
                  </a:lnTo>
                  <a:lnTo>
                    <a:pt x="238315" y="237515"/>
                  </a:lnTo>
                  <a:lnTo>
                    <a:pt x="209550" y="254533"/>
                  </a:lnTo>
                  <a:lnTo>
                    <a:pt x="179870" y="266141"/>
                  </a:lnTo>
                  <a:lnTo>
                    <a:pt x="145694" y="266141"/>
                  </a:lnTo>
                  <a:lnTo>
                    <a:pt x="87236" y="237515"/>
                  </a:lnTo>
                  <a:lnTo>
                    <a:pt x="29679" y="175615"/>
                  </a:lnTo>
                  <a:lnTo>
                    <a:pt x="23380" y="146989"/>
                  </a:lnTo>
                  <a:lnTo>
                    <a:pt x="23380" y="96697"/>
                  </a:lnTo>
                  <a:lnTo>
                    <a:pt x="46761" y="56464"/>
                  </a:lnTo>
                  <a:lnTo>
                    <a:pt x="98920" y="28613"/>
                  </a:lnTo>
                  <a:lnTo>
                    <a:pt x="133997" y="23202"/>
                  </a:lnTo>
                  <a:lnTo>
                    <a:pt x="179870" y="28613"/>
                  </a:lnTo>
                  <a:lnTo>
                    <a:pt x="232918" y="40220"/>
                  </a:lnTo>
                  <a:lnTo>
                    <a:pt x="296773" y="56464"/>
                  </a:lnTo>
                  <a:lnTo>
                    <a:pt x="302171" y="34036"/>
                  </a:lnTo>
                  <a:lnTo>
                    <a:pt x="238315" y="17018"/>
                  </a:lnTo>
                  <a:lnTo>
                    <a:pt x="186156" y="0"/>
                  </a:lnTo>
                  <a:lnTo>
                    <a:pt x="133997" y="0"/>
                  </a:lnTo>
                  <a:lnTo>
                    <a:pt x="93522" y="6172"/>
                  </a:lnTo>
                  <a:lnTo>
                    <a:pt x="29679" y="40220"/>
                  </a:lnTo>
                  <a:lnTo>
                    <a:pt x="0" y="90512"/>
                  </a:lnTo>
                  <a:lnTo>
                    <a:pt x="0" y="153174"/>
                  </a:lnTo>
                  <a:lnTo>
                    <a:pt x="23380" y="209651"/>
                  </a:lnTo>
                  <a:lnTo>
                    <a:pt x="75539" y="260718"/>
                  </a:lnTo>
                  <a:lnTo>
                    <a:pt x="145694" y="288569"/>
                  </a:lnTo>
                  <a:lnTo>
                    <a:pt x="179870" y="288569"/>
                  </a:lnTo>
                  <a:lnTo>
                    <a:pt x="221234" y="277736"/>
                  </a:lnTo>
                  <a:lnTo>
                    <a:pt x="278790" y="226682"/>
                  </a:lnTo>
                  <a:lnTo>
                    <a:pt x="319265" y="164007"/>
                  </a:lnTo>
                  <a:lnTo>
                    <a:pt x="328447" y="112052"/>
                  </a:lnTo>
                  <a:lnTo>
                    <a:pt x="377723" y="175615"/>
                  </a:lnTo>
                  <a:lnTo>
                    <a:pt x="383120" y="170205"/>
                  </a:lnTo>
                  <a:lnTo>
                    <a:pt x="394817" y="164007"/>
                  </a:lnTo>
                  <a:close/>
                </a:path>
              </a:pathLst>
            </a:custGeom>
            <a:solidFill>
              <a:srgbClr val="1F1A17"/>
            </a:solidFill>
          </p:spPr>
          <p:txBody>
            <a:bodyPr wrap="square" lIns="0" tIns="0" rIns="0" bIns="0" rtlCol="0"/>
            <a:lstStyle/>
            <a:p>
              <a:endParaRPr/>
            </a:p>
          </p:txBody>
        </p:sp>
        <p:sp>
          <p:nvSpPr>
            <p:cNvPr id="72" name="object 72"/>
            <p:cNvSpPr/>
            <p:nvPr/>
          </p:nvSpPr>
          <p:spPr>
            <a:xfrm>
              <a:off x="696970" y="6085911"/>
              <a:ext cx="35560" cy="34290"/>
            </a:xfrm>
            <a:custGeom>
              <a:avLst/>
              <a:gdLst/>
              <a:ahLst/>
              <a:cxnLst/>
              <a:rect l="l" t="t" r="r" b="b"/>
              <a:pathLst>
                <a:path w="35559" h="34289">
                  <a:moveTo>
                    <a:pt x="28777" y="0"/>
                  </a:moveTo>
                  <a:lnTo>
                    <a:pt x="11692" y="0"/>
                  </a:lnTo>
                  <a:lnTo>
                    <a:pt x="0" y="5416"/>
                  </a:lnTo>
                  <a:lnTo>
                    <a:pt x="0" y="22439"/>
                  </a:lnTo>
                  <a:lnTo>
                    <a:pt x="6294" y="27852"/>
                  </a:lnTo>
                  <a:lnTo>
                    <a:pt x="23384" y="34041"/>
                  </a:lnTo>
                  <a:lnTo>
                    <a:pt x="35076" y="22439"/>
                  </a:lnTo>
                  <a:lnTo>
                    <a:pt x="35076" y="11605"/>
                  </a:lnTo>
                  <a:lnTo>
                    <a:pt x="28777" y="0"/>
                  </a:lnTo>
                  <a:close/>
                </a:path>
              </a:pathLst>
            </a:custGeom>
            <a:solidFill>
              <a:srgbClr val="1F1A17"/>
            </a:solidFill>
          </p:spPr>
          <p:txBody>
            <a:bodyPr wrap="square" lIns="0" tIns="0" rIns="0" bIns="0" rtlCol="0"/>
            <a:lstStyle/>
            <a:p>
              <a:endParaRPr/>
            </a:p>
          </p:txBody>
        </p:sp>
        <p:sp>
          <p:nvSpPr>
            <p:cNvPr id="73" name="object 73"/>
            <p:cNvSpPr/>
            <p:nvPr/>
          </p:nvSpPr>
          <p:spPr>
            <a:xfrm>
              <a:off x="709559" y="6096744"/>
              <a:ext cx="35560" cy="34290"/>
            </a:xfrm>
            <a:custGeom>
              <a:avLst/>
              <a:gdLst/>
              <a:ahLst/>
              <a:cxnLst/>
              <a:rect l="l" t="t" r="r" b="b"/>
              <a:pathLst>
                <a:path w="35559" h="34289">
                  <a:moveTo>
                    <a:pt x="0" y="22435"/>
                  </a:moveTo>
                  <a:lnTo>
                    <a:pt x="0" y="5416"/>
                  </a:lnTo>
                  <a:lnTo>
                    <a:pt x="11692" y="0"/>
                  </a:lnTo>
                  <a:lnTo>
                    <a:pt x="28781" y="0"/>
                  </a:lnTo>
                  <a:lnTo>
                    <a:pt x="35076" y="11605"/>
                  </a:lnTo>
                  <a:lnTo>
                    <a:pt x="35076" y="22435"/>
                  </a:lnTo>
                  <a:lnTo>
                    <a:pt x="23384" y="34041"/>
                  </a:lnTo>
                  <a:lnTo>
                    <a:pt x="6298" y="27852"/>
                  </a:lnTo>
                  <a:lnTo>
                    <a:pt x="0" y="22435"/>
                  </a:lnTo>
                </a:path>
              </a:pathLst>
            </a:custGeom>
            <a:ln w="5011">
              <a:solidFill>
                <a:srgbClr val="1F1A17"/>
              </a:solidFill>
            </a:ln>
          </p:spPr>
          <p:txBody>
            <a:bodyPr wrap="square" lIns="0" tIns="0" rIns="0" bIns="0" rtlCol="0"/>
            <a:lstStyle/>
            <a:p>
              <a:endParaRPr/>
            </a:p>
          </p:txBody>
        </p:sp>
        <p:pic>
          <p:nvPicPr>
            <p:cNvPr id="74" name="object 74"/>
            <p:cNvPicPr/>
            <p:nvPr/>
          </p:nvPicPr>
          <p:blipFill>
            <a:blip r:embed="rId12" cstate="print"/>
            <a:stretch>
              <a:fillRect/>
            </a:stretch>
          </p:blipFill>
          <p:spPr>
            <a:xfrm>
              <a:off x="749132" y="4383795"/>
              <a:ext cx="134009" cy="124583"/>
            </a:xfrm>
            <a:prstGeom prst="rect">
              <a:avLst/>
            </a:prstGeom>
          </p:spPr>
        </p:pic>
      </p:grpSp>
      <p:grpSp>
        <p:nvGrpSpPr>
          <p:cNvPr id="75" name="object 75"/>
          <p:cNvGrpSpPr/>
          <p:nvPr/>
        </p:nvGrpSpPr>
        <p:grpSpPr>
          <a:xfrm>
            <a:off x="2613466" y="4247634"/>
            <a:ext cx="279400" cy="158750"/>
            <a:chOff x="2613466" y="4247634"/>
            <a:chExt cx="279400" cy="158750"/>
          </a:xfrm>
        </p:grpSpPr>
        <p:pic>
          <p:nvPicPr>
            <p:cNvPr id="76" name="object 76"/>
            <p:cNvPicPr/>
            <p:nvPr/>
          </p:nvPicPr>
          <p:blipFill>
            <a:blip r:embed="rId13" cstate="print"/>
            <a:stretch>
              <a:fillRect/>
            </a:stretch>
          </p:blipFill>
          <p:spPr>
            <a:xfrm>
              <a:off x="2613466" y="4281698"/>
              <a:ext cx="139403" cy="124552"/>
            </a:xfrm>
            <a:prstGeom prst="rect">
              <a:avLst/>
            </a:prstGeom>
          </p:spPr>
        </p:pic>
        <p:pic>
          <p:nvPicPr>
            <p:cNvPr id="77" name="object 77"/>
            <p:cNvPicPr/>
            <p:nvPr/>
          </p:nvPicPr>
          <p:blipFill>
            <a:blip r:embed="rId14" cstate="print"/>
            <a:stretch>
              <a:fillRect/>
            </a:stretch>
          </p:blipFill>
          <p:spPr>
            <a:xfrm>
              <a:off x="2758259" y="4247634"/>
              <a:ext cx="134013" cy="124583"/>
            </a:xfrm>
            <a:prstGeom prst="rect">
              <a:avLst/>
            </a:prstGeom>
          </p:spPr>
        </p:pic>
      </p:grpSp>
      <p:grpSp>
        <p:nvGrpSpPr>
          <p:cNvPr id="78" name="object 78"/>
          <p:cNvGrpSpPr/>
          <p:nvPr/>
        </p:nvGrpSpPr>
        <p:grpSpPr>
          <a:xfrm>
            <a:off x="436161" y="4100627"/>
            <a:ext cx="2630170" cy="588645"/>
            <a:chOff x="436161" y="4100627"/>
            <a:chExt cx="2630170" cy="588645"/>
          </a:xfrm>
        </p:grpSpPr>
        <p:sp>
          <p:nvSpPr>
            <p:cNvPr id="79" name="object 79"/>
            <p:cNvSpPr/>
            <p:nvPr/>
          </p:nvSpPr>
          <p:spPr>
            <a:xfrm>
              <a:off x="436156" y="4270857"/>
              <a:ext cx="336550" cy="277495"/>
            </a:xfrm>
            <a:custGeom>
              <a:avLst/>
              <a:gdLst/>
              <a:ahLst/>
              <a:cxnLst/>
              <a:rect l="l" t="t" r="r" b="b"/>
              <a:pathLst>
                <a:path w="336550" h="277495">
                  <a:moveTo>
                    <a:pt x="336334" y="123786"/>
                  </a:moveTo>
                  <a:lnTo>
                    <a:pt x="330949" y="106768"/>
                  </a:lnTo>
                  <a:lnTo>
                    <a:pt x="319265" y="101371"/>
                  </a:lnTo>
                  <a:lnTo>
                    <a:pt x="318249" y="101841"/>
                  </a:lnTo>
                  <a:lnTo>
                    <a:pt x="278790" y="67297"/>
                  </a:lnTo>
                  <a:lnTo>
                    <a:pt x="232029" y="39471"/>
                  </a:lnTo>
                  <a:lnTo>
                    <a:pt x="191566" y="16256"/>
                  </a:lnTo>
                  <a:lnTo>
                    <a:pt x="151091" y="5410"/>
                  </a:lnTo>
                  <a:lnTo>
                    <a:pt x="109715" y="0"/>
                  </a:lnTo>
                  <a:lnTo>
                    <a:pt x="80937" y="10845"/>
                  </a:lnTo>
                  <a:lnTo>
                    <a:pt x="28778" y="44881"/>
                  </a:lnTo>
                  <a:lnTo>
                    <a:pt x="5397" y="101371"/>
                  </a:lnTo>
                  <a:lnTo>
                    <a:pt x="0" y="129997"/>
                  </a:lnTo>
                  <a:lnTo>
                    <a:pt x="0" y="164020"/>
                  </a:lnTo>
                  <a:lnTo>
                    <a:pt x="11696" y="197294"/>
                  </a:lnTo>
                  <a:lnTo>
                    <a:pt x="23380" y="225920"/>
                  </a:lnTo>
                  <a:lnTo>
                    <a:pt x="45872" y="253784"/>
                  </a:lnTo>
                  <a:lnTo>
                    <a:pt x="75539" y="276974"/>
                  </a:lnTo>
                  <a:lnTo>
                    <a:pt x="92633" y="259956"/>
                  </a:lnTo>
                  <a:lnTo>
                    <a:pt x="63855" y="237528"/>
                  </a:lnTo>
                  <a:lnTo>
                    <a:pt x="45872" y="214312"/>
                  </a:lnTo>
                  <a:lnTo>
                    <a:pt x="28778" y="186448"/>
                  </a:lnTo>
                  <a:lnTo>
                    <a:pt x="23380" y="157822"/>
                  </a:lnTo>
                  <a:lnTo>
                    <a:pt x="23380" y="129997"/>
                  </a:lnTo>
                  <a:lnTo>
                    <a:pt x="28778" y="106768"/>
                  </a:lnTo>
                  <a:lnTo>
                    <a:pt x="34175" y="78917"/>
                  </a:lnTo>
                  <a:lnTo>
                    <a:pt x="45872" y="61899"/>
                  </a:lnTo>
                  <a:lnTo>
                    <a:pt x="63855" y="44881"/>
                  </a:lnTo>
                  <a:lnTo>
                    <a:pt x="87236" y="33274"/>
                  </a:lnTo>
                  <a:lnTo>
                    <a:pt x="116014" y="27863"/>
                  </a:lnTo>
                  <a:lnTo>
                    <a:pt x="144792" y="27863"/>
                  </a:lnTo>
                  <a:lnTo>
                    <a:pt x="179870" y="39471"/>
                  </a:lnTo>
                  <a:lnTo>
                    <a:pt x="220332" y="56489"/>
                  </a:lnTo>
                  <a:lnTo>
                    <a:pt x="267106" y="90525"/>
                  </a:lnTo>
                  <a:lnTo>
                    <a:pt x="297548" y="116738"/>
                  </a:lnTo>
                  <a:lnTo>
                    <a:pt x="295884" y="118389"/>
                  </a:lnTo>
                  <a:lnTo>
                    <a:pt x="301282" y="129997"/>
                  </a:lnTo>
                  <a:lnTo>
                    <a:pt x="312966" y="135394"/>
                  </a:lnTo>
                  <a:lnTo>
                    <a:pt x="330949" y="135394"/>
                  </a:lnTo>
                  <a:lnTo>
                    <a:pt x="336334" y="123786"/>
                  </a:lnTo>
                  <a:close/>
                </a:path>
              </a:pathLst>
            </a:custGeom>
            <a:solidFill>
              <a:srgbClr val="1F1A17"/>
            </a:solidFill>
          </p:spPr>
          <p:txBody>
            <a:bodyPr wrap="square" lIns="0" tIns="0" rIns="0" bIns="0" rtlCol="0"/>
            <a:lstStyle/>
            <a:p>
              <a:endParaRPr/>
            </a:p>
          </p:txBody>
        </p:sp>
        <p:sp>
          <p:nvSpPr>
            <p:cNvPr id="80" name="object 80"/>
            <p:cNvSpPr/>
            <p:nvPr/>
          </p:nvSpPr>
          <p:spPr>
            <a:xfrm>
              <a:off x="744636" y="4383032"/>
              <a:ext cx="40640" cy="34290"/>
            </a:xfrm>
            <a:custGeom>
              <a:avLst/>
              <a:gdLst/>
              <a:ahLst/>
              <a:cxnLst/>
              <a:rect l="l" t="t" r="r" b="b"/>
              <a:pathLst>
                <a:path w="40640" h="34289">
                  <a:moveTo>
                    <a:pt x="0" y="17016"/>
                  </a:moveTo>
                  <a:lnTo>
                    <a:pt x="11692" y="5407"/>
                  </a:lnTo>
                  <a:lnTo>
                    <a:pt x="23395" y="0"/>
                  </a:lnTo>
                  <a:lnTo>
                    <a:pt x="35061" y="5407"/>
                  </a:lnTo>
                  <a:lnTo>
                    <a:pt x="40488" y="22455"/>
                  </a:lnTo>
                  <a:lnTo>
                    <a:pt x="35061" y="34032"/>
                  </a:lnTo>
                  <a:lnTo>
                    <a:pt x="17082" y="34032"/>
                  </a:lnTo>
                  <a:lnTo>
                    <a:pt x="5397" y="28625"/>
                  </a:lnTo>
                  <a:lnTo>
                    <a:pt x="0" y="17016"/>
                  </a:lnTo>
                </a:path>
              </a:pathLst>
            </a:custGeom>
            <a:ln w="4958">
              <a:solidFill>
                <a:srgbClr val="1F1A17"/>
              </a:solidFill>
            </a:ln>
          </p:spPr>
          <p:txBody>
            <a:bodyPr wrap="square" lIns="0" tIns="0" rIns="0" bIns="0" rtlCol="0"/>
            <a:lstStyle/>
            <a:p>
              <a:endParaRPr/>
            </a:p>
          </p:txBody>
        </p:sp>
        <p:sp>
          <p:nvSpPr>
            <p:cNvPr id="81" name="object 81"/>
            <p:cNvSpPr/>
            <p:nvPr/>
          </p:nvSpPr>
          <p:spPr>
            <a:xfrm>
              <a:off x="778802" y="4100639"/>
              <a:ext cx="2287270" cy="588645"/>
            </a:xfrm>
            <a:custGeom>
              <a:avLst/>
              <a:gdLst/>
              <a:ahLst/>
              <a:cxnLst/>
              <a:rect l="l" t="t" r="r" b="b"/>
              <a:pathLst>
                <a:path w="2287270" h="588645">
                  <a:moveTo>
                    <a:pt x="1927288" y="322630"/>
                  </a:moveTo>
                  <a:lnTo>
                    <a:pt x="1915579" y="300215"/>
                  </a:lnTo>
                  <a:lnTo>
                    <a:pt x="1822958" y="350494"/>
                  </a:lnTo>
                  <a:lnTo>
                    <a:pt x="1724050" y="390728"/>
                  </a:lnTo>
                  <a:lnTo>
                    <a:pt x="1631391" y="430174"/>
                  </a:lnTo>
                  <a:lnTo>
                    <a:pt x="1537868" y="464235"/>
                  </a:lnTo>
                  <a:lnTo>
                    <a:pt x="1277086" y="531533"/>
                  </a:lnTo>
                  <a:lnTo>
                    <a:pt x="1196124" y="543140"/>
                  </a:lnTo>
                  <a:lnTo>
                    <a:pt x="1120584" y="554748"/>
                  </a:lnTo>
                  <a:lnTo>
                    <a:pt x="1038733" y="560158"/>
                  </a:lnTo>
                  <a:lnTo>
                    <a:pt x="969479" y="565569"/>
                  </a:lnTo>
                  <a:lnTo>
                    <a:pt x="893940" y="565569"/>
                  </a:lnTo>
                  <a:lnTo>
                    <a:pt x="759929" y="554748"/>
                  </a:lnTo>
                  <a:lnTo>
                    <a:pt x="632231" y="537705"/>
                  </a:lnTo>
                  <a:lnTo>
                    <a:pt x="516229" y="514515"/>
                  </a:lnTo>
                  <a:lnTo>
                    <a:pt x="411899" y="486651"/>
                  </a:lnTo>
                  <a:lnTo>
                    <a:pt x="319278" y="452628"/>
                  </a:lnTo>
                  <a:lnTo>
                    <a:pt x="237426" y="418566"/>
                  </a:lnTo>
                  <a:lnTo>
                    <a:pt x="98018" y="350494"/>
                  </a:lnTo>
                  <a:lnTo>
                    <a:pt x="11709" y="300215"/>
                  </a:lnTo>
                  <a:lnTo>
                    <a:pt x="0" y="322630"/>
                  </a:lnTo>
                  <a:lnTo>
                    <a:pt x="92633" y="367512"/>
                  </a:lnTo>
                  <a:lnTo>
                    <a:pt x="225717" y="435571"/>
                  </a:lnTo>
                  <a:lnTo>
                    <a:pt x="307568" y="475043"/>
                  </a:lnTo>
                  <a:lnTo>
                    <a:pt x="406514" y="509079"/>
                  </a:lnTo>
                  <a:lnTo>
                    <a:pt x="510844" y="537705"/>
                  </a:lnTo>
                  <a:lnTo>
                    <a:pt x="626833" y="560158"/>
                  </a:lnTo>
                  <a:lnTo>
                    <a:pt x="754545" y="582587"/>
                  </a:lnTo>
                  <a:lnTo>
                    <a:pt x="893940" y="588022"/>
                  </a:lnTo>
                  <a:lnTo>
                    <a:pt x="969479" y="588022"/>
                  </a:lnTo>
                  <a:lnTo>
                    <a:pt x="1120584" y="577176"/>
                  </a:lnTo>
                  <a:lnTo>
                    <a:pt x="1201508" y="565569"/>
                  </a:lnTo>
                  <a:lnTo>
                    <a:pt x="1282471" y="554748"/>
                  </a:lnTo>
                  <a:lnTo>
                    <a:pt x="1369707" y="531533"/>
                  </a:lnTo>
                  <a:lnTo>
                    <a:pt x="1456944" y="509079"/>
                  </a:lnTo>
                  <a:lnTo>
                    <a:pt x="1544180" y="481253"/>
                  </a:lnTo>
                  <a:lnTo>
                    <a:pt x="1636814" y="452628"/>
                  </a:lnTo>
                  <a:lnTo>
                    <a:pt x="1735721" y="413156"/>
                  </a:lnTo>
                  <a:lnTo>
                    <a:pt x="1828342" y="367512"/>
                  </a:lnTo>
                  <a:lnTo>
                    <a:pt x="1927288" y="322630"/>
                  </a:lnTo>
                  <a:close/>
                </a:path>
                <a:path w="2287270" h="588645">
                  <a:moveTo>
                    <a:pt x="1938985" y="266141"/>
                  </a:moveTo>
                  <a:lnTo>
                    <a:pt x="1851748" y="220510"/>
                  </a:lnTo>
                  <a:lnTo>
                    <a:pt x="1706956" y="158610"/>
                  </a:lnTo>
                  <a:lnTo>
                    <a:pt x="1608010" y="119176"/>
                  </a:lnTo>
                  <a:lnTo>
                    <a:pt x="1503680" y="85102"/>
                  </a:lnTo>
                  <a:lnTo>
                    <a:pt x="1387690" y="56476"/>
                  </a:lnTo>
                  <a:lnTo>
                    <a:pt x="1259992" y="28625"/>
                  </a:lnTo>
                  <a:lnTo>
                    <a:pt x="1120584" y="11607"/>
                  </a:lnTo>
                  <a:lnTo>
                    <a:pt x="981176" y="6197"/>
                  </a:lnTo>
                  <a:lnTo>
                    <a:pt x="911034" y="0"/>
                  </a:lnTo>
                  <a:lnTo>
                    <a:pt x="835494" y="6197"/>
                  </a:lnTo>
                  <a:lnTo>
                    <a:pt x="759929" y="11607"/>
                  </a:lnTo>
                  <a:lnTo>
                    <a:pt x="684390" y="23215"/>
                  </a:lnTo>
                  <a:lnTo>
                    <a:pt x="608863" y="34061"/>
                  </a:lnTo>
                  <a:lnTo>
                    <a:pt x="527900" y="56476"/>
                  </a:lnTo>
                  <a:lnTo>
                    <a:pt x="452361" y="79705"/>
                  </a:lnTo>
                  <a:lnTo>
                    <a:pt x="371436" y="102120"/>
                  </a:lnTo>
                  <a:lnTo>
                    <a:pt x="295897" y="136182"/>
                  </a:lnTo>
                  <a:lnTo>
                    <a:pt x="214058" y="175628"/>
                  </a:lnTo>
                  <a:lnTo>
                    <a:pt x="139407" y="215099"/>
                  </a:lnTo>
                  <a:lnTo>
                    <a:pt x="63868" y="266141"/>
                  </a:lnTo>
                  <a:lnTo>
                    <a:pt x="75539" y="283159"/>
                  </a:lnTo>
                  <a:lnTo>
                    <a:pt x="150190" y="237515"/>
                  </a:lnTo>
                  <a:lnTo>
                    <a:pt x="225717" y="192646"/>
                  </a:lnTo>
                  <a:lnTo>
                    <a:pt x="307568" y="158610"/>
                  </a:lnTo>
                  <a:lnTo>
                    <a:pt x="383108" y="124574"/>
                  </a:lnTo>
                  <a:lnTo>
                    <a:pt x="534212" y="79705"/>
                  </a:lnTo>
                  <a:lnTo>
                    <a:pt x="608863" y="56476"/>
                  </a:lnTo>
                  <a:lnTo>
                    <a:pt x="684390" y="45669"/>
                  </a:lnTo>
                  <a:lnTo>
                    <a:pt x="759929" y="34061"/>
                  </a:lnTo>
                  <a:lnTo>
                    <a:pt x="835494" y="28625"/>
                  </a:lnTo>
                  <a:lnTo>
                    <a:pt x="981176" y="28625"/>
                  </a:lnTo>
                  <a:lnTo>
                    <a:pt x="1120584" y="34061"/>
                  </a:lnTo>
                  <a:lnTo>
                    <a:pt x="1253680" y="51079"/>
                  </a:lnTo>
                  <a:lnTo>
                    <a:pt x="1381379" y="79705"/>
                  </a:lnTo>
                  <a:lnTo>
                    <a:pt x="1497406" y="107556"/>
                  </a:lnTo>
                  <a:lnTo>
                    <a:pt x="1601736" y="141592"/>
                  </a:lnTo>
                  <a:lnTo>
                    <a:pt x="1695259" y="175628"/>
                  </a:lnTo>
                  <a:lnTo>
                    <a:pt x="1846364" y="243725"/>
                  </a:lnTo>
                  <a:lnTo>
                    <a:pt x="1927288" y="288607"/>
                  </a:lnTo>
                  <a:lnTo>
                    <a:pt x="1938985" y="266141"/>
                  </a:lnTo>
                  <a:close/>
                </a:path>
                <a:path w="2287270" h="588645">
                  <a:moveTo>
                    <a:pt x="2287016" y="311023"/>
                  </a:moveTo>
                  <a:lnTo>
                    <a:pt x="2252827" y="243725"/>
                  </a:lnTo>
                  <a:lnTo>
                    <a:pt x="2217763" y="220510"/>
                  </a:lnTo>
                  <a:lnTo>
                    <a:pt x="2142223" y="203492"/>
                  </a:lnTo>
                  <a:lnTo>
                    <a:pt x="2107146" y="203492"/>
                  </a:lnTo>
                  <a:lnTo>
                    <a:pt x="2066683" y="209689"/>
                  </a:lnTo>
                  <a:lnTo>
                    <a:pt x="2031619" y="220510"/>
                  </a:lnTo>
                  <a:lnTo>
                    <a:pt x="2008212" y="237515"/>
                  </a:lnTo>
                  <a:lnTo>
                    <a:pt x="2019909" y="254533"/>
                  </a:lnTo>
                  <a:lnTo>
                    <a:pt x="2043277" y="243725"/>
                  </a:lnTo>
                  <a:lnTo>
                    <a:pt x="2072081" y="232117"/>
                  </a:lnTo>
                  <a:lnTo>
                    <a:pt x="2107146" y="226707"/>
                  </a:lnTo>
                  <a:lnTo>
                    <a:pt x="2142223" y="226707"/>
                  </a:lnTo>
                  <a:lnTo>
                    <a:pt x="2206091" y="243725"/>
                  </a:lnTo>
                  <a:lnTo>
                    <a:pt x="2252827" y="288607"/>
                  </a:lnTo>
                  <a:lnTo>
                    <a:pt x="2263648" y="317233"/>
                  </a:lnTo>
                  <a:lnTo>
                    <a:pt x="2263648" y="379120"/>
                  </a:lnTo>
                  <a:lnTo>
                    <a:pt x="2241169" y="430174"/>
                  </a:lnTo>
                  <a:lnTo>
                    <a:pt x="2206091" y="469646"/>
                  </a:lnTo>
                  <a:lnTo>
                    <a:pt x="2159317" y="486651"/>
                  </a:lnTo>
                  <a:lnTo>
                    <a:pt x="2130526" y="486651"/>
                  </a:lnTo>
                  <a:lnTo>
                    <a:pt x="2078393" y="458038"/>
                  </a:lnTo>
                  <a:lnTo>
                    <a:pt x="2031619" y="396138"/>
                  </a:lnTo>
                  <a:lnTo>
                    <a:pt x="2008212" y="345059"/>
                  </a:lnTo>
                  <a:lnTo>
                    <a:pt x="1996325" y="305727"/>
                  </a:lnTo>
                  <a:lnTo>
                    <a:pt x="1996541" y="305612"/>
                  </a:lnTo>
                  <a:lnTo>
                    <a:pt x="2002815" y="294005"/>
                  </a:lnTo>
                  <a:lnTo>
                    <a:pt x="1991156" y="283159"/>
                  </a:lnTo>
                  <a:lnTo>
                    <a:pt x="1979447" y="276987"/>
                  </a:lnTo>
                  <a:lnTo>
                    <a:pt x="1967750" y="283159"/>
                  </a:lnTo>
                  <a:lnTo>
                    <a:pt x="1962353" y="294005"/>
                  </a:lnTo>
                  <a:lnTo>
                    <a:pt x="1967750" y="305612"/>
                  </a:lnTo>
                  <a:lnTo>
                    <a:pt x="1972627" y="307086"/>
                  </a:lnTo>
                  <a:lnTo>
                    <a:pt x="1985721" y="356666"/>
                  </a:lnTo>
                  <a:lnTo>
                    <a:pt x="2008212" y="407746"/>
                  </a:lnTo>
                  <a:lnTo>
                    <a:pt x="2037892" y="447192"/>
                  </a:lnTo>
                  <a:lnTo>
                    <a:pt x="2066683" y="475043"/>
                  </a:lnTo>
                  <a:lnTo>
                    <a:pt x="2125129" y="509079"/>
                  </a:lnTo>
                  <a:lnTo>
                    <a:pt x="2159317" y="509079"/>
                  </a:lnTo>
                  <a:lnTo>
                    <a:pt x="2217763" y="486651"/>
                  </a:lnTo>
                  <a:lnTo>
                    <a:pt x="2263648" y="441020"/>
                  </a:lnTo>
                  <a:lnTo>
                    <a:pt x="2287016" y="384530"/>
                  </a:lnTo>
                  <a:lnTo>
                    <a:pt x="2287016" y="311023"/>
                  </a:lnTo>
                  <a:close/>
                </a:path>
              </a:pathLst>
            </a:custGeom>
            <a:solidFill>
              <a:srgbClr val="1F1A17"/>
            </a:solidFill>
          </p:spPr>
          <p:txBody>
            <a:bodyPr wrap="square" lIns="0" tIns="0" rIns="0" bIns="0" rtlCol="0"/>
            <a:lstStyle/>
            <a:p>
              <a:endParaRPr/>
            </a:p>
          </p:txBody>
        </p:sp>
        <p:sp>
          <p:nvSpPr>
            <p:cNvPr id="82" name="object 82"/>
            <p:cNvSpPr/>
            <p:nvPr/>
          </p:nvSpPr>
          <p:spPr>
            <a:xfrm>
              <a:off x="2753755" y="4388439"/>
              <a:ext cx="40640" cy="34290"/>
            </a:xfrm>
            <a:custGeom>
              <a:avLst/>
              <a:gdLst/>
              <a:ahLst/>
              <a:cxnLst/>
              <a:rect l="l" t="t" r="r" b="b"/>
              <a:pathLst>
                <a:path w="40639" h="34289">
                  <a:moveTo>
                    <a:pt x="34186" y="28625"/>
                  </a:moveTo>
                  <a:lnTo>
                    <a:pt x="23369" y="34064"/>
                  </a:lnTo>
                  <a:lnTo>
                    <a:pt x="5390" y="28625"/>
                  </a:lnTo>
                  <a:lnTo>
                    <a:pt x="0" y="17048"/>
                  </a:lnTo>
                  <a:lnTo>
                    <a:pt x="5390" y="6202"/>
                  </a:lnTo>
                  <a:lnTo>
                    <a:pt x="17093" y="0"/>
                  </a:lnTo>
                  <a:lnTo>
                    <a:pt x="28796" y="6202"/>
                  </a:lnTo>
                  <a:lnTo>
                    <a:pt x="40462" y="17048"/>
                  </a:lnTo>
                  <a:lnTo>
                    <a:pt x="34186" y="28625"/>
                  </a:lnTo>
                </a:path>
              </a:pathLst>
            </a:custGeom>
            <a:ln w="4958">
              <a:solidFill>
                <a:srgbClr val="1F1A17"/>
              </a:solidFill>
            </a:ln>
          </p:spPr>
          <p:txBody>
            <a:bodyPr wrap="square" lIns="0" tIns="0" rIns="0" bIns="0" rtlCol="0"/>
            <a:lstStyle/>
            <a:p>
              <a:endParaRPr/>
            </a:p>
          </p:txBody>
        </p:sp>
      </p:grpSp>
      <p:grpSp>
        <p:nvGrpSpPr>
          <p:cNvPr id="83" name="object 83"/>
          <p:cNvGrpSpPr/>
          <p:nvPr/>
        </p:nvGrpSpPr>
        <p:grpSpPr>
          <a:xfrm>
            <a:off x="2723187" y="6000811"/>
            <a:ext cx="319405" cy="379095"/>
            <a:chOff x="2723187" y="6000811"/>
            <a:chExt cx="319405" cy="379095"/>
          </a:xfrm>
        </p:grpSpPr>
        <p:sp>
          <p:nvSpPr>
            <p:cNvPr id="84" name="object 84"/>
            <p:cNvSpPr/>
            <p:nvPr/>
          </p:nvSpPr>
          <p:spPr>
            <a:xfrm>
              <a:off x="2723184" y="6000813"/>
              <a:ext cx="319405" cy="379730"/>
            </a:xfrm>
            <a:custGeom>
              <a:avLst/>
              <a:gdLst/>
              <a:ahLst/>
              <a:cxnLst/>
              <a:rect l="l" t="t" r="r" b="b"/>
              <a:pathLst>
                <a:path w="319405" h="379729">
                  <a:moveTo>
                    <a:pt x="319265" y="198069"/>
                  </a:moveTo>
                  <a:lnTo>
                    <a:pt x="290474" y="129984"/>
                  </a:lnTo>
                  <a:lnTo>
                    <a:pt x="232918" y="85102"/>
                  </a:lnTo>
                  <a:lnTo>
                    <a:pt x="157378" y="68072"/>
                  </a:lnTo>
                  <a:lnTo>
                    <a:pt x="115989" y="68072"/>
                  </a:lnTo>
                  <a:lnTo>
                    <a:pt x="81838" y="73507"/>
                  </a:lnTo>
                  <a:lnTo>
                    <a:pt x="67983" y="78917"/>
                  </a:lnTo>
                  <a:lnTo>
                    <a:pt x="105219" y="11607"/>
                  </a:lnTo>
                  <a:lnTo>
                    <a:pt x="93510" y="6172"/>
                  </a:lnTo>
                  <a:lnTo>
                    <a:pt x="81838" y="0"/>
                  </a:lnTo>
                  <a:lnTo>
                    <a:pt x="35064" y="102133"/>
                  </a:lnTo>
                  <a:lnTo>
                    <a:pt x="23368" y="112953"/>
                  </a:lnTo>
                  <a:lnTo>
                    <a:pt x="41338" y="119151"/>
                  </a:lnTo>
                  <a:lnTo>
                    <a:pt x="157378" y="119151"/>
                  </a:lnTo>
                  <a:lnTo>
                    <a:pt x="157378" y="96710"/>
                  </a:lnTo>
                  <a:lnTo>
                    <a:pt x="106692" y="93878"/>
                  </a:lnTo>
                  <a:lnTo>
                    <a:pt x="122301" y="90525"/>
                  </a:lnTo>
                  <a:lnTo>
                    <a:pt x="157378" y="90525"/>
                  </a:lnTo>
                  <a:lnTo>
                    <a:pt x="191566" y="96710"/>
                  </a:lnTo>
                  <a:lnTo>
                    <a:pt x="250012" y="119151"/>
                  </a:lnTo>
                  <a:lnTo>
                    <a:pt x="290474" y="170205"/>
                  </a:lnTo>
                  <a:lnTo>
                    <a:pt x="296786" y="203479"/>
                  </a:lnTo>
                  <a:lnTo>
                    <a:pt x="290474" y="232105"/>
                  </a:lnTo>
                  <a:lnTo>
                    <a:pt x="285076" y="259956"/>
                  </a:lnTo>
                  <a:lnTo>
                    <a:pt x="255397" y="311023"/>
                  </a:lnTo>
                  <a:lnTo>
                    <a:pt x="214934" y="345059"/>
                  </a:lnTo>
                  <a:lnTo>
                    <a:pt x="191566" y="350481"/>
                  </a:lnTo>
                  <a:lnTo>
                    <a:pt x="139395" y="350481"/>
                  </a:lnTo>
                  <a:lnTo>
                    <a:pt x="93510" y="317207"/>
                  </a:lnTo>
                  <a:lnTo>
                    <a:pt x="52158" y="249123"/>
                  </a:lnTo>
                  <a:lnTo>
                    <a:pt x="41338" y="198069"/>
                  </a:lnTo>
                  <a:lnTo>
                    <a:pt x="36880" y="149809"/>
                  </a:lnTo>
                  <a:lnTo>
                    <a:pt x="41338" y="141579"/>
                  </a:lnTo>
                  <a:lnTo>
                    <a:pt x="35064" y="129984"/>
                  </a:lnTo>
                  <a:lnTo>
                    <a:pt x="17970" y="119151"/>
                  </a:lnTo>
                  <a:lnTo>
                    <a:pt x="6273" y="124561"/>
                  </a:lnTo>
                  <a:lnTo>
                    <a:pt x="0" y="136169"/>
                  </a:lnTo>
                  <a:lnTo>
                    <a:pt x="6273" y="153187"/>
                  </a:lnTo>
                  <a:lnTo>
                    <a:pt x="13766" y="156667"/>
                  </a:lnTo>
                  <a:lnTo>
                    <a:pt x="17970" y="198069"/>
                  </a:lnTo>
                  <a:lnTo>
                    <a:pt x="29679" y="254546"/>
                  </a:lnTo>
                  <a:lnTo>
                    <a:pt x="52158" y="300189"/>
                  </a:lnTo>
                  <a:lnTo>
                    <a:pt x="75526" y="334225"/>
                  </a:lnTo>
                  <a:lnTo>
                    <a:pt x="134010" y="373684"/>
                  </a:lnTo>
                  <a:lnTo>
                    <a:pt x="162763" y="379107"/>
                  </a:lnTo>
                  <a:lnTo>
                    <a:pt x="197840" y="373684"/>
                  </a:lnTo>
                  <a:lnTo>
                    <a:pt x="273380" y="328041"/>
                  </a:lnTo>
                  <a:lnTo>
                    <a:pt x="308444" y="271564"/>
                  </a:lnTo>
                  <a:lnTo>
                    <a:pt x="319265" y="237528"/>
                  </a:lnTo>
                  <a:lnTo>
                    <a:pt x="319265" y="198069"/>
                  </a:lnTo>
                  <a:close/>
                </a:path>
              </a:pathLst>
            </a:custGeom>
            <a:solidFill>
              <a:srgbClr val="1F1A17"/>
            </a:solidFill>
          </p:spPr>
          <p:txBody>
            <a:bodyPr wrap="square" lIns="0" tIns="0" rIns="0" bIns="0" rtlCol="0"/>
            <a:lstStyle/>
            <a:p>
              <a:endParaRPr/>
            </a:p>
          </p:txBody>
        </p:sp>
        <p:sp>
          <p:nvSpPr>
            <p:cNvPr id="85" name="object 85"/>
            <p:cNvSpPr/>
            <p:nvPr/>
          </p:nvSpPr>
          <p:spPr>
            <a:xfrm>
              <a:off x="2735776" y="6130786"/>
              <a:ext cx="41910" cy="40005"/>
            </a:xfrm>
            <a:custGeom>
              <a:avLst/>
              <a:gdLst/>
              <a:ahLst/>
              <a:cxnLst/>
              <a:rect l="l" t="t" r="r" b="b"/>
              <a:pathLst>
                <a:path w="41910" h="40004">
                  <a:moveTo>
                    <a:pt x="35072" y="34041"/>
                  </a:moveTo>
                  <a:lnTo>
                    <a:pt x="17979" y="39458"/>
                  </a:lnTo>
                  <a:lnTo>
                    <a:pt x="6276" y="34041"/>
                  </a:lnTo>
                  <a:lnTo>
                    <a:pt x="0" y="17022"/>
                  </a:lnTo>
                  <a:lnTo>
                    <a:pt x="6276" y="5416"/>
                  </a:lnTo>
                  <a:lnTo>
                    <a:pt x="17979" y="0"/>
                  </a:lnTo>
                  <a:lnTo>
                    <a:pt x="35072" y="10829"/>
                  </a:lnTo>
                  <a:lnTo>
                    <a:pt x="41348" y="22435"/>
                  </a:lnTo>
                  <a:lnTo>
                    <a:pt x="35072" y="34041"/>
                  </a:lnTo>
                </a:path>
              </a:pathLst>
            </a:custGeom>
            <a:ln w="5004">
              <a:solidFill>
                <a:srgbClr val="1F1A17"/>
              </a:solidFill>
            </a:ln>
          </p:spPr>
          <p:txBody>
            <a:bodyPr wrap="square" lIns="0" tIns="0" rIns="0" bIns="0" rtlCol="0"/>
            <a:lstStyle/>
            <a:p>
              <a:endParaRPr/>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57785">
              <a:lnSpc>
                <a:spcPct val="100000"/>
              </a:lnSpc>
              <a:spcBef>
                <a:spcPts val="95"/>
              </a:spcBef>
            </a:pPr>
            <a:r>
              <a:rPr sz="3200" dirty="0"/>
              <a:t>GRAPH</a:t>
            </a:r>
            <a:r>
              <a:rPr sz="3200" spc="-60" dirty="0"/>
              <a:t> </a:t>
            </a:r>
            <a:r>
              <a:rPr sz="3200" dirty="0"/>
              <a:t>OF</a:t>
            </a:r>
            <a:r>
              <a:rPr sz="3200" spc="-220" dirty="0"/>
              <a:t> </a:t>
            </a:r>
            <a:r>
              <a:rPr sz="3200" dirty="0"/>
              <a:t>A</a:t>
            </a:r>
            <a:r>
              <a:rPr sz="3200" spc="-220" dirty="0"/>
              <a:t> </a:t>
            </a:r>
            <a:r>
              <a:rPr sz="3200" dirty="0"/>
              <a:t>SYMMETRIC</a:t>
            </a:r>
            <a:r>
              <a:rPr sz="3200" spc="-25" dirty="0"/>
              <a:t> </a:t>
            </a:r>
            <a:r>
              <a:rPr sz="3200" spc="-20" dirty="0"/>
              <a:t>RELATION</a:t>
            </a:r>
            <a:endParaRPr sz="3200"/>
          </a:p>
        </p:txBody>
      </p:sp>
      <p:sp>
        <p:nvSpPr>
          <p:cNvPr id="3" name="object 3"/>
          <p:cNvSpPr txBox="1"/>
          <p:nvPr/>
        </p:nvSpPr>
        <p:spPr>
          <a:xfrm>
            <a:off x="269240" y="863600"/>
            <a:ext cx="6810375" cy="3978012"/>
          </a:xfrm>
          <a:prstGeom prst="rect">
            <a:avLst/>
          </a:prstGeom>
        </p:spPr>
        <p:txBody>
          <a:bodyPr vert="horz" wrap="square" lIns="0" tIns="12700" rIns="0" bIns="0" rtlCol="0">
            <a:spAutoFit/>
          </a:bodyPr>
          <a:lstStyle/>
          <a:p>
            <a:pPr marL="50800" marR="17780">
              <a:lnSpc>
                <a:spcPct val="100000"/>
              </a:lnSpc>
              <a:spcBef>
                <a:spcPts val="100"/>
              </a:spcBef>
            </a:pPr>
            <a:r>
              <a:rPr sz="1800" b="1" dirty="0">
                <a:solidFill>
                  <a:srgbClr val="00AFEF"/>
                </a:solidFill>
                <a:latin typeface="Times New Roman"/>
                <a:cs typeface="Times New Roman"/>
              </a:rPr>
              <a:t>For</a:t>
            </a:r>
            <a:r>
              <a:rPr sz="1800" b="1" spc="-70" dirty="0">
                <a:solidFill>
                  <a:srgbClr val="00AFEF"/>
                </a:solidFill>
                <a:latin typeface="Times New Roman"/>
                <a:cs typeface="Times New Roman"/>
              </a:rPr>
              <a:t> </a:t>
            </a:r>
            <a:r>
              <a:rPr sz="1800" b="1" dirty="0">
                <a:solidFill>
                  <a:srgbClr val="00AFEF"/>
                </a:solidFill>
                <a:latin typeface="Times New Roman"/>
                <a:cs typeface="Times New Roman"/>
              </a:rPr>
              <a:t>a</a:t>
            </a:r>
            <a:r>
              <a:rPr sz="1800" b="1" spc="-30" dirty="0">
                <a:solidFill>
                  <a:srgbClr val="00AFEF"/>
                </a:solidFill>
                <a:latin typeface="Times New Roman"/>
                <a:cs typeface="Times New Roman"/>
              </a:rPr>
              <a:t> </a:t>
            </a:r>
            <a:r>
              <a:rPr sz="1800" b="1" dirty="0">
                <a:solidFill>
                  <a:srgbClr val="00AFEF"/>
                </a:solidFill>
                <a:latin typeface="Times New Roman"/>
                <a:cs typeface="Times New Roman"/>
              </a:rPr>
              <a:t>symmetric</a:t>
            </a:r>
            <a:r>
              <a:rPr sz="1800" b="1" spc="-35" dirty="0">
                <a:solidFill>
                  <a:srgbClr val="00AFEF"/>
                </a:solidFill>
                <a:latin typeface="Times New Roman"/>
                <a:cs typeface="Times New Roman"/>
              </a:rPr>
              <a:t> </a:t>
            </a:r>
            <a:r>
              <a:rPr sz="1800" b="1" dirty="0">
                <a:solidFill>
                  <a:srgbClr val="00AFEF"/>
                </a:solidFill>
                <a:latin typeface="Times New Roman"/>
                <a:cs typeface="Times New Roman"/>
              </a:rPr>
              <a:t>directed</a:t>
            </a:r>
            <a:r>
              <a:rPr sz="1800" b="1" spc="-35" dirty="0">
                <a:solidFill>
                  <a:srgbClr val="00AFEF"/>
                </a:solidFill>
                <a:latin typeface="Times New Roman"/>
                <a:cs typeface="Times New Roman"/>
              </a:rPr>
              <a:t> </a:t>
            </a:r>
            <a:r>
              <a:rPr sz="1800" b="1" dirty="0">
                <a:solidFill>
                  <a:srgbClr val="00AFEF"/>
                </a:solidFill>
                <a:latin typeface="Times New Roman"/>
                <a:cs typeface="Times New Roman"/>
              </a:rPr>
              <a:t>graph</a:t>
            </a:r>
            <a:r>
              <a:rPr sz="1800" b="1" spc="-35" dirty="0">
                <a:solidFill>
                  <a:srgbClr val="00AFEF"/>
                </a:solidFill>
                <a:latin typeface="Times New Roman"/>
                <a:cs typeface="Times New Roman"/>
              </a:rPr>
              <a:t> </a:t>
            </a:r>
            <a:r>
              <a:rPr sz="1800" b="1" spc="-10" dirty="0">
                <a:solidFill>
                  <a:srgbClr val="00AFEF"/>
                </a:solidFill>
                <a:latin typeface="Times New Roman"/>
                <a:cs typeface="Times New Roman"/>
              </a:rPr>
              <a:t>whenever</a:t>
            </a:r>
            <a:r>
              <a:rPr sz="1800" b="1" spc="-70" dirty="0">
                <a:solidFill>
                  <a:srgbClr val="00AFEF"/>
                </a:solidFill>
                <a:latin typeface="Times New Roman"/>
                <a:cs typeface="Times New Roman"/>
              </a:rPr>
              <a:t> </a:t>
            </a:r>
            <a:r>
              <a:rPr sz="1800" b="1" dirty="0">
                <a:solidFill>
                  <a:srgbClr val="00AFEF"/>
                </a:solidFill>
                <a:latin typeface="Times New Roman"/>
                <a:cs typeface="Times New Roman"/>
              </a:rPr>
              <a:t>there</a:t>
            </a:r>
            <a:r>
              <a:rPr sz="1800" b="1" spc="-30" dirty="0">
                <a:solidFill>
                  <a:srgbClr val="00AFEF"/>
                </a:solidFill>
                <a:latin typeface="Times New Roman"/>
                <a:cs typeface="Times New Roman"/>
              </a:rPr>
              <a:t> </a:t>
            </a:r>
            <a:r>
              <a:rPr sz="1800" b="1" dirty="0">
                <a:solidFill>
                  <a:srgbClr val="00AFEF"/>
                </a:solidFill>
                <a:latin typeface="Times New Roman"/>
                <a:cs typeface="Times New Roman"/>
              </a:rPr>
              <a:t>is</a:t>
            </a:r>
            <a:r>
              <a:rPr sz="1800" b="1" spc="-35" dirty="0">
                <a:solidFill>
                  <a:srgbClr val="00AFEF"/>
                </a:solidFill>
                <a:latin typeface="Times New Roman"/>
                <a:cs typeface="Times New Roman"/>
              </a:rPr>
              <a:t> </a:t>
            </a:r>
            <a:r>
              <a:rPr sz="1800" b="1" dirty="0">
                <a:solidFill>
                  <a:srgbClr val="00AFEF"/>
                </a:solidFill>
                <a:latin typeface="Times New Roman"/>
                <a:cs typeface="Times New Roman"/>
              </a:rPr>
              <a:t>an</a:t>
            </a:r>
            <a:r>
              <a:rPr sz="1800" b="1" spc="-35" dirty="0">
                <a:solidFill>
                  <a:srgbClr val="00AFEF"/>
                </a:solidFill>
                <a:latin typeface="Times New Roman"/>
                <a:cs typeface="Times New Roman"/>
              </a:rPr>
              <a:t> </a:t>
            </a:r>
            <a:r>
              <a:rPr sz="1800" b="1" dirty="0">
                <a:solidFill>
                  <a:srgbClr val="00AFEF"/>
                </a:solidFill>
                <a:latin typeface="Times New Roman"/>
                <a:cs typeface="Times New Roman"/>
              </a:rPr>
              <a:t>arrow</a:t>
            </a:r>
            <a:r>
              <a:rPr sz="1800" b="1" spc="-35" dirty="0">
                <a:solidFill>
                  <a:srgbClr val="00AFEF"/>
                </a:solidFill>
                <a:latin typeface="Times New Roman"/>
                <a:cs typeface="Times New Roman"/>
              </a:rPr>
              <a:t> </a:t>
            </a:r>
            <a:r>
              <a:rPr sz="1800" b="1" spc="-10" dirty="0">
                <a:solidFill>
                  <a:srgbClr val="00AFEF"/>
                </a:solidFill>
                <a:latin typeface="Times New Roman"/>
                <a:cs typeface="Times New Roman"/>
              </a:rPr>
              <a:t>going </a:t>
            </a:r>
            <a:r>
              <a:rPr sz="1800" b="1" dirty="0">
                <a:solidFill>
                  <a:srgbClr val="00AFEF"/>
                </a:solidFill>
                <a:latin typeface="Times New Roman"/>
                <a:cs typeface="Times New Roman"/>
              </a:rPr>
              <a:t>from</a:t>
            </a:r>
            <a:r>
              <a:rPr sz="1800" b="1" spc="-25" dirty="0">
                <a:solidFill>
                  <a:srgbClr val="00AFEF"/>
                </a:solidFill>
                <a:latin typeface="Times New Roman"/>
                <a:cs typeface="Times New Roman"/>
              </a:rPr>
              <a:t> </a:t>
            </a:r>
            <a:r>
              <a:rPr sz="1800" b="1" dirty="0">
                <a:solidFill>
                  <a:srgbClr val="C00000"/>
                </a:solidFill>
                <a:latin typeface="Times New Roman"/>
                <a:cs typeface="Times New Roman"/>
              </a:rPr>
              <a:t>one</a:t>
            </a:r>
            <a:r>
              <a:rPr sz="1800" b="1" spc="-20" dirty="0">
                <a:solidFill>
                  <a:srgbClr val="C00000"/>
                </a:solidFill>
                <a:latin typeface="Times New Roman"/>
                <a:cs typeface="Times New Roman"/>
              </a:rPr>
              <a:t> </a:t>
            </a:r>
            <a:r>
              <a:rPr sz="1800" b="1" dirty="0">
                <a:solidFill>
                  <a:srgbClr val="C00000"/>
                </a:solidFill>
                <a:latin typeface="Times New Roman"/>
                <a:cs typeface="Times New Roman"/>
              </a:rPr>
              <a:t>point</a:t>
            </a:r>
            <a:r>
              <a:rPr sz="1800" b="1" spc="-20" dirty="0">
                <a:solidFill>
                  <a:srgbClr val="C00000"/>
                </a:solidFill>
                <a:latin typeface="Times New Roman"/>
                <a:cs typeface="Times New Roman"/>
              </a:rPr>
              <a:t> </a:t>
            </a:r>
            <a:r>
              <a:rPr sz="1800" b="1" dirty="0">
                <a:solidFill>
                  <a:srgbClr val="C00000"/>
                </a:solidFill>
                <a:latin typeface="Times New Roman"/>
                <a:cs typeface="Times New Roman"/>
              </a:rPr>
              <a:t>of</a:t>
            </a:r>
            <a:r>
              <a:rPr sz="1800" b="1" spc="-20" dirty="0">
                <a:solidFill>
                  <a:srgbClr val="C00000"/>
                </a:solidFill>
                <a:latin typeface="Times New Roman"/>
                <a:cs typeface="Times New Roman"/>
              </a:rPr>
              <a:t> </a:t>
            </a:r>
            <a:r>
              <a:rPr sz="1800" b="1" dirty="0">
                <a:solidFill>
                  <a:srgbClr val="C00000"/>
                </a:solidFill>
                <a:latin typeface="Times New Roman"/>
                <a:cs typeface="Times New Roman"/>
              </a:rPr>
              <a:t>the</a:t>
            </a:r>
            <a:r>
              <a:rPr sz="1800" b="1" spc="-20" dirty="0">
                <a:solidFill>
                  <a:srgbClr val="C00000"/>
                </a:solidFill>
                <a:latin typeface="Times New Roman"/>
                <a:cs typeface="Times New Roman"/>
              </a:rPr>
              <a:t> </a:t>
            </a:r>
            <a:r>
              <a:rPr sz="1800" b="1" dirty="0">
                <a:solidFill>
                  <a:srgbClr val="C00000"/>
                </a:solidFill>
                <a:latin typeface="Times New Roman"/>
                <a:cs typeface="Times New Roman"/>
              </a:rPr>
              <a:t>graph</a:t>
            </a:r>
            <a:r>
              <a:rPr sz="1800" b="1" spc="-20" dirty="0">
                <a:solidFill>
                  <a:srgbClr val="C00000"/>
                </a:solidFill>
                <a:latin typeface="Times New Roman"/>
                <a:cs typeface="Times New Roman"/>
              </a:rPr>
              <a:t> </a:t>
            </a:r>
            <a:r>
              <a:rPr sz="1800" b="1" dirty="0">
                <a:solidFill>
                  <a:srgbClr val="C00000"/>
                </a:solidFill>
                <a:latin typeface="Times New Roman"/>
                <a:cs typeface="Times New Roman"/>
              </a:rPr>
              <a:t>to</a:t>
            </a:r>
            <a:r>
              <a:rPr sz="1800" b="1" spc="-20" dirty="0">
                <a:solidFill>
                  <a:srgbClr val="C00000"/>
                </a:solidFill>
                <a:latin typeface="Times New Roman"/>
                <a:cs typeface="Times New Roman"/>
              </a:rPr>
              <a:t> </a:t>
            </a:r>
            <a:r>
              <a:rPr sz="1800" b="1" dirty="0">
                <a:solidFill>
                  <a:srgbClr val="C00000"/>
                </a:solidFill>
                <a:latin typeface="Times New Roman"/>
                <a:cs typeface="Times New Roman"/>
              </a:rPr>
              <a:t>a</a:t>
            </a:r>
            <a:r>
              <a:rPr sz="1800" b="1" spc="-20" dirty="0">
                <a:solidFill>
                  <a:srgbClr val="C00000"/>
                </a:solidFill>
                <a:latin typeface="Times New Roman"/>
                <a:cs typeface="Times New Roman"/>
              </a:rPr>
              <a:t> </a:t>
            </a:r>
            <a:r>
              <a:rPr sz="1800" b="1" dirty="0">
                <a:solidFill>
                  <a:srgbClr val="C00000"/>
                </a:solidFill>
                <a:latin typeface="Times New Roman"/>
                <a:cs typeface="Times New Roman"/>
              </a:rPr>
              <a:t>second,</a:t>
            </a:r>
            <a:r>
              <a:rPr sz="1800" b="1" spc="-20" dirty="0">
                <a:solidFill>
                  <a:srgbClr val="C00000"/>
                </a:solidFill>
                <a:latin typeface="Times New Roman"/>
                <a:cs typeface="Times New Roman"/>
              </a:rPr>
              <a:t> </a:t>
            </a:r>
            <a:r>
              <a:rPr sz="1800" b="1" dirty="0">
                <a:solidFill>
                  <a:srgbClr val="C00000"/>
                </a:solidFill>
                <a:latin typeface="Times New Roman"/>
                <a:cs typeface="Times New Roman"/>
              </a:rPr>
              <a:t>there</a:t>
            </a:r>
            <a:r>
              <a:rPr sz="1800" b="1" spc="-20" dirty="0">
                <a:solidFill>
                  <a:srgbClr val="C00000"/>
                </a:solidFill>
                <a:latin typeface="Times New Roman"/>
                <a:cs typeface="Times New Roman"/>
              </a:rPr>
              <a:t> </a:t>
            </a:r>
            <a:r>
              <a:rPr sz="1800" b="1" dirty="0">
                <a:solidFill>
                  <a:srgbClr val="C00000"/>
                </a:solidFill>
                <a:latin typeface="Times New Roman"/>
                <a:cs typeface="Times New Roman"/>
              </a:rPr>
              <a:t>is</a:t>
            </a:r>
            <a:r>
              <a:rPr sz="1800" b="1" spc="-20" dirty="0">
                <a:solidFill>
                  <a:srgbClr val="C00000"/>
                </a:solidFill>
                <a:latin typeface="Times New Roman"/>
                <a:cs typeface="Times New Roman"/>
              </a:rPr>
              <a:t> </a:t>
            </a:r>
            <a:r>
              <a:rPr sz="1800" b="1" dirty="0">
                <a:solidFill>
                  <a:srgbClr val="C00000"/>
                </a:solidFill>
                <a:latin typeface="Times New Roman"/>
                <a:cs typeface="Times New Roman"/>
              </a:rPr>
              <a:t>an</a:t>
            </a:r>
            <a:r>
              <a:rPr sz="1800" b="1" spc="-20" dirty="0">
                <a:solidFill>
                  <a:srgbClr val="C00000"/>
                </a:solidFill>
                <a:latin typeface="Times New Roman"/>
                <a:cs typeface="Times New Roman"/>
              </a:rPr>
              <a:t> </a:t>
            </a:r>
            <a:r>
              <a:rPr sz="1800" b="1" dirty="0">
                <a:solidFill>
                  <a:srgbClr val="C00000"/>
                </a:solidFill>
                <a:latin typeface="Times New Roman"/>
                <a:cs typeface="Times New Roman"/>
              </a:rPr>
              <a:t>arrow</a:t>
            </a:r>
            <a:r>
              <a:rPr sz="1800" b="1" spc="-25" dirty="0">
                <a:solidFill>
                  <a:srgbClr val="C00000"/>
                </a:solidFill>
                <a:latin typeface="Times New Roman"/>
                <a:cs typeface="Times New Roman"/>
              </a:rPr>
              <a:t> </a:t>
            </a:r>
            <a:r>
              <a:rPr sz="1800" b="1" dirty="0">
                <a:solidFill>
                  <a:srgbClr val="C00000"/>
                </a:solidFill>
                <a:latin typeface="Times New Roman"/>
                <a:cs typeface="Times New Roman"/>
              </a:rPr>
              <a:t>going</a:t>
            </a:r>
            <a:r>
              <a:rPr sz="1800" b="1" spc="-20" dirty="0">
                <a:solidFill>
                  <a:srgbClr val="C00000"/>
                </a:solidFill>
                <a:latin typeface="Times New Roman"/>
                <a:cs typeface="Times New Roman"/>
              </a:rPr>
              <a:t> from </a:t>
            </a:r>
            <a:r>
              <a:rPr sz="1800" b="1" dirty="0">
                <a:solidFill>
                  <a:srgbClr val="C00000"/>
                </a:solidFill>
                <a:latin typeface="Times New Roman"/>
                <a:cs typeface="Times New Roman"/>
              </a:rPr>
              <a:t>the</a:t>
            </a:r>
            <a:r>
              <a:rPr sz="1800" b="1" spc="-15" dirty="0">
                <a:solidFill>
                  <a:srgbClr val="C00000"/>
                </a:solidFill>
                <a:latin typeface="Times New Roman"/>
                <a:cs typeface="Times New Roman"/>
              </a:rPr>
              <a:t> </a:t>
            </a:r>
            <a:r>
              <a:rPr sz="1800" b="1" dirty="0">
                <a:solidFill>
                  <a:srgbClr val="C00000"/>
                </a:solidFill>
                <a:latin typeface="Times New Roman"/>
                <a:cs typeface="Times New Roman"/>
              </a:rPr>
              <a:t>second</a:t>
            </a:r>
            <a:r>
              <a:rPr sz="1800" b="1" spc="-10" dirty="0">
                <a:solidFill>
                  <a:srgbClr val="C00000"/>
                </a:solidFill>
                <a:latin typeface="Times New Roman"/>
                <a:cs typeface="Times New Roman"/>
              </a:rPr>
              <a:t> </a:t>
            </a:r>
            <a:r>
              <a:rPr sz="1800" b="1" dirty="0">
                <a:solidFill>
                  <a:srgbClr val="C00000"/>
                </a:solidFill>
                <a:latin typeface="Times New Roman"/>
                <a:cs typeface="Times New Roman"/>
              </a:rPr>
              <a:t>point</a:t>
            </a:r>
            <a:r>
              <a:rPr sz="1800" b="1" spc="-10" dirty="0">
                <a:solidFill>
                  <a:srgbClr val="C00000"/>
                </a:solidFill>
                <a:latin typeface="Times New Roman"/>
                <a:cs typeface="Times New Roman"/>
              </a:rPr>
              <a:t> </a:t>
            </a:r>
            <a:r>
              <a:rPr sz="1800" b="1" dirty="0">
                <a:solidFill>
                  <a:srgbClr val="C00000"/>
                </a:solidFill>
                <a:latin typeface="Times New Roman"/>
                <a:cs typeface="Times New Roman"/>
              </a:rPr>
              <a:t>back</a:t>
            </a:r>
            <a:r>
              <a:rPr sz="1800" b="1" spc="-10" dirty="0">
                <a:solidFill>
                  <a:srgbClr val="C00000"/>
                </a:solidFill>
                <a:latin typeface="Times New Roman"/>
                <a:cs typeface="Times New Roman"/>
              </a:rPr>
              <a:t> </a:t>
            </a:r>
            <a:r>
              <a:rPr sz="1800" b="1" dirty="0">
                <a:solidFill>
                  <a:srgbClr val="C00000"/>
                </a:solidFill>
                <a:latin typeface="Times New Roman"/>
                <a:cs typeface="Times New Roman"/>
              </a:rPr>
              <a:t>to</a:t>
            </a:r>
            <a:r>
              <a:rPr sz="1800" b="1" spc="-10" dirty="0">
                <a:solidFill>
                  <a:srgbClr val="C00000"/>
                </a:solidFill>
                <a:latin typeface="Times New Roman"/>
                <a:cs typeface="Times New Roman"/>
              </a:rPr>
              <a:t> </a:t>
            </a:r>
            <a:r>
              <a:rPr sz="1800" b="1" dirty="0">
                <a:solidFill>
                  <a:srgbClr val="C00000"/>
                </a:solidFill>
                <a:latin typeface="Times New Roman"/>
                <a:cs typeface="Times New Roman"/>
              </a:rPr>
              <a:t>the</a:t>
            </a:r>
            <a:r>
              <a:rPr sz="1800" b="1" spc="-10" dirty="0">
                <a:solidFill>
                  <a:srgbClr val="C00000"/>
                </a:solidFill>
                <a:latin typeface="Times New Roman"/>
                <a:cs typeface="Times New Roman"/>
              </a:rPr>
              <a:t> first.</a:t>
            </a:r>
            <a:endParaRPr sz="1800" dirty="0">
              <a:solidFill>
                <a:srgbClr val="C00000"/>
              </a:solidFill>
              <a:latin typeface="Times New Roman"/>
              <a:cs typeface="Times New Roman"/>
            </a:endParaRPr>
          </a:p>
          <a:p>
            <a:pPr>
              <a:lnSpc>
                <a:spcPct val="100000"/>
              </a:lnSpc>
            </a:pPr>
            <a:endParaRPr sz="1800" dirty="0">
              <a:latin typeface="Times New Roman"/>
              <a:cs typeface="Times New Roman"/>
            </a:endParaRPr>
          </a:p>
          <a:p>
            <a:pPr>
              <a:lnSpc>
                <a:spcPct val="100000"/>
              </a:lnSpc>
              <a:spcBef>
                <a:spcPts val="20"/>
              </a:spcBef>
            </a:pPr>
            <a:endParaRPr sz="1800" dirty="0">
              <a:latin typeface="Times New Roman"/>
              <a:cs typeface="Times New Roman"/>
            </a:endParaRPr>
          </a:p>
          <a:p>
            <a:pPr marL="50800">
              <a:lnSpc>
                <a:spcPct val="100000"/>
              </a:lnSpc>
            </a:pPr>
            <a:r>
              <a:rPr sz="1800" b="1" dirty="0">
                <a:solidFill>
                  <a:srgbClr val="90C225"/>
                </a:solidFill>
                <a:latin typeface="Times New Roman"/>
                <a:cs typeface="Times New Roman"/>
              </a:rPr>
              <a:t>EXAMPLE </a:t>
            </a:r>
            <a:r>
              <a:rPr sz="1800" b="1" spc="-50" dirty="0">
                <a:solidFill>
                  <a:srgbClr val="90C225"/>
                </a:solidFill>
                <a:latin typeface="Times New Roman"/>
                <a:cs typeface="Times New Roman"/>
              </a:rPr>
              <a:t>S</a:t>
            </a:r>
            <a:endParaRPr sz="1800" dirty="0">
              <a:latin typeface="Times New Roman"/>
              <a:cs typeface="Times New Roman"/>
            </a:endParaRPr>
          </a:p>
          <a:p>
            <a:pPr marL="50800" marR="125095">
              <a:lnSpc>
                <a:spcPct val="100000"/>
              </a:lnSpc>
              <a:spcBef>
                <a:spcPts val="1000"/>
              </a:spcBef>
            </a:pPr>
            <a:r>
              <a:rPr sz="1800" b="1" spc="-10" dirty="0">
                <a:solidFill>
                  <a:srgbClr val="404040"/>
                </a:solidFill>
                <a:latin typeface="Times New Roman"/>
                <a:cs typeface="Times New Roman"/>
              </a:rPr>
              <a:t>Let</a:t>
            </a:r>
            <a:r>
              <a:rPr sz="1800" b="1" spc="-105" dirty="0">
                <a:solidFill>
                  <a:srgbClr val="404040"/>
                </a:solidFill>
                <a:latin typeface="Times New Roman"/>
                <a:cs typeface="Times New Roman"/>
              </a:rPr>
              <a:t> </a:t>
            </a:r>
            <a:r>
              <a:rPr sz="1800" b="1" dirty="0">
                <a:solidFill>
                  <a:srgbClr val="404040"/>
                </a:solidFill>
                <a:latin typeface="Times New Roman"/>
                <a:cs typeface="Times New Roman"/>
              </a:rPr>
              <a:t>A</a:t>
            </a:r>
            <a:r>
              <a:rPr sz="1800" b="1" spc="-110" dirty="0">
                <a:solidFill>
                  <a:srgbClr val="404040"/>
                </a:solidFill>
                <a:latin typeface="Times New Roman"/>
                <a:cs typeface="Times New Roman"/>
              </a:rPr>
              <a:t> </a:t>
            </a:r>
            <a:r>
              <a:rPr sz="1800" b="1" dirty="0">
                <a:solidFill>
                  <a:srgbClr val="404040"/>
                </a:solidFill>
                <a:latin typeface="Times New Roman"/>
                <a:cs typeface="Times New Roman"/>
              </a:rPr>
              <a:t>=</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3,</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4}</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and</a:t>
            </a:r>
            <a:r>
              <a:rPr sz="1800" b="1" spc="-5" dirty="0">
                <a:solidFill>
                  <a:srgbClr val="404040"/>
                </a:solidFill>
                <a:latin typeface="Times New Roman"/>
                <a:cs typeface="Times New Roman"/>
              </a:rPr>
              <a:t> </a:t>
            </a:r>
            <a:r>
              <a:rPr sz="1800" b="1" dirty="0">
                <a:solidFill>
                  <a:srgbClr val="404040"/>
                </a:solidFill>
                <a:latin typeface="Times New Roman"/>
                <a:cs typeface="Times New Roman"/>
              </a:rPr>
              <a:t>define</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relations</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R</a:t>
            </a:r>
            <a:r>
              <a:rPr sz="1800" b="1" baseline="-20833" dirty="0">
                <a:solidFill>
                  <a:srgbClr val="404040"/>
                </a:solidFill>
                <a:latin typeface="Times New Roman"/>
                <a:cs typeface="Times New Roman"/>
              </a:rPr>
              <a:t>1</a:t>
            </a:r>
            <a:r>
              <a:rPr sz="1800" b="1" dirty="0">
                <a:solidFill>
                  <a:srgbClr val="404040"/>
                </a:solidFill>
                <a:latin typeface="Times New Roman"/>
                <a:cs typeface="Times New Roman"/>
              </a:rPr>
              <a:t>,</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R</a:t>
            </a:r>
            <a:r>
              <a:rPr sz="1800" b="1" baseline="-20833" dirty="0">
                <a:solidFill>
                  <a:srgbClr val="404040"/>
                </a:solidFill>
                <a:latin typeface="Times New Roman"/>
                <a:cs typeface="Times New Roman"/>
              </a:rPr>
              <a:t>2</a:t>
            </a:r>
            <a:r>
              <a:rPr sz="1800" b="1" dirty="0">
                <a:solidFill>
                  <a:srgbClr val="404040"/>
                </a:solidFill>
                <a:latin typeface="Times New Roman"/>
                <a:cs typeface="Times New Roman"/>
              </a:rPr>
              <a:t>,</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R</a:t>
            </a:r>
            <a:r>
              <a:rPr sz="1800" b="1" baseline="-20833" dirty="0">
                <a:solidFill>
                  <a:srgbClr val="404040"/>
                </a:solidFill>
                <a:latin typeface="Times New Roman"/>
                <a:cs typeface="Times New Roman"/>
              </a:rPr>
              <a:t>3</a:t>
            </a:r>
            <a:r>
              <a:rPr sz="1800" b="1" dirty="0">
                <a:solidFill>
                  <a:srgbClr val="404040"/>
                </a:solidFill>
                <a:latin typeface="Times New Roman"/>
                <a:cs typeface="Times New Roman"/>
              </a:rPr>
              <a:t>,</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and</a:t>
            </a:r>
            <a:r>
              <a:rPr sz="1800" b="1" spc="-5" dirty="0">
                <a:solidFill>
                  <a:srgbClr val="404040"/>
                </a:solidFill>
                <a:latin typeface="Times New Roman"/>
                <a:cs typeface="Times New Roman"/>
              </a:rPr>
              <a:t> </a:t>
            </a:r>
            <a:r>
              <a:rPr sz="1800" b="1" dirty="0">
                <a:solidFill>
                  <a:srgbClr val="404040"/>
                </a:solidFill>
                <a:latin typeface="Times New Roman"/>
                <a:cs typeface="Times New Roman"/>
              </a:rPr>
              <a:t>R</a:t>
            </a:r>
            <a:r>
              <a:rPr sz="1800" b="1" baseline="-20833" dirty="0">
                <a:solidFill>
                  <a:srgbClr val="404040"/>
                </a:solidFill>
                <a:latin typeface="Times New Roman"/>
                <a:cs typeface="Times New Roman"/>
              </a:rPr>
              <a:t>4</a:t>
            </a:r>
            <a:r>
              <a:rPr sz="1800" b="1" dirty="0">
                <a:solidFill>
                  <a:srgbClr val="404040"/>
                </a:solidFill>
                <a:latin typeface="Times New Roman"/>
                <a:cs typeface="Times New Roman"/>
              </a:rPr>
              <a:t>on</a:t>
            </a:r>
            <a:r>
              <a:rPr sz="1800" b="1" spc="-114" dirty="0">
                <a:solidFill>
                  <a:srgbClr val="404040"/>
                </a:solidFill>
                <a:latin typeface="Times New Roman"/>
                <a:cs typeface="Times New Roman"/>
              </a:rPr>
              <a:t> </a:t>
            </a:r>
            <a:r>
              <a:rPr sz="1800" b="1" dirty="0">
                <a:solidFill>
                  <a:srgbClr val="404040"/>
                </a:solidFill>
                <a:latin typeface="Times New Roman"/>
                <a:cs typeface="Times New Roman"/>
              </a:rPr>
              <a:t>A</a:t>
            </a:r>
            <a:r>
              <a:rPr sz="1800" b="1" spc="-105" dirty="0">
                <a:solidFill>
                  <a:srgbClr val="404040"/>
                </a:solidFill>
                <a:latin typeface="Times New Roman"/>
                <a:cs typeface="Times New Roman"/>
              </a:rPr>
              <a:t> </a:t>
            </a:r>
            <a:r>
              <a:rPr sz="1800" b="1" dirty="0">
                <a:solidFill>
                  <a:srgbClr val="404040"/>
                </a:solidFill>
                <a:latin typeface="Times New Roman"/>
                <a:cs typeface="Times New Roman"/>
              </a:rPr>
              <a:t>by</a:t>
            </a:r>
            <a:r>
              <a:rPr sz="1800" b="1" spc="-10" dirty="0">
                <a:solidFill>
                  <a:srgbClr val="404040"/>
                </a:solidFill>
                <a:latin typeface="Times New Roman"/>
                <a:cs typeface="Times New Roman"/>
              </a:rPr>
              <a:t> </a:t>
            </a:r>
            <a:r>
              <a:rPr sz="1800" b="1" spc="-25" dirty="0">
                <a:solidFill>
                  <a:srgbClr val="404040"/>
                </a:solidFill>
                <a:latin typeface="Times New Roman"/>
                <a:cs typeface="Times New Roman"/>
              </a:rPr>
              <a:t>the </a:t>
            </a:r>
            <a:r>
              <a:rPr sz="1800" b="1" dirty="0">
                <a:solidFill>
                  <a:srgbClr val="404040"/>
                </a:solidFill>
                <a:latin typeface="Times New Roman"/>
                <a:cs typeface="Times New Roman"/>
              </a:rPr>
              <a:t>directed</a:t>
            </a:r>
            <a:r>
              <a:rPr sz="1800" b="1" spc="-75" dirty="0">
                <a:solidFill>
                  <a:srgbClr val="404040"/>
                </a:solidFill>
                <a:latin typeface="Times New Roman"/>
                <a:cs typeface="Times New Roman"/>
              </a:rPr>
              <a:t> </a:t>
            </a:r>
            <a:r>
              <a:rPr sz="1800" b="1" spc="-10" dirty="0">
                <a:solidFill>
                  <a:srgbClr val="404040"/>
                </a:solidFill>
                <a:latin typeface="Times New Roman"/>
                <a:cs typeface="Times New Roman"/>
              </a:rPr>
              <a:t>graphs:</a:t>
            </a:r>
            <a:endParaRPr sz="1800" dirty="0">
              <a:latin typeface="Times New Roman"/>
              <a:cs typeface="Times New Roman"/>
            </a:endParaRPr>
          </a:p>
          <a:p>
            <a:pPr marL="50800">
              <a:lnSpc>
                <a:spcPct val="100000"/>
              </a:lnSpc>
              <a:spcBef>
                <a:spcPts val="994"/>
              </a:spcBef>
            </a:pPr>
            <a:r>
              <a:rPr sz="1800" b="1" dirty="0">
                <a:solidFill>
                  <a:srgbClr val="404040"/>
                </a:solidFill>
                <a:latin typeface="Times New Roman"/>
                <a:cs typeface="Times New Roman"/>
              </a:rPr>
              <a:t>R</a:t>
            </a:r>
            <a:r>
              <a:rPr sz="1800" b="1" baseline="-20833" dirty="0">
                <a:solidFill>
                  <a:srgbClr val="404040"/>
                </a:solidFill>
                <a:latin typeface="Times New Roman"/>
                <a:cs typeface="Times New Roman"/>
              </a:rPr>
              <a:t>1</a:t>
            </a:r>
            <a:r>
              <a:rPr sz="1800" b="1" spc="195" baseline="-20833" dirty="0">
                <a:solidFill>
                  <a:srgbClr val="404040"/>
                </a:solidFill>
                <a:latin typeface="Times New Roman"/>
                <a:cs typeface="Times New Roman"/>
              </a:rPr>
              <a:t> </a:t>
            </a:r>
            <a:r>
              <a:rPr sz="1800" b="1" dirty="0">
                <a:solidFill>
                  <a:srgbClr val="404040"/>
                </a:solidFill>
                <a:latin typeface="Times New Roman"/>
                <a:cs typeface="Times New Roman"/>
              </a:rPr>
              <a:t>=</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3),</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4),</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(3,</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15" dirty="0">
                <a:solidFill>
                  <a:srgbClr val="404040"/>
                </a:solidFill>
                <a:latin typeface="Times New Roman"/>
                <a:cs typeface="Times New Roman"/>
              </a:rPr>
              <a:t> </a:t>
            </a:r>
            <a:r>
              <a:rPr sz="1800" b="1" spc="-10" dirty="0">
                <a:solidFill>
                  <a:srgbClr val="404040"/>
                </a:solidFill>
                <a:latin typeface="Times New Roman"/>
                <a:cs typeface="Times New Roman"/>
              </a:rPr>
              <a:t>(4,2)}</a:t>
            </a:r>
            <a:endParaRPr sz="1800" dirty="0">
              <a:latin typeface="Times New Roman"/>
              <a:cs typeface="Times New Roman"/>
            </a:endParaRPr>
          </a:p>
          <a:p>
            <a:pPr marL="50800">
              <a:lnSpc>
                <a:spcPct val="100000"/>
              </a:lnSpc>
              <a:spcBef>
                <a:spcPts val="1005"/>
              </a:spcBef>
            </a:pPr>
            <a:r>
              <a:rPr sz="1800" b="1" dirty="0">
                <a:solidFill>
                  <a:srgbClr val="404040"/>
                </a:solidFill>
                <a:latin typeface="Times New Roman"/>
                <a:cs typeface="Times New Roman"/>
              </a:rPr>
              <a:t>R</a:t>
            </a:r>
            <a:r>
              <a:rPr sz="1800" b="1" baseline="-20833" dirty="0">
                <a:solidFill>
                  <a:srgbClr val="404040"/>
                </a:solidFill>
                <a:latin typeface="Times New Roman"/>
                <a:cs typeface="Times New Roman"/>
              </a:rPr>
              <a:t>2</a:t>
            </a:r>
            <a:r>
              <a:rPr sz="1800" b="1" spc="195" baseline="-20833" dirty="0">
                <a:solidFill>
                  <a:srgbClr val="404040"/>
                </a:solidFill>
                <a:latin typeface="Times New Roman"/>
                <a:cs typeface="Times New Roman"/>
              </a:rPr>
              <a:t> </a:t>
            </a:r>
            <a:r>
              <a:rPr sz="1800" b="1" dirty="0">
                <a:solidFill>
                  <a:srgbClr val="404040"/>
                </a:solidFill>
                <a:latin typeface="Times New Roman"/>
                <a:cs typeface="Times New Roman"/>
              </a:rPr>
              <a:t>=</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(3,</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3),</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(4,</a:t>
            </a:r>
            <a:r>
              <a:rPr sz="1800" b="1" spc="-15" dirty="0">
                <a:solidFill>
                  <a:srgbClr val="404040"/>
                </a:solidFill>
                <a:latin typeface="Times New Roman"/>
                <a:cs typeface="Times New Roman"/>
              </a:rPr>
              <a:t> </a:t>
            </a:r>
            <a:r>
              <a:rPr sz="1800" b="1" spc="-25" dirty="0">
                <a:solidFill>
                  <a:srgbClr val="404040"/>
                </a:solidFill>
                <a:latin typeface="Times New Roman"/>
                <a:cs typeface="Times New Roman"/>
              </a:rPr>
              <a:t>4)}</a:t>
            </a:r>
            <a:endParaRPr sz="1800" dirty="0">
              <a:latin typeface="Times New Roman"/>
              <a:cs typeface="Times New Roman"/>
            </a:endParaRPr>
          </a:p>
          <a:p>
            <a:pPr marL="50800">
              <a:lnSpc>
                <a:spcPct val="100000"/>
              </a:lnSpc>
              <a:spcBef>
                <a:spcPts val="1005"/>
              </a:spcBef>
            </a:pPr>
            <a:r>
              <a:rPr sz="1800" b="1" dirty="0">
                <a:solidFill>
                  <a:srgbClr val="404040"/>
                </a:solidFill>
                <a:latin typeface="Times New Roman"/>
                <a:cs typeface="Times New Roman"/>
              </a:rPr>
              <a:t>R</a:t>
            </a:r>
            <a:r>
              <a:rPr sz="1800" b="1" baseline="-20833" dirty="0">
                <a:solidFill>
                  <a:srgbClr val="404040"/>
                </a:solidFill>
                <a:latin typeface="Times New Roman"/>
                <a:cs typeface="Times New Roman"/>
              </a:rPr>
              <a:t>3</a:t>
            </a:r>
            <a:r>
              <a:rPr sz="1800" b="1" spc="195" baseline="-20833" dirty="0">
                <a:solidFill>
                  <a:srgbClr val="404040"/>
                </a:solidFill>
                <a:latin typeface="Times New Roman"/>
                <a:cs typeface="Times New Roman"/>
              </a:rPr>
              <a:t> </a:t>
            </a:r>
            <a:r>
              <a:rPr sz="1800" b="1" dirty="0">
                <a:solidFill>
                  <a:srgbClr val="404040"/>
                </a:solidFill>
                <a:latin typeface="Times New Roman"/>
                <a:cs typeface="Times New Roman"/>
              </a:rPr>
              <a:t>=</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3),</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(3,</a:t>
            </a:r>
            <a:r>
              <a:rPr sz="1800" b="1" spc="-10" dirty="0">
                <a:solidFill>
                  <a:srgbClr val="404040"/>
                </a:solidFill>
                <a:latin typeface="Times New Roman"/>
                <a:cs typeface="Times New Roman"/>
              </a:rPr>
              <a:t> </a:t>
            </a:r>
            <a:r>
              <a:rPr sz="1800" b="1" spc="-25" dirty="0">
                <a:solidFill>
                  <a:srgbClr val="404040"/>
                </a:solidFill>
                <a:latin typeface="Times New Roman"/>
                <a:cs typeface="Times New Roman"/>
              </a:rPr>
              <a:t>4)}</a:t>
            </a:r>
            <a:endParaRPr sz="1800" dirty="0">
              <a:latin typeface="Times New Roman"/>
              <a:cs typeface="Times New Roman"/>
            </a:endParaRPr>
          </a:p>
          <a:p>
            <a:pPr marL="50800">
              <a:lnSpc>
                <a:spcPct val="100000"/>
              </a:lnSpc>
              <a:spcBef>
                <a:spcPts val="994"/>
              </a:spcBef>
            </a:pPr>
            <a:r>
              <a:rPr sz="1800" b="1" dirty="0">
                <a:solidFill>
                  <a:srgbClr val="404040"/>
                </a:solidFill>
                <a:latin typeface="Times New Roman"/>
                <a:cs typeface="Times New Roman"/>
              </a:rPr>
              <a:t>R</a:t>
            </a:r>
            <a:r>
              <a:rPr sz="1800" b="1" baseline="-20833" dirty="0">
                <a:solidFill>
                  <a:srgbClr val="404040"/>
                </a:solidFill>
                <a:latin typeface="Times New Roman"/>
                <a:cs typeface="Times New Roman"/>
              </a:rPr>
              <a:t>4</a:t>
            </a:r>
            <a:r>
              <a:rPr sz="1800" b="1" dirty="0">
                <a:solidFill>
                  <a:srgbClr val="404040"/>
                </a:solidFill>
                <a:latin typeface="Times New Roman"/>
                <a:cs typeface="Times New Roman"/>
              </a:rPr>
              <a:t>=</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(3,</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3),</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(4,</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3),</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(4,</a:t>
            </a:r>
            <a:r>
              <a:rPr sz="1800" b="1" spc="-10" dirty="0">
                <a:solidFill>
                  <a:srgbClr val="404040"/>
                </a:solidFill>
                <a:latin typeface="Times New Roman"/>
                <a:cs typeface="Times New Roman"/>
              </a:rPr>
              <a:t> </a:t>
            </a:r>
            <a:r>
              <a:rPr sz="1800" b="1" spc="-25" dirty="0">
                <a:solidFill>
                  <a:srgbClr val="404040"/>
                </a:solidFill>
                <a:latin typeface="Times New Roman"/>
                <a:cs typeface="Times New Roman"/>
              </a:rPr>
              <a:t>4)}</a:t>
            </a:r>
            <a:endParaRPr sz="1800" dirty="0">
              <a:latin typeface="Times New Roman"/>
              <a:cs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639148" y="3433851"/>
            <a:ext cx="255270" cy="274955"/>
          </a:xfrm>
          <a:custGeom>
            <a:avLst/>
            <a:gdLst/>
            <a:ahLst/>
            <a:cxnLst/>
            <a:rect l="l" t="t" r="r" b="b"/>
            <a:pathLst>
              <a:path w="255269" h="274954">
                <a:moveTo>
                  <a:pt x="254939" y="92989"/>
                </a:moveTo>
                <a:lnTo>
                  <a:pt x="240258" y="42278"/>
                </a:lnTo>
                <a:lnTo>
                  <a:pt x="200875" y="12687"/>
                </a:lnTo>
                <a:lnTo>
                  <a:pt x="152196" y="0"/>
                </a:lnTo>
                <a:lnTo>
                  <a:pt x="127457" y="0"/>
                </a:lnTo>
                <a:lnTo>
                  <a:pt x="73380" y="12687"/>
                </a:lnTo>
                <a:lnTo>
                  <a:pt x="24739" y="46494"/>
                </a:lnTo>
                <a:lnTo>
                  <a:pt x="0" y="97243"/>
                </a:lnTo>
                <a:lnTo>
                  <a:pt x="0" y="126834"/>
                </a:lnTo>
                <a:lnTo>
                  <a:pt x="24739" y="177546"/>
                </a:lnTo>
                <a:lnTo>
                  <a:pt x="73380" y="219824"/>
                </a:lnTo>
                <a:lnTo>
                  <a:pt x="110617" y="236791"/>
                </a:lnTo>
                <a:lnTo>
                  <a:pt x="44043" y="257860"/>
                </a:lnTo>
                <a:lnTo>
                  <a:pt x="48679" y="266331"/>
                </a:lnTo>
                <a:lnTo>
                  <a:pt x="54063" y="274764"/>
                </a:lnTo>
                <a:lnTo>
                  <a:pt x="142138" y="245173"/>
                </a:lnTo>
                <a:lnTo>
                  <a:pt x="156819" y="236740"/>
                </a:lnTo>
                <a:lnTo>
                  <a:pt x="146773" y="228269"/>
                </a:lnTo>
                <a:lnTo>
                  <a:pt x="78016" y="169087"/>
                </a:lnTo>
                <a:lnTo>
                  <a:pt x="63360" y="181775"/>
                </a:lnTo>
                <a:lnTo>
                  <a:pt x="99009" y="212471"/>
                </a:lnTo>
                <a:lnTo>
                  <a:pt x="83439" y="207149"/>
                </a:lnTo>
                <a:lnTo>
                  <a:pt x="63360" y="190233"/>
                </a:lnTo>
                <a:lnTo>
                  <a:pt x="44043" y="169087"/>
                </a:lnTo>
                <a:lnTo>
                  <a:pt x="29362" y="147955"/>
                </a:lnTo>
                <a:lnTo>
                  <a:pt x="19316" y="122593"/>
                </a:lnTo>
                <a:lnTo>
                  <a:pt x="19316" y="101460"/>
                </a:lnTo>
                <a:lnTo>
                  <a:pt x="39382" y="59182"/>
                </a:lnTo>
                <a:lnTo>
                  <a:pt x="83439" y="29591"/>
                </a:lnTo>
                <a:lnTo>
                  <a:pt x="127457" y="16929"/>
                </a:lnTo>
                <a:lnTo>
                  <a:pt x="152196" y="16929"/>
                </a:lnTo>
                <a:lnTo>
                  <a:pt x="190817" y="25374"/>
                </a:lnTo>
                <a:lnTo>
                  <a:pt x="220954" y="50736"/>
                </a:lnTo>
                <a:lnTo>
                  <a:pt x="235635" y="92989"/>
                </a:lnTo>
                <a:lnTo>
                  <a:pt x="230212" y="118364"/>
                </a:lnTo>
                <a:lnTo>
                  <a:pt x="215557" y="152184"/>
                </a:lnTo>
                <a:lnTo>
                  <a:pt x="196240" y="186016"/>
                </a:lnTo>
                <a:lnTo>
                  <a:pt x="161455" y="224053"/>
                </a:lnTo>
                <a:lnTo>
                  <a:pt x="181559" y="236740"/>
                </a:lnTo>
                <a:lnTo>
                  <a:pt x="210896" y="194462"/>
                </a:lnTo>
                <a:lnTo>
                  <a:pt x="235635" y="156425"/>
                </a:lnTo>
                <a:lnTo>
                  <a:pt x="250317" y="122593"/>
                </a:lnTo>
                <a:lnTo>
                  <a:pt x="254939" y="92989"/>
                </a:lnTo>
                <a:close/>
              </a:path>
            </a:pathLst>
          </a:custGeom>
          <a:solidFill>
            <a:srgbClr val="1F1A17"/>
          </a:solidFill>
        </p:spPr>
        <p:txBody>
          <a:bodyPr wrap="square" lIns="0" tIns="0" rIns="0" bIns="0" rtlCol="0"/>
          <a:lstStyle/>
          <a:p>
            <a:endParaRPr/>
          </a:p>
        </p:txBody>
      </p:sp>
      <p:grpSp>
        <p:nvGrpSpPr>
          <p:cNvPr id="3" name="object 3"/>
          <p:cNvGrpSpPr/>
          <p:nvPr/>
        </p:nvGrpSpPr>
        <p:grpSpPr>
          <a:xfrm>
            <a:off x="819783" y="3471900"/>
            <a:ext cx="42545" cy="40640"/>
            <a:chOff x="819783" y="3471900"/>
            <a:chExt cx="42545" cy="40640"/>
          </a:xfrm>
        </p:grpSpPr>
        <p:sp>
          <p:nvSpPr>
            <p:cNvPr id="4" name="object 4"/>
            <p:cNvSpPr/>
            <p:nvPr/>
          </p:nvSpPr>
          <p:spPr>
            <a:xfrm>
              <a:off x="819783" y="3471900"/>
              <a:ext cx="29845" cy="29845"/>
            </a:xfrm>
            <a:custGeom>
              <a:avLst/>
              <a:gdLst/>
              <a:ahLst/>
              <a:cxnLst/>
              <a:rect l="l" t="t" r="r" b="b"/>
              <a:pathLst>
                <a:path w="29844" h="29845">
                  <a:moveTo>
                    <a:pt x="14677" y="0"/>
                  </a:moveTo>
                  <a:lnTo>
                    <a:pt x="0" y="4220"/>
                  </a:lnTo>
                  <a:lnTo>
                    <a:pt x="0" y="25371"/>
                  </a:lnTo>
                  <a:lnTo>
                    <a:pt x="14677" y="29592"/>
                  </a:lnTo>
                  <a:lnTo>
                    <a:pt x="24721" y="25371"/>
                  </a:lnTo>
                  <a:lnTo>
                    <a:pt x="29357" y="16906"/>
                  </a:lnTo>
                  <a:lnTo>
                    <a:pt x="24721" y="4220"/>
                  </a:lnTo>
                  <a:lnTo>
                    <a:pt x="14677" y="0"/>
                  </a:lnTo>
                  <a:close/>
                </a:path>
              </a:pathLst>
            </a:custGeom>
            <a:solidFill>
              <a:srgbClr val="1F1A17"/>
            </a:solidFill>
          </p:spPr>
          <p:txBody>
            <a:bodyPr wrap="square" lIns="0" tIns="0" rIns="0" bIns="0" rtlCol="0"/>
            <a:lstStyle/>
            <a:p>
              <a:endParaRPr/>
            </a:p>
          </p:txBody>
        </p:sp>
        <p:sp>
          <p:nvSpPr>
            <p:cNvPr id="5" name="object 5"/>
            <p:cNvSpPr/>
            <p:nvPr/>
          </p:nvSpPr>
          <p:spPr>
            <a:xfrm>
              <a:off x="830597" y="3480341"/>
              <a:ext cx="29845" cy="29845"/>
            </a:xfrm>
            <a:custGeom>
              <a:avLst/>
              <a:gdLst/>
              <a:ahLst/>
              <a:cxnLst/>
              <a:rect l="l" t="t" r="r" b="b"/>
              <a:pathLst>
                <a:path w="29844" h="29845">
                  <a:moveTo>
                    <a:pt x="14680" y="0"/>
                  </a:moveTo>
                  <a:lnTo>
                    <a:pt x="24724" y="4245"/>
                  </a:lnTo>
                  <a:lnTo>
                    <a:pt x="29357" y="16931"/>
                  </a:lnTo>
                  <a:lnTo>
                    <a:pt x="24724" y="25371"/>
                  </a:lnTo>
                  <a:lnTo>
                    <a:pt x="14680" y="29592"/>
                  </a:lnTo>
                  <a:lnTo>
                    <a:pt x="0" y="25371"/>
                  </a:lnTo>
                  <a:lnTo>
                    <a:pt x="0" y="16931"/>
                  </a:lnTo>
                  <a:lnTo>
                    <a:pt x="0" y="4245"/>
                  </a:lnTo>
                  <a:lnTo>
                    <a:pt x="14680" y="0"/>
                  </a:lnTo>
                </a:path>
              </a:pathLst>
            </a:custGeom>
            <a:ln w="4135">
              <a:solidFill>
                <a:srgbClr val="1F1A17"/>
              </a:solidFill>
            </a:ln>
          </p:spPr>
          <p:txBody>
            <a:bodyPr wrap="square" lIns="0" tIns="0" rIns="0" bIns="0" rtlCol="0"/>
            <a:lstStyle/>
            <a:p>
              <a:endParaRPr/>
            </a:p>
          </p:txBody>
        </p:sp>
      </p:grpSp>
      <p:grpSp>
        <p:nvGrpSpPr>
          <p:cNvPr id="6" name="object 6"/>
          <p:cNvGrpSpPr/>
          <p:nvPr/>
        </p:nvGrpSpPr>
        <p:grpSpPr>
          <a:xfrm>
            <a:off x="815147" y="4960474"/>
            <a:ext cx="42545" cy="40640"/>
            <a:chOff x="815147" y="4960474"/>
            <a:chExt cx="42545" cy="40640"/>
          </a:xfrm>
        </p:grpSpPr>
        <p:sp>
          <p:nvSpPr>
            <p:cNvPr id="7" name="object 7"/>
            <p:cNvSpPr/>
            <p:nvPr/>
          </p:nvSpPr>
          <p:spPr>
            <a:xfrm>
              <a:off x="815147" y="4960474"/>
              <a:ext cx="29845" cy="29845"/>
            </a:xfrm>
            <a:custGeom>
              <a:avLst/>
              <a:gdLst/>
              <a:ahLst/>
              <a:cxnLst/>
              <a:rect l="l" t="t" r="r" b="b"/>
              <a:pathLst>
                <a:path w="29844" h="29845">
                  <a:moveTo>
                    <a:pt x="14679" y="0"/>
                  </a:moveTo>
                  <a:lnTo>
                    <a:pt x="4635" y="4245"/>
                  </a:lnTo>
                  <a:lnTo>
                    <a:pt x="0" y="16913"/>
                  </a:lnTo>
                  <a:lnTo>
                    <a:pt x="4635" y="25369"/>
                  </a:lnTo>
                  <a:lnTo>
                    <a:pt x="14679" y="29597"/>
                  </a:lnTo>
                  <a:lnTo>
                    <a:pt x="24723" y="25369"/>
                  </a:lnTo>
                  <a:lnTo>
                    <a:pt x="29356" y="16913"/>
                  </a:lnTo>
                  <a:lnTo>
                    <a:pt x="24723" y="4245"/>
                  </a:lnTo>
                  <a:lnTo>
                    <a:pt x="14679" y="0"/>
                  </a:lnTo>
                  <a:close/>
                </a:path>
              </a:pathLst>
            </a:custGeom>
            <a:solidFill>
              <a:srgbClr val="1F1A17"/>
            </a:solidFill>
          </p:spPr>
          <p:txBody>
            <a:bodyPr wrap="square" lIns="0" tIns="0" rIns="0" bIns="0" rtlCol="0"/>
            <a:lstStyle/>
            <a:p>
              <a:endParaRPr/>
            </a:p>
          </p:txBody>
        </p:sp>
        <p:sp>
          <p:nvSpPr>
            <p:cNvPr id="8" name="object 8"/>
            <p:cNvSpPr/>
            <p:nvPr/>
          </p:nvSpPr>
          <p:spPr>
            <a:xfrm>
              <a:off x="825964" y="4968939"/>
              <a:ext cx="29845" cy="29845"/>
            </a:xfrm>
            <a:custGeom>
              <a:avLst/>
              <a:gdLst/>
              <a:ahLst/>
              <a:cxnLst/>
              <a:rect l="l" t="t" r="r" b="b"/>
              <a:pathLst>
                <a:path w="29844" h="29845">
                  <a:moveTo>
                    <a:pt x="14677" y="0"/>
                  </a:moveTo>
                  <a:lnTo>
                    <a:pt x="24720" y="4220"/>
                  </a:lnTo>
                  <a:lnTo>
                    <a:pt x="29357" y="16903"/>
                  </a:lnTo>
                  <a:lnTo>
                    <a:pt x="24720" y="25356"/>
                  </a:lnTo>
                  <a:lnTo>
                    <a:pt x="14677" y="29584"/>
                  </a:lnTo>
                  <a:lnTo>
                    <a:pt x="4633" y="25356"/>
                  </a:lnTo>
                  <a:lnTo>
                    <a:pt x="0" y="16903"/>
                  </a:lnTo>
                  <a:lnTo>
                    <a:pt x="4633" y="4220"/>
                  </a:lnTo>
                  <a:lnTo>
                    <a:pt x="14677" y="0"/>
                  </a:lnTo>
                </a:path>
              </a:pathLst>
            </a:custGeom>
            <a:ln w="4135">
              <a:solidFill>
                <a:srgbClr val="1F1A17"/>
              </a:solidFill>
            </a:ln>
          </p:spPr>
          <p:txBody>
            <a:bodyPr wrap="square" lIns="0" tIns="0" rIns="0" bIns="0" rtlCol="0"/>
            <a:lstStyle/>
            <a:p>
              <a:endParaRPr/>
            </a:p>
          </p:txBody>
        </p:sp>
      </p:grpSp>
      <p:grpSp>
        <p:nvGrpSpPr>
          <p:cNvPr id="9" name="object 9"/>
          <p:cNvGrpSpPr/>
          <p:nvPr/>
        </p:nvGrpSpPr>
        <p:grpSpPr>
          <a:xfrm>
            <a:off x="2800608" y="3645208"/>
            <a:ext cx="42545" cy="40640"/>
            <a:chOff x="2800608" y="3645208"/>
            <a:chExt cx="42545" cy="40640"/>
          </a:xfrm>
        </p:grpSpPr>
        <p:sp>
          <p:nvSpPr>
            <p:cNvPr id="10" name="object 10"/>
            <p:cNvSpPr/>
            <p:nvPr/>
          </p:nvSpPr>
          <p:spPr>
            <a:xfrm>
              <a:off x="2800608" y="3645208"/>
              <a:ext cx="29845" cy="29845"/>
            </a:xfrm>
            <a:custGeom>
              <a:avLst/>
              <a:gdLst/>
              <a:ahLst/>
              <a:cxnLst/>
              <a:rect l="l" t="t" r="r" b="b"/>
              <a:pathLst>
                <a:path w="29844" h="29845">
                  <a:moveTo>
                    <a:pt x="14683" y="0"/>
                  </a:moveTo>
                  <a:lnTo>
                    <a:pt x="5423" y="4220"/>
                  </a:lnTo>
                  <a:lnTo>
                    <a:pt x="0" y="16906"/>
                  </a:lnTo>
                  <a:lnTo>
                    <a:pt x="5423" y="25371"/>
                  </a:lnTo>
                  <a:lnTo>
                    <a:pt x="14683" y="29592"/>
                  </a:lnTo>
                  <a:lnTo>
                    <a:pt x="24736" y="25371"/>
                  </a:lnTo>
                  <a:lnTo>
                    <a:pt x="29367" y="16906"/>
                  </a:lnTo>
                  <a:lnTo>
                    <a:pt x="24736" y="4220"/>
                  </a:lnTo>
                  <a:lnTo>
                    <a:pt x="14683" y="0"/>
                  </a:lnTo>
                  <a:close/>
                </a:path>
              </a:pathLst>
            </a:custGeom>
            <a:solidFill>
              <a:srgbClr val="1F1A17"/>
            </a:solidFill>
          </p:spPr>
          <p:txBody>
            <a:bodyPr wrap="square" lIns="0" tIns="0" rIns="0" bIns="0" rtlCol="0"/>
            <a:lstStyle/>
            <a:p>
              <a:endParaRPr/>
            </a:p>
          </p:txBody>
        </p:sp>
        <p:sp>
          <p:nvSpPr>
            <p:cNvPr id="11" name="object 11"/>
            <p:cNvSpPr/>
            <p:nvPr/>
          </p:nvSpPr>
          <p:spPr>
            <a:xfrm>
              <a:off x="2811422" y="3653674"/>
              <a:ext cx="29845" cy="29845"/>
            </a:xfrm>
            <a:custGeom>
              <a:avLst/>
              <a:gdLst/>
              <a:ahLst/>
              <a:cxnLst/>
              <a:rect l="l" t="t" r="r" b="b"/>
              <a:pathLst>
                <a:path w="29844" h="29845">
                  <a:moveTo>
                    <a:pt x="14683" y="0"/>
                  </a:moveTo>
                  <a:lnTo>
                    <a:pt x="24736" y="4220"/>
                  </a:lnTo>
                  <a:lnTo>
                    <a:pt x="29367" y="16906"/>
                  </a:lnTo>
                  <a:lnTo>
                    <a:pt x="24736" y="25347"/>
                  </a:lnTo>
                  <a:lnTo>
                    <a:pt x="14683" y="29592"/>
                  </a:lnTo>
                  <a:lnTo>
                    <a:pt x="5423" y="25347"/>
                  </a:lnTo>
                  <a:lnTo>
                    <a:pt x="0" y="16906"/>
                  </a:lnTo>
                  <a:lnTo>
                    <a:pt x="5423" y="4220"/>
                  </a:lnTo>
                  <a:lnTo>
                    <a:pt x="14683" y="0"/>
                  </a:lnTo>
                </a:path>
              </a:pathLst>
            </a:custGeom>
            <a:ln w="4135">
              <a:solidFill>
                <a:srgbClr val="1F1A17"/>
              </a:solidFill>
            </a:ln>
          </p:spPr>
          <p:txBody>
            <a:bodyPr wrap="square" lIns="0" tIns="0" rIns="0" bIns="0" rtlCol="0"/>
            <a:lstStyle/>
            <a:p>
              <a:endParaRPr/>
            </a:p>
          </p:txBody>
        </p:sp>
      </p:grpSp>
      <p:grpSp>
        <p:nvGrpSpPr>
          <p:cNvPr id="12" name="object 12"/>
          <p:cNvGrpSpPr/>
          <p:nvPr/>
        </p:nvGrpSpPr>
        <p:grpSpPr>
          <a:xfrm>
            <a:off x="815147" y="3649429"/>
            <a:ext cx="2275205" cy="1560830"/>
            <a:chOff x="815147" y="3649429"/>
            <a:chExt cx="2275205" cy="1560830"/>
          </a:xfrm>
        </p:grpSpPr>
        <p:sp>
          <p:nvSpPr>
            <p:cNvPr id="13" name="object 13"/>
            <p:cNvSpPr/>
            <p:nvPr/>
          </p:nvSpPr>
          <p:spPr>
            <a:xfrm>
              <a:off x="2776664" y="4968939"/>
              <a:ext cx="29845" cy="29845"/>
            </a:xfrm>
            <a:custGeom>
              <a:avLst/>
              <a:gdLst/>
              <a:ahLst/>
              <a:cxnLst/>
              <a:rect l="l" t="t" r="r" b="b"/>
              <a:pathLst>
                <a:path w="29844" h="29845">
                  <a:moveTo>
                    <a:pt x="14683" y="0"/>
                  </a:moveTo>
                  <a:lnTo>
                    <a:pt x="4630" y="4220"/>
                  </a:lnTo>
                  <a:lnTo>
                    <a:pt x="0" y="16903"/>
                  </a:lnTo>
                  <a:lnTo>
                    <a:pt x="4630" y="25356"/>
                  </a:lnTo>
                  <a:lnTo>
                    <a:pt x="14683" y="29584"/>
                  </a:lnTo>
                  <a:lnTo>
                    <a:pt x="29367" y="25356"/>
                  </a:lnTo>
                  <a:lnTo>
                    <a:pt x="29367" y="4220"/>
                  </a:lnTo>
                  <a:lnTo>
                    <a:pt x="14683" y="0"/>
                  </a:lnTo>
                  <a:close/>
                </a:path>
              </a:pathLst>
            </a:custGeom>
            <a:solidFill>
              <a:srgbClr val="1F1A17"/>
            </a:solidFill>
          </p:spPr>
          <p:txBody>
            <a:bodyPr wrap="square" lIns="0" tIns="0" rIns="0" bIns="0" rtlCol="0"/>
            <a:lstStyle/>
            <a:p>
              <a:endParaRPr/>
            </a:p>
          </p:txBody>
        </p:sp>
        <p:sp>
          <p:nvSpPr>
            <p:cNvPr id="14" name="object 14"/>
            <p:cNvSpPr/>
            <p:nvPr/>
          </p:nvSpPr>
          <p:spPr>
            <a:xfrm>
              <a:off x="2787479" y="4977388"/>
              <a:ext cx="29845" cy="29845"/>
            </a:xfrm>
            <a:custGeom>
              <a:avLst/>
              <a:gdLst/>
              <a:ahLst/>
              <a:cxnLst/>
              <a:rect l="l" t="t" r="r" b="b"/>
              <a:pathLst>
                <a:path w="29844" h="29845">
                  <a:moveTo>
                    <a:pt x="14683" y="0"/>
                  </a:moveTo>
                  <a:lnTo>
                    <a:pt x="29367" y="4227"/>
                  </a:lnTo>
                  <a:lnTo>
                    <a:pt x="29367" y="16908"/>
                  </a:lnTo>
                  <a:lnTo>
                    <a:pt x="29367" y="25364"/>
                  </a:lnTo>
                  <a:lnTo>
                    <a:pt x="14683" y="29592"/>
                  </a:lnTo>
                  <a:lnTo>
                    <a:pt x="4630" y="25364"/>
                  </a:lnTo>
                  <a:lnTo>
                    <a:pt x="0" y="16908"/>
                  </a:lnTo>
                  <a:lnTo>
                    <a:pt x="4630" y="4227"/>
                  </a:lnTo>
                  <a:lnTo>
                    <a:pt x="14683" y="0"/>
                  </a:lnTo>
                </a:path>
              </a:pathLst>
            </a:custGeom>
            <a:ln w="4135">
              <a:solidFill>
                <a:srgbClr val="1F1A17"/>
              </a:solidFill>
            </a:ln>
          </p:spPr>
          <p:txBody>
            <a:bodyPr wrap="square" lIns="0" tIns="0" rIns="0" bIns="0" rtlCol="0"/>
            <a:lstStyle/>
            <a:p>
              <a:endParaRPr/>
            </a:p>
          </p:txBody>
        </p:sp>
        <p:sp>
          <p:nvSpPr>
            <p:cNvPr id="15" name="object 15"/>
            <p:cNvSpPr/>
            <p:nvPr/>
          </p:nvSpPr>
          <p:spPr>
            <a:xfrm>
              <a:off x="844504" y="4994296"/>
              <a:ext cx="1932305" cy="215900"/>
            </a:xfrm>
            <a:custGeom>
              <a:avLst/>
              <a:gdLst/>
              <a:ahLst/>
              <a:cxnLst/>
              <a:rect l="l" t="t" r="r" b="b"/>
              <a:pathLst>
                <a:path w="1932305" h="215900">
                  <a:moveTo>
                    <a:pt x="1922106" y="0"/>
                  </a:moveTo>
                  <a:lnTo>
                    <a:pt x="1843329" y="38045"/>
                  </a:lnTo>
                  <a:lnTo>
                    <a:pt x="1686504" y="97227"/>
                  </a:lnTo>
                  <a:lnTo>
                    <a:pt x="1608456" y="122589"/>
                  </a:lnTo>
                  <a:lnTo>
                    <a:pt x="1525017" y="139498"/>
                  </a:lnTo>
                  <a:lnTo>
                    <a:pt x="1368192" y="173315"/>
                  </a:lnTo>
                  <a:lnTo>
                    <a:pt x="1289383" y="181771"/>
                  </a:lnTo>
                  <a:lnTo>
                    <a:pt x="1215997" y="190224"/>
                  </a:lnTo>
                  <a:lnTo>
                    <a:pt x="1137188" y="194452"/>
                  </a:lnTo>
                  <a:lnTo>
                    <a:pt x="985787" y="194452"/>
                  </a:lnTo>
                  <a:lnTo>
                    <a:pt x="843645" y="190224"/>
                  </a:lnTo>
                  <a:lnTo>
                    <a:pt x="706102" y="177543"/>
                  </a:lnTo>
                  <a:lnTo>
                    <a:pt x="573253" y="156406"/>
                  </a:lnTo>
                  <a:lnTo>
                    <a:pt x="455816" y="135272"/>
                  </a:lnTo>
                  <a:lnTo>
                    <a:pt x="347640" y="109908"/>
                  </a:lnTo>
                  <a:lnTo>
                    <a:pt x="98116" y="33820"/>
                  </a:lnTo>
                  <a:lnTo>
                    <a:pt x="4636" y="0"/>
                  </a:lnTo>
                  <a:lnTo>
                    <a:pt x="0" y="16908"/>
                  </a:lnTo>
                  <a:lnTo>
                    <a:pt x="88072" y="50726"/>
                  </a:lnTo>
                  <a:lnTo>
                    <a:pt x="244900" y="97227"/>
                  </a:lnTo>
                  <a:lnTo>
                    <a:pt x="343010" y="126817"/>
                  </a:lnTo>
                  <a:lnTo>
                    <a:pt x="451186" y="152181"/>
                  </a:lnTo>
                  <a:lnTo>
                    <a:pt x="573253" y="173315"/>
                  </a:lnTo>
                  <a:lnTo>
                    <a:pt x="700711" y="194452"/>
                  </a:lnTo>
                  <a:lnTo>
                    <a:pt x="843645" y="207134"/>
                  </a:lnTo>
                  <a:lnTo>
                    <a:pt x="985787" y="211361"/>
                  </a:lnTo>
                  <a:lnTo>
                    <a:pt x="1063803" y="215588"/>
                  </a:lnTo>
                  <a:lnTo>
                    <a:pt x="1215997" y="207134"/>
                  </a:lnTo>
                  <a:lnTo>
                    <a:pt x="1372822" y="190224"/>
                  </a:lnTo>
                  <a:lnTo>
                    <a:pt x="1451631" y="173315"/>
                  </a:lnTo>
                  <a:lnTo>
                    <a:pt x="1534309" y="156406"/>
                  </a:lnTo>
                  <a:lnTo>
                    <a:pt x="1613087" y="139498"/>
                  </a:lnTo>
                  <a:lnTo>
                    <a:pt x="1691895" y="114136"/>
                  </a:lnTo>
                  <a:lnTo>
                    <a:pt x="1775335" y="84546"/>
                  </a:lnTo>
                  <a:lnTo>
                    <a:pt x="1853351" y="54954"/>
                  </a:lnTo>
                  <a:lnTo>
                    <a:pt x="1932160" y="16908"/>
                  </a:lnTo>
                  <a:lnTo>
                    <a:pt x="1922106" y="0"/>
                  </a:lnTo>
                  <a:close/>
                </a:path>
              </a:pathLst>
            </a:custGeom>
            <a:solidFill>
              <a:srgbClr val="1F1A17"/>
            </a:solidFill>
          </p:spPr>
          <p:txBody>
            <a:bodyPr wrap="square" lIns="0" tIns="0" rIns="0" bIns="0" rtlCol="0"/>
            <a:lstStyle/>
            <a:p>
              <a:endParaRPr/>
            </a:p>
          </p:txBody>
        </p:sp>
        <p:pic>
          <p:nvPicPr>
            <p:cNvPr id="16" name="object 16"/>
            <p:cNvPicPr/>
            <p:nvPr/>
          </p:nvPicPr>
          <p:blipFill>
            <a:blip r:embed="rId2" cstate="print"/>
            <a:stretch>
              <a:fillRect/>
            </a:stretch>
          </p:blipFill>
          <p:spPr>
            <a:xfrm>
              <a:off x="815147" y="4977388"/>
              <a:ext cx="112792" cy="97227"/>
            </a:xfrm>
            <a:prstGeom prst="rect">
              <a:avLst/>
            </a:prstGeom>
          </p:spPr>
        </p:pic>
        <p:sp>
          <p:nvSpPr>
            <p:cNvPr id="17" name="object 17"/>
            <p:cNvSpPr/>
            <p:nvPr/>
          </p:nvSpPr>
          <p:spPr>
            <a:xfrm>
              <a:off x="2825345" y="3649429"/>
              <a:ext cx="265430" cy="1323975"/>
            </a:xfrm>
            <a:custGeom>
              <a:avLst/>
              <a:gdLst/>
              <a:ahLst/>
              <a:cxnLst/>
              <a:rect l="l" t="t" r="r" b="b"/>
              <a:pathLst>
                <a:path w="265430" h="1323975">
                  <a:moveTo>
                    <a:pt x="39388" y="0"/>
                  </a:moveTo>
                  <a:lnTo>
                    <a:pt x="19313" y="8465"/>
                  </a:lnTo>
                  <a:lnTo>
                    <a:pt x="64125" y="76090"/>
                  </a:lnTo>
                  <a:lnTo>
                    <a:pt x="98122" y="143740"/>
                  </a:lnTo>
                  <a:lnTo>
                    <a:pt x="132088" y="207145"/>
                  </a:lnTo>
                  <a:lnTo>
                    <a:pt x="162248" y="270550"/>
                  </a:lnTo>
                  <a:lnTo>
                    <a:pt x="186191" y="329734"/>
                  </a:lnTo>
                  <a:lnTo>
                    <a:pt x="200875" y="388919"/>
                  </a:lnTo>
                  <a:lnTo>
                    <a:pt x="220950" y="448103"/>
                  </a:lnTo>
                  <a:lnTo>
                    <a:pt x="230210" y="503663"/>
                  </a:lnTo>
                  <a:lnTo>
                    <a:pt x="240264" y="558603"/>
                  </a:lnTo>
                  <a:lnTo>
                    <a:pt x="244894" y="609321"/>
                  </a:lnTo>
                  <a:lnTo>
                    <a:pt x="244894" y="710784"/>
                  </a:lnTo>
                  <a:lnTo>
                    <a:pt x="240264" y="803781"/>
                  </a:lnTo>
                  <a:lnTo>
                    <a:pt x="220950" y="892558"/>
                  </a:lnTo>
                  <a:lnTo>
                    <a:pt x="196213" y="968649"/>
                  </a:lnTo>
                  <a:lnTo>
                    <a:pt x="171508" y="1040519"/>
                  </a:lnTo>
                  <a:lnTo>
                    <a:pt x="137511" y="1103924"/>
                  </a:lnTo>
                  <a:lnTo>
                    <a:pt x="108144" y="1163108"/>
                  </a:lnTo>
                  <a:lnTo>
                    <a:pt x="44018" y="1256105"/>
                  </a:lnTo>
                  <a:lnTo>
                    <a:pt x="0" y="1315290"/>
                  </a:lnTo>
                  <a:lnTo>
                    <a:pt x="19313" y="1323731"/>
                  </a:lnTo>
                  <a:lnTo>
                    <a:pt x="64125" y="1264546"/>
                  </a:lnTo>
                  <a:lnTo>
                    <a:pt x="122827" y="1171549"/>
                  </a:lnTo>
                  <a:lnTo>
                    <a:pt x="156824" y="1112365"/>
                  </a:lnTo>
                  <a:lnTo>
                    <a:pt x="186192" y="1048960"/>
                  </a:lnTo>
                  <a:lnTo>
                    <a:pt x="215527" y="972869"/>
                  </a:lnTo>
                  <a:lnTo>
                    <a:pt x="240264" y="892558"/>
                  </a:lnTo>
                  <a:lnTo>
                    <a:pt x="259577" y="808001"/>
                  </a:lnTo>
                  <a:lnTo>
                    <a:pt x="264969" y="710784"/>
                  </a:lnTo>
                  <a:lnTo>
                    <a:pt x="264969" y="609321"/>
                  </a:lnTo>
                  <a:lnTo>
                    <a:pt x="259577" y="558603"/>
                  </a:lnTo>
                  <a:lnTo>
                    <a:pt x="240264" y="443858"/>
                  </a:lnTo>
                  <a:lnTo>
                    <a:pt x="225580" y="384699"/>
                  </a:lnTo>
                  <a:lnTo>
                    <a:pt x="200875" y="325514"/>
                  </a:lnTo>
                  <a:lnTo>
                    <a:pt x="181561" y="262109"/>
                  </a:lnTo>
                  <a:lnTo>
                    <a:pt x="152194" y="198680"/>
                  </a:lnTo>
                  <a:lnTo>
                    <a:pt x="117436" y="135275"/>
                  </a:lnTo>
                  <a:lnTo>
                    <a:pt x="78808" y="67650"/>
                  </a:lnTo>
                  <a:lnTo>
                    <a:pt x="39388" y="0"/>
                  </a:lnTo>
                  <a:close/>
                </a:path>
              </a:pathLst>
            </a:custGeom>
            <a:solidFill>
              <a:srgbClr val="1F1A17"/>
            </a:solidFill>
          </p:spPr>
          <p:txBody>
            <a:bodyPr wrap="square" lIns="0" tIns="0" rIns="0" bIns="0" rtlCol="0"/>
            <a:lstStyle/>
            <a:p>
              <a:endParaRPr/>
            </a:p>
          </p:txBody>
        </p:sp>
        <p:pic>
          <p:nvPicPr>
            <p:cNvPr id="18" name="object 18"/>
            <p:cNvPicPr/>
            <p:nvPr/>
          </p:nvPicPr>
          <p:blipFill>
            <a:blip r:embed="rId3" cstate="print"/>
            <a:stretch>
              <a:fillRect/>
            </a:stretch>
          </p:blipFill>
          <p:spPr>
            <a:xfrm>
              <a:off x="2810661" y="4897069"/>
              <a:ext cx="108144" cy="97227"/>
            </a:xfrm>
            <a:prstGeom prst="rect">
              <a:avLst/>
            </a:prstGeom>
          </p:spPr>
        </p:pic>
      </p:grpSp>
      <p:grpSp>
        <p:nvGrpSpPr>
          <p:cNvPr id="19" name="object 19"/>
          <p:cNvGrpSpPr/>
          <p:nvPr/>
        </p:nvGrpSpPr>
        <p:grpSpPr>
          <a:xfrm>
            <a:off x="4110374" y="3222859"/>
            <a:ext cx="268605" cy="290195"/>
            <a:chOff x="4110374" y="3222859"/>
            <a:chExt cx="268605" cy="290195"/>
          </a:xfrm>
        </p:grpSpPr>
        <p:sp>
          <p:nvSpPr>
            <p:cNvPr id="20" name="object 20"/>
            <p:cNvSpPr/>
            <p:nvPr/>
          </p:nvSpPr>
          <p:spPr>
            <a:xfrm>
              <a:off x="4120681" y="3222859"/>
              <a:ext cx="257810" cy="249554"/>
            </a:xfrm>
            <a:custGeom>
              <a:avLst/>
              <a:gdLst/>
              <a:ahLst/>
              <a:cxnLst/>
              <a:rect l="l" t="t" r="r" b="b"/>
              <a:pathLst>
                <a:path w="257810" h="249554">
                  <a:moveTo>
                    <a:pt x="149887" y="0"/>
                  </a:moveTo>
                  <a:lnTo>
                    <a:pt x="123716" y="0"/>
                  </a:lnTo>
                  <a:lnTo>
                    <a:pt x="92788" y="4483"/>
                  </a:lnTo>
                  <a:lnTo>
                    <a:pt x="66617" y="13398"/>
                  </a:lnTo>
                  <a:lnTo>
                    <a:pt x="15069" y="49111"/>
                  </a:lnTo>
                  <a:lnTo>
                    <a:pt x="0" y="75909"/>
                  </a:lnTo>
                  <a:lnTo>
                    <a:pt x="20620" y="84850"/>
                  </a:lnTo>
                  <a:lnTo>
                    <a:pt x="35687" y="62510"/>
                  </a:lnTo>
                  <a:lnTo>
                    <a:pt x="51551" y="44653"/>
                  </a:lnTo>
                  <a:lnTo>
                    <a:pt x="76927" y="31255"/>
                  </a:lnTo>
                  <a:lnTo>
                    <a:pt x="97545" y="22340"/>
                  </a:lnTo>
                  <a:lnTo>
                    <a:pt x="123716" y="17882"/>
                  </a:lnTo>
                  <a:lnTo>
                    <a:pt x="149887" y="17882"/>
                  </a:lnTo>
                  <a:lnTo>
                    <a:pt x="170507" y="22340"/>
                  </a:lnTo>
                  <a:lnTo>
                    <a:pt x="195884" y="26797"/>
                  </a:lnTo>
                  <a:lnTo>
                    <a:pt x="226815" y="53595"/>
                  </a:lnTo>
                  <a:lnTo>
                    <a:pt x="232365" y="75909"/>
                  </a:lnTo>
                  <a:lnTo>
                    <a:pt x="237122" y="98222"/>
                  </a:lnTo>
                  <a:lnTo>
                    <a:pt x="232365" y="125020"/>
                  </a:lnTo>
                  <a:lnTo>
                    <a:pt x="216505" y="160103"/>
                  </a:lnTo>
                  <a:lnTo>
                    <a:pt x="195884" y="195816"/>
                  </a:lnTo>
                  <a:lnTo>
                    <a:pt x="164957" y="236012"/>
                  </a:lnTo>
                  <a:lnTo>
                    <a:pt x="180818" y="249411"/>
                  </a:lnTo>
                  <a:lnTo>
                    <a:pt x="216505" y="204757"/>
                  </a:lnTo>
                  <a:lnTo>
                    <a:pt x="237122" y="164561"/>
                  </a:lnTo>
                  <a:lnTo>
                    <a:pt x="252986" y="129478"/>
                  </a:lnTo>
                  <a:lnTo>
                    <a:pt x="257742" y="98222"/>
                  </a:lnTo>
                  <a:lnTo>
                    <a:pt x="252986" y="71451"/>
                  </a:lnTo>
                  <a:lnTo>
                    <a:pt x="242676" y="44653"/>
                  </a:lnTo>
                  <a:lnTo>
                    <a:pt x="226815" y="26797"/>
                  </a:lnTo>
                  <a:lnTo>
                    <a:pt x="206194" y="13398"/>
                  </a:lnTo>
                  <a:lnTo>
                    <a:pt x="180818" y="4483"/>
                  </a:lnTo>
                  <a:lnTo>
                    <a:pt x="149887" y="0"/>
                  </a:lnTo>
                  <a:close/>
                </a:path>
              </a:pathLst>
            </a:custGeom>
            <a:solidFill>
              <a:srgbClr val="1F1A17"/>
            </a:solidFill>
          </p:spPr>
          <p:txBody>
            <a:bodyPr wrap="square" lIns="0" tIns="0" rIns="0" bIns="0" rtlCol="0"/>
            <a:lstStyle/>
            <a:p>
              <a:endParaRPr/>
            </a:p>
          </p:txBody>
        </p:sp>
        <p:pic>
          <p:nvPicPr>
            <p:cNvPr id="21" name="object 21"/>
            <p:cNvPicPr/>
            <p:nvPr/>
          </p:nvPicPr>
          <p:blipFill>
            <a:blip r:embed="rId4" cstate="print"/>
            <a:stretch>
              <a:fillRect/>
            </a:stretch>
          </p:blipFill>
          <p:spPr>
            <a:xfrm>
              <a:off x="4110374" y="3298768"/>
              <a:ext cx="170504" cy="213672"/>
            </a:xfrm>
            <a:prstGeom prst="rect">
              <a:avLst/>
            </a:prstGeom>
          </p:spPr>
        </p:pic>
      </p:grpSp>
      <p:grpSp>
        <p:nvGrpSpPr>
          <p:cNvPr id="22" name="object 22"/>
          <p:cNvGrpSpPr/>
          <p:nvPr/>
        </p:nvGrpSpPr>
        <p:grpSpPr>
          <a:xfrm>
            <a:off x="4089753" y="4613319"/>
            <a:ext cx="268605" cy="290195"/>
            <a:chOff x="4089753" y="4613319"/>
            <a:chExt cx="268605" cy="290195"/>
          </a:xfrm>
        </p:grpSpPr>
        <p:sp>
          <p:nvSpPr>
            <p:cNvPr id="23" name="object 23"/>
            <p:cNvSpPr/>
            <p:nvPr/>
          </p:nvSpPr>
          <p:spPr>
            <a:xfrm>
              <a:off x="4094512" y="4613319"/>
              <a:ext cx="263525" cy="249554"/>
            </a:xfrm>
            <a:custGeom>
              <a:avLst/>
              <a:gdLst/>
              <a:ahLst/>
              <a:cxnLst/>
              <a:rect l="l" t="t" r="r" b="b"/>
              <a:pathLst>
                <a:path w="263525" h="249554">
                  <a:moveTo>
                    <a:pt x="154645" y="0"/>
                  </a:moveTo>
                  <a:lnTo>
                    <a:pt x="123714" y="0"/>
                  </a:lnTo>
                  <a:lnTo>
                    <a:pt x="98337" y="4457"/>
                  </a:lnTo>
                  <a:lnTo>
                    <a:pt x="67410" y="17856"/>
                  </a:lnTo>
                  <a:lnTo>
                    <a:pt x="41239" y="31255"/>
                  </a:lnTo>
                  <a:lnTo>
                    <a:pt x="0" y="75909"/>
                  </a:lnTo>
                  <a:lnTo>
                    <a:pt x="20618" y="84194"/>
                  </a:lnTo>
                  <a:lnTo>
                    <a:pt x="36479" y="62510"/>
                  </a:lnTo>
                  <a:lnTo>
                    <a:pt x="57100" y="44653"/>
                  </a:lnTo>
                  <a:lnTo>
                    <a:pt x="77720" y="31255"/>
                  </a:lnTo>
                  <a:lnTo>
                    <a:pt x="103097" y="22313"/>
                  </a:lnTo>
                  <a:lnTo>
                    <a:pt x="129268" y="17856"/>
                  </a:lnTo>
                  <a:lnTo>
                    <a:pt x="154645" y="17856"/>
                  </a:lnTo>
                  <a:lnTo>
                    <a:pt x="176056" y="22313"/>
                  </a:lnTo>
                  <a:lnTo>
                    <a:pt x="217297" y="40196"/>
                  </a:lnTo>
                  <a:lnTo>
                    <a:pt x="237914" y="75909"/>
                  </a:lnTo>
                  <a:lnTo>
                    <a:pt x="237915" y="128848"/>
                  </a:lnTo>
                  <a:lnTo>
                    <a:pt x="222054" y="160103"/>
                  </a:lnTo>
                  <a:lnTo>
                    <a:pt x="201436" y="195816"/>
                  </a:lnTo>
                  <a:lnTo>
                    <a:pt x="164955" y="240462"/>
                  </a:lnTo>
                  <a:lnTo>
                    <a:pt x="180816" y="249390"/>
                  </a:lnTo>
                  <a:lnTo>
                    <a:pt x="217297" y="209215"/>
                  </a:lnTo>
                  <a:lnTo>
                    <a:pt x="242674" y="169018"/>
                  </a:lnTo>
                  <a:lnTo>
                    <a:pt x="258535" y="133306"/>
                  </a:lnTo>
                  <a:lnTo>
                    <a:pt x="263291" y="102051"/>
                  </a:lnTo>
                  <a:lnTo>
                    <a:pt x="258535" y="71451"/>
                  </a:lnTo>
                  <a:lnTo>
                    <a:pt x="248225" y="49111"/>
                  </a:lnTo>
                  <a:lnTo>
                    <a:pt x="232364" y="31255"/>
                  </a:lnTo>
                  <a:lnTo>
                    <a:pt x="206987" y="13398"/>
                  </a:lnTo>
                  <a:lnTo>
                    <a:pt x="180816" y="4457"/>
                  </a:lnTo>
                  <a:lnTo>
                    <a:pt x="154645" y="0"/>
                  </a:lnTo>
                  <a:close/>
                </a:path>
              </a:pathLst>
            </a:custGeom>
            <a:solidFill>
              <a:srgbClr val="1F1A17"/>
            </a:solidFill>
          </p:spPr>
          <p:txBody>
            <a:bodyPr wrap="square" lIns="0" tIns="0" rIns="0" bIns="0" rtlCol="0"/>
            <a:lstStyle/>
            <a:p>
              <a:endParaRPr/>
            </a:p>
          </p:txBody>
        </p:sp>
        <p:pic>
          <p:nvPicPr>
            <p:cNvPr id="24" name="object 24"/>
            <p:cNvPicPr/>
            <p:nvPr/>
          </p:nvPicPr>
          <p:blipFill>
            <a:blip r:embed="rId5" cstate="print"/>
            <a:stretch>
              <a:fillRect/>
            </a:stretch>
          </p:blipFill>
          <p:spPr>
            <a:xfrm>
              <a:off x="4089753" y="4689228"/>
              <a:ext cx="164954" cy="213665"/>
            </a:xfrm>
            <a:prstGeom prst="rect">
              <a:avLst/>
            </a:prstGeom>
          </p:spPr>
        </p:pic>
      </p:grpSp>
      <p:grpSp>
        <p:nvGrpSpPr>
          <p:cNvPr id="25" name="object 25"/>
          <p:cNvGrpSpPr/>
          <p:nvPr/>
        </p:nvGrpSpPr>
        <p:grpSpPr>
          <a:xfrm>
            <a:off x="6154863" y="3231800"/>
            <a:ext cx="269240" cy="290195"/>
            <a:chOff x="6154863" y="3231800"/>
            <a:chExt cx="269240" cy="290195"/>
          </a:xfrm>
        </p:grpSpPr>
        <p:sp>
          <p:nvSpPr>
            <p:cNvPr id="26" name="object 26"/>
            <p:cNvSpPr/>
            <p:nvPr/>
          </p:nvSpPr>
          <p:spPr>
            <a:xfrm>
              <a:off x="6165183" y="3231800"/>
              <a:ext cx="259079" cy="249554"/>
            </a:xfrm>
            <a:custGeom>
              <a:avLst/>
              <a:gdLst/>
              <a:ahLst/>
              <a:cxnLst/>
              <a:rect l="l" t="t" r="r" b="b"/>
              <a:pathLst>
                <a:path w="259079" h="249554">
                  <a:moveTo>
                    <a:pt x="155418" y="0"/>
                  </a:moveTo>
                  <a:lnTo>
                    <a:pt x="124491" y="0"/>
                  </a:lnTo>
                  <a:lnTo>
                    <a:pt x="98316" y="4457"/>
                  </a:lnTo>
                  <a:lnTo>
                    <a:pt x="67389" y="13398"/>
                  </a:lnTo>
                  <a:lnTo>
                    <a:pt x="42028" y="31255"/>
                  </a:lnTo>
                  <a:lnTo>
                    <a:pt x="20607" y="49111"/>
                  </a:lnTo>
                  <a:lnTo>
                    <a:pt x="0" y="75909"/>
                  </a:lnTo>
                  <a:lnTo>
                    <a:pt x="20607" y="84824"/>
                  </a:lnTo>
                  <a:lnTo>
                    <a:pt x="36461" y="62510"/>
                  </a:lnTo>
                  <a:lnTo>
                    <a:pt x="57101" y="44653"/>
                  </a:lnTo>
                  <a:lnTo>
                    <a:pt x="77709" y="31255"/>
                  </a:lnTo>
                  <a:lnTo>
                    <a:pt x="103883" y="22313"/>
                  </a:lnTo>
                  <a:lnTo>
                    <a:pt x="129244" y="17856"/>
                  </a:lnTo>
                  <a:lnTo>
                    <a:pt x="155418" y="17856"/>
                  </a:lnTo>
                  <a:lnTo>
                    <a:pt x="196665" y="26797"/>
                  </a:lnTo>
                  <a:lnTo>
                    <a:pt x="217273" y="40170"/>
                  </a:lnTo>
                  <a:lnTo>
                    <a:pt x="237913" y="75909"/>
                  </a:lnTo>
                  <a:lnTo>
                    <a:pt x="237913" y="125020"/>
                  </a:lnTo>
                  <a:lnTo>
                    <a:pt x="222059" y="160103"/>
                  </a:lnTo>
                  <a:lnTo>
                    <a:pt x="201419" y="195816"/>
                  </a:lnTo>
                  <a:lnTo>
                    <a:pt x="165738" y="235986"/>
                  </a:lnTo>
                  <a:lnTo>
                    <a:pt x="180811" y="249385"/>
                  </a:lnTo>
                  <a:lnTo>
                    <a:pt x="217273" y="204731"/>
                  </a:lnTo>
                  <a:lnTo>
                    <a:pt x="242666" y="164561"/>
                  </a:lnTo>
                  <a:lnTo>
                    <a:pt x="258520" y="129478"/>
                  </a:lnTo>
                  <a:lnTo>
                    <a:pt x="258520" y="71425"/>
                  </a:lnTo>
                  <a:lnTo>
                    <a:pt x="248200" y="49111"/>
                  </a:lnTo>
                  <a:lnTo>
                    <a:pt x="227593" y="26797"/>
                  </a:lnTo>
                  <a:lnTo>
                    <a:pt x="206985" y="13398"/>
                  </a:lnTo>
                  <a:lnTo>
                    <a:pt x="180811" y="4457"/>
                  </a:lnTo>
                  <a:lnTo>
                    <a:pt x="155418" y="0"/>
                  </a:lnTo>
                  <a:close/>
                </a:path>
              </a:pathLst>
            </a:custGeom>
            <a:solidFill>
              <a:srgbClr val="1F1A17"/>
            </a:solidFill>
          </p:spPr>
          <p:txBody>
            <a:bodyPr wrap="square" lIns="0" tIns="0" rIns="0" bIns="0" rtlCol="0"/>
            <a:lstStyle/>
            <a:p>
              <a:endParaRPr/>
            </a:p>
          </p:txBody>
        </p:sp>
        <p:pic>
          <p:nvPicPr>
            <p:cNvPr id="27" name="object 27"/>
            <p:cNvPicPr/>
            <p:nvPr/>
          </p:nvPicPr>
          <p:blipFill>
            <a:blip r:embed="rId6" cstate="print"/>
            <a:stretch>
              <a:fillRect/>
            </a:stretch>
          </p:blipFill>
          <p:spPr>
            <a:xfrm>
              <a:off x="6154863" y="3307709"/>
              <a:ext cx="170491" cy="213672"/>
            </a:xfrm>
            <a:prstGeom prst="rect">
              <a:avLst/>
            </a:prstGeom>
          </p:spPr>
        </p:pic>
      </p:grpSp>
      <p:sp>
        <p:nvSpPr>
          <p:cNvPr id="28" name="object 28"/>
          <p:cNvSpPr/>
          <p:nvPr/>
        </p:nvSpPr>
        <p:spPr>
          <a:xfrm>
            <a:off x="6134252" y="4622266"/>
            <a:ext cx="269240" cy="289560"/>
          </a:xfrm>
          <a:custGeom>
            <a:avLst/>
            <a:gdLst/>
            <a:ahLst/>
            <a:cxnLst/>
            <a:rect l="l" t="t" r="r" b="b"/>
            <a:pathLst>
              <a:path w="269239" h="289560">
                <a:moveTo>
                  <a:pt x="268833" y="71424"/>
                </a:moveTo>
                <a:lnTo>
                  <a:pt x="237909" y="31254"/>
                </a:lnTo>
                <a:lnTo>
                  <a:pt x="191096" y="4457"/>
                </a:lnTo>
                <a:lnTo>
                  <a:pt x="165735" y="0"/>
                </a:lnTo>
                <a:lnTo>
                  <a:pt x="134810" y="0"/>
                </a:lnTo>
                <a:lnTo>
                  <a:pt x="103886" y="4457"/>
                </a:lnTo>
                <a:lnTo>
                  <a:pt x="51536" y="31254"/>
                </a:lnTo>
                <a:lnTo>
                  <a:pt x="10287" y="75260"/>
                </a:lnTo>
                <a:lnTo>
                  <a:pt x="0" y="106514"/>
                </a:lnTo>
                <a:lnTo>
                  <a:pt x="0" y="137769"/>
                </a:lnTo>
                <a:lnTo>
                  <a:pt x="15849" y="164566"/>
                </a:lnTo>
                <a:lnTo>
                  <a:pt x="30924" y="191338"/>
                </a:lnTo>
                <a:lnTo>
                  <a:pt x="51536" y="213677"/>
                </a:lnTo>
                <a:lnTo>
                  <a:pt x="103886" y="249377"/>
                </a:lnTo>
                <a:lnTo>
                  <a:pt x="113372" y="251053"/>
                </a:lnTo>
                <a:lnTo>
                  <a:pt x="51536" y="271703"/>
                </a:lnTo>
                <a:lnTo>
                  <a:pt x="57099" y="280631"/>
                </a:lnTo>
                <a:lnTo>
                  <a:pt x="57099" y="289560"/>
                </a:lnTo>
                <a:lnTo>
                  <a:pt x="155409" y="258305"/>
                </a:lnTo>
                <a:lnTo>
                  <a:pt x="170484" y="253847"/>
                </a:lnTo>
                <a:lnTo>
                  <a:pt x="160172" y="244919"/>
                </a:lnTo>
                <a:lnTo>
                  <a:pt x="88023" y="182422"/>
                </a:lnTo>
                <a:lnTo>
                  <a:pt x="72948" y="195795"/>
                </a:lnTo>
                <a:lnTo>
                  <a:pt x="114173" y="231521"/>
                </a:lnTo>
                <a:lnTo>
                  <a:pt x="93560" y="218135"/>
                </a:lnTo>
                <a:lnTo>
                  <a:pt x="67386" y="200279"/>
                </a:lnTo>
                <a:lnTo>
                  <a:pt x="46774" y="182422"/>
                </a:lnTo>
                <a:lnTo>
                  <a:pt x="30924" y="155625"/>
                </a:lnTo>
                <a:lnTo>
                  <a:pt x="20599" y="106514"/>
                </a:lnTo>
                <a:lnTo>
                  <a:pt x="30924" y="84201"/>
                </a:lnTo>
                <a:lnTo>
                  <a:pt x="67386" y="44627"/>
                </a:lnTo>
                <a:lnTo>
                  <a:pt x="114173" y="22313"/>
                </a:lnTo>
                <a:lnTo>
                  <a:pt x="134810" y="17856"/>
                </a:lnTo>
                <a:lnTo>
                  <a:pt x="160172" y="17856"/>
                </a:lnTo>
                <a:lnTo>
                  <a:pt x="186347" y="22313"/>
                </a:lnTo>
                <a:lnTo>
                  <a:pt x="206984" y="31254"/>
                </a:lnTo>
                <a:lnTo>
                  <a:pt x="237909" y="58026"/>
                </a:lnTo>
                <a:lnTo>
                  <a:pt x="248196" y="75260"/>
                </a:lnTo>
                <a:lnTo>
                  <a:pt x="248196" y="102057"/>
                </a:lnTo>
                <a:lnTo>
                  <a:pt x="242658" y="128828"/>
                </a:lnTo>
                <a:lnTo>
                  <a:pt x="232346" y="160083"/>
                </a:lnTo>
                <a:lnTo>
                  <a:pt x="176060" y="240449"/>
                </a:lnTo>
                <a:lnTo>
                  <a:pt x="191096" y="249377"/>
                </a:lnTo>
                <a:lnTo>
                  <a:pt x="227596" y="209194"/>
                </a:lnTo>
                <a:lnTo>
                  <a:pt x="252984" y="169024"/>
                </a:lnTo>
                <a:lnTo>
                  <a:pt x="263271" y="133311"/>
                </a:lnTo>
                <a:lnTo>
                  <a:pt x="268833" y="102057"/>
                </a:lnTo>
                <a:lnTo>
                  <a:pt x="268833" y="71424"/>
                </a:lnTo>
                <a:close/>
              </a:path>
            </a:pathLst>
          </a:custGeom>
          <a:solidFill>
            <a:srgbClr val="1F1A17"/>
          </a:solidFill>
        </p:spPr>
        <p:txBody>
          <a:bodyPr wrap="square" lIns="0" tIns="0" rIns="0" bIns="0" rtlCol="0"/>
          <a:lstStyle/>
          <a:p>
            <a:endParaRPr/>
          </a:p>
        </p:txBody>
      </p:sp>
      <p:grpSp>
        <p:nvGrpSpPr>
          <p:cNvPr id="29" name="object 29"/>
          <p:cNvGrpSpPr/>
          <p:nvPr/>
        </p:nvGrpSpPr>
        <p:grpSpPr>
          <a:xfrm>
            <a:off x="4280879" y="3445473"/>
            <a:ext cx="45085" cy="43180"/>
            <a:chOff x="4280879" y="3445473"/>
            <a:chExt cx="45085" cy="43180"/>
          </a:xfrm>
        </p:grpSpPr>
        <p:sp>
          <p:nvSpPr>
            <p:cNvPr id="30" name="object 30"/>
            <p:cNvSpPr/>
            <p:nvPr/>
          </p:nvSpPr>
          <p:spPr>
            <a:xfrm>
              <a:off x="4280879" y="3445473"/>
              <a:ext cx="31115" cy="31750"/>
            </a:xfrm>
            <a:custGeom>
              <a:avLst/>
              <a:gdLst/>
              <a:ahLst/>
              <a:cxnLst/>
              <a:rect l="l" t="t" r="r" b="b"/>
              <a:pathLst>
                <a:path w="31114" h="31750">
                  <a:moveTo>
                    <a:pt x="15069" y="0"/>
                  </a:moveTo>
                  <a:lnTo>
                    <a:pt x="4759" y="4457"/>
                  </a:lnTo>
                  <a:lnTo>
                    <a:pt x="0" y="17856"/>
                  </a:lnTo>
                  <a:lnTo>
                    <a:pt x="4759" y="26797"/>
                  </a:lnTo>
                  <a:lnTo>
                    <a:pt x="15069" y="31255"/>
                  </a:lnTo>
                  <a:lnTo>
                    <a:pt x="25376" y="26797"/>
                  </a:lnTo>
                  <a:lnTo>
                    <a:pt x="30930" y="17856"/>
                  </a:lnTo>
                  <a:lnTo>
                    <a:pt x="25376" y="4457"/>
                  </a:lnTo>
                  <a:lnTo>
                    <a:pt x="15069" y="0"/>
                  </a:lnTo>
                  <a:close/>
                </a:path>
              </a:pathLst>
            </a:custGeom>
            <a:solidFill>
              <a:srgbClr val="1F1A17"/>
            </a:solidFill>
          </p:spPr>
          <p:txBody>
            <a:bodyPr wrap="square" lIns="0" tIns="0" rIns="0" bIns="0" rtlCol="0"/>
            <a:lstStyle/>
            <a:p>
              <a:endParaRPr/>
            </a:p>
          </p:txBody>
        </p:sp>
        <p:sp>
          <p:nvSpPr>
            <p:cNvPr id="31" name="object 31"/>
            <p:cNvSpPr/>
            <p:nvPr/>
          </p:nvSpPr>
          <p:spPr>
            <a:xfrm>
              <a:off x="4291980" y="3454388"/>
              <a:ext cx="31115" cy="31750"/>
            </a:xfrm>
            <a:custGeom>
              <a:avLst/>
              <a:gdLst/>
              <a:ahLst/>
              <a:cxnLst/>
              <a:rect l="l" t="t" r="r" b="b"/>
              <a:pathLst>
                <a:path w="31114" h="31750">
                  <a:moveTo>
                    <a:pt x="15069" y="0"/>
                  </a:moveTo>
                  <a:lnTo>
                    <a:pt x="25380" y="4483"/>
                  </a:lnTo>
                  <a:lnTo>
                    <a:pt x="30930" y="17882"/>
                  </a:lnTo>
                  <a:lnTo>
                    <a:pt x="25380" y="26797"/>
                  </a:lnTo>
                  <a:lnTo>
                    <a:pt x="15069" y="31255"/>
                  </a:lnTo>
                  <a:lnTo>
                    <a:pt x="4759" y="26797"/>
                  </a:lnTo>
                  <a:lnTo>
                    <a:pt x="0" y="17882"/>
                  </a:lnTo>
                  <a:lnTo>
                    <a:pt x="4759" y="4483"/>
                  </a:lnTo>
                  <a:lnTo>
                    <a:pt x="15069" y="0"/>
                  </a:lnTo>
                </a:path>
              </a:pathLst>
            </a:custGeom>
            <a:ln w="5016">
              <a:solidFill>
                <a:srgbClr val="1F1A17"/>
              </a:solidFill>
            </a:ln>
          </p:spPr>
          <p:txBody>
            <a:bodyPr wrap="square" lIns="0" tIns="0" rIns="0" bIns="0" rtlCol="0"/>
            <a:lstStyle/>
            <a:p>
              <a:endParaRPr/>
            </a:p>
          </p:txBody>
        </p:sp>
      </p:grpSp>
      <p:grpSp>
        <p:nvGrpSpPr>
          <p:cNvPr id="32" name="object 32"/>
          <p:cNvGrpSpPr/>
          <p:nvPr/>
        </p:nvGrpSpPr>
        <p:grpSpPr>
          <a:xfrm>
            <a:off x="4259467" y="4840391"/>
            <a:ext cx="45720" cy="43180"/>
            <a:chOff x="4259467" y="4840391"/>
            <a:chExt cx="45720" cy="43180"/>
          </a:xfrm>
        </p:grpSpPr>
        <p:sp>
          <p:nvSpPr>
            <p:cNvPr id="33" name="object 33"/>
            <p:cNvSpPr/>
            <p:nvPr/>
          </p:nvSpPr>
          <p:spPr>
            <a:xfrm>
              <a:off x="4259467" y="4840391"/>
              <a:ext cx="31750" cy="31750"/>
            </a:xfrm>
            <a:custGeom>
              <a:avLst/>
              <a:gdLst/>
              <a:ahLst/>
              <a:cxnLst/>
              <a:rect l="l" t="t" r="r" b="b"/>
              <a:pathLst>
                <a:path w="31750" h="31750">
                  <a:moveTo>
                    <a:pt x="15860" y="0"/>
                  </a:moveTo>
                  <a:lnTo>
                    <a:pt x="5550" y="4457"/>
                  </a:lnTo>
                  <a:lnTo>
                    <a:pt x="0" y="13390"/>
                  </a:lnTo>
                  <a:lnTo>
                    <a:pt x="5550" y="26784"/>
                  </a:lnTo>
                  <a:lnTo>
                    <a:pt x="15860" y="31249"/>
                  </a:lnTo>
                  <a:lnTo>
                    <a:pt x="26171" y="26784"/>
                  </a:lnTo>
                  <a:lnTo>
                    <a:pt x="31721" y="13390"/>
                  </a:lnTo>
                  <a:lnTo>
                    <a:pt x="26171" y="4457"/>
                  </a:lnTo>
                  <a:lnTo>
                    <a:pt x="15860" y="0"/>
                  </a:lnTo>
                  <a:close/>
                </a:path>
              </a:pathLst>
            </a:custGeom>
            <a:solidFill>
              <a:srgbClr val="1F1A17"/>
            </a:solidFill>
          </p:spPr>
          <p:txBody>
            <a:bodyPr wrap="square" lIns="0" tIns="0" rIns="0" bIns="0" rtlCol="0"/>
            <a:lstStyle/>
            <a:p>
              <a:endParaRPr/>
            </a:p>
          </p:txBody>
        </p:sp>
        <p:sp>
          <p:nvSpPr>
            <p:cNvPr id="34" name="object 34"/>
            <p:cNvSpPr/>
            <p:nvPr/>
          </p:nvSpPr>
          <p:spPr>
            <a:xfrm>
              <a:off x="4270569" y="4849316"/>
              <a:ext cx="31750" cy="31750"/>
            </a:xfrm>
            <a:custGeom>
              <a:avLst/>
              <a:gdLst/>
              <a:ahLst/>
              <a:cxnLst/>
              <a:rect l="l" t="t" r="r" b="b"/>
              <a:pathLst>
                <a:path w="31750" h="31750">
                  <a:moveTo>
                    <a:pt x="15860" y="0"/>
                  </a:moveTo>
                  <a:lnTo>
                    <a:pt x="26171" y="4465"/>
                  </a:lnTo>
                  <a:lnTo>
                    <a:pt x="31721" y="13393"/>
                  </a:lnTo>
                  <a:lnTo>
                    <a:pt x="26171" y="26787"/>
                  </a:lnTo>
                  <a:lnTo>
                    <a:pt x="15860" y="31252"/>
                  </a:lnTo>
                  <a:lnTo>
                    <a:pt x="5550" y="26787"/>
                  </a:lnTo>
                  <a:lnTo>
                    <a:pt x="0" y="13393"/>
                  </a:lnTo>
                  <a:lnTo>
                    <a:pt x="5550" y="4465"/>
                  </a:lnTo>
                  <a:lnTo>
                    <a:pt x="15860" y="0"/>
                  </a:lnTo>
                </a:path>
              </a:pathLst>
            </a:custGeom>
            <a:ln w="5003">
              <a:solidFill>
                <a:srgbClr val="1F1A17"/>
              </a:solidFill>
            </a:ln>
          </p:spPr>
          <p:txBody>
            <a:bodyPr wrap="square" lIns="0" tIns="0" rIns="0" bIns="0" rtlCol="0"/>
            <a:lstStyle/>
            <a:p>
              <a:endParaRPr/>
            </a:p>
          </p:txBody>
        </p:sp>
      </p:grpSp>
      <p:grpSp>
        <p:nvGrpSpPr>
          <p:cNvPr id="35" name="object 35"/>
          <p:cNvGrpSpPr/>
          <p:nvPr/>
        </p:nvGrpSpPr>
        <p:grpSpPr>
          <a:xfrm>
            <a:off x="6330922" y="3454388"/>
            <a:ext cx="45085" cy="43180"/>
            <a:chOff x="6330922" y="3454388"/>
            <a:chExt cx="45085" cy="43180"/>
          </a:xfrm>
        </p:grpSpPr>
        <p:sp>
          <p:nvSpPr>
            <p:cNvPr id="36" name="object 36"/>
            <p:cNvSpPr/>
            <p:nvPr/>
          </p:nvSpPr>
          <p:spPr>
            <a:xfrm>
              <a:off x="6330922" y="3454388"/>
              <a:ext cx="31115" cy="31750"/>
            </a:xfrm>
            <a:custGeom>
              <a:avLst/>
              <a:gdLst/>
              <a:ahLst/>
              <a:cxnLst/>
              <a:rect l="l" t="t" r="r" b="b"/>
              <a:pathLst>
                <a:path w="31114" h="31750">
                  <a:moveTo>
                    <a:pt x="15073" y="0"/>
                  </a:moveTo>
                  <a:lnTo>
                    <a:pt x="0" y="4483"/>
                  </a:lnTo>
                  <a:lnTo>
                    <a:pt x="0" y="26797"/>
                  </a:lnTo>
                  <a:lnTo>
                    <a:pt x="15073" y="31255"/>
                  </a:lnTo>
                  <a:lnTo>
                    <a:pt x="25360" y="26797"/>
                  </a:lnTo>
                  <a:lnTo>
                    <a:pt x="30927" y="17882"/>
                  </a:lnTo>
                  <a:lnTo>
                    <a:pt x="25360" y="4483"/>
                  </a:lnTo>
                  <a:lnTo>
                    <a:pt x="15073" y="0"/>
                  </a:lnTo>
                  <a:close/>
                </a:path>
              </a:pathLst>
            </a:custGeom>
            <a:solidFill>
              <a:srgbClr val="1F1A17"/>
            </a:solidFill>
          </p:spPr>
          <p:txBody>
            <a:bodyPr wrap="square" lIns="0" tIns="0" rIns="0" bIns="0" rtlCol="0"/>
            <a:lstStyle/>
            <a:p>
              <a:endParaRPr/>
            </a:p>
          </p:txBody>
        </p:sp>
        <p:sp>
          <p:nvSpPr>
            <p:cNvPr id="37" name="object 37"/>
            <p:cNvSpPr/>
            <p:nvPr/>
          </p:nvSpPr>
          <p:spPr>
            <a:xfrm>
              <a:off x="6342023" y="3463329"/>
              <a:ext cx="31115" cy="31750"/>
            </a:xfrm>
            <a:custGeom>
              <a:avLst/>
              <a:gdLst/>
              <a:ahLst/>
              <a:cxnLst/>
              <a:rect l="l" t="t" r="r" b="b"/>
              <a:pathLst>
                <a:path w="31114" h="31750">
                  <a:moveTo>
                    <a:pt x="15073" y="0"/>
                  </a:moveTo>
                  <a:lnTo>
                    <a:pt x="25360" y="4457"/>
                  </a:lnTo>
                  <a:lnTo>
                    <a:pt x="30927" y="17856"/>
                  </a:lnTo>
                  <a:lnTo>
                    <a:pt x="25360" y="26797"/>
                  </a:lnTo>
                  <a:lnTo>
                    <a:pt x="15073" y="31255"/>
                  </a:lnTo>
                  <a:lnTo>
                    <a:pt x="0" y="26797"/>
                  </a:lnTo>
                  <a:lnTo>
                    <a:pt x="0" y="17856"/>
                  </a:lnTo>
                  <a:lnTo>
                    <a:pt x="0" y="4457"/>
                  </a:lnTo>
                  <a:lnTo>
                    <a:pt x="15073" y="0"/>
                  </a:lnTo>
                </a:path>
              </a:pathLst>
            </a:custGeom>
            <a:ln w="5016">
              <a:solidFill>
                <a:srgbClr val="1F1A17"/>
              </a:solidFill>
            </a:ln>
          </p:spPr>
          <p:txBody>
            <a:bodyPr wrap="square" lIns="0" tIns="0" rIns="0" bIns="0" rtlCol="0"/>
            <a:lstStyle/>
            <a:p>
              <a:endParaRPr/>
            </a:p>
          </p:txBody>
        </p:sp>
      </p:grpSp>
      <p:grpSp>
        <p:nvGrpSpPr>
          <p:cNvPr id="38" name="object 38"/>
          <p:cNvGrpSpPr/>
          <p:nvPr/>
        </p:nvGrpSpPr>
        <p:grpSpPr>
          <a:xfrm>
            <a:off x="6304747" y="4849316"/>
            <a:ext cx="45085" cy="43180"/>
            <a:chOff x="6304747" y="4849316"/>
            <a:chExt cx="45085" cy="43180"/>
          </a:xfrm>
        </p:grpSpPr>
        <p:sp>
          <p:nvSpPr>
            <p:cNvPr id="39" name="object 39"/>
            <p:cNvSpPr/>
            <p:nvPr/>
          </p:nvSpPr>
          <p:spPr>
            <a:xfrm>
              <a:off x="6304747" y="4849316"/>
              <a:ext cx="31115" cy="31750"/>
            </a:xfrm>
            <a:custGeom>
              <a:avLst/>
              <a:gdLst/>
              <a:ahLst/>
              <a:cxnLst/>
              <a:rect l="l" t="t" r="r" b="b"/>
              <a:pathLst>
                <a:path w="31114" h="31750">
                  <a:moveTo>
                    <a:pt x="15854" y="0"/>
                  </a:moveTo>
                  <a:lnTo>
                    <a:pt x="5566" y="4465"/>
                  </a:lnTo>
                  <a:lnTo>
                    <a:pt x="0" y="13393"/>
                  </a:lnTo>
                  <a:lnTo>
                    <a:pt x="5566" y="26787"/>
                  </a:lnTo>
                  <a:lnTo>
                    <a:pt x="15854" y="31252"/>
                  </a:lnTo>
                  <a:lnTo>
                    <a:pt x="26174" y="26787"/>
                  </a:lnTo>
                  <a:lnTo>
                    <a:pt x="30927" y="13393"/>
                  </a:lnTo>
                  <a:lnTo>
                    <a:pt x="26174" y="4465"/>
                  </a:lnTo>
                  <a:lnTo>
                    <a:pt x="15854" y="0"/>
                  </a:lnTo>
                  <a:close/>
                </a:path>
              </a:pathLst>
            </a:custGeom>
            <a:solidFill>
              <a:srgbClr val="1F1A17"/>
            </a:solidFill>
          </p:spPr>
          <p:txBody>
            <a:bodyPr wrap="square" lIns="0" tIns="0" rIns="0" bIns="0" rtlCol="0"/>
            <a:lstStyle/>
            <a:p>
              <a:endParaRPr/>
            </a:p>
          </p:txBody>
        </p:sp>
        <p:sp>
          <p:nvSpPr>
            <p:cNvPr id="40" name="object 40"/>
            <p:cNvSpPr/>
            <p:nvPr/>
          </p:nvSpPr>
          <p:spPr>
            <a:xfrm>
              <a:off x="6315849" y="4858244"/>
              <a:ext cx="31115" cy="31750"/>
            </a:xfrm>
            <a:custGeom>
              <a:avLst/>
              <a:gdLst/>
              <a:ahLst/>
              <a:cxnLst/>
              <a:rect l="l" t="t" r="r" b="b"/>
              <a:pathLst>
                <a:path w="31114" h="31750">
                  <a:moveTo>
                    <a:pt x="15854" y="0"/>
                  </a:moveTo>
                  <a:lnTo>
                    <a:pt x="26174" y="4465"/>
                  </a:lnTo>
                  <a:lnTo>
                    <a:pt x="30927" y="13396"/>
                  </a:lnTo>
                  <a:lnTo>
                    <a:pt x="26174" y="26789"/>
                  </a:lnTo>
                  <a:lnTo>
                    <a:pt x="15854" y="31255"/>
                  </a:lnTo>
                  <a:lnTo>
                    <a:pt x="5566" y="26789"/>
                  </a:lnTo>
                  <a:lnTo>
                    <a:pt x="0" y="13396"/>
                  </a:lnTo>
                  <a:lnTo>
                    <a:pt x="5566" y="4465"/>
                  </a:lnTo>
                  <a:lnTo>
                    <a:pt x="15854" y="0"/>
                  </a:lnTo>
                </a:path>
              </a:pathLst>
            </a:custGeom>
            <a:ln w="5016">
              <a:solidFill>
                <a:srgbClr val="1F1A17"/>
              </a:solidFill>
            </a:ln>
          </p:spPr>
          <p:txBody>
            <a:bodyPr wrap="square" lIns="0" tIns="0" rIns="0" bIns="0" rtlCol="0"/>
            <a:lstStyle/>
            <a:p>
              <a:endParaRPr/>
            </a:p>
          </p:txBody>
        </p:sp>
      </p:grpSp>
      <p:grpSp>
        <p:nvGrpSpPr>
          <p:cNvPr id="41" name="object 41"/>
          <p:cNvGrpSpPr/>
          <p:nvPr/>
        </p:nvGrpSpPr>
        <p:grpSpPr>
          <a:xfrm>
            <a:off x="4306256" y="4853782"/>
            <a:ext cx="1864995" cy="245110"/>
            <a:chOff x="4306256" y="4853782"/>
            <a:chExt cx="1864995" cy="245110"/>
          </a:xfrm>
        </p:grpSpPr>
        <p:sp>
          <p:nvSpPr>
            <p:cNvPr id="42" name="object 42"/>
            <p:cNvSpPr/>
            <p:nvPr/>
          </p:nvSpPr>
          <p:spPr>
            <a:xfrm>
              <a:off x="4306256" y="4871640"/>
              <a:ext cx="1833880" cy="227329"/>
            </a:xfrm>
            <a:custGeom>
              <a:avLst/>
              <a:gdLst/>
              <a:ahLst/>
              <a:cxnLst/>
              <a:rect l="l" t="t" r="r" b="b"/>
              <a:pathLst>
                <a:path w="1833879" h="227329">
                  <a:moveTo>
                    <a:pt x="1828000" y="0"/>
                  </a:moveTo>
                  <a:lnTo>
                    <a:pt x="1740752" y="35717"/>
                  </a:lnTo>
                  <a:lnTo>
                    <a:pt x="1595621" y="89294"/>
                  </a:lnTo>
                  <a:lnTo>
                    <a:pt x="1502839" y="116081"/>
                  </a:lnTo>
                  <a:lnTo>
                    <a:pt x="1399736" y="142871"/>
                  </a:lnTo>
                  <a:lnTo>
                    <a:pt x="1167390" y="186880"/>
                  </a:lnTo>
                  <a:lnTo>
                    <a:pt x="1032546" y="200274"/>
                  </a:lnTo>
                  <a:lnTo>
                    <a:pt x="898516" y="204739"/>
                  </a:lnTo>
                  <a:lnTo>
                    <a:pt x="754199" y="204739"/>
                  </a:lnTo>
                  <a:lnTo>
                    <a:pt x="682024" y="200274"/>
                  </a:lnTo>
                  <a:lnTo>
                    <a:pt x="536893" y="182415"/>
                  </a:lnTo>
                  <a:lnTo>
                    <a:pt x="310081" y="129478"/>
                  </a:lnTo>
                  <a:lnTo>
                    <a:pt x="237906" y="102688"/>
                  </a:lnTo>
                  <a:lnTo>
                    <a:pt x="160197" y="71435"/>
                  </a:lnTo>
                  <a:lnTo>
                    <a:pt x="88022" y="40183"/>
                  </a:lnTo>
                  <a:lnTo>
                    <a:pt x="10310" y="0"/>
                  </a:lnTo>
                  <a:lnTo>
                    <a:pt x="0" y="17858"/>
                  </a:lnTo>
                  <a:lnTo>
                    <a:pt x="77719" y="58042"/>
                  </a:lnTo>
                  <a:lnTo>
                    <a:pt x="149877" y="89294"/>
                  </a:lnTo>
                  <a:lnTo>
                    <a:pt x="227619" y="120547"/>
                  </a:lnTo>
                  <a:lnTo>
                    <a:pt x="304547" y="147337"/>
                  </a:lnTo>
                  <a:lnTo>
                    <a:pt x="382256" y="164556"/>
                  </a:lnTo>
                  <a:lnTo>
                    <a:pt x="454431" y="182415"/>
                  </a:lnTo>
                  <a:lnTo>
                    <a:pt x="532140" y="200274"/>
                  </a:lnTo>
                  <a:lnTo>
                    <a:pt x="609850" y="209204"/>
                  </a:lnTo>
                  <a:lnTo>
                    <a:pt x="682024" y="218134"/>
                  </a:lnTo>
                  <a:lnTo>
                    <a:pt x="826374" y="227063"/>
                  </a:lnTo>
                  <a:lnTo>
                    <a:pt x="898516" y="222598"/>
                  </a:lnTo>
                  <a:lnTo>
                    <a:pt x="1038113" y="218134"/>
                  </a:lnTo>
                  <a:lnTo>
                    <a:pt x="1167390" y="204739"/>
                  </a:lnTo>
                  <a:lnTo>
                    <a:pt x="1291100" y="182415"/>
                  </a:lnTo>
                  <a:lnTo>
                    <a:pt x="1404489" y="160093"/>
                  </a:lnTo>
                  <a:lnTo>
                    <a:pt x="1513159" y="133940"/>
                  </a:lnTo>
                  <a:lnTo>
                    <a:pt x="1751072" y="53576"/>
                  </a:lnTo>
                  <a:lnTo>
                    <a:pt x="1833534" y="17858"/>
                  </a:lnTo>
                  <a:lnTo>
                    <a:pt x="1828000" y="0"/>
                  </a:lnTo>
                  <a:close/>
                </a:path>
              </a:pathLst>
            </a:custGeom>
            <a:solidFill>
              <a:srgbClr val="1F1A17"/>
            </a:solidFill>
          </p:spPr>
          <p:txBody>
            <a:bodyPr wrap="square" lIns="0" tIns="0" rIns="0" bIns="0" rtlCol="0"/>
            <a:lstStyle/>
            <a:p>
              <a:endParaRPr/>
            </a:p>
          </p:txBody>
        </p:sp>
        <p:pic>
          <p:nvPicPr>
            <p:cNvPr id="43" name="object 43"/>
            <p:cNvPicPr/>
            <p:nvPr/>
          </p:nvPicPr>
          <p:blipFill>
            <a:blip r:embed="rId7" cstate="print"/>
            <a:stretch>
              <a:fillRect/>
            </a:stretch>
          </p:blipFill>
          <p:spPr>
            <a:xfrm>
              <a:off x="6051761" y="4853782"/>
              <a:ext cx="118956" cy="102688"/>
            </a:xfrm>
            <a:prstGeom prst="rect">
              <a:avLst/>
            </a:prstGeom>
          </p:spPr>
        </p:pic>
      </p:grpSp>
      <p:sp>
        <p:nvSpPr>
          <p:cNvPr id="44" name="object 44"/>
          <p:cNvSpPr txBox="1"/>
          <p:nvPr/>
        </p:nvSpPr>
        <p:spPr>
          <a:xfrm>
            <a:off x="441145" y="5419388"/>
            <a:ext cx="2875915" cy="1135760"/>
          </a:xfrm>
          <a:prstGeom prst="rect">
            <a:avLst/>
          </a:prstGeom>
        </p:spPr>
        <p:txBody>
          <a:bodyPr vert="horz" wrap="square" lIns="0" tIns="10795" rIns="0" bIns="0" rtlCol="0">
            <a:spAutoFit/>
          </a:bodyPr>
          <a:lstStyle/>
          <a:p>
            <a:pPr marL="38100" marR="30480">
              <a:lnSpc>
                <a:spcPct val="102499"/>
              </a:lnSpc>
              <a:spcBef>
                <a:spcPts val="85"/>
              </a:spcBef>
            </a:pPr>
            <a:r>
              <a:rPr sz="1450" spc="130" dirty="0">
                <a:solidFill>
                  <a:srgbClr val="0070C0"/>
                </a:solidFill>
                <a:latin typeface="Times New Roman"/>
                <a:cs typeface="Times New Roman"/>
              </a:rPr>
              <a:t>R</a:t>
            </a:r>
            <a:r>
              <a:rPr sz="1500" spc="195" baseline="-19444" dirty="0">
                <a:solidFill>
                  <a:srgbClr val="0070C0"/>
                </a:solidFill>
                <a:latin typeface="Times New Roman"/>
                <a:cs typeface="Times New Roman"/>
              </a:rPr>
              <a:t>3</a:t>
            </a:r>
            <a:r>
              <a:rPr sz="1500" spc="270" baseline="-19444" dirty="0">
                <a:solidFill>
                  <a:srgbClr val="0070C0"/>
                </a:solidFill>
                <a:latin typeface="Times New Roman"/>
                <a:cs typeface="Times New Roman"/>
              </a:rPr>
              <a:t> </a:t>
            </a:r>
            <a:r>
              <a:rPr sz="1450" spc="85" dirty="0">
                <a:solidFill>
                  <a:srgbClr val="0070C0"/>
                </a:solidFill>
                <a:latin typeface="Times New Roman"/>
                <a:cs typeface="Times New Roman"/>
              </a:rPr>
              <a:t>is</a:t>
            </a:r>
            <a:r>
              <a:rPr sz="1450" spc="75" dirty="0">
                <a:solidFill>
                  <a:srgbClr val="0070C0"/>
                </a:solidFill>
                <a:latin typeface="Times New Roman"/>
                <a:cs typeface="Times New Roman"/>
              </a:rPr>
              <a:t> </a:t>
            </a:r>
            <a:r>
              <a:rPr sz="1450" spc="114" dirty="0">
                <a:solidFill>
                  <a:srgbClr val="0070C0"/>
                </a:solidFill>
                <a:latin typeface="Times New Roman"/>
                <a:cs typeface="Times New Roman"/>
              </a:rPr>
              <a:t>not</a:t>
            </a:r>
            <a:r>
              <a:rPr sz="1450" spc="70" dirty="0">
                <a:solidFill>
                  <a:srgbClr val="0070C0"/>
                </a:solidFill>
                <a:latin typeface="Times New Roman"/>
                <a:cs typeface="Times New Roman"/>
              </a:rPr>
              <a:t> </a:t>
            </a:r>
            <a:r>
              <a:rPr sz="1450" spc="125" dirty="0">
                <a:solidFill>
                  <a:srgbClr val="0070C0"/>
                </a:solidFill>
                <a:latin typeface="Times New Roman"/>
                <a:cs typeface="Times New Roman"/>
              </a:rPr>
              <a:t>symmetric</a:t>
            </a:r>
            <a:r>
              <a:rPr sz="1450" spc="75" dirty="0">
                <a:solidFill>
                  <a:srgbClr val="0070C0"/>
                </a:solidFill>
                <a:latin typeface="Times New Roman"/>
                <a:cs typeface="Times New Roman"/>
              </a:rPr>
              <a:t> </a:t>
            </a:r>
            <a:r>
              <a:rPr sz="1450" spc="110" dirty="0">
                <a:latin typeface="Times New Roman"/>
                <a:cs typeface="Times New Roman"/>
              </a:rPr>
              <a:t>since</a:t>
            </a:r>
            <a:r>
              <a:rPr sz="1450" spc="75" dirty="0">
                <a:latin typeface="Times New Roman"/>
                <a:cs typeface="Times New Roman"/>
              </a:rPr>
              <a:t> </a:t>
            </a:r>
            <a:r>
              <a:rPr sz="1450" spc="95" dirty="0">
                <a:latin typeface="Times New Roman"/>
                <a:cs typeface="Times New Roman"/>
              </a:rPr>
              <a:t>there </a:t>
            </a:r>
            <a:r>
              <a:rPr sz="1450" spc="105" dirty="0">
                <a:latin typeface="Times New Roman"/>
                <a:cs typeface="Times New Roman"/>
              </a:rPr>
              <a:t>are</a:t>
            </a:r>
            <a:r>
              <a:rPr sz="1450" spc="70" dirty="0">
                <a:latin typeface="Times New Roman"/>
                <a:cs typeface="Times New Roman"/>
              </a:rPr>
              <a:t> </a:t>
            </a:r>
            <a:r>
              <a:rPr sz="1450" spc="120" dirty="0">
                <a:latin typeface="Times New Roman"/>
                <a:cs typeface="Times New Roman"/>
              </a:rPr>
              <a:t>arrows</a:t>
            </a:r>
            <a:r>
              <a:rPr sz="1450" spc="70" dirty="0">
                <a:latin typeface="Times New Roman"/>
                <a:cs typeface="Times New Roman"/>
              </a:rPr>
              <a:t> </a:t>
            </a:r>
            <a:r>
              <a:rPr sz="1450" spc="125" dirty="0">
                <a:latin typeface="Times New Roman"/>
                <a:cs typeface="Times New Roman"/>
              </a:rPr>
              <a:t>from</a:t>
            </a:r>
            <a:r>
              <a:rPr sz="1450" spc="50" dirty="0">
                <a:latin typeface="Times New Roman"/>
                <a:cs typeface="Times New Roman"/>
              </a:rPr>
              <a:t> </a:t>
            </a:r>
            <a:r>
              <a:rPr sz="1450" spc="130" dirty="0">
                <a:latin typeface="Times New Roman"/>
                <a:cs typeface="Times New Roman"/>
              </a:rPr>
              <a:t>2</a:t>
            </a:r>
            <a:r>
              <a:rPr sz="1450" spc="80" dirty="0">
                <a:latin typeface="Times New Roman"/>
                <a:cs typeface="Times New Roman"/>
              </a:rPr>
              <a:t> </a:t>
            </a:r>
            <a:r>
              <a:rPr sz="1450" spc="100" dirty="0">
                <a:latin typeface="Times New Roman"/>
                <a:cs typeface="Times New Roman"/>
              </a:rPr>
              <a:t>to</a:t>
            </a:r>
            <a:r>
              <a:rPr sz="1450" spc="75" dirty="0">
                <a:latin typeface="Times New Roman"/>
                <a:cs typeface="Times New Roman"/>
              </a:rPr>
              <a:t> </a:t>
            </a:r>
            <a:r>
              <a:rPr sz="1450" spc="130" dirty="0">
                <a:latin typeface="Times New Roman"/>
                <a:cs typeface="Times New Roman"/>
              </a:rPr>
              <a:t>3</a:t>
            </a:r>
            <a:r>
              <a:rPr sz="1450" spc="70" dirty="0">
                <a:latin typeface="Times New Roman"/>
                <a:cs typeface="Times New Roman"/>
              </a:rPr>
              <a:t> </a:t>
            </a:r>
            <a:r>
              <a:rPr sz="1450" spc="125" dirty="0">
                <a:latin typeface="Times New Roman"/>
                <a:cs typeface="Times New Roman"/>
              </a:rPr>
              <a:t>and</a:t>
            </a:r>
            <a:r>
              <a:rPr sz="1450" spc="75" dirty="0">
                <a:latin typeface="Times New Roman"/>
                <a:cs typeface="Times New Roman"/>
              </a:rPr>
              <a:t> </a:t>
            </a:r>
            <a:r>
              <a:rPr sz="1450" spc="105" dirty="0">
                <a:latin typeface="Times New Roman"/>
                <a:cs typeface="Times New Roman"/>
              </a:rPr>
              <a:t>from </a:t>
            </a:r>
            <a:r>
              <a:rPr sz="1450" spc="130" dirty="0">
                <a:latin typeface="Times New Roman"/>
                <a:cs typeface="Times New Roman"/>
              </a:rPr>
              <a:t>3</a:t>
            </a:r>
            <a:r>
              <a:rPr sz="1450" spc="75" dirty="0">
                <a:latin typeface="Times New Roman"/>
                <a:cs typeface="Times New Roman"/>
              </a:rPr>
              <a:t> </a:t>
            </a:r>
            <a:r>
              <a:rPr sz="1450" spc="100" dirty="0">
                <a:latin typeface="Times New Roman"/>
                <a:cs typeface="Times New Roman"/>
              </a:rPr>
              <a:t>to</a:t>
            </a:r>
            <a:r>
              <a:rPr sz="1450" spc="70" dirty="0">
                <a:latin typeface="Times New Roman"/>
                <a:cs typeface="Times New Roman"/>
              </a:rPr>
              <a:t> </a:t>
            </a:r>
            <a:r>
              <a:rPr sz="1450" spc="130" dirty="0">
                <a:latin typeface="Times New Roman"/>
                <a:cs typeface="Times New Roman"/>
              </a:rPr>
              <a:t>4</a:t>
            </a:r>
            <a:r>
              <a:rPr sz="1450" spc="75" dirty="0">
                <a:latin typeface="Times New Roman"/>
                <a:cs typeface="Times New Roman"/>
              </a:rPr>
              <a:t> </a:t>
            </a:r>
            <a:r>
              <a:rPr sz="1450" spc="110" dirty="0">
                <a:latin typeface="Times New Roman"/>
                <a:cs typeface="Times New Roman"/>
              </a:rPr>
              <a:t>but</a:t>
            </a:r>
            <a:r>
              <a:rPr sz="1450" spc="70" dirty="0">
                <a:latin typeface="Times New Roman"/>
                <a:cs typeface="Times New Roman"/>
              </a:rPr>
              <a:t> </a:t>
            </a:r>
            <a:r>
              <a:rPr sz="1450" spc="110" dirty="0">
                <a:latin typeface="Times New Roman"/>
                <a:cs typeface="Times New Roman"/>
              </a:rPr>
              <a:t>not</a:t>
            </a:r>
            <a:r>
              <a:rPr sz="1450" spc="70" dirty="0">
                <a:latin typeface="Times New Roman"/>
                <a:cs typeface="Times New Roman"/>
              </a:rPr>
              <a:t> </a:t>
            </a:r>
            <a:r>
              <a:rPr sz="1450" spc="105" dirty="0">
                <a:latin typeface="Times New Roman"/>
                <a:cs typeface="Times New Roman"/>
              </a:rPr>
              <a:t>conversely</a:t>
            </a:r>
            <a:br>
              <a:rPr lang="en-US" sz="1450" spc="105" dirty="0">
                <a:latin typeface="Times New Roman"/>
                <a:cs typeface="Times New Roman"/>
              </a:rPr>
            </a:br>
            <a:br>
              <a:rPr lang="en-US" sz="1450" spc="105" dirty="0">
                <a:latin typeface="Times New Roman"/>
                <a:cs typeface="Times New Roman"/>
              </a:rPr>
            </a:br>
            <a:r>
              <a:rPr lang="en-US" sz="1450" spc="105" dirty="0">
                <a:latin typeface="Times New Roman"/>
                <a:cs typeface="Times New Roman"/>
              </a:rPr>
              <a:t>But </a:t>
            </a:r>
            <a:r>
              <a:rPr lang="en-US" sz="1450" spc="105" dirty="0">
                <a:solidFill>
                  <a:srgbClr val="C00000"/>
                </a:solidFill>
                <a:latin typeface="Times New Roman"/>
                <a:cs typeface="Times New Roman"/>
              </a:rPr>
              <a:t>R3 is antisymmetric.</a:t>
            </a:r>
            <a:endParaRPr sz="1450" dirty="0">
              <a:solidFill>
                <a:srgbClr val="C00000"/>
              </a:solidFill>
              <a:latin typeface="Times New Roman"/>
              <a:cs typeface="Times New Roman"/>
            </a:endParaRPr>
          </a:p>
        </p:txBody>
      </p:sp>
      <p:sp>
        <p:nvSpPr>
          <p:cNvPr id="45" name="object 45"/>
          <p:cNvSpPr txBox="1"/>
          <p:nvPr/>
        </p:nvSpPr>
        <p:spPr>
          <a:xfrm>
            <a:off x="897517" y="3296932"/>
            <a:ext cx="134620" cy="251460"/>
          </a:xfrm>
          <a:prstGeom prst="rect">
            <a:avLst/>
          </a:prstGeom>
        </p:spPr>
        <p:txBody>
          <a:bodyPr vert="horz" wrap="square" lIns="0" tIns="16510" rIns="0" bIns="0" rtlCol="0">
            <a:spAutoFit/>
          </a:bodyPr>
          <a:lstStyle/>
          <a:p>
            <a:pPr marL="12700">
              <a:lnSpc>
                <a:spcPct val="100000"/>
              </a:lnSpc>
              <a:spcBef>
                <a:spcPts val="130"/>
              </a:spcBef>
            </a:pPr>
            <a:r>
              <a:rPr sz="1450" spc="80" dirty="0">
                <a:latin typeface="Times New Roman"/>
                <a:cs typeface="Times New Roman"/>
              </a:rPr>
              <a:t>1</a:t>
            </a:r>
            <a:endParaRPr sz="1450">
              <a:latin typeface="Times New Roman"/>
              <a:cs typeface="Times New Roman"/>
            </a:endParaRPr>
          </a:p>
        </p:txBody>
      </p:sp>
      <p:sp>
        <p:nvSpPr>
          <p:cNvPr id="46" name="object 46"/>
          <p:cNvSpPr txBox="1"/>
          <p:nvPr/>
        </p:nvSpPr>
        <p:spPr>
          <a:xfrm>
            <a:off x="2699047" y="3686136"/>
            <a:ext cx="134620" cy="251460"/>
          </a:xfrm>
          <a:prstGeom prst="rect">
            <a:avLst/>
          </a:prstGeom>
        </p:spPr>
        <p:txBody>
          <a:bodyPr vert="horz" wrap="square" lIns="0" tIns="16510" rIns="0" bIns="0" rtlCol="0">
            <a:spAutoFit/>
          </a:bodyPr>
          <a:lstStyle/>
          <a:p>
            <a:pPr marL="12700">
              <a:lnSpc>
                <a:spcPct val="100000"/>
              </a:lnSpc>
              <a:spcBef>
                <a:spcPts val="130"/>
              </a:spcBef>
            </a:pPr>
            <a:r>
              <a:rPr sz="1450" spc="80" dirty="0">
                <a:latin typeface="Times New Roman"/>
                <a:cs typeface="Times New Roman"/>
              </a:rPr>
              <a:t>2</a:t>
            </a:r>
            <a:endParaRPr sz="1450">
              <a:latin typeface="Times New Roman"/>
              <a:cs typeface="Times New Roman"/>
            </a:endParaRPr>
          </a:p>
        </p:txBody>
      </p:sp>
      <p:sp>
        <p:nvSpPr>
          <p:cNvPr id="47" name="object 47"/>
          <p:cNvSpPr txBox="1"/>
          <p:nvPr/>
        </p:nvSpPr>
        <p:spPr>
          <a:xfrm>
            <a:off x="651575" y="4782554"/>
            <a:ext cx="134620" cy="251460"/>
          </a:xfrm>
          <a:prstGeom prst="rect">
            <a:avLst/>
          </a:prstGeom>
        </p:spPr>
        <p:txBody>
          <a:bodyPr vert="horz" wrap="square" lIns="0" tIns="16510" rIns="0" bIns="0" rtlCol="0">
            <a:spAutoFit/>
          </a:bodyPr>
          <a:lstStyle/>
          <a:p>
            <a:pPr marL="12700">
              <a:lnSpc>
                <a:spcPct val="100000"/>
              </a:lnSpc>
              <a:spcBef>
                <a:spcPts val="130"/>
              </a:spcBef>
            </a:pPr>
            <a:r>
              <a:rPr sz="1450" spc="80" dirty="0">
                <a:latin typeface="Times New Roman"/>
                <a:cs typeface="Times New Roman"/>
              </a:rPr>
              <a:t>4</a:t>
            </a:r>
            <a:endParaRPr sz="1450">
              <a:latin typeface="Times New Roman"/>
              <a:cs typeface="Times New Roman"/>
            </a:endParaRPr>
          </a:p>
        </p:txBody>
      </p:sp>
      <p:sp>
        <p:nvSpPr>
          <p:cNvPr id="48" name="object 48"/>
          <p:cNvSpPr txBox="1"/>
          <p:nvPr/>
        </p:nvSpPr>
        <p:spPr>
          <a:xfrm>
            <a:off x="2903726" y="4924055"/>
            <a:ext cx="134620" cy="251460"/>
          </a:xfrm>
          <a:prstGeom prst="rect">
            <a:avLst/>
          </a:prstGeom>
        </p:spPr>
        <p:txBody>
          <a:bodyPr vert="horz" wrap="square" lIns="0" tIns="16510" rIns="0" bIns="0" rtlCol="0">
            <a:spAutoFit/>
          </a:bodyPr>
          <a:lstStyle/>
          <a:p>
            <a:pPr marL="12700">
              <a:lnSpc>
                <a:spcPct val="100000"/>
              </a:lnSpc>
              <a:spcBef>
                <a:spcPts val="130"/>
              </a:spcBef>
            </a:pPr>
            <a:r>
              <a:rPr sz="1450" spc="80" dirty="0">
                <a:latin typeface="Times New Roman"/>
                <a:cs typeface="Times New Roman"/>
              </a:rPr>
              <a:t>3</a:t>
            </a:r>
            <a:endParaRPr sz="1450">
              <a:latin typeface="Times New Roman"/>
              <a:cs typeface="Times New Roman"/>
            </a:endParaRPr>
          </a:p>
        </p:txBody>
      </p:sp>
      <p:sp>
        <p:nvSpPr>
          <p:cNvPr id="49" name="object 49"/>
          <p:cNvSpPr txBox="1"/>
          <p:nvPr/>
        </p:nvSpPr>
        <p:spPr>
          <a:xfrm>
            <a:off x="4213943" y="3575575"/>
            <a:ext cx="134620" cy="251460"/>
          </a:xfrm>
          <a:prstGeom prst="rect">
            <a:avLst/>
          </a:prstGeom>
        </p:spPr>
        <p:txBody>
          <a:bodyPr vert="horz" wrap="square" lIns="0" tIns="16510" rIns="0" bIns="0" rtlCol="0">
            <a:spAutoFit/>
          </a:bodyPr>
          <a:lstStyle/>
          <a:p>
            <a:pPr marL="12700">
              <a:lnSpc>
                <a:spcPct val="100000"/>
              </a:lnSpc>
              <a:spcBef>
                <a:spcPts val="130"/>
              </a:spcBef>
            </a:pPr>
            <a:r>
              <a:rPr sz="1450" spc="80" dirty="0">
                <a:latin typeface="Times New Roman"/>
                <a:cs typeface="Times New Roman"/>
              </a:rPr>
              <a:t>1</a:t>
            </a:r>
            <a:endParaRPr sz="1450">
              <a:latin typeface="Times New Roman"/>
              <a:cs typeface="Times New Roman"/>
            </a:endParaRPr>
          </a:p>
        </p:txBody>
      </p:sp>
      <p:sp>
        <p:nvSpPr>
          <p:cNvPr id="50" name="object 50"/>
          <p:cNvSpPr txBox="1"/>
          <p:nvPr/>
        </p:nvSpPr>
        <p:spPr>
          <a:xfrm>
            <a:off x="6240128" y="3480808"/>
            <a:ext cx="134620" cy="251460"/>
          </a:xfrm>
          <a:prstGeom prst="rect">
            <a:avLst/>
          </a:prstGeom>
        </p:spPr>
        <p:txBody>
          <a:bodyPr vert="horz" wrap="square" lIns="0" tIns="16510" rIns="0" bIns="0" rtlCol="0">
            <a:spAutoFit/>
          </a:bodyPr>
          <a:lstStyle/>
          <a:p>
            <a:pPr marL="12700">
              <a:lnSpc>
                <a:spcPct val="100000"/>
              </a:lnSpc>
              <a:spcBef>
                <a:spcPts val="130"/>
              </a:spcBef>
            </a:pPr>
            <a:r>
              <a:rPr sz="1450" spc="80" dirty="0">
                <a:latin typeface="Times New Roman"/>
                <a:cs typeface="Times New Roman"/>
              </a:rPr>
              <a:t>2</a:t>
            </a:r>
            <a:endParaRPr sz="1450">
              <a:latin typeface="Times New Roman"/>
              <a:cs typeface="Times New Roman"/>
            </a:endParaRPr>
          </a:p>
        </p:txBody>
      </p:sp>
      <p:sp>
        <p:nvSpPr>
          <p:cNvPr id="51" name="object 51"/>
          <p:cNvSpPr txBox="1"/>
          <p:nvPr/>
        </p:nvSpPr>
        <p:spPr>
          <a:xfrm>
            <a:off x="3990814" y="4924055"/>
            <a:ext cx="2597785" cy="1651927"/>
          </a:xfrm>
          <a:prstGeom prst="rect">
            <a:avLst/>
          </a:prstGeom>
        </p:spPr>
        <p:txBody>
          <a:bodyPr vert="horz" wrap="square" lIns="0" tIns="16510" rIns="0" bIns="0" rtlCol="0">
            <a:spAutoFit/>
          </a:bodyPr>
          <a:lstStyle/>
          <a:p>
            <a:pPr marL="173355">
              <a:lnSpc>
                <a:spcPct val="100000"/>
              </a:lnSpc>
              <a:spcBef>
                <a:spcPts val="130"/>
              </a:spcBef>
              <a:tabLst>
                <a:tab pos="2302510" algn="l"/>
              </a:tabLst>
            </a:pPr>
            <a:r>
              <a:rPr sz="1450" spc="80" dirty="0">
                <a:latin typeface="Times New Roman"/>
                <a:cs typeface="Times New Roman"/>
              </a:rPr>
              <a:t>4</a:t>
            </a:r>
            <a:r>
              <a:rPr sz="1450" dirty="0">
                <a:latin typeface="Times New Roman"/>
                <a:cs typeface="Times New Roman"/>
              </a:rPr>
              <a:t>	</a:t>
            </a:r>
            <a:r>
              <a:rPr sz="1450" spc="70" dirty="0">
                <a:latin typeface="Times New Roman"/>
                <a:cs typeface="Times New Roman"/>
              </a:rPr>
              <a:t>3</a:t>
            </a:r>
            <a:endParaRPr sz="1450" dirty="0">
              <a:latin typeface="Times New Roman"/>
              <a:cs typeface="Times New Roman"/>
            </a:endParaRPr>
          </a:p>
          <a:p>
            <a:pPr>
              <a:lnSpc>
                <a:spcPct val="100000"/>
              </a:lnSpc>
              <a:spcBef>
                <a:spcPts val="450"/>
              </a:spcBef>
            </a:pPr>
            <a:endParaRPr sz="1450" dirty="0">
              <a:latin typeface="Times New Roman"/>
              <a:cs typeface="Times New Roman"/>
            </a:endParaRPr>
          </a:p>
          <a:p>
            <a:pPr marL="50800" marR="43180">
              <a:lnSpc>
                <a:spcPct val="102499"/>
              </a:lnSpc>
            </a:pPr>
            <a:r>
              <a:rPr sz="1450" spc="130" dirty="0">
                <a:solidFill>
                  <a:srgbClr val="0070C0"/>
                </a:solidFill>
                <a:latin typeface="Times New Roman"/>
                <a:cs typeface="Times New Roman"/>
              </a:rPr>
              <a:t>R</a:t>
            </a:r>
            <a:r>
              <a:rPr sz="1500" spc="195" baseline="-19444" dirty="0">
                <a:solidFill>
                  <a:srgbClr val="0070C0"/>
                </a:solidFill>
                <a:latin typeface="Times New Roman"/>
                <a:cs typeface="Times New Roman"/>
              </a:rPr>
              <a:t>4</a:t>
            </a:r>
            <a:r>
              <a:rPr sz="1500" spc="270" baseline="-19444" dirty="0">
                <a:solidFill>
                  <a:srgbClr val="0070C0"/>
                </a:solidFill>
                <a:latin typeface="Times New Roman"/>
                <a:cs typeface="Times New Roman"/>
              </a:rPr>
              <a:t> </a:t>
            </a:r>
            <a:r>
              <a:rPr sz="1450" spc="85" dirty="0">
                <a:solidFill>
                  <a:srgbClr val="0070C0"/>
                </a:solidFill>
                <a:latin typeface="Times New Roman"/>
                <a:cs typeface="Times New Roman"/>
              </a:rPr>
              <a:t>is</a:t>
            </a:r>
            <a:r>
              <a:rPr sz="1450" spc="70" dirty="0">
                <a:solidFill>
                  <a:srgbClr val="0070C0"/>
                </a:solidFill>
                <a:latin typeface="Times New Roman"/>
                <a:cs typeface="Times New Roman"/>
              </a:rPr>
              <a:t> </a:t>
            </a:r>
            <a:r>
              <a:rPr sz="1450" spc="114" dirty="0">
                <a:solidFill>
                  <a:srgbClr val="0070C0"/>
                </a:solidFill>
                <a:latin typeface="Times New Roman"/>
                <a:cs typeface="Times New Roman"/>
              </a:rPr>
              <a:t>not</a:t>
            </a:r>
            <a:r>
              <a:rPr sz="1450" spc="75" dirty="0">
                <a:solidFill>
                  <a:srgbClr val="0070C0"/>
                </a:solidFill>
                <a:latin typeface="Times New Roman"/>
                <a:cs typeface="Times New Roman"/>
              </a:rPr>
              <a:t> </a:t>
            </a:r>
            <a:r>
              <a:rPr sz="1450" spc="125" dirty="0">
                <a:solidFill>
                  <a:srgbClr val="0070C0"/>
                </a:solidFill>
                <a:latin typeface="Times New Roman"/>
                <a:cs typeface="Times New Roman"/>
              </a:rPr>
              <a:t>symmetric</a:t>
            </a:r>
            <a:r>
              <a:rPr sz="1450" spc="70" dirty="0">
                <a:solidFill>
                  <a:srgbClr val="0070C0"/>
                </a:solidFill>
                <a:latin typeface="Times New Roman"/>
                <a:cs typeface="Times New Roman"/>
              </a:rPr>
              <a:t> </a:t>
            </a:r>
            <a:r>
              <a:rPr sz="1450" spc="90" dirty="0">
                <a:latin typeface="Times New Roman"/>
                <a:cs typeface="Times New Roman"/>
              </a:rPr>
              <a:t>since </a:t>
            </a:r>
            <a:r>
              <a:rPr sz="1450" spc="105" dirty="0">
                <a:latin typeface="Times New Roman"/>
                <a:cs typeface="Times New Roman"/>
              </a:rPr>
              <a:t>there</a:t>
            </a:r>
            <a:r>
              <a:rPr sz="1450" spc="75" dirty="0">
                <a:latin typeface="Times New Roman"/>
                <a:cs typeface="Times New Roman"/>
              </a:rPr>
              <a:t> </a:t>
            </a:r>
            <a:r>
              <a:rPr sz="1450" spc="85" dirty="0">
                <a:latin typeface="Times New Roman"/>
                <a:cs typeface="Times New Roman"/>
              </a:rPr>
              <a:t>is</a:t>
            </a:r>
            <a:r>
              <a:rPr sz="1450" spc="75" dirty="0">
                <a:latin typeface="Times New Roman"/>
                <a:cs typeface="Times New Roman"/>
              </a:rPr>
              <a:t> </a:t>
            </a:r>
            <a:r>
              <a:rPr sz="1450" spc="120" dirty="0">
                <a:latin typeface="Times New Roman"/>
                <a:cs typeface="Times New Roman"/>
              </a:rPr>
              <a:t>an</a:t>
            </a:r>
            <a:r>
              <a:rPr sz="1450" spc="80" dirty="0">
                <a:latin typeface="Times New Roman"/>
                <a:cs typeface="Times New Roman"/>
              </a:rPr>
              <a:t> </a:t>
            </a:r>
            <a:r>
              <a:rPr sz="1450" spc="114" dirty="0">
                <a:latin typeface="Times New Roman"/>
                <a:cs typeface="Times New Roman"/>
              </a:rPr>
              <a:t>arrow</a:t>
            </a:r>
            <a:r>
              <a:rPr sz="1450" spc="75" dirty="0">
                <a:latin typeface="Times New Roman"/>
                <a:cs typeface="Times New Roman"/>
              </a:rPr>
              <a:t> </a:t>
            </a:r>
            <a:r>
              <a:rPr sz="1450" spc="130" dirty="0">
                <a:latin typeface="Times New Roman"/>
                <a:cs typeface="Times New Roman"/>
              </a:rPr>
              <a:t>from</a:t>
            </a:r>
            <a:r>
              <a:rPr sz="1450" spc="50" dirty="0">
                <a:latin typeface="Times New Roman"/>
                <a:cs typeface="Times New Roman"/>
              </a:rPr>
              <a:t> </a:t>
            </a:r>
            <a:r>
              <a:rPr sz="1450" spc="130" dirty="0">
                <a:latin typeface="Times New Roman"/>
                <a:cs typeface="Times New Roman"/>
              </a:rPr>
              <a:t>4</a:t>
            </a:r>
            <a:r>
              <a:rPr sz="1450" spc="85" dirty="0">
                <a:latin typeface="Times New Roman"/>
                <a:cs typeface="Times New Roman"/>
              </a:rPr>
              <a:t> </a:t>
            </a:r>
            <a:r>
              <a:rPr sz="1450" spc="100" dirty="0">
                <a:latin typeface="Times New Roman"/>
                <a:cs typeface="Times New Roman"/>
              </a:rPr>
              <a:t>to</a:t>
            </a:r>
            <a:r>
              <a:rPr sz="1450" spc="75" dirty="0">
                <a:latin typeface="Times New Roman"/>
                <a:cs typeface="Times New Roman"/>
              </a:rPr>
              <a:t> </a:t>
            </a:r>
            <a:r>
              <a:rPr sz="1450" spc="80" dirty="0">
                <a:latin typeface="Times New Roman"/>
                <a:cs typeface="Times New Roman"/>
              </a:rPr>
              <a:t>3 </a:t>
            </a:r>
            <a:r>
              <a:rPr sz="1450" spc="114" dirty="0">
                <a:latin typeface="Times New Roman"/>
                <a:cs typeface="Times New Roman"/>
              </a:rPr>
              <a:t>but</a:t>
            </a:r>
            <a:r>
              <a:rPr sz="1450" spc="65" dirty="0">
                <a:latin typeface="Times New Roman"/>
                <a:cs typeface="Times New Roman"/>
              </a:rPr>
              <a:t> </a:t>
            </a:r>
            <a:r>
              <a:rPr sz="1450" spc="130" dirty="0">
                <a:latin typeface="Times New Roman"/>
                <a:cs typeface="Times New Roman"/>
              </a:rPr>
              <a:t>no</a:t>
            </a:r>
            <a:r>
              <a:rPr sz="1450" spc="75" dirty="0">
                <a:latin typeface="Times New Roman"/>
                <a:cs typeface="Times New Roman"/>
              </a:rPr>
              <a:t> </a:t>
            </a:r>
            <a:r>
              <a:rPr sz="1450" spc="114" dirty="0">
                <a:latin typeface="Times New Roman"/>
                <a:cs typeface="Times New Roman"/>
              </a:rPr>
              <a:t>arrow</a:t>
            </a:r>
            <a:r>
              <a:rPr sz="1450" spc="65" dirty="0">
                <a:latin typeface="Times New Roman"/>
                <a:cs typeface="Times New Roman"/>
              </a:rPr>
              <a:t> </a:t>
            </a:r>
            <a:r>
              <a:rPr sz="1450" spc="130" dirty="0">
                <a:latin typeface="Times New Roman"/>
                <a:cs typeface="Times New Roman"/>
              </a:rPr>
              <a:t>from</a:t>
            </a:r>
            <a:r>
              <a:rPr sz="1450" spc="60" dirty="0">
                <a:latin typeface="Times New Roman"/>
                <a:cs typeface="Times New Roman"/>
              </a:rPr>
              <a:t> </a:t>
            </a:r>
            <a:r>
              <a:rPr sz="1450" spc="130" dirty="0">
                <a:latin typeface="Times New Roman"/>
                <a:cs typeface="Times New Roman"/>
              </a:rPr>
              <a:t>3</a:t>
            </a:r>
            <a:r>
              <a:rPr sz="1450" spc="75" dirty="0">
                <a:latin typeface="Times New Roman"/>
                <a:cs typeface="Times New Roman"/>
              </a:rPr>
              <a:t> </a:t>
            </a:r>
            <a:r>
              <a:rPr sz="1450" spc="100" dirty="0">
                <a:latin typeface="Times New Roman"/>
                <a:cs typeface="Times New Roman"/>
              </a:rPr>
              <a:t>to</a:t>
            </a:r>
            <a:r>
              <a:rPr sz="1450" spc="65" dirty="0">
                <a:latin typeface="Times New Roman"/>
                <a:cs typeface="Times New Roman"/>
              </a:rPr>
              <a:t> </a:t>
            </a:r>
            <a:r>
              <a:rPr sz="1450" spc="80" dirty="0">
                <a:latin typeface="Times New Roman"/>
                <a:cs typeface="Times New Roman"/>
              </a:rPr>
              <a:t>4</a:t>
            </a:r>
            <a:br>
              <a:rPr lang="en-US" sz="1450" spc="80" dirty="0">
                <a:latin typeface="Times New Roman"/>
                <a:cs typeface="Times New Roman"/>
              </a:rPr>
            </a:br>
            <a:br>
              <a:rPr lang="en-US" sz="1450" spc="80" dirty="0">
                <a:latin typeface="Times New Roman"/>
                <a:cs typeface="Times New Roman"/>
              </a:rPr>
            </a:br>
            <a:r>
              <a:rPr lang="en-US" sz="1450" spc="80" dirty="0">
                <a:latin typeface="Times New Roman"/>
                <a:cs typeface="Times New Roman"/>
              </a:rPr>
              <a:t>But </a:t>
            </a:r>
            <a:r>
              <a:rPr lang="en-US" sz="1450" spc="80" dirty="0">
                <a:solidFill>
                  <a:srgbClr val="C00000"/>
                </a:solidFill>
                <a:latin typeface="Times New Roman"/>
                <a:cs typeface="Times New Roman"/>
              </a:rPr>
              <a:t>R4 is antisymmetric.</a:t>
            </a:r>
            <a:endParaRPr sz="1450" dirty="0">
              <a:solidFill>
                <a:srgbClr val="C00000"/>
              </a:solidFill>
              <a:latin typeface="Times New Roman"/>
              <a:cs typeface="Times New Roman"/>
            </a:endParaRPr>
          </a:p>
        </p:txBody>
      </p:sp>
      <p:grpSp>
        <p:nvGrpSpPr>
          <p:cNvPr id="52" name="object 52"/>
          <p:cNvGrpSpPr/>
          <p:nvPr/>
        </p:nvGrpSpPr>
        <p:grpSpPr>
          <a:xfrm>
            <a:off x="506182" y="103577"/>
            <a:ext cx="2312670" cy="1934210"/>
            <a:chOff x="506182" y="103577"/>
            <a:chExt cx="2312670" cy="1934210"/>
          </a:xfrm>
        </p:grpSpPr>
        <p:sp>
          <p:nvSpPr>
            <p:cNvPr id="53" name="object 53"/>
            <p:cNvSpPr/>
            <p:nvPr/>
          </p:nvSpPr>
          <p:spPr>
            <a:xfrm>
              <a:off x="511694" y="103577"/>
              <a:ext cx="297180" cy="303530"/>
            </a:xfrm>
            <a:custGeom>
              <a:avLst/>
              <a:gdLst/>
              <a:ahLst/>
              <a:cxnLst/>
              <a:rect l="l" t="t" r="r" b="b"/>
              <a:pathLst>
                <a:path w="297180" h="303530">
                  <a:moveTo>
                    <a:pt x="174769" y="0"/>
                  </a:moveTo>
                  <a:lnTo>
                    <a:pt x="111000" y="5272"/>
                  </a:lnTo>
                  <a:lnTo>
                    <a:pt x="47235" y="38154"/>
                  </a:lnTo>
                  <a:lnTo>
                    <a:pt x="0" y="92101"/>
                  </a:lnTo>
                  <a:lnTo>
                    <a:pt x="23617" y="103269"/>
                  </a:lnTo>
                  <a:lnTo>
                    <a:pt x="40936" y="75660"/>
                  </a:lnTo>
                  <a:lnTo>
                    <a:pt x="64554" y="53946"/>
                  </a:lnTo>
                  <a:lnTo>
                    <a:pt x="87383" y="38154"/>
                  </a:lnTo>
                  <a:lnTo>
                    <a:pt x="116514" y="26986"/>
                  </a:lnTo>
                  <a:lnTo>
                    <a:pt x="145642" y="21713"/>
                  </a:lnTo>
                  <a:lnTo>
                    <a:pt x="174769" y="21713"/>
                  </a:lnTo>
                  <a:lnTo>
                    <a:pt x="221219" y="32908"/>
                  </a:lnTo>
                  <a:lnTo>
                    <a:pt x="256646" y="65141"/>
                  </a:lnTo>
                  <a:lnTo>
                    <a:pt x="267666" y="151943"/>
                  </a:lnTo>
                  <a:lnTo>
                    <a:pt x="250347" y="194722"/>
                  </a:lnTo>
                  <a:lnTo>
                    <a:pt x="227518" y="238123"/>
                  </a:lnTo>
                  <a:lnTo>
                    <a:pt x="186578" y="286797"/>
                  </a:lnTo>
                  <a:lnTo>
                    <a:pt x="203900" y="303237"/>
                  </a:lnTo>
                  <a:lnTo>
                    <a:pt x="244837" y="249318"/>
                  </a:lnTo>
                  <a:lnTo>
                    <a:pt x="273965" y="200644"/>
                  </a:lnTo>
                  <a:lnTo>
                    <a:pt x="291280" y="157216"/>
                  </a:lnTo>
                  <a:lnTo>
                    <a:pt x="296807" y="119061"/>
                  </a:lnTo>
                  <a:lnTo>
                    <a:pt x="291280" y="86828"/>
                  </a:lnTo>
                  <a:lnTo>
                    <a:pt x="279475" y="53946"/>
                  </a:lnTo>
                  <a:lnTo>
                    <a:pt x="262156" y="32908"/>
                  </a:lnTo>
                  <a:lnTo>
                    <a:pt x="233028" y="16440"/>
                  </a:lnTo>
                  <a:lnTo>
                    <a:pt x="203900" y="5273"/>
                  </a:lnTo>
                  <a:lnTo>
                    <a:pt x="174769" y="0"/>
                  </a:lnTo>
                  <a:close/>
                </a:path>
              </a:pathLst>
            </a:custGeom>
            <a:solidFill>
              <a:srgbClr val="1F1A17"/>
            </a:solidFill>
          </p:spPr>
          <p:txBody>
            <a:bodyPr wrap="square" lIns="0" tIns="0" rIns="0" bIns="0" rtlCol="0"/>
            <a:lstStyle/>
            <a:p>
              <a:endParaRPr/>
            </a:p>
          </p:txBody>
        </p:sp>
        <p:pic>
          <p:nvPicPr>
            <p:cNvPr id="54" name="object 54"/>
            <p:cNvPicPr/>
            <p:nvPr/>
          </p:nvPicPr>
          <p:blipFill>
            <a:blip r:embed="rId8" cstate="print"/>
            <a:stretch>
              <a:fillRect/>
            </a:stretch>
          </p:blipFill>
          <p:spPr>
            <a:xfrm>
              <a:off x="506182" y="195678"/>
              <a:ext cx="240339" cy="259810"/>
            </a:xfrm>
            <a:prstGeom prst="rect">
              <a:avLst/>
            </a:prstGeom>
          </p:spPr>
        </p:pic>
        <p:sp>
          <p:nvSpPr>
            <p:cNvPr id="55" name="object 55"/>
            <p:cNvSpPr/>
            <p:nvPr/>
          </p:nvSpPr>
          <p:spPr>
            <a:xfrm>
              <a:off x="581759" y="1787491"/>
              <a:ext cx="34925" cy="38735"/>
            </a:xfrm>
            <a:custGeom>
              <a:avLst/>
              <a:gdLst/>
              <a:ahLst/>
              <a:cxnLst/>
              <a:rect l="l" t="t" r="r" b="b"/>
              <a:pathLst>
                <a:path w="34925" h="38735">
                  <a:moveTo>
                    <a:pt x="17318" y="0"/>
                  </a:moveTo>
                  <a:lnTo>
                    <a:pt x="5510" y="5262"/>
                  </a:lnTo>
                  <a:lnTo>
                    <a:pt x="0" y="16443"/>
                  </a:lnTo>
                  <a:lnTo>
                    <a:pt x="5510" y="32230"/>
                  </a:lnTo>
                  <a:lnTo>
                    <a:pt x="17318" y="38149"/>
                  </a:lnTo>
                  <a:lnTo>
                    <a:pt x="29127" y="32230"/>
                  </a:lnTo>
                  <a:lnTo>
                    <a:pt x="34641" y="16443"/>
                  </a:lnTo>
                  <a:lnTo>
                    <a:pt x="29127" y="5262"/>
                  </a:lnTo>
                  <a:lnTo>
                    <a:pt x="17318" y="0"/>
                  </a:lnTo>
                  <a:close/>
                </a:path>
              </a:pathLst>
            </a:custGeom>
            <a:solidFill>
              <a:srgbClr val="1F1A17"/>
            </a:solidFill>
          </p:spPr>
          <p:txBody>
            <a:bodyPr wrap="square" lIns="0" tIns="0" rIns="0" bIns="0" rtlCol="0"/>
            <a:lstStyle/>
            <a:p>
              <a:endParaRPr/>
            </a:p>
          </p:txBody>
        </p:sp>
        <p:sp>
          <p:nvSpPr>
            <p:cNvPr id="56" name="object 56"/>
            <p:cNvSpPr/>
            <p:nvPr/>
          </p:nvSpPr>
          <p:spPr>
            <a:xfrm>
              <a:off x="592782" y="1796699"/>
              <a:ext cx="34925" cy="38735"/>
            </a:xfrm>
            <a:custGeom>
              <a:avLst/>
              <a:gdLst/>
              <a:ahLst/>
              <a:cxnLst/>
              <a:rect l="l" t="t" r="r" b="b"/>
              <a:pathLst>
                <a:path w="34925" h="38735">
                  <a:moveTo>
                    <a:pt x="17318" y="0"/>
                  </a:moveTo>
                  <a:lnTo>
                    <a:pt x="29127" y="5262"/>
                  </a:lnTo>
                  <a:lnTo>
                    <a:pt x="34637" y="16446"/>
                  </a:lnTo>
                  <a:lnTo>
                    <a:pt x="29127" y="32232"/>
                  </a:lnTo>
                  <a:lnTo>
                    <a:pt x="17318" y="38152"/>
                  </a:lnTo>
                  <a:lnTo>
                    <a:pt x="5510" y="32232"/>
                  </a:lnTo>
                  <a:lnTo>
                    <a:pt x="0" y="16446"/>
                  </a:lnTo>
                  <a:lnTo>
                    <a:pt x="5510" y="5262"/>
                  </a:lnTo>
                  <a:lnTo>
                    <a:pt x="17318" y="0"/>
                  </a:lnTo>
                </a:path>
              </a:pathLst>
            </a:custGeom>
            <a:ln w="5104">
              <a:solidFill>
                <a:srgbClr val="1F1A17"/>
              </a:solidFill>
            </a:ln>
          </p:spPr>
          <p:txBody>
            <a:bodyPr wrap="square" lIns="0" tIns="0" rIns="0" bIns="0" rtlCol="0"/>
            <a:lstStyle/>
            <a:p>
              <a:endParaRPr/>
            </a:p>
          </p:txBody>
        </p:sp>
        <p:sp>
          <p:nvSpPr>
            <p:cNvPr id="57" name="object 57"/>
            <p:cNvSpPr/>
            <p:nvPr/>
          </p:nvSpPr>
          <p:spPr>
            <a:xfrm>
              <a:off x="2769560" y="444970"/>
              <a:ext cx="35560" cy="38100"/>
            </a:xfrm>
            <a:custGeom>
              <a:avLst/>
              <a:gdLst/>
              <a:ahLst/>
              <a:cxnLst/>
              <a:rect l="l" t="t" r="r" b="b"/>
              <a:pathLst>
                <a:path w="35560" h="38100">
                  <a:moveTo>
                    <a:pt x="18097" y="0"/>
                  </a:moveTo>
                  <a:lnTo>
                    <a:pt x="6301" y="5272"/>
                  </a:lnTo>
                  <a:lnTo>
                    <a:pt x="0" y="21713"/>
                  </a:lnTo>
                  <a:lnTo>
                    <a:pt x="6301" y="32232"/>
                  </a:lnTo>
                  <a:lnTo>
                    <a:pt x="18097" y="37505"/>
                  </a:lnTo>
                  <a:lnTo>
                    <a:pt x="29118" y="32232"/>
                  </a:lnTo>
                  <a:lnTo>
                    <a:pt x="35419" y="21713"/>
                  </a:lnTo>
                  <a:lnTo>
                    <a:pt x="29118" y="5272"/>
                  </a:lnTo>
                  <a:lnTo>
                    <a:pt x="18097" y="0"/>
                  </a:lnTo>
                  <a:close/>
                </a:path>
              </a:pathLst>
            </a:custGeom>
            <a:solidFill>
              <a:srgbClr val="1F1A17"/>
            </a:solidFill>
          </p:spPr>
          <p:txBody>
            <a:bodyPr wrap="square" lIns="0" tIns="0" rIns="0" bIns="0" rtlCol="0"/>
            <a:lstStyle/>
            <a:p>
              <a:endParaRPr/>
            </a:p>
          </p:txBody>
        </p:sp>
        <p:sp>
          <p:nvSpPr>
            <p:cNvPr id="58" name="object 58"/>
            <p:cNvSpPr/>
            <p:nvPr/>
          </p:nvSpPr>
          <p:spPr>
            <a:xfrm>
              <a:off x="2780580" y="454191"/>
              <a:ext cx="35560" cy="38100"/>
            </a:xfrm>
            <a:custGeom>
              <a:avLst/>
              <a:gdLst/>
              <a:ahLst/>
              <a:cxnLst/>
              <a:rect l="l" t="t" r="r" b="b"/>
              <a:pathLst>
                <a:path w="35560" h="38100">
                  <a:moveTo>
                    <a:pt x="18097" y="0"/>
                  </a:moveTo>
                  <a:lnTo>
                    <a:pt x="29118" y="5245"/>
                  </a:lnTo>
                  <a:lnTo>
                    <a:pt x="35419" y="21686"/>
                  </a:lnTo>
                  <a:lnTo>
                    <a:pt x="29118" y="32232"/>
                  </a:lnTo>
                  <a:lnTo>
                    <a:pt x="18097" y="37478"/>
                  </a:lnTo>
                  <a:lnTo>
                    <a:pt x="6301" y="32232"/>
                  </a:lnTo>
                  <a:lnTo>
                    <a:pt x="0" y="21686"/>
                  </a:lnTo>
                  <a:lnTo>
                    <a:pt x="6301" y="5245"/>
                  </a:lnTo>
                  <a:lnTo>
                    <a:pt x="18097" y="0"/>
                  </a:lnTo>
                </a:path>
              </a:pathLst>
            </a:custGeom>
            <a:ln w="5086">
              <a:solidFill>
                <a:srgbClr val="1F1A17"/>
              </a:solidFill>
            </a:ln>
          </p:spPr>
          <p:txBody>
            <a:bodyPr wrap="square" lIns="0" tIns="0" rIns="0" bIns="0" rtlCol="0"/>
            <a:lstStyle/>
            <a:p>
              <a:endParaRPr/>
            </a:p>
          </p:txBody>
        </p:sp>
        <p:sp>
          <p:nvSpPr>
            <p:cNvPr id="59" name="object 59"/>
            <p:cNvSpPr/>
            <p:nvPr/>
          </p:nvSpPr>
          <p:spPr>
            <a:xfrm>
              <a:off x="2647529" y="1987454"/>
              <a:ext cx="35560" cy="38735"/>
            </a:xfrm>
            <a:custGeom>
              <a:avLst/>
              <a:gdLst/>
              <a:ahLst/>
              <a:cxnLst/>
              <a:rect l="l" t="t" r="r" b="b"/>
              <a:pathLst>
                <a:path w="35560" h="38735">
                  <a:moveTo>
                    <a:pt x="17322" y="0"/>
                  </a:moveTo>
                  <a:lnTo>
                    <a:pt x="6301" y="5919"/>
                  </a:lnTo>
                  <a:lnTo>
                    <a:pt x="0" y="21705"/>
                  </a:lnTo>
                  <a:lnTo>
                    <a:pt x="6301" y="32889"/>
                  </a:lnTo>
                  <a:lnTo>
                    <a:pt x="17322" y="38151"/>
                  </a:lnTo>
                  <a:lnTo>
                    <a:pt x="29150" y="32889"/>
                  </a:lnTo>
                  <a:lnTo>
                    <a:pt x="35419" y="21705"/>
                  </a:lnTo>
                  <a:lnTo>
                    <a:pt x="29150" y="5919"/>
                  </a:lnTo>
                  <a:lnTo>
                    <a:pt x="17322" y="0"/>
                  </a:lnTo>
                  <a:close/>
                </a:path>
              </a:pathLst>
            </a:custGeom>
            <a:solidFill>
              <a:srgbClr val="1F1A17"/>
            </a:solidFill>
          </p:spPr>
          <p:txBody>
            <a:bodyPr wrap="square" lIns="0" tIns="0" rIns="0" bIns="0" rtlCol="0"/>
            <a:lstStyle/>
            <a:p>
              <a:endParaRPr/>
            </a:p>
          </p:txBody>
        </p:sp>
        <p:sp>
          <p:nvSpPr>
            <p:cNvPr id="60" name="object 60"/>
            <p:cNvSpPr/>
            <p:nvPr/>
          </p:nvSpPr>
          <p:spPr>
            <a:xfrm>
              <a:off x="2658549" y="1996664"/>
              <a:ext cx="35560" cy="38735"/>
            </a:xfrm>
            <a:custGeom>
              <a:avLst/>
              <a:gdLst/>
              <a:ahLst/>
              <a:cxnLst/>
              <a:rect l="l" t="t" r="r" b="b"/>
              <a:pathLst>
                <a:path w="35560" h="38735">
                  <a:moveTo>
                    <a:pt x="17322" y="0"/>
                  </a:moveTo>
                  <a:lnTo>
                    <a:pt x="29150" y="5919"/>
                  </a:lnTo>
                  <a:lnTo>
                    <a:pt x="35419" y="21705"/>
                  </a:lnTo>
                  <a:lnTo>
                    <a:pt x="29150" y="32887"/>
                  </a:lnTo>
                  <a:lnTo>
                    <a:pt x="17322" y="38150"/>
                  </a:lnTo>
                  <a:lnTo>
                    <a:pt x="6301" y="32887"/>
                  </a:lnTo>
                  <a:lnTo>
                    <a:pt x="0" y="21705"/>
                  </a:lnTo>
                  <a:lnTo>
                    <a:pt x="6301" y="5919"/>
                  </a:lnTo>
                  <a:lnTo>
                    <a:pt x="17322" y="0"/>
                  </a:lnTo>
                </a:path>
              </a:pathLst>
            </a:custGeom>
            <a:ln w="5094">
              <a:solidFill>
                <a:srgbClr val="1F1A17"/>
              </a:solidFill>
            </a:ln>
          </p:spPr>
          <p:txBody>
            <a:bodyPr wrap="square" lIns="0" tIns="0" rIns="0" bIns="0" rtlCol="0"/>
            <a:lstStyle/>
            <a:p>
              <a:endParaRPr/>
            </a:p>
          </p:txBody>
        </p:sp>
        <p:sp>
          <p:nvSpPr>
            <p:cNvPr id="61" name="object 61"/>
            <p:cNvSpPr/>
            <p:nvPr/>
          </p:nvSpPr>
          <p:spPr>
            <a:xfrm>
              <a:off x="925006" y="331181"/>
              <a:ext cx="1804670" cy="1656714"/>
            </a:xfrm>
            <a:custGeom>
              <a:avLst/>
              <a:gdLst/>
              <a:ahLst/>
              <a:cxnLst/>
              <a:rect l="l" t="t" r="r" b="b"/>
              <a:pathLst>
                <a:path w="1804670" h="1656714">
                  <a:moveTo>
                    <a:pt x="6301" y="0"/>
                  </a:moveTo>
                  <a:lnTo>
                    <a:pt x="0" y="21713"/>
                  </a:lnTo>
                  <a:lnTo>
                    <a:pt x="122030" y="43400"/>
                  </a:lnTo>
                  <a:lnTo>
                    <a:pt x="238535" y="70387"/>
                  </a:lnTo>
                  <a:lnTo>
                    <a:pt x="349546" y="107866"/>
                  </a:lnTo>
                  <a:lnTo>
                    <a:pt x="454254" y="146021"/>
                  </a:lnTo>
                  <a:lnTo>
                    <a:pt x="552661" y="189422"/>
                  </a:lnTo>
                  <a:lnTo>
                    <a:pt x="646350" y="232850"/>
                  </a:lnTo>
                  <a:lnTo>
                    <a:pt x="739230" y="286797"/>
                  </a:lnTo>
                  <a:lnTo>
                    <a:pt x="826617" y="340716"/>
                  </a:lnTo>
                  <a:lnTo>
                    <a:pt x="907701" y="395312"/>
                  </a:lnTo>
                  <a:lnTo>
                    <a:pt x="983292" y="454505"/>
                  </a:lnTo>
                  <a:lnTo>
                    <a:pt x="1123421" y="584762"/>
                  </a:lnTo>
                  <a:lnTo>
                    <a:pt x="1250945" y="714342"/>
                  </a:lnTo>
                  <a:lnTo>
                    <a:pt x="1303720" y="779457"/>
                  </a:lnTo>
                  <a:lnTo>
                    <a:pt x="1361956" y="849845"/>
                  </a:lnTo>
                  <a:lnTo>
                    <a:pt x="1454869" y="980074"/>
                  </a:lnTo>
                  <a:lnTo>
                    <a:pt x="1536729" y="1109655"/>
                  </a:lnTo>
                  <a:lnTo>
                    <a:pt x="1606018" y="1233989"/>
                  </a:lnTo>
                  <a:lnTo>
                    <a:pt x="1658760" y="1347778"/>
                  </a:lnTo>
                  <a:lnTo>
                    <a:pt x="1739845" y="1543136"/>
                  </a:lnTo>
                  <a:lnTo>
                    <a:pt x="1780791" y="1656273"/>
                  </a:lnTo>
                  <a:lnTo>
                    <a:pt x="1804415" y="1651011"/>
                  </a:lnTo>
                  <a:lnTo>
                    <a:pt x="1763469" y="1531954"/>
                  </a:lnTo>
                  <a:lnTo>
                    <a:pt x="1681576" y="1342505"/>
                  </a:lnTo>
                  <a:lnTo>
                    <a:pt x="1624116" y="1223470"/>
                  </a:lnTo>
                  <a:lnTo>
                    <a:pt x="1559578" y="1099136"/>
                  </a:lnTo>
                  <a:lnTo>
                    <a:pt x="1472191" y="968906"/>
                  </a:lnTo>
                  <a:lnTo>
                    <a:pt x="1379278" y="833404"/>
                  </a:lnTo>
                  <a:lnTo>
                    <a:pt x="1327312" y="768938"/>
                  </a:lnTo>
                  <a:lnTo>
                    <a:pt x="1269076" y="698550"/>
                  </a:lnTo>
                  <a:lnTo>
                    <a:pt x="1140743" y="568321"/>
                  </a:lnTo>
                  <a:lnTo>
                    <a:pt x="1001390" y="438740"/>
                  </a:lnTo>
                  <a:lnTo>
                    <a:pt x="838445" y="319029"/>
                  </a:lnTo>
                  <a:lnTo>
                    <a:pt x="751058" y="265083"/>
                  </a:lnTo>
                  <a:lnTo>
                    <a:pt x="564457" y="167735"/>
                  </a:lnTo>
                  <a:lnTo>
                    <a:pt x="459748" y="124307"/>
                  </a:lnTo>
                  <a:lnTo>
                    <a:pt x="355040" y="86828"/>
                  </a:lnTo>
                  <a:lnTo>
                    <a:pt x="244837" y="48673"/>
                  </a:lnTo>
                  <a:lnTo>
                    <a:pt x="128332" y="21713"/>
                  </a:lnTo>
                  <a:lnTo>
                    <a:pt x="6301" y="0"/>
                  </a:lnTo>
                  <a:close/>
                </a:path>
              </a:pathLst>
            </a:custGeom>
            <a:solidFill>
              <a:srgbClr val="1F1A17"/>
            </a:solidFill>
          </p:spPr>
          <p:txBody>
            <a:bodyPr wrap="square" lIns="0" tIns="0" rIns="0" bIns="0" rtlCol="0"/>
            <a:lstStyle/>
            <a:p>
              <a:endParaRPr/>
            </a:p>
          </p:txBody>
        </p:sp>
        <p:pic>
          <p:nvPicPr>
            <p:cNvPr id="62" name="object 62"/>
            <p:cNvPicPr/>
            <p:nvPr/>
          </p:nvPicPr>
          <p:blipFill>
            <a:blip r:embed="rId9" cstate="print"/>
            <a:stretch>
              <a:fillRect/>
            </a:stretch>
          </p:blipFill>
          <p:spPr>
            <a:xfrm>
              <a:off x="2624713" y="1896023"/>
              <a:ext cx="139320" cy="124320"/>
            </a:xfrm>
            <a:prstGeom prst="rect">
              <a:avLst/>
            </a:prstGeom>
          </p:spPr>
        </p:pic>
        <p:sp>
          <p:nvSpPr>
            <p:cNvPr id="63" name="object 63"/>
            <p:cNvSpPr/>
            <p:nvPr/>
          </p:nvSpPr>
          <p:spPr>
            <a:xfrm>
              <a:off x="581759" y="406815"/>
              <a:ext cx="2199640" cy="1419225"/>
            </a:xfrm>
            <a:custGeom>
              <a:avLst/>
              <a:gdLst/>
              <a:ahLst/>
              <a:cxnLst/>
              <a:rect l="l" t="t" r="r" b="b"/>
              <a:pathLst>
                <a:path w="2199640" h="1419225">
                  <a:moveTo>
                    <a:pt x="2194103" y="0"/>
                  </a:moveTo>
                  <a:lnTo>
                    <a:pt x="2053974" y="16440"/>
                  </a:lnTo>
                  <a:lnTo>
                    <a:pt x="1827234" y="53946"/>
                  </a:lnTo>
                  <a:lnTo>
                    <a:pt x="1687881" y="86828"/>
                  </a:lnTo>
                  <a:lnTo>
                    <a:pt x="1536732" y="130256"/>
                  </a:lnTo>
                  <a:lnTo>
                    <a:pt x="1373787" y="184176"/>
                  </a:lnTo>
                  <a:lnTo>
                    <a:pt x="1204508" y="249291"/>
                  </a:lnTo>
                  <a:lnTo>
                    <a:pt x="1117122" y="286796"/>
                  </a:lnTo>
                  <a:lnTo>
                    <a:pt x="1029735" y="330197"/>
                  </a:lnTo>
                  <a:lnTo>
                    <a:pt x="855738" y="427572"/>
                  </a:lnTo>
                  <a:lnTo>
                    <a:pt x="773878" y="482168"/>
                  </a:lnTo>
                  <a:lnTo>
                    <a:pt x="686491" y="541361"/>
                  </a:lnTo>
                  <a:lnTo>
                    <a:pt x="523514" y="671590"/>
                  </a:lnTo>
                  <a:lnTo>
                    <a:pt x="372365" y="822885"/>
                  </a:lnTo>
                  <a:lnTo>
                    <a:pt x="296807" y="909713"/>
                  </a:lnTo>
                  <a:lnTo>
                    <a:pt x="233044" y="996542"/>
                  </a:lnTo>
                  <a:lnTo>
                    <a:pt x="168474" y="1093890"/>
                  </a:lnTo>
                  <a:lnTo>
                    <a:pt x="104705" y="1191237"/>
                  </a:lnTo>
                  <a:lnTo>
                    <a:pt x="52745" y="1299104"/>
                  </a:lnTo>
                  <a:lnTo>
                    <a:pt x="0" y="1412906"/>
                  </a:lnTo>
                  <a:lnTo>
                    <a:pt x="23617" y="1418825"/>
                  </a:lnTo>
                  <a:lnTo>
                    <a:pt x="75577" y="1305026"/>
                  </a:lnTo>
                  <a:lnTo>
                    <a:pt x="128323" y="1201756"/>
                  </a:lnTo>
                  <a:lnTo>
                    <a:pt x="186581" y="1104409"/>
                  </a:lnTo>
                  <a:lnTo>
                    <a:pt x="250334" y="1007061"/>
                  </a:lnTo>
                  <a:lnTo>
                    <a:pt x="320431" y="920232"/>
                  </a:lnTo>
                  <a:lnTo>
                    <a:pt x="389687" y="839326"/>
                  </a:lnTo>
                  <a:lnTo>
                    <a:pt x="541644" y="687382"/>
                  </a:lnTo>
                  <a:lnTo>
                    <a:pt x="704589" y="557802"/>
                  </a:lnTo>
                  <a:lnTo>
                    <a:pt x="785674" y="497933"/>
                  </a:lnTo>
                  <a:lnTo>
                    <a:pt x="866790" y="444013"/>
                  </a:lnTo>
                  <a:lnTo>
                    <a:pt x="954177" y="395339"/>
                  </a:lnTo>
                  <a:lnTo>
                    <a:pt x="1128918" y="308510"/>
                  </a:lnTo>
                  <a:lnTo>
                    <a:pt x="1210810" y="271005"/>
                  </a:lnTo>
                  <a:lnTo>
                    <a:pt x="1379281" y="205890"/>
                  </a:lnTo>
                  <a:lnTo>
                    <a:pt x="1542259" y="151943"/>
                  </a:lnTo>
                  <a:lnTo>
                    <a:pt x="1693408" y="108542"/>
                  </a:lnTo>
                  <a:lnTo>
                    <a:pt x="1833536" y="75660"/>
                  </a:lnTo>
                  <a:lnTo>
                    <a:pt x="2060276" y="38154"/>
                  </a:lnTo>
                  <a:lnTo>
                    <a:pt x="2199597" y="21713"/>
                  </a:lnTo>
                  <a:lnTo>
                    <a:pt x="2194103" y="0"/>
                  </a:lnTo>
                  <a:close/>
                </a:path>
              </a:pathLst>
            </a:custGeom>
            <a:solidFill>
              <a:srgbClr val="1F1A17"/>
            </a:solidFill>
          </p:spPr>
          <p:txBody>
            <a:bodyPr wrap="square" lIns="0" tIns="0" rIns="0" bIns="0" rtlCol="0"/>
            <a:lstStyle/>
            <a:p>
              <a:endParaRPr/>
            </a:p>
          </p:txBody>
        </p:sp>
        <p:pic>
          <p:nvPicPr>
            <p:cNvPr id="64" name="object 64"/>
            <p:cNvPicPr/>
            <p:nvPr/>
          </p:nvPicPr>
          <p:blipFill>
            <a:blip r:embed="rId10" cstate="print"/>
            <a:stretch>
              <a:fillRect/>
            </a:stretch>
          </p:blipFill>
          <p:spPr>
            <a:xfrm>
              <a:off x="2688475" y="358141"/>
              <a:ext cx="128332" cy="135502"/>
            </a:xfrm>
            <a:prstGeom prst="rect">
              <a:avLst/>
            </a:prstGeom>
          </p:spPr>
        </p:pic>
        <p:sp>
          <p:nvSpPr>
            <p:cNvPr id="65" name="object 65"/>
            <p:cNvSpPr/>
            <p:nvPr/>
          </p:nvSpPr>
          <p:spPr>
            <a:xfrm>
              <a:off x="826599" y="314740"/>
              <a:ext cx="1850389" cy="1700530"/>
            </a:xfrm>
            <a:custGeom>
              <a:avLst/>
              <a:gdLst/>
              <a:ahLst/>
              <a:cxnLst/>
              <a:rect l="l" t="t" r="r" b="b"/>
              <a:pathLst>
                <a:path w="1850389" h="1700530">
                  <a:moveTo>
                    <a:pt x="22816" y="0"/>
                  </a:moveTo>
                  <a:lnTo>
                    <a:pt x="34644" y="130229"/>
                  </a:lnTo>
                  <a:lnTo>
                    <a:pt x="98406" y="308483"/>
                  </a:lnTo>
                  <a:lnTo>
                    <a:pt x="144847" y="417026"/>
                  </a:lnTo>
                  <a:lnTo>
                    <a:pt x="203115" y="530815"/>
                  </a:lnTo>
                  <a:lnTo>
                    <a:pt x="278673" y="655149"/>
                  </a:lnTo>
                  <a:lnTo>
                    <a:pt x="366060" y="779457"/>
                  </a:lnTo>
                  <a:lnTo>
                    <a:pt x="412532" y="844572"/>
                  </a:lnTo>
                  <a:lnTo>
                    <a:pt x="470769" y="904440"/>
                  </a:lnTo>
                  <a:lnTo>
                    <a:pt x="529037" y="968906"/>
                  </a:lnTo>
                  <a:lnTo>
                    <a:pt x="593607" y="1034021"/>
                  </a:lnTo>
                  <a:lnTo>
                    <a:pt x="662864" y="1099136"/>
                  </a:lnTo>
                  <a:lnTo>
                    <a:pt x="738454" y="1164251"/>
                  </a:lnTo>
                  <a:lnTo>
                    <a:pt x="820315" y="1223443"/>
                  </a:lnTo>
                  <a:lnTo>
                    <a:pt x="907701" y="1283312"/>
                  </a:lnTo>
                  <a:lnTo>
                    <a:pt x="1000614" y="1342505"/>
                  </a:lnTo>
                  <a:lnTo>
                    <a:pt x="1099797" y="1402374"/>
                  </a:lnTo>
                  <a:lnTo>
                    <a:pt x="1204505" y="1461567"/>
                  </a:lnTo>
                  <a:lnTo>
                    <a:pt x="1314740" y="1516162"/>
                  </a:lnTo>
                  <a:lnTo>
                    <a:pt x="1436739" y="1564839"/>
                  </a:lnTo>
                  <a:lnTo>
                    <a:pt x="1565072" y="1613516"/>
                  </a:lnTo>
                  <a:lnTo>
                    <a:pt x="1698898" y="1662189"/>
                  </a:lnTo>
                  <a:lnTo>
                    <a:pt x="1838251" y="1700342"/>
                  </a:lnTo>
                  <a:lnTo>
                    <a:pt x="1850080" y="1683895"/>
                  </a:lnTo>
                  <a:lnTo>
                    <a:pt x="1704425" y="1640484"/>
                  </a:lnTo>
                  <a:lnTo>
                    <a:pt x="1570598" y="1591807"/>
                  </a:lnTo>
                  <a:lnTo>
                    <a:pt x="1326536" y="1494457"/>
                  </a:lnTo>
                  <a:lnTo>
                    <a:pt x="1215525" y="1440529"/>
                  </a:lnTo>
                  <a:lnTo>
                    <a:pt x="1110817" y="1385933"/>
                  </a:lnTo>
                  <a:lnTo>
                    <a:pt x="1012410" y="1326713"/>
                  </a:lnTo>
                  <a:lnTo>
                    <a:pt x="918722" y="1266871"/>
                  </a:lnTo>
                  <a:lnTo>
                    <a:pt x="832143" y="1207678"/>
                  </a:lnTo>
                  <a:lnTo>
                    <a:pt x="756552" y="1147810"/>
                  </a:lnTo>
                  <a:lnTo>
                    <a:pt x="680186" y="1082695"/>
                  </a:lnTo>
                  <a:lnTo>
                    <a:pt x="546359" y="958360"/>
                  </a:lnTo>
                  <a:lnTo>
                    <a:pt x="488091" y="893245"/>
                  </a:lnTo>
                  <a:lnTo>
                    <a:pt x="430630" y="828131"/>
                  </a:lnTo>
                  <a:lnTo>
                    <a:pt x="383382" y="763665"/>
                  </a:lnTo>
                  <a:lnTo>
                    <a:pt x="296803" y="638681"/>
                  </a:lnTo>
                  <a:lnTo>
                    <a:pt x="226739" y="519647"/>
                  </a:lnTo>
                  <a:lnTo>
                    <a:pt x="168471" y="405831"/>
                  </a:lnTo>
                  <a:lnTo>
                    <a:pt x="122030" y="303237"/>
                  </a:lnTo>
                  <a:lnTo>
                    <a:pt x="57460" y="124307"/>
                  </a:lnTo>
                  <a:lnTo>
                    <a:pt x="22816" y="0"/>
                  </a:lnTo>
                  <a:close/>
                </a:path>
              </a:pathLst>
            </a:custGeom>
            <a:solidFill>
              <a:srgbClr val="1F1A17"/>
            </a:solidFill>
          </p:spPr>
          <p:txBody>
            <a:bodyPr wrap="square" lIns="0" tIns="0" rIns="0" bIns="0" rtlCol="0"/>
            <a:lstStyle/>
            <a:p>
              <a:endParaRPr/>
            </a:p>
          </p:txBody>
        </p:sp>
        <p:pic>
          <p:nvPicPr>
            <p:cNvPr id="66" name="object 66"/>
            <p:cNvPicPr/>
            <p:nvPr/>
          </p:nvPicPr>
          <p:blipFill>
            <a:blip r:embed="rId11" cstate="print"/>
            <a:stretch>
              <a:fillRect/>
            </a:stretch>
          </p:blipFill>
          <p:spPr>
            <a:xfrm>
              <a:off x="785660" y="282507"/>
              <a:ext cx="139346" cy="124307"/>
            </a:xfrm>
            <a:prstGeom prst="rect">
              <a:avLst/>
            </a:prstGeom>
          </p:spPr>
        </p:pic>
        <p:sp>
          <p:nvSpPr>
            <p:cNvPr id="67" name="object 67"/>
            <p:cNvSpPr/>
            <p:nvPr/>
          </p:nvSpPr>
          <p:spPr>
            <a:xfrm>
              <a:off x="547121" y="460762"/>
              <a:ext cx="2258060" cy="1456690"/>
            </a:xfrm>
            <a:custGeom>
              <a:avLst/>
              <a:gdLst/>
              <a:ahLst/>
              <a:cxnLst/>
              <a:rect l="l" t="t" r="r" b="b"/>
              <a:pathLst>
                <a:path w="2258060" h="1456689">
                  <a:moveTo>
                    <a:pt x="2234235" y="0"/>
                  </a:moveTo>
                  <a:lnTo>
                    <a:pt x="2158676" y="130229"/>
                  </a:lnTo>
                  <a:lnTo>
                    <a:pt x="2083086" y="249291"/>
                  </a:lnTo>
                  <a:lnTo>
                    <a:pt x="2007527" y="363079"/>
                  </a:lnTo>
                  <a:lnTo>
                    <a:pt x="1925635" y="465700"/>
                  </a:lnTo>
                  <a:lnTo>
                    <a:pt x="1844550" y="563048"/>
                  </a:lnTo>
                  <a:lnTo>
                    <a:pt x="1763465" y="655149"/>
                  </a:lnTo>
                  <a:lnTo>
                    <a:pt x="1594219" y="812339"/>
                  </a:lnTo>
                  <a:lnTo>
                    <a:pt x="1506832" y="887999"/>
                  </a:lnTo>
                  <a:lnTo>
                    <a:pt x="1425715" y="953114"/>
                  </a:lnTo>
                  <a:lnTo>
                    <a:pt x="1338329" y="1012983"/>
                  </a:lnTo>
                  <a:lnTo>
                    <a:pt x="1256469" y="1066903"/>
                  </a:lnTo>
                  <a:lnTo>
                    <a:pt x="1175384" y="1115577"/>
                  </a:lnTo>
                  <a:lnTo>
                    <a:pt x="1087997" y="1159005"/>
                  </a:lnTo>
                  <a:lnTo>
                    <a:pt x="1006913" y="1196483"/>
                  </a:lnTo>
                  <a:lnTo>
                    <a:pt x="930546" y="1234638"/>
                  </a:lnTo>
                  <a:lnTo>
                    <a:pt x="773871" y="1294507"/>
                  </a:lnTo>
                  <a:lnTo>
                    <a:pt x="488895" y="1375406"/>
                  </a:lnTo>
                  <a:lnTo>
                    <a:pt x="360563" y="1397111"/>
                  </a:lnTo>
                  <a:lnTo>
                    <a:pt x="145642" y="1424079"/>
                  </a:lnTo>
                  <a:lnTo>
                    <a:pt x="0" y="1435261"/>
                  </a:lnTo>
                  <a:lnTo>
                    <a:pt x="5510" y="1456310"/>
                  </a:lnTo>
                  <a:lnTo>
                    <a:pt x="151152" y="1445785"/>
                  </a:lnTo>
                  <a:lnTo>
                    <a:pt x="360563" y="1418817"/>
                  </a:lnTo>
                  <a:lnTo>
                    <a:pt x="488895" y="1397111"/>
                  </a:lnTo>
                  <a:lnTo>
                    <a:pt x="633743" y="1358959"/>
                  </a:lnTo>
                  <a:lnTo>
                    <a:pt x="779398" y="1315545"/>
                  </a:lnTo>
                  <a:lnTo>
                    <a:pt x="936848" y="1256352"/>
                  </a:lnTo>
                  <a:lnTo>
                    <a:pt x="1017933" y="1218197"/>
                  </a:lnTo>
                  <a:lnTo>
                    <a:pt x="1099793" y="1180691"/>
                  </a:lnTo>
                  <a:lnTo>
                    <a:pt x="1187180" y="1132018"/>
                  </a:lnTo>
                  <a:lnTo>
                    <a:pt x="1268264" y="1083344"/>
                  </a:lnTo>
                  <a:lnTo>
                    <a:pt x="1355651" y="1028748"/>
                  </a:lnTo>
                  <a:lnTo>
                    <a:pt x="1437543" y="969555"/>
                  </a:lnTo>
                  <a:lnTo>
                    <a:pt x="1524122" y="904440"/>
                  </a:lnTo>
                  <a:lnTo>
                    <a:pt x="1611509" y="834053"/>
                  </a:lnTo>
                  <a:lnTo>
                    <a:pt x="1780788" y="666317"/>
                  </a:lnTo>
                  <a:lnTo>
                    <a:pt x="1861872" y="579488"/>
                  </a:lnTo>
                  <a:lnTo>
                    <a:pt x="1943733" y="476895"/>
                  </a:lnTo>
                  <a:lnTo>
                    <a:pt x="2024849" y="373625"/>
                  </a:lnTo>
                  <a:lnTo>
                    <a:pt x="2106710" y="259810"/>
                  </a:lnTo>
                  <a:lnTo>
                    <a:pt x="2182300" y="140748"/>
                  </a:lnTo>
                  <a:lnTo>
                    <a:pt x="2257859" y="11167"/>
                  </a:lnTo>
                  <a:lnTo>
                    <a:pt x="2234235" y="0"/>
                  </a:lnTo>
                  <a:close/>
                </a:path>
              </a:pathLst>
            </a:custGeom>
            <a:solidFill>
              <a:srgbClr val="1F1A17"/>
            </a:solidFill>
          </p:spPr>
          <p:txBody>
            <a:bodyPr wrap="square" lIns="0" tIns="0" rIns="0" bIns="0" rtlCol="0"/>
            <a:lstStyle/>
            <a:p>
              <a:endParaRPr/>
            </a:p>
          </p:txBody>
        </p:sp>
        <p:pic>
          <p:nvPicPr>
            <p:cNvPr id="68" name="object 68"/>
            <p:cNvPicPr/>
            <p:nvPr/>
          </p:nvPicPr>
          <p:blipFill>
            <a:blip r:embed="rId12" cstate="print"/>
            <a:stretch>
              <a:fillRect/>
            </a:stretch>
          </p:blipFill>
          <p:spPr>
            <a:xfrm>
              <a:off x="511694" y="1830903"/>
              <a:ext cx="128323" cy="135502"/>
            </a:xfrm>
            <a:prstGeom prst="rect">
              <a:avLst/>
            </a:prstGeom>
          </p:spPr>
        </p:pic>
      </p:grpSp>
      <p:sp>
        <p:nvSpPr>
          <p:cNvPr id="69" name="object 69"/>
          <p:cNvSpPr txBox="1"/>
          <p:nvPr/>
        </p:nvSpPr>
        <p:spPr>
          <a:xfrm>
            <a:off x="687618" y="411830"/>
            <a:ext cx="146050" cy="295275"/>
          </a:xfrm>
          <a:prstGeom prst="rect">
            <a:avLst/>
          </a:prstGeom>
        </p:spPr>
        <p:txBody>
          <a:bodyPr vert="horz" wrap="square" lIns="0" tIns="15240" rIns="0" bIns="0" rtlCol="0">
            <a:spAutoFit/>
          </a:bodyPr>
          <a:lstStyle/>
          <a:p>
            <a:pPr marL="12700">
              <a:lnSpc>
                <a:spcPct val="100000"/>
              </a:lnSpc>
              <a:spcBef>
                <a:spcPts val="120"/>
              </a:spcBef>
            </a:pPr>
            <a:r>
              <a:rPr sz="1750" spc="20" dirty="0">
                <a:latin typeface="Times New Roman"/>
                <a:cs typeface="Times New Roman"/>
              </a:rPr>
              <a:t>1</a:t>
            </a:r>
            <a:endParaRPr sz="1750">
              <a:latin typeface="Times New Roman"/>
              <a:cs typeface="Times New Roman"/>
            </a:endParaRPr>
          </a:p>
        </p:txBody>
      </p:sp>
      <p:sp>
        <p:nvSpPr>
          <p:cNvPr id="70" name="object 70"/>
          <p:cNvSpPr txBox="1"/>
          <p:nvPr/>
        </p:nvSpPr>
        <p:spPr>
          <a:xfrm>
            <a:off x="2841953" y="215882"/>
            <a:ext cx="146050" cy="295275"/>
          </a:xfrm>
          <a:prstGeom prst="rect">
            <a:avLst/>
          </a:prstGeom>
        </p:spPr>
        <p:txBody>
          <a:bodyPr vert="horz" wrap="square" lIns="0" tIns="15240" rIns="0" bIns="0" rtlCol="0">
            <a:spAutoFit/>
          </a:bodyPr>
          <a:lstStyle/>
          <a:p>
            <a:pPr marL="12700">
              <a:lnSpc>
                <a:spcPct val="100000"/>
              </a:lnSpc>
              <a:spcBef>
                <a:spcPts val="120"/>
              </a:spcBef>
            </a:pPr>
            <a:r>
              <a:rPr sz="1750" spc="20" dirty="0">
                <a:latin typeface="Times New Roman"/>
                <a:cs typeface="Times New Roman"/>
              </a:rPr>
              <a:t>2</a:t>
            </a:r>
            <a:endParaRPr sz="1750">
              <a:latin typeface="Times New Roman"/>
              <a:cs typeface="Times New Roman"/>
            </a:endParaRPr>
          </a:p>
        </p:txBody>
      </p:sp>
      <p:sp>
        <p:nvSpPr>
          <p:cNvPr id="71" name="object 71"/>
          <p:cNvSpPr txBox="1"/>
          <p:nvPr/>
        </p:nvSpPr>
        <p:spPr>
          <a:xfrm>
            <a:off x="2684108" y="2017551"/>
            <a:ext cx="146050" cy="295275"/>
          </a:xfrm>
          <a:prstGeom prst="rect">
            <a:avLst/>
          </a:prstGeom>
        </p:spPr>
        <p:txBody>
          <a:bodyPr vert="horz" wrap="square" lIns="0" tIns="15240" rIns="0" bIns="0" rtlCol="0">
            <a:spAutoFit/>
          </a:bodyPr>
          <a:lstStyle/>
          <a:p>
            <a:pPr marL="12700">
              <a:lnSpc>
                <a:spcPct val="100000"/>
              </a:lnSpc>
              <a:spcBef>
                <a:spcPts val="120"/>
              </a:spcBef>
            </a:pPr>
            <a:r>
              <a:rPr sz="1750" spc="20" dirty="0">
                <a:latin typeface="Times New Roman"/>
                <a:cs typeface="Times New Roman"/>
              </a:rPr>
              <a:t>3</a:t>
            </a:r>
            <a:endParaRPr sz="1750">
              <a:latin typeface="Times New Roman"/>
              <a:cs typeface="Times New Roman"/>
            </a:endParaRPr>
          </a:p>
        </p:txBody>
      </p:sp>
      <p:sp>
        <p:nvSpPr>
          <p:cNvPr id="72" name="object 72"/>
          <p:cNvSpPr txBox="1"/>
          <p:nvPr/>
        </p:nvSpPr>
        <p:spPr>
          <a:xfrm>
            <a:off x="324758" y="1799643"/>
            <a:ext cx="146050" cy="295275"/>
          </a:xfrm>
          <a:prstGeom prst="rect">
            <a:avLst/>
          </a:prstGeom>
        </p:spPr>
        <p:txBody>
          <a:bodyPr vert="horz" wrap="square" lIns="0" tIns="15240" rIns="0" bIns="0" rtlCol="0">
            <a:spAutoFit/>
          </a:bodyPr>
          <a:lstStyle/>
          <a:p>
            <a:pPr marL="12700">
              <a:lnSpc>
                <a:spcPct val="100000"/>
              </a:lnSpc>
              <a:spcBef>
                <a:spcPts val="120"/>
              </a:spcBef>
            </a:pPr>
            <a:r>
              <a:rPr sz="1750" spc="20" dirty="0">
                <a:latin typeface="Times New Roman"/>
                <a:cs typeface="Times New Roman"/>
              </a:rPr>
              <a:t>4</a:t>
            </a:r>
            <a:endParaRPr sz="1750">
              <a:latin typeface="Times New Roman"/>
              <a:cs typeface="Times New Roman"/>
            </a:endParaRPr>
          </a:p>
        </p:txBody>
      </p:sp>
      <p:sp>
        <p:nvSpPr>
          <p:cNvPr id="73" name="object 73"/>
          <p:cNvSpPr txBox="1"/>
          <p:nvPr/>
        </p:nvSpPr>
        <p:spPr>
          <a:xfrm>
            <a:off x="560617" y="2306410"/>
            <a:ext cx="1626235" cy="295275"/>
          </a:xfrm>
          <a:prstGeom prst="rect">
            <a:avLst/>
          </a:prstGeom>
        </p:spPr>
        <p:txBody>
          <a:bodyPr vert="horz" wrap="square" lIns="0" tIns="15240" rIns="0" bIns="0" rtlCol="0">
            <a:spAutoFit/>
          </a:bodyPr>
          <a:lstStyle/>
          <a:p>
            <a:pPr marL="38100">
              <a:lnSpc>
                <a:spcPct val="100000"/>
              </a:lnSpc>
              <a:spcBef>
                <a:spcPts val="120"/>
              </a:spcBef>
            </a:pPr>
            <a:r>
              <a:rPr sz="1750" spc="75" dirty="0">
                <a:solidFill>
                  <a:srgbClr val="0070C0"/>
                </a:solidFill>
                <a:latin typeface="Times New Roman"/>
                <a:cs typeface="Times New Roman"/>
              </a:rPr>
              <a:t>R</a:t>
            </a:r>
            <a:r>
              <a:rPr sz="1800" spc="112" baseline="-20833" dirty="0">
                <a:solidFill>
                  <a:srgbClr val="0070C0"/>
                </a:solidFill>
                <a:latin typeface="Times New Roman"/>
                <a:cs typeface="Times New Roman"/>
              </a:rPr>
              <a:t>1</a:t>
            </a:r>
            <a:r>
              <a:rPr sz="1800" spc="262" baseline="-20833" dirty="0">
                <a:solidFill>
                  <a:srgbClr val="0070C0"/>
                </a:solidFill>
                <a:latin typeface="Times New Roman"/>
                <a:cs typeface="Times New Roman"/>
              </a:rPr>
              <a:t> </a:t>
            </a:r>
            <a:r>
              <a:rPr sz="1750" spc="50" dirty="0">
                <a:solidFill>
                  <a:srgbClr val="0070C0"/>
                </a:solidFill>
                <a:latin typeface="Times New Roman"/>
                <a:cs typeface="Times New Roman"/>
              </a:rPr>
              <a:t>is</a:t>
            </a:r>
            <a:r>
              <a:rPr sz="1750" spc="40" dirty="0">
                <a:solidFill>
                  <a:srgbClr val="0070C0"/>
                </a:solidFill>
                <a:latin typeface="Times New Roman"/>
                <a:cs typeface="Times New Roman"/>
              </a:rPr>
              <a:t> </a:t>
            </a:r>
            <a:r>
              <a:rPr sz="1750" spc="55" dirty="0">
                <a:solidFill>
                  <a:srgbClr val="0070C0"/>
                </a:solidFill>
                <a:latin typeface="Times New Roman"/>
                <a:cs typeface="Times New Roman"/>
              </a:rPr>
              <a:t>symmetric</a:t>
            </a:r>
            <a:endParaRPr sz="1750" dirty="0">
              <a:solidFill>
                <a:srgbClr val="0070C0"/>
              </a:solidFill>
              <a:latin typeface="Times New Roman"/>
              <a:cs typeface="Times New Roman"/>
            </a:endParaRPr>
          </a:p>
        </p:txBody>
      </p:sp>
      <p:grpSp>
        <p:nvGrpSpPr>
          <p:cNvPr id="74" name="object 74"/>
          <p:cNvGrpSpPr/>
          <p:nvPr/>
        </p:nvGrpSpPr>
        <p:grpSpPr>
          <a:xfrm>
            <a:off x="4278046" y="324569"/>
            <a:ext cx="252095" cy="293370"/>
            <a:chOff x="4278046" y="324569"/>
            <a:chExt cx="252095" cy="293370"/>
          </a:xfrm>
        </p:grpSpPr>
        <p:pic>
          <p:nvPicPr>
            <p:cNvPr id="75" name="object 75"/>
            <p:cNvPicPr/>
            <p:nvPr/>
          </p:nvPicPr>
          <p:blipFill>
            <a:blip r:embed="rId13" cstate="print"/>
            <a:stretch>
              <a:fillRect/>
            </a:stretch>
          </p:blipFill>
          <p:spPr>
            <a:xfrm>
              <a:off x="4278046" y="324569"/>
              <a:ext cx="251588" cy="293058"/>
            </a:xfrm>
            <a:prstGeom prst="rect">
              <a:avLst/>
            </a:prstGeom>
          </p:spPr>
        </p:pic>
        <p:sp>
          <p:nvSpPr>
            <p:cNvPr id="76" name="object 76"/>
            <p:cNvSpPr/>
            <p:nvPr/>
          </p:nvSpPr>
          <p:spPr>
            <a:xfrm>
              <a:off x="4438080" y="549901"/>
              <a:ext cx="29209" cy="31750"/>
            </a:xfrm>
            <a:custGeom>
              <a:avLst/>
              <a:gdLst/>
              <a:ahLst/>
              <a:cxnLst/>
              <a:rect l="l" t="t" r="r" b="b"/>
              <a:pathLst>
                <a:path w="29210" h="31750">
                  <a:moveTo>
                    <a:pt x="14144" y="0"/>
                  </a:moveTo>
                  <a:lnTo>
                    <a:pt x="4467" y="4679"/>
                  </a:lnTo>
                  <a:lnTo>
                    <a:pt x="0" y="18095"/>
                  </a:lnTo>
                  <a:lnTo>
                    <a:pt x="4467" y="26855"/>
                  </a:lnTo>
                  <a:lnTo>
                    <a:pt x="14144" y="31535"/>
                  </a:lnTo>
                  <a:lnTo>
                    <a:pt x="23818" y="26855"/>
                  </a:lnTo>
                  <a:lnTo>
                    <a:pt x="29031" y="18095"/>
                  </a:lnTo>
                  <a:lnTo>
                    <a:pt x="23818" y="4679"/>
                  </a:lnTo>
                  <a:lnTo>
                    <a:pt x="14144" y="0"/>
                  </a:lnTo>
                  <a:close/>
                </a:path>
              </a:pathLst>
            </a:custGeom>
            <a:solidFill>
              <a:srgbClr val="1F1A17"/>
            </a:solidFill>
          </p:spPr>
          <p:txBody>
            <a:bodyPr wrap="square" lIns="0" tIns="0" rIns="0" bIns="0" rtlCol="0"/>
            <a:lstStyle/>
            <a:p>
              <a:endParaRPr/>
            </a:p>
          </p:txBody>
        </p:sp>
        <p:sp>
          <p:nvSpPr>
            <p:cNvPr id="77" name="object 77"/>
            <p:cNvSpPr/>
            <p:nvPr/>
          </p:nvSpPr>
          <p:spPr>
            <a:xfrm>
              <a:off x="4448500" y="558085"/>
              <a:ext cx="29209" cy="31750"/>
            </a:xfrm>
            <a:custGeom>
              <a:avLst/>
              <a:gdLst/>
              <a:ahLst/>
              <a:cxnLst/>
              <a:rect l="l" t="t" r="r" b="b"/>
              <a:pathLst>
                <a:path w="29210" h="31750">
                  <a:moveTo>
                    <a:pt x="14144" y="0"/>
                  </a:moveTo>
                  <a:lnTo>
                    <a:pt x="23821" y="4655"/>
                  </a:lnTo>
                  <a:lnTo>
                    <a:pt x="29031" y="18095"/>
                  </a:lnTo>
                  <a:lnTo>
                    <a:pt x="23821" y="26855"/>
                  </a:lnTo>
                  <a:lnTo>
                    <a:pt x="14144" y="31511"/>
                  </a:lnTo>
                  <a:lnTo>
                    <a:pt x="4467" y="26855"/>
                  </a:lnTo>
                  <a:lnTo>
                    <a:pt x="0" y="18095"/>
                  </a:lnTo>
                  <a:lnTo>
                    <a:pt x="4467" y="4655"/>
                  </a:lnTo>
                  <a:lnTo>
                    <a:pt x="14144" y="0"/>
                  </a:lnTo>
                </a:path>
              </a:pathLst>
            </a:custGeom>
            <a:ln w="4697">
              <a:solidFill>
                <a:srgbClr val="1F1A17"/>
              </a:solidFill>
            </a:ln>
          </p:spPr>
          <p:txBody>
            <a:bodyPr wrap="square" lIns="0" tIns="0" rIns="0" bIns="0" rtlCol="0"/>
            <a:lstStyle/>
            <a:p>
              <a:endParaRPr/>
            </a:p>
          </p:txBody>
        </p:sp>
      </p:grpSp>
      <p:grpSp>
        <p:nvGrpSpPr>
          <p:cNvPr id="78" name="object 78"/>
          <p:cNvGrpSpPr/>
          <p:nvPr/>
        </p:nvGrpSpPr>
        <p:grpSpPr>
          <a:xfrm>
            <a:off x="4258692" y="1730918"/>
            <a:ext cx="252095" cy="293370"/>
            <a:chOff x="4258692" y="1730918"/>
            <a:chExt cx="252095" cy="293370"/>
          </a:xfrm>
        </p:grpSpPr>
        <p:pic>
          <p:nvPicPr>
            <p:cNvPr id="79" name="object 79"/>
            <p:cNvPicPr/>
            <p:nvPr/>
          </p:nvPicPr>
          <p:blipFill>
            <a:blip r:embed="rId14" cstate="print"/>
            <a:stretch>
              <a:fillRect/>
            </a:stretch>
          </p:blipFill>
          <p:spPr>
            <a:xfrm>
              <a:off x="4258692" y="1730918"/>
              <a:ext cx="251589" cy="293060"/>
            </a:xfrm>
            <a:prstGeom prst="rect">
              <a:avLst/>
            </a:prstGeom>
          </p:spPr>
        </p:pic>
        <p:sp>
          <p:nvSpPr>
            <p:cNvPr id="80" name="object 80"/>
            <p:cNvSpPr/>
            <p:nvPr/>
          </p:nvSpPr>
          <p:spPr>
            <a:xfrm>
              <a:off x="4417984" y="1960927"/>
              <a:ext cx="29845" cy="31750"/>
            </a:xfrm>
            <a:custGeom>
              <a:avLst/>
              <a:gdLst/>
              <a:ahLst/>
              <a:cxnLst/>
              <a:rect l="l" t="t" r="r" b="b"/>
              <a:pathLst>
                <a:path w="29845" h="31750">
                  <a:moveTo>
                    <a:pt x="14886" y="0"/>
                  </a:moveTo>
                  <a:lnTo>
                    <a:pt x="5209" y="4670"/>
                  </a:lnTo>
                  <a:lnTo>
                    <a:pt x="0" y="18098"/>
                  </a:lnTo>
                  <a:lnTo>
                    <a:pt x="5209" y="26855"/>
                  </a:lnTo>
                  <a:lnTo>
                    <a:pt x="14886" y="31525"/>
                  </a:lnTo>
                  <a:lnTo>
                    <a:pt x="24563" y="26855"/>
                  </a:lnTo>
                  <a:lnTo>
                    <a:pt x="29773" y="18098"/>
                  </a:lnTo>
                  <a:lnTo>
                    <a:pt x="24563" y="4670"/>
                  </a:lnTo>
                  <a:lnTo>
                    <a:pt x="14886" y="0"/>
                  </a:lnTo>
                  <a:close/>
                </a:path>
              </a:pathLst>
            </a:custGeom>
            <a:solidFill>
              <a:srgbClr val="1F1A17"/>
            </a:solidFill>
          </p:spPr>
          <p:txBody>
            <a:bodyPr wrap="square" lIns="0" tIns="0" rIns="0" bIns="0" rtlCol="0"/>
            <a:lstStyle/>
            <a:p>
              <a:endParaRPr/>
            </a:p>
          </p:txBody>
        </p:sp>
        <p:sp>
          <p:nvSpPr>
            <p:cNvPr id="81" name="object 81"/>
            <p:cNvSpPr/>
            <p:nvPr/>
          </p:nvSpPr>
          <p:spPr>
            <a:xfrm>
              <a:off x="4428403" y="1969101"/>
              <a:ext cx="29845" cy="31750"/>
            </a:xfrm>
            <a:custGeom>
              <a:avLst/>
              <a:gdLst/>
              <a:ahLst/>
              <a:cxnLst/>
              <a:rect l="l" t="t" r="r" b="b"/>
              <a:pathLst>
                <a:path w="29845" h="31750">
                  <a:moveTo>
                    <a:pt x="14886" y="0"/>
                  </a:moveTo>
                  <a:lnTo>
                    <a:pt x="24563" y="4670"/>
                  </a:lnTo>
                  <a:lnTo>
                    <a:pt x="29773" y="18098"/>
                  </a:lnTo>
                  <a:lnTo>
                    <a:pt x="24563" y="26853"/>
                  </a:lnTo>
                  <a:lnTo>
                    <a:pt x="14886" y="31525"/>
                  </a:lnTo>
                  <a:lnTo>
                    <a:pt x="5209" y="26853"/>
                  </a:lnTo>
                  <a:lnTo>
                    <a:pt x="0" y="18098"/>
                  </a:lnTo>
                  <a:lnTo>
                    <a:pt x="5209" y="4670"/>
                  </a:lnTo>
                  <a:lnTo>
                    <a:pt x="14886" y="0"/>
                  </a:lnTo>
                </a:path>
              </a:pathLst>
            </a:custGeom>
            <a:ln w="4683">
              <a:solidFill>
                <a:srgbClr val="1F1A17"/>
              </a:solidFill>
            </a:ln>
          </p:spPr>
          <p:txBody>
            <a:bodyPr wrap="square" lIns="0" tIns="0" rIns="0" bIns="0" rtlCol="0"/>
            <a:lstStyle/>
            <a:p>
              <a:endParaRPr/>
            </a:p>
          </p:txBody>
        </p:sp>
      </p:grpSp>
      <p:grpSp>
        <p:nvGrpSpPr>
          <p:cNvPr id="82" name="object 82"/>
          <p:cNvGrpSpPr/>
          <p:nvPr/>
        </p:nvGrpSpPr>
        <p:grpSpPr>
          <a:xfrm>
            <a:off x="6196983" y="333329"/>
            <a:ext cx="252729" cy="293370"/>
            <a:chOff x="6196983" y="333329"/>
            <a:chExt cx="252729" cy="293370"/>
          </a:xfrm>
        </p:grpSpPr>
        <p:pic>
          <p:nvPicPr>
            <p:cNvPr id="83" name="object 83"/>
            <p:cNvPicPr/>
            <p:nvPr/>
          </p:nvPicPr>
          <p:blipFill>
            <a:blip r:embed="rId15" cstate="print"/>
            <a:stretch>
              <a:fillRect/>
            </a:stretch>
          </p:blipFill>
          <p:spPr>
            <a:xfrm>
              <a:off x="6196983" y="333329"/>
              <a:ext cx="252331" cy="293058"/>
            </a:xfrm>
            <a:prstGeom prst="rect">
              <a:avLst/>
            </a:prstGeom>
          </p:spPr>
        </p:pic>
        <p:sp>
          <p:nvSpPr>
            <p:cNvPr id="84" name="object 84"/>
            <p:cNvSpPr/>
            <p:nvPr/>
          </p:nvSpPr>
          <p:spPr>
            <a:xfrm>
              <a:off x="6362230" y="563341"/>
              <a:ext cx="29209" cy="27305"/>
            </a:xfrm>
            <a:custGeom>
              <a:avLst/>
              <a:gdLst/>
              <a:ahLst/>
              <a:cxnLst/>
              <a:rect l="l" t="t" r="r" b="b"/>
              <a:pathLst>
                <a:path w="29210" h="27304">
                  <a:moveTo>
                    <a:pt x="14147" y="0"/>
                  </a:moveTo>
                  <a:lnTo>
                    <a:pt x="0" y="4655"/>
                  </a:lnTo>
                  <a:lnTo>
                    <a:pt x="0" y="22751"/>
                  </a:lnTo>
                  <a:lnTo>
                    <a:pt x="14147" y="26855"/>
                  </a:lnTo>
                  <a:lnTo>
                    <a:pt x="23803" y="22751"/>
                  </a:lnTo>
                  <a:lnTo>
                    <a:pt x="29028" y="13415"/>
                  </a:lnTo>
                  <a:lnTo>
                    <a:pt x="23803" y="4655"/>
                  </a:lnTo>
                  <a:lnTo>
                    <a:pt x="14147" y="0"/>
                  </a:lnTo>
                  <a:close/>
                </a:path>
              </a:pathLst>
            </a:custGeom>
            <a:solidFill>
              <a:srgbClr val="1F1A17"/>
            </a:solidFill>
          </p:spPr>
          <p:txBody>
            <a:bodyPr wrap="square" lIns="0" tIns="0" rIns="0" bIns="0" rtlCol="0"/>
            <a:lstStyle/>
            <a:p>
              <a:endParaRPr/>
            </a:p>
          </p:txBody>
        </p:sp>
        <p:sp>
          <p:nvSpPr>
            <p:cNvPr id="85" name="object 85"/>
            <p:cNvSpPr/>
            <p:nvPr/>
          </p:nvSpPr>
          <p:spPr>
            <a:xfrm>
              <a:off x="6372649" y="571501"/>
              <a:ext cx="29209" cy="27305"/>
            </a:xfrm>
            <a:custGeom>
              <a:avLst/>
              <a:gdLst/>
              <a:ahLst/>
              <a:cxnLst/>
              <a:rect l="l" t="t" r="r" b="b"/>
              <a:pathLst>
                <a:path w="29210" h="27304">
                  <a:moveTo>
                    <a:pt x="14147" y="0"/>
                  </a:moveTo>
                  <a:lnTo>
                    <a:pt x="23803" y="4679"/>
                  </a:lnTo>
                  <a:lnTo>
                    <a:pt x="29028" y="13439"/>
                  </a:lnTo>
                  <a:lnTo>
                    <a:pt x="23803" y="22775"/>
                  </a:lnTo>
                  <a:lnTo>
                    <a:pt x="14147" y="26855"/>
                  </a:lnTo>
                  <a:lnTo>
                    <a:pt x="0" y="22775"/>
                  </a:lnTo>
                  <a:lnTo>
                    <a:pt x="0" y="13439"/>
                  </a:lnTo>
                  <a:lnTo>
                    <a:pt x="0" y="4679"/>
                  </a:lnTo>
                  <a:lnTo>
                    <a:pt x="14147" y="0"/>
                  </a:lnTo>
                </a:path>
              </a:pathLst>
            </a:custGeom>
            <a:ln w="4608">
              <a:solidFill>
                <a:srgbClr val="1F1A17"/>
              </a:solidFill>
            </a:ln>
          </p:spPr>
          <p:txBody>
            <a:bodyPr wrap="square" lIns="0" tIns="0" rIns="0" bIns="0" rtlCol="0"/>
            <a:lstStyle/>
            <a:p>
              <a:endParaRPr/>
            </a:p>
          </p:txBody>
        </p:sp>
      </p:grpSp>
      <p:grpSp>
        <p:nvGrpSpPr>
          <p:cNvPr id="86" name="object 86"/>
          <p:cNvGrpSpPr/>
          <p:nvPr/>
        </p:nvGrpSpPr>
        <p:grpSpPr>
          <a:xfrm>
            <a:off x="6177641" y="1740254"/>
            <a:ext cx="252729" cy="293370"/>
            <a:chOff x="6177641" y="1740254"/>
            <a:chExt cx="252729" cy="293370"/>
          </a:xfrm>
        </p:grpSpPr>
        <p:sp>
          <p:nvSpPr>
            <p:cNvPr id="87" name="object 87"/>
            <p:cNvSpPr/>
            <p:nvPr/>
          </p:nvSpPr>
          <p:spPr>
            <a:xfrm>
              <a:off x="6177635" y="1740255"/>
              <a:ext cx="252729" cy="293370"/>
            </a:xfrm>
            <a:custGeom>
              <a:avLst/>
              <a:gdLst/>
              <a:ahLst/>
              <a:cxnLst/>
              <a:rect l="l" t="t" r="r" b="b"/>
              <a:pathLst>
                <a:path w="252729" h="293369">
                  <a:moveTo>
                    <a:pt x="252336" y="76479"/>
                  </a:moveTo>
                  <a:lnTo>
                    <a:pt x="223304" y="31534"/>
                  </a:lnTo>
                  <a:lnTo>
                    <a:pt x="179362" y="4089"/>
                  </a:lnTo>
                  <a:lnTo>
                    <a:pt x="155562" y="0"/>
                  </a:lnTo>
                  <a:lnTo>
                    <a:pt x="126530" y="4089"/>
                  </a:lnTo>
                  <a:lnTo>
                    <a:pt x="72936" y="18097"/>
                  </a:lnTo>
                  <a:lnTo>
                    <a:pt x="29032" y="53721"/>
                  </a:lnTo>
                  <a:lnTo>
                    <a:pt x="0" y="108013"/>
                  </a:lnTo>
                  <a:lnTo>
                    <a:pt x="0" y="139534"/>
                  </a:lnTo>
                  <a:lnTo>
                    <a:pt x="14884" y="166382"/>
                  </a:lnTo>
                  <a:lnTo>
                    <a:pt x="29032" y="193827"/>
                  </a:lnTo>
                  <a:lnTo>
                    <a:pt x="48374" y="216001"/>
                  </a:lnTo>
                  <a:lnTo>
                    <a:pt x="72936" y="238772"/>
                  </a:lnTo>
                  <a:lnTo>
                    <a:pt x="97497" y="252209"/>
                  </a:lnTo>
                  <a:lnTo>
                    <a:pt x="106184" y="255625"/>
                  </a:lnTo>
                  <a:lnTo>
                    <a:pt x="48374" y="279057"/>
                  </a:lnTo>
                  <a:lnTo>
                    <a:pt x="53594" y="288404"/>
                  </a:lnTo>
                  <a:lnTo>
                    <a:pt x="53594" y="293065"/>
                  </a:lnTo>
                  <a:lnTo>
                    <a:pt x="145872" y="261543"/>
                  </a:lnTo>
                  <a:lnTo>
                    <a:pt x="160020" y="256870"/>
                  </a:lnTo>
                  <a:lnTo>
                    <a:pt x="150329" y="247535"/>
                  </a:lnTo>
                  <a:lnTo>
                    <a:pt x="82626" y="184480"/>
                  </a:lnTo>
                  <a:lnTo>
                    <a:pt x="68478" y="197916"/>
                  </a:lnTo>
                  <a:lnTo>
                    <a:pt x="106591" y="233718"/>
                  </a:lnTo>
                  <a:lnTo>
                    <a:pt x="87820" y="220675"/>
                  </a:lnTo>
                  <a:lnTo>
                    <a:pt x="63246" y="202577"/>
                  </a:lnTo>
                  <a:lnTo>
                    <a:pt x="43903" y="184480"/>
                  </a:lnTo>
                  <a:lnTo>
                    <a:pt x="29032" y="162293"/>
                  </a:lnTo>
                  <a:lnTo>
                    <a:pt x="24536" y="134861"/>
                  </a:lnTo>
                  <a:lnTo>
                    <a:pt x="19342" y="112674"/>
                  </a:lnTo>
                  <a:lnTo>
                    <a:pt x="43903" y="63055"/>
                  </a:lnTo>
                  <a:lnTo>
                    <a:pt x="82626" y="35623"/>
                  </a:lnTo>
                  <a:lnTo>
                    <a:pt x="126530" y="22174"/>
                  </a:lnTo>
                  <a:lnTo>
                    <a:pt x="174904" y="22174"/>
                  </a:lnTo>
                  <a:lnTo>
                    <a:pt x="194271" y="31534"/>
                  </a:lnTo>
                  <a:lnTo>
                    <a:pt x="223304" y="58394"/>
                  </a:lnTo>
                  <a:lnTo>
                    <a:pt x="232956" y="81153"/>
                  </a:lnTo>
                  <a:lnTo>
                    <a:pt x="232956" y="103339"/>
                  </a:lnTo>
                  <a:lnTo>
                    <a:pt x="227761" y="130771"/>
                  </a:lnTo>
                  <a:lnTo>
                    <a:pt x="218071" y="162293"/>
                  </a:lnTo>
                  <a:lnTo>
                    <a:pt x="194271" y="202577"/>
                  </a:lnTo>
                  <a:lnTo>
                    <a:pt x="165252" y="243446"/>
                  </a:lnTo>
                  <a:lnTo>
                    <a:pt x="179362" y="256870"/>
                  </a:lnTo>
                  <a:lnTo>
                    <a:pt x="213614" y="211924"/>
                  </a:lnTo>
                  <a:lnTo>
                    <a:pt x="237451" y="171056"/>
                  </a:lnTo>
                  <a:lnTo>
                    <a:pt x="247103" y="134861"/>
                  </a:lnTo>
                  <a:lnTo>
                    <a:pt x="252336" y="103339"/>
                  </a:lnTo>
                  <a:lnTo>
                    <a:pt x="252336" y="76479"/>
                  </a:lnTo>
                  <a:close/>
                </a:path>
              </a:pathLst>
            </a:custGeom>
            <a:solidFill>
              <a:srgbClr val="1F1A17"/>
            </a:solidFill>
          </p:spPr>
          <p:txBody>
            <a:bodyPr wrap="square" lIns="0" tIns="0" rIns="0" bIns="0" rtlCol="0"/>
            <a:lstStyle/>
            <a:p>
              <a:endParaRPr/>
            </a:p>
          </p:txBody>
        </p:sp>
        <p:sp>
          <p:nvSpPr>
            <p:cNvPr id="88" name="object 88"/>
            <p:cNvSpPr/>
            <p:nvPr/>
          </p:nvSpPr>
          <p:spPr>
            <a:xfrm>
              <a:off x="6337663" y="1969684"/>
              <a:ext cx="29209" cy="32384"/>
            </a:xfrm>
            <a:custGeom>
              <a:avLst/>
              <a:gdLst/>
              <a:ahLst/>
              <a:cxnLst/>
              <a:rect l="l" t="t" r="r" b="b"/>
              <a:pathLst>
                <a:path w="29210" h="32385">
                  <a:moveTo>
                    <a:pt x="14880" y="0"/>
                  </a:moveTo>
                  <a:lnTo>
                    <a:pt x="5225" y="4670"/>
                  </a:lnTo>
                  <a:lnTo>
                    <a:pt x="0" y="18098"/>
                  </a:lnTo>
                  <a:lnTo>
                    <a:pt x="5225" y="27438"/>
                  </a:lnTo>
                  <a:lnTo>
                    <a:pt x="14880" y="32108"/>
                  </a:lnTo>
                  <a:lnTo>
                    <a:pt x="24567" y="27438"/>
                  </a:lnTo>
                  <a:lnTo>
                    <a:pt x="29028" y="18098"/>
                  </a:lnTo>
                  <a:lnTo>
                    <a:pt x="24567" y="4670"/>
                  </a:lnTo>
                  <a:lnTo>
                    <a:pt x="14880" y="0"/>
                  </a:lnTo>
                  <a:close/>
                </a:path>
              </a:pathLst>
            </a:custGeom>
            <a:solidFill>
              <a:srgbClr val="1F1A17"/>
            </a:solidFill>
          </p:spPr>
          <p:txBody>
            <a:bodyPr wrap="square" lIns="0" tIns="0" rIns="0" bIns="0" rtlCol="0"/>
            <a:lstStyle/>
            <a:p>
              <a:endParaRPr/>
            </a:p>
          </p:txBody>
        </p:sp>
        <p:sp>
          <p:nvSpPr>
            <p:cNvPr id="89" name="object 89"/>
            <p:cNvSpPr/>
            <p:nvPr/>
          </p:nvSpPr>
          <p:spPr>
            <a:xfrm>
              <a:off x="6348082" y="1977858"/>
              <a:ext cx="29209" cy="32384"/>
            </a:xfrm>
            <a:custGeom>
              <a:avLst/>
              <a:gdLst/>
              <a:ahLst/>
              <a:cxnLst/>
              <a:rect l="l" t="t" r="r" b="b"/>
              <a:pathLst>
                <a:path w="29210" h="32385">
                  <a:moveTo>
                    <a:pt x="14880" y="0"/>
                  </a:moveTo>
                  <a:lnTo>
                    <a:pt x="24567" y="4670"/>
                  </a:lnTo>
                  <a:lnTo>
                    <a:pt x="29028" y="18095"/>
                  </a:lnTo>
                  <a:lnTo>
                    <a:pt x="24567" y="27436"/>
                  </a:lnTo>
                  <a:lnTo>
                    <a:pt x="14880" y="32106"/>
                  </a:lnTo>
                  <a:lnTo>
                    <a:pt x="5225" y="27436"/>
                  </a:lnTo>
                  <a:lnTo>
                    <a:pt x="0" y="18095"/>
                  </a:lnTo>
                  <a:lnTo>
                    <a:pt x="5225" y="4670"/>
                  </a:lnTo>
                  <a:lnTo>
                    <a:pt x="14880" y="0"/>
                  </a:lnTo>
                </a:path>
              </a:pathLst>
            </a:custGeom>
            <a:ln w="4707">
              <a:solidFill>
                <a:srgbClr val="1F1A17"/>
              </a:solidFill>
            </a:ln>
          </p:spPr>
          <p:txBody>
            <a:bodyPr wrap="square" lIns="0" tIns="0" rIns="0" bIns="0" rtlCol="0"/>
            <a:lstStyle/>
            <a:p>
              <a:endParaRPr/>
            </a:p>
          </p:txBody>
        </p:sp>
      </p:grpSp>
      <p:sp>
        <p:nvSpPr>
          <p:cNvPr id="90" name="object 90"/>
          <p:cNvSpPr txBox="1"/>
          <p:nvPr/>
        </p:nvSpPr>
        <p:spPr>
          <a:xfrm>
            <a:off x="4520486" y="484466"/>
            <a:ext cx="146050" cy="295275"/>
          </a:xfrm>
          <a:prstGeom prst="rect">
            <a:avLst/>
          </a:prstGeom>
        </p:spPr>
        <p:txBody>
          <a:bodyPr vert="horz" wrap="square" lIns="0" tIns="15240" rIns="0" bIns="0" rtlCol="0">
            <a:spAutoFit/>
          </a:bodyPr>
          <a:lstStyle/>
          <a:p>
            <a:pPr marL="12700">
              <a:lnSpc>
                <a:spcPct val="100000"/>
              </a:lnSpc>
              <a:spcBef>
                <a:spcPts val="120"/>
              </a:spcBef>
            </a:pPr>
            <a:r>
              <a:rPr sz="1750" spc="20" dirty="0">
                <a:latin typeface="Times New Roman"/>
                <a:cs typeface="Times New Roman"/>
              </a:rPr>
              <a:t>1</a:t>
            </a:r>
            <a:endParaRPr sz="1750">
              <a:latin typeface="Times New Roman"/>
              <a:cs typeface="Times New Roman"/>
            </a:endParaRPr>
          </a:p>
        </p:txBody>
      </p:sp>
      <p:sp>
        <p:nvSpPr>
          <p:cNvPr id="91" name="object 91"/>
          <p:cNvSpPr txBox="1"/>
          <p:nvPr/>
        </p:nvSpPr>
        <p:spPr>
          <a:xfrm>
            <a:off x="6415375" y="516561"/>
            <a:ext cx="146050" cy="295275"/>
          </a:xfrm>
          <a:prstGeom prst="rect">
            <a:avLst/>
          </a:prstGeom>
        </p:spPr>
        <p:txBody>
          <a:bodyPr vert="horz" wrap="square" lIns="0" tIns="15240" rIns="0" bIns="0" rtlCol="0">
            <a:spAutoFit/>
          </a:bodyPr>
          <a:lstStyle/>
          <a:p>
            <a:pPr marL="12700">
              <a:lnSpc>
                <a:spcPct val="100000"/>
              </a:lnSpc>
              <a:spcBef>
                <a:spcPts val="120"/>
              </a:spcBef>
            </a:pPr>
            <a:r>
              <a:rPr sz="1750" spc="20" dirty="0">
                <a:latin typeface="Times New Roman"/>
                <a:cs typeface="Times New Roman"/>
              </a:rPr>
              <a:t>2</a:t>
            </a:r>
            <a:endParaRPr sz="1750">
              <a:latin typeface="Times New Roman"/>
              <a:cs typeface="Times New Roman"/>
            </a:endParaRPr>
          </a:p>
        </p:txBody>
      </p:sp>
      <p:sp>
        <p:nvSpPr>
          <p:cNvPr id="92" name="object 92"/>
          <p:cNvSpPr txBox="1"/>
          <p:nvPr/>
        </p:nvSpPr>
        <p:spPr>
          <a:xfrm>
            <a:off x="6393603" y="1968564"/>
            <a:ext cx="146050" cy="295275"/>
          </a:xfrm>
          <a:prstGeom prst="rect">
            <a:avLst/>
          </a:prstGeom>
        </p:spPr>
        <p:txBody>
          <a:bodyPr vert="horz" wrap="square" lIns="0" tIns="15240" rIns="0" bIns="0" rtlCol="0">
            <a:spAutoFit/>
          </a:bodyPr>
          <a:lstStyle/>
          <a:p>
            <a:pPr marL="12700">
              <a:lnSpc>
                <a:spcPct val="100000"/>
              </a:lnSpc>
              <a:spcBef>
                <a:spcPts val="120"/>
              </a:spcBef>
            </a:pPr>
            <a:r>
              <a:rPr sz="1750" spc="20" dirty="0">
                <a:latin typeface="Times New Roman"/>
                <a:cs typeface="Times New Roman"/>
              </a:rPr>
              <a:t>3</a:t>
            </a:r>
            <a:endParaRPr sz="1750">
              <a:latin typeface="Times New Roman"/>
              <a:cs typeface="Times New Roman"/>
            </a:endParaRPr>
          </a:p>
        </p:txBody>
      </p:sp>
      <p:sp>
        <p:nvSpPr>
          <p:cNvPr id="93" name="object 93"/>
          <p:cNvSpPr txBox="1"/>
          <p:nvPr/>
        </p:nvSpPr>
        <p:spPr>
          <a:xfrm>
            <a:off x="4427956" y="1900316"/>
            <a:ext cx="3206011" cy="1345881"/>
          </a:xfrm>
          <a:prstGeom prst="rect">
            <a:avLst/>
          </a:prstGeom>
        </p:spPr>
        <p:txBody>
          <a:bodyPr vert="horz" wrap="square" lIns="0" tIns="83185" rIns="0" bIns="0" rtlCol="0">
            <a:spAutoFit/>
          </a:bodyPr>
          <a:lstStyle/>
          <a:p>
            <a:pPr marL="38100">
              <a:lnSpc>
                <a:spcPct val="100000"/>
              </a:lnSpc>
              <a:spcBef>
                <a:spcPts val="655"/>
              </a:spcBef>
            </a:pPr>
            <a:r>
              <a:rPr sz="1750" spc="20" dirty="0">
                <a:latin typeface="Times New Roman"/>
                <a:cs typeface="Times New Roman"/>
              </a:rPr>
              <a:t>4</a:t>
            </a:r>
            <a:endParaRPr sz="1750" dirty="0">
              <a:latin typeface="Times New Roman"/>
              <a:cs typeface="Times New Roman"/>
            </a:endParaRPr>
          </a:p>
          <a:p>
            <a:pPr marL="150495">
              <a:lnSpc>
                <a:spcPct val="100000"/>
              </a:lnSpc>
              <a:spcBef>
                <a:spcPts val="560"/>
              </a:spcBef>
            </a:pPr>
            <a:r>
              <a:rPr sz="1750" spc="75" dirty="0">
                <a:solidFill>
                  <a:srgbClr val="0070C0"/>
                </a:solidFill>
                <a:latin typeface="Times New Roman"/>
                <a:cs typeface="Times New Roman"/>
              </a:rPr>
              <a:t>R</a:t>
            </a:r>
            <a:r>
              <a:rPr sz="1800" spc="112" baseline="-20833" dirty="0">
                <a:solidFill>
                  <a:srgbClr val="0070C0"/>
                </a:solidFill>
                <a:latin typeface="Times New Roman"/>
                <a:cs typeface="Times New Roman"/>
              </a:rPr>
              <a:t>2</a:t>
            </a:r>
            <a:r>
              <a:rPr sz="1800" spc="262" baseline="-20833" dirty="0">
                <a:solidFill>
                  <a:srgbClr val="0070C0"/>
                </a:solidFill>
                <a:latin typeface="Times New Roman"/>
                <a:cs typeface="Times New Roman"/>
              </a:rPr>
              <a:t> </a:t>
            </a:r>
            <a:r>
              <a:rPr sz="1750" spc="50" dirty="0">
                <a:solidFill>
                  <a:srgbClr val="0070C0"/>
                </a:solidFill>
                <a:latin typeface="Times New Roman"/>
                <a:cs typeface="Times New Roman"/>
              </a:rPr>
              <a:t>is</a:t>
            </a:r>
            <a:r>
              <a:rPr sz="1750" spc="40" dirty="0">
                <a:solidFill>
                  <a:srgbClr val="0070C0"/>
                </a:solidFill>
                <a:latin typeface="Times New Roman"/>
                <a:cs typeface="Times New Roman"/>
              </a:rPr>
              <a:t> </a:t>
            </a:r>
            <a:r>
              <a:rPr sz="1750" spc="55" dirty="0">
                <a:solidFill>
                  <a:srgbClr val="0070C0"/>
                </a:solidFill>
                <a:latin typeface="Times New Roman"/>
                <a:cs typeface="Times New Roman"/>
              </a:rPr>
              <a:t>symmetric</a:t>
            </a:r>
            <a:br>
              <a:rPr lang="en-US" sz="1750" spc="55" dirty="0">
                <a:latin typeface="Times New Roman"/>
                <a:cs typeface="Times New Roman"/>
              </a:rPr>
            </a:br>
            <a:r>
              <a:rPr lang="en-US" sz="1400" spc="55" dirty="0">
                <a:latin typeface="Times New Roman"/>
                <a:cs typeface="Times New Roman"/>
              </a:rPr>
              <a:t>Because reversing any pair gives the same pair, which is already in the relation.</a:t>
            </a:r>
            <a:endParaRPr sz="1400" dirty="0">
              <a:latin typeface="Times New Roman"/>
              <a:cs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30274" y="29463"/>
            <a:ext cx="4290695" cy="1000760"/>
          </a:xfrm>
          <a:prstGeom prst="rect">
            <a:avLst/>
          </a:prstGeom>
        </p:spPr>
        <p:txBody>
          <a:bodyPr vert="horz" wrap="square" lIns="0" tIns="12065" rIns="0" bIns="0" rtlCol="0">
            <a:spAutoFit/>
          </a:bodyPr>
          <a:lstStyle/>
          <a:p>
            <a:pPr marL="55880" marR="5080" indent="-43815">
              <a:lnSpc>
                <a:spcPct val="100000"/>
              </a:lnSpc>
              <a:spcBef>
                <a:spcPts val="95"/>
              </a:spcBef>
            </a:pPr>
            <a:r>
              <a:rPr sz="3200" dirty="0"/>
              <a:t>DIRECTED</a:t>
            </a:r>
            <a:r>
              <a:rPr sz="3200" spc="-35" dirty="0"/>
              <a:t> </a:t>
            </a:r>
            <a:r>
              <a:rPr sz="3200" dirty="0"/>
              <a:t>GRAPH</a:t>
            </a:r>
            <a:r>
              <a:rPr sz="3200" spc="-60" dirty="0"/>
              <a:t> </a:t>
            </a:r>
            <a:r>
              <a:rPr sz="3200" dirty="0"/>
              <a:t>OF</a:t>
            </a:r>
            <a:r>
              <a:rPr sz="3200" spc="-225" dirty="0"/>
              <a:t> </a:t>
            </a:r>
            <a:r>
              <a:rPr sz="3200" spc="-50" dirty="0"/>
              <a:t>A </a:t>
            </a:r>
            <a:r>
              <a:rPr sz="3200" dirty="0"/>
              <a:t>TRANSITIVE</a:t>
            </a:r>
            <a:r>
              <a:rPr sz="3200" spc="-160" dirty="0"/>
              <a:t> </a:t>
            </a:r>
            <a:r>
              <a:rPr sz="3200" spc="-10" dirty="0"/>
              <a:t>RELATION</a:t>
            </a:r>
            <a:endParaRPr sz="3200"/>
          </a:p>
        </p:txBody>
      </p:sp>
      <p:sp>
        <p:nvSpPr>
          <p:cNvPr id="3" name="object 3"/>
          <p:cNvSpPr txBox="1"/>
          <p:nvPr/>
        </p:nvSpPr>
        <p:spPr>
          <a:xfrm>
            <a:off x="269240" y="1354073"/>
            <a:ext cx="7263130" cy="3531235"/>
          </a:xfrm>
          <a:prstGeom prst="rect">
            <a:avLst/>
          </a:prstGeom>
        </p:spPr>
        <p:txBody>
          <a:bodyPr vert="horz" wrap="square" lIns="0" tIns="12700" rIns="0" bIns="0" rtlCol="0">
            <a:spAutoFit/>
          </a:bodyPr>
          <a:lstStyle/>
          <a:p>
            <a:pPr marL="50800" marR="307975">
              <a:lnSpc>
                <a:spcPct val="100000"/>
              </a:lnSpc>
              <a:spcBef>
                <a:spcPts val="100"/>
              </a:spcBef>
            </a:pPr>
            <a:r>
              <a:rPr sz="1800" b="1" dirty="0">
                <a:solidFill>
                  <a:srgbClr val="00AFEF"/>
                </a:solidFill>
                <a:latin typeface="Times New Roman"/>
                <a:cs typeface="Times New Roman"/>
              </a:rPr>
              <a:t>For</a:t>
            </a:r>
            <a:r>
              <a:rPr sz="1800" b="1" spc="-70" dirty="0">
                <a:solidFill>
                  <a:srgbClr val="00AFEF"/>
                </a:solidFill>
                <a:latin typeface="Times New Roman"/>
                <a:cs typeface="Times New Roman"/>
              </a:rPr>
              <a:t> </a:t>
            </a:r>
            <a:r>
              <a:rPr sz="1800" b="1" dirty="0">
                <a:solidFill>
                  <a:srgbClr val="00AFEF"/>
                </a:solidFill>
                <a:latin typeface="Times New Roman"/>
                <a:cs typeface="Times New Roman"/>
              </a:rPr>
              <a:t>a</a:t>
            </a:r>
            <a:r>
              <a:rPr sz="1800" b="1" spc="-40" dirty="0">
                <a:solidFill>
                  <a:srgbClr val="00AFEF"/>
                </a:solidFill>
                <a:latin typeface="Times New Roman"/>
                <a:cs typeface="Times New Roman"/>
              </a:rPr>
              <a:t> </a:t>
            </a:r>
            <a:r>
              <a:rPr sz="1800" b="1" dirty="0">
                <a:solidFill>
                  <a:srgbClr val="00AFEF"/>
                </a:solidFill>
                <a:latin typeface="Times New Roman"/>
                <a:cs typeface="Times New Roman"/>
              </a:rPr>
              <a:t>transitive</a:t>
            </a:r>
            <a:r>
              <a:rPr sz="1800" b="1" spc="-35" dirty="0">
                <a:solidFill>
                  <a:srgbClr val="00AFEF"/>
                </a:solidFill>
                <a:latin typeface="Times New Roman"/>
                <a:cs typeface="Times New Roman"/>
              </a:rPr>
              <a:t> </a:t>
            </a:r>
            <a:r>
              <a:rPr sz="1800" b="1" dirty="0">
                <a:solidFill>
                  <a:srgbClr val="00AFEF"/>
                </a:solidFill>
                <a:latin typeface="Times New Roman"/>
                <a:cs typeface="Times New Roman"/>
              </a:rPr>
              <a:t>directed</a:t>
            </a:r>
            <a:r>
              <a:rPr sz="1800" b="1" spc="-40" dirty="0">
                <a:solidFill>
                  <a:srgbClr val="00AFEF"/>
                </a:solidFill>
                <a:latin typeface="Times New Roman"/>
                <a:cs typeface="Times New Roman"/>
              </a:rPr>
              <a:t> </a:t>
            </a:r>
            <a:r>
              <a:rPr sz="1800" b="1" dirty="0">
                <a:solidFill>
                  <a:srgbClr val="00AFEF"/>
                </a:solidFill>
                <a:latin typeface="Times New Roman"/>
                <a:cs typeface="Times New Roman"/>
              </a:rPr>
              <a:t>graph,</a:t>
            </a:r>
            <a:r>
              <a:rPr sz="1800" b="1" spc="-45" dirty="0">
                <a:solidFill>
                  <a:srgbClr val="00AFEF"/>
                </a:solidFill>
                <a:latin typeface="Times New Roman"/>
                <a:cs typeface="Times New Roman"/>
              </a:rPr>
              <a:t> </a:t>
            </a:r>
            <a:r>
              <a:rPr sz="1800" b="1" dirty="0">
                <a:solidFill>
                  <a:srgbClr val="00AFEF"/>
                </a:solidFill>
                <a:latin typeface="Times New Roman"/>
                <a:cs typeface="Times New Roman"/>
              </a:rPr>
              <a:t>whenever</a:t>
            </a:r>
            <a:r>
              <a:rPr sz="1800" b="1" spc="-70" dirty="0">
                <a:solidFill>
                  <a:srgbClr val="00AFEF"/>
                </a:solidFill>
                <a:latin typeface="Times New Roman"/>
                <a:cs typeface="Times New Roman"/>
              </a:rPr>
              <a:t> </a:t>
            </a:r>
            <a:r>
              <a:rPr sz="1800" b="1" dirty="0">
                <a:solidFill>
                  <a:srgbClr val="00AFEF"/>
                </a:solidFill>
                <a:latin typeface="Times New Roman"/>
                <a:cs typeface="Times New Roman"/>
              </a:rPr>
              <a:t>there</a:t>
            </a:r>
            <a:r>
              <a:rPr sz="1800" b="1" spc="-35" dirty="0">
                <a:solidFill>
                  <a:srgbClr val="00AFEF"/>
                </a:solidFill>
                <a:latin typeface="Times New Roman"/>
                <a:cs typeface="Times New Roman"/>
              </a:rPr>
              <a:t> </a:t>
            </a:r>
            <a:r>
              <a:rPr sz="1800" b="1" dirty="0">
                <a:solidFill>
                  <a:srgbClr val="00AFEF"/>
                </a:solidFill>
                <a:latin typeface="Times New Roman"/>
                <a:cs typeface="Times New Roman"/>
              </a:rPr>
              <a:t>is</a:t>
            </a:r>
            <a:r>
              <a:rPr sz="1800" b="1" spc="-40" dirty="0">
                <a:solidFill>
                  <a:srgbClr val="00AFEF"/>
                </a:solidFill>
                <a:latin typeface="Times New Roman"/>
                <a:cs typeface="Times New Roman"/>
              </a:rPr>
              <a:t> </a:t>
            </a:r>
            <a:r>
              <a:rPr sz="1800" b="1" dirty="0">
                <a:solidFill>
                  <a:srgbClr val="00AFEF"/>
                </a:solidFill>
                <a:latin typeface="Times New Roman"/>
                <a:cs typeface="Times New Roman"/>
              </a:rPr>
              <a:t>an</a:t>
            </a:r>
            <a:r>
              <a:rPr sz="1800" b="1" spc="-35" dirty="0">
                <a:solidFill>
                  <a:srgbClr val="00AFEF"/>
                </a:solidFill>
                <a:latin typeface="Times New Roman"/>
                <a:cs typeface="Times New Roman"/>
              </a:rPr>
              <a:t> </a:t>
            </a:r>
            <a:r>
              <a:rPr sz="1800" b="1" dirty="0">
                <a:solidFill>
                  <a:srgbClr val="00AFEF"/>
                </a:solidFill>
                <a:latin typeface="Times New Roman"/>
                <a:cs typeface="Times New Roman"/>
              </a:rPr>
              <a:t>arrow</a:t>
            </a:r>
            <a:r>
              <a:rPr sz="1800" b="1" spc="-40" dirty="0">
                <a:solidFill>
                  <a:srgbClr val="00AFEF"/>
                </a:solidFill>
                <a:latin typeface="Times New Roman"/>
                <a:cs typeface="Times New Roman"/>
              </a:rPr>
              <a:t> </a:t>
            </a:r>
            <a:r>
              <a:rPr sz="1800" b="1" dirty="0">
                <a:solidFill>
                  <a:srgbClr val="00AFEF"/>
                </a:solidFill>
                <a:latin typeface="Times New Roman"/>
                <a:cs typeface="Times New Roman"/>
              </a:rPr>
              <a:t>going</a:t>
            </a:r>
            <a:r>
              <a:rPr sz="1800" b="1" spc="-40" dirty="0">
                <a:solidFill>
                  <a:srgbClr val="00AFEF"/>
                </a:solidFill>
                <a:latin typeface="Times New Roman"/>
                <a:cs typeface="Times New Roman"/>
              </a:rPr>
              <a:t> </a:t>
            </a:r>
            <a:r>
              <a:rPr sz="1800" b="1" spc="-20" dirty="0">
                <a:solidFill>
                  <a:srgbClr val="00AFEF"/>
                </a:solidFill>
                <a:latin typeface="Times New Roman"/>
                <a:cs typeface="Times New Roman"/>
              </a:rPr>
              <a:t>from </a:t>
            </a:r>
            <a:r>
              <a:rPr sz="1800" b="1" dirty="0">
                <a:solidFill>
                  <a:srgbClr val="00AFEF"/>
                </a:solidFill>
                <a:latin typeface="Times New Roman"/>
                <a:cs typeface="Times New Roman"/>
              </a:rPr>
              <a:t>one</a:t>
            </a:r>
            <a:r>
              <a:rPr sz="1800" b="1" spc="-30" dirty="0">
                <a:solidFill>
                  <a:srgbClr val="00AFEF"/>
                </a:solidFill>
                <a:latin typeface="Times New Roman"/>
                <a:cs typeface="Times New Roman"/>
              </a:rPr>
              <a:t> </a:t>
            </a:r>
            <a:r>
              <a:rPr sz="1800" b="1" dirty="0">
                <a:solidFill>
                  <a:srgbClr val="00AFEF"/>
                </a:solidFill>
                <a:latin typeface="Times New Roman"/>
                <a:cs typeface="Times New Roman"/>
              </a:rPr>
              <a:t>point</a:t>
            </a:r>
            <a:r>
              <a:rPr sz="1800" b="1" spc="-20" dirty="0">
                <a:solidFill>
                  <a:srgbClr val="00AFEF"/>
                </a:solidFill>
                <a:latin typeface="Times New Roman"/>
                <a:cs typeface="Times New Roman"/>
              </a:rPr>
              <a:t> </a:t>
            </a:r>
            <a:r>
              <a:rPr sz="1800" b="1" dirty="0">
                <a:solidFill>
                  <a:srgbClr val="00AFEF"/>
                </a:solidFill>
                <a:latin typeface="Times New Roman"/>
                <a:cs typeface="Times New Roman"/>
              </a:rPr>
              <a:t>to</a:t>
            </a:r>
            <a:r>
              <a:rPr sz="1800" b="1" spc="-15" dirty="0">
                <a:solidFill>
                  <a:srgbClr val="00AFEF"/>
                </a:solidFill>
                <a:latin typeface="Times New Roman"/>
                <a:cs typeface="Times New Roman"/>
              </a:rPr>
              <a:t> </a:t>
            </a:r>
            <a:r>
              <a:rPr sz="1800" b="1" dirty="0">
                <a:solidFill>
                  <a:srgbClr val="00AFEF"/>
                </a:solidFill>
                <a:latin typeface="Times New Roman"/>
                <a:cs typeface="Times New Roman"/>
              </a:rPr>
              <a:t>the</a:t>
            </a:r>
            <a:r>
              <a:rPr sz="1800" b="1" spc="-20" dirty="0">
                <a:solidFill>
                  <a:srgbClr val="00AFEF"/>
                </a:solidFill>
                <a:latin typeface="Times New Roman"/>
                <a:cs typeface="Times New Roman"/>
              </a:rPr>
              <a:t> </a:t>
            </a:r>
            <a:r>
              <a:rPr sz="1800" b="1" dirty="0">
                <a:solidFill>
                  <a:srgbClr val="00AFEF"/>
                </a:solidFill>
                <a:latin typeface="Times New Roman"/>
                <a:cs typeface="Times New Roman"/>
              </a:rPr>
              <a:t>second,</a:t>
            </a:r>
            <a:r>
              <a:rPr sz="1800" b="1" spc="-15" dirty="0">
                <a:solidFill>
                  <a:srgbClr val="00AFEF"/>
                </a:solidFill>
                <a:latin typeface="Times New Roman"/>
                <a:cs typeface="Times New Roman"/>
              </a:rPr>
              <a:t> </a:t>
            </a:r>
            <a:r>
              <a:rPr sz="1800" b="1" dirty="0">
                <a:solidFill>
                  <a:srgbClr val="00AFEF"/>
                </a:solidFill>
                <a:latin typeface="Times New Roman"/>
                <a:cs typeface="Times New Roman"/>
              </a:rPr>
              <a:t>and</a:t>
            </a:r>
            <a:r>
              <a:rPr sz="1800" b="1" spc="-20" dirty="0">
                <a:solidFill>
                  <a:srgbClr val="00AFEF"/>
                </a:solidFill>
                <a:latin typeface="Times New Roman"/>
                <a:cs typeface="Times New Roman"/>
              </a:rPr>
              <a:t> </a:t>
            </a:r>
            <a:r>
              <a:rPr sz="1800" b="1" dirty="0">
                <a:solidFill>
                  <a:srgbClr val="00AFEF"/>
                </a:solidFill>
                <a:latin typeface="Times New Roman"/>
                <a:cs typeface="Times New Roman"/>
              </a:rPr>
              <a:t>from</a:t>
            </a:r>
            <a:r>
              <a:rPr sz="1800" b="1" spc="-15" dirty="0">
                <a:solidFill>
                  <a:srgbClr val="00AFEF"/>
                </a:solidFill>
                <a:latin typeface="Times New Roman"/>
                <a:cs typeface="Times New Roman"/>
              </a:rPr>
              <a:t> </a:t>
            </a:r>
            <a:r>
              <a:rPr sz="1800" b="1" dirty="0">
                <a:solidFill>
                  <a:srgbClr val="00AFEF"/>
                </a:solidFill>
                <a:latin typeface="Times New Roman"/>
                <a:cs typeface="Times New Roman"/>
              </a:rPr>
              <a:t>the</a:t>
            </a:r>
            <a:r>
              <a:rPr sz="1800" b="1" spc="-20" dirty="0">
                <a:solidFill>
                  <a:srgbClr val="00AFEF"/>
                </a:solidFill>
                <a:latin typeface="Times New Roman"/>
                <a:cs typeface="Times New Roman"/>
              </a:rPr>
              <a:t> </a:t>
            </a:r>
            <a:r>
              <a:rPr sz="1800" b="1" dirty="0">
                <a:solidFill>
                  <a:srgbClr val="00AFEF"/>
                </a:solidFill>
                <a:latin typeface="Times New Roman"/>
                <a:cs typeface="Times New Roman"/>
              </a:rPr>
              <a:t>second</a:t>
            </a:r>
            <a:r>
              <a:rPr sz="1800" b="1" spc="-20" dirty="0">
                <a:solidFill>
                  <a:srgbClr val="00AFEF"/>
                </a:solidFill>
                <a:latin typeface="Times New Roman"/>
                <a:cs typeface="Times New Roman"/>
              </a:rPr>
              <a:t> </a:t>
            </a:r>
            <a:r>
              <a:rPr sz="1800" b="1" dirty="0">
                <a:solidFill>
                  <a:srgbClr val="00AFEF"/>
                </a:solidFill>
                <a:latin typeface="Times New Roman"/>
                <a:cs typeface="Times New Roman"/>
              </a:rPr>
              <a:t>to</a:t>
            </a:r>
            <a:r>
              <a:rPr sz="1800" b="1" spc="-15" dirty="0">
                <a:solidFill>
                  <a:srgbClr val="00AFEF"/>
                </a:solidFill>
                <a:latin typeface="Times New Roman"/>
                <a:cs typeface="Times New Roman"/>
              </a:rPr>
              <a:t> </a:t>
            </a:r>
            <a:r>
              <a:rPr sz="1800" b="1" dirty="0">
                <a:solidFill>
                  <a:srgbClr val="00AFEF"/>
                </a:solidFill>
                <a:latin typeface="Times New Roman"/>
                <a:cs typeface="Times New Roman"/>
              </a:rPr>
              <a:t>the</a:t>
            </a:r>
            <a:r>
              <a:rPr sz="1800" b="1" spc="-20" dirty="0">
                <a:solidFill>
                  <a:srgbClr val="00AFEF"/>
                </a:solidFill>
                <a:latin typeface="Times New Roman"/>
                <a:cs typeface="Times New Roman"/>
              </a:rPr>
              <a:t> </a:t>
            </a:r>
            <a:r>
              <a:rPr sz="1800" b="1" dirty="0">
                <a:solidFill>
                  <a:srgbClr val="00AFEF"/>
                </a:solidFill>
                <a:latin typeface="Times New Roman"/>
                <a:cs typeface="Times New Roman"/>
              </a:rPr>
              <a:t>third,</a:t>
            </a:r>
            <a:r>
              <a:rPr sz="1800" b="1" spc="-15" dirty="0">
                <a:solidFill>
                  <a:srgbClr val="00AFEF"/>
                </a:solidFill>
                <a:latin typeface="Times New Roman"/>
                <a:cs typeface="Times New Roman"/>
              </a:rPr>
              <a:t> </a:t>
            </a:r>
            <a:r>
              <a:rPr sz="1800" b="1" dirty="0">
                <a:solidFill>
                  <a:srgbClr val="00AFEF"/>
                </a:solidFill>
                <a:latin typeface="Times New Roman"/>
                <a:cs typeface="Times New Roman"/>
              </a:rPr>
              <a:t>there</a:t>
            </a:r>
            <a:r>
              <a:rPr sz="1800" b="1" spc="-20" dirty="0">
                <a:solidFill>
                  <a:srgbClr val="00AFEF"/>
                </a:solidFill>
                <a:latin typeface="Times New Roman"/>
                <a:cs typeface="Times New Roman"/>
              </a:rPr>
              <a:t> </a:t>
            </a:r>
            <a:r>
              <a:rPr sz="1800" b="1" dirty="0">
                <a:solidFill>
                  <a:srgbClr val="00AFEF"/>
                </a:solidFill>
                <a:latin typeface="Times New Roman"/>
                <a:cs typeface="Times New Roman"/>
              </a:rPr>
              <a:t>is</a:t>
            </a:r>
            <a:r>
              <a:rPr sz="1800" b="1" spc="-15" dirty="0">
                <a:solidFill>
                  <a:srgbClr val="00AFEF"/>
                </a:solidFill>
                <a:latin typeface="Times New Roman"/>
                <a:cs typeface="Times New Roman"/>
              </a:rPr>
              <a:t> </a:t>
            </a:r>
            <a:r>
              <a:rPr sz="1800" b="1" spc="-25" dirty="0">
                <a:solidFill>
                  <a:srgbClr val="00AFEF"/>
                </a:solidFill>
                <a:latin typeface="Times New Roman"/>
                <a:cs typeface="Times New Roman"/>
              </a:rPr>
              <a:t>an </a:t>
            </a:r>
            <a:r>
              <a:rPr sz="1800" b="1" dirty="0">
                <a:solidFill>
                  <a:srgbClr val="00AFEF"/>
                </a:solidFill>
                <a:latin typeface="Times New Roman"/>
                <a:cs typeface="Times New Roman"/>
              </a:rPr>
              <a:t>arrow</a:t>
            </a:r>
            <a:r>
              <a:rPr sz="1800" b="1" spc="-45" dirty="0">
                <a:solidFill>
                  <a:srgbClr val="00AFEF"/>
                </a:solidFill>
                <a:latin typeface="Times New Roman"/>
                <a:cs typeface="Times New Roman"/>
              </a:rPr>
              <a:t> </a:t>
            </a:r>
            <a:r>
              <a:rPr sz="1800" b="1" dirty="0">
                <a:solidFill>
                  <a:srgbClr val="00AFEF"/>
                </a:solidFill>
                <a:latin typeface="Times New Roman"/>
                <a:cs typeface="Times New Roman"/>
              </a:rPr>
              <a:t>going</a:t>
            </a:r>
            <a:r>
              <a:rPr sz="1800" b="1" spc="-40" dirty="0">
                <a:solidFill>
                  <a:srgbClr val="00AFEF"/>
                </a:solidFill>
                <a:latin typeface="Times New Roman"/>
                <a:cs typeface="Times New Roman"/>
              </a:rPr>
              <a:t> </a:t>
            </a:r>
            <a:r>
              <a:rPr sz="1800" b="1" dirty="0">
                <a:solidFill>
                  <a:srgbClr val="00AFEF"/>
                </a:solidFill>
                <a:latin typeface="Times New Roman"/>
                <a:cs typeface="Times New Roman"/>
              </a:rPr>
              <a:t>directly</a:t>
            </a:r>
            <a:r>
              <a:rPr sz="1800" b="1" spc="-40" dirty="0">
                <a:solidFill>
                  <a:srgbClr val="00AFEF"/>
                </a:solidFill>
                <a:latin typeface="Times New Roman"/>
                <a:cs typeface="Times New Roman"/>
              </a:rPr>
              <a:t> </a:t>
            </a:r>
            <a:r>
              <a:rPr sz="1800" b="1" dirty="0">
                <a:solidFill>
                  <a:srgbClr val="00AFEF"/>
                </a:solidFill>
                <a:latin typeface="Times New Roman"/>
                <a:cs typeface="Times New Roman"/>
              </a:rPr>
              <a:t>from</a:t>
            </a:r>
            <a:r>
              <a:rPr sz="1800" b="1" spc="-40" dirty="0">
                <a:solidFill>
                  <a:srgbClr val="00AFEF"/>
                </a:solidFill>
                <a:latin typeface="Times New Roman"/>
                <a:cs typeface="Times New Roman"/>
              </a:rPr>
              <a:t> </a:t>
            </a:r>
            <a:r>
              <a:rPr sz="1800" b="1" dirty="0">
                <a:solidFill>
                  <a:srgbClr val="00AFEF"/>
                </a:solidFill>
                <a:latin typeface="Times New Roman"/>
                <a:cs typeface="Times New Roman"/>
              </a:rPr>
              <a:t>the</a:t>
            </a:r>
            <a:r>
              <a:rPr sz="1800" b="1" spc="-40" dirty="0">
                <a:solidFill>
                  <a:srgbClr val="00AFEF"/>
                </a:solidFill>
                <a:latin typeface="Times New Roman"/>
                <a:cs typeface="Times New Roman"/>
              </a:rPr>
              <a:t> </a:t>
            </a:r>
            <a:r>
              <a:rPr sz="1800" b="1" dirty="0">
                <a:solidFill>
                  <a:srgbClr val="00AFEF"/>
                </a:solidFill>
                <a:latin typeface="Times New Roman"/>
                <a:cs typeface="Times New Roman"/>
              </a:rPr>
              <a:t>first</a:t>
            </a:r>
            <a:r>
              <a:rPr sz="1800" b="1" spc="-40" dirty="0">
                <a:solidFill>
                  <a:srgbClr val="00AFEF"/>
                </a:solidFill>
                <a:latin typeface="Times New Roman"/>
                <a:cs typeface="Times New Roman"/>
              </a:rPr>
              <a:t> </a:t>
            </a:r>
            <a:r>
              <a:rPr sz="1800" b="1" dirty="0">
                <a:solidFill>
                  <a:srgbClr val="00AFEF"/>
                </a:solidFill>
                <a:latin typeface="Times New Roman"/>
                <a:cs typeface="Times New Roman"/>
              </a:rPr>
              <a:t>to</a:t>
            </a:r>
            <a:r>
              <a:rPr sz="1800" b="1" spc="-40" dirty="0">
                <a:solidFill>
                  <a:srgbClr val="00AFEF"/>
                </a:solidFill>
                <a:latin typeface="Times New Roman"/>
                <a:cs typeface="Times New Roman"/>
              </a:rPr>
              <a:t> </a:t>
            </a:r>
            <a:r>
              <a:rPr sz="1800" b="1" dirty="0">
                <a:solidFill>
                  <a:srgbClr val="00AFEF"/>
                </a:solidFill>
                <a:latin typeface="Times New Roman"/>
                <a:cs typeface="Times New Roman"/>
              </a:rPr>
              <a:t>the</a:t>
            </a:r>
            <a:r>
              <a:rPr sz="1800" b="1" spc="-40" dirty="0">
                <a:solidFill>
                  <a:srgbClr val="00AFEF"/>
                </a:solidFill>
                <a:latin typeface="Times New Roman"/>
                <a:cs typeface="Times New Roman"/>
              </a:rPr>
              <a:t> </a:t>
            </a:r>
            <a:r>
              <a:rPr sz="1800" b="1" spc="-10" dirty="0">
                <a:solidFill>
                  <a:srgbClr val="00AFEF"/>
                </a:solidFill>
                <a:latin typeface="Times New Roman"/>
                <a:cs typeface="Times New Roman"/>
              </a:rPr>
              <a:t>third.</a:t>
            </a:r>
            <a:endParaRPr sz="1800">
              <a:latin typeface="Times New Roman"/>
              <a:cs typeface="Times New Roman"/>
            </a:endParaRPr>
          </a:p>
          <a:p>
            <a:pPr>
              <a:lnSpc>
                <a:spcPct val="100000"/>
              </a:lnSpc>
            </a:pPr>
            <a:endParaRPr sz="1800">
              <a:latin typeface="Times New Roman"/>
              <a:cs typeface="Times New Roman"/>
            </a:endParaRPr>
          </a:p>
          <a:p>
            <a:pPr>
              <a:lnSpc>
                <a:spcPct val="100000"/>
              </a:lnSpc>
              <a:spcBef>
                <a:spcPts val="15"/>
              </a:spcBef>
            </a:pPr>
            <a:endParaRPr sz="1800">
              <a:latin typeface="Times New Roman"/>
              <a:cs typeface="Times New Roman"/>
            </a:endParaRPr>
          </a:p>
          <a:p>
            <a:pPr marL="50800">
              <a:lnSpc>
                <a:spcPct val="100000"/>
              </a:lnSpc>
            </a:pPr>
            <a:r>
              <a:rPr sz="1800" b="1" dirty="0">
                <a:solidFill>
                  <a:srgbClr val="90C225"/>
                </a:solidFill>
                <a:latin typeface="Times New Roman"/>
                <a:cs typeface="Times New Roman"/>
              </a:rPr>
              <a:t>EXAMPLE</a:t>
            </a:r>
            <a:r>
              <a:rPr sz="1800" b="1" spc="-45" dirty="0">
                <a:solidFill>
                  <a:srgbClr val="90C225"/>
                </a:solidFill>
                <a:latin typeface="Times New Roman"/>
                <a:cs typeface="Times New Roman"/>
              </a:rPr>
              <a:t> </a:t>
            </a:r>
            <a:r>
              <a:rPr sz="1800" b="1" spc="-50" dirty="0">
                <a:solidFill>
                  <a:srgbClr val="90C225"/>
                </a:solidFill>
                <a:latin typeface="Times New Roman"/>
                <a:cs typeface="Times New Roman"/>
              </a:rPr>
              <a:t>W</a:t>
            </a:r>
            <a:endParaRPr sz="1800">
              <a:latin typeface="Times New Roman"/>
              <a:cs typeface="Times New Roman"/>
            </a:endParaRPr>
          </a:p>
          <a:p>
            <a:pPr marL="50800" marR="43180">
              <a:lnSpc>
                <a:spcPct val="100000"/>
              </a:lnSpc>
              <a:spcBef>
                <a:spcPts val="1005"/>
              </a:spcBef>
            </a:pPr>
            <a:r>
              <a:rPr sz="1800" b="1" spc="-10" dirty="0">
                <a:solidFill>
                  <a:srgbClr val="404040"/>
                </a:solidFill>
                <a:latin typeface="Times New Roman"/>
                <a:cs typeface="Times New Roman"/>
              </a:rPr>
              <a:t>Let</a:t>
            </a:r>
            <a:r>
              <a:rPr sz="1800" b="1" spc="-105" dirty="0">
                <a:solidFill>
                  <a:srgbClr val="404040"/>
                </a:solidFill>
                <a:latin typeface="Times New Roman"/>
                <a:cs typeface="Times New Roman"/>
              </a:rPr>
              <a:t> </a:t>
            </a:r>
            <a:r>
              <a:rPr sz="1800" b="1" dirty="0">
                <a:solidFill>
                  <a:srgbClr val="404040"/>
                </a:solidFill>
                <a:latin typeface="Times New Roman"/>
                <a:cs typeface="Times New Roman"/>
              </a:rPr>
              <a:t>A</a:t>
            </a:r>
            <a:r>
              <a:rPr sz="1800" b="1" spc="-110" dirty="0">
                <a:solidFill>
                  <a:srgbClr val="404040"/>
                </a:solidFill>
                <a:latin typeface="Times New Roman"/>
                <a:cs typeface="Times New Roman"/>
              </a:rPr>
              <a:t> </a:t>
            </a:r>
            <a:r>
              <a:rPr sz="1800" b="1" dirty="0">
                <a:solidFill>
                  <a:srgbClr val="404040"/>
                </a:solidFill>
                <a:latin typeface="Times New Roman"/>
                <a:cs typeface="Times New Roman"/>
              </a:rPr>
              <a:t>=</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3,</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4}</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and</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define</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relations</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R</a:t>
            </a:r>
            <a:r>
              <a:rPr sz="1800" b="1" baseline="-20833" dirty="0">
                <a:solidFill>
                  <a:srgbClr val="404040"/>
                </a:solidFill>
                <a:latin typeface="Times New Roman"/>
                <a:cs typeface="Times New Roman"/>
              </a:rPr>
              <a:t>1</a:t>
            </a:r>
            <a:r>
              <a:rPr sz="1800" b="1" dirty="0">
                <a:solidFill>
                  <a:srgbClr val="404040"/>
                </a:solidFill>
                <a:latin typeface="Times New Roman"/>
                <a:cs typeface="Times New Roman"/>
              </a:rPr>
              <a:t>,</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R</a:t>
            </a:r>
            <a:r>
              <a:rPr sz="1800" b="1" baseline="-20833" dirty="0">
                <a:solidFill>
                  <a:srgbClr val="404040"/>
                </a:solidFill>
                <a:latin typeface="Times New Roman"/>
                <a:cs typeface="Times New Roman"/>
              </a:rPr>
              <a:t>2</a:t>
            </a:r>
            <a:r>
              <a:rPr sz="1800" b="1" spc="202" baseline="-20833" dirty="0">
                <a:solidFill>
                  <a:srgbClr val="404040"/>
                </a:solidFill>
                <a:latin typeface="Times New Roman"/>
                <a:cs typeface="Times New Roman"/>
              </a:rPr>
              <a:t>  </a:t>
            </a:r>
            <a:r>
              <a:rPr sz="1800" b="1" dirty="0">
                <a:solidFill>
                  <a:srgbClr val="404040"/>
                </a:solidFill>
                <a:latin typeface="Times New Roman"/>
                <a:cs typeface="Times New Roman"/>
              </a:rPr>
              <a:t>and</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R</a:t>
            </a:r>
            <a:r>
              <a:rPr sz="1800" b="1" baseline="-20833" dirty="0">
                <a:solidFill>
                  <a:srgbClr val="404040"/>
                </a:solidFill>
                <a:latin typeface="Times New Roman"/>
                <a:cs typeface="Times New Roman"/>
              </a:rPr>
              <a:t>3</a:t>
            </a:r>
            <a:r>
              <a:rPr sz="1800" b="1" spc="-22" baseline="-20833" dirty="0">
                <a:solidFill>
                  <a:srgbClr val="404040"/>
                </a:solidFill>
                <a:latin typeface="Times New Roman"/>
                <a:cs typeface="Times New Roman"/>
              </a:rPr>
              <a:t> </a:t>
            </a:r>
            <a:r>
              <a:rPr sz="1800" b="1" dirty="0">
                <a:solidFill>
                  <a:srgbClr val="404040"/>
                </a:solidFill>
                <a:latin typeface="Times New Roman"/>
                <a:cs typeface="Times New Roman"/>
              </a:rPr>
              <a:t>on</a:t>
            </a:r>
            <a:r>
              <a:rPr sz="1800" b="1" spc="-110" dirty="0">
                <a:solidFill>
                  <a:srgbClr val="404040"/>
                </a:solidFill>
                <a:latin typeface="Times New Roman"/>
                <a:cs typeface="Times New Roman"/>
              </a:rPr>
              <a:t> </a:t>
            </a:r>
            <a:r>
              <a:rPr sz="1800" b="1" dirty="0">
                <a:solidFill>
                  <a:srgbClr val="404040"/>
                </a:solidFill>
                <a:latin typeface="Times New Roman"/>
                <a:cs typeface="Times New Roman"/>
              </a:rPr>
              <a:t>A</a:t>
            </a:r>
            <a:r>
              <a:rPr sz="1800" b="1" spc="-105" dirty="0">
                <a:solidFill>
                  <a:srgbClr val="404040"/>
                </a:solidFill>
                <a:latin typeface="Times New Roman"/>
                <a:cs typeface="Times New Roman"/>
              </a:rPr>
              <a:t> </a:t>
            </a:r>
            <a:r>
              <a:rPr sz="1800" b="1" dirty="0">
                <a:solidFill>
                  <a:srgbClr val="404040"/>
                </a:solidFill>
                <a:latin typeface="Times New Roman"/>
                <a:cs typeface="Times New Roman"/>
              </a:rPr>
              <a:t>by</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the</a:t>
            </a:r>
            <a:r>
              <a:rPr sz="1800" b="1" spc="-10" dirty="0">
                <a:solidFill>
                  <a:srgbClr val="404040"/>
                </a:solidFill>
                <a:latin typeface="Times New Roman"/>
                <a:cs typeface="Times New Roman"/>
              </a:rPr>
              <a:t> directed graphs:</a:t>
            </a:r>
            <a:endParaRPr sz="1800">
              <a:latin typeface="Times New Roman"/>
              <a:cs typeface="Times New Roman"/>
            </a:endParaRPr>
          </a:p>
          <a:p>
            <a:pPr marL="50800">
              <a:lnSpc>
                <a:spcPct val="100000"/>
              </a:lnSpc>
              <a:spcBef>
                <a:spcPts val="994"/>
              </a:spcBef>
            </a:pPr>
            <a:r>
              <a:rPr sz="1800" b="1" dirty="0">
                <a:solidFill>
                  <a:srgbClr val="404040"/>
                </a:solidFill>
                <a:latin typeface="Times New Roman"/>
                <a:cs typeface="Times New Roman"/>
              </a:rPr>
              <a:t>R</a:t>
            </a:r>
            <a:r>
              <a:rPr sz="1800" b="1" baseline="-20833" dirty="0">
                <a:solidFill>
                  <a:srgbClr val="404040"/>
                </a:solidFill>
                <a:latin typeface="Times New Roman"/>
                <a:cs typeface="Times New Roman"/>
              </a:rPr>
              <a:t>1</a:t>
            </a:r>
            <a:r>
              <a:rPr sz="1800" b="1" spc="187" baseline="-20833" dirty="0">
                <a:solidFill>
                  <a:srgbClr val="404040"/>
                </a:solidFill>
                <a:latin typeface="Times New Roman"/>
                <a:cs typeface="Times New Roman"/>
              </a:rPr>
              <a:t> </a:t>
            </a:r>
            <a:r>
              <a:rPr sz="1800" b="1" dirty="0">
                <a:solidFill>
                  <a:srgbClr val="404040"/>
                </a:solidFill>
                <a:latin typeface="Times New Roman"/>
                <a:cs typeface="Times New Roman"/>
              </a:rPr>
              <a:t>=</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3),</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20" dirty="0">
                <a:solidFill>
                  <a:srgbClr val="404040"/>
                </a:solidFill>
                <a:latin typeface="Times New Roman"/>
                <a:cs typeface="Times New Roman"/>
              </a:rPr>
              <a:t> </a:t>
            </a:r>
            <a:r>
              <a:rPr sz="1800" b="1" spc="-25" dirty="0">
                <a:solidFill>
                  <a:srgbClr val="404040"/>
                </a:solidFill>
                <a:latin typeface="Times New Roman"/>
                <a:cs typeface="Times New Roman"/>
              </a:rPr>
              <a:t>3)}</a:t>
            </a:r>
            <a:endParaRPr sz="1800">
              <a:latin typeface="Times New Roman"/>
              <a:cs typeface="Times New Roman"/>
            </a:endParaRPr>
          </a:p>
          <a:p>
            <a:pPr marL="50800">
              <a:lnSpc>
                <a:spcPct val="100000"/>
              </a:lnSpc>
              <a:spcBef>
                <a:spcPts val="1005"/>
              </a:spcBef>
            </a:pPr>
            <a:r>
              <a:rPr sz="1800" b="1" dirty="0">
                <a:solidFill>
                  <a:srgbClr val="404040"/>
                </a:solidFill>
                <a:latin typeface="Times New Roman"/>
                <a:cs typeface="Times New Roman"/>
              </a:rPr>
              <a:t>R</a:t>
            </a:r>
            <a:r>
              <a:rPr sz="1800" b="1" baseline="-20833" dirty="0">
                <a:solidFill>
                  <a:srgbClr val="404040"/>
                </a:solidFill>
                <a:latin typeface="Times New Roman"/>
                <a:cs typeface="Times New Roman"/>
              </a:rPr>
              <a:t>2</a:t>
            </a:r>
            <a:r>
              <a:rPr sz="1800" b="1" spc="187" baseline="-20833" dirty="0">
                <a:solidFill>
                  <a:srgbClr val="404040"/>
                </a:solidFill>
                <a:latin typeface="Times New Roman"/>
                <a:cs typeface="Times New Roman"/>
              </a:rPr>
              <a:t> </a:t>
            </a:r>
            <a:r>
              <a:rPr sz="1800" b="1" dirty="0">
                <a:solidFill>
                  <a:srgbClr val="404040"/>
                </a:solidFill>
                <a:latin typeface="Times New Roman"/>
                <a:cs typeface="Times New Roman"/>
              </a:rPr>
              <a:t>=</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4),</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3),</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(4,</a:t>
            </a:r>
            <a:r>
              <a:rPr sz="1800" b="1" spc="-25" dirty="0">
                <a:solidFill>
                  <a:srgbClr val="404040"/>
                </a:solidFill>
                <a:latin typeface="Times New Roman"/>
                <a:cs typeface="Times New Roman"/>
              </a:rPr>
              <a:t> 3)}</a:t>
            </a:r>
            <a:endParaRPr sz="1800">
              <a:latin typeface="Times New Roman"/>
              <a:cs typeface="Times New Roman"/>
            </a:endParaRPr>
          </a:p>
          <a:p>
            <a:pPr marL="50800">
              <a:lnSpc>
                <a:spcPct val="100000"/>
              </a:lnSpc>
              <a:spcBef>
                <a:spcPts val="1000"/>
              </a:spcBef>
            </a:pPr>
            <a:r>
              <a:rPr sz="1800" b="1" dirty="0">
                <a:solidFill>
                  <a:srgbClr val="404040"/>
                </a:solidFill>
                <a:latin typeface="Times New Roman"/>
                <a:cs typeface="Times New Roman"/>
              </a:rPr>
              <a:t>R</a:t>
            </a:r>
            <a:r>
              <a:rPr sz="1800" b="1" baseline="-20833" dirty="0">
                <a:solidFill>
                  <a:srgbClr val="404040"/>
                </a:solidFill>
                <a:latin typeface="Times New Roman"/>
                <a:cs typeface="Times New Roman"/>
              </a:rPr>
              <a:t>3</a:t>
            </a:r>
            <a:r>
              <a:rPr sz="1800" b="1" spc="187" baseline="-20833" dirty="0">
                <a:solidFill>
                  <a:srgbClr val="404040"/>
                </a:solidFill>
                <a:latin typeface="Times New Roman"/>
                <a:cs typeface="Times New Roman"/>
              </a:rPr>
              <a:t> </a:t>
            </a:r>
            <a:r>
              <a:rPr sz="1800" b="1" dirty="0">
                <a:solidFill>
                  <a:srgbClr val="404040"/>
                </a:solidFill>
                <a:latin typeface="Times New Roman"/>
                <a:cs typeface="Times New Roman"/>
              </a:rPr>
              <a:t>=</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4),</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3),</a:t>
            </a:r>
            <a:r>
              <a:rPr sz="1800" b="1" spc="-20" dirty="0">
                <a:solidFill>
                  <a:srgbClr val="404040"/>
                </a:solidFill>
                <a:latin typeface="Times New Roman"/>
                <a:cs typeface="Times New Roman"/>
              </a:rPr>
              <a:t> </a:t>
            </a:r>
            <a:r>
              <a:rPr sz="1800" b="1" spc="-10" dirty="0">
                <a:solidFill>
                  <a:srgbClr val="404040"/>
                </a:solidFill>
                <a:latin typeface="Times New Roman"/>
                <a:cs typeface="Times New Roman"/>
              </a:rPr>
              <a:t>(4,3)}</a:t>
            </a:r>
            <a:endParaRPr sz="1800">
              <a:latin typeface="Times New Roman"/>
              <a:cs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77850" y="606933"/>
            <a:ext cx="41275" cy="43815"/>
            <a:chOff x="277850" y="606933"/>
            <a:chExt cx="41275" cy="43815"/>
          </a:xfrm>
        </p:grpSpPr>
        <p:sp>
          <p:nvSpPr>
            <p:cNvPr id="3" name="object 3"/>
            <p:cNvSpPr/>
            <p:nvPr/>
          </p:nvSpPr>
          <p:spPr>
            <a:xfrm>
              <a:off x="277850" y="606933"/>
              <a:ext cx="27940" cy="31750"/>
            </a:xfrm>
            <a:custGeom>
              <a:avLst/>
              <a:gdLst/>
              <a:ahLst/>
              <a:cxnLst/>
              <a:rect l="l" t="t" r="r" b="b"/>
              <a:pathLst>
                <a:path w="27939" h="31750">
                  <a:moveTo>
                    <a:pt x="13837" y="0"/>
                  </a:moveTo>
                  <a:lnTo>
                    <a:pt x="4613" y="5061"/>
                  </a:lnTo>
                  <a:lnTo>
                    <a:pt x="0" y="15213"/>
                  </a:lnTo>
                  <a:lnTo>
                    <a:pt x="4613" y="25335"/>
                  </a:lnTo>
                  <a:lnTo>
                    <a:pt x="13837" y="31141"/>
                  </a:lnTo>
                  <a:lnTo>
                    <a:pt x="23061" y="25335"/>
                  </a:lnTo>
                  <a:lnTo>
                    <a:pt x="27675" y="15213"/>
                  </a:lnTo>
                  <a:lnTo>
                    <a:pt x="23061" y="5061"/>
                  </a:lnTo>
                  <a:lnTo>
                    <a:pt x="13837" y="0"/>
                  </a:lnTo>
                  <a:close/>
                </a:path>
              </a:pathLst>
            </a:custGeom>
            <a:solidFill>
              <a:srgbClr val="1F1A17"/>
            </a:solidFill>
          </p:spPr>
          <p:txBody>
            <a:bodyPr wrap="square" lIns="0" tIns="0" rIns="0" bIns="0" rtlCol="0"/>
            <a:lstStyle/>
            <a:p>
              <a:endParaRPr/>
            </a:p>
          </p:txBody>
        </p:sp>
        <p:sp>
          <p:nvSpPr>
            <p:cNvPr id="4" name="object 4"/>
            <p:cNvSpPr/>
            <p:nvPr/>
          </p:nvSpPr>
          <p:spPr>
            <a:xfrm>
              <a:off x="288611" y="617055"/>
              <a:ext cx="27940" cy="31750"/>
            </a:xfrm>
            <a:custGeom>
              <a:avLst/>
              <a:gdLst/>
              <a:ahLst/>
              <a:cxnLst/>
              <a:rect l="l" t="t" r="r" b="b"/>
              <a:pathLst>
                <a:path w="27939" h="31750">
                  <a:moveTo>
                    <a:pt x="13837" y="0"/>
                  </a:moveTo>
                  <a:lnTo>
                    <a:pt x="23061" y="5090"/>
                  </a:lnTo>
                  <a:lnTo>
                    <a:pt x="27675" y="15213"/>
                  </a:lnTo>
                  <a:lnTo>
                    <a:pt x="23061" y="25365"/>
                  </a:lnTo>
                  <a:lnTo>
                    <a:pt x="13837" y="31141"/>
                  </a:lnTo>
                  <a:lnTo>
                    <a:pt x="4613" y="25365"/>
                  </a:lnTo>
                  <a:lnTo>
                    <a:pt x="0" y="15213"/>
                  </a:lnTo>
                  <a:lnTo>
                    <a:pt x="4613" y="5090"/>
                  </a:lnTo>
                  <a:lnTo>
                    <a:pt x="13837" y="0"/>
                  </a:lnTo>
                </a:path>
              </a:pathLst>
            </a:custGeom>
            <a:ln w="4497">
              <a:solidFill>
                <a:srgbClr val="1F1A17"/>
              </a:solidFill>
            </a:ln>
          </p:spPr>
          <p:txBody>
            <a:bodyPr wrap="square" lIns="0" tIns="0" rIns="0" bIns="0" rtlCol="0"/>
            <a:lstStyle/>
            <a:p>
              <a:endParaRPr/>
            </a:p>
          </p:txBody>
        </p:sp>
      </p:grpSp>
      <p:grpSp>
        <p:nvGrpSpPr>
          <p:cNvPr id="5" name="object 5"/>
          <p:cNvGrpSpPr/>
          <p:nvPr/>
        </p:nvGrpSpPr>
        <p:grpSpPr>
          <a:xfrm>
            <a:off x="277850" y="2403662"/>
            <a:ext cx="41275" cy="48895"/>
            <a:chOff x="277850" y="2403662"/>
            <a:chExt cx="41275" cy="48895"/>
          </a:xfrm>
        </p:grpSpPr>
        <p:sp>
          <p:nvSpPr>
            <p:cNvPr id="6" name="object 6"/>
            <p:cNvSpPr/>
            <p:nvPr/>
          </p:nvSpPr>
          <p:spPr>
            <a:xfrm>
              <a:off x="277850" y="2403662"/>
              <a:ext cx="27940" cy="36830"/>
            </a:xfrm>
            <a:custGeom>
              <a:avLst/>
              <a:gdLst/>
              <a:ahLst/>
              <a:cxnLst/>
              <a:rect l="l" t="t" r="r" b="b"/>
              <a:pathLst>
                <a:path w="27939" h="36830">
                  <a:moveTo>
                    <a:pt x="13837" y="0"/>
                  </a:moveTo>
                  <a:lnTo>
                    <a:pt x="0" y="5070"/>
                  </a:lnTo>
                  <a:lnTo>
                    <a:pt x="0" y="31141"/>
                  </a:lnTo>
                  <a:lnTo>
                    <a:pt x="13837" y="36210"/>
                  </a:lnTo>
                  <a:lnTo>
                    <a:pt x="23061" y="31141"/>
                  </a:lnTo>
                  <a:lnTo>
                    <a:pt x="27675" y="21000"/>
                  </a:lnTo>
                  <a:lnTo>
                    <a:pt x="23061" y="5070"/>
                  </a:lnTo>
                  <a:lnTo>
                    <a:pt x="13837" y="0"/>
                  </a:lnTo>
                  <a:close/>
                </a:path>
              </a:pathLst>
            </a:custGeom>
            <a:solidFill>
              <a:srgbClr val="1F1A17"/>
            </a:solidFill>
          </p:spPr>
          <p:txBody>
            <a:bodyPr wrap="square" lIns="0" tIns="0" rIns="0" bIns="0" rtlCol="0"/>
            <a:lstStyle/>
            <a:p>
              <a:endParaRPr/>
            </a:p>
          </p:txBody>
        </p:sp>
        <p:sp>
          <p:nvSpPr>
            <p:cNvPr id="7" name="object 7"/>
            <p:cNvSpPr/>
            <p:nvPr/>
          </p:nvSpPr>
          <p:spPr>
            <a:xfrm>
              <a:off x="288611" y="2413802"/>
              <a:ext cx="27940" cy="36830"/>
            </a:xfrm>
            <a:custGeom>
              <a:avLst/>
              <a:gdLst/>
              <a:ahLst/>
              <a:cxnLst/>
              <a:rect l="l" t="t" r="r" b="b"/>
              <a:pathLst>
                <a:path w="27939" h="36830">
                  <a:moveTo>
                    <a:pt x="13837" y="0"/>
                  </a:moveTo>
                  <a:lnTo>
                    <a:pt x="23061" y="5067"/>
                  </a:lnTo>
                  <a:lnTo>
                    <a:pt x="27675" y="21000"/>
                  </a:lnTo>
                  <a:lnTo>
                    <a:pt x="23061" y="31139"/>
                  </a:lnTo>
                  <a:lnTo>
                    <a:pt x="13837" y="36208"/>
                  </a:lnTo>
                  <a:lnTo>
                    <a:pt x="0" y="31139"/>
                  </a:lnTo>
                  <a:lnTo>
                    <a:pt x="0" y="21000"/>
                  </a:lnTo>
                  <a:lnTo>
                    <a:pt x="0" y="5067"/>
                  </a:lnTo>
                  <a:lnTo>
                    <a:pt x="13837" y="0"/>
                  </a:lnTo>
                </a:path>
              </a:pathLst>
            </a:custGeom>
            <a:ln w="4516">
              <a:solidFill>
                <a:srgbClr val="1F1A17"/>
              </a:solidFill>
            </a:ln>
          </p:spPr>
          <p:txBody>
            <a:bodyPr wrap="square" lIns="0" tIns="0" rIns="0" bIns="0" rtlCol="0"/>
            <a:lstStyle/>
            <a:p>
              <a:endParaRPr/>
            </a:p>
          </p:txBody>
        </p:sp>
      </p:grpSp>
      <p:grpSp>
        <p:nvGrpSpPr>
          <p:cNvPr id="8" name="object 8"/>
          <p:cNvGrpSpPr/>
          <p:nvPr/>
        </p:nvGrpSpPr>
        <p:grpSpPr>
          <a:xfrm>
            <a:off x="140248" y="325204"/>
            <a:ext cx="239395" cy="333375"/>
            <a:chOff x="140248" y="325204"/>
            <a:chExt cx="239395" cy="333375"/>
          </a:xfrm>
        </p:grpSpPr>
        <p:sp>
          <p:nvSpPr>
            <p:cNvPr id="9" name="object 9"/>
            <p:cNvSpPr/>
            <p:nvPr/>
          </p:nvSpPr>
          <p:spPr>
            <a:xfrm>
              <a:off x="144860" y="325204"/>
              <a:ext cx="234950" cy="287020"/>
            </a:xfrm>
            <a:custGeom>
              <a:avLst/>
              <a:gdLst/>
              <a:ahLst/>
              <a:cxnLst/>
              <a:rect l="l" t="t" r="r" b="b"/>
              <a:pathLst>
                <a:path w="234950" h="287020">
                  <a:moveTo>
                    <a:pt x="137603" y="0"/>
                  </a:moveTo>
                  <a:lnTo>
                    <a:pt x="87633" y="5090"/>
                  </a:lnTo>
                  <a:lnTo>
                    <a:pt x="36900" y="36232"/>
                  </a:lnTo>
                  <a:lnTo>
                    <a:pt x="0" y="87647"/>
                  </a:lnTo>
                  <a:lnTo>
                    <a:pt x="18448" y="97769"/>
                  </a:lnTo>
                  <a:lnTo>
                    <a:pt x="32286" y="71719"/>
                  </a:lnTo>
                  <a:lnTo>
                    <a:pt x="50734" y="51415"/>
                  </a:lnTo>
                  <a:lnTo>
                    <a:pt x="69185" y="36232"/>
                  </a:lnTo>
                  <a:lnTo>
                    <a:pt x="92247" y="26079"/>
                  </a:lnTo>
                  <a:lnTo>
                    <a:pt x="114538" y="21018"/>
                  </a:lnTo>
                  <a:lnTo>
                    <a:pt x="137603" y="21018"/>
                  </a:lnTo>
                  <a:lnTo>
                    <a:pt x="174499" y="31141"/>
                  </a:lnTo>
                  <a:lnTo>
                    <a:pt x="202174" y="61567"/>
                  </a:lnTo>
                  <a:lnTo>
                    <a:pt x="211398" y="143409"/>
                  </a:lnTo>
                  <a:lnTo>
                    <a:pt x="197564" y="184673"/>
                  </a:lnTo>
                  <a:lnTo>
                    <a:pt x="179113" y="225252"/>
                  </a:lnTo>
                  <a:lnTo>
                    <a:pt x="146827" y="271576"/>
                  </a:lnTo>
                  <a:lnTo>
                    <a:pt x="160665" y="286790"/>
                  </a:lnTo>
                  <a:lnTo>
                    <a:pt x="192950" y="236088"/>
                  </a:lnTo>
                  <a:lnTo>
                    <a:pt x="216012" y="189764"/>
                  </a:lnTo>
                  <a:lnTo>
                    <a:pt x="229850" y="148471"/>
                  </a:lnTo>
                  <a:lnTo>
                    <a:pt x="234460" y="112983"/>
                  </a:lnTo>
                  <a:lnTo>
                    <a:pt x="229850" y="81842"/>
                  </a:lnTo>
                  <a:lnTo>
                    <a:pt x="220626" y="51415"/>
                  </a:lnTo>
                  <a:lnTo>
                    <a:pt x="206788" y="31141"/>
                  </a:lnTo>
                  <a:lnTo>
                    <a:pt x="183726" y="15957"/>
                  </a:lnTo>
                  <a:lnTo>
                    <a:pt x="160665" y="5090"/>
                  </a:lnTo>
                  <a:lnTo>
                    <a:pt x="137603" y="0"/>
                  </a:lnTo>
                  <a:close/>
                </a:path>
              </a:pathLst>
            </a:custGeom>
            <a:solidFill>
              <a:srgbClr val="1F1A17"/>
            </a:solidFill>
          </p:spPr>
          <p:txBody>
            <a:bodyPr wrap="square" lIns="0" tIns="0" rIns="0" bIns="0" rtlCol="0"/>
            <a:lstStyle/>
            <a:p>
              <a:endParaRPr/>
            </a:p>
          </p:txBody>
        </p:sp>
        <p:pic>
          <p:nvPicPr>
            <p:cNvPr id="10" name="object 10"/>
            <p:cNvPicPr/>
            <p:nvPr/>
          </p:nvPicPr>
          <p:blipFill>
            <a:blip r:embed="rId2" cstate="print"/>
            <a:stretch>
              <a:fillRect/>
            </a:stretch>
          </p:blipFill>
          <p:spPr>
            <a:xfrm>
              <a:off x="140248" y="412852"/>
              <a:ext cx="146826" cy="245496"/>
            </a:xfrm>
            <a:prstGeom prst="rect">
              <a:avLst/>
            </a:prstGeom>
          </p:spPr>
        </p:pic>
      </p:grpSp>
      <p:grpSp>
        <p:nvGrpSpPr>
          <p:cNvPr id="11" name="object 11"/>
          <p:cNvGrpSpPr/>
          <p:nvPr/>
        </p:nvGrpSpPr>
        <p:grpSpPr>
          <a:xfrm>
            <a:off x="2168147" y="601872"/>
            <a:ext cx="41275" cy="48895"/>
            <a:chOff x="2168147" y="601872"/>
            <a:chExt cx="41275" cy="48895"/>
          </a:xfrm>
        </p:grpSpPr>
        <p:sp>
          <p:nvSpPr>
            <p:cNvPr id="12" name="object 12"/>
            <p:cNvSpPr/>
            <p:nvPr/>
          </p:nvSpPr>
          <p:spPr>
            <a:xfrm>
              <a:off x="2168147" y="601872"/>
              <a:ext cx="27940" cy="36830"/>
            </a:xfrm>
            <a:custGeom>
              <a:avLst/>
              <a:gdLst/>
              <a:ahLst/>
              <a:cxnLst/>
              <a:rect l="l" t="t" r="r" b="b"/>
              <a:pathLst>
                <a:path w="27939" h="36829">
                  <a:moveTo>
                    <a:pt x="13853" y="0"/>
                  </a:moveTo>
                  <a:lnTo>
                    <a:pt x="4607" y="5061"/>
                  </a:lnTo>
                  <a:lnTo>
                    <a:pt x="0" y="15183"/>
                  </a:lnTo>
                  <a:lnTo>
                    <a:pt x="4607" y="30396"/>
                  </a:lnTo>
                  <a:lnTo>
                    <a:pt x="13853" y="36202"/>
                  </a:lnTo>
                  <a:lnTo>
                    <a:pt x="23067" y="30396"/>
                  </a:lnTo>
                  <a:lnTo>
                    <a:pt x="27675" y="15183"/>
                  </a:lnTo>
                  <a:lnTo>
                    <a:pt x="23067" y="5061"/>
                  </a:lnTo>
                  <a:lnTo>
                    <a:pt x="13853" y="0"/>
                  </a:lnTo>
                  <a:close/>
                </a:path>
              </a:pathLst>
            </a:custGeom>
            <a:solidFill>
              <a:srgbClr val="1F1A17"/>
            </a:solidFill>
          </p:spPr>
          <p:txBody>
            <a:bodyPr wrap="square" lIns="0" tIns="0" rIns="0" bIns="0" rtlCol="0"/>
            <a:lstStyle/>
            <a:p>
              <a:endParaRPr/>
            </a:p>
          </p:txBody>
        </p:sp>
        <p:sp>
          <p:nvSpPr>
            <p:cNvPr id="13" name="object 13"/>
            <p:cNvSpPr/>
            <p:nvPr/>
          </p:nvSpPr>
          <p:spPr>
            <a:xfrm>
              <a:off x="2178908" y="611995"/>
              <a:ext cx="27940" cy="36830"/>
            </a:xfrm>
            <a:custGeom>
              <a:avLst/>
              <a:gdLst/>
              <a:ahLst/>
              <a:cxnLst/>
              <a:rect l="l" t="t" r="r" b="b"/>
              <a:pathLst>
                <a:path w="27939" h="36829">
                  <a:moveTo>
                    <a:pt x="13853" y="0"/>
                  </a:moveTo>
                  <a:lnTo>
                    <a:pt x="23067" y="5061"/>
                  </a:lnTo>
                  <a:lnTo>
                    <a:pt x="27675" y="15213"/>
                  </a:lnTo>
                  <a:lnTo>
                    <a:pt x="23067" y="30426"/>
                  </a:lnTo>
                  <a:lnTo>
                    <a:pt x="13853" y="36202"/>
                  </a:lnTo>
                  <a:lnTo>
                    <a:pt x="4607" y="30426"/>
                  </a:lnTo>
                  <a:lnTo>
                    <a:pt x="0" y="15213"/>
                  </a:lnTo>
                  <a:lnTo>
                    <a:pt x="4607" y="5061"/>
                  </a:lnTo>
                  <a:lnTo>
                    <a:pt x="13853" y="0"/>
                  </a:lnTo>
                </a:path>
              </a:pathLst>
            </a:custGeom>
            <a:ln w="4516">
              <a:solidFill>
                <a:srgbClr val="1F1A17"/>
              </a:solidFill>
            </a:ln>
          </p:spPr>
          <p:txBody>
            <a:bodyPr wrap="square" lIns="0" tIns="0" rIns="0" bIns="0" rtlCol="0"/>
            <a:lstStyle/>
            <a:p>
              <a:endParaRPr/>
            </a:p>
          </p:txBody>
        </p:sp>
      </p:grpSp>
      <p:grpSp>
        <p:nvGrpSpPr>
          <p:cNvPr id="14" name="object 14"/>
          <p:cNvGrpSpPr/>
          <p:nvPr/>
        </p:nvGrpSpPr>
        <p:grpSpPr>
          <a:xfrm>
            <a:off x="2140472" y="2413803"/>
            <a:ext cx="41275" cy="48895"/>
            <a:chOff x="2140472" y="2413803"/>
            <a:chExt cx="41275" cy="48895"/>
          </a:xfrm>
        </p:grpSpPr>
        <p:sp>
          <p:nvSpPr>
            <p:cNvPr id="15" name="object 15"/>
            <p:cNvSpPr/>
            <p:nvPr/>
          </p:nvSpPr>
          <p:spPr>
            <a:xfrm>
              <a:off x="2140472" y="2413803"/>
              <a:ext cx="27940" cy="36830"/>
            </a:xfrm>
            <a:custGeom>
              <a:avLst/>
              <a:gdLst/>
              <a:ahLst/>
              <a:cxnLst/>
              <a:rect l="l" t="t" r="r" b="b"/>
              <a:pathLst>
                <a:path w="27939" h="36830">
                  <a:moveTo>
                    <a:pt x="13853" y="0"/>
                  </a:moveTo>
                  <a:lnTo>
                    <a:pt x="4607" y="5067"/>
                  </a:lnTo>
                  <a:lnTo>
                    <a:pt x="0" y="21000"/>
                  </a:lnTo>
                  <a:lnTo>
                    <a:pt x="4607" y="31139"/>
                  </a:lnTo>
                  <a:lnTo>
                    <a:pt x="13853" y="36208"/>
                  </a:lnTo>
                  <a:lnTo>
                    <a:pt x="23067" y="31139"/>
                  </a:lnTo>
                  <a:lnTo>
                    <a:pt x="27675" y="21000"/>
                  </a:lnTo>
                  <a:lnTo>
                    <a:pt x="23067" y="5067"/>
                  </a:lnTo>
                  <a:lnTo>
                    <a:pt x="13853" y="0"/>
                  </a:lnTo>
                  <a:close/>
                </a:path>
              </a:pathLst>
            </a:custGeom>
            <a:solidFill>
              <a:srgbClr val="1F1A17"/>
            </a:solidFill>
          </p:spPr>
          <p:txBody>
            <a:bodyPr wrap="square" lIns="0" tIns="0" rIns="0" bIns="0" rtlCol="0"/>
            <a:lstStyle/>
            <a:p>
              <a:endParaRPr/>
            </a:p>
          </p:txBody>
        </p:sp>
        <p:sp>
          <p:nvSpPr>
            <p:cNvPr id="16" name="object 16"/>
            <p:cNvSpPr/>
            <p:nvPr/>
          </p:nvSpPr>
          <p:spPr>
            <a:xfrm>
              <a:off x="2151232" y="2423940"/>
              <a:ext cx="27940" cy="36830"/>
            </a:xfrm>
            <a:custGeom>
              <a:avLst/>
              <a:gdLst/>
              <a:ahLst/>
              <a:cxnLst/>
              <a:rect l="l" t="t" r="r" b="b"/>
              <a:pathLst>
                <a:path w="27939" h="36830">
                  <a:moveTo>
                    <a:pt x="13853" y="0"/>
                  </a:moveTo>
                  <a:lnTo>
                    <a:pt x="23067" y="5070"/>
                  </a:lnTo>
                  <a:lnTo>
                    <a:pt x="27675" y="21002"/>
                  </a:lnTo>
                  <a:lnTo>
                    <a:pt x="23067" y="31141"/>
                  </a:lnTo>
                  <a:lnTo>
                    <a:pt x="13853" y="36210"/>
                  </a:lnTo>
                  <a:lnTo>
                    <a:pt x="4607" y="31141"/>
                  </a:lnTo>
                  <a:lnTo>
                    <a:pt x="0" y="21002"/>
                  </a:lnTo>
                  <a:lnTo>
                    <a:pt x="4607" y="5070"/>
                  </a:lnTo>
                  <a:lnTo>
                    <a:pt x="13853" y="0"/>
                  </a:lnTo>
                </a:path>
              </a:pathLst>
            </a:custGeom>
            <a:ln w="4516">
              <a:solidFill>
                <a:srgbClr val="1F1A17"/>
              </a:solidFill>
            </a:ln>
          </p:spPr>
          <p:txBody>
            <a:bodyPr wrap="square" lIns="0" tIns="0" rIns="0" bIns="0" rtlCol="0"/>
            <a:lstStyle/>
            <a:p>
              <a:endParaRPr/>
            </a:p>
          </p:txBody>
        </p:sp>
      </p:grpSp>
      <p:grpSp>
        <p:nvGrpSpPr>
          <p:cNvPr id="17" name="object 17"/>
          <p:cNvGrpSpPr/>
          <p:nvPr/>
        </p:nvGrpSpPr>
        <p:grpSpPr>
          <a:xfrm>
            <a:off x="310136" y="361436"/>
            <a:ext cx="2097405" cy="2084070"/>
            <a:chOff x="310136" y="361436"/>
            <a:chExt cx="2097405" cy="2084070"/>
          </a:xfrm>
        </p:grpSpPr>
        <p:sp>
          <p:nvSpPr>
            <p:cNvPr id="18" name="object 18"/>
            <p:cNvSpPr/>
            <p:nvPr/>
          </p:nvSpPr>
          <p:spPr>
            <a:xfrm>
              <a:off x="310136" y="361436"/>
              <a:ext cx="1849120" cy="260985"/>
            </a:xfrm>
            <a:custGeom>
              <a:avLst/>
              <a:gdLst/>
              <a:ahLst/>
              <a:cxnLst/>
              <a:rect l="l" t="t" r="r" b="b"/>
              <a:pathLst>
                <a:path w="1849120" h="260984">
                  <a:moveTo>
                    <a:pt x="906325" y="0"/>
                  </a:moveTo>
                  <a:lnTo>
                    <a:pt x="832546" y="0"/>
                  </a:lnTo>
                  <a:lnTo>
                    <a:pt x="684924" y="10122"/>
                  </a:lnTo>
                  <a:lnTo>
                    <a:pt x="611902" y="20274"/>
                  </a:lnTo>
                  <a:lnTo>
                    <a:pt x="533484" y="30396"/>
                  </a:lnTo>
                  <a:lnTo>
                    <a:pt x="459704" y="45610"/>
                  </a:lnTo>
                  <a:lnTo>
                    <a:pt x="382043" y="66628"/>
                  </a:lnTo>
                  <a:lnTo>
                    <a:pt x="308264" y="91964"/>
                  </a:lnTo>
                  <a:lnTo>
                    <a:pt x="229845" y="123105"/>
                  </a:lnTo>
                  <a:lnTo>
                    <a:pt x="73798" y="194081"/>
                  </a:lnTo>
                  <a:lnTo>
                    <a:pt x="0" y="240435"/>
                  </a:lnTo>
                  <a:lnTo>
                    <a:pt x="9224" y="260709"/>
                  </a:lnTo>
                  <a:lnTo>
                    <a:pt x="83022" y="215070"/>
                  </a:lnTo>
                  <a:lnTo>
                    <a:pt x="161431" y="173806"/>
                  </a:lnTo>
                  <a:lnTo>
                    <a:pt x="234453" y="143380"/>
                  </a:lnTo>
                  <a:lnTo>
                    <a:pt x="312871" y="112238"/>
                  </a:lnTo>
                  <a:lnTo>
                    <a:pt x="386682" y="86903"/>
                  </a:lnTo>
                  <a:lnTo>
                    <a:pt x="464311" y="71689"/>
                  </a:lnTo>
                  <a:lnTo>
                    <a:pt x="538122" y="51415"/>
                  </a:lnTo>
                  <a:lnTo>
                    <a:pt x="611902" y="40548"/>
                  </a:lnTo>
                  <a:lnTo>
                    <a:pt x="689563" y="30396"/>
                  </a:lnTo>
                  <a:lnTo>
                    <a:pt x="758735" y="25335"/>
                  </a:lnTo>
                  <a:lnTo>
                    <a:pt x="906325" y="25335"/>
                  </a:lnTo>
                  <a:lnTo>
                    <a:pt x="1043944" y="30396"/>
                  </a:lnTo>
                  <a:lnTo>
                    <a:pt x="1172316" y="45610"/>
                  </a:lnTo>
                  <a:lnTo>
                    <a:pt x="1296839" y="71690"/>
                  </a:lnTo>
                  <a:lnTo>
                    <a:pt x="1411389" y="97025"/>
                  </a:lnTo>
                  <a:lnTo>
                    <a:pt x="1517483" y="128166"/>
                  </a:lnTo>
                  <a:lnTo>
                    <a:pt x="1609723" y="158593"/>
                  </a:lnTo>
                  <a:lnTo>
                    <a:pt x="1756556" y="220131"/>
                  </a:lnTo>
                  <a:lnTo>
                    <a:pt x="1844189" y="260710"/>
                  </a:lnTo>
                  <a:lnTo>
                    <a:pt x="1848796" y="240435"/>
                  </a:lnTo>
                  <a:lnTo>
                    <a:pt x="1765771" y="199857"/>
                  </a:lnTo>
                  <a:lnTo>
                    <a:pt x="1614330" y="138319"/>
                  </a:lnTo>
                  <a:lnTo>
                    <a:pt x="1522090" y="107177"/>
                  </a:lnTo>
                  <a:lnTo>
                    <a:pt x="1415997" y="76751"/>
                  </a:lnTo>
                  <a:lnTo>
                    <a:pt x="1301446" y="51415"/>
                  </a:lnTo>
                  <a:lnTo>
                    <a:pt x="1176924" y="25335"/>
                  </a:lnTo>
                  <a:lnTo>
                    <a:pt x="1043944" y="10122"/>
                  </a:lnTo>
                  <a:lnTo>
                    <a:pt x="906325" y="0"/>
                  </a:lnTo>
                  <a:close/>
                </a:path>
              </a:pathLst>
            </a:custGeom>
            <a:solidFill>
              <a:srgbClr val="1F1A17"/>
            </a:solidFill>
          </p:spPr>
          <p:txBody>
            <a:bodyPr wrap="square" lIns="0" tIns="0" rIns="0" bIns="0" rtlCol="0"/>
            <a:lstStyle/>
            <a:p>
              <a:endParaRPr/>
            </a:p>
          </p:txBody>
        </p:sp>
        <p:pic>
          <p:nvPicPr>
            <p:cNvPr id="19" name="object 19"/>
            <p:cNvPicPr/>
            <p:nvPr/>
          </p:nvPicPr>
          <p:blipFill>
            <a:blip r:embed="rId3" cstate="print"/>
            <a:stretch>
              <a:fillRect/>
            </a:stretch>
          </p:blipFill>
          <p:spPr>
            <a:xfrm>
              <a:off x="2080514" y="525091"/>
              <a:ext cx="106093" cy="118044"/>
            </a:xfrm>
            <a:prstGeom prst="rect">
              <a:avLst/>
            </a:prstGeom>
          </p:spPr>
        </p:pic>
        <p:sp>
          <p:nvSpPr>
            <p:cNvPr id="20" name="object 20"/>
            <p:cNvSpPr/>
            <p:nvPr/>
          </p:nvSpPr>
          <p:spPr>
            <a:xfrm>
              <a:off x="2158932" y="627208"/>
              <a:ext cx="248285" cy="1791970"/>
            </a:xfrm>
            <a:custGeom>
              <a:avLst/>
              <a:gdLst/>
              <a:ahLst/>
              <a:cxnLst/>
              <a:rect l="l" t="t" r="r" b="b"/>
              <a:pathLst>
                <a:path w="248285" h="1791970">
                  <a:moveTo>
                    <a:pt x="36889" y="0"/>
                  </a:moveTo>
                  <a:lnTo>
                    <a:pt x="18429" y="10866"/>
                  </a:lnTo>
                  <a:lnTo>
                    <a:pt x="59200" y="102831"/>
                  </a:lnTo>
                  <a:lnTo>
                    <a:pt x="123765" y="276637"/>
                  </a:lnTo>
                  <a:lnTo>
                    <a:pt x="151440" y="363541"/>
                  </a:lnTo>
                  <a:lnTo>
                    <a:pt x="174508" y="445383"/>
                  </a:lnTo>
                  <a:lnTo>
                    <a:pt x="188330" y="527940"/>
                  </a:lnTo>
                  <a:lnTo>
                    <a:pt x="206790" y="604691"/>
                  </a:lnTo>
                  <a:lnTo>
                    <a:pt x="225219" y="753162"/>
                  </a:lnTo>
                  <a:lnTo>
                    <a:pt x="229858" y="824138"/>
                  </a:lnTo>
                  <a:lnTo>
                    <a:pt x="229858" y="962456"/>
                  </a:lnTo>
                  <a:lnTo>
                    <a:pt x="225219" y="1090653"/>
                  </a:lnTo>
                  <a:lnTo>
                    <a:pt x="206790" y="1203607"/>
                  </a:lnTo>
                  <a:lnTo>
                    <a:pt x="183722" y="1310784"/>
                  </a:lnTo>
                  <a:lnTo>
                    <a:pt x="160654" y="1407840"/>
                  </a:lnTo>
                  <a:lnTo>
                    <a:pt x="128372" y="1494743"/>
                  </a:lnTo>
                  <a:lnTo>
                    <a:pt x="100697" y="1572230"/>
                  </a:lnTo>
                  <a:lnTo>
                    <a:pt x="41496" y="1699691"/>
                  </a:lnTo>
                  <a:lnTo>
                    <a:pt x="0" y="1781524"/>
                  </a:lnTo>
                  <a:lnTo>
                    <a:pt x="18429" y="1791662"/>
                  </a:lnTo>
                  <a:lnTo>
                    <a:pt x="59200" y="1709828"/>
                  </a:lnTo>
                  <a:lnTo>
                    <a:pt x="114519" y="1582370"/>
                  </a:lnTo>
                  <a:lnTo>
                    <a:pt x="146833" y="1505610"/>
                  </a:lnTo>
                  <a:lnTo>
                    <a:pt x="179115" y="1417992"/>
                  </a:lnTo>
                  <a:lnTo>
                    <a:pt x="202183" y="1315875"/>
                  </a:lnTo>
                  <a:lnTo>
                    <a:pt x="225219" y="1208698"/>
                  </a:lnTo>
                  <a:lnTo>
                    <a:pt x="243680" y="1090653"/>
                  </a:lnTo>
                  <a:lnTo>
                    <a:pt x="248287" y="962456"/>
                  </a:lnTo>
                  <a:lnTo>
                    <a:pt x="248287" y="824138"/>
                  </a:lnTo>
                  <a:lnTo>
                    <a:pt x="243680" y="753162"/>
                  </a:lnTo>
                  <a:lnTo>
                    <a:pt x="225219" y="598915"/>
                  </a:lnTo>
                  <a:lnTo>
                    <a:pt x="211397" y="522134"/>
                  </a:lnTo>
                  <a:lnTo>
                    <a:pt x="192937" y="440322"/>
                  </a:lnTo>
                  <a:lnTo>
                    <a:pt x="169869" y="358480"/>
                  </a:lnTo>
                  <a:lnTo>
                    <a:pt x="142194" y="271576"/>
                  </a:lnTo>
                  <a:lnTo>
                    <a:pt x="109911" y="184673"/>
                  </a:lnTo>
                  <a:lnTo>
                    <a:pt x="73022" y="92708"/>
                  </a:lnTo>
                  <a:lnTo>
                    <a:pt x="36889" y="0"/>
                  </a:lnTo>
                  <a:close/>
                </a:path>
              </a:pathLst>
            </a:custGeom>
            <a:solidFill>
              <a:srgbClr val="1F1A17"/>
            </a:solidFill>
          </p:spPr>
          <p:txBody>
            <a:bodyPr wrap="square" lIns="0" tIns="0" rIns="0" bIns="0" rtlCol="0"/>
            <a:lstStyle/>
            <a:p>
              <a:endParaRPr/>
            </a:p>
          </p:txBody>
        </p:sp>
        <p:pic>
          <p:nvPicPr>
            <p:cNvPr id="21" name="object 21"/>
            <p:cNvPicPr/>
            <p:nvPr/>
          </p:nvPicPr>
          <p:blipFill>
            <a:blip r:embed="rId4" cstate="print"/>
            <a:stretch>
              <a:fillRect/>
            </a:stretch>
          </p:blipFill>
          <p:spPr>
            <a:xfrm>
              <a:off x="2145079" y="2326899"/>
              <a:ext cx="100728" cy="118042"/>
            </a:xfrm>
            <a:prstGeom prst="rect">
              <a:avLst/>
            </a:prstGeom>
          </p:spPr>
        </p:pic>
        <p:sp>
          <p:nvSpPr>
            <p:cNvPr id="22" name="object 22"/>
            <p:cNvSpPr/>
            <p:nvPr/>
          </p:nvSpPr>
          <p:spPr>
            <a:xfrm>
              <a:off x="310136" y="653287"/>
              <a:ext cx="1812289" cy="1760855"/>
            </a:xfrm>
            <a:custGeom>
              <a:avLst/>
              <a:gdLst/>
              <a:ahLst/>
              <a:cxnLst/>
              <a:rect l="l" t="t" r="r" b="b"/>
              <a:pathLst>
                <a:path w="1812289" h="1760855">
                  <a:moveTo>
                    <a:pt x="13837" y="0"/>
                  </a:moveTo>
                  <a:lnTo>
                    <a:pt x="0" y="15213"/>
                  </a:lnTo>
                  <a:lnTo>
                    <a:pt x="598080" y="593824"/>
                  </a:lnTo>
                  <a:lnTo>
                    <a:pt x="1043944" y="1029086"/>
                  </a:lnTo>
                  <a:lnTo>
                    <a:pt x="1366043" y="1336120"/>
                  </a:lnTo>
                  <a:lnTo>
                    <a:pt x="1577441" y="1546150"/>
                  </a:lnTo>
                  <a:lnTo>
                    <a:pt x="1774985" y="1735167"/>
                  </a:lnTo>
                  <a:lnTo>
                    <a:pt x="1802660" y="1760515"/>
                  </a:lnTo>
                  <a:lnTo>
                    <a:pt x="1811906" y="1755445"/>
                  </a:lnTo>
                  <a:lnTo>
                    <a:pt x="1811906" y="1745305"/>
                  </a:lnTo>
                  <a:lnTo>
                    <a:pt x="1788839" y="1719960"/>
                  </a:lnTo>
                  <a:lnTo>
                    <a:pt x="1724242" y="1653334"/>
                  </a:lnTo>
                  <a:lnTo>
                    <a:pt x="1591262" y="1530219"/>
                  </a:lnTo>
                  <a:lnTo>
                    <a:pt x="1375257" y="1320193"/>
                  </a:lnTo>
                  <a:lnTo>
                    <a:pt x="1057766" y="1008067"/>
                  </a:lnTo>
                  <a:lnTo>
                    <a:pt x="607295" y="578611"/>
                  </a:lnTo>
                  <a:lnTo>
                    <a:pt x="13837" y="0"/>
                  </a:lnTo>
                  <a:close/>
                </a:path>
              </a:pathLst>
            </a:custGeom>
            <a:solidFill>
              <a:srgbClr val="1F1A17"/>
            </a:solidFill>
          </p:spPr>
          <p:txBody>
            <a:bodyPr wrap="square" lIns="0" tIns="0" rIns="0" bIns="0" rtlCol="0"/>
            <a:lstStyle/>
            <a:p>
              <a:endParaRPr/>
            </a:p>
          </p:txBody>
        </p:sp>
        <p:pic>
          <p:nvPicPr>
            <p:cNvPr id="23" name="object 23"/>
            <p:cNvPicPr/>
            <p:nvPr/>
          </p:nvPicPr>
          <p:blipFill>
            <a:blip r:embed="rId5" cstate="print"/>
            <a:stretch>
              <a:fillRect/>
            </a:stretch>
          </p:blipFill>
          <p:spPr>
            <a:xfrm>
              <a:off x="2043624" y="2321829"/>
              <a:ext cx="101454" cy="112974"/>
            </a:xfrm>
            <a:prstGeom prst="rect">
              <a:avLst/>
            </a:prstGeom>
          </p:spPr>
        </p:pic>
      </p:grpSp>
      <p:sp>
        <p:nvSpPr>
          <p:cNvPr id="24" name="object 24"/>
          <p:cNvSpPr txBox="1"/>
          <p:nvPr/>
        </p:nvSpPr>
        <p:spPr>
          <a:xfrm>
            <a:off x="379696" y="196759"/>
            <a:ext cx="149225" cy="356235"/>
          </a:xfrm>
          <a:prstGeom prst="rect">
            <a:avLst/>
          </a:prstGeom>
        </p:spPr>
        <p:txBody>
          <a:bodyPr vert="horz" wrap="square" lIns="0" tIns="15240" rIns="0" bIns="0" rtlCol="0">
            <a:spAutoFit/>
          </a:bodyPr>
          <a:lstStyle/>
          <a:p>
            <a:pPr marL="12700">
              <a:lnSpc>
                <a:spcPct val="100000"/>
              </a:lnSpc>
              <a:spcBef>
                <a:spcPts val="120"/>
              </a:spcBef>
            </a:pPr>
            <a:r>
              <a:rPr sz="2150" spc="-50" dirty="0">
                <a:latin typeface="Times New Roman"/>
                <a:cs typeface="Times New Roman"/>
              </a:rPr>
              <a:t>1</a:t>
            </a:r>
            <a:endParaRPr sz="2150">
              <a:latin typeface="Times New Roman"/>
              <a:cs typeface="Times New Roman"/>
            </a:endParaRPr>
          </a:p>
        </p:txBody>
      </p:sp>
      <p:sp>
        <p:nvSpPr>
          <p:cNvPr id="25" name="object 25"/>
          <p:cNvSpPr txBox="1"/>
          <p:nvPr/>
        </p:nvSpPr>
        <p:spPr>
          <a:xfrm>
            <a:off x="2213884" y="371198"/>
            <a:ext cx="149225" cy="356235"/>
          </a:xfrm>
          <a:prstGeom prst="rect">
            <a:avLst/>
          </a:prstGeom>
        </p:spPr>
        <p:txBody>
          <a:bodyPr vert="horz" wrap="square" lIns="0" tIns="15240" rIns="0" bIns="0" rtlCol="0">
            <a:spAutoFit/>
          </a:bodyPr>
          <a:lstStyle/>
          <a:p>
            <a:pPr marL="12700">
              <a:lnSpc>
                <a:spcPct val="100000"/>
              </a:lnSpc>
              <a:spcBef>
                <a:spcPts val="120"/>
              </a:spcBef>
            </a:pPr>
            <a:r>
              <a:rPr sz="2150" spc="-50" dirty="0">
                <a:latin typeface="Times New Roman"/>
                <a:cs typeface="Times New Roman"/>
              </a:rPr>
              <a:t>2</a:t>
            </a:r>
            <a:endParaRPr sz="2150">
              <a:latin typeface="Times New Roman"/>
              <a:cs typeface="Times New Roman"/>
            </a:endParaRPr>
          </a:p>
        </p:txBody>
      </p:sp>
      <p:sp>
        <p:nvSpPr>
          <p:cNvPr id="26" name="object 26"/>
          <p:cNvSpPr txBox="1"/>
          <p:nvPr/>
        </p:nvSpPr>
        <p:spPr>
          <a:xfrm>
            <a:off x="2028090" y="2487780"/>
            <a:ext cx="149225" cy="356235"/>
          </a:xfrm>
          <a:prstGeom prst="rect">
            <a:avLst/>
          </a:prstGeom>
        </p:spPr>
        <p:txBody>
          <a:bodyPr vert="horz" wrap="square" lIns="0" tIns="15240" rIns="0" bIns="0" rtlCol="0">
            <a:spAutoFit/>
          </a:bodyPr>
          <a:lstStyle/>
          <a:p>
            <a:pPr marL="12700">
              <a:lnSpc>
                <a:spcPct val="100000"/>
              </a:lnSpc>
              <a:spcBef>
                <a:spcPts val="120"/>
              </a:spcBef>
            </a:pPr>
            <a:r>
              <a:rPr sz="2150" spc="-50" dirty="0">
                <a:latin typeface="Times New Roman"/>
                <a:cs typeface="Times New Roman"/>
              </a:rPr>
              <a:t>3</a:t>
            </a:r>
            <a:endParaRPr sz="2150">
              <a:latin typeface="Times New Roman"/>
              <a:cs typeface="Times New Roman"/>
            </a:endParaRPr>
          </a:p>
        </p:txBody>
      </p:sp>
      <p:sp>
        <p:nvSpPr>
          <p:cNvPr id="27" name="object 27"/>
          <p:cNvSpPr txBox="1"/>
          <p:nvPr/>
        </p:nvSpPr>
        <p:spPr>
          <a:xfrm>
            <a:off x="100633" y="2280526"/>
            <a:ext cx="149225" cy="356235"/>
          </a:xfrm>
          <a:prstGeom prst="rect">
            <a:avLst/>
          </a:prstGeom>
        </p:spPr>
        <p:txBody>
          <a:bodyPr vert="horz" wrap="square" lIns="0" tIns="15240" rIns="0" bIns="0" rtlCol="0">
            <a:spAutoFit/>
          </a:bodyPr>
          <a:lstStyle/>
          <a:p>
            <a:pPr marL="12700">
              <a:lnSpc>
                <a:spcPct val="100000"/>
              </a:lnSpc>
              <a:spcBef>
                <a:spcPts val="120"/>
              </a:spcBef>
            </a:pPr>
            <a:r>
              <a:rPr sz="2150" spc="-50" dirty="0">
                <a:latin typeface="Times New Roman"/>
                <a:cs typeface="Times New Roman"/>
              </a:rPr>
              <a:t>4</a:t>
            </a:r>
            <a:endParaRPr sz="2150">
              <a:latin typeface="Times New Roman"/>
              <a:cs typeface="Times New Roman"/>
            </a:endParaRPr>
          </a:p>
        </p:txBody>
      </p:sp>
      <p:grpSp>
        <p:nvGrpSpPr>
          <p:cNvPr id="28" name="object 28"/>
          <p:cNvGrpSpPr/>
          <p:nvPr/>
        </p:nvGrpSpPr>
        <p:grpSpPr>
          <a:xfrm>
            <a:off x="4057397" y="340961"/>
            <a:ext cx="2225675" cy="2193290"/>
            <a:chOff x="4057397" y="340961"/>
            <a:chExt cx="2225675" cy="2193290"/>
          </a:xfrm>
        </p:grpSpPr>
        <p:sp>
          <p:nvSpPr>
            <p:cNvPr id="29" name="object 29"/>
            <p:cNvSpPr/>
            <p:nvPr/>
          </p:nvSpPr>
          <p:spPr>
            <a:xfrm>
              <a:off x="4277901" y="568020"/>
              <a:ext cx="26670" cy="29209"/>
            </a:xfrm>
            <a:custGeom>
              <a:avLst/>
              <a:gdLst/>
              <a:ahLst/>
              <a:cxnLst/>
              <a:rect l="l" t="t" r="r" b="b"/>
              <a:pathLst>
                <a:path w="26670" h="29209">
                  <a:moveTo>
                    <a:pt x="13546" y="0"/>
                  </a:moveTo>
                  <a:lnTo>
                    <a:pt x="4516" y="4467"/>
                  </a:lnTo>
                  <a:lnTo>
                    <a:pt x="0" y="14137"/>
                  </a:lnTo>
                  <a:lnTo>
                    <a:pt x="4516" y="23807"/>
                  </a:lnTo>
                  <a:lnTo>
                    <a:pt x="13546" y="29009"/>
                  </a:lnTo>
                  <a:lnTo>
                    <a:pt x="21826" y="23807"/>
                  </a:lnTo>
                  <a:lnTo>
                    <a:pt x="26340" y="14137"/>
                  </a:lnTo>
                  <a:lnTo>
                    <a:pt x="21826" y="4467"/>
                  </a:lnTo>
                  <a:lnTo>
                    <a:pt x="13546" y="0"/>
                  </a:lnTo>
                  <a:close/>
                </a:path>
              </a:pathLst>
            </a:custGeom>
            <a:solidFill>
              <a:srgbClr val="1F1A17"/>
            </a:solidFill>
          </p:spPr>
          <p:txBody>
            <a:bodyPr wrap="square" lIns="0" tIns="0" rIns="0" bIns="0" rtlCol="0"/>
            <a:lstStyle/>
            <a:p>
              <a:endParaRPr/>
            </a:p>
          </p:txBody>
        </p:sp>
        <p:sp>
          <p:nvSpPr>
            <p:cNvPr id="30" name="object 30"/>
            <p:cNvSpPr/>
            <p:nvPr/>
          </p:nvSpPr>
          <p:spPr>
            <a:xfrm>
              <a:off x="4288439" y="578424"/>
              <a:ext cx="26670" cy="29209"/>
            </a:xfrm>
            <a:custGeom>
              <a:avLst/>
              <a:gdLst/>
              <a:ahLst/>
              <a:cxnLst/>
              <a:rect l="l" t="t" r="r" b="b"/>
              <a:pathLst>
                <a:path w="26670" h="29209">
                  <a:moveTo>
                    <a:pt x="13546" y="0"/>
                  </a:moveTo>
                  <a:lnTo>
                    <a:pt x="21823" y="4467"/>
                  </a:lnTo>
                  <a:lnTo>
                    <a:pt x="26340" y="14137"/>
                  </a:lnTo>
                  <a:lnTo>
                    <a:pt x="21823" y="23838"/>
                  </a:lnTo>
                  <a:lnTo>
                    <a:pt x="13546" y="29040"/>
                  </a:lnTo>
                  <a:lnTo>
                    <a:pt x="4513" y="23838"/>
                  </a:lnTo>
                  <a:lnTo>
                    <a:pt x="0" y="14137"/>
                  </a:lnTo>
                  <a:lnTo>
                    <a:pt x="4513" y="4467"/>
                  </a:lnTo>
                  <a:lnTo>
                    <a:pt x="13546" y="0"/>
                  </a:lnTo>
                </a:path>
              </a:pathLst>
            </a:custGeom>
            <a:ln w="4496">
              <a:solidFill>
                <a:srgbClr val="1F1A17"/>
              </a:solidFill>
            </a:ln>
          </p:spPr>
          <p:txBody>
            <a:bodyPr wrap="square" lIns="0" tIns="0" rIns="0" bIns="0" rtlCol="0"/>
            <a:lstStyle/>
            <a:p>
              <a:endParaRPr/>
            </a:p>
          </p:txBody>
        </p:sp>
        <p:sp>
          <p:nvSpPr>
            <p:cNvPr id="31" name="object 31"/>
            <p:cNvSpPr/>
            <p:nvPr/>
          </p:nvSpPr>
          <p:spPr>
            <a:xfrm>
              <a:off x="4277902" y="2259214"/>
              <a:ext cx="26670" cy="34290"/>
            </a:xfrm>
            <a:custGeom>
              <a:avLst/>
              <a:gdLst/>
              <a:ahLst/>
              <a:cxnLst/>
              <a:rect l="l" t="t" r="r" b="b"/>
              <a:pathLst>
                <a:path w="26670" h="34289">
                  <a:moveTo>
                    <a:pt x="13546" y="0"/>
                  </a:moveTo>
                  <a:lnTo>
                    <a:pt x="0" y="5211"/>
                  </a:lnTo>
                  <a:lnTo>
                    <a:pt x="0" y="29031"/>
                  </a:lnTo>
                  <a:lnTo>
                    <a:pt x="13546" y="34239"/>
                  </a:lnTo>
                  <a:lnTo>
                    <a:pt x="21826" y="29031"/>
                  </a:lnTo>
                  <a:lnTo>
                    <a:pt x="26340" y="19352"/>
                  </a:lnTo>
                  <a:lnTo>
                    <a:pt x="21826" y="5211"/>
                  </a:lnTo>
                  <a:lnTo>
                    <a:pt x="13546" y="0"/>
                  </a:lnTo>
                  <a:close/>
                </a:path>
              </a:pathLst>
            </a:custGeom>
            <a:solidFill>
              <a:srgbClr val="1F1A17"/>
            </a:solidFill>
          </p:spPr>
          <p:txBody>
            <a:bodyPr wrap="square" lIns="0" tIns="0" rIns="0" bIns="0" rtlCol="0"/>
            <a:lstStyle/>
            <a:p>
              <a:endParaRPr/>
            </a:p>
          </p:txBody>
        </p:sp>
        <p:sp>
          <p:nvSpPr>
            <p:cNvPr id="32" name="object 32"/>
            <p:cNvSpPr/>
            <p:nvPr/>
          </p:nvSpPr>
          <p:spPr>
            <a:xfrm>
              <a:off x="4288440" y="2269634"/>
              <a:ext cx="26670" cy="34290"/>
            </a:xfrm>
            <a:custGeom>
              <a:avLst/>
              <a:gdLst/>
              <a:ahLst/>
              <a:cxnLst/>
              <a:rect l="l" t="t" r="r" b="b"/>
              <a:pathLst>
                <a:path w="26670" h="34289">
                  <a:moveTo>
                    <a:pt x="13546" y="0"/>
                  </a:moveTo>
                  <a:lnTo>
                    <a:pt x="21823" y="5211"/>
                  </a:lnTo>
                  <a:lnTo>
                    <a:pt x="26340" y="19355"/>
                  </a:lnTo>
                  <a:lnTo>
                    <a:pt x="21823" y="29031"/>
                  </a:lnTo>
                  <a:lnTo>
                    <a:pt x="13546" y="34242"/>
                  </a:lnTo>
                  <a:lnTo>
                    <a:pt x="0" y="29031"/>
                  </a:lnTo>
                  <a:lnTo>
                    <a:pt x="0" y="19355"/>
                  </a:lnTo>
                  <a:lnTo>
                    <a:pt x="0" y="5211"/>
                  </a:lnTo>
                  <a:lnTo>
                    <a:pt x="13546" y="0"/>
                  </a:lnTo>
                </a:path>
              </a:pathLst>
            </a:custGeom>
            <a:ln w="4499">
              <a:solidFill>
                <a:srgbClr val="1F1A17"/>
              </a:solidFill>
            </a:ln>
          </p:spPr>
          <p:txBody>
            <a:bodyPr wrap="square" lIns="0" tIns="0" rIns="0" bIns="0" rtlCol="0"/>
            <a:lstStyle/>
            <a:p>
              <a:endParaRPr/>
            </a:p>
          </p:txBody>
        </p:sp>
        <p:sp>
          <p:nvSpPr>
            <p:cNvPr id="33" name="object 33"/>
            <p:cNvSpPr/>
            <p:nvPr/>
          </p:nvSpPr>
          <p:spPr>
            <a:xfrm>
              <a:off x="6057758" y="562787"/>
              <a:ext cx="26034" cy="34290"/>
            </a:xfrm>
            <a:custGeom>
              <a:avLst/>
              <a:gdLst/>
              <a:ahLst/>
              <a:cxnLst/>
              <a:rect l="l" t="t" r="r" b="b"/>
              <a:pathLst>
                <a:path w="26035" h="34290">
                  <a:moveTo>
                    <a:pt x="12790" y="0"/>
                  </a:moveTo>
                  <a:lnTo>
                    <a:pt x="3769" y="5232"/>
                  </a:lnTo>
                  <a:lnTo>
                    <a:pt x="0" y="19370"/>
                  </a:lnTo>
                  <a:lnTo>
                    <a:pt x="3769" y="29040"/>
                  </a:lnTo>
                  <a:lnTo>
                    <a:pt x="12790" y="34242"/>
                  </a:lnTo>
                  <a:lnTo>
                    <a:pt x="21069" y="29040"/>
                  </a:lnTo>
                  <a:lnTo>
                    <a:pt x="25580" y="19370"/>
                  </a:lnTo>
                  <a:lnTo>
                    <a:pt x="21069" y="5232"/>
                  </a:lnTo>
                  <a:lnTo>
                    <a:pt x="12790" y="0"/>
                  </a:lnTo>
                  <a:close/>
                </a:path>
              </a:pathLst>
            </a:custGeom>
            <a:solidFill>
              <a:srgbClr val="1F1A17"/>
            </a:solidFill>
          </p:spPr>
          <p:txBody>
            <a:bodyPr wrap="square" lIns="0" tIns="0" rIns="0" bIns="0" rtlCol="0"/>
            <a:lstStyle/>
            <a:p>
              <a:endParaRPr/>
            </a:p>
          </p:txBody>
        </p:sp>
        <p:sp>
          <p:nvSpPr>
            <p:cNvPr id="34" name="object 34"/>
            <p:cNvSpPr/>
            <p:nvPr/>
          </p:nvSpPr>
          <p:spPr>
            <a:xfrm>
              <a:off x="6068293" y="573222"/>
              <a:ext cx="26034" cy="34290"/>
            </a:xfrm>
            <a:custGeom>
              <a:avLst/>
              <a:gdLst/>
              <a:ahLst/>
              <a:cxnLst/>
              <a:rect l="l" t="t" r="r" b="b"/>
              <a:pathLst>
                <a:path w="26035" h="34290">
                  <a:moveTo>
                    <a:pt x="12790" y="0"/>
                  </a:moveTo>
                  <a:lnTo>
                    <a:pt x="21069" y="5202"/>
                  </a:lnTo>
                  <a:lnTo>
                    <a:pt x="25580" y="19339"/>
                  </a:lnTo>
                  <a:lnTo>
                    <a:pt x="21069" y="29040"/>
                  </a:lnTo>
                  <a:lnTo>
                    <a:pt x="12790" y="34242"/>
                  </a:lnTo>
                  <a:lnTo>
                    <a:pt x="3769" y="29040"/>
                  </a:lnTo>
                  <a:lnTo>
                    <a:pt x="0" y="19339"/>
                  </a:lnTo>
                  <a:lnTo>
                    <a:pt x="3769" y="5202"/>
                  </a:lnTo>
                  <a:lnTo>
                    <a:pt x="12790" y="0"/>
                  </a:lnTo>
                </a:path>
              </a:pathLst>
            </a:custGeom>
            <a:ln w="4500">
              <a:solidFill>
                <a:srgbClr val="1F1A17"/>
              </a:solidFill>
            </a:ln>
          </p:spPr>
          <p:txBody>
            <a:bodyPr wrap="square" lIns="0" tIns="0" rIns="0" bIns="0" rtlCol="0"/>
            <a:lstStyle/>
            <a:p>
              <a:endParaRPr/>
            </a:p>
          </p:txBody>
        </p:sp>
        <p:sp>
          <p:nvSpPr>
            <p:cNvPr id="35" name="object 35"/>
            <p:cNvSpPr/>
            <p:nvPr/>
          </p:nvSpPr>
          <p:spPr>
            <a:xfrm>
              <a:off x="6031406" y="2268891"/>
              <a:ext cx="26670" cy="34290"/>
            </a:xfrm>
            <a:custGeom>
              <a:avLst/>
              <a:gdLst/>
              <a:ahLst/>
              <a:cxnLst/>
              <a:rect l="l" t="t" r="r" b="b"/>
              <a:pathLst>
                <a:path w="26670" h="34289">
                  <a:moveTo>
                    <a:pt x="12790" y="0"/>
                  </a:moveTo>
                  <a:lnTo>
                    <a:pt x="4510" y="5211"/>
                  </a:lnTo>
                  <a:lnTo>
                    <a:pt x="0" y="19355"/>
                  </a:lnTo>
                  <a:lnTo>
                    <a:pt x="4510" y="29031"/>
                  </a:lnTo>
                  <a:lnTo>
                    <a:pt x="12790" y="34242"/>
                  </a:lnTo>
                  <a:lnTo>
                    <a:pt x="21841" y="29031"/>
                  </a:lnTo>
                  <a:lnTo>
                    <a:pt x="26352" y="19355"/>
                  </a:lnTo>
                  <a:lnTo>
                    <a:pt x="21841" y="5211"/>
                  </a:lnTo>
                  <a:lnTo>
                    <a:pt x="12790" y="0"/>
                  </a:lnTo>
                  <a:close/>
                </a:path>
              </a:pathLst>
            </a:custGeom>
            <a:solidFill>
              <a:srgbClr val="1F1A17"/>
            </a:solidFill>
          </p:spPr>
          <p:txBody>
            <a:bodyPr wrap="square" lIns="0" tIns="0" rIns="0" bIns="0" rtlCol="0"/>
            <a:lstStyle/>
            <a:p>
              <a:endParaRPr/>
            </a:p>
          </p:txBody>
        </p:sp>
        <p:sp>
          <p:nvSpPr>
            <p:cNvPr id="36" name="object 36"/>
            <p:cNvSpPr/>
            <p:nvPr/>
          </p:nvSpPr>
          <p:spPr>
            <a:xfrm>
              <a:off x="6041941" y="2279313"/>
              <a:ext cx="26670" cy="34290"/>
            </a:xfrm>
            <a:custGeom>
              <a:avLst/>
              <a:gdLst/>
              <a:ahLst/>
              <a:cxnLst/>
              <a:rect l="l" t="t" r="r" b="b"/>
              <a:pathLst>
                <a:path w="26670" h="34289">
                  <a:moveTo>
                    <a:pt x="12790" y="0"/>
                  </a:moveTo>
                  <a:lnTo>
                    <a:pt x="21841" y="5208"/>
                  </a:lnTo>
                  <a:lnTo>
                    <a:pt x="26352" y="19352"/>
                  </a:lnTo>
                  <a:lnTo>
                    <a:pt x="21841" y="29031"/>
                  </a:lnTo>
                  <a:lnTo>
                    <a:pt x="12790" y="34239"/>
                  </a:lnTo>
                  <a:lnTo>
                    <a:pt x="4510" y="29031"/>
                  </a:lnTo>
                  <a:lnTo>
                    <a:pt x="0" y="19351"/>
                  </a:lnTo>
                  <a:lnTo>
                    <a:pt x="4510" y="5208"/>
                  </a:lnTo>
                  <a:lnTo>
                    <a:pt x="12790" y="0"/>
                  </a:lnTo>
                </a:path>
              </a:pathLst>
            </a:custGeom>
            <a:ln w="4499">
              <a:solidFill>
                <a:srgbClr val="1F1A17"/>
              </a:solidFill>
            </a:ln>
          </p:spPr>
          <p:txBody>
            <a:bodyPr wrap="square" lIns="0" tIns="0" rIns="0" bIns="0" rtlCol="0"/>
            <a:lstStyle/>
            <a:p>
              <a:endParaRPr/>
            </a:p>
          </p:txBody>
        </p:sp>
        <p:sp>
          <p:nvSpPr>
            <p:cNvPr id="37" name="object 37"/>
            <p:cNvSpPr/>
            <p:nvPr/>
          </p:nvSpPr>
          <p:spPr>
            <a:xfrm>
              <a:off x="4308758" y="340961"/>
              <a:ext cx="1740535" cy="241300"/>
            </a:xfrm>
            <a:custGeom>
              <a:avLst/>
              <a:gdLst/>
              <a:ahLst/>
              <a:cxnLst/>
              <a:rect l="l" t="t" r="r" b="b"/>
              <a:pathLst>
                <a:path w="1740535" h="241300">
                  <a:moveTo>
                    <a:pt x="852679" y="0"/>
                  </a:moveTo>
                  <a:lnTo>
                    <a:pt x="714183" y="0"/>
                  </a:lnTo>
                  <a:lnTo>
                    <a:pt x="644950" y="5232"/>
                  </a:lnTo>
                  <a:lnTo>
                    <a:pt x="501973" y="24572"/>
                  </a:lnTo>
                  <a:lnTo>
                    <a:pt x="432741" y="43942"/>
                  </a:lnTo>
                  <a:lnTo>
                    <a:pt x="358966" y="63282"/>
                  </a:lnTo>
                  <a:lnTo>
                    <a:pt x="285223" y="81887"/>
                  </a:lnTo>
                  <a:lnTo>
                    <a:pt x="215990" y="110928"/>
                  </a:lnTo>
                  <a:lnTo>
                    <a:pt x="142988" y="145170"/>
                  </a:lnTo>
                  <a:lnTo>
                    <a:pt x="69245" y="178647"/>
                  </a:lnTo>
                  <a:lnTo>
                    <a:pt x="0" y="221825"/>
                  </a:lnTo>
                  <a:lnTo>
                    <a:pt x="8279" y="241196"/>
                  </a:lnTo>
                  <a:lnTo>
                    <a:pt x="77524" y="198018"/>
                  </a:lnTo>
                  <a:lnTo>
                    <a:pt x="151268" y="164510"/>
                  </a:lnTo>
                  <a:lnTo>
                    <a:pt x="220500" y="130267"/>
                  </a:lnTo>
                  <a:lnTo>
                    <a:pt x="294244" y="101258"/>
                  </a:lnTo>
                  <a:lnTo>
                    <a:pt x="363508" y="81887"/>
                  </a:lnTo>
                  <a:lnTo>
                    <a:pt x="437251" y="63282"/>
                  </a:lnTo>
                  <a:lnTo>
                    <a:pt x="506484" y="43942"/>
                  </a:lnTo>
                  <a:lnTo>
                    <a:pt x="644950" y="24572"/>
                  </a:lnTo>
                  <a:lnTo>
                    <a:pt x="714183" y="19370"/>
                  </a:lnTo>
                  <a:lnTo>
                    <a:pt x="852679" y="19370"/>
                  </a:lnTo>
                  <a:lnTo>
                    <a:pt x="982124" y="24572"/>
                  </a:lnTo>
                  <a:lnTo>
                    <a:pt x="1104031" y="38710"/>
                  </a:lnTo>
                  <a:lnTo>
                    <a:pt x="1220685" y="63282"/>
                  </a:lnTo>
                  <a:lnTo>
                    <a:pt x="1329061" y="87090"/>
                  </a:lnTo>
                  <a:lnTo>
                    <a:pt x="1428384" y="116130"/>
                  </a:lnTo>
                  <a:lnTo>
                    <a:pt x="1653414" y="202486"/>
                  </a:lnTo>
                  <a:lnTo>
                    <a:pt x="1735437" y="241196"/>
                  </a:lnTo>
                  <a:lnTo>
                    <a:pt x="1739948" y="221826"/>
                  </a:lnTo>
                  <a:lnTo>
                    <a:pt x="1662435" y="183115"/>
                  </a:lnTo>
                  <a:lnTo>
                    <a:pt x="1519459" y="130268"/>
                  </a:lnTo>
                  <a:lnTo>
                    <a:pt x="1432926" y="96790"/>
                  </a:lnTo>
                  <a:lnTo>
                    <a:pt x="1332830" y="67750"/>
                  </a:lnTo>
                  <a:lnTo>
                    <a:pt x="1225196" y="43942"/>
                  </a:lnTo>
                  <a:lnTo>
                    <a:pt x="1107800" y="19370"/>
                  </a:lnTo>
                  <a:lnTo>
                    <a:pt x="982124" y="5232"/>
                  </a:lnTo>
                  <a:lnTo>
                    <a:pt x="852679" y="0"/>
                  </a:lnTo>
                  <a:close/>
                </a:path>
              </a:pathLst>
            </a:custGeom>
            <a:solidFill>
              <a:srgbClr val="1F1A17"/>
            </a:solidFill>
          </p:spPr>
          <p:txBody>
            <a:bodyPr wrap="square" lIns="0" tIns="0" rIns="0" bIns="0" rtlCol="0"/>
            <a:lstStyle/>
            <a:p>
              <a:endParaRPr/>
            </a:p>
          </p:txBody>
        </p:sp>
        <p:pic>
          <p:nvPicPr>
            <p:cNvPr id="38" name="object 38"/>
            <p:cNvPicPr/>
            <p:nvPr/>
          </p:nvPicPr>
          <p:blipFill>
            <a:blip r:embed="rId6" cstate="print"/>
            <a:stretch>
              <a:fillRect/>
            </a:stretch>
          </p:blipFill>
          <p:spPr>
            <a:xfrm>
              <a:off x="5974963" y="490600"/>
              <a:ext cx="100095" cy="110897"/>
            </a:xfrm>
            <a:prstGeom prst="rect">
              <a:avLst/>
            </a:prstGeom>
          </p:spPr>
        </p:pic>
        <p:sp>
          <p:nvSpPr>
            <p:cNvPr id="39" name="object 39"/>
            <p:cNvSpPr/>
            <p:nvPr/>
          </p:nvSpPr>
          <p:spPr>
            <a:xfrm>
              <a:off x="4291449" y="2288245"/>
              <a:ext cx="1744980" cy="245745"/>
            </a:xfrm>
            <a:custGeom>
              <a:avLst/>
              <a:gdLst/>
              <a:ahLst/>
              <a:cxnLst/>
              <a:rect l="l" t="t" r="r" b="b"/>
              <a:pathLst>
                <a:path w="1744979" h="245744">
                  <a:moveTo>
                    <a:pt x="1735446" y="0"/>
                  </a:moveTo>
                  <a:lnTo>
                    <a:pt x="1653423" y="38707"/>
                  </a:lnTo>
                  <a:lnTo>
                    <a:pt x="1428393" y="125053"/>
                  </a:lnTo>
                  <a:lnTo>
                    <a:pt x="1329070" y="154084"/>
                  </a:lnTo>
                  <a:lnTo>
                    <a:pt x="1220695" y="178648"/>
                  </a:lnTo>
                  <a:lnTo>
                    <a:pt x="1104040" y="202467"/>
                  </a:lnTo>
                  <a:lnTo>
                    <a:pt x="982102" y="216611"/>
                  </a:lnTo>
                  <a:lnTo>
                    <a:pt x="852658" y="221819"/>
                  </a:lnTo>
                  <a:lnTo>
                    <a:pt x="718702" y="221819"/>
                  </a:lnTo>
                  <a:lnTo>
                    <a:pt x="649469" y="216611"/>
                  </a:lnTo>
                  <a:lnTo>
                    <a:pt x="506493" y="198000"/>
                  </a:lnTo>
                  <a:lnTo>
                    <a:pt x="437260" y="178648"/>
                  </a:lnTo>
                  <a:lnTo>
                    <a:pt x="363486" y="159292"/>
                  </a:lnTo>
                  <a:lnTo>
                    <a:pt x="294253" y="139940"/>
                  </a:lnTo>
                  <a:lnTo>
                    <a:pt x="220510" y="110909"/>
                  </a:lnTo>
                  <a:lnTo>
                    <a:pt x="151277" y="77414"/>
                  </a:lnTo>
                  <a:lnTo>
                    <a:pt x="77503" y="43171"/>
                  </a:lnTo>
                  <a:lnTo>
                    <a:pt x="8279" y="0"/>
                  </a:lnTo>
                  <a:lnTo>
                    <a:pt x="0" y="19351"/>
                  </a:lnTo>
                  <a:lnTo>
                    <a:pt x="72992" y="62526"/>
                  </a:lnTo>
                  <a:lnTo>
                    <a:pt x="142997" y="96766"/>
                  </a:lnTo>
                  <a:lnTo>
                    <a:pt x="215999" y="130264"/>
                  </a:lnTo>
                  <a:lnTo>
                    <a:pt x="289743" y="159292"/>
                  </a:lnTo>
                  <a:lnTo>
                    <a:pt x="358976" y="178648"/>
                  </a:lnTo>
                  <a:lnTo>
                    <a:pt x="432719" y="198000"/>
                  </a:lnTo>
                  <a:lnTo>
                    <a:pt x="506493" y="216611"/>
                  </a:lnTo>
                  <a:lnTo>
                    <a:pt x="644959" y="235964"/>
                  </a:lnTo>
                  <a:lnTo>
                    <a:pt x="714192" y="241174"/>
                  </a:lnTo>
                  <a:lnTo>
                    <a:pt x="783425" y="245641"/>
                  </a:lnTo>
                  <a:lnTo>
                    <a:pt x="852658" y="241174"/>
                  </a:lnTo>
                  <a:lnTo>
                    <a:pt x="982102" y="235964"/>
                  </a:lnTo>
                  <a:lnTo>
                    <a:pt x="1107809" y="221819"/>
                  </a:lnTo>
                  <a:lnTo>
                    <a:pt x="1225205" y="198000"/>
                  </a:lnTo>
                  <a:lnTo>
                    <a:pt x="1332808" y="173436"/>
                  </a:lnTo>
                  <a:lnTo>
                    <a:pt x="1432904" y="144405"/>
                  </a:lnTo>
                  <a:lnTo>
                    <a:pt x="1523979" y="110910"/>
                  </a:lnTo>
                  <a:lnTo>
                    <a:pt x="1662444" y="58059"/>
                  </a:lnTo>
                  <a:lnTo>
                    <a:pt x="1744467" y="19352"/>
                  </a:lnTo>
                  <a:lnTo>
                    <a:pt x="1735446" y="0"/>
                  </a:lnTo>
                  <a:close/>
                </a:path>
              </a:pathLst>
            </a:custGeom>
            <a:solidFill>
              <a:srgbClr val="1F1A17"/>
            </a:solidFill>
          </p:spPr>
          <p:txBody>
            <a:bodyPr wrap="square" lIns="0" tIns="0" rIns="0" bIns="0" rtlCol="0"/>
            <a:lstStyle/>
            <a:p>
              <a:endParaRPr/>
            </a:p>
          </p:txBody>
        </p:sp>
        <p:pic>
          <p:nvPicPr>
            <p:cNvPr id="40" name="object 40"/>
            <p:cNvPicPr/>
            <p:nvPr/>
          </p:nvPicPr>
          <p:blipFill>
            <a:blip r:embed="rId7" cstate="print"/>
            <a:stretch>
              <a:fillRect/>
            </a:stretch>
          </p:blipFill>
          <p:spPr>
            <a:xfrm>
              <a:off x="5957663" y="2268891"/>
              <a:ext cx="100095" cy="110912"/>
            </a:xfrm>
            <a:prstGeom prst="rect">
              <a:avLst/>
            </a:prstGeom>
          </p:spPr>
        </p:pic>
        <p:sp>
          <p:nvSpPr>
            <p:cNvPr id="41" name="object 41"/>
            <p:cNvSpPr/>
            <p:nvPr/>
          </p:nvSpPr>
          <p:spPr>
            <a:xfrm>
              <a:off x="6048706" y="587360"/>
              <a:ext cx="234315" cy="1687195"/>
            </a:xfrm>
            <a:custGeom>
              <a:avLst/>
              <a:gdLst/>
              <a:ahLst/>
              <a:cxnLst/>
              <a:rect l="l" t="t" r="r" b="b"/>
              <a:pathLst>
                <a:path w="234314" h="1687195">
                  <a:moveTo>
                    <a:pt x="34631" y="0"/>
                  </a:moveTo>
                  <a:lnTo>
                    <a:pt x="17331" y="9669"/>
                  </a:lnTo>
                  <a:lnTo>
                    <a:pt x="56473" y="96025"/>
                  </a:lnTo>
                  <a:lnTo>
                    <a:pt x="116654" y="259801"/>
                  </a:lnTo>
                  <a:lnTo>
                    <a:pt x="143006" y="341658"/>
                  </a:lnTo>
                  <a:lnTo>
                    <a:pt x="164817" y="419079"/>
                  </a:lnTo>
                  <a:lnTo>
                    <a:pt x="177607" y="495764"/>
                  </a:lnTo>
                  <a:lnTo>
                    <a:pt x="194939" y="568686"/>
                  </a:lnTo>
                  <a:lnTo>
                    <a:pt x="212239" y="707890"/>
                  </a:lnTo>
                  <a:lnTo>
                    <a:pt x="216750" y="775640"/>
                  </a:lnTo>
                  <a:lnTo>
                    <a:pt x="216750" y="905908"/>
                  </a:lnTo>
                  <a:lnTo>
                    <a:pt x="212239" y="1026476"/>
                  </a:lnTo>
                  <a:lnTo>
                    <a:pt x="194939" y="1132202"/>
                  </a:lnTo>
                  <a:lnTo>
                    <a:pt x="173097" y="1233429"/>
                  </a:lnTo>
                  <a:lnTo>
                    <a:pt x="152028" y="1324987"/>
                  </a:lnTo>
                  <a:lnTo>
                    <a:pt x="121165" y="1406845"/>
                  </a:lnTo>
                  <a:lnTo>
                    <a:pt x="95585" y="1484265"/>
                  </a:lnTo>
                  <a:lnTo>
                    <a:pt x="39142" y="1599661"/>
                  </a:lnTo>
                  <a:lnTo>
                    <a:pt x="0" y="1677066"/>
                  </a:lnTo>
                  <a:lnTo>
                    <a:pt x="17331" y="1686742"/>
                  </a:lnTo>
                  <a:lnTo>
                    <a:pt x="56473" y="1609331"/>
                  </a:lnTo>
                  <a:lnTo>
                    <a:pt x="108375" y="1488733"/>
                  </a:lnTo>
                  <a:lnTo>
                    <a:pt x="138496" y="1416545"/>
                  </a:lnTo>
                  <a:lnTo>
                    <a:pt x="169359" y="1334657"/>
                  </a:lnTo>
                  <a:lnTo>
                    <a:pt x="212239" y="1137404"/>
                  </a:lnTo>
                  <a:lnTo>
                    <a:pt x="229540" y="1026476"/>
                  </a:lnTo>
                  <a:lnTo>
                    <a:pt x="234081" y="905908"/>
                  </a:lnTo>
                  <a:lnTo>
                    <a:pt x="234081" y="775640"/>
                  </a:lnTo>
                  <a:lnTo>
                    <a:pt x="229540" y="707890"/>
                  </a:lnTo>
                  <a:lnTo>
                    <a:pt x="221260" y="635702"/>
                  </a:lnTo>
                  <a:lnTo>
                    <a:pt x="212239" y="563484"/>
                  </a:lnTo>
                  <a:lnTo>
                    <a:pt x="199449" y="491297"/>
                  </a:lnTo>
                  <a:lnTo>
                    <a:pt x="182149" y="413876"/>
                  </a:lnTo>
                  <a:lnTo>
                    <a:pt x="160307" y="337191"/>
                  </a:lnTo>
                  <a:lnTo>
                    <a:pt x="133985" y="255333"/>
                  </a:lnTo>
                  <a:lnTo>
                    <a:pt x="103864" y="173445"/>
                  </a:lnTo>
                  <a:lnTo>
                    <a:pt x="34631" y="0"/>
                  </a:lnTo>
                  <a:close/>
                </a:path>
              </a:pathLst>
            </a:custGeom>
            <a:solidFill>
              <a:srgbClr val="1F1A17"/>
            </a:solidFill>
          </p:spPr>
          <p:txBody>
            <a:bodyPr wrap="square" lIns="0" tIns="0" rIns="0" bIns="0" rtlCol="0"/>
            <a:lstStyle/>
            <a:p>
              <a:endParaRPr/>
            </a:p>
          </p:txBody>
        </p:sp>
        <p:pic>
          <p:nvPicPr>
            <p:cNvPr id="42" name="object 42"/>
            <p:cNvPicPr/>
            <p:nvPr/>
          </p:nvPicPr>
          <p:blipFill>
            <a:blip r:embed="rId8" cstate="print"/>
            <a:stretch>
              <a:fillRect/>
            </a:stretch>
          </p:blipFill>
          <p:spPr>
            <a:xfrm>
              <a:off x="6035917" y="2187021"/>
              <a:ext cx="94843" cy="110900"/>
            </a:xfrm>
            <a:prstGeom prst="rect">
              <a:avLst/>
            </a:prstGeom>
          </p:spPr>
        </p:pic>
        <p:sp>
          <p:nvSpPr>
            <p:cNvPr id="43" name="object 43"/>
            <p:cNvSpPr/>
            <p:nvPr/>
          </p:nvSpPr>
          <p:spPr>
            <a:xfrm>
              <a:off x="4057397" y="587359"/>
              <a:ext cx="238125" cy="1687195"/>
            </a:xfrm>
            <a:custGeom>
              <a:avLst/>
              <a:gdLst/>
              <a:ahLst/>
              <a:cxnLst/>
              <a:rect l="l" t="t" r="r" b="b"/>
              <a:pathLst>
                <a:path w="238125" h="1687195">
                  <a:moveTo>
                    <a:pt x="203197" y="0"/>
                  </a:moveTo>
                  <a:lnTo>
                    <a:pt x="133958" y="173445"/>
                  </a:lnTo>
                  <a:lnTo>
                    <a:pt x="103855" y="255333"/>
                  </a:lnTo>
                  <a:lnTo>
                    <a:pt x="78269" y="337191"/>
                  </a:lnTo>
                  <a:lnTo>
                    <a:pt x="56443" y="413876"/>
                  </a:lnTo>
                  <a:lnTo>
                    <a:pt x="39133" y="491297"/>
                  </a:lnTo>
                  <a:lnTo>
                    <a:pt x="26340" y="563484"/>
                  </a:lnTo>
                  <a:lnTo>
                    <a:pt x="17310" y="635702"/>
                  </a:lnTo>
                  <a:lnTo>
                    <a:pt x="9030" y="707890"/>
                  </a:lnTo>
                  <a:lnTo>
                    <a:pt x="0" y="843360"/>
                  </a:lnTo>
                  <a:lnTo>
                    <a:pt x="4515" y="905908"/>
                  </a:lnTo>
                  <a:lnTo>
                    <a:pt x="9030" y="1026476"/>
                  </a:lnTo>
                  <a:lnTo>
                    <a:pt x="26340" y="1137404"/>
                  </a:lnTo>
                  <a:lnTo>
                    <a:pt x="47413" y="1238631"/>
                  </a:lnTo>
                  <a:lnTo>
                    <a:pt x="69236" y="1334657"/>
                  </a:lnTo>
                  <a:lnTo>
                    <a:pt x="99339" y="1416545"/>
                  </a:lnTo>
                  <a:lnTo>
                    <a:pt x="182125" y="1609331"/>
                  </a:lnTo>
                  <a:lnTo>
                    <a:pt x="220504" y="1686742"/>
                  </a:lnTo>
                  <a:lnTo>
                    <a:pt x="237814" y="1677066"/>
                  </a:lnTo>
                  <a:lnTo>
                    <a:pt x="142989" y="1484265"/>
                  </a:lnTo>
                  <a:lnTo>
                    <a:pt x="116649" y="1406845"/>
                  </a:lnTo>
                  <a:lnTo>
                    <a:pt x="86546" y="1324987"/>
                  </a:lnTo>
                  <a:lnTo>
                    <a:pt x="64722" y="1233429"/>
                  </a:lnTo>
                  <a:lnTo>
                    <a:pt x="43650" y="1132202"/>
                  </a:lnTo>
                  <a:lnTo>
                    <a:pt x="26340" y="1026476"/>
                  </a:lnTo>
                  <a:lnTo>
                    <a:pt x="21823" y="905908"/>
                  </a:lnTo>
                  <a:lnTo>
                    <a:pt x="21823" y="775640"/>
                  </a:lnTo>
                  <a:lnTo>
                    <a:pt x="26340" y="707890"/>
                  </a:lnTo>
                  <a:lnTo>
                    <a:pt x="43650" y="568686"/>
                  </a:lnTo>
                  <a:lnTo>
                    <a:pt x="60959" y="495764"/>
                  </a:lnTo>
                  <a:lnTo>
                    <a:pt x="73752" y="419079"/>
                  </a:lnTo>
                  <a:lnTo>
                    <a:pt x="95576" y="341658"/>
                  </a:lnTo>
                  <a:lnTo>
                    <a:pt x="121165" y="259801"/>
                  </a:lnTo>
                  <a:lnTo>
                    <a:pt x="151268" y="177913"/>
                  </a:lnTo>
                  <a:lnTo>
                    <a:pt x="182124" y="96025"/>
                  </a:lnTo>
                  <a:lnTo>
                    <a:pt x="220504" y="9669"/>
                  </a:lnTo>
                  <a:lnTo>
                    <a:pt x="203197" y="0"/>
                  </a:lnTo>
                  <a:close/>
                </a:path>
              </a:pathLst>
            </a:custGeom>
            <a:solidFill>
              <a:srgbClr val="1F1A17"/>
            </a:solidFill>
          </p:spPr>
          <p:txBody>
            <a:bodyPr wrap="square" lIns="0" tIns="0" rIns="0" bIns="0" rtlCol="0"/>
            <a:lstStyle/>
            <a:p>
              <a:endParaRPr/>
            </a:p>
          </p:txBody>
        </p:sp>
        <p:pic>
          <p:nvPicPr>
            <p:cNvPr id="44" name="object 44"/>
            <p:cNvPicPr/>
            <p:nvPr/>
          </p:nvPicPr>
          <p:blipFill>
            <a:blip r:embed="rId9" cstate="print"/>
            <a:stretch>
              <a:fillRect/>
            </a:stretch>
          </p:blipFill>
          <p:spPr>
            <a:xfrm>
              <a:off x="4213182" y="2187021"/>
              <a:ext cx="95575" cy="110900"/>
            </a:xfrm>
            <a:prstGeom prst="rect">
              <a:avLst/>
            </a:prstGeom>
          </p:spPr>
        </p:pic>
      </p:grpSp>
      <p:sp>
        <p:nvSpPr>
          <p:cNvPr id="45" name="object 45"/>
          <p:cNvSpPr txBox="1"/>
          <p:nvPr/>
        </p:nvSpPr>
        <p:spPr>
          <a:xfrm>
            <a:off x="4165030" y="207121"/>
            <a:ext cx="149225" cy="356235"/>
          </a:xfrm>
          <a:prstGeom prst="rect">
            <a:avLst/>
          </a:prstGeom>
        </p:spPr>
        <p:txBody>
          <a:bodyPr vert="horz" wrap="square" lIns="0" tIns="15240" rIns="0" bIns="0" rtlCol="0">
            <a:spAutoFit/>
          </a:bodyPr>
          <a:lstStyle/>
          <a:p>
            <a:pPr marL="12700">
              <a:lnSpc>
                <a:spcPct val="100000"/>
              </a:lnSpc>
              <a:spcBef>
                <a:spcPts val="120"/>
              </a:spcBef>
            </a:pPr>
            <a:r>
              <a:rPr sz="2150" spc="-50" dirty="0">
                <a:latin typeface="Times New Roman"/>
                <a:cs typeface="Times New Roman"/>
              </a:rPr>
              <a:t>1</a:t>
            </a:r>
            <a:endParaRPr sz="2150">
              <a:latin typeface="Times New Roman"/>
              <a:cs typeface="Times New Roman"/>
            </a:endParaRPr>
          </a:p>
        </p:txBody>
      </p:sp>
      <p:sp>
        <p:nvSpPr>
          <p:cNvPr id="46" name="object 46"/>
          <p:cNvSpPr txBox="1"/>
          <p:nvPr/>
        </p:nvSpPr>
        <p:spPr>
          <a:xfrm>
            <a:off x="6023434" y="207121"/>
            <a:ext cx="149225" cy="356235"/>
          </a:xfrm>
          <a:prstGeom prst="rect">
            <a:avLst/>
          </a:prstGeom>
        </p:spPr>
        <p:txBody>
          <a:bodyPr vert="horz" wrap="square" lIns="0" tIns="15240" rIns="0" bIns="0" rtlCol="0">
            <a:spAutoFit/>
          </a:bodyPr>
          <a:lstStyle/>
          <a:p>
            <a:pPr marL="12700">
              <a:lnSpc>
                <a:spcPct val="100000"/>
              </a:lnSpc>
              <a:spcBef>
                <a:spcPts val="120"/>
              </a:spcBef>
            </a:pPr>
            <a:r>
              <a:rPr sz="2150" spc="-50" dirty="0">
                <a:latin typeface="Times New Roman"/>
                <a:cs typeface="Times New Roman"/>
              </a:rPr>
              <a:t>2</a:t>
            </a:r>
            <a:endParaRPr sz="2150">
              <a:latin typeface="Times New Roman"/>
              <a:cs typeface="Times New Roman"/>
            </a:endParaRPr>
          </a:p>
        </p:txBody>
      </p:sp>
      <p:sp>
        <p:nvSpPr>
          <p:cNvPr id="47" name="object 47"/>
          <p:cNvSpPr txBox="1"/>
          <p:nvPr/>
        </p:nvSpPr>
        <p:spPr>
          <a:xfrm>
            <a:off x="6140484" y="2201769"/>
            <a:ext cx="149225" cy="356235"/>
          </a:xfrm>
          <a:prstGeom prst="rect">
            <a:avLst/>
          </a:prstGeom>
        </p:spPr>
        <p:txBody>
          <a:bodyPr vert="horz" wrap="square" lIns="0" tIns="15240" rIns="0" bIns="0" rtlCol="0">
            <a:spAutoFit/>
          </a:bodyPr>
          <a:lstStyle/>
          <a:p>
            <a:pPr marL="12700">
              <a:lnSpc>
                <a:spcPct val="100000"/>
              </a:lnSpc>
              <a:spcBef>
                <a:spcPts val="120"/>
              </a:spcBef>
            </a:pPr>
            <a:r>
              <a:rPr sz="2150" spc="-50" dirty="0">
                <a:latin typeface="Times New Roman"/>
                <a:cs typeface="Times New Roman"/>
              </a:rPr>
              <a:t>3</a:t>
            </a:r>
            <a:endParaRPr sz="2150">
              <a:latin typeface="Times New Roman"/>
              <a:cs typeface="Times New Roman"/>
            </a:endParaRPr>
          </a:p>
        </p:txBody>
      </p:sp>
      <p:sp>
        <p:nvSpPr>
          <p:cNvPr id="48" name="object 48"/>
          <p:cNvSpPr txBox="1"/>
          <p:nvPr/>
        </p:nvSpPr>
        <p:spPr>
          <a:xfrm>
            <a:off x="4025685" y="2176899"/>
            <a:ext cx="149225" cy="356235"/>
          </a:xfrm>
          <a:prstGeom prst="rect">
            <a:avLst/>
          </a:prstGeom>
        </p:spPr>
        <p:txBody>
          <a:bodyPr vert="horz" wrap="square" lIns="0" tIns="15240" rIns="0" bIns="0" rtlCol="0">
            <a:spAutoFit/>
          </a:bodyPr>
          <a:lstStyle/>
          <a:p>
            <a:pPr marL="12700">
              <a:lnSpc>
                <a:spcPct val="100000"/>
              </a:lnSpc>
              <a:spcBef>
                <a:spcPts val="120"/>
              </a:spcBef>
            </a:pPr>
            <a:r>
              <a:rPr sz="2150" spc="-50" dirty="0">
                <a:latin typeface="Times New Roman"/>
                <a:cs typeface="Times New Roman"/>
              </a:rPr>
              <a:t>4</a:t>
            </a:r>
            <a:endParaRPr sz="2150">
              <a:latin typeface="Times New Roman"/>
              <a:cs typeface="Times New Roman"/>
            </a:endParaRPr>
          </a:p>
        </p:txBody>
      </p:sp>
      <p:sp>
        <p:nvSpPr>
          <p:cNvPr id="49" name="object 49"/>
          <p:cNvSpPr txBox="1"/>
          <p:nvPr/>
        </p:nvSpPr>
        <p:spPr>
          <a:xfrm>
            <a:off x="330143" y="2902634"/>
            <a:ext cx="1541145" cy="356235"/>
          </a:xfrm>
          <a:prstGeom prst="rect">
            <a:avLst/>
          </a:prstGeom>
        </p:spPr>
        <p:txBody>
          <a:bodyPr vert="horz" wrap="square" lIns="0" tIns="15240" rIns="0" bIns="0" rtlCol="0">
            <a:spAutoFit/>
          </a:bodyPr>
          <a:lstStyle/>
          <a:p>
            <a:pPr marL="38100">
              <a:lnSpc>
                <a:spcPct val="100000"/>
              </a:lnSpc>
              <a:spcBef>
                <a:spcPts val="120"/>
              </a:spcBef>
            </a:pPr>
            <a:r>
              <a:rPr sz="2150" spc="-35" dirty="0">
                <a:latin typeface="Times New Roman"/>
                <a:cs typeface="Times New Roman"/>
              </a:rPr>
              <a:t>R</a:t>
            </a:r>
            <a:r>
              <a:rPr sz="2250" spc="-52" baseline="-20370" dirty="0">
                <a:latin typeface="Times New Roman"/>
                <a:cs typeface="Times New Roman"/>
              </a:rPr>
              <a:t>1</a:t>
            </a:r>
            <a:r>
              <a:rPr sz="2250" spc="-97" baseline="-20370" dirty="0">
                <a:latin typeface="Times New Roman"/>
                <a:cs typeface="Times New Roman"/>
              </a:rPr>
              <a:t> </a:t>
            </a:r>
            <a:r>
              <a:rPr sz="2150" spc="-65" dirty="0">
                <a:latin typeface="Times New Roman"/>
                <a:cs typeface="Times New Roman"/>
              </a:rPr>
              <a:t>is </a:t>
            </a:r>
            <a:r>
              <a:rPr sz="2150" spc="-50" dirty="0">
                <a:latin typeface="Times New Roman"/>
                <a:cs typeface="Times New Roman"/>
              </a:rPr>
              <a:t>transitive</a:t>
            </a:r>
            <a:endParaRPr sz="2150">
              <a:latin typeface="Times New Roman"/>
              <a:cs typeface="Times New Roman"/>
            </a:endParaRPr>
          </a:p>
        </p:txBody>
      </p:sp>
      <p:sp>
        <p:nvSpPr>
          <p:cNvPr id="50" name="object 50"/>
          <p:cNvSpPr txBox="1"/>
          <p:nvPr/>
        </p:nvSpPr>
        <p:spPr>
          <a:xfrm>
            <a:off x="3768042" y="2902634"/>
            <a:ext cx="3278504" cy="1353185"/>
          </a:xfrm>
          <a:prstGeom prst="rect">
            <a:avLst/>
          </a:prstGeom>
        </p:spPr>
        <p:txBody>
          <a:bodyPr vert="horz" wrap="square" lIns="0" tIns="11430" rIns="0" bIns="0" rtlCol="0">
            <a:spAutoFit/>
          </a:bodyPr>
          <a:lstStyle/>
          <a:p>
            <a:pPr marL="38100" marR="30480">
              <a:lnSpc>
                <a:spcPct val="101200"/>
              </a:lnSpc>
              <a:spcBef>
                <a:spcPts val="90"/>
              </a:spcBef>
            </a:pPr>
            <a:r>
              <a:rPr sz="2150" spc="-35" dirty="0">
                <a:latin typeface="Times New Roman"/>
                <a:cs typeface="Times New Roman"/>
              </a:rPr>
              <a:t>R</a:t>
            </a:r>
            <a:r>
              <a:rPr sz="2250" spc="-52" baseline="-20370" dirty="0">
                <a:latin typeface="Times New Roman"/>
                <a:cs typeface="Times New Roman"/>
              </a:rPr>
              <a:t>2</a:t>
            </a:r>
            <a:r>
              <a:rPr sz="2250" spc="-15" baseline="-20370" dirty="0">
                <a:latin typeface="Times New Roman"/>
                <a:cs typeface="Times New Roman"/>
              </a:rPr>
              <a:t> </a:t>
            </a:r>
            <a:r>
              <a:rPr sz="2150" spc="-65" dirty="0">
                <a:latin typeface="Times New Roman"/>
                <a:cs typeface="Times New Roman"/>
              </a:rPr>
              <a:t>is</a:t>
            </a:r>
            <a:r>
              <a:rPr sz="2150" spc="-70" dirty="0">
                <a:latin typeface="Times New Roman"/>
                <a:cs typeface="Times New Roman"/>
              </a:rPr>
              <a:t> </a:t>
            </a:r>
            <a:r>
              <a:rPr sz="2150" spc="-90" dirty="0">
                <a:latin typeface="Times New Roman"/>
                <a:cs typeface="Times New Roman"/>
              </a:rPr>
              <a:t>not</a:t>
            </a:r>
            <a:r>
              <a:rPr sz="2150" spc="-50" dirty="0">
                <a:latin typeface="Times New Roman"/>
                <a:cs typeface="Times New Roman"/>
              </a:rPr>
              <a:t> </a:t>
            </a:r>
            <a:r>
              <a:rPr sz="2150" spc="-75" dirty="0">
                <a:latin typeface="Times New Roman"/>
                <a:cs typeface="Times New Roman"/>
              </a:rPr>
              <a:t>transitive</a:t>
            </a:r>
            <a:r>
              <a:rPr sz="2150" spc="-60" dirty="0">
                <a:latin typeface="Times New Roman"/>
                <a:cs typeface="Times New Roman"/>
              </a:rPr>
              <a:t> </a:t>
            </a:r>
            <a:r>
              <a:rPr sz="2150" spc="-90" dirty="0">
                <a:latin typeface="Times New Roman"/>
                <a:cs typeface="Times New Roman"/>
              </a:rPr>
              <a:t>since</a:t>
            </a:r>
            <a:r>
              <a:rPr sz="2150" spc="-45" dirty="0">
                <a:latin typeface="Times New Roman"/>
                <a:cs typeface="Times New Roman"/>
              </a:rPr>
              <a:t> </a:t>
            </a:r>
            <a:r>
              <a:rPr sz="2150" spc="-85" dirty="0">
                <a:latin typeface="Times New Roman"/>
                <a:cs typeface="Times New Roman"/>
              </a:rPr>
              <a:t>there</a:t>
            </a:r>
            <a:r>
              <a:rPr sz="2150" spc="-50" dirty="0">
                <a:latin typeface="Times New Roman"/>
                <a:cs typeface="Times New Roman"/>
              </a:rPr>
              <a:t> </a:t>
            </a:r>
            <a:r>
              <a:rPr sz="2150" spc="-25" dirty="0">
                <a:latin typeface="Times New Roman"/>
                <a:cs typeface="Times New Roman"/>
              </a:rPr>
              <a:t>is </a:t>
            </a:r>
            <a:r>
              <a:rPr sz="2150" spc="-110" dirty="0">
                <a:latin typeface="Times New Roman"/>
                <a:cs typeface="Times New Roman"/>
              </a:rPr>
              <a:t>an</a:t>
            </a:r>
            <a:r>
              <a:rPr sz="2150" spc="-50" dirty="0">
                <a:latin typeface="Times New Roman"/>
                <a:cs typeface="Times New Roman"/>
              </a:rPr>
              <a:t> </a:t>
            </a:r>
            <a:r>
              <a:rPr sz="2150" spc="-100" dirty="0">
                <a:latin typeface="Times New Roman"/>
                <a:cs typeface="Times New Roman"/>
              </a:rPr>
              <a:t>arrow</a:t>
            </a:r>
            <a:r>
              <a:rPr sz="2150" spc="-45" dirty="0">
                <a:latin typeface="Times New Roman"/>
                <a:cs typeface="Times New Roman"/>
              </a:rPr>
              <a:t> </a:t>
            </a:r>
            <a:r>
              <a:rPr sz="2150" spc="-100" dirty="0">
                <a:latin typeface="Times New Roman"/>
                <a:cs typeface="Times New Roman"/>
              </a:rPr>
              <a:t>from</a:t>
            </a:r>
            <a:r>
              <a:rPr sz="2150" spc="-65" dirty="0">
                <a:latin typeface="Times New Roman"/>
                <a:cs typeface="Times New Roman"/>
              </a:rPr>
              <a:t> </a:t>
            </a:r>
            <a:r>
              <a:rPr sz="2150" spc="-110" dirty="0">
                <a:latin typeface="Times New Roman"/>
                <a:cs typeface="Times New Roman"/>
              </a:rPr>
              <a:t>1</a:t>
            </a:r>
            <a:r>
              <a:rPr sz="2150" spc="-45" dirty="0">
                <a:latin typeface="Times New Roman"/>
                <a:cs typeface="Times New Roman"/>
              </a:rPr>
              <a:t> </a:t>
            </a:r>
            <a:r>
              <a:rPr sz="2150" spc="-75" dirty="0">
                <a:latin typeface="Times New Roman"/>
                <a:cs typeface="Times New Roman"/>
              </a:rPr>
              <a:t>to</a:t>
            </a:r>
            <a:r>
              <a:rPr sz="2150" spc="-20" dirty="0">
                <a:latin typeface="Times New Roman"/>
                <a:cs typeface="Times New Roman"/>
              </a:rPr>
              <a:t> </a:t>
            </a:r>
            <a:r>
              <a:rPr sz="2150" spc="-110" dirty="0">
                <a:latin typeface="Times New Roman"/>
                <a:cs typeface="Times New Roman"/>
              </a:rPr>
              <a:t>2</a:t>
            </a:r>
            <a:r>
              <a:rPr sz="2150" spc="-45" dirty="0">
                <a:latin typeface="Times New Roman"/>
                <a:cs typeface="Times New Roman"/>
              </a:rPr>
              <a:t> </a:t>
            </a:r>
            <a:r>
              <a:rPr sz="2150" spc="-110" dirty="0">
                <a:latin typeface="Times New Roman"/>
                <a:cs typeface="Times New Roman"/>
              </a:rPr>
              <a:t>and</a:t>
            </a:r>
            <a:r>
              <a:rPr sz="2150" spc="-40" dirty="0">
                <a:latin typeface="Times New Roman"/>
                <a:cs typeface="Times New Roman"/>
              </a:rPr>
              <a:t> </a:t>
            </a:r>
            <a:r>
              <a:rPr sz="2150" spc="-105" dirty="0">
                <a:latin typeface="Times New Roman"/>
                <a:cs typeface="Times New Roman"/>
              </a:rPr>
              <a:t>from</a:t>
            </a:r>
            <a:r>
              <a:rPr sz="2150" spc="-65" dirty="0">
                <a:latin typeface="Times New Roman"/>
                <a:cs typeface="Times New Roman"/>
              </a:rPr>
              <a:t> </a:t>
            </a:r>
            <a:r>
              <a:rPr sz="2150" spc="-50" dirty="0">
                <a:latin typeface="Times New Roman"/>
                <a:cs typeface="Times New Roman"/>
              </a:rPr>
              <a:t>2</a:t>
            </a:r>
            <a:endParaRPr sz="2150">
              <a:latin typeface="Times New Roman"/>
              <a:cs typeface="Times New Roman"/>
            </a:endParaRPr>
          </a:p>
          <a:p>
            <a:pPr marL="38100" marR="354330">
              <a:lnSpc>
                <a:spcPts val="2630"/>
              </a:lnSpc>
              <a:spcBef>
                <a:spcPts val="75"/>
              </a:spcBef>
            </a:pPr>
            <a:r>
              <a:rPr sz="2150" spc="-90" dirty="0">
                <a:latin typeface="Times New Roman"/>
                <a:cs typeface="Times New Roman"/>
              </a:rPr>
              <a:t>to</a:t>
            </a:r>
            <a:r>
              <a:rPr sz="2150" spc="-50" dirty="0">
                <a:latin typeface="Times New Roman"/>
                <a:cs typeface="Times New Roman"/>
              </a:rPr>
              <a:t> </a:t>
            </a:r>
            <a:r>
              <a:rPr sz="2150" spc="-110" dirty="0">
                <a:latin typeface="Times New Roman"/>
                <a:cs typeface="Times New Roman"/>
              </a:rPr>
              <a:t>3</a:t>
            </a:r>
            <a:r>
              <a:rPr sz="2150" spc="-45" dirty="0">
                <a:latin typeface="Times New Roman"/>
                <a:cs typeface="Times New Roman"/>
              </a:rPr>
              <a:t> </a:t>
            </a:r>
            <a:r>
              <a:rPr sz="2150" spc="-90" dirty="0">
                <a:latin typeface="Times New Roman"/>
                <a:cs typeface="Times New Roman"/>
              </a:rPr>
              <a:t>but</a:t>
            </a:r>
            <a:r>
              <a:rPr sz="2150" spc="-45" dirty="0">
                <a:latin typeface="Times New Roman"/>
                <a:cs typeface="Times New Roman"/>
              </a:rPr>
              <a:t> </a:t>
            </a:r>
            <a:r>
              <a:rPr sz="2150" spc="-114" dirty="0">
                <a:latin typeface="Times New Roman"/>
                <a:cs typeface="Times New Roman"/>
              </a:rPr>
              <a:t>no</a:t>
            </a:r>
            <a:r>
              <a:rPr sz="2150" spc="-35" dirty="0">
                <a:latin typeface="Times New Roman"/>
                <a:cs typeface="Times New Roman"/>
              </a:rPr>
              <a:t> </a:t>
            </a:r>
            <a:r>
              <a:rPr sz="2150" spc="-100" dirty="0">
                <a:latin typeface="Times New Roman"/>
                <a:cs typeface="Times New Roman"/>
              </a:rPr>
              <a:t>arrow</a:t>
            </a:r>
            <a:r>
              <a:rPr sz="2150" spc="-45" dirty="0">
                <a:latin typeface="Times New Roman"/>
                <a:cs typeface="Times New Roman"/>
              </a:rPr>
              <a:t> </a:t>
            </a:r>
            <a:r>
              <a:rPr sz="2150" spc="-100" dirty="0">
                <a:latin typeface="Times New Roman"/>
                <a:cs typeface="Times New Roman"/>
              </a:rPr>
              <a:t>from</a:t>
            </a:r>
            <a:r>
              <a:rPr sz="2150" spc="-65" dirty="0">
                <a:latin typeface="Times New Roman"/>
                <a:cs typeface="Times New Roman"/>
              </a:rPr>
              <a:t> </a:t>
            </a:r>
            <a:r>
              <a:rPr sz="2150" spc="-110" dirty="0">
                <a:latin typeface="Times New Roman"/>
                <a:cs typeface="Times New Roman"/>
              </a:rPr>
              <a:t>1</a:t>
            </a:r>
            <a:r>
              <a:rPr sz="2150" spc="-45" dirty="0">
                <a:latin typeface="Times New Roman"/>
                <a:cs typeface="Times New Roman"/>
              </a:rPr>
              <a:t> </a:t>
            </a:r>
            <a:r>
              <a:rPr sz="2150" spc="-90" dirty="0">
                <a:latin typeface="Times New Roman"/>
                <a:cs typeface="Times New Roman"/>
              </a:rPr>
              <a:t>to</a:t>
            </a:r>
            <a:r>
              <a:rPr sz="2150" spc="-35" dirty="0">
                <a:latin typeface="Times New Roman"/>
                <a:cs typeface="Times New Roman"/>
              </a:rPr>
              <a:t> </a:t>
            </a:r>
            <a:r>
              <a:rPr sz="2150" spc="-50" dirty="0">
                <a:latin typeface="Times New Roman"/>
                <a:cs typeface="Times New Roman"/>
              </a:rPr>
              <a:t>3 </a:t>
            </a:r>
            <a:r>
              <a:rPr sz="2150" spc="-10" dirty="0">
                <a:latin typeface="Times New Roman"/>
                <a:cs typeface="Times New Roman"/>
              </a:rPr>
              <a:t>directly</a:t>
            </a:r>
            <a:endParaRPr sz="2150">
              <a:latin typeface="Times New Roman"/>
              <a:cs typeface="Times New Roman"/>
            </a:endParaRPr>
          </a:p>
        </p:txBody>
      </p:sp>
      <p:grpSp>
        <p:nvGrpSpPr>
          <p:cNvPr id="51" name="object 51"/>
          <p:cNvGrpSpPr/>
          <p:nvPr/>
        </p:nvGrpSpPr>
        <p:grpSpPr>
          <a:xfrm>
            <a:off x="724693" y="3914780"/>
            <a:ext cx="2119630" cy="2303780"/>
            <a:chOff x="724693" y="3914780"/>
            <a:chExt cx="2119630" cy="2303780"/>
          </a:xfrm>
        </p:grpSpPr>
        <p:sp>
          <p:nvSpPr>
            <p:cNvPr id="52" name="object 52"/>
            <p:cNvSpPr/>
            <p:nvPr/>
          </p:nvSpPr>
          <p:spPr>
            <a:xfrm>
              <a:off x="729011" y="4139547"/>
              <a:ext cx="27940" cy="35560"/>
            </a:xfrm>
            <a:custGeom>
              <a:avLst/>
              <a:gdLst/>
              <a:ahLst/>
              <a:cxnLst/>
              <a:rect l="l" t="t" r="r" b="b"/>
              <a:pathLst>
                <a:path w="27940" h="35560">
                  <a:moveTo>
                    <a:pt x="13671" y="0"/>
                  </a:moveTo>
                  <a:lnTo>
                    <a:pt x="0" y="4683"/>
                  </a:lnTo>
                  <a:lnTo>
                    <a:pt x="0" y="30445"/>
                  </a:lnTo>
                  <a:lnTo>
                    <a:pt x="13671" y="35129"/>
                  </a:lnTo>
                  <a:lnTo>
                    <a:pt x="23027" y="30445"/>
                  </a:lnTo>
                  <a:lnTo>
                    <a:pt x="27345" y="14821"/>
                  </a:lnTo>
                  <a:lnTo>
                    <a:pt x="23027" y="4683"/>
                  </a:lnTo>
                  <a:lnTo>
                    <a:pt x="13671" y="0"/>
                  </a:lnTo>
                  <a:close/>
                </a:path>
              </a:pathLst>
            </a:custGeom>
            <a:solidFill>
              <a:srgbClr val="1F1A17"/>
            </a:solidFill>
          </p:spPr>
          <p:txBody>
            <a:bodyPr wrap="square" lIns="0" tIns="0" rIns="0" bIns="0" rtlCol="0"/>
            <a:lstStyle/>
            <a:p>
              <a:endParaRPr/>
            </a:p>
          </p:txBody>
        </p:sp>
        <p:sp>
          <p:nvSpPr>
            <p:cNvPr id="53" name="object 53"/>
            <p:cNvSpPr/>
            <p:nvPr/>
          </p:nvSpPr>
          <p:spPr>
            <a:xfrm>
              <a:off x="739084" y="4150486"/>
              <a:ext cx="27940" cy="35560"/>
            </a:xfrm>
            <a:custGeom>
              <a:avLst/>
              <a:gdLst/>
              <a:ahLst/>
              <a:cxnLst/>
              <a:rect l="l" t="t" r="r" b="b"/>
              <a:pathLst>
                <a:path w="27940" h="35560">
                  <a:moveTo>
                    <a:pt x="13674" y="0"/>
                  </a:moveTo>
                  <a:lnTo>
                    <a:pt x="23029" y="4683"/>
                  </a:lnTo>
                  <a:lnTo>
                    <a:pt x="27345" y="14821"/>
                  </a:lnTo>
                  <a:lnTo>
                    <a:pt x="23029" y="30413"/>
                  </a:lnTo>
                  <a:lnTo>
                    <a:pt x="13674" y="35097"/>
                  </a:lnTo>
                  <a:lnTo>
                    <a:pt x="0" y="30413"/>
                  </a:lnTo>
                  <a:lnTo>
                    <a:pt x="0" y="14821"/>
                  </a:lnTo>
                  <a:lnTo>
                    <a:pt x="0" y="4683"/>
                  </a:lnTo>
                  <a:lnTo>
                    <a:pt x="13674" y="0"/>
                  </a:lnTo>
                </a:path>
              </a:pathLst>
            </a:custGeom>
            <a:ln w="4457">
              <a:solidFill>
                <a:srgbClr val="1F1A17"/>
              </a:solidFill>
            </a:ln>
          </p:spPr>
          <p:txBody>
            <a:bodyPr wrap="square" lIns="0" tIns="0" rIns="0" bIns="0" rtlCol="0"/>
            <a:lstStyle/>
            <a:p>
              <a:endParaRPr/>
            </a:p>
          </p:txBody>
        </p:sp>
        <p:sp>
          <p:nvSpPr>
            <p:cNvPr id="54" name="object 54"/>
            <p:cNvSpPr/>
            <p:nvPr/>
          </p:nvSpPr>
          <p:spPr>
            <a:xfrm>
              <a:off x="724693" y="5928218"/>
              <a:ext cx="27940" cy="36195"/>
            </a:xfrm>
            <a:custGeom>
              <a:avLst/>
              <a:gdLst/>
              <a:ahLst/>
              <a:cxnLst/>
              <a:rect l="l" t="t" r="r" b="b"/>
              <a:pathLst>
                <a:path w="27940" h="36195">
                  <a:moveTo>
                    <a:pt x="13673" y="0"/>
                  </a:moveTo>
                  <a:lnTo>
                    <a:pt x="4317" y="4683"/>
                  </a:lnTo>
                  <a:lnTo>
                    <a:pt x="0" y="20291"/>
                  </a:lnTo>
                  <a:lnTo>
                    <a:pt x="4317" y="30436"/>
                  </a:lnTo>
                  <a:lnTo>
                    <a:pt x="13673" y="35899"/>
                  </a:lnTo>
                  <a:lnTo>
                    <a:pt x="23028" y="30436"/>
                  </a:lnTo>
                  <a:lnTo>
                    <a:pt x="27344" y="20291"/>
                  </a:lnTo>
                  <a:lnTo>
                    <a:pt x="23028" y="4683"/>
                  </a:lnTo>
                  <a:lnTo>
                    <a:pt x="13673" y="0"/>
                  </a:lnTo>
                  <a:close/>
                </a:path>
              </a:pathLst>
            </a:custGeom>
            <a:solidFill>
              <a:srgbClr val="1F1A17"/>
            </a:solidFill>
          </p:spPr>
          <p:txBody>
            <a:bodyPr wrap="square" lIns="0" tIns="0" rIns="0" bIns="0" rtlCol="0"/>
            <a:lstStyle/>
            <a:p>
              <a:endParaRPr/>
            </a:p>
          </p:txBody>
        </p:sp>
        <p:sp>
          <p:nvSpPr>
            <p:cNvPr id="55" name="object 55"/>
            <p:cNvSpPr/>
            <p:nvPr/>
          </p:nvSpPr>
          <p:spPr>
            <a:xfrm>
              <a:off x="734768" y="5939146"/>
              <a:ext cx="27940" cy="36195"/>
            </a:xfrm>
            <a:custGeom>
              <a:avLst/>
              <a:gdLst/>
              <a:ahLst/>
              <a:cxnLst/>
              <a:rect l="l" t="t" r="r" b="b"/>
              <a:pathLst>
                <a:path w="27940" h="36195">
                  <a:moveTo>
                    <a:pt x="13671" y="0"/>
                  </a:moveTo>
                  <a:lnTo>
                    <a:pt x="23026" y="4680"/>
                  </a:lnTo>
                  <a:lnTo>
                    <a:pt x="27345" y="20288"/>
                  </a:lnTo>
                  <a:lnTo>
                    <a:pt x="23026" y="30436"/>
                  </a:lnTo>
                  <a:lnTo>
                    <a:pt x="13671" y="35896"/>
                  </a:lnTo>
                  <a:lnTo>
                    <a:pt x="4315" y="30436"/>
                  </a:lnTo>
                  <a:lnTo>
                    <a:pt x="0" y="20288"/>
                  </a:lnTo>
                  <a:lnTo>
                    <a:pt x="4315" y="4680"/>
                  </a:lnTo>
                  <a:lnTo>
                    <a:pt x="13671" y="0"/>
                  </a:lnTo>
                </a:path>
              </a:pathLst>
            </a:custGeom>
            <a:ln w="4454">
              <a:solidFill>
                <a:srgbClr val="1F1A17"/>
              </a:solidFill>
            </a:ln>
          </p:spPr>
          <p:txBody>
            <a:bodyPr wrap="square" lIns="0" tIns="0" rIns="0" bIns="0" rtlCol="0"/>
            <a:lstStyle/>
            <a:p>
              <a:endParaRPr/>
            </a:p>
          </p:txBody>
        </p:sp>
        <p:sp>
          <p:nvSpPr>
            <p:cNvPr id="56" name="object 56"/>
            <p:cNvSpPr/>
            <p:nvPr/>
          </p:nvSpPr>
          <p:spPr>
            <a:xfrm>
              <a:off x="2606492" y="4134093"/>
              <a:ext cx="27940" cy="36195"/>
            </a:xfrm>
            <a:custGeom>
              <a:avLst/>
              <a:gdLst/>
              <a:ahLst/>
              <a:cxnLst/>
              <a:rect l="l" t="t" r="r" b="b"/>
              <a:pathLst>
                <a:path w="27939" h="36195">
                  <a:moveTo>
                    <a:pt x="13647" y="0"/>
                  </a:moveTo>
                  <a:lnTo>
                    <a:pt x="4312" y="5453"/>
                  </a:lnTo>
                  <a:lnTo>
                    <a:pt x="0" y="20275"/>
                  </a:lnTo>
                  <a:lnTo>
                    <a:pt x="4312" y="30445"/>
                  </a:lnTo>
                  <a:lnTo>
                    <a:pt x="13647" y="35899"/>
                  </a:lnTo>
                  <a:lnTo>
                    <a:pt x="23012" y="30445"/>
                  </a:lnTo>
                  <a:lnTo>
                    <a:pt x="27324" y="20275"/>
                  </a:lnTo>
                  <a:lnTo>
                    <a:pt x="23012" y="5453"/>
                  </a:lnTo>
                  <a:lnTo>
                    <a:pt x="13647" y="0"/>
                  </a:lnTo>
                  <a:close/>
                </a:path>
              </a:pathLst>
            </a:custGeom>
            <a:solidFill>
              <a:srgbClr val="1F1A17"/>
            </a:solidFill>
          </p:spPr>
          <p:txBody>
            <a:bodyPr wrap="square" lIns="0" tIns="0" rIns="0" bIns="0" rtlCol="0"/>
            <a:lstStyle/>
            <a:p>
              <a:endParaRPr/>
            </a:p>
          </p:txBody>
        </p:sp>
        <p:sp>
          <p:nvSpPr>
            <p:cNvPr id="57" name="object 57"/>
            <p:cNvSpPr/>
            <p:nvPr/>
          </p:nvSpPr>
          <p:spPr>
            <a:xfrm>
              <a:off x="2616565" y="4145000"/>
              <a:ext cx="27940" cy="36195"/>
            </a:xfrm>
            <a:custGeom>
              <a:avLst/>
              <a:gdLst/>
              <a:ahLst/>
              <a:cxnLst/>
              <a:rect l="l" t="t" r="r" b="b"/>
              <a:pathLst>
                <a:path w="27939" h="36195">
                  <a:moveTo>
                    <a:pt x="13647" y="0"/>
                  </a:moveTo>
                  <a:lnTo>
                    <a:pt x="23012" y="5486"/>
                  </a:lnTo>
                  <a:lnTo>
                    <a:pt x="27324" y="20307"/>
                  </a:lnTo>
                  <a:lnTo>
                    <a:pt x="23012" y="30445"/>
                  </a:lnTo>
                  <a:lnTo>
                    <a:pt x="13647" y="35899"/>
                  </a:lnTo>
                  <a:lnTo>
                    <a:pt x="4312" y="30445"/>
                  </a:lnTo>
                  <a:lnTo>
                    <a:pt x="0" y="20307"/>
                  </a:lnTo>
                  <a:lnTo>
                    <a:pt x="4312" y="5486"/>
                  </a:lnTo>
                  <a:lnTo>
                    <a:pt x="13647" y="0"/>
                  </a:lnTo>
                </a:path>
              </a:pathLst>
            </a:custGeom>
            <a:ln w="4453">
              <a:solidFill>
                <a:srgbClr val="1F1A17"/>
              </a:solidFill>
            </a:ln>
          </p:spPr>
          <p:txBody>
            <a:bodyPr wrap="square" lIns="0" tIns="0" rIns="0" bIns="0" rtlCol="0"/>
            <a:lstStyle/>
            <a:p>
              <a:endParaRPr/>
            </a:p>
          </p:txBody>
        </p:sp>
        <p:sp>
          <p:nvSpPr>
            <p:cNvPr id="58" name="object 58"/>
            <p:cNvSpPr/>
            <p:nvPr/>
          </p:nvSpPr>
          <p:spPr>
            <a:xfrm>
              <a:off x="2579138" y="5938363"/>
              <a:ext cx="27940" cy="36195"/>
            </a:xfrm>
            <a:custGeom>
              <a:avLst/>
              <a:gdLst/>
              <a:ahLst/>
              <a:cxnLst/>
              <a:rect l="l" t="t" r="r" b="b"/>
              <a:pathLst>
                <a:path w="27939" h="36195">
                  <a:moveTo>
                    <a:pt x="13677" y="0"/>
                  </a:moveTo>
                  <a:lnTo>
                    <a:pt x="4312" y="4683"/>
                  </a:lnTo>
                  <a:lnTo>
                    <a:pt x="0" y="20291"/>
                  </a:lnTo>
                  <a:lnTo>
                    <a:pt x="4312" y="30436"/>
                  </a:lnTo>
                  <a:lnTo>
                    <a:pt x="13677" y="35899"/>
                  </a:lnTo>
                  <a:lnTo>
                    <a:pt x="22303" y="30436"/>
                  </a:lnTo>
                  <a:lnTo>
                    <a:pt x="27354" y="20291"/>
                  </a:lnTo>
                  <a:lnTo>
                    <a:pt x="22303" y="4683"/>
                  </a:lnTo>
                  <a:lnTo>
                    <a:pt x="13677" y="0"/>
                  </a:lnTo>
                  <a:close/>
                </a:path>
              </a:pathLst>
            </a:custGeom>
            <a:solidFill>
              <a:srgbClr val="1F1A17"/>
            </a:solidFill>
          </p:spPr>
          <p:txBody>
            <a:bodyPr wrap="square" lIns="0" tIns="0" rIns="0" bIns="0" rtlCol="0"/>
            <a:lstStyle/>
            <a:p>
              <a:endParaRPr/>
            </a:p>
          </p:txBody>
        </p:sp>
        <p:sp>
          <p:nvSpPr>
            <p:cNvPr id="59" name="object 59"/>
            <p:cNvSpPr/>
            <p:nvPr/>
          </p:nvSpPr>
          <p:spPr>
            <a:xfrm>
              <a:off x="2589211" y="5949290"/>
              <a:ext cx="27940" cy="36195"/>
            </a:xfrm>
            <a:custGeom>
              <a:avLst/>
              <a:gdLst/>
              <a:ahLst/>
              <a:cxnLst/>
              <a:rect l="l" t="t" r="r" b="b"/>
              <a:pathLst>
                <a:path w="27939" h="36195">
                  <a:moveTo>
                    <a:pt x="13677" y="0"/>
                  </a:moveTo>
                  <a:lnTo>
                    <a:pt x="22303" y="4680"/>
                  </a:lnTo>
                  <a:lnTo>
                    <a:pt x="27354" y="20291"/>
                  </a:lnTo>
                  <a:lnTo>
                    <a:pt x="22303" y="30436"/>
                  </a:lnTo>
                  <a:lnTo>
                    <a:pt x="13677" y="35896"/>
                  </a:lnTo>
                  <a:lnTo>
                    <a:pt x="4312" y="30436"/>
                  </a:lnTo>
                  <a:lnTo>
                    <a:pt x="0" y="20291"/>
                  </a:lnTo>
                  <a:lnTo>
                    <a:pt x="4312" y="4680"/>
                  </a:lnTo>
                  <a:lnTo>
                    <a:pt x="13677" y="0"/>
                  </a:lnTo>
                </a:path>
              </a:pathLst>
            </a:custGeom>
            <a:ln w="4454">
              <a:solidFill>
                <a:srgbClr val="1F1A17"/>
              </a:solidFill>
            </a:ln>
          </p:spPr>
          <p:txBody>
            <a:bodyPr wrap="square" lIns="0" tIns="0" rIns="0" bIns="0" rtlCol="0"/>
            <a:lstStyle/>
            <a:p>
              <a:endParaRPr/>
            </a:p>
          </p:txBody>
        </p:sp>
        <p:sp>
          <p:nvSpPr>
            <p:cNvPr id="60" name="object 60"/>
            <p:cNvSpPr/>
            <p:nvPr/>
          </p:nvSpPr>
          <p:spPr>
            <a:xfrm>
              <a:off x="783702" y="3914780"/>
              <a:ext cx="1837055" cy="260350"/>
            </a:xfrm>
            <a:custGeom>
              <a:avLst/>
              <a:gdLst/>
              <a:ahLst/>
              <a:cxnLst/>
              <a:rect l="l" t="t" r="r" b="b"/>
              <a:pathLst>
                <a:path w="1837055" h="260350">
                  <a:moveTo>
                    <a:pt x="1009600" y="0"/>
                  </a:moveTo>
                  <a:lnTo>
                    <a:pt x="936222" y="5486"/>
                  </a:lnTo>
                  <a:lnTo>
                    <a:pt x="799479" y="10169"/>
                  </a:lnTo>
                  <a:lnTo>
                    <a:pt x="667079" y="25761"/>
                  </a:lnTo>
                  <a:lnTo>
                    <a:pt x="544013" y="50753"/>
                  </a:lnTo>
                  <a:lnTo>
                    <a:pt x="429603" y="76483"/>
                  </a:lnTo>
                  <a:lnTo>
                    <a:pt x="324557" y="106929"/>
                  </a:lnTo>
                  <a:lnTo>
                    <a:pt x="228846" y="142828"/>
                  </a:lnTo>
                  <a:lnTo>
                    <a:pt x="82754" y="199004"/>
                  </a:lnTo>
                  <a:lnTo>
                    <a:pt x="0" y="239588"/>
                  </a:lnTo>
                  <a:lnTo>
                    <a:pt x="5036" y="259895"/>
                  </a:lnTo>
                  <a:lnTo>
                    <a:pt x="91389" y="219312"/>
                  </a:lnTo>
                  <a:lnTo>
                    <a:pt x="237472" y="163104"/>
                  </a:lnTo>
                  <a:lnTo>
                    <a:pt x="328870" y="127204"/>
                  </a:lnTo>
                  <a:lnTo>
                    <a:pt x="433916" y="96791"/>
                  </a:lnTo>
                  <a:lnTo>
                    <a:pt x="548356" y="71799"/>
                  </a:lnTo>
                  <a:lnTo>
                    <a:pt x="671392" y="46069"/>
                  </a:lnTo>
                  <a:lnTo>
                    <a:pt x="799479" y="30445"/>
                  </a:lnTo>
                  <a:lnTo>
                    <a:pt x="936222" y="25761"/>
                  </a:lnTo>
                  <a:lnTo>
                    <a:pt x="1083008" y="25761"/>
                  </a:lnTo>
                  <a:lnTo>
                    <a:pt x="1155707" y="30445"/>
                  </a:lnTo>
                  <a:lnTo>
                    <a:pt x="1301785" y="50753"/>
                  </a:lnTo>
                  <a:lnTo>
                    <a:pt x="1375163" y="71799"/>
                  </a:lnTo>
                  <a:lnTo>
                    <a:pt x="1452884" y="92107"/>
                  </a:lnTo>
                  <a:lnTo>
                    <a:pt x="1525583" y="112383"/>
                  </a:lnTo>
                  <a:lnTo>
                    <a:pt x="1603304" y="142828"/>
                  </a:lnTo>
                  <a:lnTo>
                    <a:pt x="1681025" y="178728"/>
                  </a:lnTo>
                  <a:lnTo>
                    <a:pt x="1754403" y="213858"/>
                  </a:lnTo>
                  <a:lnTo>
                    <a:pt x="1827102" y="259895"/>
                  </a:lnTo>
                  <a:lnTo>
                    <a:pt x="1836437" y="239588"/>
                  </a:lnTo>
                  <a:lnTo>
                    <a:pt x="1763059" y="193550"/>
                  </a:lnTo>
                  <a:lnTo>
                    <a:pt x="1685338" y="158420"/>
                  </a:lnTo>
                  <a:lnTo>
                    <a:pt x="1607617" y="122553"/>
                  </a:lnTo>
                  <a:lnTo>
                    <a:pt x="1534918" y="92107"/>
                  </a:lnTo>
                  <a:lnTo>
                    <a:pt x="1457227" y="71799"/>
                  </a:lnTo>
                  <a:lnTo>
                    <a:pt x="1306807" y="30445"/>
                  </a:lnTo>
                  <a:lnTo>
                    <a:pt x="1155707" y="10169"/>
                  </a:lnTo>
                  <a:lnTo>
                    <a:pt x="1083008" y="5486"/>
                  </a:lnTo>
                  <a:lnTo>
                    <a:pt x="1009600" y="0"/>
                  </a:lnTo>
                  <a:close/>
                </a:path>
              </a:pathLst>
            </a:custGeom>
            <a:solidFill>
              <a:srgbClr val="1F1A17"/>
            </a:solidFill>
          </p:spPr>
          <p:txBody>
            <a:bodyPr wrap="square" lIns="0" tIns="0" rIns="0" bIns="0" rtlCol="0"/>
            <a:lstStyle/>
            <a:p>
              <a:endParaRPr/>
            </a:p>
          </p:txBody>
        </p:sp>
        <p:pic>
          <p:nvPicPr>
            <p:cNvPr id="61" name="object 61"/>
            <p:cNvPicPr/>
            <p:nvPr/>
          </p:nvPicPr>
          <p:blipFill>
            <a:blip r:embed="rId10" cstate="print"/>
            <a:stretch>
              <a:fillRect/>
            </a:stretch>
          </p:blipFill>
          <p:spPr>
            <a:xfrm>
              <a:off x="756357" y="4077885"/>
              <a:ext cx="105063" cy="117067"/>
            </a:xfrm>
            <a:prstGeom prst="rect">
              <a:avLst/>
            </a:prstGeom>
          </p:spPr>
        </p:pic>
        <p:sp>
          <p:nvSpPr>
            <p:cNvPr id="62" name="object 62"/>
            <p:cNvSpPr/>
            <p:nvPr/>
          </p:nvSpPr>
          <p:spPr>
            <a:xfrm>
              <a:off x="738366" y="5958655"/>
              <a:ext cx="1840864" cy="260350"/>
            </a:xfrm>
            <a:custGeom>
              <a:avLst/>
              <a:gdLst/>
              <a:ahLst/>
              <a:cxnLst/>
              <a:rect l="l" t="t" r="r" b="b"/>
              <a:pathLst>
                <a:path w="1840864" h="260350">
                  <a:moveTo>
                    <a:pt x="1835719" y="0"/>
                  </a:moveTo>
                  <a:lnTo>
                    <a:pt x="1749373" y="40580"/>
                  </a:lnTo>
                  <a:lnTo>
                    <a:pt x="1603295" y="96768"/>
                  </a:lnTo>
                  <a:lnTo>
                    <a:pt x="1511897" y="132668"/>
                  </a:lnTo>
                  <a:lnTo>
                    <a:pt x="1406851" y="163101"/>
                  </a:lnTo>
                  <a:lnTo>
                    <a:pt x="1292412" y="188856"/>
                  </a:lnTo>
                  <a:lnTo>
                    <a:pt x="1169376" y="213829"/>
                  </a:lnTo>
                  <a:lnTo>
                    <a:pt x="1041288" y="229437"/>
                  </a:lnTo>
                  <a:lnTo>
                    <a:pt x="899524" y="234118"/>
                  </a:lnTo>
                  <a:lnTo>
                    <a:pt x="757759" y="234118"/>
                  </a:lnTo>
                  <a:lnTo>
                    <a:pt x="685060" y="229437"/>
                  </a:lnTo>
                  <a:lnTo>
                    <a:pt x="538983" y="209145"/>
                  </a:lnTo>
                  <a:lnTo>
                    <a:pt x="461262" y="188856"/>
                  </a:lnTo>
                  <a:lnTo>
                    <a:pt x="310162" y="147493"/>
                  </a:lnTo>
                  <a:lnTo>
                    <a:pt x="237472" y="117060"/>
                  </a:lnTo>
                  <a:lnTo>
                    <a:pt x="159751" y="81940"/>
                  </a:lnTo>
                  <a:lnTo>
                    <a:pt x="86352" y="46044"/>
                  </a:lnTo>
                  <a:lnTo>
                    <a:pt x="9355" y="0"/>
                  </a:lnTo>
                  <a:lnTo>
                    <a:pt x="0" y="20291"/>
                  </a:lnTo>
                  <a:lnTo>
                    <a:pt x="77717" y="66332"/>
                  </a:lnTo>
                  <a:lnTo>
                    <a:pt x="155435" y="102232"/>
                  </a:lnTo>
                  <a:lnTo>
                    <a:pt x="228117" y="137349"/>
                  </a:lnTo>
                  <a:lnTo>
                    <a:pt x="305820" y="168565"/>
                  </a:lnTo>
                  <a:lnTo>
                    <a:pt x="461262" y="209145"/>
                  </a:lnTo>
                  <a:lnTo>
                    <a:pt x="533961" y="229437"/>
                  </a:lnTo>
                  <a:lnTo>
                    <a:pt x="685060" y="249726"/>
                  </a:lnTo>
                  <a:lnTo>
                    <a:pt x="757759" y="255189"/>
                  </a:lnTo>
                  <a:lnTo>
                    <a:pt x="831138" y="259871"/>
                  </a:lnTo>
                  <a:lnTo>
                    <a:pt x="904546" y="255189"/>
                  </a:lnTo>
                  <a:lnTo>
                    <a:pt x="1041288" y="249726"/>
                  </a:lnTo>
                  <a:lnTo>
                    <a:pt x="1173689" y="234118"/>
                  </a:lnTo>
                  <a:lnTo>
                    <a:pt x="1296754" y="209145"/>
                  </a:lnTo>
                  <a:lnTo>
                    <a:pt x="1411164" y="183393"/>
                  </a:lnTo>
                  <a:lnTo>
                    <a:pt x="1516210" y="152957"/>
                  </a:lnTo>
                  <a:lnTo>
                    <a:pt x="1611921" y="117060"/>
                  </a:lnTo>
                  <a:lnTo>
                    <a:pt x="1757998" y="60872"/>
                  </a:lnTo>
                  <a:lnTo>
                    <a:pt x="1840771" y="20291"/>
                  </a:lnTo>
                  <a:lnTo>
                    <a:pt x="1835719" y="0"/>
                  </a:lnTo>
                  <a:close/>
                </a:path>
              </a:pathLst>
            </a:custGeom>
            <a:solidFill>
              <a:srgbClr val="1F1A17"/>
            </a:solidFill>
          </p:spPr>
          <p:txBody>
            <a:bodyPr wrap="square" lIns="0" tIns="0" rIns="0" bIns="0" rtlCol="0"/>
            <a:lstStyle/>
            <a:p>
              <a:endParaRPr/>
            </a:p>
          </p:txBody>
        </p:sp>
        <p:pic>
          <p:nvPicPr>
            <p:cNvPr id="63" name="object 63"/>
            <p:cNvPicPr/>
            <p:nvPr/>
          </p:nvPicPr>
          <p:blipFill>
            <a:blip r:embed="rId11" cstate="print"/>
            <a:stretch>
              <a:fillRect/>
            </a:stretch>
          </p:blipFill>
          <p:spPr>
            <a:xfrm>
              <a:off x="2501417" y="5938363"/>
              <a:ext cx="105075" cy="117060"/>
            </a:xfrm>
            <a:prstGeom prst="rect">
              <a:avLst/>
            </a:prstGeom>
          </p:spPr>
        </p:pic>
        <p:sp>
          <p:nvSpPr>
            <p:cNvPr id="64" name="object 64"/>
            <p:cNvSpPr/>
            <p:nvPr/>
          </p:nvSpPr>
          <p:spPr>
            <a:xfrm>
              <a:off x="2597128" y="4159854"/>
              <a:ext cx="247015" cy="1783714"/>
            </a:xfrm>
            <a:custGeom>
              <a:avLst/>
              <a:gdLst/>
              <a:ahLst/>
              <a:cxnLst/>
              <a:rect l="l" t="t" r="r" b="b"/>
              <a:pathLst>
                <a:path w="247014" h="1783714">
                  <a:moveTo>
                    <a:pt x="36689" y="0"/>
                  </a:moveTo>
                  <a:lnTo>
                    <a:pt x="17990" y="10137"/>
                  </a:lnTo>
                  <a:lnTo>
                    <a:pt x="59730" y="101443"/>
                  </a:lnTo>
                  <a:lnTo>
                    <a:pt x="123035" y="274685"/>
                  </a:lnTo>
                  <a:lnTo>
                    <a:pt x="151128" y="361307"/>
                  </a:lnTo>
                  <a:lnTo>
                    <a:pt x="187109" y="524411"/>
                  </a:lnTo>
                  <a:lnTo>
                    <a:pt x="205808" y="600895"/>
                  </a:lnTo>
                  <a:lnTo>
                    <a:pt x="214434" y="677378"/>
                  </a:lnTo>
                  <a:lnTo>
                    <a:pt x="223798" y="753861"/>
                  </a:lnTo>
                  <a:lnTo>
                    <a:pt x="228111" y="820175"/>
                  </a:lnTo>
                  <a:lnTo>
                    <a:pt x="228111" y="957518"/>
                  </a:lnTo>
                  <a:lnTo>
                    <a:pt x="223798" y="1085525"/>
                  </a:lnTo>
                  <a:lnTo>
                    <a:pt x="205808" y="1202592"/>
                  </a:lnTo>
                  <a:lnTo>
                    <a:pt x="182766" y="1304805"/>
                  </a:lnTo>
                  <a:lnTo>
                    <a:pt x="159754" y="1401564"/>
                  </a:lnTo>
                  <a:lnTo>
                    <a:pt x="128087" y="1492869"/>
                  </a:lnTo>
                  <a:lnTo>
                    <a:pt x="100732" y="1569353"/>
                  </a:lnTo>
                  <a:lnTo>
                    <a:pt x="41002" y="1691874"/>
                  </a:lnTo>
                  <a:lnTo>
                    <a:pt x="0" y="1773047"/>
                  </a:lnTo>
                  <a:lnTo>
                    <a:pt x="17990" y="1783192"/>
                  </a:lnTo>
                  <a:lnTo>
                    <a:pt x="59730" y="1702044"/>
                  </a:lnTo>
                  <a:lnTo>
                    <a:pt x="114410" y="1574839"/>
                  </a:lnTo>
                  <a:lnTo>
                    <a:pt x="146077" y="1498355"/>
                  </a:lnTo>
                  <a:lnTo>
                    <a:pt x="173431" y="1411734"/>
                  </a:lnTo>
                  <a:lnTo>
                    <a:pt x="200756" y="1314943"/>
                  </a:lnTo>
                  <a:lnTo>
                    <a:pt x="223798" y="1202592"/>
                  </a:lnTo>
                  <a:lnTo>
                    <a:pt x="241788" y="1085525"/>
                  </a:lnTo>
                  <a:lnTo>
                    <a:pt x="246810" y="957518"/>
                  </a:lnTo>
                  <a:lnTo>
                    <a:pt x="246810" y="820175"/>
                  </a:lnTo>
                  <a:lnTo>
                    <a:pt x="241788" y="749177"/>
                  </a:lnTo>
                  <a:lnTo>
                    <a:pt x="223798" y="600895"/>
                  </a:lnTo>
                  <a:lnTo>
                    <a:pt x="210121" y="519727"/>
                  </a:lnTo>
                  <a:lnTo>
                    <a:pt x="192131" y="437790"/>
                  </a:lnTo>
                  <a:lnTo>
                    <a:pt x="169118" y="356623"/>
                  </a:lnTo>
                  <a:lnTo>
                    <a:pt x="141764" y="270001"/>
                  </a:lnTo>
                  <a:lnTo>
                    <a:pt x="109388" y="183380"/>
                  </a:lnTo>
                  <a:lnTo>
                    <a:pt x="73407" y="91305"/>
                  </a:lnTo>
                  <a:lnTo>
                    <a:pt x="36689" y="0"/>
                  </a:lnTo>
                  <a:close/>
                </a:path>
              </a:pathLst>
            </a:custGeom>
            <a:solidFill>
              <a:srgbClr val="1F1A17"/>
            </a:solidFill>
          </p:spPr>
          <p:txBody>
            <a:bodyPr wrap="square" lIns="0" tIns="0" rIns="0" bIns="0" rtlCol="0"/>
            <a:lstStyle/>
            <a:p>
              <a:endParaRPr/>
            </a:p>
          </p:txBody>
        </p:sp>
        <p:pic>
          <p:nvPicPr>
            <p:cNvPr id="65" name="object 65"/>
            <p:cNvPicPr/>
            <p:nvPr/>
          </p:nvPicPr>
          <p:blipFill>
            <a:blip r:embed="rId12" cstate="print"/>
            <a:stretch>
              <a:fillRect/>
            </a:stretch>
          </p:blipFill>
          <p:spPr>
            <a:xfrm>
              <a:off x="2583451" y="5851729"/>
              <a:ext cx="100732" cy="117070"/>
            </a:xfrm>
            <a:prstGeom prst="rect">
              <a:avLst/>
            </a:prstGeom>
          </p:spPr>
        </p:pic>
      </p:grpSp>
      <p:sp>
        <p:nvSpPr>
          <p:cNvPr id="66" name="object 66"/>
          <p:cNvSpPr txBox="1"/>
          <p:nvPr/>
        </p:nvSpPr>
        <p:spPr>
          <a:xfrm>
            <a:off x="887524" y="6426791"/>
            <a:ext cx="1541145" cy="356235"/>
          </a:xfrm>
          <a:prstGeom prst="rect">
            <a:avLst/>
          </a:prstGeom>
        </p:spPr>
        <p:txBody>
          <a:bodyPr vert="horz" wrap="square" lIns="0" tIns="15240" rIns="0" bIns="0" rtlCol="0">
            <a:spAutoFit/>
          </a:bodyPr>
          <a:lstStyle/>
          <a:p>
            <a:pPr marL="38100">
              <a:lnSpc>
                <a:spcPct val="100000"/>
              </a:lnSpc>
              <a:spcBef>
                <a:spcPts val="120"/>
              </a:spcBef>
            </a:pPr>
            <a:r>
              <a:rPr sz="2150" spc="-35" dirty="0">
                <a:latin typeface="Times New Roman"/>
                <a:cs typeface="Times New Roman"/>
              </a:rPr>
              <a:t>R</a:t>
            </a:r>
            <a:r>
              <a:rPr sz="2250" spc="-52" baseline="-20370" dirty="0">
                <a:latin typeface="Times New Roman"/>
                <a:cs typeface="Times New Roman"/>
              </a:rPr>
              <a:t>3</a:t>
            </a:r>
            <a:r>
              <a:rPr sz="2250" spc="-97" baseline="-20370" dirty="0">
                <a:latin typeface="Times New Roman"/>
                <a:cs typeface="Times New Roman"/>
              </a:rPr>
              <a:t> </a:t>
            </a:r>
            <a:r>
              <a:rPr sz="2150" spc="-65" dirty="0">
                <a:latin typeface="Times New Roman"/>
                <a:cs typeface="Times New Roman"/>
              </a:rPr>
              <a:t>is </a:t>
            </a:r>
            <a:r>
              <a:rPr sz="2150" spc="-50" dirty="0">
                <a:latin typeface="Times New Roman"/>
                <a:cs typeface="Times New Roman"/>
              </a:rPr>
              <a:t>transitive</a:t>
            </a:r>
            <a:endParaRPr sz="2150">
              <a:latin typeface="Times New Roman"/>
              <a:cs typeface="Times New Roman"/>
            </a:endParaRPr>
          </a:p>
        </p:txBody>
      </p:sp>
      <p:sp>
        <p:nvSpPr>
          <p:cNvPr id="67" name="object 67"/>
          <p:cNvSpPr txBox="1"/>
          <p:nvPr/>
        </p:nvSpPr>
        <p:spPr>
          <a:xfrm>
            <a:off x="634234" y="3835277"/>
            <a:ext cx="149225" cy="356235"/>
          </a:xfrm>
          <a:prstGeom prst="rect">
            <a:avLst/>
          </a:prstGeom>
        </p:spPr>
        <p:txBody>
          <a:bodyPr vert="horz" wrap="square" lIns="0" tIns="15240" rIns="0" bIns="0" rtlCol="0">
            <a:spAutoFit/>
          </a:bodyPr>
          <a:lstStyle/>
          <a:p>
            <a:pPr marL="12700">
              <a:lnSpc>
                <a:spcPct val="100000"/>
              </a:lnSpc>
              <a:spcBef>
                <a:spcPts val="120"/>
              </a:spcBef>
            </a:pPr>
            <a:r>
              <a:rPr sz="2150" spc="-50" dirty="0">
                <a:latin typeface="Times New Roman"/>
                <a:cs typeface="Times New Roman"/>
              </a:rPr>
              <a:t>1</a:t>
            </a:r>
            <a:endParaRPr sz="2150">
              <a:latin typeface="Times New Roman"/>
              <a:cs typeface="Times New Roman"/>
            </a:endParaRPr>
          </a:p>
        </p:txBody>
      </p:sp>
      <p:sp>
        <p:nvSpPr>
          <p:cNvPr id="68" name="object 68"/>
          <p:cNvSpPr txBox="1"/>
          <p:nvPr/>
        </p:nvSpPr>
        <p:spPr>
          <a:xfrm>
            <a:off x="2492575" y="3688127"/>
            <a:ext cx="149225" cy="356235"/>
          </a:xfrm>
          <a:prstGeom prst="rect">
            <a:avLst/>
          </a:prstGeom>
        </p:spPr>
        <p:txBody>
          <a:bodyPr vert="horz" wrap="square" lIns="0" tIns="15240" rIns="0" bIns="0" rtlCol="0">
            <a:spAutoFit/>
          </a:bodyPr>
          <a:lstStyle/>
          <a:p>
            <a:pPr marL="12700">
              <a:lnSpc>
                <a:spcPct val="100000"/>
              </a:lnSpc>
              <a:spcBef>
                <a:spcPts val="120"/>
              </a:spcBef>
            </a:pPr>
            <a:r>
              <a:rPr sz="2150" spc="-50" dirty="0">
                <a:latin typeface="Times New Roman"/>
                <a:cs typeface="Times New Roman"/>
              </a:rPr>
              <a:t>2</a:t>
            </a:r>
            <a:endParaRPr sz="2150">
              <a:latin typeface="Times New Roman"/>
              <a:cs typeface="Times New Roman"/>
            </a:endParaRPr>
          </a:p>
        </p:txBody>
      </p:sp>
      <p:sp>
        <p:nvSpPr>
          <p:cNvPr id="69" name="object 69"/>
          <p:cNvSpPr txBox="1"/>
          <p:nvPr/>
        </p:nvSpPr>
        <p:spPr>
          <a:xfrm>
            <a:off x="2678369" y="5908647"/>
            <a:ext cx="149225" cy="356235"/>
          </a:xfrm>
          <a:prstGeom prst="rect">
            <a:avLst/>
          </a:prstGeom>
        </p:spPr>
        <p:txBody>
          <a:bodyPr vert="horz" wrap="square" lIns="0" tIns="15240" rIns="0" bIns="0" rtlCol="0">
            <a:spAutoFit/>
          </a:bodyPr>
          <a:lstStyle/>
          <a:p>
            <a:pPr marL="12700">
              <a:lnSpc>
                <a:spcPct val="100000"/>
              </a:lnSpc>
              <a:spcBef>
                <a:spcPts val="120"/>
              </a:spcBef>
            </a:pPr>
            <a:r>
              <a:rPr sz="2150" spc="-50" dirty="0">
                <a:latin typeface="Times New Roman"/>
                <a:cs typeface="Times New Roman"/>
              </a:rPr>
              <a:t>3</a:t>
            </a:r>
            <a:endParaRPr sz="2150">
              <a:latin typeface="Times New Roman"/>
              <a:cs typeface="Times New Roman"/>
            </a:endParaRPr>
          </a:p>
        </p:txBody>
      </p:sp>
      <p:sp>
        <p:nvSpPr>
          <p:cNvPr id="70" name="object 70"/>
          <p:cNvSpPr txBox="1"/>
          <p:nvPr/>
        </p:nvSpPr>
        <p:spPr>
          <a:xfrm>
            <a:off x="519041" y="5701393"/>
            <a:ext cx="149225" cy="356235"/>
          </a:xfrm>
          <a:prstGeom prst="rect">
            <a:avLst/>
          </a:prstGeom>
        </p:spPr>
        <p:txBody>
          <a:bodyPr vert="horz" wrap="square" lIns="0" tIns="15240" rIns="0" bIns="0" rtlCol="0">
            <a:spAutoFit/>
          </a:bodyPr>
          <a:lstStyle/>
          <a:p>
            <a:pPr marL="12700">
              <a:lnSpc>
                <a:spcPct val="100000"/>
              </a:lnSpc>
              <a:spcBef>
                <a:spcPts val="120"/>
              </a:spcBef>
            </a:pPr>
            <a:r>
              <a:rPr sz="2150" spc="-50" dirty="0">
                <a:latin typeface="Times New Roman"/>
                <a:cs typeface="Times New Roman"/>
              </a:rPr>
              <a:t>4</a:t>
            </a:r>
            <a:endParaRPr sz="2150">
              <a:latin typeface="Times New Roman"/>
              <a:cs typeface="Times New Roman"/>
            </a:endParaRPr>
          </a:p>
        </p:txBody>
      </p:sp>
      <p:pic>
        <p:nvPicPr>
          <p:cNvPr id="71" name="object 71"/>
          <p:cNvPicPr/>
          <p:nvPr/>
        </p:nvPicPr>
        <p:blipFill>
          <a:blip r:embed="rId13" cstate="print"/>
          <a:stretch>
            <a:fillRect/>
          </a:stretch>
        </p:blipFill>
        <p:spPr>
          <a:xfrm>
            <a:off x="457200" y="3733800"/>
            <a:ext cx="2467356" cy="251460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A5DB732-B410-63FE-5D5B-55A814F1BDC3}"/>
              </a:ext>
            </a:extLst>
          </p:cNvPr>
          <p:cNvSpPr txBox="1"/>
          <p:nvPr/>
        </p:nvSpPr>
        <p:spPr>
          <a:xfrm>
            <a:off x="457200" y="457200"/>
            <a:ext cx="6324600" cy="1077218"/>
          </a:xfrm>
          <a:prstGeom prst="rect">
            <a:avLst/>
          </a:prstGeom>
          <a:noFill/>
        </p:spPr>
        <p:txBody>
          <a:bodyPr wrap="square">
            <a:spAutoFit/>
          </a:bodyPr>
          <a:lstStyle/>
          <a:p>
            <a:r>
              <a:rPr lang="en-US" sz="3200" dirty="0">
                <a:solidFill>
                  <a:srgbClr val="CC0066"/>
                </a:solidFill>
              </a:rPr>
              <a:t>Determining which Properties a Relation has from its Digraph</a:t>
            </a:r>
          </a:p>
        </p:txBody>
      </p:sp>
      <p:pic>
        <p:nvPicPr>
          <p:cNvPr id="5" name="Picture 4">
            <a:extLst>
              <a:ext uri="{FF2B5EF4-FFF2-40B4-BE49-F238E27FC236}">
                <a16:creationId xmlns:a16="http://schemas.microsoft.com/office/drawing/2014/main" id="{9624CD97-9878-3250-6296-66D67A5AD149}"/>
              </a:ext>
            </a:extLst>
          </p:cNvPr>
          <p:cNvPicPr>
            <a:picLocks noChangeAspect="1"/>
          </p:cNvPicPr>
          <p:nvPr/>
        </p:nvPicPr>
        <p:blipFill rotWithShape="1">
          <a:blip r:embed="rId2"/>
          <a:srcRect l="15630" t="13307" r="10546" b="12164"/>
          <a:stretch/>
        </p:blipFill>
        <p:spPr>
          <a:xfrm>
            <a:off x="3276600" y="1517212"/>
            <a:ext cx="2667000" cy="2292788"/>
          </a:xfrm>
          <a:prstGeom prst="rect">
            <a:avLst/>
          </a:prstGeom>
        </p:spPr>
      </p:pic>
      <p:sp>
        <p:nvSpPr>
          <p:cNvPr id="7" name="TextBox 6">
            <a:extLst>
              <a:ext uri="{FF2B5EF4-FFF2-40B4-BE49-F238E27FC236}">
                <a16:creationId xmlns:a16="http://schemas.microsoft.com/office/drawing/2014/main" id="{40DF8E4F-8664-5134-A6CA-63F17EA92E90}"/>
              </a:ext>
            </a:extLst>
          </p:cNvPr>
          <p:cNvSpPr txBox="1"/>
          <p:nvPr/>
        </p:nvSpPr>
        <p:spPr>
          <a:xfrm>
            <a:off x="0" y="4371292"/>
            <a:ext cx="9220200" cy="1938992"/>
          </a:xfrm>
          <a:prstGeom prst="rect">
            <a:avLst/>
          </a:prstGeom>
          <a:solidFill>
            <a:schemeClr val="bg1"/>
          </a:solidFill>
        </p:spPr>
        <p:txBody>
          <a:bodyPr wrap="square">
            <a:spAutoFit/>
          </a:bodyPr>
          <a:lstStyle/>
          <a:p>
            <a:r>
              <a:rPr lang="en-US" sz="2400" dirty="0">
                <a:solidFill>
                  <a:srgbClr val="002060"/>
                </a:solidFill>
              </a:rPr>
              <a:t>• Reflexive? No, there are no loops </a:t>
            </a:r>
          </a:p>
          <a:p>
            <a:r>
              <a:rPr lang="en-US" sz="2400" dirty="0">
                <a:solidFill>
                  <a:srgbClr val="002060"/>
                </a:solidFill>
              </a:rPr>
              <a:t>• Symmetric? No, there is an edge from a to b, but not from b to a </a:t>
            </a:r>
          </a:p>
          <a:p>
            <a:r>
              <a:rPr lang="en-US" sz="2400" dirty="0">
                <a:solidFill>
                  <a:srgbClr val="002060"/>
                </a:solidFill>
              </a:rPr>
              <a:t>• Antisymmetric? No, there is an edge from d to b and b to d </a:t>
            </a:r>
          </a:p>
          <a:p>
            <a:r>
              <a:rPr lang="en-US" sz="2400" dirty="0">
                <a:solidFill>
                  <a:srgbClr val="002060"/>
                </a:solidFill>
              </a:rPr>
              <a:t>● Transitive? No, there are edges from a to c and from c to b, but there is no edge from a to d</a:t>
            </a:r>
          </a:p>
        </p:txBody>
      </p:sp>
    </p:spTree>
    <p:extLst>
      <p:ext uri="{BB962C8B-B14F-4D97-AF65-F5344CB8AC3E}">
        <p14:creationId xmlns:p14="http://schemas.microsoft.com/office/powerpoint/2010/main" val="104201591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M_{R} =\left[\begin{array}{lllll}&#10;0&amp;1 &amp; 0&amp; 0 &amp; 0\\&#10;1 &amp;0&amp; 1 &amp; 1 &amp; 0\\&#10;1&amp; 0 &amp; 1 &amp; 0 &amp; 1&#10;\end{array}&#10;\right]?&#10;$$&#10;&#10;\end{document}"/>
  <p:tag name="IGUANATEXSIZE" val="2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269</TotalTime>
  <Words>7013</Words>
  <Application>Microsoft Office PowerPoint</Application>
  <PresentationFormat>On-screen Show (4:3)</PresentationFormat>
  <Paragraphs>524</Paragraphs>
  <Slides>52</Slides>
  <Notes>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52</vt:i4>
      </vt:variant>
    </vt:vector>
  </HeadingPairs>
  <TitlesOfParts>
    <vt:vector size="63" baseType="lpstr">
      <vt:lpstr>Aptos</vt:lpstr>
      <vt:lpstr>Arial</vt:lpstr>
      <vt:lpstr>Cambria Math</vt:lpstr>
      <vt:lpstr>Courier New</vt:lpstr>
      <vt:lpstr>Lucida Sans Unicode</vt:lpstr>
      <vt:lpstr>quote-cjk-patch</vt:lpstr>
      <vt:lpstr>Symbol</vt:lpstr>
      <vt:lpstr>Times New Roman</vt:lpstr>
      <vt:lpstr>Trebuchet MS</vt:lpstr>
      <vt:lpstr>Wingdings</vt:lpstr>
      <vt:lpstr>Office Theme</vt:lpstr>
      <vt:lpstr>PowerPoint Presentation</vt:lpstr>
      <vt:lpstr>WHY STUDY RELATIONS ?</vt:lpstr>
      <vt:lpstr>STRUCTURES FOR REPRESENTING RELATIONS</vt:lpstr>
      <vt:lpstr>METHODS FOR REPRESENTING RELATIONS</vt:lpstr>
      <vt:lpstr>BINARY RELATIONS AND THEIR PROPERTIES</vt:lpstr>
      <vt:lpstr>ORDERED PAIR &amp; CARTESIAN PRODUCT</vt:lpstr>
      <vt:lpstr>EXAMPLE A (ORDERED PAIR)</vt:lpstr>
      <vt:lpstr>EXAMPLE B(CARTESIAN PRODUCT)</vt:lpstr>
      <vt:lpstr>EXAMPLE C (BINARY RELATION)</vt:lpstr>
      <vt:lpstr>DOMAIN &amp; RANGE OF RELATIONS</vt:lpstr>
      <vt:lpstr>EXAMPLE D</vt:lpstr>
      <vt:lpstr>EXAMPLE E</vt:lpstr>
      <vt:lpstr>EXAMPLE F</vt:lpstr>
      <vt:lpstr>PowerPoint Presentation</vt:lpstr>
      <vt:lpstr>EXERCISE A</vt:lpstr>
      <vt:lpstr>RELATIONS ON A SET</vt:lpstr>
      <vt:lpstr>RELATIONS ON A SET</vt:lpstr>
      <vt:lpstr>PROPERTIES OF RELATIONS</vt:lpstr>
      <vt:lpstr>REFLEXIVE RELATION</vt:lpstr>
      <vt:lpstr>REFLEXIVE RELATION</vt:lpstr>
      <vt:lpstr>SYMMETRIC &amp; ANTISYMMETRIC RELATION</vt:lpstr>
      <vt:lpstr>EXAMPLE I</vt:lpstr>
      <vt:lpstr>EXAMPLE J</vt:lpstr>
      <vt:lpstr>TRANSITIVE RELATION</vt:lpstr>
      <vt:lpstr>TRANSITIVE RELATION</vt:lpstr>
      <vt:lpstr>EXERCISE B</vt:lpstr>
      <vt:lpstr>Combining Relations</vt:lpstr>
      <vt:lpstr>PowerPoint Presentation</vt:lpstr>
      <vt:lpstr>RELATIONS AND FUNCTIONS</vt:lpstr>
      <vt:lpstr>PowerPoint Presentation</vt:lpstr>
      <vt:lpstr>FUNCTIONS &amp; NONFUNCTIONS</vt:lpstr>
      <vt:lpstr>REPRESENTING RELATIONS</vt:lpstr>
      <vt:lpstr>REPRESENTING RELATIONS USING MATRICES</vt:lpstr>
      <vt:lpstr>PowerPoint Presentation</vt:lpstr>
      <vt:lpstr>EXAMPLE N</vt:lpstr>
      <vt:lpstr>Examples of Representing Relations Using Matrices (cont.)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 O</vt:lpstr>
      <vt:lpstr>Determining which Properties a Relation has from its Digraph</vt:lpstr>
      <vt:lpstr>DIRECTED GRAPH OF A REFLEXIVE RELATION</vt:lpstr>
      <vt:lpstr>PowerPoint Presentation</vt:lpstr>
      <vt:lpstr>GRAPH OF A SYMMETRIC RELATION</vt:lpstr>
      <vt:lpstr>PowerPoint Presentation</vt:lpstr>
      <vt:lpstr>DIRECTED GRAPH OF A TRANSITIVE RELATION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Fair Use Notice: The material used in this presentation i.e., pictures/graphs/text, etc. is solely intended for educational/teaching purpose, offered free of cost to the students for use under special circumstances of Online Education due to COVID-19 Lockdown situation and may include copyrighted material - the use of which may not have been specifically authorised by Copyright Owners. It’s application constitutes Fair Use of any such copyrighted material as provided in globally accepted law of many countries. The contents of presentations are intended only for the attendees of the class being conducted by the presenter.</dc:title>
  <dc:creator>nauman junejo</dc:creator>
  <cp:lastModifiedBy>Dua Agha</cp:lastModifiedBy>
  <cp:revision>7</cp:revision>
  <dcterms:created xsi:type="dcterms:W3CDTF">2026-02-16T05:03:29Z</dcterms:created>
  <dcterms:modified xsi:type="dcterms:W3CDTF">2026-02-17T20:18:29Z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2020-07-14T00:00:00Z</vt:filetime>
  </property>
  <property fmtid="{D5CDD505-2E9C-101B-9397-08002B2CF9AE}" pid="3" name="Creator">
    <vt:lpwstr>Microsoft® PowerPoint® 2016</vt:lpwstr>
  </property>
  <property fmtid="{D5CDD505-2E9C-101B-9397-08002B2CF9AE}" pid="4" name="LastSaved">
    <vt:filetime>2026-02-16T00:00:00Z</vt:filetime>
  </property>
  <property fmtid="{D5CDD505-2E9C-101B-9397-08002B2CF9AE}" pid="5" name="Producer">
    <vt:lpwstr>Microsoft® PowerPoint® 2016</vt:lpwstr>
  </property>
</Properties>
</file>